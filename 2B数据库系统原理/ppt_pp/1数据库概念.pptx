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xlsx" ContentType="application/vnd.openxmlformats-officedocument.spreadsheetml.sheet"/>
  <Default Extension="bin" ContentType="application/vnd.openxmlformats-officedocument.oleObject"/>
  <Default Extension="png" ContentType="image/png"/>
  <Default Extension="wmf" ContentType="image/x-wmf"/>
  <Default Extension="emf" ContentType="image/x-emf"/>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olors1.xml" ContentType="application/vnd.ms-office.chartcolorstyle+xml"/>
  <Override PartName="/ppt/charts/colors2.xml" ContentType="application/vnd.ms-office.chartcolorstyle+xml"/>
  <Override PartName="/ppt/charts/style1.xml" ContentType="application/vnd.ms-office.chartstyle+xml"/>
  <Override PartName="/ppt/charts/style2.xml" ContentType="application/vnd.ms-office.chartstyle+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drawings/drawing1.xml" ContentType="application/vnd.openxmlformats-officedocument.drawingml.chartshap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67" r:id="rId4"/>
  </p:sldMasterIdLst>
  <p:notesMasterIdLst>
    <p:notesMasterId r:id="rId6"/>
  </p:notesMasterIdLst>
  <p:sldIdLst>
    <p:sldId id="256" r:id="rId5"/>
    <p:sldId id="399" r:id="rId7"/>
    <p:sldId id="402" r:id="rId8"/>
    <p:sldId id="403" r:id="rId9"/>
    <p:sldId id="398" r:id="rId10"/>
    <p:sldId id="386" r:id="rId11"/>
    <p:sldId id="396" r:id="rId12"/>
    <p:sldId id="318" r:id="rId13"/>
    <p:sldId id="383" r:id="rId14"/>
    <p:sldId id="319" r:id="rId15"/>
    <p:sldId id="331" r:id="rId16"/>
    <p:sldId id="334" r:id="rId17"/>
    <p:sldId id="405" r:id="rId18"/>
    <p:sldId id="406" r:id="rId19"/>
    <p:sldId id="407" r:id="rId20"/>
    <p:sldId id="408" r:id="rId21"/>
    <p:sldId id="409" r:id="rId22"/>
    <p:sldId id="410" r:id="rId23"/>
    <p:sldId id="411" r:id="rId24"/>
    <p:sldId id="412" r:id="rId25"/>
    <p:sldId id="413" r:id="rId26"/>
    <p:sldId id="261" r:id="rId27"/>
    <p:sldId id="262" r:id="rId28"/>
    <p:sldId id="263" r:id="rId29"/>
    <p:sldId id="264" r:id="rId30"/>
    <p:sldId id="372" r:id="rId31"/>
    <p:sldId id="337" r:id="rId32"/>
    <p:sldId id="338" r:id="rId33"/>
    <p:sldId id="336" r:id="rId34"/>
    <p:sldId id="259" r:id="rId35"/>
    <p:sldId id="268" r:id="rId36"/>
    <p:sldId id="260" r:id="rId37"/>
    <p:sldId id="269" r:id="rId38"/>
    <p:sldId id="320" r:id="rId39"/>
    <p:sldId id="270" r:id="rId40"/>
    <p:sldId id="271" r:id="rId41"/>
    <p:sldId id="272" r:id="rId42"/>
    <p:sldId id="274" r:id="rId43"/>
    <p:sldId id="344" r:id="rId44"/>
    <p:sldId id="275" r:id="rId45"/>
    <p:sldId id="378" r:id="rId46"/>
    <p:sldId id="380" r:id="rId47"/>
    <p:sldId id="379" r:id="rId48"/>
    <p:sldId id="381" r:id="rId49"/>
    <p:sldId id="377" r:id="rId50"/>
    <p:sldId id="345" r:id="rId51"/>
    <p:sldId id="321" r:id="rId52"/>
    <p:sldId id="277" r:id="rId53"/>
    <p:sldId id="322" r:id="rId54"/>
    <p:sldId id="279" r:id="rId55"/>
    <p:sldId id="280" r:id="rId56"/>
    <p:sldId id="281" r:id="rId57"/>
    <p:sldId id="282" r:id="rId58"/>
    <p:sldId id="283" r:id="rId59"/>
    <p:sldId id="284" r:id="rId60"/>
    <p:sldId id="285" r:id="rId61"/>
    <p:sldId id="350" r:id="rId62"/>
    <p:sldId id="384" r:id="rId63"/>
    <p:sldId id="385" r:id="rId64"/>
    <p:sldId id="323" r:id="rId65"/>
    <p:sldId id="286" r:id="rId66"/>
    <p:sldId id="287" r:id="rId67"/>
    <p:sldId id="347" r:id="rId68"/>
    <p:sldId id="289" r:id="rId69"/>
    <p:sldId id="288" r:id="rId70"/>
    <p:sldId id="348" r:id="rId71"/>
    <p:sldId id="290" r:id="rId72"/>
    <p:sldId id="291" r:id="rId73"/>
    <p:sldId id="292" r:id="rId74"/>
    <p:sldId id="293" r:id="rId75"/>
    <p:sldId id="324" r:id="rId76"/>
    <p:sldId id="296" r:id="rId77"/>
    <p:sldId id="351" r:id="rId78"/>
    <p:sldId id="297" r:id="rId79"/>
    <p:sldId id="363" r:id="rId80"/>
    <p:sldId id="346" r:id="rId81"/>
    <p:sldId id="341" r:id="rId82"/>
    <p:sldId id="342" r:id="rId83"/>
    <p:sldId id="343" r:id="rId84"/>
    <p:sldId id="298" r:id="rId85"/>
    <p:sldId id="299" r:id="rId86"/>
    <p:sldId id="300" r:id="rId87"/>
    <p:sldId id="401" r:id="rId88"/>
    <p:sldId id="301" r:id="rId89"/>
    <p:sldId id="302" r:id="rId90"/>
    <p:sldId id="356" r:id="rId91"/>
    <p:sldId id="357" r:id="rId92"/>
    <p:sldId id="303" r:id="rId93"/>
    <p:sldId id="304" r:id="rId94"/>
    <p:sldId id="305" r:id="rId95"/>
    <p:sldId id="306" r:id="rId96"/>
    <p:sldId id="307" r:id="rId97"/>
    <p:sldId id="352" r:id="rId98"/>
    <p:sldId id="353" r:id="rId99"/>
    <p:sldId id="308" r:id="rId100"/>
    <p:sldId id="309" r:id="rId101"/>
    <p:sldId id="310" r:id="rId102"/>
    <p:sldId id="311" r:id="rId103"/>
    <p:sldId id="312" r:id="rId104"/>
    <p:sldId id="267" r:id="rId105"/>
    <p:sldId id="313" r:id="rId106"/>
    <p:sldId id="355" r:id="rId107"/>
    <p:sldId id="358" r:id="rId108"/>
    <p:sldId id="387" r:id="rId109"/>
    <p:sldId id="354" r:id="rId110"/>
    <p:sldId id="388" r:id="rId111"/>
    <p:sldId id="389" r:id="rId112"/>
    <p:sldId id="390" r:id="rId113"/>
    <p:sldId id="391" r:id="rId114"/>
    <p:sldId id="392" r:id="rId115"/>
    <p:sldId id="393" r:id="rId116"/>
    <p:sldId id="394" r:id="rId117"/>
    <p:sldId id="395" r:id="rId118"/>
    <p:sldId id="314" r:id="rId119"/>
    <p:sldId id="315" r:id="rId120"/>
    <p:sldId id="316" r:id="rId121"/>
    <p:sldId id="317" r:id="rId122"/>
    <p:sldId id="397" r:id="rId123"/>
  </p:sldIdLst>
  <p:sldSz cx="9144000" cy="6858000" type="screen4x3"/>
  <p:notesSz cx="6858000" cy="9144000"/>
  <p:defaultTextStyle>
    <a:defPPr>
      <a:defRPr lang="zh-CN"/>
    </a:defPPr>
    <a:lvl1pPr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1pPr>
    <a:lvl2pPr marL="4572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2pPr>
    <a:lvl3pPr marL="9144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3pPr>
    <a:lvl4pPr marL="13716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4pPr>
    <a:lvl5pPr marL="18288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3300"/>
    <a:srgbClr val="66CCFF"/>
    <a:srgbClr val="009999"/>
    <a:srgbClr val="3366FF"/>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72817" autoAdjust="0"/>
  </p:normalViewPr>
  <p:slideViewPr>
    <p:cSldViewPr showGuides="1">
      <p:cViewPr varScale="1">
        <p:scale>
          <a:sx n="70" d="100"/>
          <a:sy n="70" d="100"/>
        </p:scale>
        <p:origin x="2188"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4.xml"/><Relationship Id="rId98" Type="http://schemas.openxmlformats.org/officeDocument/2006/relationships/slide" Target="slides/slide93.xml"/><Relationship Id="rId97" Type="http://schemas.openxmlformats.org/officeDocument/2006/relationships/slide" Target="slides/slide92.xml"/><Relationship Id="rId96" Type="http://schemas.openxmlformats.org/officeDocument/2006/relationships/slide" Target="slides/slide91.xml"/><Relationship Id="rId95" Type="http://schemas.openxmlformats.org/officeDocument/2006/relationships/slide" Target="slides/slide90.xml"/><Relationship Id="rId94" Type="http://schemas.openxmlformats.org/officeDocument/2006/relationships/slide" Target="slides/slide89.xml"/><Relationship Id="rId93" Type="http://schemas.openxmlformats.org/officeDocument/2006/relationships/slide" Target="slides/slide88.xml"/><Relationship Id="rId92" Type="http://schemas.openxmlformats.org/officeDocument/2006/relationships/slide" Target="slides/slide87.xml"/><Relationship Id="rId91" Type="http://schemas.openxmlformats.org/officeDocument/2006/relationships/slide" Target="slides/slide86.xml"/><Relationship Id="rId90" Type="http://schemas.openxmlformats.org/officeDocument/2006/relationships/slide" Target="slides/slide85.xml"/><Relationship Id="rId9" Type="http://schemas.openxmlformats.org/officeDocument/2006/relationships/slide" Target="slides/slide4.xml"/><Relationship Id="rId89" Type="http://schemas.openxmlformats.org/officeDocument/2006/relationships/slide" Target="slides/slide84.xml"/><Relationship Id="rId88" Type="http://schemas.openxmlformats.org/officeDocument/2006/relationships/slide" Target="slides/slide83.xml"/><Relationship Id="rId87" Type="http://schemas.openxmlformats.org/officeDocument/2006/relationships/slide" Target="slides/slide82.xml"/><Relationship Id="rId86" Type="http://schemas.openxmlformats.org/officeDocument/2006/relationships/slide" Target="slides/slide81.xml"/><Relationship Id="rId85" Type="http://schemas.openxmlformats.org/officeDocument/2006/relationships/slide" Target="slides/slide80.xml"/><Relationship Id="rId84" Type="http://schemas.openxmlformats.org/officeDocument/2006/relationships/slide" Target="slides/slide79.xml"/><Relationship Id="rId83" Type="http://schemas.openxmlformats.org/officeDocument/2006/relationships/slide" Target="slides/slide78.xml"/><Relationship Id="rId82" Type="http://schemas.openxmlformats.org/officeDocument/2006/relationships/slide" Target="slides/slide77.xml"/><Relationship Id="rId81" Type="http://schemas.openxmlformats.org/officeDocument/2006/relationships/slide" Target="slides/slide76.xml"/><Relationship Id="rId80" Type="http://schemas.openxmlformats.org/officeDocument/2006/relationships/slide" Target="slides/slide75.xml"/><Relationship Id="rId8" Type="http://schemas.openxmlformats.org/officeDocument/2006/relationships/slide" Target="slides/slide3.xml"/><Relationship Id="rId79" Type="http://schemas.openxmlformats.org/officeDocument/2006/relationships/slide" Target="slides/slide74.xml"/><Relationship Id="rId78" Type="http://schemas.openxmlformats.org/officeDocument/2006/relationships/slide" Target="slides/slide73.xml"/><Relationship Id="rId77" Type="http://schemas.openxmlformats.org/officeDocument/2006/relationships/slide" Target="slides/slide72.xml"/><Relationship Id="rId76" Type="http://schemas.openxmlformats.org/officeDocument/2006/relationships/slide" Target="slides/slide71.xml"/><Relationship Id="rId75" Type="http://schemas.openxmlformats.org/officeDocument/2006/relationships/slide" Target="slides/slide70.xml"/><Relationship Id="rId74" Type="http://schemas.openxmlformats.org/officeDocument/2006/relationships/slide" Target="slides/slide69.xml"/><Relationship Id="rId73" Type="http://schemas.openxmlformats.org/officeDocument/2006/relationships/slide" Target="slides/slide68.xml"/><Relationship Id="rId72" Type="http://schemas.openxmlformats.org/officeDocument/2006/relationships/slide" Target="slides/slide67.xml"/><Relationship Id="rId71" Type="http://schemas.openxmlformats.org/officeDocument/2006/relationships/slide" Target="slides/slide66.xml"/><Relationship Id="rId70" Type="http://schemas.openxmlformats.org/officeDocument/2006/relationships/slide" Target="slides/slide65.xml"/><Relationship Id="rId7" Type="http://schemas.openxmlformats.org/officeDocument/2006/relationships/slide" Target="slides/slide2.xml"/><Relationship Id="rId69" Type="http://schemas.openxmlformats.org/officeDocument/2006/relationships/slide" Target="slides/slide64.xml"/><Relationship Id="rId68" Type="http://schemas.openxmlformats.org/officeDocument/2006/relationships/slide" Target="slides/slide63.xml"/><Relationship Id="rId67" Type="http://schemas.openxmlformats.org/officeDocument/2006/relationships/slide" Target="slides/slide62.xml"/><Relationship Id="rId66" Type="http://schemas.openxmlformats.org/officeDocument/2006/relationships/slide" Target="slides/slide61.xml"/><Relationship Id="rId65" Type="http://schemas.openxmlformats.org/officeDocument/2006/relationships/slide" Target="slides/slide60.xml"/><Relationship Id="rId64" Type="http://schemas.openxmlformats.org/officeDocument/2006/relationships/slide" Target="slides/slide59.xml"/><Relationship Id="rId63" Type="http://schemas.openxmlformats.org/officeDocument/2006/relationships/slide" Target="slides/slide58.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notesMaster" Target="notesMasters/notesMaster1.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6" Type="http://schemas.openxmlformats.org/officeDocument/2006/relationships/tableStyles" Target="tableStyles.xml"/><Relationship Id="rId125" Type="http://schemas.openxmlformats.org/officeDocument/2006/relationships/viewProps" Target="viewProps.xml"/><Relationship Id="rId124" Type="http://schemas.openxmlformats.org/officeDocument/2006/relationships/presProps" Target="presProps.xml"/><Relationship Id="rId123" Type="http://schemas.openxmlformats.org/officeDocument/2006/relationships/slide" Target="slides/slide118.xml"/><Relationship Id="rId122" Type="http://schemas.openxmlformats.org/officeDocument/2006/relationships/slide" Target="slides/slide117.xml"/><Relationship Id="rId121" Type="http://schemas.openxmlformats.org/officeDocument/2006/relationships/slide" Target="slides/slide116.xml"/><Relationship Id="rId120" Type="http://schemas.openxmlformats.org/officeDocument/2006/relationships/slide" Target="slides/slide115.xml"/><Relationship Id="rId12" Type="http://schemas.openxmlformats.org/officeDocument/2006/relationships/slide" Target="slides/slide7.xml"/><Relationship Id="rId119" Type="http://schemas.openxmlformats.org/officeDocument/2006/relationships/slide" Target="slides/slide114.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110" Type="http://schemas.openxmlformats.org/officeDocument/2006/relationships/slide" Target="slides/slide105.xml"/><Relationship Id="rId11" Type="http://schemas.openxmlformats.org/officeDocument/2006/relationships/slide" Target="slides/slide6.xml"/><Relationship Id="rId109" Type="http://schemas.openxmlformats.org/officeDocument/2006/relationships/slide" Target="slides/slide104.xml"/><Relationship Id="rId108" Type="http://schemas.openxmlformats.org/officeDocument/2006/relationships/slide" Target="slides/slide103.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10" Type="http://schemas.openxmlformats.org/officeDocument/2006/relationships/slide" Target="slides/slide5.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4" Type="http://schemas.microsoft.com/office/2011/relationships/chartColorStyle" Target="colors1.xml"/><Relationship Id="rId3" Type="http://schemas.microsoft.com/office/2011/relationships/chartStyle" Target="style1.xml"/><Relationship Id="rId2" Type="http://schemas.openxmlformats.org/officeDocument/2006/relationships/chartUserShapes" Target="../drawings/drawing1.xml"/><Relationship Id="rId1" Type="http://schemas.openxmlformats.org/officeDocument/2006/relationships/oleObject" Target="file:///D:\Onebox\&#24037;&#20316;&#30446;&#24405;\2019&#24180;&#24037;&#20316;&#30446;&#24405;\&#36895;&#36882;&#31867;\Oracle&#21644;&#24494;&#36719;&#21512;&#20316;&#20998;&#26512;\&#25968;&#25454;&#24211;.xlsx" TargetMode="External"/></Relationships>
</file>

<file path=ppt/charts/_rels/chart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757127222356898"/>
          <c:y val="0.0461919575073669"/>
          <c:w val="0.886523719586713"/>
          <c:h val="0.769336145190217"/>
        </c:manualLayout>
      </c:layout>
      <c:barChart>
        <c:barDir val="col"/>
        <c:grouping val="percentStacked"/>
        <c:varyColors val="0"/>
        <c:ser>
          <c:idx val="0"/>
          <c:order val="0"/>
          <c:tx>
            <c:strRef>
              <c:f>Sheet2!$C$26</c:f>
              <c:strCache>
                <c:ptCount val="1"/>
                <c:pt idx="0">
                  <c:v>Microsoft</c:v>
                </c:pt>
              </c:strCache>
            </c:strRef>
          </c:tx>
          <c:spPr>
            <a:solidFill>
              <a:srgbClr val="323232"/>
            </a:soli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tx1">
                        <a:lumMod val="75000"/>
                        <a:lumOff val="25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defRPr>
                </a:pP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Sheet2!$D$25:$H$25</c:f>
              <c:strCache>
                <c:ptCount val="5"/>
                <c:pt idx="0">
                  <c:v>2014 YR</c:v>
                </c:pt>
                <c:pt idx="1">
                  <c:v>2015 YR</c:v>
                </c:pt>
                <c:pt idx="2">
                  <c:v>2016 YR</c:v>
                </c:pt>
                <c:pt idx="3">
                  <c:v>2017 YR</c:v>
                </c:pt>
                <c:pt idx="4">
                  <c:v>2018 YR</c:v>
                </c:pt>
              </c:strCache>
            </c:strRef>
          </c:cat>
          <c:val>
            <c:numRef>
              <c:f>Sheet2!$D$26:$H$26</c:f>
              <c:numCache>
                <c:formatCode>0.0%</c:formatCode>
                <c:ptCount val="5"/>
                <c:pt idx="0">
                  <c:v>0.186682436120691</c:v>
                </c:pt>
                <c:pt idx="1">
                  <c:v>0.201592668482882</c:v>
                </c:pt>
                <c:pt idx="2">
                  <c:v>0.211194919485631</c:v>
                </c:pt>
                <c:pt idx="3">
                  <c:v>0.21594859331564</c:v>
                </c:pt>
                <c:pt idx="4">
                  <c:v>0.239478782285765</c:v>
                </c:pt>
              </c:numCache>
            </c:numRef>
          </c:val>
        </c:ser>
        <c:ser>
          <c:idx val="1"/>
          <c:order val="1"/>
          <c:tx>
            <c:strRef>
              <c:f>Sheet2!$C$27</c:f>
              <c:strCache>
                <c:ptCount val="1"/>
                <c:pt idx="0">
                  <c:v>IBM</c:v>
                </c:pt>
              </c:strCache>
            </c:strRef>
          </c:tx>
          <c:spPr>
            <a:solidFill>
              <a:srgbClr val="898989"/>
            </a:soli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tx1">
                        <a:lumMod val="75000"/>
                        <a:lumOff val="25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defRPr>
                </a:pP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Sheet2!$D$25:$H$25</c:f>
              <c:strCache>
                <c:ptCount val="5"/>
                <c:pt idx="0">
                  <c:v>2014 YR</c:v>
                </c:pt>
                <c:pt idx="1">
                  <c:v>2015 YR</c:v>
                </c:pt>
                <c:pt idx="2">
                  <c:v>2016 YR</c:v>
                </c:pt>
                <c:pt idx="3">
                  <c:v>2017 YR</c:v>
                </c:pt>
                <c:pt idx="4">
                  <c:v>2018 YR</c:v>
                </c:pt>
              </c:strCache>
            </c:strRef>
          </c:cat>
          <c:val>
            <c:numRef>
              <c:f>Sheet2!$D$27:$H$27</c:f>
              <c:numCache>
                <c:formatCode>0.0%</c:formatCode>
                <c:ptCount val="5"/>
                <c:pt idx="0">
                  <c:v>0.184304063837885</c:v>
                </c:pt>
                <c:pt idx="1">
                  <c:v>0.169876011022678</c:v>
                </c:pt>
                <c:pt idx="2">
                  <c:v>0.155630047682382</c:v>
                </c:pt>
                <c:pt idx="3">
                  <c:v>0.128136483092788</c:v>
                </c:pt>
                <c:pt idx="4">
                  <c:v>0.105581813773893</c:v>
                </c:pt>
              </c:numCache>
            </c:numRef>
          </c:val>
        </c:ser>
        <c:ser>
          <c:idx val="2"/>
          <c:order val="2"/>
          <c:tx>
            <c:strRef>
              <c:f>Sheet2!$C$28</c:f>
              <c:strCache>
                <c:ptCount val="1"/>
                <c:pt idx="0">
                  <c:v>Oracle</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tx1">
                        <a:lumMod val="75000"/>
                        <a:lumOff val="25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defRPr>
                </a:pP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Sheet2!$D$25:$H$25</c:f>
              <c:strCache>
                <c:ptCount val="5"/>
                <c:pt idx="0">
                  <c:v>2014 YR</c:v>
                </c:pt>
                <c:pt idx="1">
                  <c:v>2015 YR</c:v>
                </c:pt>
                <c:pt idx="2">
                  <c:v>2016 YR</c:v>
                </c:pt>
                <c:pt idx="3">
                  <c:v>2017 YR</c:v>
                </c:pt>
                <c:pt idx="4">
                  <c:v>2018 YR</c:v>
                </c:pt>
              </c:strCache>
            </c:strRef>
          </c:cat>
          <c:val>
            <c:numRef>
              <c:f>Sheet2!$D$28:$H$28</c:f>
              <c:numCache>
                <c:formatCode>0.0%</c:formatCode>
                <c:ptCount val="5"/>
                <c:pt idx="0">
                  <c:v>0.430618879676497</c:v>
                </c:pt>
                <c:pt idx="1">
                  <c:v>0.422395893904987</c:v>
                </c:pt>
                <c:pt idx="2">
                  <c:v>0.412277836437193</c:v>
                </c:pt>
                <c:pt idx="3">
                  <c:v>0.363017228723606</c:v>
                </c:pt>
                <c:pt idx="4">
                  <c:v>0.314937795778707</c:v>
                </c:pt>
              </c:numCache>
            </c:numRef>
          </c:val>
        </c:ser>
        <c:ser>
          <c:idx val="3"/>
          <c:order val="3"/>
          <c:tx>
            <c:strRef>
              <c:f>Sheet2!$C$29</c:f>
              <c:strCache>
                <c:ptCount val="1"/>
                <c:pt idx="0">
                  <c:v>Amazon</c:v>
                </c:pt>
              </c:strCache>
            </c:strRef>
          </c:tx>
          <c:spPr>
            <a:solidFill>
              <a:srgbClr val="7C0001"/>
            </a:soli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tx1">
                        <a:lumMod val="75000"/>
                        <a:lumOff val="25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defRPr>
                </a:pP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Sheet2!$D$25:$H$25</c:f>
              <c:strCache>
                <c:ptCount val="5"/>
                <c:pt idx="0">
                  <c:v>2014 YR</c:v>
                </c:pt>
                <c:pt idx="1">
                  <c:v>2015 YR</c:v>
                </c:pt>
                <c:pt idx="2">
                  <c:v>2016 YR</c:v>
                </c:pt>
                <c:pt idx="3">
                  <c:v>2017 YR</c:v>
                </c:pt>
                <c:pt idx="4">
                  <c:v>2018 YR</c:v>
                </c:pt>
              </c:strCache>
            </c:strRef>
          </c:cat>
          <c:val>
            <c:numRef>
              <c:f>Sheet2!$D$29:$H$29</c:f>
              <c:numCache>
                <c:formatCode>0.0%</c:formatCode>
                <c:ptCount val="5"/>
                <c:pt idx="0">
                  <c:v>0.0132734173180299</c:v>
                </c:pt>
                <c:pt idx="1">
                  <c:v>0.0181532651345161</c:v>
                </c:pt>
                <c:pt idx="2">
                  <c:v>0.035720659740551</c:v>
                </c:pt>
                <c:pt idx="3">
                  <c:v>0.0928581340743416</c:v>
                </c:pt>
                <c:pt idx="4">
                  <c:v>0.137079030813178</c:v>
                </c:pt>
              </c:numCache>
            </c:numRef>
          </c:val>
        </c:ser>
        <c:ser>
          <c:idx val="4"/>
          <c:order val="4"/>
          <c:tx>
            <c:strRef>
              <c:f>Sheet2!$C$30</c:f>
              <c:strCache>
                <c:ptCount val="1"/>
                <c:pt idx="0">
                  <c:v>SAP</c:v>
                </c:pt>
              </c:strCache>
            </c:strRef>
          </c:tx>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dLbl>
              <c:idx val="1"/>
              <c:layout/>
              <c:tx>
                <c:rich>
                  <a:bodyPr rot="0" spcFirstLastPara="1" vertOverflow="ellipsis" vert="horz" wrap="square" lIns="38100" tIns="19050" rIns="38100" bIns="19050" anchor="ctr" anchorCtr="1"/>
                  <a:lstStyle/>
                  <a:p>
                    <a:fld id="{9bb43834-90cd-4f5d-bbd6-e0c48ce596ab}" type="VALUE">
                      <a:t>[VALUE]</a:t>
                    </a:fld>
                    <a:endParaRPr lang="zh-CN" altLang="en-US" b="0" i="0" u="none" strike="noStrike" baseline="0">
                      <a:latin typeface="Arial" panose="020B0604020202090204" pitchFamily="34" charset="0"/>
                      <a:ea typeface="Arial" panose="020B0604020202090204" pitchFamily="34" charset="0"/>
                      <a:cs typeface="+mn-ea"/>
                    </a:endParaRPr>
                  </a:p>
                </c:rich>
              </c:tx>
              <c:dLblPos val="ctr"/>
              <c:showLegendKey val="0"/>
              <c:showVal val="1"/>
              <c:showCatName val="0"/>
              <c:showSerName val="0"/>
              <c:showPercent val="0"/>
              <c:showBubbleSize val="0"/>
              <c:extLst>
                <c:ext xmlns:c15="http://schemas.microsoft.com/office/drawing/2012/chart" uri="{CE6537A1-D6FC-4f65-9D91-7224C49458BB}"/>
              </c:extLst>
            </c:dLbl>
            <c:spPr>
              <a:solidFill>
                <a:srgbClr val="DDDDDD"/>
              </a:solid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tx1">
                        <a:lumMod val="75000"/>
                        <a:lumOff val="25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defRPr>
                </a:pP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Sheet2!$D$25:$H$25</c:f>
              <c:strCache>
                <c:ptCount val="5"/>
                <c:pt idx="0">
                  <c:v>2014 YR</c:v>
                </c:pt>
                <c:pt idx="1">
                  <c:v>2015 YR</c:v>
                </c:pt>
                <c:pt idx="2">
                  <c:v>2016 YR</c:v>
                </c:pt>
                <c:pt idx="3">
                  <c:v>2017 YR</c:v>
                </c:pt>
                <c:pt idx="4">
                  <c:v>2018 YR</c:v>
                </c:pt>
              </c:strCache>
            </c:strRef>
          </c:cat>
          <c:val>
            <c:numRef>
              <c:f>Sheet2!$D$30:$H$30</c:f>
              <c:numCache>
                <c:formatCode>0.0%</c:formatCode>
                <c:ptCount val="5"/>
                <c:pt idx="0">
                  <c:v>0.0707345758313936</c:v>
                </c:pt>
                <c:pt idx="1">
                  <c:v>0.0689459119355111</c:v>
                </c:pt>
                <c:pt idx="2">
                  <c:v>0.0727683753122992</c:v>
                </c:pt>
                <c:pt idx="3">
                  <c:v>0.074392922134089</c:v>
                </c:pt>
                <c:pt idx="4">
                  <c:v>0.0700079471233136</c:v>
                </c:pt>
              </c:numCache>
            </c:numRef>
          </c:val>
        </c:ser>
        <c:ser>
          <c:idx val="5"/>
          <c:order val="5"/>
          <c:tx>
            <c:strRef>
              <c:f>Sheet2!$C$31</c:f>
              <c:strCache>
                <c:ptCount val="1"/>
                <c:pt idx="0">
                  <c:v>Others</c:v>
                </c:pt>
              </c:strCache>
            </c:strRef>
          </c:tx>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tx1">
                        <a:lumMod val="75000"/>
                        <a:lumOff val="25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defRPr>
                </a:pP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Sheet2!$D$25:$H$25</c:f>
              <c:strCache>
                <c:ptCount val="5"/>
                <c:pt idx="0">
                  <c:v>2014 YR</c:v>
                </c:pt>
                <c:pt idx="1">
                  <c:v>2015 YR</c:v>
                </c:pt>
                <c:pt idx="2">
                  <c:v>2016 YR</c:v>
                </c:pt>
                <c:pt idx="3">
                  <c:v>2017 YR</c:v>
                </c:pt>
                <c:pt idx="4">
                  <c:v>2018 YR</c:v>
                </c:pt>
              </c:strCache>
            </c:strRef>
          </c:cat>
          <c:val>
            <c:numRef>
              <c:f>Sheet2!$D$31:$H$31</c:f>
              <c:numCache>
                <c:formatCode>0.0%</c:formatCode>
                <c:ptCount val="5"/>
                <c:pt idx="0">
                  <c:v>0.114386627215505</c:v>
                </c:pt>
                <c:pt idx="1">
                  <c:v>0.119036249519425</c:v>
                </c:pt>
                <c:pt idx="2">
                  <c:v>0.112408161341944</c:v>
                </c:pt>
                <c:pt idx="3">
                  <c:v>0.125646638659536</c:v>
                </c:pt>
                <c:pt idx="4">
                  <c:v>0.132914630225143</c:v>
                </c:pt>
              </c:numCache>
            </c:numRef>
          </c:val>
        </c:ser>
        <c:dLbls>
          <c:showLegendKey val="0"/>
          <c:showVal val="0"/>
          <c:showCatName val="0"/>
          <c:showSerName val="0"/>
          <c:showPercent val="0"/>
          <c:showBubbleSize val="0"/>
        </c:dLbls>
        <c:gapWidth val="150"/>
        <c:overlap val="100"/>
        <c:serLines>
          <c:spPr>
            <a:ln w="9525" cap="flat" cmpd="sng" algn="ctr">
              <a:solidFill>
                <a:schemeClr val="tx1">
                  <a:lumMod val="35000"/>
                  <a:lumOff val="65000"/>
                </a:schemeClr>
              </a:solidFill>
              <a:round/>
            </a:ln>
            <a:effectLst/>
          </c:spPr>
        </c:serLines>
        <c:axId val="602479136"/>
        <c:axId val="602486752"/>
      </c:barChart>
      <c:catAx>
        <c:axId val="602479136"/>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defRPr>
            </a:pPr>
          </a:p>
        </c:txPr>
        <c:crossAx val="602486752"/>
        <c:crosses val="autoZero"/>
        <c:auto val="1"/>
        <c:lblAlgn val="ctr"/>
        <c:lblOffset val="100"/>
        <c:noMultiLvlLbl val="0"/>
      </c:catAx>
      <c:valAx>
        <c:axId val="60248675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defRPr>
            </a:pPr>
          </a:p>
        </c:txPr>
        <c:crossAx val="602479136"/>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defRPr>
          </a:pPr>
        </a:p>
      </c:txPr>
    </c:legend>
    <c:plotVisOnly val="1"/>
    <c:dispBlanksAs val="gap"/>
    <c:showDLblsOverMax val="0"/>
    <c:extLst>
      <c:ext uri="{0b15fc19-7d7d-44ad-8c2d-2c3a37ce22c3}">
        <chartProps xmlns="https://web.wps.cn/et/2018/main" chartId="{7a979ad5-ba90-4198-8e52-5b9cde250c99}"/>
      </c:ext>
    </c:extLst>
  </c:chart>
  <c:spPr>
    <a:noFill/>
    <a:ln>
      <a:noFill/>
    </a:ln>
    <a:effectLst/>
  </c:spPr>
  <c:txPr>
    <a:bodyPr/>
    <a:lstStyle/>
    <a:p>
      <a:pPr>
        <a:defRPr lang="zh-CN">
          <a:latin typeface="Huawei Sans" panose="020C0503030203020204" pitchFamily="34" charset="0"/>
          <a:ea typeface="方正兰亭黑简体" panose="02000000000000000000" pitchFamily="2" charset="-122"/>
          <a:sym typeface="Huawei Sans" panose="020C0503030203020204" pitchFamily="34" charset="0"/>
        </a:defRPr>
      </a:pPr>
    </a:p>
  </c:txPr>
  <c:externalData r:id="rId1">
    <c:autoUpdate val="0"/>
  </c:externalData>
  <c:userShapes r:id="rId2"/>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Sheet3!$B$19</c:f>
              <c:strCache>
                <c:ptCount val="1"/>
                <c:pt idx="0">
                  <c:v>总收入</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delete val="1"/>
          </c:dLbls>
          <c:cat>
            <c:strRef>
              <c:f>Sheet3!$C$18:$G$18</c:f>
              <c:strCache>
                <c:ptCount val="5"/>
                <c:pt idx="0">
                  <c:v>2014 YR</c:v>
                </c:pt>
                <c:pt idx="1">
                  <c:v>2015 YR</c:v>
                </c:pt>
                <c:pt idx="2">
                  <c:v>2016 YR</c:v>
                </c:pt>
                <c:pt idx="3">
                  <c:v>2017 YR</c:v>
                </c:pt>
                <c:pt idx="4">
                  <c:v>2018 YR</c:v>
                </c:pt>
              </c:strCache>
            </c:strRef>
          </c:cat>
          <c:val>
            <c:numRef>
              <c:f>Sheet3!$C$19:$G$19</c:f>
              <c:numCache>
                <c:formatCode>#,##0.0</c:formatCode>
                <c:ptCount val="5"/>
                <c:pt idx="0">
                  <c:v>32507.424325</c:v>
                </c:pt>
                <c:pt idx="1">
                  <c:v>31846.046522</c:v>
                </c:pt>
                <c:pt idx="2">
                  <c:v>33701.360522</c:v>
                </c:pt>
                <c:pt idx="3">
                  <c:v>38940.0562163515</c:v>
                </c:pt>
                <c:pt idx="4">
                  <c:v>46098.2919598513</c:v>
                </c:pt>
              </c:numCache>
            </c:numRef>
          </c:val>
        </c:ser>
        <c:ser>
          <c:idx val="2"/>
          <c:order val="2"/>
          <c:tx>
            <c:strRef>
              <c:f>Sheet3!$B$21</c:f>
              <c:strCache>
                <c:ptCount val="1"/>
                <c:pt idx="0">
                  <c:v>Oracle收入</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delete val="1"/>
          </c:dLbls>
          <c:cat>
            <c:strRef>
              <c:f>Sheet3!$C$18:$G$18</c:f>
              <c:strCache>
                <c:ptCount val="5"/>
                <c:pt idx="0">
                  <c:v>2014 YR</c:v>
                </c:pt>
                <c:pt idx="1">
                  <c:v>2015 YR</c:v>
                </c:pt>
                <c:pt idx="2">
                  <c:v>2016 YR</c:v>
                </c:pt>
                <c:pt idx="3">
                  <c:v>2017 YR</c:v>
                </c:pt>
                <c:pt idx="4">
                  <c:v>2018 YR</c:v>
                </c:pt>
              </c:strCache>
            </c:strRef>
          </c:cat>
          <c:val>
            <c:numRef>
              <c:f>Sheet3!$C$21:$G$21</c:f>
              <c:numCache>
                <c:formatCode>#,##0.0</c:formatCode>
                <c:ptCount val="5"/>
                <c:pt idx="0">
                  <c:v>13998.310644</c:v>
                </c:pt>
                <c:pt idx="1">
                  <c:v>13451.639288</c:v>
                </c:pt>
                <c:pt idx="2">
                  <c:v>13894.324001</c:v>
                </c:pt>
                <c:pt idx="3">
                  <c:v>14135.9112940013</c:v>
                </c:pt>
                <c:pt idx="4">
                  <c:v>14518.0944589988</c:v>
                </c:pt>
              </c:numCache>
            </c:numRef>
          </c:val>
        </c:ser>
        <c:ser>
          <c:idx val="4"/>
          <c:order val="4"/>
          <c:tx>
            <c:strRef>
              <c:f>Sheet3!$B$23</c:f>
              <c:strCache>
                <c:ptCount val="1"/>
                <c:pt idx="0">
                  <c:v>微软收入</c:v>
                </c:pt>
              </c:strCache>
            </c:strRef>
          </c:tx>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delete val="1"/>
          </c:dLbls>
          <c:cat>
            <c:strRef>
              <c:f>Sheet3!$C$18:$G$18</c:f>
              <c:strCache>
                <c:ptCount val="5"/>
                <c:pt idx="0">
                  <c:v>2014 YR</c:v>
                </c:pt>
                <c:pt idx="1">
                  <c:v>2015 YR</c:v>
                </c:pt>
                <c:pt idx="2">
                  <c:v>2016 YR</c:v>
                </c:pt>
                <c:pt idx="3">
                  <c:v>2017 YR</c:v>
                </c:pt>
                <c:pt idx="4">
                  <c:v>2018 YR</c:v>
                </c:pt>
              </c:strCache>
            </c:strRef>
          </c:cat>
          <c:val>
            <c:numRef>
              <c:f>Sheet3!$C$23:$G$23</c:f>
              <c:numCache>
                <c:formatCode>#,##0.0</c:formatCode>
                <c:ptCount val="5"/>
                <c:pt idx="0">
                  <c:v>6068.565165</c:v>
                </c:pt>
                <c:pt idx="1">
                  <c:v>6419.929499</c:v>
                </c:pt>
                <c:pt idx="2">
                  <c:v>7117.556122</c:v>
                </c:pt>
                <c:pt idx="3">
                  <c:v>8409.05036355305</c:v>
                </c:pt>
                <c:pt idx="4">
                  <c:v>11039.5628239988</c:v>
                </c:pt>
              </c:numCache>
            </c:numRef>
          </c:val>
        </c:ser>
        <c:ser>
          <c:idx val="6"/>
          <c:order val="6"/>
          <c:tx>
            <c:strRef>
              <c:f>Sheet3!$B$25</c:f>
              <c:strCache>
                <c:ptCount val="1"/>
                <c:pt idx="0">
                  <c:v>AWS收入</c:v>
                </c:pt>
              </c:strCache>
            </c:strRef>
          </c:tx>
          <c:spPr>
            <a:gradFill rotWithShape="1">
              <a:gsLst>
                <a:gs pos="0">
                  <a:schemeClr val="accent1">
                    <a:lumMod val="60000"/>
                    <a:satMod val="103000"/>
                    <a:lumMod val="102000"/>
                    <a:tint val="94000"/>
                  </a:schemeClr>
                </a:gs>
                <a:gs pos="50000">
                  <a:schemeClr val="accent1">
                    <a:lumMod val="60000"/>
                    <a:satMod val="110000"/>
                    <a:lumMod val="100000"/>
                    <a:shade val="100000"/>
                  </a:schemeClr>
                </a:gs>
                <a:gs pos="100000">
                  <a:schemeClr val="accent1">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tx1">
                        <a:lumMod val="75000"/>
                        <a:lumOff val="25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Sheet3!$C$18:$G$18</c:f>
              <c:strCache>
                <c:ptCount val="5"/>
                <c:pt idx="0">
                  <c:v>2014 YR</c:v>
                </c:pt>
                <c:pt idx="1">
                  <c:v>2015 YR</c:v>
                </c:pt>
                <c:pt idx="2">
                  <c:v>2016 YR</c:v>
                </c:pt>
                <c:pt idx="3">
                  <c:v>2017 YR</c:v>
                </c:pt>
                <c:pt idx="4">
                  <c:v>2018 YR</c:v>
                </c:pt>
              </c:strCache>
            </c:strRef>
          </c:cat>
          <c:val>
            <c:numRef>
              <c:f>Sheet3!$C$25:$G$25</c:f>
              <c:numCache>
                <c:formatCode>#,##0.0</c:formatCode>
                <c:ptCount val="5"/>
                <c:pt idx="0">
                  <c:v>431.484609</c:v>
                </c:pt>
                <c:pt idx="1">
                  <c:v>578.109726</c:v>
                </c:pt>
                <c:pt idx="2">
                  <c:v>1203.834832</c:v>
                </c:pt>
                <c:pt idx="3">
                  <c:v>3615.90096100037</c:v>
                </c:pt>
                <c:pt idx="4">
                  <c:v>6319.10918399934</c:v>
                </c:pt>
              </c:numCache>
            </c:numRef>
          </c:val>
        </c:ser>
        <c:dLbls>
          <c:showLegendKey val="0"/>
          <c:showVal val="0"/>
          <c:showCatName val="0"/>
          <c:showSerName val="0"/>
          <c:showPercent val="0"/>
          <c:showBubbleSize val="0"/>
        </c:dLbls>
        <c:gapWidth val="269"/>
        <c:overlap val="-27"/>
        <c:axId val="602477504"/>
        <c:axId val="602480768"/>
      </c:barChart>
      <c:lineChart>
        <c:grouping val="stacked"/>
        <c:varyColors val="0"/>
        <c:ser>
          <c:idx val="1"/>
          <c:order val="1"/>
          <c:tx>
            <c:strRef>
              <c:f>Sheet3!$B$20</c:f>
              <c:strCache>
                <c:ptCount val="1"/>
                <c:pt idx="0">
                  <c:v>总体增速</c:v>
                </c:pt>
              </c:strCache>
            </c:strRef>
          </c:tx>
          <c:spPr>
            <a:ln w="34925" cap="rnd">
              <a:solidFill>
                <a:schemeClr val="accent2"/>
              </a:solidFill>
              <a:round/>
            </a:ln>
            <a:effectLst>
              <a:outerShdw blurRad="57150" dist="19050" dir="5400000" algn="ctr" rotWithShape="0">
                <a:srgbClr val="000000">
                  <a:alpha val="63000"/>
                </a:srgbClr>
              </a:outerShdw>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c:spPr>
          </c:marker>
          <c:dLbls>
            <c:delete val="1"/>
          </c:dLbls>
          <c:cat>
            <c:strRef>
              <c:f>Sheet3!$C$18:$G$18</c:f>
              <c:strCache>
                <c:ptCount val="5"/>
                <c:pt idx="0">
                  <c:v>2014 YR</c:v>
                </c:pt>
                <c:pt idx="1">
                  <c:v>2015 YR</c:v>
                </c:pt>
                <c:pt idx="2">
                  <c:v>2016 YR</c:v>
                </c:pt>
                <c:pt idx="3">
                  <c:v>2017 YR</c:v>
                </c:pt>
                <c:pt idx="4">
                  <c:v>2018 YR</c:v>
                </c:pt>
              </c:strCache>
            </c:strRef>
          </c:cat>
          <c:val>
            <c:numRef>
              <c:f>Sheet3!$C$20:$G$20</c:f>
              <c:numCache>
                <c:formatCode>General</c:formatCode>
                <c:ptCount val="5"/>
                <c:pt idx="1" c:formatCode="0.0%">
                  <c:v>-0.02</c:v>
                </c:pt>
                <c:pt idx="2" c:formatCode="0.0%">
                  <c:v>0.058</c:v>
                </c:pt>
                <c:pt idx="3" c:formatCode="0.0%">
                  <c:v>0.155</c:v>
                </c:pt>
                <c:pt idx="4" c:formatCode="0.0%">
                  <c:v>0.184</c:v>
                </c:pt>
              </c:numCache>
            </c:numRef>
          </c:val>
          <c:smooth val="0"/>
        </c:ser>
        <c:ser>
          <c:idx val="3"/>
          <c:order val="3"/>
          <c:tx>
            <c:strRef>
              <c:f>Sheet3!$B$22</c:f>
              <c:strCache>
                <c:ptCount val="1"/>
                <c:pt idx="0">
                  <c:v>Oracle增速</c:v>
                </c:pt>
              </c:strCache>
            </c:strRef>
          </c:tx>
          <c:spPr>
            <a:ln w="34925" cap="rnd">
              <a:solidFill>
                <a:schemeClr val="accent4"/>
              </a:solidFill>
              <a:round/>
            </a:ln>
            <a:effectLst>
              <a:outerShdw blurRad="57150" dist="19050" dir="5400000" algn="ctr" rotWithShape="0">
                <a:srgbClr val="000000">
                  <a:alpha val="63000"/>
                </a:srgbClr>
              </a:outerShdw>
            </a:effectLst>
          </c:spPr>
          <c:marker>
            <c:symbol val="circle"/>
            <c:size val="6"/>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w="9525">
                <a:solidFill>
                  <a:schemeClr val="accent4"/>
                </a:solidFill>
                <a:round/>
              </a:ln>
              <a:effectLst>
                <a:outerShdw blurRad="57150" dist="19050" dir="5400000" algn="ctr" rotWithShape="0">
                  <a:srgbClr val="000000">
                    <a:alpha val="63000"/>
                  </a:srgbClr>
                </a:outerShdw>
              </a:effectLst>
            </c:spPr>
          </c:marker>
          <c:dLbls>
            <c:delete val="1"/>
          </c:dLbls>
          <c:cat>
            <c:strRef>
              <c:f>Sheet3!$C$18:$G$18</c:f>
              <c:strCache>
                <c:ptCount val="5"/>
                <c:pt idx="0">
                  <c:v>2014 YR</c:v>
                </c:pt>
                <c:pt idx="1">
                  <c:v>2015 YR</c:v>
                </c:pt>
                <c:pt idx="2">
                  <c:v>2016 YR</c:v>
                </c:pt>
                <c:pt idx="3">
                  <c:v>2017 YR</c:v>
                </c:pt>
                <c:pt idx="4">
                  <c:v>2018 YR</c:v>
                </c:pt>
              </c:strCache>
            </c:strRef>
          </c:cat>
          <c:val>
            <c:numRef>
              <c:f>Sheet3!$C$22:$G$22</c:f>
              <c:numCache>
                <c:formatCode>General</c:formatCode>
                <c:ptCount val="5"/>
                <c:pt idx="1" c:formatCode="0.0%">
                  <c:v>-0.0390526664183092</c:v>
                </c:pt>
                <c:pt idx="2" c:formatCode="0.0%">
                  <c:v>0.0329093505647979</c:v>
                </c:pt>
                <c:pt idx="3" c:formatCode="0.0%">
                  <c:v>0.0173874808867244</c:v>
                </c:pt>
                <c:pt idx="4" c:formatCode="0.0%">
                  <c:v>0.0270363301699328</c:v>
                </c:pt>
              </c:numCache>
            </c:numRef>
          </c:val>
          <c:smooth val="0"/>
        </c:ser>
        <c:ser>
          <c:idx val="5"/>
          <c:order val="5"/>
          <c:tx>
            <c:strRef>
              <c:f>Sheet3!$B$24</c:f>
              <c:strCache>
                <c:ptCount val="1"/>
                <c:pt idx="0">
                  <c:v>微软增速</c:v>
                </c:pt>
              </c:strCache>
            </c:strRef>
          </c:tx>
          <c:spPr>
            <a:ln w="34925" cap="rnd">
              <a:solidFill>
                <a:schemeClr val="accent6"/>
              </a:solidFill>
              <a:round/>
            </a:ln>
            <a:effectLst>
              <a:outerShdw blurRad="57150" dist="19050" dir="5400000" algn="ctr" rotWithShape="0">
                <a:srgbClr val="000000">
                  <a:alpha val="63000"/>
                </a:srgbClr>
              </a:outerShdw>
            </a:effectLst>
          </c:spPr>
          <c:marker>
            <c:symbol val="circle"/>
            <c:size val="6"/>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w="9525">
                <a:solidFill>
                  <a:schemeClr val="accent6"/>
                </a:solidFill>
                <a:round/>
              </a:ln>
              <a:effectLst>
                <a:outerShdw blurRad="57150" dist="19050" dir="5400000" algn="ctr" rotWithShape="0">
                  <a:srgbClr val="000000">
                    <a:alpha val="63000"/>
                  </a:srgbClr>
                </a:outerShdw>
              </a:effectLst>
            </c:spPr>
          </c:marker>
          <c:dLbls>
            <c:dLbl>
              <c:idx val="0"/>
              <c:delete val="1"/>
            </c:dLbl>
            <c:dLbl>
              <c:idx val="1"/>
              <c:layout>
                <c:manualLayout>
                  <c:x val="0"/>
                  <c:y val="-0.0419926886430609"/>
                </c:manualLayout>
              </c:layout>
              <c:dLblPos val="r"/>
              <c:showLegendKey val="0"/>
              <c:showVal val="1"/>
              <c:showCatName val="0"/>
              <c:showSerName val="0"/>
              <c:showPercent val="0"/>
              <c:showBubbleSize val="0"/>
              <c:extLst>
                <c:ext xmlns:c15="http://schemas.microsoft.com/office/drawing/2012/chart" uri="{CE6537A1-D6FC-4f65-9D91-7224C49458BB}">
                  <c15:layout/>
                </c:ext>
              </c:extLst>
            </c:dLbl>
            <c:dLbl>
              <c:idx val="2"/>
              <c:layout>
                <c:manualLayout>
                  <c:x val="0.00226114477308789"/>
                  <c:y val="-0.0671883018288972"/>
                </c:manualLayout>
              </c:layout>
              <c:dLblPos val="r"/>
              <c:showLegendKey val="0"/>
              <c:showVal val="1"/>
              <c:showCatName val="0"/>
              <c:showSerName val="0"/>
              <c:showPercent val="0"/>
              <c:showBubbleSize val="0"/>
              <c:extLst>
                <c:ext xmlns:c15="http://schemas.microsoft.com/office/drawing/2012/chart" uri="{CE6537A1-D6FC-4f65-9D91-7224C49458BB}">
                  <c15:layout/>
                </c:ext>
              </c:extLst>
            </c:dLbl>
            <c:dLbl>
              <c:idx val="3"/>
              <c:layout>
                <c:manualLayout>
                  <c:x val="-0.0113057238654395"/>
                  <c:y val="-0.0419926886430609"/>
                </c:manualLayout>
              </c:layout>
              <c:dLblPos val="r"/>
              <c:showLegendKey val="0"/>
              <c:showVal val="1"/>
              <c:showCatName val="0"/>
              <c:showSerName val="0"/>
              <c:showPercent val="0"/>
              <c:showBubbleSize val="0"/>
              <c:extLst>
                <c:ext xmlns:c15="http://schemas.microsoft.com/office/drawing/2012/chart" uri="{CE6537A1-D6FC-4f65-9D91-7224C49458BB}">
                  <c15:layout/>
                </c:ext>
              </c:extLst>
            </c:dLbl>
            <c:dLbl>
              <c:idx val="4"/>
              <c:layout>
                <c:manualLayout>
                  <c:x val="-0.00226114477308789"/>
                  <c:y val="-0.0335941509144487"/>
                </c:manualLayout>
              </c:layout>
              <c:dLblPos val="r"/>
              <c:showLegendKey val="0"/>
              <c:showVal val="1"/>
              <c:showCatName val="0"/>
              <c:showSerName val="0"/>
              <c:showPercent val="0"/>
              <c:showBubbleSize val="0"/>
              <c:extLst>
                <c:ext xmlns:c15="http://schemas.microsoft.com/office/drawing/2012/chart" uri="{CE6537A1-D6FC-4f65-9D91-7224C49458BB}">
                  <c15:layout/>
                </c:ext>
              </c:extLst>
            </c:dLbl>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tx1">
                        <a:lumMod val="75000"/>
                        <a:lumOff val="25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defRPr>
                </a:pPr>
              </a:p>
            </c:txPr>
            <c:dLblPos val="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Sheet3!$C$18:$G$18</c:f>
              <c:strCache>
                <c:ptCount val="5"/>
                <c:pt idx="0">
                  <c:v>2014 YR</c:v>
                </c:pt>
                <c:pt idx="1">
                  <c:v>2015 YR</c:v>
                </c:pt>
                <c:pt idx="2">
                  <c:v>2016 YR</c:v>
                </c:pt>
                <c:pt idx="3">
                  <c:v>2017 YR</c:v>
                </c:pt>
                <c:pt idx="4">
                  <c:v>2018 YR</c:v>
                </c:pt>
              </c:strCache>
            </c:strRef>
          </c:cat>
          <c:val>
            <c:numRef>
              <c:f>Sheet3!$C$24:$G$24</c:f>
              <c:numCache>
                <c:formatCode>General</c:formatCode>
                <c:ptCount val="5"/>
                <c:pt idx="1" c:formatCode="0.0%">
                  <c:v>0.0578990790156575</c:v>
                </c:pt>
                <c:pt idx="2" c:formatCode="0.0%">
                  <c:v>0.108665776331136</c:v>
                </c:pt>
                <c:pt idx="3" c:formatCode="0.0%">
                  <c:v>0.181451922459889</c:v>
                </c:pt>
                <c:pt idx="4" c:formatCode="0.0%">
                  <c:v>0.312819206297908</c:v>
                </c:pt>
              </c:numCache>
            </c:numRef>
          </c:val>
          <c:smooth val="0"/>
        </c:ser>
        <c:ser>
          <c:idx val="7"/>
          <c:order val="7"/>
          <c:tx>
            <c:strRef>
              <c:f>Sheet3!$B$26</c:f>
              <c:strCache>
                <c:ptCount val="1"/>
                <c:pt idx="0">
                  <c:v>AWS增速</c:v>
                </c:pt>
              </c:strCache>
            </c:strRef>
          </c:tx>
          <c:spPr>
            <a:ln w="34925" cap="rnd">
              <a:solidFill>
                <a:schemeClr val="accent2">
                  <a:lumMod val="60000"/>
                </a:schemeClr>
              </a:solidFill>
              <a:round/>
            </a:ln>
            <a:effectLst>
              <a:outerShdw blurRad="57150" dist="19050" dir="5400000" algn="ctr" rotWithShape="0">
                <a:srgbClr val="000000">
                  <a:alpha val="63000"/>
                </a:srgbClr>
              </a:outerShdw>
            </a:effectLst>
          </c:spPr>
          <c:marker>
            <c:symbol val="circle"/>
            <c:size val="6"/>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lin ang="5400000" scaled="0"/>
              </a:gradFill>
              <a:ln w="9525">
                <a:solidFill>
                  <a:schemeClr val="accent2">
                    <a:lumMod val="60000"/>
                  </a:schemeClr>
                </a:solidFill>
                <a:round/>
              </a:ln>
              <a:effectLst>
                <a:outerShdw blurRad="57150" dist="19050" dir="5400000" algn="ctr" rotWithShape="0">
                  <a:srgbClr val="000000">
                    <a:alpha val="63000"/>
                  </a:srgbClr>
                </a:outerShdw>
              </a:effectLst>
            </c:spPr>
          </c:marker>
          <c:dLbls>
            <c:dLbl>
              <c:idx val="0"/>
              <c:delete val="1"/>
            </c:dLbl>
            <c:dLbl>
              <c:idx val="1"/>
              <c:layout>
                <c:manualLayout>
                  <c:x val="-0.0361783163694063"/>
                  <c:y val="-0.0671883018288974"/>
                </c:manualLayout>
              </c:layout>
              <c:dLblPos val="r"/>
              <c:showLegendKey val="0"/>
              <c:showVal val="1"/>
              <c:showCatName val="0"/>
              <c:showSerName val="0"/>
              <c:showPercent val="0"/>
              <c:showBubbleSize val="0"/>
              <c:extLst>
                <c:ext xmlns:c15="http://schemas.microsoft.com/office/drawing/2012/chart" uri="{CE6537A1-D6FC-4f65-9D91-7224C49458BB}">
                  <c15:layout/>
                </c:ext>
              </c:extLst>
            </c:dLbl>
            <c:dLbl>
              <c:idx val="2"/>
              <c:layout>
                <c:manualLayout>
                  <c:x val="-0.0293948820501426"/>
                  <c:y val="-0.113380259336264"/>
                </c:manualLayout>
              </c:layout>
              <c:dLblPos val="r"/>
              <c:showLegendKey val="0"/>
              <c:showVal val="1"/>
              <c:showCatName val="0"/>
              <c:showSerName val="0"/>
              <c:showPercent val="0"/>
              <c:showBubbleSize val="0"/>
              <c:extLst>
                <c:ext xmlns:c15="http://schemas.microsoft.com/office/drawing/2012/chart" uri="{CE6537A1-D6FC-4f65-9D91-7224C49458BB}">
                  <c15:layout/>
                </c:ext>
              </c:extLst>
            </c:dLbl>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tx1">
                        <a:lumMod val="75000"/>
                        <a:lumOff val="25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defRPr>
                </a:pPr>
              </a:p>
            </c:txPr>
            <c:dLblPos val="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Sheet3!$C$18:$G$18</c:f>
              <c:strCache>
                <c:ptCount val="5"/>
                <c:pt idx="0">
                  <c:v>2014 YR</c:v>
                </c:pt>
                <c:pt idx="1">
                  <c:v>2015 YR</c:v>
                </c:pt>
                <c:pt idx="2">
                  <c:v>2016 YR</c:v>
                </c:pt>
                <c:pt idx="3">
                  <c:v>2017 YR</c:v>
                </c:pt>
                <c:pt idx="4">
                  <c:v>2018 YR</c:v>
                </c:pt>
              </c:strCache>
            </c:strRef>
          </c:cat>
          <c:val>
            <c:numRef>
              <c:f>Sheet3!$C$26:$G$26</c:f>
              <c:numCache>
                <c:formatCode>General</c:formatCode>
                <c:ptCount val="5"/>
                <c:pt idx="1" c:formatCode="0.0%">
                  <c:v>0.339815404632428</c:v>
                </c:pt>
                <c:pt idx="2" c:formatCode="0.0%">
                  <c:v>1.08236391442409</c:v>
                </c:pt>
                <c:pt idx="3" c:formatCode="0.0%">
                  <c:v>2.00365205000179</c:v>
                </c:pt>
                <c:pt idx="4" c:formatCode="0.0%">
                  <c:v>0.747589121536977</c:v>
                </c:pt>
              </c:numCache>
            </c:numRef>
          </c:val>
          <c:smooth val="0"/>
        </c:ser>
        <c:dLbls>
          <c:showLegendKey val="0"/>
          <c:showVal val="0"/>
          <c:showCatName val="0"/>
          <c:showSerName val="0"/>
          <c:showPercent val="0"/>
          <c:showBubbleSize val="0"/>
        </c:dLbls>
        <c:marker val="1"/>
        <c:smooth val="0"/>
        <c:axId val="602476960"/>
        <c:axId val="602485120"/>
      </c:lineChart>
      <c:catAx>
        <c:axId val="602477504"/>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defRPr>
            </a:pPr>
          </a:p>
        </c:txPr>
        <c:crossAx val="602480768"/>
        <c:crosses val="autoZero"/>
        <c:auto val="1"/>
        <c:lblAlgn val="ctr"/>
        <c:lblOffset val="100"/>
        <c:noMultiLvlLbl val="0"/>
      </c:catAx>
      <c:valAx>
        <c:axId val="602480768"/>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defRPr>
            </a:pPr>
          </a:p>
        </c:txPr>
        <c:crossAx val="602477504"/>
        <c:crosses val="autoZero"/>
        <c:crossBetween val="between"/>
      </c:valAx>
      <c:catAx>
        <c:axId val="602476960"/>
        <c:scaling>
          <c:orientation val="minMax"/>
        </c:scaling>
        <c:delete val="1"/>
        <c:axPos val="b"/>
        <c:numFmt formatCode="General" sourceLinked="1"/>
        <c:majorTickMark val="none"/>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defRPr>
            </a:pPr>
          </a:p>
        </c:txPr>
        <c:crossAx val="602485120"/>
        <c:crosses val="autoZero"/>
        <c:auto val="1"/>
        <c:lblAlgn val="ctr"/>
        <c:lblOffset val="100"/>
        <c:noMultiLvlLbl val="0"/>
      </c:catAx>
      <c:valAx>
        <c:axId val="602485120"/>
        <c:scaling>
          <c:orientation val="minMax"/>
        </c:scaling>
        <c:delete val="0"/>
        <c:axPos val="r"/>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defRPr>
            </a:pPr>
          </a:p>
        </c:txPr>
        <c:crossAx val="602476960"/>
        <c:crosses val="max"/>
        <c:crossBetween val="between"/>
      </c:valAx>
      <c:spPr>
        <a:noFill/>
        <a:ln>
          <a:noFill/>
        </a:ln>
        <a:effectLst/>
      </c:spPr>
    </c:plotArea>
    <c:legend>
      <c:legendPos val="b"/>
      <c:legendEntry>
        <c:idx val="1"/>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defRPr>
            </a:pPr>
          </a:p>
        </c:txPr>
      </c:legendEntry>
      <c:layout/>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defRPr>
          </a:pPr>
        </a:p>
      </c:txPr>
    </c:legend>
    <c:plotVisOnly val="1"/>
    <c:dispBlanksAs val="gap"/>
    <c:showDLblsOverMax val="0"/>
    <c:extLst>
      <c:ext uri="{0b15fc19-7d7d-44ad-8c2d-2c3a37ce22c3}">
        <chartProps xmlns="https://web.wps.cn/et/2018/main" chartId="{59274009-4b99-4641-a765-b473109b321f}"/>
      </c:ext>
    </c:extLst>
  </c:chart>
  <c:spPr>
    <a:noFill/>
    <a:ln>
      <a:noFill/>
    </a:ln>
    <a:effectLst/>
  </c:spPr>
  <c:txPr>
    <a:bodyPr/>
    <a:lstStyle/>
    <a:p>
      <a:pPr>
        <a:defRPr lang="zh-CN">
          <a:latin typeface="Huawei Sans" panose="020C0503030203020204" pitchFamily="34" charset="0"/>
          <a:ea typeface="方正兰亭黑简体" panose="02000000000000000000" pitchFamily="2" charset="-122"/>
          <a:sym typeface="Huawei Sans" panose="020C0503030203020204" pitchFamily="34" charset="0"/>
        </a:defRPr>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48">
  <cs:axisTitle>
    <cs:lnRef idx="0"/>
    <cs:fillRef idx="0"/>
    <cs:effectRef idx="0"/>
    <cs:fontRef idx="minor">
      <a:schemeClr val="tx1">
        <a:lumMod val="65000"/>
        <a:lumOff val="35000"/>
      </a:schemeClr>
    </cs:fontRef>
    <cs:defRPr sz="1195"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3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352">
  <cs:axisTitle>
    <cs:lnRef idx="0"/>
    <cs:fillRef idx="0"/>
    <cs:effectRef idx="0"/>
    <cs:fontRef idx="minor">
      <a:schemeClr val="tx1">
        <a:lumMod val="65000"/>
        <a:lumOff val="35000"/>
      </a:schemeClr>
    </cs:fontRef>
    <cs:defRPr sz="1195"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3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lt1"/>
    </cs:fontRef>
  </cs:wall>
</cs:chartStyle>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D93E7EC9-FEFA-4E53-BBE2-1E23B1385292}" type="doc">
      <dgm:prSet loTypeId="urn:microsoft.com/office/officeart/2005/8/layout/hList1" loCatId="list" qsTypeId="urn:microsoft.com/office/officeart/2005/8/quickstyle/simple1" qsCatId="simple" csTypeId="urn:microsoft.com/office/officeart/2005/8/colors/colorful5" csCatId="colorful" phldr="1"/>
      <dgm:spPr/>
      <dgm:t>
        <a:bodyPr/>
        <a:lstStyle/>
        <a:p>
          <a:endParaRPr lang="zh-CN" altLang="en-US"/>
        </a:p>
      </dgm:t>
    </dgm:pt>
    <dgm:pt modelId="{0DE2B4E6-1E33-4C1F-B850-208F039E74F1}">
      <dgm:prSet phldrT="[文本]"/>
      <dgm:spPr/>
      <dgm:t>
        <a:bodyPr/>
        <a:lstStyle/>
        <a:p>
          <a:r>
            <a:rPr lang="zh-CN" altLang="en-US" b="1" dirty="0">
              <a:latin typeface="Huawei Sans" panose="020C0503030203020204" pitchFamily="34" charset="0"/>
              <a:ea typeface="方正兰亭黑简体" panose="02000000000000000000" pitchFamily="2" charset="-122"/>
              <a:sym typeface="Huawei Sans" panose="020C0503030203020204" pitchFamily="34" charset="0"/>
            </a:rPr>
            <a:t>共建生态</a:t>
          </a:r>
        </a:p>
      </dgm:t>
    </dgm:pt>
    <dgm:pt modelId="{FFD7D656-FA62-4D52-807A-8608D7C3871B}" cxnId="{D62C7859-6286-460F-B673-1109DFF6C212}" type="parTrans">
      <dgm:prSet/>
      <dgm:spPr/>
      <dgm:t>
        <a:bodyPr/>
        <a:lstStyle/>
        <a:p>
          <a:endParaRPr lang="zh-CN" altLang="en-US"/>
        </a:p>
      </dgm:t>
    </dgm:pt>
    <dgm:pt modelId="{EDE8382A-9AFB-48D1-AF49-9CF1BAFCBDB4}" cxnId="{D62C7859-6286-460F-B673-1109DFF6C212}" type="sibTrans">
      <dgm:prSet/>
      <dgm:spPr/>
      <dgm:t>
        <a:bodyPr/>
        <a:lstStyle/>
        <a:p>
          <a:endParaRPr lang="zh-CN" altLang="en-US"/>
        </a:p>
      </dgm:t>
    </dgm:pt>
    <dgm:pt modelId="{AE3A9972-CB71-4931-97E6-9250B18FE2E5}">
      <dgm:prSet phldrT="[文本]"/>
      <dgm:spPr/>
      <dgm:t>
        <a:bodyPr/>
        <a:lstStyle/>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dgm:t>
    </dgm:pt>
    <dgm:pt modelId="{41EB7084-E706-43FB-8913-BB28499D1A35}" cxnId="{D3ADDE0A-99C0-461E-AAB4-E75742305733}" type="parTrans">
      <dgm:prSet/>
      <dgm:spPr/>
      <dgm:t>
        <a:bodyPr/>
        <a:lstStyle/>
        <a:p>
          <a:endParaRPr lang="zh-CN" altLang="en-US"/>
        </a:p>
      </dgm:t>
    </dgm:pt>
    <dgm:pt modelId="{2A47BF6A-C9EA-4CB6-B517-C4B96F681206}" cxnId="{D3ADDE0A-99C0-461E-AAB4-E75742305733}" type="sibTrans">
      <dgm:prSet/>
      <dgm:spPr/>
      <dgm:t>
        <a:bodyPr/>
        <a:lstStyle/>
        <a:p>
          <a:endParaRPr lang="zh-CN" altLang="en-US"/>
        </a:p>
      </dgm:t>
    </dgm:pt>
    <dgm:pt modelId="{CFEDD78D-F2A6-47D3-9596-FEA155EEA01A}">
      <dgm:prSet phldrT="[文本]"/>
      <dgm:spPr/>
      <dgm:t>
        <a:bodyPr/>
        <a:lstStyle/>
        <a:p>
          <a:r>
            <a:rPr lang="zh-CN" altLang="en-US" b="1" dirty="0">
              <a:latin typeface="Huawei Sans" panose="020C0503030203020204" pitchFamily="34" charset="0"/>
              <a:ea typeface="方正兰亭黑简体" panose="02000000000000000000" pitchFamily="2" charset="-122"/>
              <a:sym typeface="Huawei Sans" panose="020C0503030203020204" pitchFamily="34" charset="0"/>
            </a:rPr>
            <a:t>分享企业级能力</a:t>
          </a:r>
        </a:p>
      </dgm:t>
    </dgm:pt>
    <dgm:pt modelId="{542991B8-2BFE-4823-BF41-83C1AB45164E}" cxnId="{2B08AF09-D39A-4868-AC7B-B628533D6292}" type="parTrans">
      <dgm:prSet/>
      <dgm:spPr/>
      <dgm:t>
        <a:bodyPr/>
        <a:lstStyle/>
        <a:p>
          <a:endParaRPr lang="zh-CN" altLang="en-US"/>
        </a:p>
      </dgm:t>
    </dgm:pt>
    <dgm:pt modelId="{31E38977-16F9-4D15-9A43-6F2031AEEEA0}" cxnId="{2B08AF09-D39A-4868-AC7B-B628533D6292}" type="sibTrans">
      <dgm:prSet/>
      <dgm:spPr/>
      <dgm:t>
        <a:bodyPr/>
        <a:lstStyle/>
        <a:p>
          <a:endParaRPr lang="zh-CN" altLang="en-US"/>
        </a:p>
      </dgm:t>
    </dgm:pt>
    <dgm:pt modelId="{4BFA1251-7D45-4B5C-86AF-7858C97DEAFC}">
      <dgm:prSet phldrT="[文本]" custT="1"/>
      <dgm:spPr/>
      <dgm:t>
        <a:bodyPr/>
        <a:lstStyle/>
        <a:p>
          <a:pPr marL="0" indent="0"/>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把企业级能力带给客户</a:t>
          </a:r>
        </a:p>
      </dgm:t>
    </dgm:pt>
    <dgm:pt modelId="{9B2EB059-9157-4F97-9B1C-AE85ECDA10CC}" cxnId="{F4FD860F-E82A-47C4-B603-B168BCABF56E}" type="parTrans">
      <dgm:prSet/>
      <dgm:spPr/>
      <dgm:t>
        <a:bodyPr/>
        <a:lstStyle/>
        <a:p>
          <a:endParaRPr lang="zh-CN" altLang="en-US"/>
        </a:p>
      </dgm:t>
    </dgm:pt>
    <dgm:pt modelId="{408E5FC1-8818-4064-95A7-85740B7A653B}" cxnId="{F4FD860F-E82A-47C4-B603-B168BCABF56E}" type="sibTrans">
      <dgm:prSet/>
      <dgm:spPr/>
      <dgm:t>
        <a:bodyPr/>
        <a:lstStyle/>
        <a:p>
          <a:endParaRPr lang="zh-CN" altLang="en-US"/>
        </a:p>
      </dgm:t>
    </dgm:pt>
    <dgm:pt modelId="{10890D9B-A4E7-4CDD-8EB9-D3C8315B4621}">
      <dgm:prSet phldrT="[文本]" custT="1"/>
      <dgm:spPr/>
      <dgm:t>
        <a:bodyPr/>
        <a:lstStyle/>
        <a:p>
          <a:pPr marL="0" indent="0"/>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社区共同研发；</a:t>
          </a:r>
        </a:p>
      </dgm:t>
    </dgm:pt>
    <dgm:pt modelId="{37826673-4CE6-46C2-B6B9-1D5E5EAC1346}" cxnId="{10B97880-22DE-4908-93B2-98BEDC26FE01}" type="parTrans">
      <dgm:prSet/>
      <dgm:spPr/>
      <dgm:t>
        <a:bodyPr/>
        <a:lstStyle/>
        <a:p>
          <a:endParaRPr lang="zh-CN" altLang="en-US"/>
        </a:p>
      </dgm:t>
    </dgm:pt>
    <dgm:pt modelId="{6D64E2CC-AC54-4D3F-A902-40FB6B6877BE}" cxnId="{10B97880-22DE-4908-93B2-98BEDC26FE01}" type="sibTrans">
      <dgm:prSet/>
      <dgm:spPr/>
      <dgm:t>
        <a:bodyPr/>
        <a:lstStyle/>
        <a:p>
          <a:endParaRPr lang="zh-CN" altLang="en-US"/>
        </a:p>
      </dgm:t>
    </dgm:pt>
    <dgm:pt modelId="{074A2550-31AA-4677-99F8-81B28D7FDFE9}">
      <dgm:prSet phldrT="[文本]"/>
      <dgm:spPr/>
      <dgm:t>
        <a:bodyPr/>
        <a:lstStyle/>
        <a:p>
          <a:r>
            <a:rPr lang="zh-CN" altLang="en-US" b="1" dirty="0">
              <a:latin typeface="Huawei Sans" panose="020C0503030203020204" pitchFamily="34" charset="0"/>
              <a:ea typeface="方正兰亭黑简体" panose="02000000000000000000" pitchFamily="2" charset="-122"/>
              <a:sym typeface="Huawei Sans" panose="020C0503030203020204" pitchFamily="34" charset="0"/>
            </a:rPr>
            <a:t>高校产学研</a:t>
          </a:r>
        </a:p>
      </dgm:t>
    </dgm:pt>
    <dgm:pt modelId="{BC91DE6E-A2FB-44EA-BF94-C8E5AA9AF52F}" cxnId="{8F3E3296-BF18-41A5-9CFD-A365B7C7C306}" type="parTrans">
      <dgm:prSet/>
      <dgm:spPr/>
      <dgm:t>
        <a:bodyPr/>
        <a:lstStyle/>
        <a:p>
          <a:endParaRPr lang="zh-CN" altLang="en-US"/>
        </a:p>
      </dgm:t>
    </dgm:pt>
    <dgm:pt modelId="{BAE90E32-A218-496D-A78D-4BFC394E40D2}" cxnId="{8F3E3296-BF18-41A5-9CFD-A365B7C7C306}" type="sibTrans">
      <dgm:prSet/>
      <dgm:spPr/>
      <dgm:t>
        <a:bodyPr/>
        <a:lstStyle/>
        <a:p>
          <a:endParaRPr lang="zh-CN" altLang="en-US"/>
        </a:p>
      </dgm:t>
    </dgm:pt>
    <dgm:pt modelId="{5C11B2A0-39A0-46E6-847A-EDBCF6A3EA82}">
      <dgm:prSet phldrT="[文本]" custT="1"/>
      <dgm:spPr/>
      <dgm: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建设高校生态；</a:t>
          </a:r>
        </a:p>
      </dgm:t>
    </dgm:pt>
    <dgm:pt modelId="{C1F32947-790E-41F5-9186-D89CA9490BB2}" cxnId="{30D943DE-74D7-424B-B6D8-ADEA02E61A4F}" type="parTrans">
      <dgm:prSet/>
      <dgm:spPr/>
      <dgm:t>
        <a:bodyPr/>
        <a:lstStyle/>
        <a:p>
          <a:endParaRPr lang="zh-CN" altLang="en-US"/>
        </a:p>
      </dgm:t>
    </dgm:pt>
    <dgm:pt modelId="{D46512A6-054B-42A2-BB0F-A8504FF0CBEA}" cxnId="{30D943DE-74D7-424B-B6D8-ADEA02E61A4F}" type="sibTrans">
      <dgm:prSet/>
      <dgm:spPr/>
      <dgm:t>
        <a:bodyPr/>
        <a:lstStyle/>
        <a:p>
          <a:endParaRPr lang="zh-CN" altLang="en-US"/>
        </a:p>
      </dgm:t>
    </dgm:pt>
    <dgm:pt modelId="{26BBCA58-A6E1-4342-B124-8B39710C4B02}">
      <dgm:prSet phldrT="[文本]" custT="1"/>
      <dgm:spPr/>
      <dgm:t>
        <a:bodyPr/>
        <a:lstStyle/>
        <a:p>
          <a:pPr marL="0" indent="0"/>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技术分享；</a:t>
          </a:r>
        </a:p>
      </dgm:t>
    </dgm:pt>
    <dgm:pt modelId="{6568045D-41AF-4C6B-9E31-FDDC4B43C170}" cxnId="{7265F5E7-EAF5-4365-8384-2D90D1AB3253}" type="parTrans">
      <dgm:prSet/>
      <dgm:spPr/>
      <dgm:t>
        <a:bodyPr/>
        <a:lstStyle/>
        <a:p>
          <a:endParaRPr lang="zh-CN" altLang="en-US"/>
        </a:p>
      </dgm:t>
    </dgm:pt>
    <dgm:pt modelId="{E60F20ED-23E3-44F7-B4A0-E26B9E773D8B}" cxnId="{7265F5E7-EAF5-4365-8384-2D90D1AB3253}" type="sibTrans">
      <dgm:prSet/>
      <dgm:spPr/>
      <dgm:t>
        <a:bodyPr/>
        <a:lstStyle/>
        <a:p>
          <a:endParaRPr lang="zh-CN" altLang="en-US"/>
        </a:p>
      </dgm:t>
    </dgm:pt>
    <dgm:pt modelId="{35359B15-9B09-4F40-A41B-474F8F866F26}">
      <dgm:prSet phldrT="[文本]"/>
      <dgm:spPr/>
      <dgm:t>
        <a:bodyPr/>
        <a:lstStyle/>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dgm:t>
    </dgm:pt>
    <dgm:pt modelId="{74DBDFB6-CED0-41FC-9ACC-C1AF2C156443}" cxnId="{CB6392E1-0D6B-48DF-A881-B20A069CEDD8}" type="parTrans">
      <dgm:prSet/>
      <dgm:spPr/>
      <dgm:t>
        <a:bodyPr/>
        <a:lstStyle/>
        <a:p>
          <a:endParaRPr lang="zh-CN" altLang="en-US"/>
        </a:p>
      </dgm:t>
    </dgm:pt>
    <dgm:pt modelId="{416029B5-20A4-4D17-B4EB-3A2BA0763033}" cxnId="{CB6392E1-0D6B-48DF-A881-B20A069CEDD8}" type="sibTrans">
      <dgm:prSet/>
      <dgm:spPr/>
      <dgm:t>
        <a:bodyPr/>
        <a:lstStyle/>
        <a:p>
          <a:endParaRPr lang="zh-CN" altLang="en-US"/>
        </a:p>
      </dgm:t>
    </dgm:pt>
    <dgm:pt modelId="{38607298-72EC-427C-BAFA-F48D7D6E7558}">
      <dgm:prSet phldrT="[文本]"/>
      <dgm:spPr/>
      <dgm:t>
        <a:bodyPr/>
        <a:lstStyle/>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dgm:t>
    </dgm:pt>
    <dgm:pt modelId="{248E22D1-79B6-4BBC-AFBF-5419280AA8AC}" cxnId="{834814E6-FC67-4B72-95FF-7A3F5B6CDA62}" type="parTrans">
      <dgm:prSet/>
      <dgm:spPr/>
      <dgm:t>
        <a:bodyPr/>
        <a:lstStyle/>
        <a:p>
          <a:endParaRPr lang="zh-CN" altLang="en-US"/>
        </a:p>
      </dgm:t>
    </dgm:pt>
    <dgm:pt modelId="{F4357EC3-26A6-4847-ADF3-C1826D91D822}" cxnId="{834814E6-FC67-4B72-95FF-7A3F5B6CDA62}" type="sibTrans">
      <dgm:prSet/>
      <dgm:spPr/>
      <dgm:t>
        <a:bodyPr/>
        <a:lstStyle/>
        <a:p>
          <a:endParaRPr lang="zh-CN" altLang="en-US"/>
        </a:p>
      </dgm:t>
    </dgm:pt>
    <dgm:pt modelId="{72214FC3-6765-4FC0-9B3D-F6CCD40BDBE3}">
      <dgm:prSet phldrT="[文本]"/>
      <dgm:spPr/>
      <dgm:t>
        <a:bodyPr/>
        <a:lstStyle/>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dgm:t>
    </dgm:pt>
    <dgm:pt modelId="{0D83D6AD-DBCF-4290-A24A-A7D6BF891304}" cxnId="{36938061-1EAC-4AE2-994D-0BD50CC10D99}" type="parTrans">
      <dgm:prSet/>
      <dgm:spPr/>
      <dgm:t>
        <a:bodyPr/>
        <a:lstStyle/>
        <a:p>
          <a:endParaRPr lang="zh-CN" altLang="en-US"/>
        </a:p>
      </dgm:t>
    </dgm:pt>
    <dgm:pt modelId="{2F972DF1-4C9A-41B3-A6B5-596C5B85ECE0}" cxnId="{36938061-1EAC-4AE2-994D-0BD50CC10D99}" type="sibTrans">
      <dgm:prSet/>
      <dgm:spPr/>
      <dgm:t>
        <a:bodyPr/>
        <a:lstStyle/>
        <a:p>
          <a:endParaRPr lang="zh-CN" altLang="en-US"/>
        </a:p>
      </dgm:t>
    </dgm:pt>
    <dgm:pt modelId="{6E2CC39D-B2CD-4FBF-9732-D8D20C0099E1}">
      <dgm:prSet phldrT="[文本]"/>
      <dgm:spPr/>
      <dgm:t>
        <a:bodyPr/>
        <a:lstStyle/>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dgm:t>
    </dgm:pt>
    <dgm:pt modelId="{ED82C415-8A93-4ABA-B873-926D6212C872}" cxnId="{FBC6B6A0-1AEF-49CE-9B92-E005BB6F03D0}" type="parTrans">
      <dgm:prSet/>
      <dgm:spPr/>
      <dgm:t>
        <a:bodyPr/>
        <a:lstStyle/>
        <a:p>
          <a:endParaRPr lang="zh-CN" altLang="en-US"/>
        </a:p>
      </dgm:t>
    </dgm:pt>
    <dgm:pt modelId="{329CAEA4-9083-4C23-A0C0-FEA3C5CC690A}" cxnId="{FBC6B6A0-1AEF-49CE-9B92-E005BB6F03D0}" type="sibTrans">
      <dgm:prSet/>
      <dgm:spPr/>
      <dgm:t>
        <a:bodyPr/>
        <a:lstStyle/>
        <a:p>
          <a:endParaRPr lang="zh-CN" altLang="en-US"/>
        </a:p>
      </dgm:t>
    </dgm:pt>
    <dgm:pt modelId="{A92320E9-E001-478F-BE2C-A54317AF3E89}">
      <dgm:prSet phldrT="[文本]"/>
      <dgm:spPr/>
      <dgm:t>
        <a:bodyPr/>
        <a:lstStyle/>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dgm:t>
    </dgm:pt>
    <dgm:pt modelId="{DDCF0F96-4CF3-448D-A023-0915B2550B25}" cxnId="{F601125A-7B63-4BE7-A2A2-C2E1EA739F23}" type="parTrans">
      <dgm:prSet/>
      <dgm:spPr/>
      <dgm:t>
        <a:bodyPr/>
        <a:lstStyle/>
        <a:p>
          <a:endParaRPr lang="zh-CN" altLang="en-US"/>
        </a:p>
      </dgm:t>
    </dgm:pt>
    <dgm:pt modelId="{614F568B-00F6-4627-B00E-CB712D1F659D}" cxnId="{F601125A-7B63-4BE7-A2A2-C2E1EA739F23}" type="sibTrans">
      <dgm:prSet/>
      <dgm:spPr/>
      <dgm:t>
        <a:bodyPr/>
        <a:lstStyle/>
        <a:p>
          <a:endParaRPr lang="zh-CN" altLang="en-US"/>
        </a:p>
      </dgm:t>
    </dgm:pt>
    <dgm:pt modelId="{170738F5-8856-4FBE-893C-5904E5CC58CB}">
      <dgm:prSet phldrT="[文本]"/>
      <dgm:spPr/>
      <dgm:t>
        <a:bodyPr/>
        <a:lstStyle/>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dgm:t>
    </dgm:pt>
    <dgm:pt modelId="{8926BA3C-3787-4D81-82E6-688F0C1E946D}" cxnId="{041867BD-295F-4DF6-9E8E-3AF2BF70EA6E}" type="parTrans">
      <dgm:prSet/>
      <dgm:spPr/>
      <dgm:t>
        <a:bodyPr/>
        <a:lstStyle/>
        <a:p>
          <a:endParaRPr lang="zh-CN" altLang="en-US"/>
        </a:p>
      </dgm:t>
    </dgm:pt>
    <dgm:pt modelId="{8E4A98AC-B64D-4DE3-A762-5FA76DD51E00}" cxnId="{041867BD-295F-4DF6-9E8E-3AF2BF70EA6E}" type="sibTrans">
      <dgm:prSet/>
      <dgm:spPr/>
      <dgm:t>
        <a:bodyPr/>
        <a:lstStyle/>
        <a:p>
          <a:endParaRPr lang="zh-CN" altLang="en-US"/>
        </a:p>
      </dgm:t>
    </dgm:pt>
    <dgm:pt modelId="{1940145A-8E22-4B00-AC15-F7003FE28BC3}">
      <dgm:prSet phldrT="[文本]"/>
      <dgm:spPr/>
      <dgm:t>
        <a:bodyPr/>
        <a:lstStyle/>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dgm:t>
    </dgm:pt>
    <dgm:pt modelId="{624988FD-A038-4FDF-8090-BD457C53679A}" cxnId="{332D3916-2A23-4F2C-881B-3498C1E50486}" type="parTrans">
      <dgm:prSet/>
      <dgm:spPr/>
      <dgm:t>
        <a:bodyPr/>
        <a:lstStyle/>
        <a:p>
          <a:endParaRPr lang="zh-CN" altLang="en-US"/>
        </a:p>
      </dgm:t>
    </dgm:pt>
    <dgm:pt modelId="{B457CB27-89CD-4DC3-B2AE-93C9D9A636C6}" cxnId="{332D3916-2A23-4F2C-881B-3498C1E50486}" type="sibTrans">
      <dgm:prSet/>
      <dgm:spPr/>
      <dgm:t>
        <a:bodyPr/>
        <a:lstStyle/>
        <a:p>
          <a:endParaRPr lang="zh-CN" altLang="en-US"/>
        </a:p>
      </dgm:t>
    </dgm:pt>
    <dgm:pt modelId="{71BF584B-638F-419D-9472-603263C5EA76}">
      <dgm:prSet phldrT="[文本]"/>
      <dgm:spPr/>
      <dgm:t>
        <a:bodyPr/>
        <a:lstStyle/>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dgm:t>
    </dgm:pt>
    <dgm:pt modelId="{27192903-094D-46A3-AF7C-7739586F2B16}" cxnId="{94C04F0C-8FBC-4D1D-984C-2479789B9AF0}" type="parTrans">
      <dgm:prSet/>
      <dgm:spPr/>
      <dgm:t>
        <a:bodyPr/>
        <a:lstStyle/>
        <a:p>
          <a:endParaRPr lang="zh-CN" altLang="en-US"/>
        </a:p>
      </dgm:t>
    </dgm:pt>
    <dgm:pt modelId="{A3BE3C06-406E-4EBB-BE5E-9350E2B58A6C}" cxnId="{94C04F0C-8FBC-4D1D-984C-2479789B9AF0}" type="sibTrans">
      <dgm:prSet/>
      <dgm:spPr/>
      <dgm:t>
        <a:bodyPr/>
        <a:lstStyle/>
        <a:p>
          <a:endParaRPr lang="zh-CN" altLang="en-US"/>
        </a:p>
      </dgm:t>
    </dgm:pt>
    <dgm:pt modelId="{D5571867-1446-4F19-8CD3-1D6278D7EFF2}">
      <dgm:prSet phldrT="[文本]"/>
      <dgm:spPr/>
      <dgm:t>
        <a:bodyPr/>
        <a:lstStyle/>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dgm:t>
    </dgm:pt>
    <dgm:pt modelId="{277DB9B4-B5EC-465E-A14D-845F9C337036}" cxnId="{912BB9AE-D322-41D2-BFC2-17C06AB43595}" type="parTrans">
      <dgm:prSet/>
      <dgm:spPr/>
      <dgm:t>
        <a:bodyPr/>
        <a:lstStyle/>
        <a:p>
          <a:endParaRPr lang="zh-CN" altLang="en-US"/>
        </a:p>
      </dgm:t>
    </dgm:pt>
    <dgm:pt modelId="{9A16B6E4-008D-432F-AEBD-ED31C826E4DC}" cxnId="{912BB9AE-D322-41D2-BFC2-17C06AB43595}" type="sibTrans">
      <dgm:prSet/>
      <dgm:spPr/>
      <dgm:t>
        <a:bodyPr/>
        <a:lstStyle/>
        <a:p>
          <a:endParaRPr lang="zh-CN" altLang="en-US"/>
        </a:p>
      </dgm:t>
    </dgm:pt>
    <dgm:pt modelId="{CCBA878A-B91B-4F1D-A2AD-5D68547EE953}">
      <dgm:prSet phldrT="[文本]"/>
      <dgm:spPr/>
      <dgm:t>
        <a:bodyPr/>
        <a:lstStyle/>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dgm:t>
    </dgm:pt>
    <dgm:pt modelId="{34E2584C-9937-483C-A87D-370552055CA5}" cxnId="{BB9BBD8D-B7D2-4193-B432-2C27B6227BCF}" type="parTrans">
      <dgm:prSet/>
      <dgm:spPr/>
      <dgm:t>
        <a:bodyPr/>
        <a:lstStyle/>
        <a:p>
          <a:endParaRPr lang="zh-CN" altLang="en-US"/>
        </a:p>
      </dgm:t>
    </dgm:pt>
    <dgm:pt modelId="{05AB71D3-D6DD-4251-9B80-312733B82208}" cxnId="{BB9BBD8D-B7D2-4193-B432-2C27B6227BCF}" type="sibTrans">
      <dgm:prSet/>
      <dgm:spPr/>
      <dgm:t>
        <a:bodyPr/>
        <a:lstStyle/>
        <a:p>
          <a:endParaRPr lang="zh-CN" altLang="en-US"/>
        </a:p>
      </dgm:t>
    </dgm:pt>
    <dgm:pt modelId="{0AAA770F-FB25-45D6-AA03-87E9A5920E17}">
      <dgm:prSet phldrT="[文本]" custT="1"/>
      <dgm:spPr/>
      <dgm:t>
        <a:bodyPr/>
        <a:lstStyle/>
        <a:p>
          <a:pPr marL="0" indent="0"/>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高性能，高可用，安全可信；</a:t>
          </a:r>
        </a:p>
      </dgm:t>
    </dgm:pt>
    <dgm:pt modelId="{D5441AF4-9210-4C65-8CA5-639BC7765703}" cxnId="{2A498C43-30F4-4551-ADF4-348B82F1E586}" type="parTrans">
      <dgm:prSet/>
      <dgm:spPr/>
      <dgm:t>
        <a:bodyPr/>
        <a:lstStyle/>
        <a:p>
          <a:endParaRPr lang="zh-CN" altLang="en-US"/>
        </a:p>
      </dgm:t>
    </dgm:pt>
    <dgm:pt modelId="{2F4578A9-89FA-401B-9675-DDE54E08533B}" cxnId="{2A498C43-30F4-4551-ADF4-348B82F1E586}" type="sibTrans">
      <dgm:prSet/>
      <dgm:spPr/>
      <dgm:t>
        <a:bodyPr/>
        <a:lstStyle/>
        <a:p>
          <a:endParaRPr lang="zh-CN" altLang="en-US"/>
        </a:p>
      </dgm:t>
    </dgm:pt>
    <dgm:pt modelId="{CEEED393-0E14-40DE-B331-490DFE58F8C8}">
      <dgm:prSet phldrT="[文本]" custT="1"/>
      <dgm:spPr/>
      <dgm:t>
        <a:bodyPr/>
        <a:lstStyle/>
        <a:p>
          <a:pPr marL="0" indent="0"/>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合作共赢：</a:t>
          </a:r>
          <a:r>
            <a:rPr lang="zh-CN" altLang="en-US"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各显神通。</a:t>
          </a:r>
        </a:p>
      </dgm:t>
    </dgm:pt>
    <dgm:pt modelId="{484D9AFC-792A-4116-9CB1-30E4AF73AB56}" cxnId="{2CC88AEB-A9ED-4AAF-A1CA-2C5A28C3F93F}" type="sibTrans">
      <dgm:prSet/>
      <dgm:spPr/>
      <dgm:t>
        <a:bodyPr/>
        <a:lstStyle/>
        <a:p>
          <a:endParaRPr lang="zh-CN" altLang="en-US"/>
        </a:p>
      </dgm:t>
    </dgm:pt>
    <dgm:pt modelId="{3E4FC4D5-9B7B-4938-8785-C48F0D0A513D}" cxnId="{2CC88AEB-A9ED-4AAF-A1CA-2C5A28C3F93F}" type="parTrans">
      <dgm:prSet/>
      <dgm:spPr/>
      <dgm:t>
        <a:bodyPr/>
        <a:lstStyle/>
        <a:p>
          <a:endParaRPr lang="zh-CN" altLang="en-US"/>
        </a:p>
      </dgm:t>
    </dgm:pt>
    <dgm:pt modelId="{FCB7EDA2-6357-4B79-8289-ACAFFB2C37D2}">
      <dgm:prSet phldrT="[文本]" custT="1"/>
      <dgm:spPr/>
      <dgm: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产学研模式；</a:t>
          </a:r>
        </a:p>
      </dgm:t>
    </dgm:pt>
    <dgm:pt modelId="{A73821E8-5F6C-4107-B8BC-0429F2D66384}" cxnId="{8C150C59-F311-4A9A-B199-D0C62E707934}" type="parTrans">
      <dgm:prSet/>
      <dgm:spPr/>
      <dgm:t>
        <a:bodyPr/>
        <a:lstStyle/>
        <a:p>
          <a:endParaRPr lang="zh-CN" altLang="en-US"/>
        </a:p>
      </dgm:t>
    </dgm:pt>
    <dgm:pt modelId="{3AFAB2AA-C2AB-4DB8-9519-3FCBB81BCF72}" cxnId="{8C150C59-F311-4A9A-B199-D0C62E707934}" type="sibTrans">
      <dgm:prSet/>
      <dgm:spPr/>
      <dgm:t>
        <a:bodyPr/>
        <a:lstStyle/>
        <a:p>
          <a:endParaRPr lang="zh-CN" altLang="en-US"/>
        </a:p>
      </dgm:t>
    </dgm:pt>
    <dgm:pt modelId="{AD840104-C296-420A-843F-E58166D07007}">
      <dgm:prSet phldrT="[文本]" custT="1"/>
      <dgm:spPr/>
      <dgm: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促进国内基础软件发展、教育。</a:t>
          </a:r>
        </a:p>
      </dgm:t>
    </dgm:pt>
    <dgm:pt modelId="{83038F81-F065-4036-8EB8-6B9EF7A1C891}" cxnId="{12EA9AAA-DB9B-42AF-9D78-6DD5F2884EB5}" type="parTrans">
      <dgm:prSet/>
      <dgm:spPr/>
      <dgm:t>
        <a:bodyPr/>
        <a:lstStyle/>
        <a:p>
          <a:endParaRPr lang="zh-CN" altLang="en-US"/>
        </a:p>
      </dgm:t>
    </dgm:pt>
    <dgm:pt modelId="{93DC0ED7-D0CF-44E9-8692-99B09FAA84D6}" cxnId="{12EA9AAA-DB9B-42AF-9D78-6DD5F2884EB5}" type="sibTrans">
      <dgm:prSet/>
      <dgm:spPr/>
      <dgm:t>
        <a:bodyPr/>
        <a:lstStyle/>
        <a:p>
          <a:endParaRPr lang="zh-CN" altLang="en-US"/>
        </a:p>
      </dgm:t>
    </dgm:pt>
    <dgm:pt modelId="{EB62EEF9-FB6A-40FF-AB6B-CF28969BF083}">
      <dgm:prSet phldrT="[文本]" custT="1"/>
      <dgm:spPr/>
      <dgm: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共同挑战数据库难题；</a:t>
          </a:r>
        </a:p>
      </dgm:t>
    </dgm:pt>
    <dgm:pt modelId="{D9B3D9AF-8944-468B-A63C-60A5794265D7}" cxnId="{32595562-8B08-4496-88DB-BDB9ABF713F2}" type="parTrans">
      <dgm:prSet/>
      <dgm:spPr/>
      <dgm:t>
        <a:bodyPr/>
        <a:lstStyle/>
        <a:p>
          <a:endParaRPr lang="zh-CN" altLang="en-US"/>
        </a:p>
      </dgm:t>
    </dgm:pt>
    <dgm:pt modelId="{8F177348-D98A-4C21-AF4F-D971C0E4AEFF}" cxnId="{32595562-8B08-4496-88DB-BDB9ABF713F2}" type="sibTrans">
      <dgm:prSet/>
      <dgm:spPr/>
      <dgm:t>
        <a:bodyPr/>
        <a:lstStyle/>
        <a:p>
          <a:endParaRPr lang="zh-CN" altLang="en-US"/>
        </a:p>
      </dgm:t>
    </dgm:pt>
    <dgm:pt modelId="{84DC7294-1814-4720-89C4-D06506BB8781}" type="pres">
      <dgm:prSet presAssocID="{D93E7EC9-FEFA-4E53-BBE2-1E23B1385292}" presName="Name0" presStyleCnt="0">
        <dgm:presLayoutVars>
          <dgm:dir/>
          <dgm:animLvl val="lvl"/>
          <dgm:resizeHandles val="exact"/>
        </dgm:presLayoutVars>
      </dgm:prSet>
      <dgm:spPr/>
    </dgm:pt>
    <dgm:pt modelId="{7FE29C74-D92E-464E-9725-AD170F6E8F6D}" type="pres">
      <dgm:prSet presAssocID="{0DE2B4E6-1E33-4C1F-B850-208F039E74F1}" presName="composite" presStyleCnt="0"/>
      <dgm:spPr/>
    </dgm:pt>
    <dgm:pt modelId="{AB5678C0-3E21-4C63-8E36-8DC2C8833077}" type="pres">
      <dgm:prSet presAssocID="{0DE2B4E6-1E33-4C1F-B850-208F039E74F1}" presName="parTx" presStyleLbl="alignNode1" presStyleIdx="0" presStyleCnt="3">
        <dgm:presLayoutVars>
          <dgm:chMax val="0"/>
          <dgm:chPref val="0"/>
          <dgm:bulletEnabled val="1"/>
        </dgm:presLayoutVars>
      </dgm:prSet>
      <dgm:spPr/>
    </dgm:pt>
    <dgm:pt modelId="{231B3DFE-FF00-49D7-AB75-80CB789BBFD7}" type="pres">
      <dgm:prSet presAssocID="{0DE2B4E6-1E33-4C1F-B850-208F039E74F1}" presName="desTx" presStyleLbl="alignAccFollowNode1" presStyleIdx="0" presStyleCnt="3">
        <dgm:presLayoutVars>
          <dgm:bulletEnabled val="1"/>
        </dgm:presLayoutVars>
      </dgm:prSet>
      <dgm:spPr/>
    </dgm:pt>
    <dgm:pt modelId="{2D00F58D-8AE2-4996-A57F-2C988980E4A5}" type="pres">
      <dgm:prSet presAssocID="{EDE8382A-9AFB-48D1-AF49-9CF1BAFCBDB4}" presName="space" presStyleCnt="0"/>
      <dgm:spPr/>
    </dgm:pt>
    <dgm:pt modelId="{6616E708-FEA9-40B9-946E-B8AA48A8CA01}" type="pres">
      <dgm:prSet presAssocID="{CFEDD78D-F2A6-47D3-9596-FEA155EEA01A}" presName="composite" presStyleCnt="0"/>
      <dgm:spPr/>
    </dgm:pt>
    <dgm:pt modelId="{5BB8F383-57B5-4EAA-AEC7-90E10D211600}" type="pres">
      <dgm:prSet presAssocID="{CFEDD78D-F2A6-47D3-9596-FEA155EEA01A}" presName="parTx" presStyleLbl="alignNode1" presStyleIdx="1" presStyleCnt="3">
        <dgm:presLayoutVars>
          <dgm:chMax val="0"/>
          <dgm:chPref val="0"/>
          <dgm:bulletEnabled val="1"/>
        </dgm:presLayoutVars>
      </dgm:prSet>
      <dgm:spPr/>
    </dgm:pt>
    <dgm:pt modelId="{9EA821E1-A6CA-450E-BCC5-113EA81A18EF}" type="pres">
      <dgm:prSet presAssocID="{CFEDD78D-F2A6-47D3-9596-FEA155EEA01A}" presName="desTx" presStyleLbl="alignAccFollowNode1" presStyleIdx="1" presStyleCnt="3">
        <dgm:presLayoutVars>
          <dgm:bulletEnabled val="1"/>
        </dgm:presLayoutVars>
      </dgm:prSet>
      <dgm:spPr/>
    </dgm:pt>
    <dgm:pt modelId="{C0B05E3C-FF3C-4169-B57F-79E68F7AAF5D}" type="pres">
      <dgm:prSet presAssocID="{31E38977-16F9-4D15-9A43-6F2031AEEEA0}" presName="space" presStyleCnt="0"/>
      <dgm:spPr/>
    </dgm:pt>
    <dgm:pt modelId="{D2329E51-9C2A-4C4D-815F-1269AFE90B4B}" type="pres">
      <dgm:prSet presAssocID="{074A2550-31AA-4677-99F8-81B28D7FDFE9}" presName="composite" presStyleCnt="0"/>
      <dgm:spPr/>
    </dgm:pt>
    <dgm:pt modelId="{B3C856B6-68FA-491A-8054-4FF83A6DF97D}" type="pres">
      <dgm:prSet presAssocID="{074A2550-31AA-4677-99F8-81B28D7FDFE9}" presName="parTx" presStyleLbl="alignNode1" presStyleIdx="2" presStyleCnt="3">
        <dgm:presLayoutVars>
          <dgm:chMax val="0"/>
          <dgm:chPref val="0"/>
          <dgm:bulletEnabled val="1"/>
        </dgm:presLayoutVars>
      </dgm:prSet>
      <dgm:spPr/>
    </dgm:pt>
    <dgm:pt modelId="{9C1FEEAF-47BC-485A-B64B-A9A74E1090FE}" type="pres">
      <dgm:prSet presAssocID="{074A2550-31AA-4677-99F8-81B28D7FDFE9}" presName="desTx" presStyleLbl="alignAccFollowNode1" presStyleIdx="2" presStyleCnt="3">
        <dgm:presLayoutVars>
          <dgm:bulletEnabled val="1"/>
        </dgm:presLayoutVars>
      </dgm:prSet>
      <dgm:spPr/>
    </dgm:pt>
  </dgm:ptLst>
  <dgm:cxnLst>
    <dgm:cxn modelId="{8107F703-4498-46D7-BD5A-5DDF7B335791}" type="presOf" srcId="{AD840104-C296-420A-843F-E58166D07007}" destId="{9C1FEEAF-47BC-485A-B64B-A9A74E1090FE}" srcOrd="0" destOrd="3" presId="urn:microsoft.com/office/officeart/2005/8/layout/hList1"/>
    <dgm:cxn modelId="{EDBE6305-4434-4973-B961-4D161D8F0370}" type="presOf" srcId="{CCBA878A-B91B-4F1D-A2AD-5D68547EE953}" destId="{231B3DFE-FF00-49D7-AB75-80CB789BBFD7}" srcOrd="0" destOrd="5" presId="urn:microsoft.com/office/officeart/2005/8/layout/hList1"/>
    <dgm:cxn modelId="{2B08AF09-D39A-4868-AC7B-B628533D6292}" srcId="{D93E7EC9-FEFA-4E53-BBE2-1E23B1385292}" destId="{CFEDD78D-F2A6-47D3-9596-FEA155EEA01A}" srcOrd="1" destOrd="0" parTransId="{542991B8-2BFE-4823-BF41-83C1AB45164E}" sibTransId="{31E38977-16F9-4D15-9A43-6F2031AEEEA0}"/>
    <dgm:cxn modelId="{E6D7AD0A-52FA-463B-970B-D7C2E3FAEBBA}" type="presOf" srcId="{EB62EEF9-FB6A-40FF-AB6B-CF28969BF083}" destId="{9C1FEEAF-47BC-485A-B64B-A9A74E1090FE}" srcOrd="0" destOrd="2" presId="urn:microsoft.com/office/officeart/2005/8/layout/hList1"/>
    <dgm:cxn modelId="{D3ADDE0A-99C0-461E-AAB4-E75742305733}" srcId="{0DE2B4E6-1E33-4C1F-B850-208F039E74F1}" destId="{AE3A9972-CB71-4931-97E6-9250B18FE2E5}" srcOrd="10" destOrd="0" parTransId="{41EB7084-E706-43FB-8913-BB28499D1A35}" sibTransId="{2A47BF6A-C9EA-4CB6-B517-C4B96F681206}"/>
    <dgm:cxn modelId="{94C04F0C-8FBC-4D1D-984C-2479789B9AF0}" srcId="{0DE2B4E6-1E33-4C1F-B850-208F039E74F1}" destId="{71BF584B-638F-419D-9472-603263C5EA76}" srcOrd="3" destOrd="0" parTransId="{27192903-094D-46A3-AF7C-7739586F2B16}" sibTransId="{A3BE3C06-406E-4EBB-BE5E-9350E2B58A6C}"/>
    <dgm:cxn modelId="{87C0020D-00E8-47D8-A271-E6BF5BF83023}" type="presOf" srcId="{4BFA1251-7D45-4B5C-86AF-7858C97DEAFC}" destId="{9EA821E1-A6CA-450E-BCC5-113EA81A18EF}" srcOrd="0" destOrd="0" presId="urn:microsoft.com/office/officeart/2005/8/layout/hList1"/>
    <dgm:cxn modelId="{F4FD860F-E82A-47C4-B603-B168BCABF56E}" srcId="{CFEDD78D-F2A6-47D3-9596-FEA155EEA01A}" destId="{4BFA1251-7D45-4B5C-86AF-7858C97DEAFC}" srcOrd="0" destOrd="0" parTransId="{9B2EB059-9157-4F97-9B1C-AE85ECDA10CC}" sibTransId="{408E5FC1-8818-4064-95A7-85740B7A653B}"/>
    <dgm:cxn modelId="{85D2A613-DBEE-4EAB-991B-5EE6B70368EC}" type="presOf" srcId="{A92320E9-E001-478F-BE2C-A54317AF3E89}" destId="{231B3DFE-FF00-49D7-AB75-80CB789BBFD7}" srcOrd="0" destOrd="9" presId="urn:microsoft.com/office/officeart/2005/8/layout/hList1"/>
    <dgm:cxn modelId="{332D3916-2A23-4F2C-881B-3498C1E50486}" srcId="{0DE2B4E6-1E33-4C1F-B850-208F039E74F1}" destId="{1940145A-8E22-4B00-AC15-F7003FE28BC3}" srcOrd="2" destOrd="0" parTransId="{624988FD-A038-4FDF-8090-BD457C53679A}" sibTransId="{B457CB27-89CD-4DC3-B2AE-93C9D9A636C6}"/>
    <dgm:cxn modelId="{179FD620-C349-424C-9100-F38100B45745}" type="presOf" srcId="{AE3A9972-CB71-4931-97E6-9250B18FE2E5}" destId="{231B3DFE-FF00-49D7-AB75-80CB789BBFD7}" srcOrd="0" destOrd="10" presId="urn:microsoft.com/office/officeart/2005/8/layout/hList1"/>
    <dgm:cxn modelId="{2B607632-9BEE-4EE5-8076-C4735BAD8CB7}" type="presOf" srcId="{10890D9B-A4E7-4CDD-8EB9-D3C8315B4621}" destId="{9EA821E1-A6CA-450E-BCC5-113EA81A18EF}" srcOrd="0" destOrd="3" presId="urn:microsoft.com/office/officeart/2005/8/layout/hList1"/>
    <dgm:cxn modelId="{4C84C732-C406-4EA2-8F51-A6C01DCB842C}" type="presOf" srcId="{D93E7EC9-FEFA-4E53-BBE2-1E23B1385292}" destId="{84DC7294-1814-4720-89C4-D06506BB8781}" srcOrd="0" destOrd="0" presId="urn:microsoft.com/office/officeart/2005/8/layout/hList1"/>
    <dgm:cxn modelId="{5CD4ED40-354A-48DA-B497-36AE722F7E34}" type="presOf" srcId="{D5571867-1446-4F19-8CD3-1D6278D7EFF2}" destId="{231B3DFE-FF00-49D7-AB75-80CB789BBFD7}" srcOrd="0" destOrd="4" presId="urn:microsoft.com/office/officeart/2005/8/layout/hList1"/>
    <dgm:cxn modelId="{36938061-1EAC-4AE2-994D-0BD50CC10D99}" srcId="{0DE2B4E6-1E33-4C1F-B850-208F039E74F1}" destId="{72214FC3-6765-4FC0-9B3D-F6CCD40BDBE3}" srcOrd="7" destOrd="0" parTransId="{0D83D6AD-DBCF-4290-A24A-A7D6BF891304}" sibTransId="{2F972DF1-4C9A-41B3-A6B5-596C5B85ECE0}"/>
    <dgm:cxn modelId="{32595562-8B08-4496-88DB-BDB9ABF713F2}" srcId="{074A2550-31AA-4677-99F8-81B28D7FDFE9}" destId="{EB62EEF9-FB6A-40FF-AB6B-CF28969BF083}" srcOrd="2" destOrd="0" parTransId="{D9B3D9AF-8944-468B-A63C-60A5794265D7}" sibTransId="{8F177348-D98A-4C21-AF4F-D971C0E4AEFF}"/>
    <dgm:cxn modelId="{2A498C43-30F4-4551-ADF4-348B82F1E586}" srcId="{4BFA1251-7D45-4B5C-86AF-7858C97DEAFC}" destId="{0AAA770F-FB25-45D6-AA03-87E9A5920E17}" srcOrd="0" destOrd="0" parTransId="{D5441AF4-9210-4C65-8CA5-639BC7765703}" sibTransId="{2F4578A9-89FA-401B-9675-DDE54E08533B}"/>
    <dgm:cxn modelId="{69C55C6A-024A-4162-AE2F-4786626BF755}" type="presOf" srcId="{26BBCA58-A6E1-4342-B124-8B39710C4B02}" destId="{9EA821E1-A6CA-450E-BCC5-113EA81A18EF}" srcOrd="0" destOrd="2" presId="urn:microsoft.com/office/officeart/2005/8/layout/hList1"/>
    <dgm:cxn modelId="{06C9F350-784F-4655-9C75-968A9561FCBF}" type="presOf" srcId="{170738F5-8856-4FBE-893C-5904E5CC58CB}" destId="{231B3DFE-FF00-49D7-AB75-80CB789BBFD7}" srcOrd="0" destOrd="1" presId="urn:microsoft.com/office/officeart/2005/8/layout/hList1"/>
    <dgm:cxn modelId="{E2281271-9BC5-4F6F-BDDF-970BC9438BEF}" type="presOf" srcId="{72214FC3-6765-4FC0-9B3D-F6CCD40BDBE3}" destId="{231B3DFE-FF00-49D7-AB75-80CB789BBFD7}" srcOrd="0" destOrd="7" presId="urn:microsoft.com/office/officeart/2005/8/layout/hList1"/>
    <dgm:cxn modelId="{8C150C59-F311-4A9A-B199-D0C62E707934}" srcId="{074A2550-31AA-4677-99F8-81B28D7FDFE9}" destId="{FCB7EDA2-6357-4B79-8289-ACAFFB2C37D2}" srcOrd="1" destOrd="0" parTransId="{A73821E8-5F6C-4107-B8BC-0429F2D66384}" sibTransId="{3AFAB2AA-C2AB-4DB8-9519-3FCBB81BCF72}"/>
    <dgm:cxn modelId="{D62C7859-6286-460F-B673-1109DFF6C212}" srcId="{D93E7EC9-FEFA-4E53-BBE2-1E23B1385292}" destId="{0DE2B4E6-1E33-4C1F-B850-208F039E74F1}" srcOrd="0" destOrd="0" parTransId="{FFD7D656-FA62-4D52-807A-8608D7C3871B}" sibTransId="{EDE8382A-9AFB-48D1-AF49-9CF1BAFCBDB4}"/>
    <dgm:cxn modelId="{F601125A-7B63-4BE7-A2A2-C2E1EA739F23}" srcId="{0DE2B4E6-1E33-4C1F-B850-208F039E74F1}" destId="{A92320E9-E001-478F-BE2C-A54317AF3E89}" srcOrd="9" destOrd="0" parTransId="{DDCF0F96-4CF3-448D-A023-0915B2550B25}" sibTransId="{614F568B-00F6-4627-B00E-CB712D1F659D}"/>
    <dgm:cxn modelId="{65FBD07E-52CC-4AAC-911E-F513F10B98CC}" type="presOf" srcId="{074A2550-31AA-4677-99F8-81B28D7FDFE9}" destId="{B3C856B6-68FA-491A-8054-4FF83A6DF97D}" srcOrd="0" destOrd="0" presId="urn:microsoft.com/office/officeart/2005/8/layout/hList1"/>
    <dgm:cxn modelId="{BA37367F-2CFC-4144-8E21-F5DE4F40446F}" type="presOf" srcId="{CEEED393-0E14-40DE-B331-490DFE58F8C8}" destId="{9EA821E1-A6CA-450E-BCC5-113EA81A18EF}" srcOrd="0" destOrd="4" presId="urn:microsoft.com/office/officeart/2005/8/layout/hList1"/>
    <dgm:cxn modelId="{10B97880-22DE-4908-93B2-98BEDC26FE01}" srcId="{CFEDD78D-F2A6-47D3-9596-FEA155EEA01A}" destId="{10890D9B-A4E7-4CDD-8EB9-D3C8315B4621}" srcOrd="2" destOrd="0" parTransId="{37826673-4CE6-46C2-B6B9-1D5E5EAC1346}" sibTransId="{6D64E2CC-AC54-4D3F-A902-40FB6B6877BE}"/>
    <dgm:cxn modelId="{0DFB7E81-DE70-4125-BB05-346C1C7041C1}" type="presOf" srcId="{6E2CC39D-B2CD-4FBF-9732-D8D20C0099E1}" destId="{231B3DFE-FF00-49D7-AB75-80CB789BBFD7}" srcOrd="0" destOrd="8" presId="urn:microsoft.com/office/officeart/2005/8/layout/hList1"/>
    <dgm:cxn modelId="{F7655F82-2DAF-4093-B597-5D425A0938CB}" type="presOf" srcId="{5C11B2A0-39A0-46E6-847A-EDBCF6A3EA82}" destId="{9C1FEEAF-47BC-485A-B64B-A9A74E1090FE}" srcOrd="0" destOrd="0" presId="urn:microsoft.com/office/officeart/2005/8/layout/hList1"/>
    <dgm:cxn modelId="{AF590D88-8509-41CF-9292-176771EA3891}" type="presOf" srcId="{0AAA770F-FB25-45D6-AA03-87E9A5920E17}" destId="{9EA821E1-A6CA-450E-BCC5-113EA81A18EF}" srcOrd="0" destOrd="1" presId="urn:microsoft.com/office/officeart/2005/8/layout/hList1"/>
    <dgm:cxn modelId="{7AC8C588-98F7-487E-AD67-C9A5D8C3788E}" type="presOf" srcId="{38607298-72EC-427C-BAFA-F48D7D6E7558}" destId="{231B3DFE-FF00-49D7-AB75-80CB789BBFD7}" srcOrd="0" destOrd="6" presId="urn:microsoft.com/office/officeart/2005/8/layout/hList1"/>
    <dgm:cxn modelId="{A70D648C-D7B9-4A9E-A8DF-C195AE3BFCB4}" type="presOf" srcId="{71BF584B-638F-419D-9472-603263C5EA76}" destId="{231B3DFE-FF00-49D7-AB75-80CB789BBFD7}" srcOrd="0" destOrd="3" presId="urn:microsoft.com/office/officeart/2005/8/layout/hList1"/>
    <dgm:cxn modelId="{BB9BBD8D-B7D2-4193-B432-2C27B6227BCF}" srcId="{0DE2B4E6-1E33-4C1F-B850-208F039E74F1}" destId="{CCBA878A-B91B-4F1D-A2AD-5D68547EE953}" srcOrd="5" destOrd="0" parTransId="{34E2584C-9937-483C-A87D-370552055CA5}" sibTransId="{05AB71D3-D6DD-4251-9B80-312733B82208}"/>
    <dgm:cxn modelId="{8F3E3296-BF18-41A5-9CFD-A365B7C7C306}" srcId="{D93E7EC9-FEFA-4E53-BBE2-1E23B1385292}" destId="{074A2550-31AA-4677-99F8-81B28D7FDFE9}" srcOrd="2" destOrd="0" parTransId="{BC91DE6E-A2FB-44EA-BF94-C8E5AA9AF52F}" sibTransId="{BAE90E32-A218-496D-A78D-4BFC394E40D2}"/>
    <dgm:cxn modelId="{02E54C9C-13AE-497D-8C74-4D2FEEEE7619}" type="presOf" srcId="{35359B15-9B09-4F40-A41B-474F8F866F26}" destId="{231B3DFE-FF00-49D7-AB75-80CB789BBFD7}" srcOrd="0" destOrd="0" presId="urn:microsoft.com/office/officeart/2005/8/layout/hList1"/>
    <dgm:cxn modelId="{FBC6B6A0-1AEF-49CE-9B92-E005BB6F03D0}" srcId="{0DE2B4E6-1E33-4C1F-B850-208F039E74F1}" destId="{6E2CC39D-B2CD-4FBF-9732-D8D20C0099E1}" srcOrd="8" destOrd="0" parTransId="{ED82C415-8A93-4ABA-B873-926D6212C872}" sibTransId="{329CAEA4-9083-4C23-A0C0-FEA3C5CC690A}"/>
    <dgm:cxn modelId="{12EA9AAA-DB9B-42AF-9D78-6DD5F2884EB5}" srcId="{074A2550-31AA-4677-99F8-81B28D7FDFE9}" destId="{AD840104-C296-420A-843F-E58166D07007}" srcOrd="3" destOrd="0" parTransId="{83038F81-F065-4036-8EB8-6B9EF7A1C891}" sibTransId="{93DC0ED7-D0CF-44E9-8692-99B09FAA84D6}"/>
    <dgm:cxn modelId="{912BB9AE-D322-41D2-BFC2-17C06AB43595}" srcId="{0DE2B4E6-1E33-4C1F-B850-208F039E74F1}" destId="{D5571867-1446-4F19-8CD3-1D6278D7EFF2}" srcOrd="4" destOrd="0" parTransId="{277DB9B4-B5EC-465E-A14D-845F9C337036}" sibTransId="{9A16B6E4-008D-432F-AEBD-ED31C826E4DC}"/>
    <dgm:cxn modelId="{8537E4AE-63C0-468B-8719-8C2993C61AB5}" type="presOf" srcId="{CFEDD78D-F2A6-47D3-9596-FEA155EEA01A}" destId="{5BB8F383-57B5-4EAA-AEC7-90E10D211600}" srcOrd="0" destOrd="0" presId="urn:microsoft.com/office/officeart/2005/8/layout/hList1"/>
    <dgm:cxn modelId="{F3E03CB9-22FF-45AA-9D51-CB91CD8F08C2}" type="presOf" srcId="{1940145A-8E22-4B00-AC15-F7003FE28BC3}" destId="{231B3DFE-FF00-49D7-AB75-80CB789BBFD7}" srcOrd="0" destOrd="2" presId="urn:microsoft.com/office/officeart/2005/8/layout/hList1"/>
    <dgm:cxn modelId="{041867BD-295F-4DF6-9E8E-3AF2BF70EA6E}" srcId="{0DE2B4E6-1E33-4C1F-B850-208F039E74F1}" destId="{170738F5-8856-4FBE-893C-5904E5CC58CB}" srcOrd="1" destOrd="0" parTransId="{8926BA3C-3787-4D81-82E6-688F0C1E946D}" sibTransId="{8E4A98AC-B64D-4DE3-A762-5FA76DD51E00}"/>
    <dgm:cxn modelId="{5080B3D1-B735-4D9F-BF08-1F9C26682965}" type="presOf" srcId="{FCB7EDA2-6357-4B79-8289-ACAFFB2C37D2}" destId="{9C1FEEAF-47BC-485A-B64B-A9A74E1090FE}" srcOrd="0" destOrd="1" presId="urn:microsoft.com/office/officeart/2005/8/layout/hList1"/>
    <dgm:cxn modelId="{F12722DA-CCAB-4FF9-85C2-E43C98AB9393}" type="presOf" srcId="{0DE2B4E6-1E33-4C1F-B850-208F039E74F1}" destId="{AB5678C0-3E21-4C63-8E36-8DC2C8833077}" srcOrd="0" destOrd="0" presId="urn:microsoft.com/office/officeart/2005/8/layout/hList1"/>
    <dgm:cxn modelId="{30D943DE-74D7-424B-B6D8-ADEA02E61A4F}" srcId="{074A2550-31AA-4677-99F8-81B28D7FDFE9}" destId="{5C11B2A0-39A0-46E6-847A-EDBCF6A3EA82}" srcOrd="0" destOrd="0" parTransId="{C1F32947-790E-41F5-9186-D89CA9490BB2}" sibTransId="{D46512A6-054B-42A2-BB0F-A8504FF0CBEA}"/>
    <dgm:cxn modelId="{CB6392E1-0D6B-48DF-A881-B20A069CEDD8}" srcId="{0DE2B4E6-1E33-4C1F-B850-208F039E74F1}" destId="{35359B15-9B09-4F40-A41B-474F8F866F26}" srcOrd="0" destOrd="0" parTransId="{74DBDFB6-CED0-41FC-9ACC-C1AF2C156443}" sibTransId="{416029B5-20A4-4D17-B4EB-3A2BA0763033}"/>
    <dgm:cxn modelId="{834814E6-FC67-4B72-95FF-7A3F5B6CDA62}" srcId="{0DE2B4E6-1E33-4C1F-B850-208F039E74F1}" destId="{38607298-72EC-427C-BAFA-F48D7D6E7558}" srcOrd="6" destOrd="0" parTransId="{248E22D1-79B6-4BBC-AFBF-5419280AA8AC}" sibTransId="{F4357EC3-26A6-4847-ADF3-C1826D91D822}"/>
    <dgm:cxn modelId="{7265F5E7-EAF5-4365-8384-2D90D1AB3253}" srcId="{CFEDD78D-F2A6-47D3-9596-FEA155EEA01A}" destId="{26BBCA58-A6E1-4342-B124-8B39710C4B02}" srcOrd="1" destOrd="0" parTransId="{6568045D-41AF-4C6B-9E31-FDDC4B43C170}" sibTransId="{E60F20ED-23E3-44F7-B4A0-E26B9E773D8B}"/>
    <dgm:cxn modelId="{2CC88AEB-A9ED-4AAF-A1CA-2C5A28C3F93F}" srcId="{CFEDD78D-F2A6-47D3-9596-FEA155EEA01A}" destId="{CEEED393-0E14-40DE-B331-490DFE58F8C8}" srcOrd="3" destOrd="0" parTransId="{3E4FC4D5-9B7B-4938-8785-C48F0D0A513D}" sibTransId="{484D9AFC-792A-4116-9CB1-30E4AF73AB56}"/>
    <dgm:cxn modelId="{ECD62382-5F4B-4483-9E88-F185ED6AA6A3}" type="presParOf" srcId="{84DC7294-1814-4720-89C4-D06506BB8781}" destId="{7FE29C74-D92E-464E-9725-AD170F6E8F6D}" srcOrd="0" destOrd="0" presId="urn:microsoft.com/office/officeart/2005/8/layout/hList1"/>
    <dgm:cxn modelId="{287E0CFE-6BF8-4C0B-8D72-EC1BC3265593}" type="presParOf" srcId="{7FE29C74-D92E-464E-9725-AD170F6E8F6D}" destId="{AB5678C0-3E21-4C63-8E36-8DC2C8833077}" srcOrd="0" destOrd="0" presId="urn:microsoft.com/office/officeart/2005/8/layout/hList1"/>
    <dgm:cxn modelId="{C0BE1C52-003B-4E1D-B8B8-8B1F756BAD80}" type="presParOf" srcId="{7FE29C74-D92E-464E-9725-AD170F6E8F6D}" destId="{231B3DFE-FF00-49D7-AB75-80CB789BBFD7}" srcOrd="1" destOrd="0" presId="urn:microsoft.com/office/officeart/2005/8/layout/hList1"/>
    <dgm:cxn modelId="{3FCF447D-2AC3-406B-84D9-9D281C425C1A}" type="presParOf" srcId="{84DC7294-1814-4720-89C4-D06506BB8781}" destId="{2D00F58D-8AE2-4996-A57F-2C988980E4A5}" srcOrd="1" destOrd="0" presId="urn:microsoft.com/office/officeart/2005/8/layout/hList1"/>
    <dgm:cxn modelId="{6422C983-4362-4C45-A0BB-E2232B9E54F4}" type="presParOf" srcId="{84DC7294-1814-4720-89C4-D06506BB8781}" destId="{6616E708-FEA9-40B9-946E-B8AA48A8CA01}" srcOrd="2" destOrd="0" presId="urn:microsoft.com/office/officeart/2005/8/layout/hList1"/>
    <dgm:cxn modelId="{7BFA0378-18CE-4AE3-87EF-55E197542B54}" type="presParOf" srcId="{6616E708-FEA9-40B9-946E-B8AA48A8CA01}" destId="{5BB8F383-57B5-4EAA-AEC7-90E10D211600}" srcOrd="0" destOrd="0" presId="urn:microsoft.com/office/officeart/2005/8/layout/hList1"/>
    <dgm:cxn modelId="{A39E1F89-37A4-4223-8FDB-13BF6B1B54F3}" type="presParOf" srcId="{6616E708-FEA9-40B9-946E-B8AA48A8CA01}" destId="{9EA821E1-A6CA-450E-BCC5-113EA81A18EF}" srcOrd="1" destOrd="0" presId="urn:microsoft.com/office/officeart/2005/8/layout/hList1"/>
    <dgm:cxn modelId="{3E5F2E01-65D0-4800-8B8B-A8470C06E46D}" type="presParOf" srcId="{84DC7294-1814-4720-89C4-D06506BB8781}" destId="{C0B05E3C-FF3C-4169-B57F-79E68F7AAF5D}" srcOrd="3" destOrd="0" presId="urn:microsoft.com/office/officeart/2005/8/layout/hList1"/>
    <dgm:cxn modelId="{FDFE2EA1-CB87-4136-9283-6F0A73B16141}" type="presParOf" srcId="{84DC7294-1814-4720-89C4-D06506BB8781}" destId="{D2329E51-9C2A-4C4D-815F-1269AFE90B4B}" srcOrd="4" destOrd="0" presId="urn:microsoft.com/office/officeart/2005/8/layout/hList1"/>
    <dgm:cxn modelId="{1357B363-1D98-4149-BAB6-97C35A32B1CA}" type="presParOf" srcId="{D2329E51-9C2A-4C4D-815F-1269AFE90B4B}" destId="{B3C856B6-68FA-491A-8054-4FF83A6DF97D}" srcOrd="0" destOrd="0" presId="urn:microsoft.com/office/officeart/2005/8/layout/hList1"/>
    <dgm:cxn modelId="{C39043C5-A354-4662-B682-96848781C781}" type="presParOf" srcId="{D2329E51-9C2A-4C4D-815F-1269AFE90B4B}" destId="{9C1FEEAF-47BC-485A-B64B-A9A74E1090FE}" srcOrd="1" destOrd="0" presId="urn:microsoft.com/office/officeart/2005/8/layout/h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5678C0-3E21-4C63-8E36-8DC2C8833077}">
      <dsp:nvSpPr>
        <dsp:cNvPr id="0" name=""/>
        <dsp:cNvSpPr/>
      </dsp:nvSpPr>
      <dsp:spPr>
        <a:xfrm>
          <a:off x="2077" y="4271"/>
          <a:ext cx="2025124" cy="259200"/>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36576" rIns="64008" bIns="36576" numCol="1" spcCol="1270" anchor="ctr" anchorCtr="0">
          <a:noAutofit/>
        </a:bodyPr>
        <a:lstStyle/>
        <a:p>
          <a:pPr marL="0" lvl="0" indent="0" algn="ctr" defTabSz="400050">
            <a:lnSpc>
              <a:spcPct val="90000"/>
            </a:lnSpc>
            <a:spcBef>
              <a:spcPct val="0"/>
            </a:spcBef>
            <a:spcAft>
              <a:spcPct val="35000"/>
            </a:spcAft>
            <a:buNone/>
          </a:pPr>
          <a:r>
            <a:rPr lang="zh-CN" altLang="en-US" sz="900" b="1" kern="1200" dirty="0">
              <a:latin typeface="Huawei Sans" panose="020C0503030203020204" pitchFamily="34" charset="0"/>
              <a:ea typeface="方正兰亭黑简体" panose="02000000000000000000" pitchFamily="2" charset="-122"/>
              <a:sym typeface="Huawei Sans" panose="020C0503030203020204" pitchFamily="34" charset="0"/>
            </a:rPr>
            <a:t>共建生态</a:t>
          </a:r>
        </a:p>
      </dsp:txBody>
      <dsp:txXfrm>
        <a:off x="2077" y="4271"/>
        <a:ext cx="2025124" cy="259200"/>
      </dsp:txXfrm>
    </dsp:sp>
    <dsp:sp modelId="{231B3DFE-FF00-49D7-AB75-80CB789BBFD7}">
      <dsp:nvSpPr>
        <dsp:cNvPr id="0" name=""/>
        <dsp:cNvSpPr/>
      </dsp:nvSpPr>
      <dsp:spPr>
        <a:xfrm>
          <a:off x="2077" y="263471"/>
          <a:ext cx="2025124" cy="2323814"/>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8006" tIns="48006" rIns="64008" bIns="72009" numCol="1" spcCol="1270" anchor="t" anchorCtr="0">
          <a:noAutofit/>
        </a:bodyPr>
        <a:lstStyle/>
        <a:p>
          <a:pPr marL="57150" lvl="1" indent="-57150" algn="l" defTabSz="400050">
            <a:lnSpc>
              <a:spcPct val="90000"/>
            </a:lnSpc>
            <a:spcBef>
              <a:spcPct val="0"/>
            </a:spcBef>
            <a:spcAft>
              <a:spcPct val="15000"/>
            </a:spcAft>
            <a:buChar char="•"/>
          </a:pPr>
          <a:endParaRPr lang="zh-CN" altLang="en-US" sz="900" kern="1200" dirty="0">
            <a:latin typeface="Huawei Sans" panose="020C0503030203020204" pitchFamily="34" charset="0"/>
            <a:ea typeface="方正兰亭黑简体" panose="02000000000000000000" pitchFamily="2" charset="-122"/>
            <a:sym typeface="Huawei Sans" panose="020C0503030203020204" pitchFamily="34" charset="0"/>
          </a:endParaRPr>
        </a:p>
        <a:p>
          <a:pPr marL="57150" lvl="1" indent="-57150" algn="l" defTabSz="400050">
            <a:lnSpc>
              <a:spcPct val="90000"/>
            </a:lnSpc>
            <a:spcBef>
              <a:spcPct val="0"/>
            </a:spcBef>
            <a:spcAft>
              <a:spcPct val="15000"/>
            </a:spcAft>
            <a:buChar char="•"/>
          </a:pPr>
          <a:endParaRPr lang="zh-CN" altLang="en-US" sz="900" kern="1200" dirty="0">
            <a:latin typeface="Huawei Sans" panose="020C0503030203020204" pitchFamily="34" charset="0"/>
            <a:ea typeface="方正兰亭黑简体" panose="02000000000000000000" pitchFamily="2" charset="-122"/>
            <a:sym typeface="Huawei Sans" panose="020C0503030203020204" pitchFamily="34" charset="0"/>
          </a:endParaRPr>
        </a:p>
        <a:p>
          <a:pPr marL="57150" lvl="1" indent="-57150" algn="l" defTabSz="400050">
            <a:lnSpc>
              <a:spcPct val="90000"/>
            </a:lnSpc>
            <a:spcBef>
              <a:spcPct val="0"/>
            </a:spcBef>
            <a:spcAft>
              <a:spcPct val="15000"/>
            </a:spcAft>
            <a:buChar char="•"/>
          </a:pPr>
          <a:endParaRPr lang="zh-CN" altLang="en-US" sz="900" kern="1200" dirty="0">
            <a:latin typeface="Huawei Sans" panose="020C0503030203020204" pitchFamily="34" charset="0"/>
            <a:ea typeface="方正兰亭黑简体" panose="02000000000000000000" pitchFamily="2" charset="-122"/>
            <a:sym typeface="Huawei Sans" panose="020C0503030203020204" pitchFamily="34" charset="0"/>
          </a:endParaRPr>
        </a:p>
        <a:p>
          <a:pPr marL="57150" lvl="1" indent="-57150" algn="l" defTabSz="400050">
            <a:lnSpc>
              <a:spcPct val="90000"/>
            </a:lnSpc>
            <a:spcBef>
              <a:spcPct val="0"/>
            </a:spcBef>
            <a:spcAft>
              <a:spcPct val="15000"/>
            </a:spcAft>
            <a:buChar char="•"/>
          </a:pPr>
          <a:endParaRPr lang="zh-CN" altLang="en-US" sz="900" kern="1200" dirty="0">
            <a:latin typeface="Huawei Sans" panose="020C0503030203020204" pitchFamily="34" charset="0"/>
            <a:ea typeface="方正兰亭黑简体" panose="02000000000000000000" pitchFamily="2" charset="-122"/>
            <a:sym typeface="Huawei Sans" panose="020C0503030203020204" pitchFamily="34" charset="0"/>
          </a:endParaRPr>
        </a:p>
        <a:p>
          <a:pPr marL="57150" lvl="1" indent="-57150" algn="l" defTabSz="400050">
            <a:lnSpc>
              <a:spcPct val="90000"/>
            </a:lnSpc>
            <a:spcBef>
              <a:spcPct val="0"/>
            </a:spcBef>
            <a:spcAft>
              <a:spcPct val="15000"/>
            </a:spcAft>
            <a:buChar char="•"/>
          </a:pPr>
          <a:endParaRPr lang="zh-CN" altLang="en-US" sz="900" kern="1200" dirty="0">
            <a:latin typeface="Huawei Sans" panose="020C0503030203020204" pitchFamily="34" charset="0"/>
            <a:ea typeface="方正兰亭黑简体" panose="02000000000000000000" pitchFamily="2" charset="-122"/>
            <a:sym typeface="Huawei Sans" panose="020C0503030203020204" pitchFamily="34" charset="0"/>
          </a:endParaRPr>
        </a:p>
        <a:p>
          <a:pPr marL="57150" lvl="1" indent="-57150" algn="l" defTabSz="400050">
            <a:lnSpc>
              <a:spcPct val="90000"/>
            </a:lnSpc>
            <a:spcBef>
              <a:spcPct val="0"/>
            </a:spcBef>
            <a:spcAft>
              <a:spcPct val="15000"/>
            </a:spcAft>
            <a:buChar char="•"/>
          </a:pPr>
          <a:endParaRPr lang="zh-CN" altLang="en-US" sz="900" kern="1200" dirty="0">
            <a:latin typeface="Huawei Sans" panose="020C0503030203020204" pitchFamily="34" charset="0"/>
            <a:ea typeface="方正兰亭黑简体" panose="02000000000000000000" pitchFamily="2" charset="-122"/>
            <a:sym typeface="Huawei Sans" panose="020C0503030203020204" pitchFamily="34" charset="0"/>
          </a:endParaRPr>
        </a:p>
        <a:p>
          <a:pPr marL="57150" lvl="1" indent="-57150" algn="l" defTabSz="400050">
            <a:lnSpc>
              <a:spcPct val="90000"/>
            </a:lnSpc>
            <a:spcBef>
              <a:spcPct val="0"/>
            </a:spcBef>
            <a:spcAft>
              <a:spcPct val="15000"/>
            </a:spcAft>
            <a:buChar char="•"/>
          </a:pPr>
          <a:endParaRPr lang="zh-CN" altLang="en-US" sz="900" kern="1200" dirty="0">
            <a:latin typeface="Huawei Sans" panose="020C0503030203020204" pitchFamily="34" charset="0"/>
            <a:ea typeface="方正兰亭黑简体" panose="02000000000000000000" pitchFamily="2" charset="-122"/>
            <a:sym typeface="Huawei Sans" panose="020C0503030203020204" pitchFamily="34" charset="0"/>
          </a:endParaRPr>
        </a:p>
        <a:p>
          <a:pPr marL="57150" lvl="1" indent="-57150" algn="l" defTabSz="400050">
            <a:lnSpc>
              <a:spcPct val="90000"/>
            </a:lnSpc>
            <a:spcBef>
              <a:spcPct val="0"/>
            </a:spcBef>
            <a:spcAft>
              <a:spcPct val="15000"/>
            </a:spcAft>
            <a:buChar char="•"/>
          </a:pPr>
          <a:endParaRPr lang="zh-CN" altLang="en-US" sz="900" kern="1200" dirty="0">
            <a:latin typeface="Huawei Sans" panose="020C0503030203020204" pitchFamily="34" charset="0"/>
            <a:ea typeface="方正兰亭黑简体" panose="02000000000000000000" pitchFamily="2" charset="-122"/>
            <a:sym typeface="Huawei Sans" panose="020C0503030203020204" pitchFamily="34" charset="0"/>
          </a:endParaRPr>
        </a:p>
        <a:p>
          <a:pPr marL="57150" lvl="1" indent="-57150" algn="l" defTabSz="400050">
            <a:lnSpc>
              <a:spcPct val="90000"/>
            </a:lnSpc>
            <a:spcBef>
              <a:spcPct val="0"/>
            </a:spcBef>
            <a:spcAft>
              <a:spcPct val="15000"/>
            </a:spcAft>
            <a:buChar char="•"/>
          </a:pPr>
          <a:endParaRPr lang="zh-CN" altLang="en-US" sz="900" kern="1200" dirty="0">
            <a:latin typeface="Huawei Sans" panose="020C0503030203020204" pitchFamily="34" charset="0"/>
            <a:ea typeface="方正兰亭黑简体" panose="02000000000000000000" pitchFamily="2" charset="-122"/>
            <a:sym typeface="Huawei Sans" panose="020C0503030203020204" pitchFamily="34" charset="0"/>
          </a:endParaRPr>
        </a:p>
        <a:p>
          <a:pPr marL="57150" lvl="1" indent="-57150" algn="l" defTabSz="400050">
            <a:lnSpc>
              <a:spcPct val="90000"/>
            </a:lnSpc>
            <a:spcBef>
              <a:spcPct val="0"/>
            </a:spcBef>
            <a:spcAft>
              <a:spcPct val="15000"/>
            </a:spcAft>
            <a:buChar char="•"/>
          </a:pPr>
          <a:endParaRPr lang="zh-CN" altLang="en-US" sz="900" kern="1200" dirty="0">
            <a:latin typeface="Huawei Sans" panose="020C0503030203020204" pitchFamily="34" charset="0"/>
            <a:ea typeface="方正兰亭黑简体" panose="02000000000000000000" pitchFamily="2" charset="-122"/>
            <a:sym typeface="Huawei Sans" panose="020C0503030203020204" pitchFamily="34" charset="0"/>
          </a:endParaRPr>
        </a:p>
        <a:p>
          <a:pPr marL="57150" lvl="1" indent="-57150" algn="l" defTabSz="400050">
            <a:lnSpc>
              <a:spcPct val="90000"/>
            </a:lnSpc>
            <a:spcBef>
              <a:spcPct val="0"/>
            </a:spcBef>
            <a:spcAft>
              <a:spcPct val="15000"/>
            </a:spcAft>
            <a:buChar char="•"/>
          </a:pPr>
          <a:endParaRPr lang="zh-CN" altLang="en-US" sz="900" kern="1200" dirty="0">
            <a:latin typeface="Huawei Sans" panose="020C0503030203020204" pitchFamily="34" charset="0"/>
            <a:ea typeface="方正兰亭黑简体" panose="02000000000000000000" pitchFamily="2" charset="-122"/>
            <a:sym typeface="Huawei Sans" panose="020C0503030203020204" pitchFamily="34" charset="0"/>
          </a:endParaRPr>
        </a:p>
      </dsp:txBody>
      <dsp:txXfrm>
        <a:off x="2077" y="263471"/>
        <a:ext cx="2025124" cy="2323814"/>
      </dsp:txXfrm>
    </dsp:sp>
    <dsp:sp modelId="{5BB8F383-57B5-4EAA-AEC7-90E10D211600}">
      <dsp:nvSpPr>
        <dsp:cNvPr id="0" name=""/>
        <dsp:cNvSpPr/>
      </dsp:nvSpPr>
      <dsp:spPr>
        <a:xfrm>
          <a:off x="2310718" y="4271"/>
          <a:ext cx="2025124" cy="259200"/>
        </a:xfrm>
        <a:prstGeom prst="rect">
          <a:avLst/>
        </a:prstGeom>
        <a:solidFill>
          <a:schemeClr val="accent5">
            <a:hueOff val="-3676672"/>
            <a:satOff val="-5114"/>
            <a:lumOff val="-1961"/>
            <a:alphaOff val="0"/>
          </a:schemeClr>
        </a:solidFill>
        <a:ln w="12700" cap="flat" cmpd="sng" algn="ctr">
          <a:solidFill>
            <a:schemeClr val="accent5">
              <a:hueOff val="-3676672"/>
              <a:satOff val="-5114"/>
              <a:lumOff val="-196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36576" rIns="64008" bIns="36576" numCol="1" spcCol="1270" anchor="ctr" anchorCtr="0">
          <a:noAutofit/>
        </a:bodyPr>
        <a:lstStyle/>
        <a:p>
          <a:pPr marL="0" lvl="0" indent="0" algn="ctr" defTabSz="400050">
            <a:lnSpc>
              <a:spcPct val="90000"/>
            </a:lnSpc>
            <a:spcBef>
              <a:spcPct val="0"/>
            </a:spcBef>
            <a:spcAft>
              <a:spcPct val="35000"/>
            </a:spcAft>
            <a:buNone/>
          </a:pPr>
          <a:r>
            <a:rPr lang="zh-CN" altLang="en-US" sz="900" b="1" kern="1200" dirty="0">
              <a:latin typeface="Huawei Sans" panose="020C0503030203020204" pitchFamily="34" charset="0"/>
              <a:ea typeface="方正兰亭黑简体" panose="02000000000000000000" pitchFamily="2" charset="-122"/>
              <a:sym typeface="Huawei Sans" panose="020C0503030203020204" pitchFamily="34" charset="0"/>
            </a:rPr>
            <a:t>分享企业级能力</a:t>
          </a:r>
        </a:p>
      </dsp:txBody>
      <dsp:txXfrm>
        <a:off x="2310718" y="4271"/>
        <a:ext cx="2025124" cy="259200"/>
      </dsp:txXfrm>
    </dsp:sp>
    <dsp:sp modelId="{9EA821E1-A6CA-450E-BCC5-113EA81A18EF}">
      <dsp:nvSpPr>
        <dsp:cNvPr id="0" name=""/>
        <dsp:cNvSpPr/>
      </dsp:nvSpPr>
      <dsp:spPr>
        <a:xfrm>
          <a:off x="2310718" y="263471"/>
          <a:ext cx="2025124" cy="2323814"/>
        </a:xfrm>
        <a:prstGeom prst="rect">
          <a:avLst/>
        </a:prstGeom>
        <a:solidFill>
          <a:schemeClr val="accent5">
            <a:tint val="40000"/>
            <a:alpha val="90000"/>
            <a:hueOff val="-3695877"/>
            <a:satOff val="-6408"/>
            <a:lumOff val="-644"/>
            <a:alphaOff val="0"/>
          </a:schemeClr>
        </a:solidFill>
        <a:ln w="12700" cap="flat" cmpd="sng" algn="ctr">
          <a:solidFill>
            <a:schemeClr val="accent5">
              <a:tint val="40000"/>
              <a:alpha val="90000"/>
              <a:hueOff val="-3695877"/>
              <a:satOff val="-6408"/>
              <a:lumOff val="-64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0" lvl="1" indent="0" algn="l" defTabSz="622300">
            <a:lnSpc>
              <a:spcPct val="90000"/>
            </a:lnSpc>
            <a:spcBef>
              <a:spcPct val="0"/>
            </a:spcBef>
            <a:spcAft>
              <a:spcPct val="15000"/>
            </a:spcAft>
            <a:buChar char="•"/>
          </a:pPr>
          <a:r>
            <a:rPr lang="zh-CN" altLang="en-US" sz="1400" kern="1200" dirty="0">
              <a:latin typeface="Huawei Sans" panose="020C0503030203020204" pitchFamily="34" charset="0"/>
              <a:ea typeface="方正兰亭黑简体" panose="02000000000000000000" pitchFamily="2" charset="-122"/>
              <a:sym typeface="Huawei Sans" panose="020C0503030203020204" pitchFamily="34" charset="0"/>
            </a:rPr>
            <a:t>把企业级能力带给客户</a:t>
          </a:r>
        </a:p>
        <a:p>
          <a:pPr marL="0" lvl="2" indent="0" algn="l" defTabSz="622300">
            <a:lnSpc>
              <a:spcPct val="90000"/>
            </a:lnSpc>
            <a:spcBef>
              <a:spcPct val="0"/>
            </a:spcBef>
            <a:spcAft>
              <a:spcPct val="15000"/>
            </a:spcAft>
            <a:buChar char="•"/>
          </a:pPr>
          <a:r>
            <a:rPr lang="zh-CN" altLang="en-US" sz="1400" kern="1200" dirty="0">
              <a:latin typeface="Huawei Sans" panose="020C0503030203020204" pitchFamily="34" charset="0"/>
              <a:ea typeface="方正兰亭黑简体" panose="02000000000000000000" pitchFamily="2" charset="-122"/>
              <a:sym typeface="Huawei Sans" panose="020C0503030203020204" pitchFamily="34" charset="0"/>
            </a:rPr>
            <a:t>高性能，高可用，安全可信；</a:t>
          </a:r>
        </a:p>
        <a:p>
          <a:pPr marL="0" lvl="1" indent="0" algn="l" defTabSz="622300">
            <a:lnSpc>
              <a:spcPct val="90000"/>
            </a:lnSpc>
            <a:spcBef>
              <a:spcPct val="0"/>
            </a:spcBef>
            <a:spcAft>
              <a:spcPct val="15000"/>
            </a:spcAft>
            <a:buChar char="•"/>
          </a:pPr>
          <a:r>
            <a:rPr lang="zh-CN" altLang="en-US" sz="1400" kern="1200" dirty="0">
              <a:latin typeface="Huawei Sans" panose="020C0503030203020204" pitchFamily="34" charset="0"/>
              <a:ea typeface="方正兰亭黑简体" panose="02000000000000000000" pitchFamily="2" charset="-122"/>
              <a:sym typeface="Huawei Sans" panose="020C0503030203020204" pitchFamily="34" charset="0"/>
            </a:rPr>
            <a:t>技术分享；</a:t>
          </a:r>
        </a:p>
        <a:p>
          <a:pPr marL="0" lvl="1" indent="0" algn="l" defTabSz="622300">
            <a:lnSpc>
              <a:spcPct val="90000"/>
            </a:lnSpc>
            <a:spcBef>
              <a:spcPct val="0"/>
            </a:spcBef>
            <a:spcAft>
              <a:spcPct val="15000"/>
            </a:spcAft>
            <a:buChar char="•"/>
          </a:pPr>
          <a:r>
            <a:rPr lang="zh-CN" altLang="en-US" sz="1400" kern="1200" dirty="0">
              <a:latin typeface="Huawei Sans" panose="020C0503030203020204" pitchFamily="34" charset="0"/>
              <a:ea typeface="方正兰亭黑简体" panose="02000000000000000000" pitchFamily="2" charset="-122"/>
              <a:sym typeface="Huawei Sans" panose="020C0503030203020204" pitchFamily="34" charset="0"/>
            </a:rPr>
            <a:t>社区共同研发；</a:t>
          </a:r>
        </a:p>
        <a:p>
          <a:pPr marL="0" lvl="1" indent="0" algn="l" defTabSz="622300">
            <a:lnSpc>
              <a:spcPct val="90000"/>
            </a:lnSpc>
            <a:spcBef>
              <a:spcPct val="0"/>
            </a:spcBef>
            <a:spcAft>
              <a:spcPct val="15000"/>
            </a:spcAft>
            <a:buChar char="•"/>
          </a:pPr>
          <a:r>
            <a:rPr lang="zh-CN" altLang="en-US" sz="1400" kern="1200" dirty="0">
              <a:latin typeface="Huawei Sans" panose="020C0503030203020204" pitchFamily="34" charset="0"/>
              <a:ea typeface="方正兰亭黑简体" panose="02000000000000000000" pitchFamily="2" charset="-122"/>
              <a:sym typeface="Huawei Sans" panose="020C0503030203020204" pitchFamily="34" charset="0"/>
            </a:rPr>
            <a:t>合作共赢：</a:t>
          </a:r>
          <a:r>
            <a:rPr lang="zh-CN" altLang="en-US" sz="1400" b="1" kern="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各显神通。</a:t>
          </a:r>
        </a:p>
      </dsp:txBody>
      <dsp:txXfrm>
        <a:off x="2310718" y="263471"/>
        <a:ext cx="2025124" cy="2323814"/>
      </dsp:txXfrm>
    </dsp:sp>
    <dsp:sp modelId="{B3C856B6-68FA-491A-8054-4FF83A6DF97D}">
      <dsp:nvSpPr>
        <dsp:cNvPr id="0" name=""/>
        <dsp:cNvSpPr/>
      </dsp:nvSpPr>
      <dsp:spPr>
        <a:xfrm>
          <a:off x="4619360" y="4271"/>
          <a:ext cx="2025124" cy="259200"/>
        </a:xfrm>
        <a:prstGeom prst="rect">
          <a:avLst/>
        </a:prstGeom>
        <a:solidFill>
          <a:schemeClr val="accent5">
            <a:hueOff val="-7353344"/>
            <a:satOff val="-10228"/>
            <a:lumOff val="-3922"/>
            <a:alphaOff val="0"/>
          </a:schemeClr>
        </a:solidFill>
        <a:ln w="12700" cap="flat" cmpd="sng" algn="ctr">
          <a:solidFill>
            <a:schemeClr val="accent5">
              <a:hueOff val="-7353344"/>
              <a:satOff val="-10228"/>
              <a:lumOff val="-392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36576" rIns="64008" bIns="36576" numCol="1" spcCol="1270" anchor="ctr" anchorCtr="0">
          <a:noAutofit/>
        </a:bodyPr>
        <a:lstStyle/>
        <a:p>
          <a:pPr marL="0" lvl="0" indent="0" algn="ctr" defTabSz="400050">
            <a:lnSpc>
              <a:spcPct val="90000"/>
            </a:lnSpc>
            <a:spcBef>
              <a:spcPct val="0"/>
            </a:spcBef>
            <a:spcAft>
              <a:spcPct val="35000"/>
            </a:spcAft>
            <a:buNone/>
          </a:pPr>
          <a:r>
            <a:rPr lang="zh-CN" altLang="en-US" sz="900" b="1" kern="1200" dirty="0">
              <a:latin typeface="Huawei Sans" panose="020C0503030203020204" pitchFamily="34" charset="0"/>
              <a:ea typeface="方正兰亭黑简体" panose="02000000000000000000" pitchFamily="2" charset="-122"/>
              <a:sym typeface="Huawei Sans" panose="020C0503030203020204" pitchFamily="34" charset="0"/>
            </a:rPr>
            <a:t>高校产学研</a:t>
          </a:r>
        </a:p>
      </dsp:txBody>
      <dsp:txXfrm>
        <a:off x="4619360" y="4271"/>
        <a:ext cx="2025124" cy="259200"/>
      </dsp:txXfrm>
    </dsp:sp>
    <dsp:sp modelId="{9C1FEEAF-47BC-485A-B64B-A9A74E1090FE}">
      <dsp:nvSpPr>
        <dsp:cNvPr id="0" name=""/>
        <dsp:cNvSpPr/>
      </dsp:nvSpPr>
      <dsp:spPr>
        <a:xfrm>
          <a:off x="4619360" y="263471"/>
          <a:ext cx="2025124" cy="2323814"/>
        </a:xfrm>
        <a:prstGeom prst="rect">
          <a:avLst/>
        </a:prstGeom>
        <a:solidFill>
          <a:schemeClr val="accent5">
            <a:tint val="40000"/>
            <a:alpha val="90000"/>
            <a:hueOff val="-7391755"/>
            <a:satOff val="-12816"/>
            <a:lumOff val="-1289"/>
            <a:alphaOff val="0"/>
          </a:schemeClr>
        </a:solidFill>
        <a:ln w="12700" cap="flat" cmpd="sng" algn="ctr">
          <a:solidFill>
            <a:schemeClr val="accent5">
              <a:tint val="40000"/>
              <a:alpha val="90000"/>
              <a:hueOff val="-7391755"/>
              <a:satOff val="-12816"/>
              <a:lumOff val="-128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zh-CN" altLang="en-US" sz="1400" kern="1200" dirty="0">
              <a:latin typeface="Huawei Sans" panose="020C0503030203020204" pitchFamily="34" charset="0"/>
              <a:ea typeface="方正兰亭黑简体" panose="02000000000000000000" pitchFamily="2" charset="-122"/>
              <a:sym typeface="Huawei Sans" panose="020C0503030203020204" pitchFamily="34" charset="0"/>
            </a:rPr>
            <a:t>建设高校生态；</a:t>
          </a:r>
        </a:p>
        <a:p>
          <a:pPr marL="114300" lvl="1" indent="-114300" algn="l" defTabSz="622300">
            <a:lnSpc>
              <a:spcPct val="90000"/>
            </a:lnSpc>
            <a:spcBef>
              <a:spcPct val="0"/>
            </a:spcBef>
            <a:spcAft>
              <a:spcPct val="15000"/>
            </a:spcAft>
            <a:buChar char="•"/>
          </a:pPr>
          <a:r>
            <a:rPr lang="zh-CN" altLang="en-US" sz="1400" kern="1200" dirty="0">
              <a:latin typeface="Huawei Sans" panose="020C0503030203020204" pitchFamily="34" charset="0"/>
              <a:ea typeface="方正兰亭黑简体" panose="02000000000000000000" pitchFamily="2" charset="-122"/>
              <a:sym typeface="Huawei Sans" panose="020C0503030203020204" pitchFamily="34" charset="0"/>
            </a:rPr>
            <a:t>产学研模式；</a:t>
          </a:r>
        </a:p>
        <a:p>
          <a:pPr marL="114300" lvl="1" indent="-114300" algn="l" defTabSz="622300">
            <a:lnSpc>
              <a:spcPct val="90000"/>
            </a:lnSpc>
            <a:spcBef>
              <a:spcPct val="0"/>
            </a:spcBef>
            <a:spcAft>
              <a:spcPct val="15000"/>
            </a:spcAft>
            <a:buChar char="•"/>
          </a:pPr>
          <a:r>
            <a:rPr lang="zh-CN" altLang="en-US" sz="1400" kern="1200" dirty="0">
              <a:latin typeface="Huawei Sans" panose="020C0503030203020204" pitchFamily="34" charset="0"/>
              <a:ea typeface="方正兰亭黑简体" panose="02000000000000000000" pitchFamily="2" charset="-122"/>
              <a:sym typeface="Huawei Sans" panose="020C0503030203020204" pitchFamily="34" charset="0"/>
            </a:rPr>
            <a:t>共同挑战数据库难题；</a:t>
          </a:r>
        </a:p>
        <a:p>
          <a:pPr marL="114300" lvl="1" indent="-114300" algn="l" defTabSz="622300">
            <a:lnSpc>
              <a:spcPct val="90000"/>
            </a:lnSpc>
            <a:spcBef>
              <a:spcPct val="0"/>
            </a:spcBef>
            <a:spcAft>
              <a:spcPct val="15000"/>
            </a:spcAft>
            <a:buChar char="•"/>
          </a:pPr>
          <a:r>
            <a:rPr lang="zh-CN" altLang="en-US" sz="1400" kern="1200" dirty="0">
              <a:latin typeface="Huawei Sans" panose="020C0503030203020204" pitchFamily="34" charset="0"/>
              <a:ea typeface="方正兰亭黑简体" panose="02000000000000000000" pitchFamily="2" charset="-122"/>
              <a:sym typeface="Huawei Sans" panose="020C0503030203020204" pitchFamily="34" charset="0"/>
            </a:rPr>
            <a:t>促进国内基础软件发展、教育。</a:t>
          </a:r>
        </a:p>
      </dsp:txBody>
      <dsp:txXfrm>
        <a:off x="4619360" y="263471"/>
        <a:ext cx="2025124" cy="2323814"/>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image" Target="../media/image28.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image" Target="../media/image31.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0.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41.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42.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43.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45.wmf"/><Relationship Id="rId1" Type="http://schemas.openxmlformats.org/officeDocument/2006/relationships/image" Target="../media/image44.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47.wmf"/><Relationship Id="rId1" Type="http://schemas.openxmlformats.org/officeDocument/2006/relationships/image" Target="../media/image46.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50.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51.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52.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53.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54.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55.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60.wmf"/></Relationships>
</file>

<file path=ppt/drawings/drawing1.xml><?xml version="1.0" encoding="utf-8"?>
<c:userShapes xmlns:c="http://schemas.openxmlformats.org/drawingml/2006/chart">
  <cdr:relSizeAnchor xmlns:cdr="http://schemas.openxmlformats.org/drawingml/2006/chartDrawing">
    <cdr:from>
      <cdr:x>0.93651</cdr:x>
      <cdr:y>0.30664</cdr:y>
    </cdr:from>
    <cdr:to>
      <cdr:x>1</cdr:x>
      <cdr:y>0.72741</cdr:y>
    </cdr:to>
    <cdr:sp>
      <cdr:nvSpPr>
        <cdr:cNvPr id="2" name="矩形 1"/>
        <cdr:cNvSpPr/>
      </cdr:nvSpPr>
      <cdr:spPr xmlns:a="http://schemas.openxmlformats.org/drawingml/2006/main">
        <a:xfrm xmlns:a="http://schemas.openxmlformats.org/drawingml/2006/main">
          <a:off x="5280278" y="1143909"/>
          <a:ext cx="357972" cy="1569660"/>
        </a:xfrm>
        <a:prstGeom xmlns:a="http://schemas.openxmlformats.org/drawingml/2006/main" prst="rect">
          <a:avLst/>
        </a:prstGeom>
        <a:noFill/>
      </cdr:spPr>
      <cdr:txBody xmlns:a="http://schemas.openxmlformats.org/drawingml/2006/main">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9435" algn="l" defTabSz="1219200" rtl="0" eaLnBrk="1" latinLnBrk="0" hangingPunct="1">
            <a:defRPr sz="2400" kern="1200">
              <a:solidFill>
                <a:schemeClr val="tx1"/>
              </a:solidFill>
              <a:latin typeface="+mn-lt"/>
              <a:ea typeface="+mn-ea"/>
              <a:cs typeface="+mn-cs"/>
            </a:defRPr>
          </a:lvl4pPr>
          <a:lvl5pPr marL="2439035" algn="l" defTabSz="1219200" rtl="0" eaLnBrk="1" latinLnBrk="0" hangingPunct="1">
            <a:defRPr sz="2400" kern="1200">
              <a:solidFill>
                <a:schemeClr val="tx1"/>
              </a:solidFill>
              <a:latin typeface="+mn-lt"/>
              <a:ea typeface="+mn-ea"/>
              <a:cs typeface="+mn-cs"/>
            </a:defRPr>
          </a:lvl5pPr>
          <a:lvl6pPr marL="3048635" algn="l" defTabSz="1219200" rtl="0" eaLnBrk="1" latinLnBrk="0" hangingPunct="1">
            <a:defRPr sz="2400" kern="1200">
              <a:solidFill>
                <a:schemeClr val="tx1"/>
              </a:solidFill>
              <a:latin typeface="+mn-lt"/>
              <a:ea typeface="+mn-ea"/>
              <a:cs typeface="+mn-cs"/>
            </a:defRPr>
          </a:lvl6pPr>
          <a:lvl7pPr marL="3658235" algn="l" defTabSz="1219200" rtl="0" eaLnBrk="1" latinLnBrk="0" hangingPunct="1">
            <a:defRPr sz="2400" kern="1200">
              <a:solidFill>
                <a:schemeClr val="tx1"/>
              </a:solidFill>
              <a:latin typeface="+mn-lt"/>
              <a:ea typeface="+mn-ea"/>
              <a:cs typeface="+mn-cs"/>
            </a:defRPr>
          </a:lvl7pPr>
          <a:lvl8pPr marL="4267835" algn="l" defTabSz="1219200" rtl="0" eaLnBrk="1" latinLnBrk="0" hangingPunct="1">
            <a:defRPr sz="2400" kern="1200">
              <a:solidFill>
                <a:schemeClr val="tx1"/>
              </a:solidFill>
              <a:latin typeface="+mn-lt"/>
              <a:ea typeface="+mn-ea"/>
              <a:cs typeface="+mn-cs"/>
            </a:defRPr>
          </a:lvl8pPr>
          <a:lvl9pPr marL="4878070" algn="l" defTabSz="1219200" rtl="0" eaLnBrk="1" latinLnBrk="0" hangingPunct="1">
            <a:defRPr sz="2400" kern="1200">
              <a:solidFill>
                <a:schemeClr val="tx1"/>
              </a:solidFill>
              <a:latin typeface="+mn-lt"/>
              <a:ea typeface="+mn-ea"/>
              <a:cs typeface="+mn-cs"/>
            </a:defRPr>
          </a:lvl9pPr>
        </a:lstStyle>
        <a:p>
          <a:r>
            <a:rPr lang="zh-CN" altLang="en-US" sz="1200" b="1" dirty="0">
              <a:solidFill>
                <a:srgbClr val="C7000B"/>
              </a:solidFill>
              <a:latin typeface="方正兰亭黑简体" panose="02000000000000000000" pitchFamily="2" charset="-122"/>
              <a:ea typeface="方正兰亭黑简体" panose="02000000000000000000" pitchFamily="2" charset="-122"/>
            </a:rPr>
            <a:t>线下占比持续下滑</a:t>
          </a:r>
          <a:endParaRPr lang="en-US" altLang="zh-CN" sz="1200" b="1" dirty="0">
            <a:solidFill>
              <a:srgbClr val="C7000B"/>
            </a:solidFill>
            <a:latin typeface="方正兰亭黑简体" panose="02000000000000000000" pitchFamily="2" charset="-122"/>
            <a:ea typeface="方正兰亭黑简体" panose="02000000000000000000" pitchFamily="2" charset="-122"/>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ea typeface="宋体" pitchFamily="2" charset="-122"/>
              </a:defRPr>
            </a:lvl1pPr>
          </a:lstStyle>
          <a:p>
            <a:pPr>
              <a:defRPr/>
            </a:pPr>
            <a:endParaRPr lang="en-US" altLang="zh-CN"/>
          </a:p>
        </p:txBody>
      </p:sp>
      <p:sp>
        <p:nvSpPr>
          <p:cNvPr id="27651"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ea typeface="宋体" pitchFamily="2" charset="-122"/>
              </a:defRPr>
            </a:lvl1pPr>
          </a:lstStyle>
          <a:p>
            <a:pPr>
              <a:defRPr/>
            </a:pPr>
            <a:endParaRPr lang="en-US" altLang="zh-CN"/>
          </a:p>
        </p:txBody>
      </p:sp>
      <p:sp>
        <p:nvSpPr>
          <p:cNvPr id="12083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p:spPr>
      </p:sp>
      <p:sp>
        <p:nvSpPr>
          <p:cNvPr id="27653"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27654"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ea typeface="宋体" pitchFamily="2" charset="-122"/>
              </a:defRPr>
            </a:lvl1pPr>
          </a:lstStyle>
          <a:p>
            <a:pPr>
              <a:defRPr/>
            </a:pPr>
            <a:endParaRPr lang="en-US" altLang="zh-CN"/>
          </a:p>
        </p:txBody>
      </p:sp>
      <p:sp>
        <p:nvSpPr>
          <p:cNvPr id="27655"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a:ea typeface="宋体" pitchFamily="2" charset="-122"/>
              </a:defRPr>
            </a:lvl1pPr>
          </a:lstStyle>
          <a:p>
            <a:pPr>
              <a:defRPr/>
            </a:pPr>
            <a:fld id="{844D3E43-1D8B-4F51-BA77-0B67D9B321CC}"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503050405090304"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503050405090304"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503050405090304"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503050405090304"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503050405090304"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16.xml.rels><?xml version="1.0" encoding="UTF-8" standalone="yes"?>
<Relationships xmlns="http://schemas.openxmlformats.org/package/2006/relationships"><Relationship Id="rId9" Type="http://schemas.openxmlformats.org/officeDocument/2006/relationships/hyperlink" Target="https://baike.baidu.com/item/%E6%83%A0%E6%99%AE/275141?fromModule=lemma_inlink" TargetMode="External"/><Relationship Id="rId8" Type="http://schemas.openxmlformats.org/officeDocument/2006/relationships/hyperlink" Target="https://baike.baidu.com/item/%E5%AF%B9%E7%A7%B0%E5%A4%9A%E5%A4%84%E7%90%86/6274908?fromModule=lemma_inlink" TargetMode="External"/><Relationship Id="rId7" Type="http://schemas.openxmlformats.org/officeDocument/2006/relationships/hyperlink" Target="https://baike.baidu.com/item/%E9%80%9F%E5%BA%A6%E6%AF%94/56265273?fromModule=lemma_inlink" TargetMode="External"/><Relationship Id="rId6" Type="http://schemas.openxmlformats.org/officeDocument/2006/relationships/hyperlink" Target="https://baike.baidu.com/item/%E5%AD%98%E5%82%A8%E5%99%A8/1583185?fromModule=lemma_inlink" TargetMode="External"/><Relationship Id="rId5" Type="http://schemas.openxmlformats.org/officeDocument/2006/relationships/hyperlink" Target="https://baike.baidu.com/item/%E5%86%85%E5%AD%98%E4%BD%8D%E7%BD%AE/20869131?fromModule=lemma_inlink" TargetMode="External"/><Relationship Id="rId4" Type="http://schemas.openxmlformats.org/officeDocument/2006/relationships/hyperlink" Target="https://baike.baidu.com/item/%E5%A4%9A%E5%A4%84%E7%90%86%E5%99%A8/53566627?fromModule=lemma_inlink" TargetMode="External"/><Relationship Id="rId3" Type="http://schemas.openxmlformats.org/officeDocument/2006/relationships/hyperlink" Target="https://baike.baidu.com/item/%E7%BB%9F%E4%B8%80%E5%86%85%E5%AD%98%E8%AE%BF%E9%97%AE/8567607?fromModule=lemma_inlink" TargetMode="External"/><Relationship Id="rId2" Type="http://schemas.openxmlformats.org/officeDocument/2006/relationships/notesMaster" Target="../notesMasters/notesMaster1.xml"/><Relationship Id="rId18" Type="http://schemas.openxmlformats.org/officeDocument/2006/relationships/hyperlink" Target="https://baike.baidu.com/item/Windows%20NT/759962?fromModule=lemma_inlink" TargetMode="External"/><Relationship Id="rId17" Type="http://schemas.openxmlformats.org/officeDocument/2006/relationships/hyperlink" Target="https://baike.baidu.com/item/HP/32275?fromModule=lemma_inlink" TargetMode="External"/><Relationship Id="rId16" Type="http://schemas.openxmlformats.org/officeDocument/2006/relationships/hyperlink" Target="https://baike.baidu.com/item/IBM/9190?fromModule=lemma_inlink" TargetMode="External"/><Relationship Id="rId15" Type="http://schemas.openxmlformats.org/officeDocument/2006/relationships/hyperlink" Target="https://baike.baidu.com/item/%E7%94%B5%E8%84%91%E7%B3%BB%E7%BB%9F/10467448?fromModule=lemma_inlink" TargetMode="External"/><Relationship Id="rId14" Type="http://schemas.openxmlformats.org/officeDocument/2006/relationships/hyperlink" Target="https://baike.baidu.com/item/Sequent/10618731?fromModule=lemma_inlink" TargetMode="External"/><Relationship Id="rId13" Type="http://schemas.openxmlformats.org/officeDocument/2006/relationships/hyperlink" Target="https://baike.baidu.com/item/%E7%A1%85%E8%B0%B7/139194?fromModule=lemma_inlink" TargetMode="External"/><Relationship Id="rId12" Type="http://schemas.openxmlformats.org/officeDocument/2006/relationships/hyperlink" Target="https://baike.baidu.com/item/Silicon%20Graphics/5885296?fromModule=lemma_inlink" TargetMode="External"/><Relationship Id="rId11" Type="http://schemas.openxmlformats.org/officeDocument/2006/relationships/hyperlink" Target="https://baike.baidu.com/item/%E9%9C%8D%E5%B0%BC%E9%9F%A6%E5%B0%94/1034120?fromModule=lemma_inlink" TargetMode="External"/><Relationship Id="rId10" Type="http://schemas.openxmlformats.org/officeDocument/2006/relationships/hyperlink" Target="https://baike.baidu.com/item/%E6%84%8F%E5%A4%A7%E5%88%A9/148336?fromModule=lemma_inlink" TargetMode="External"/><Relationship Id="rId1" Type="http://schemas.openxmlformats.org/officeDocument/2006/relationships/slide" Target="../slides/slide10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844D3E43-1D8B-4F51-BA77-0B67D9B321CC}" type="slidenum">
              <a:rPr lang="en-US" altLang="zh-CN" smtClean="0"/>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844D3E43-1D8B-4F51-BA77-0B67D9B321CC}" type="slidenum">
              <a:rPr lang="en-US" altLang="zh-CN"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844D3E43-1D8B-4F51-BA77-0B67D9B321CC}" type="slidenum">
              <a:rPr lang="en-US" altLang="zh-CN"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44D3E43-1D8B-4F51-BA77-0B67D9B321CC}" type="slidenum">
              <a:rPr kumimoji="1" lang="en-US" altLang="zh-CN" sz="1200" b="0" i="0" u="none" strike="noStrike" kern="1200" cap="none" spc="0" normalizeH="0" baseline="0" noProof="0" smtClean="0">
                <a:ln>
                  <a:noFill/>
                </a:ln>
                <a:solidFill>
                  <a:srgbClr val="000000"/>
                </a:solidFill>
                <a:effectLst/>
                <a:uLnTx/>
                <a:uFillTx/>
                <a:latin typeface="Verdana" panose="020B0804030504040204" pitchFamily="34" charset="0"/>
                <a:ea typeface="宋体" pitchFamily="2" charset="-122"/>
                <a:cs typeface="+mn-cs"/>
              </a:rPr>
            </a:fld>
            <a:endParaRPr kumimoji="1" lang="en-US" altLang="zh-CN" sz="1200" b="0" i="0" u="none" strike="noStrike" kern="1200" cap="none" spc="0" normalizeH="0" baseline="0" noProof="0">
              <a:ln>
                <a:noFill/>
              </a:ln>
              <a:solidFill>
                <a:srgbClr val="000000"/>
              </a:solidFill>
              <a:effectLst/>
              <a:uLnTx/>
              <a:uFillTx/>
              <a:latin typeface="Verdana" panose="020B0804030504040204" pitchFamily="34" charset="0"/>
              <a:ea typeface="宋体" pitchFamily="2"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p:spPr>
        <p:txBody>
          <a:bodyPr/>
          <a:lstStyle/>
          <a:p>
            <a:fld id="{3C675B13-1FF0-4C20-BC30-06CCB644405B}" type="slidenum">
              <a:rPr lang="en-US" altLang="zh-CN" smtClean="0">
                <a:ea typeface="宋体" pitchFamily="2" charset="-122"/>
              </a:rPr>
            </a:fld>
            <a:endParaRPr lang="en-US" altLang="zh-CN">
              <a:ea typeface="宋体" pitchFamily="2" charset="-122"/>
            </a:endParaRPr>
          </a:p>
        </p:txBody>
      </p:sp>
      <p:sp>
        <p:nvSpPr>
          <p:cNvPr id="121859" name="Rectangle 2"/>
          <p:cNvSpPr>
            <a:spLocks noGrp="1" noRot="1" noChangeAspect="1" noChangeArrowheads="1" noTextEdit="1"/>
          </p:cNvSpPr>
          <p:nvPr>
            <p:ph type="sldImg"/>
          </p:nvPr>
        </p:nvSpPr>
        <p:spPr/>
      </p:sp>
      <p:sp>
        <p:nvSpPr>
          <p:cNvPr id="121860" name="Rectangle 3"/>
          <p:cNvSpPr>
            <a:spLocks noGrp="1" noChangeArrowheads="1"/>
          </p:cNvSpPr>
          <p:nvPr>
            <p:ph type="body" idx="1"/>
          </p:nvPr>
        </p:nvSpPr>
        <p:spPr>
          <a:noFill/>
        </p:spPr>
        <p:txBody>
          <a:bodyPr/>
          <a:lstStyle/>
          <a:p>
            <a:pPr eaLnBrk="1" hangingPunct="1"/>
            <a:endParaRPr lang="zh-CN" altLang="zh-CN">
              <a:ea typeface="宋体"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844D3E43-1D8B-4F51-BA77-0B67D9B321CC}" type="slidenum">
              <a:rPr lang="en-US" altLang="zh-CN" smtClean="0"/>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844D3E43-1D8B-4F51-BA77-0B67D9B321CC}" type="slidenum">
              <a:rPr lang="en-US" altLang="zh-CN" smtClean="0"/>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844D3E43-1D8B-4F51-BA77-0B67D9B321CC}" type="slidenum">
              <a:rPr lang="en-US" altLang="zh-CN" smtClean="0"/>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844D3E43-1D8B-4F51-BA77-0B67D9B321CC}" type="slidenum">
              <a:rPr lang="en-US" altLang="zh-CN" smtClean="0"/>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844D3E43-1D8B-4F51-BA77-0B67D9B321CC}" type="slidenum">
              <a:rPr lang="en-US" altLang="zh-CN" smtClean="0"/>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844D3E43-1D8B-4F51-BA77-0B67D9B321CC}" type="slidenum">
              <a:rPr lang="en-US" altLang="zh-CN" smtClean="0"/>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844D3E43-1D8B-4F51-BA77-0B67D9B321CC}" type="slidenum">
              <a:rPr lang="en-US" altLang="zh-CN" smtClean="0"/>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1438275" y="717550"/>
            <a:ext cx="4167188" cy="3125788"/>
          </a:xfrm>
        </p:spPr>
      </p:sp>
      <p:sp>
        <p:nvSpPr>
          <p:cNvPr id="5" name="备注占位符 4"/>
          <p:cNvSpPr>
            <a:spLocks noGrp="1"/>
          </p:cNvSpPr>
          <p:nvPr>
            <p:ph type="body" idx="1"/>
          </p:nvPr>
        </p:nvSpPr>
        <p:spPr/>
        <p:txBody>
          <a:bodyPr/>
          <a:lstStyle/>
          <a:p>
            <a:r>
              <a:rPr lang="zh-CN" altLang="en-US" dirty="0"/>
              <a:t>通过</a:t>
            </a:r>
            <a:r>
              <a:rPr lang="en-US" altLang="zh-CN" dirty="0">
                <a:sym typeface="Huawei Sans"/>
              </a:rPr>
              <a:t>openGauss</a:t>
            </a:r>
            <a:r>
              <a:rPr lang="zh-CN" altLang="en-US" dirty="0">
                <a:sym typeface="Huawei Sans"/>
              </a:rPr>
              <a:t>产品：商用</a:t>
            </a:r>
            <a:r>
              <a:rPr lang="en-US" altLang="zh-CN" dirty="0">
                <a:sym typeface="Huawei Sans"/>
              </a:rPr>
              <a:t>+</a:t>
            </a:r>
            <a:r>
              <a:rPr lang="zh-CN" altLang="en-US" dirty="0">
                <a:sym typeface="Huawei Sans"/>
              </a:rPr>
              <a:t>自用</a:t>
            </a:r>
            <a:r>
              <a:rPr lang="en-US" altLang="zh-CN" dirty="0">
                <a:sym typeface="Huawei Sans"/>
              </a:rPr>
              <a:t>+</a:t>
            </a:r>
            <a:r>
              <a:rPr lang="zh-CN" altLang="en-US" dirty="0">
                <a:sym typeface="Huawei Sans"/>
              </a:rPr>
              <a:t>开源相结合，内核将长期演进策略的学习，激励自己</a:t>
            </a:r>
            <a:r>
              <a:rPr lang="zh-CN" altLang="en-US" dirty="0"/>
              <a:t>勇攀高峰、精益求精的责任感、使命感、大国工匠精神</a:t>
            </a:r>
            <a:endParaRPr lang="zh-CN" altLang="en-US" dirty="0"/>
          </a:p>
          <a:p>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1438275" y="717550"/>
            <a:ext cx="4167188" cy="3125788"/>
          </a:xfrm>
        </p:spPr>
      </p:sp>
      <p:sp>
        <p:nvSpPr>
          <p:cNvPr id="5" name="备注占位符 4"/>
          <p:cNvSpPr>
            <a:spLocks noGrp="1"/>
          </p:cNvSpPr>
          <p:nvPr>
            <p:ph type="body" idx="1"/>
          </p:nvPr>
        </p:nvSpPr>
        <p:spPr/>
        <p:txBody>
          <a:bodyPr/>
          <a:lstStyle/>
          <a:p>
            <a:r>
              <a:rPr lang="zh-CN" altLang="en-US" dirty="0"/>
              <a:t>激励自己科研报国、公主国产数据库事业的责任感、使命感、大国工匠精神</a:t>
            </a:r>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1438275" y="717550"/>
            <a:ext cx="4167188" cy="3125788"/>
          </a:xfrm>
        </p:spPr>
      </p:sp>
      <p:sp>
        <p:nvSpPr>
          <p:cNvPr id="5" name="备注占位符 4"/>
          <p:cNvSpPr>
            <a:spLocks noGrp="1"/>
          </p:cNvSpPr>
          <p:nvPr>
            <p:ph type="body" idx="1"/>
          </p:nvPr>
        </p:nvSpPr>
        <p:spPr/>
        <p:txBody>
          <a:bodyPr/>
          <a:lstStyle/>
          <a:p>
            <a:r>
              <a:rPr lang="zh-CN" altLang="en-US" dirty="0"/>
              <a:t>这是基本的</a:t>
            </a:r>
            <a:r>
              <a:rPr lang="en-US" altLang="zh-CN" dirty="0"/>
              <a:t>DBMS</a:t>
            </a:r>
            <a:r>
              <a:rPr lang="zh-CN" altLang="en-US" dirty="0"/>
              <a:t>进程架构，培养对于数据库管理系统软件的整体科学认识</a:t>
            </a:r>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1438275" y="717550"/>
            <a:ext cx="4167188" cy="3125788"/>
          </a:xfrm>
        </p:spPr>
      </p:sp>
      <p:sp>
        <p:nvSpPr>
          <p:cNvPr id="5" name="备注占位符 4"/>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90204" pitchFamily="34" charset="0"/>
              <a:buNone/>
              <a:defRPr/>
            </a:pPr>
            <a:r>
              <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首先大致了解</a:t>
            </a: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openGauss</a:t>
            </a:r>
            <a:r>
              <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虽然衍生自</a:t>
            </a: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PostgreSQL-XC</a:t>
            </a:r>
            <a:r>
              <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，单机逻辑架构与</a:t>
            </a: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PG</a:t>
            </a:r>
            <a:r>
              <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接近，但架构和关键技术上有根本性差异，尤其是存储引擎和优化器两大核心能力。</a:t>
            </a:r>
            <a:endPar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通过上述了解，激励自己勇攀高峰、精益求精的责任感、使命感、大国工匠精神</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a:p>
            <a:r>
              <a:rPr kumimoji="1" lang="zh-CN" altLang="en-US" sz="1200" b="0" i="0" kern="1200" dirty="0">
                <a:solidFill>
                  <a:schemeClr val="tx1"/>
                </a:solidFill>
                <a:effectLst/>
                <a:latin typeface="Times New Roman" panose="02020503050405090304" pitchFamily="18" charset="0"/>
                <a:ea typeface="宋体" pitchFamily="2" charset="-122"/>
                <a:cs typeface="+mn-cs"/>
              </a:rPr>
              <a:t>非</a:t>
            </a:r>
            <a:r>
              <a:rPr kumimoji="1" lang="zh-CN" altLang="en-US" sz="1200" b="0" i="0" u="none" strike="noStrike" kern="1200" dirty="0">
                <a:solidFill>
                  <a:schemeClr val="tx1"/>
                </a:solidFill>
                <a:effectLst/>
                <a:latin typeface="Times New Roman" panose="02020503050405090304" pitchFamily="18" charset="0"/>
                <a:ea typeface="宋体" pitchFamily="2" charset="-122"/>
                <a:cs typeface="+mn-cs"/>
                <a:hlinkClick r:id="rId3"/>
              </a:rPr>
              <a:t>统一内存访问</a:t>
            </a:r>
            <a:r>
              <a:rPr kumimoji="1" lang="zh-CN" altLang="en-US" sz="1200" b="0" i="0" kern="1200" dirty="0">
                <a:solidFill>
                  <a:schemeClr val="tx1"/>
                </a:solidFill>
                <a:effectLst/>
                <a:latin typeface="Times New Roman" panose="02020503050405090304" pitchFamily="18" charset="0"/>
                <a:ea typeface="宋体" pitchFamily="2" charset="-122"/>
                <a:cs typeface="+mn-cs"/>
              </a:rPr>
              <a:t>（</a:t>
            </a:r>
            <a:r>
              <a:rPr kumimoji="1" lang="en-US" altLang="zh-CN" sz="1200" b="0" i="0" kern="1200" dirty="0">
                <a:solidFill>
                  <a:schemeClr val="tx1"/>
                </a:solidFill>
                <a:effectLst/>
                <a:latin typeface="Times New Roman" panose="02020503050405090304" pitchFamily="18" charset="0"/>
                <a:ea typeface="宋体" pitchFamily="2" charset="-122"/>
                <a:cs typeface="+mn-cs"/>
              </a:rPr>
              <a:t>NUMA</a:t>
            </a:r>
            <a:r>
              <a:rPr kumimoji="1" lang="zh-CN" altLang="en-US" sz="1200" b="0" i="0" kern="1200" dirty="0">
                <a:solidFill>
                  <a:schemeClr val="tx1"/>
                </a:solidFill>
                <a:effectLst/>
                <a:latin typeface="Times New Roman" panose="02020503050405090304" pitchFamily="18" charset="0"/>
                <a:ea typeface="宋体" pitchFamily="2" charset="-122"/>
                <a:cs typeface="+mn-cs"/>
              </a:rPr>
              <a:t>）是一种用于</a:t>
            </a:r>
            <a:r>
              <a:rPr kumimoji="1" lang="zh-CN" altLang="en-US" sz="1200" b="0" i="0" u="none" strike="noStrike" kern="1200" dirty="0">
                <a:solidFill>
                  <a:schemeClr val="tx1"/>
                </a:solidFill>
                <a:effectLst/>
                <a:latin typeface="Times New Roman" panose="02020503050405090304" pitchFamily="18" charset="0"/>
                <a:ea typeface="宋体" pitchFamily="2" charset="-122"/>
                <a:cs typeface="+mn-cs"/>
                <a:hlinkClick r:id="rId4"/>
              </a:rPr>
              <a:t>多处理器</a:t>
            </a:r>
            <a:r>
              <a:rPr kumimoji="1" lang="zh-CN" altLang="en-US" sz="1200" b="0" i="0" kern="1200" dirty="0">
                <a:solidFill>
                  <a:schemeClr val="tx1"/>
                </a:solidFill>
                <a:effectLst/>
                <a:latin typeface="Times New Roman" panose="02020503050405090304" pitchFamily="18" charset="0"/>
                <a:ea typeface="宋体" pitchFamily="2" charset="-122"/>
                <a:cs typeface="+mn-cs"/>
              </a:rPr>
              <a:t>的电脑内存体设计，内存访问时间取决于处理器的</a:t>
            </a:r>
            <a:r>
              <a:rPr kumimoji="1" lang="zh-CN" altLang="en-US" sz="1200" b="0" i="0" u="none" strike="noStrike" kern="1200" dirty="0">
                <a:solidFill>
                  <a:schemeClr val="tx1"/>
                </a:solidFill>
                <a:effectLst/>
                <a:latin typeface="Times New Roman" panose="02020503050405090304" pitchFamily="18" charset="0"/>
                <a:ea typeface="宋体" pitchFamily="2" charset="-122"/>
                <a:cs typeface="+mn-cs"/>
                <a:hlinkClick r:id="rId5"/>
              </a:rPr>
              <a:t>内存位置</a:t>
            </a:r>
            <a:r>
              <a:rPr kumimoji="1" lang="zh-CN" altLang="en-US" sz="1200" b="0" i="0" kern="1200" dirty="0">
                <a:solidFill>
                  <a:schemeClr val="tx1"/>
                </a:solidFill>
                <a:effectLst/>
                <a:latin typeface="Times New Roman" panose="02020503050405090304" pitchFamily="18" charset="0"/>
                <a:ea typeface="宋体" pitchFamily="2" charset="-122"/>
                <a:cs typeface="+mn-cs"/>
              </a:rPr>
              <a:t>。 在</a:t>
            </a:r>
            <a:r>
              <a:rPr kumimoji="1" lang="en-US" altLang="zh-CN" sz="1200" b="0" i="0" kern="1200" dirty="0">
                <a:solidFill>
                  <a:schemeClr val="tx1"/>
                </a:solidFill>
                <a:effectLst/>
                <a:latin typeface="Times New Roman" panose="02020503050405090304" pitchFamily="18" charset="0"/>
                <a:ea typeface="宋体" pitchFamily="2" charset="-122"/>
                <a:cs typeface="+mn-cs"/>
              </a:rPr>
              <a:t>NUMA</a:t>
            </a:r>
            <a:r>
              <a:rPr kumimoji="1" lang="zh-CN" altLang="en-US" sz="1200" b="0" i="0" kern="1200" dirty="0">
                <a:solidFill>
                  <a:schemeClr val="tx1"/>
                </a:solidFill>
                <a:effectLst/>
                <a:latin typeface="Times New Roman" panose="02020503050405090304" pitchFamily="18" charset="0"/>
                <a:ea typeface="宋体" pitchFamily="2" charset="-122"/>
                <a:cs typeface="+mn-cs"/>
              </a:rPr>
              <a:t>下，处理器访问它自己的本地</a:t>
            </a:r>
            <a:r>
              <a:rPr kumimoji="1" lang="zh-CN" altLang="en-US" sz="1200" b="0" i="0" u="none" strike="noStrike" kern="1200" dirty="0">
                <a:solidFill>
                  <a:schemeClr val="tx1"/>
                </a:solidFill>
                <a:effectLst/>
                <a:latin typeface="Times New Roman" panose="02020503050405090304" pitchFamily="18" charset="0"/>
                <a:ea typeface="宋体" pitchFamily="2" charset="-122"/>
                <a:cs typeface="+mn-cs"/>
                <a:hlinkClick r:id="rId6"/>
              </a:rPr>
              <a:t>存储器</a:t>
            </a:r>
            <a:r>
              <a:rPr kumimoji="1" lang="zh-CN" altLang="en-US" sz="1200" b="0" i="0" kern="1200" dirty="0">
                <a:solidFill>
                  <a:schemeClr val="tx1"/>
                </a:solidFill>
                <a:effectLst/>
                <a:latin typeface="Times New Roman" panose="02020503050405090304" pitchFamily="18" charset="0"/>
                <a:ea typeface="宋体" pitchFamily="2" charset="-122"/>
                <a:cs typeface="+mn-cs"/>
              </a:rPr>
              <a:t>的</a:t>
            </a:r>
            <a:r>
              <a:rPr kumimoji="1" lang="zh-CN" altLang="en-US" sz="1200" b="0" i="0" u="none" strike="noStrike" kern="1200" dirty="0">
                <a:solidFill>
                  <a:schemeClr val="tx1"/>
                </a:solidFill>
                <a:effectLst/>
                <a:latin typeface="Times New Roman" panose="02020503050405090304" pitchFamily="18" charset="0"/>
                <a:ea typeface="宋体" pitchFamily="2" charset="-122"/>
                <a:cs typeface="+mn-cs"/>
                <a:hlinkClick r:id="rId7"/>
              </a:rPr>
              <a:t>速度比</a:t>
            </a:r>
            <a:r>
              <a:rPr kumimoji="1" lang="zh-CN" altLang="en-US" sz="1200" b="0" i="0" kern="1200" dirty="0">
                <a:solidFill>
                  <a:schemeClr val="tx1"/>
                </a:solidFill>
                <a:effectLst/>
                <a:latin typeface="Times New Roman" panose="02020503050405090304" pitchFamily="18" charset="0"/>
                <a:ea typeface="宋体" pitchFamily="2" charset="-122"/>
                <a:cs typeface="+mn-cs"/>
              </a:rPr>
              <a:t>非本地存储器（存储器的地方到另一个处理器之间共享的处理器或存储器）快一些。</a:t>
            </a:r>
            <a:endParaRPr kumimoji="1" lang="zh-CN" altLang="en-US" sz="1200" b="0" i="0" kern="1200" dirty="0">
              <a:solidFill>
                <a:schemeClr val="tx1"/>
              </a:solidFill>
              <a:effectLst/>
              <a:latin typeface="Times New Roman" panose="02020503050405090304" pitchFamily="18" charset="0"/>
              <a:ea typeface="宋体" pitchFamily="2" charset="-122"/>
              <a:cs typeface="+mn-cs"/>
            </a:endParaRPr>
          </a:p>
          <a:p>
            <a:r>
              <a:rPr kumimoji="1" lang="en-US" altLang="zh-CN" sz="1200" b="0" i="0" kern="1200" dirty="0">
                <a:solidFill>
                  <a:schemeClr val="tx1"/>
                </a:solidFill>
                <a:effectLst/>
                <a:latin typeface="Times New Roman" panose="02020503050405090304" pitchFamily="18" charset="0"/>
                <a:ea typeface="宋体" pitchFamily="2" charset="-122"/>
                <a:cs typeface="+mn-cs"/>
              </a:rPr>
              <a:t>NUMA</a:t>
            </a:r>
            <a:r>
              <a:rPr kumimoji="1" lang="zh-CN" altLang="en-US" sz="1200" b="0" i="0" kern="1200" dirty="0">
                <a:solidFill>
                  <a:schemeClr val="tx1"/>
                </a:solidFill>
                <a:effectLst/>
                <a:latin typeface="Times New Roman" panose="02020503050405090304" pitchFamily="18" charset="0"/>
                <a:ea typeface="宋体" pitchFamily="2" charset="-122"/>
                <a:cs typeface="+mn-cs"/>
              </a:rPr>
              <a:t>架构在逻辑上遵循</a:t>
            </a:r>
            <a:r>
              <a:rPr kumimoji="1" lang="zh-CN" altLang="en-US" sz="1200" b="0" i="0" u="none" strike="noStrike" kern="1200" dirty="0">
                <a:solidFill>
                  <a:schemeClr val="tx1"/>
                </a:solidFill>
                <a:effectLst/>
                <a:latin typeface="Times New Roman" panose="02020503050405090304" pitchFamily="18" charset="0"/>
                <a:ea typeface="宋体" pitchFamily="2" charset="-122"/>
                <a:cs typeface="+mn-cs"/>
                <a:hlinkClick r:id="rId8"/>
              </a:rPr>
              <a:t>对称多处理</a:t>
            </a:r>
            <a:r>
              <a:rPr kumimoji="1" lang="zh-CN" altLang="en-US" sz="1200" b="0" i="0" kern="1200" dirty="0">
                <a:solidFill>
                  <a:schemeClr val="tx1"/>
                </a:solidFill>
                <a:effectLst/>
                <a:latin typeface="Times New Roman" panose="02020503050405090304" pitchFamily="18" charset="0"/>
                <a:ea typeface="宋体" pitchFamily="2" charset="-122"/>
                <a:cs typeface="+mn-cs"/>
              </a:rPr>
              <a:t>（</a:t>
            </a:r>
            <a:r>
              <a:rPr kumimoji="1" lang="en-US" altLang="zh-CN" sz="1200" b="0" i="0" kern="1200" dirty="0">
                <a:solidFill>
                  <a:schemeClr val="tx1"/>
                </a:solidFill>
                <a:effectLst/>
                <a:latin typeface="Times New Roman" panose="02020503050405090304" pitchFamily="18" charset="0"/>
                <a:ea typeface="宋体" pitchFamily="2" charset="-122"/>
                <a:cs typeface="+mn-cs"/>
              </a:rPr>
              <a:t>SMP</a:t>
            </a:r>
            <a:r>
              <a:rPr kumimoji="1" lang="zh-CN" altLang="en-US" sz="1200" b="0" i="0" kern="1200" dirty="0">
                <a:solidFill>
                  <a:schemeClr val="tx1"/>
                </a:solidFill>
                <a:effectLst/>
                <a:latin typeface="Times New Roman" panose="02020503050405090304" pitchFamily="18" charset="0"/>
                <a:ea typeface="宋体" pitchFamily="2" charset="-122"/>
                <a:cs typeface="+mn-cs"/>
              </a:rPr>
              <a:t>）架构。 它是在二十世纪九十年代被开发出来的，开发商包括</a:t>
            </a:r>
            <a:r>
              <a:rPr kumimoji="1" lang="en-US" altLang="zh-CN" sz="1200" b="0" i="0" kern="1200" dirty="0" err="1">
                <a:solidFill>
                  <a:schemeClr val="tx1"/>
                </a:solidFill>
                <a:effectLst/>
                <a:latin typeface="Times New Roman" panose="02020503050405090304" pitchFamily="18" charset="0"/>
                <a:ea typeface="宋体" pitchFamily="2" charset="-122"/>
                <a:cs typeface="+mn-cs"/>
              </a:rPr>
              <a:t>Burruphs</a:t>
            </a:r>
            <a:r>
              <a:rPr kumimoji="1" lang="en-US" altLang="zh-CN" sz="1200" b="0" i="0" kern="1200" dirty="0">
                <a:solidFill>
                  <a:schemeClr val="tx1"/>
                </a:solidFill>
                <a:effectLst/>
                <a:latin typeface="Times New Roman" panose="02020503050405090304" pitchFamily="18" charset="0"/>
                <a:ea typeface="宋体" pitchFamily="2" charset="-122"/>
                <a:cs typeface="+mn-cs"/>
              </a:rPr>
              <a:t> </a:t>
            </a:r>
            <a:r>
              <a:rPr kumimoji="1" lang="zh-CN" altLang="en-US" sz="1200" b="0" i="0" kern="1200" dirty="0">
                <a:solidFill>
                  <a:schemeClr val="tx1"/>
                </a:solidFill>
                <a:effectLst/>
                <a:latin typeface="Times New Roman" panose="02020503050405090304" pitchFamily="18" charset="0"/>
                <a:ea typeface="宋体" pitchFamily="2" charset="-122"/>
                <a:cs typeface="+mn-cs"/>
              </a:rPr>
              <a:t>（优利系统）， </a:t>
            </a:r>
            <a:r>
              <a:rPr kumimoji="1" lang="en-US" altLang="zh-CN" sz="1200" b="0" i="0" kern="1200" dirty="0">
                <a:solidFill>
                  <a:schemeClr val="tx1"/>
                </a:solidFill>
                <a:effectLst/>
                <a:latin typeface="Times New Roman" panose="02020503050405090304" pitchFamily="18" charset="0"/>
                <a:ea typeface="宋体" pitchFamily="2" charset="-122"/>
                <a:cs typeface="+mn-cs"/>
              </a:rPr>
              <a:t>Convex Computer</a:t>
            </a:r>
            <a:r>
              <a:rPr kumimoji="1" lang="zh-CN" altLang="en-US" sz="1200" b="0" i="0" kern="1200" dirty="0">
                <a:solidFill>
                  <a:schemeClr val="tx1"/>
                </a:solidFill>
                <a:effectLst/>
                <a:latin typeface="Times New Roman" panose="02020503050405090304" pitchFamily="18" charset="0"/>
                <a:ea typeface="宋体" pitchFamily="2" charset="-122"/>
                <a:cs typeface="+mn-cs"/>
              </a:rPr>
              <a:t>（</a:t>
            </a:r>
            <a:r>
              <a:rPr kumimoji="1" lang="zh-CN" altLang="en-US" sz="1200" b="0" i="0" u="none" strike="noStrike" kern="1200" dirty="0">
                <a:solidFill>
                  <a:schemeClr val="tx1"/>
                </a:solidFill>
                <a:effectLst/>
                <a:latin typeface="Times New Roman" panose="02020503050405090304" pitchFamily="18" charset="0"/>
                <a:ea typeface="宋体" pitchFamily="2" charset="-122"/>
                <a:cs typeface="+mn-cs"/>
                <a:hlinkClick r:id="rId9"/>
              </a:rPr>
              <a:t>惠普</a:t>
            </a:r>
            <a:r>
              <a:rPr kumimoji="1" lang="zh-CN" altLang="en-US" sz="1200" b="0" i="0" kern="1200" dirty="0">
                <a:solidFill>
                  <a:schemeClr val="tx1"/>
                </a:solidFill>
                <a:effectLst/>
                <a:latin typeface="Times New Roman" panose="02020503050405090304" pitchFamily="18" charset="0"/>
                <a:ea typeface="宋体" pitchFamily="2" charset="-122"/>
                <a:cs typeface="+mn-cs"/>
              </a:rPr>
              <a:t>），</a:t>
            </a:r>
            <a:r>
              <a:rPr kumimoji="1" lang="zh-CN" altLang="en-US" sz="1200" b="0" i="0" u="none" strike="noStrike" kern="1200" dirty="0">
                <a:solidFill>
                  <a:schemeClr val="tx1"/>
                </a:solidFill>
                <a:effectLst/>
                <a:latin typeface="Times New Roman" panose="02020503050405090304" pitchFamily="18" charset="0"/>
                <a:ea typeface="宋体" pitchFamily="2" charset="-122"/>
                <a:cs typeface="+mn-cs"/>
                <a:hlinkClick r:id="rId10"/>
              </a:rPr>
              <a:t>意大利</a:t>
            </a:r>
            <a:r>
              <a:rPr kumimoji="1" lang="zh-CN" altLang="en-US" sz="1200" b="0" i="0" u="none" strike="noStrike" kern="1200" dirty="0">
                <a:solidFill>
                  <a:schemeClr val="tx1"/>
                </a:solidFill>
                <a:effectLst/>
                <a:latin typeface="Times New Roman" panose="02020503050405090304" pitchFamily="18" charset="0"/>
                <a:ea typeface="宋体" pitchFamily="2" charset="-122"/>
                <a:cs typeface="+mn-cs"/>
                <a:hlinkClick r:id="rId11"/>
              </a:rPr>
              <a:t>霍尼韦尔</a:t>
            </a:r>
            <a:r>
              <a:rPr kumimoji="1" lang="zh-CN" altLang="en-US" sz="1200" b="0" i="0" kern="1200" dirty="0">
                <a:solidFill>
                  <a:schemeClr val="tx1"/>
                </a:solidFill>
                <a:effectLst/>
                <a:latin typeface="Times New Roman" panose="02020503050405090304" pitchFamily="18" charset="0"/>
                <a:ea typeface="宋体" pitchFamily="2" charset="-122"/>
                <a:cs typeface="+mn-cs"/>
              </a:rPr>
              <a:t>信息系统（</a:t>
            </a:r>
            <a:r>
              <a:rPr kumimoji="1" lang="en-US" altLang="zh-CN" sz="1200" b="0" i="0" kern="1200" dirty="0">
                <a:solidFill>
                  <a:schemeClr val="tx1"/>
                </a:solidFill>
                <a:effectLst/>
                <a:latin typeface="Times New Roman" panose="02020503050405090304" pitchFamily="18" charset="0"/>
                <a:ea typeface="宋体" pitchFamily="2" charset="-122"/>
                <a:cs typeface="+mn-cs"/>
              </a:rPr>
              <a:t>HISI</a:t>
            </a:r>
            <a:r>
              <a:rPr kumimoji="1" lang="zh-CN" altLang="en-US" sz="1200" b="0" i="0" kern="1200" dirty="0">
                <a:solidFill>
                  <a:schemeClr val="tx1"/>
                </a:solidFill>
                <a:effectLst/>
                <a:latin typeface="Times New Roman" panose="02020503050405090304" pitchFamily="18" charset="0"/>
                <a:ea typeface="宋体" pitchFamily="2" charset="-122"/>
                <a:cs typeface="+mn-cs"/>
              </a:rPr>
              <a:t>）（后来的</a:t>
            </a:r>
            <a:r>
              <a:rPr kumimoji="1" lang="en-US" altLang="zh-CN" sz="1200" b="0" i="0" kern="1200" dirty="0">
                <a:solidFill>
                  <a:schemeClr val="tx1"/>
                </a:solidFill>
                <a:effectLst/>
                <a:latin typeface="Times New Roman" panose="02020503050405090304" pitchFamily="18" charset="0"/>
                <a:ea typeface="宋体" pitchFamily="2" charset="-122"/>
                <a:cs typeface="+mn-cs"/>
              </a:rPr>
              <a:t>Group Bull</a:t>
            </a:r>
            <a:r>
              <a:rPr kumimoji="1" lang="zh-CN" altLang="en-US" sz="1200" b="0" i="0" kern="1200" dirty="0">
                <a:solidFill>
                  <a:schemeClr val="tx1"/>
                </a:solidFill>
                <a:effectLst/>
                <a:latin typeface="Times New Roman" panose="02020503050405090304" pitchFamily="18" charset="0"/>
                <a:ea typeface="宋体" pitchFamily="2" charset="-122"/>
                <a:cs typeface="+mn-cs"/>
              </a:rPr>
              <a:t>），</a:t>
            </a:r>
            <a:r>
              <a:rPr kumimoji="1" lang="en-US" altLang="zh-CN" sz="1200" b="0" i="0" u="none" strike="noStrike" kern="1200" dirty="0">
                <a:solidFill>
                  <a:schemeClr val="tx1"/>
                </a:solidFill>
                <a:effectLst/>
                <a:latin typeface="Times New Roman" panose="02020503050405090304" pitchFamily="18" charset="0"/>
                <a:ea typeface="宋体" pitchFamily="2" charset="-122"/>
                <a:cs typeface="+mn-cs"/>
                <a:hlinkClick r:id="rId12"/>
              </a:rPr>
              <a:t>Silicon Graphics</a:t>
            </a:r>
            <a:r>
              <a:rPr kumimoji="1" lang="zh-CN" altLang="en-US" sz="1200" b="0" i="0" kern="1200" dirty="0">
                <a:solidFill>
                  <a:schemeClr val="tx1"/>
                </a:solidFill>
                <a:effectLst/>
                <a:latin typeface="Times New Roman" panose="02020503050405090304" pitchFamily="18" charset="0"/>
                <a:ea typeface="宋体" pitchFamily="2" charset="-122"/>
                <a:cs typeface="+mn-cs"/>
              </a:rPr>
              <a:t>公司（后来的</a:t>
            </a:r>
            <a:r>
              <a:rPr kumimoji="1" lang="zh-CN" altLang="en-US" sz="1200" b="0" i="0" u="none" strike="noStrike" kern="1200" dirty="0">
                <a:solidFill>
                  <a:schemeClr val="tx1"/>
                </a:solidFill>
                <a:effectLst/>
                <a:latin typeface="Times New Roman" panose="02020503050405090304" pitchFamily="18" charset="0"/>
                <a:ea typeface="宋体" pitchFamily="2" charset="-122"/>
                <a:cs typeface="+mn-cs"/>
                <a:hlinkClick r:id="rId13"/>
              </a:rPr>
              <a:t>硅谷</a:t>
            </a:r>
            <a:r>
              <a:rPr kumimoji="1" lang="zh-CN" altLang="en-US" sz="1200" b="0" i="0" kern="1200" dirty="0">
                <a:solidFill>
                  <a:schemeClr val="tx1"/>
                </a:solidFill>
                <a:effectLst/>
                <a:latin typeface="Times New Roman" panose="02020503050405090304" pitchFamily="18" charset="0"/>
                <a:ea typeface="宋体" pitchFamily="2" charset="-122"/>
                <a:cs typeface="+mn-cs"/>
              </a:rPr>
              <a:t>图形），</a:t>
            </a:r>
            <a:r>
              <a:rPr kumimoji="1" lang="en-US" altLang="zh-CN" sz="1200" b="0" i="0" u="none" strike="noStrike" kern="1200" dirty="0">
                <a:solidFill>
                  <a:schemeClr val="tx1"/>
                </a:solidFill>
                <a:effectLst/>
                <a:latin typeface="Times New Roman" panose="02020503050405090304" pitchFamily="18" charset="0"/>
                <a:ea typeface="宋体" pitchFamily="2" charset="-122"/>
                <a:cs typeface="+mn-cs"/>
                <a:hlinkClick r:id="rId14"/>
              </a:rPr>
              <a:t>Sequent</a:t>
            </a:r>
            <a:r>
              <a:rPr kumimoji="1" lang="zh-CN" altLang="en-US" sz="1200" b="0" i="0" u="none" strike="noStrike" kern="1200" dirty="0">
                <a:solidFill>
                  <a:schemeClr val="tx1"/>
                </a:solidFill>
                <a:effectLst/>
                <a:latin typeface="Times New Roman" panose="02020503050405090304" pitchFamily="18" charset="0"/>
                <a:ea typeface="宋体" pitchFamily="2" charset="-122"/>
                <a:cs typeface="+mn-cs"/>
                <a:hlinkClick r:id="rId15"/>
              </a:rPr>
              <a:t>电脑系统</a:t>
            </a:r>
            <a:r>
              <a:rPr kumimoji="1" lang="zh-CN" altLang="en-US" sz="1200" b="0" i="0" kern="1200" dirty="0">
                <a:solidFill>
                  <a:schemeClr val="tx1"/>
                </a:solidFill>
                <a:effectLst/>
                <a:latin typeface="Times New Roman" panose="02020503050405090304" pitchFamily="18" charset="0"/>
                <a:ea typeface="宋体" pitchFamily="2" charset="-122"/>
                <a:cs typeface="+mn-cs"/>
              </a:rPr>
              <a:t>（后来的</a:t>
            </a:r>
            <a:r>
              <a:rPr kumimoji="1" lang="en-US" altLang="zh-CN" sz="1200" b="0" i="0" u="none" strike="noStrike" kern="1200" dirty="0">
                <a:solidFill>
                  <a:schemeClr val="tx1"/>
                </a:solidFill>
                <a:effectLst/>
                <a:latin typeface="Times New Roman" panose="02020503050405090304" pitchFamily="18" charset="0"/>
                <a:ea typeface="宋体" pitchFamily="2" charset="-122"/>
                <a:cs typeface="+mn-cs"/>
                <a:hlinkClick r:id="rId16"/>
              </a:rPr>
              <a:t>IBM</a:t>
            </a:r>
            <a:r>
              <a:rPr kumimoji="1" lang="zh-CN" altLang="en-US" sz="1200" b="0" i="0" kern="1200" dirty="0">
                <a:solidFill>
                  <a:schemeClr val="tx1"/>
                </a:solidFill>
                <a:effectLst/>
                <a:latin typeface="Times New Roman" panose="02020503050405090304" pitchFamily="18" charset="0"/>
                <a:ea typeface="宋体" pitchFamily="2" charset="-122"/>
                <a:cs typeface="+mn-cs"/>
              </a:rPr>
              <a:t>），通用数据（</a:t>
            </a:r>
            <a:r>
              <a:rPr kumimoji="1" lang="en-US" altLang="zh-CN" sz="1200" b="0" i="0" kern="1200" dirty="0">
                <a:solidFill>
                  <a:schemeClr val="tx1"/>
                </a:solidFill>
                <a:effectLst/>
                <a:latin typeface="Times New Roman" panose="02020503050405090304" pitchFamily="18" charset="0"/>
                <a:ea typeface="宋体" pitchFamily="2" charset="-122"/>
                <a:cs typeface="+mn-cs"/>
              </a:rPr>
              <a:t>EMC</a:t>
            </a:r>
            <a:r>
              <a:rPr kumimoji="1" lang="zh-CN" altLang="en-US" sz="1200" b="0" i="0" kern="1200" dirty="0">
                <a:solidFill>
                  <a:schemeClr val="tx1"/>
                </a:solidFill>
                <a:effectLst/>
                <a:latin typeface="Times New Roman" panose="02020503050405090304" pitchFamily="18" charset="0"/>
                <a:ea typeface="宋体" pitchFamily="2" charset="-122"/>
                <a:cs typeface="+mn-cs"/>
              </a:rPr>
              <a:t>）， </a:t>
            </a:r>
            <a:r>
              <a:rPr kumimoji="1" lang="en-US" altLang="zh-CN" sz="1200" b="0" i="0" kern="1200" dirty="0">
                <a:solidFill>
                  <a:schemeClr val="tx1"/>
                </a:solidFill>
                <a:effectLst/>
                <a:latin typeface="Times New Roman" panose="02020503050405090304" pitchFamily="18" charset="0"/>
                <a:ea typeface="宋体" pitchFamily="2" charset="-122"/>
                <a:cs typeface="+mn-cs"/>
              </a:rPr>
              <a:t>Digital </a:t>
            </a:r>
            <a:r>
              <a:rPr kumimoji="1" lang="zh-CN" altLang="en-US" sz="1200" b="0" i="0" kern="1200" dirty="0">
                <a:solidFill>
                  <a:schemeClr val="tx1"/>
                </a:solidFill>
                <a:effectLst/>
                <a:latin typeface="Times New Roman" panose="02020503050405090304" pitchFamily="18" charset="0"/>
                <a:ea typeface="宋体" pitchFamily="2" charset="-122"/>
                <a:cs typeface="+mn-cs"/>
              </a:rPr>
              <a:t>（后来的</a:t>
            </a:r>
            <a:r>
              <a:rPr kumimoji="1" lang="en-US" altLang="zh-CN" sz="1200" b="0" i="0" kern="1200" dirty="0">
                <a:solidFill>
                  <a:schemeClr val="tx1"/>
                </a:solidFill>
                <a:effectLst/>
                <a:latin typeface="Times New Roman" panose="02020503050405090304" pitchFamily="18" charset="0"/>
                <a:ea typeface="宋体" pitchFamily="2" charset="-122"/>
                <a:cs typeface="+mn-cs"/>
              </a:rPr>
              <a:t>Compaq </a:t>
            </a:r>
            <a:r>
              <a:rPr kumimoji="1" lang="zh-CN" altLang="en-US" sz="1200" b="0" i="0" kern="1200" dirty="0">
                <a:solidFill>
                  <a:schemeClr val="tx1"/>
                </a:solidFill>
                <a:effectLst/>
                <a:latin typeface="Times New Roman" panose="02020503050405090304" pitchFamily="18" charset="0"/>
                <a:ea typeface="宋体" pitchFamily="2" charset="-122"/>
                <a:cs typeface="+mn-cs"/>
              </a:rPr>
              <a:t>，</a:t>
            </a:r>
            <a:r>
              <a:rPr kumimoji="1" lang="en-US" altLang="zh-CN" sz="1200" b="0" i="0" u="none" strike="noStrike" kern="1200" dirty="0">
                <a:solidFill>
                  <a:schemeClr val="tx1"/>
                </a:solidFill>
                <a:effectLst/>
                <a:latin typeface="Times New Roman" panose="02020503050405090304" pitchFamily="18" charset="0"/>
                <a:ea typeface="宋体" pitchFamily="2" charset="-122"/>
                <a:cs typeface="+mn-cs"/>
                <a:hlinkClick r:id="rId17"/>
              </a:rPr>
              <a:t>HP</a:t>
            </a:r>
            <a:r>
              <a:rPr kumimoji="1" lang="zh-CN" altLang="en-US" sz="1200" b="0" i="0" kern="1200" dirty="0">
                <a:solidFill>
                  <a:schemeClr val="tx1"/>
                </a:solidFill>
                <a:effectLst/>
                <a:latin typeface="Times New Roman" panose="02020503050405090304" pitchFamily="18" charset="0"/>
                <a:ea typeface="宋体" pitchFamily="2" charset="-122"/>
                <a:cs typeface="+mn-cs"/>
              </a:rPr>
              <a:t>）。 这些公司研发的技术后来在类</a:t>
            </a:r>
            <a:r>
              <a:rPr kumimoji="1" lang="en-US" altLang="zh-CN" sz="1200" b="0" i="0" kern="1200" dirty="0">
                <a:solidFill>
                  <a:schemeClr val="tx1"/>
                </a:solidFill>
                <a:effectLst/>
                <a:latin typeface="Times New Roman" panose="02020503050405090304" pitchFamily="18" charset="0"/>
                <a:ea typeface="宋体" pitchFamily="2" charset="-122"/>
                <a:cs typeface="+mn-cs"/>
              </a:rPr>
              <a:t>Unix</a:t>
            </a:r>
            <a:r>
              <a:rPr kumimoji="1" lang="zh-CN" altLang="en-US" sz="1200" b="0" i="0" kern="1200" dirty="0">
                <a:solidFill>
                  <a:schemeClr val="tx1"/>
                </a:solidFill>
                <a:effectLst/>
                <a:latin typeface="Times New Roman" panose="02020503050405090304" pitchFamily="18" charset="0"/>
                <a:ea typeface="宋体" pitchFamily="2" charset="-122"/>
                <a:cs typeface="+mn-cs"/>
              </a:rPr>
              <a:t>操作系统中大放异彩，并在一定程度上运用到了</a:t>
            </a:r>
            <a:r>
              <a:rPr kumimoji="1" lang="en-US" altLang="zh-CN" sz="1200" b="0" i="0" u="none" strike="noStrike" kern="1200" dirty="0">
                <a:solidFill>
                  <a:schemeClr val="tx1"/>
                </a:solidFill>
                <a:effectLst/>
                <a:latin typeface="Times New Roman" panose="02020503050405090304" pitchFamily="18" charset="0"/>
                <a:ea typeface="宋体" pitchFamily="2" charset="-122"/>
                <a:cs typeface="+mn-cs"/>
                <a:hlinkClick r:id="rId18"/>
              </a:rPr>
              <a:t>Windows NT</a:t>
            </a:r>
            <a:r>
              <a:rPr kumimoji="1" lang="zh-CN" altLang="en-US" sz="1200" b="0" i="0" kern="1200" dirty="0">
                <a:solidFill>
                  <a:schemeClr val="tx1"/>
                </a:solidFill>
                <a:effectLst/>
                <a:latin typeface="Times New Roman" panose="02020503050405090304" pitchFamily="18" charset="0"/>
                <a:ea typeface="宋体" pitchFamily="2" charset="-122"/>
                <a:cs typeface="+mn-cs"/>
              </a:rPr>
              <a:t>中。</a:t>
            </a:r>
            <a:endParaRPr kumimoji="1" lang="zh-CN" altLang="en-US" sz="1200" b="0" i="0" kern="1200" dirty="0">
              <a:solidFill>
                <a:schemeClr val="tx1"/>
              </a:solidFill>
              <a:effectLst/>
              <a:latin typeface="Times New Roman" panose="02020503050405090304" pitchFamily="18" charset="0"/>
              <a:ea typeface="宋体" pitchFamily="2" charset="-122"/>
              <a:cs typeface="+mn-cs"/>
            </a:endParaRPr>
          </a:p>
          <a:p>
            <a:r>
              <a:rPr kumimoji="1" lang="zh-CN" altLang="en-US" sz="1200" b="0" i="0" kern="1200" dirty="0">
                <a:solidFill>
                  <a:schemeClr val="tx1"/>
                </a:solidFill>
                <a:effectLst/>
                <a:latin typeface="Times New Roman" panose="02020503050405090304" pitchFamily="18" charset="0"/>
                <a:ea typeface="宋体" pitchFamily="2" charset="-122"/>
                <a:cs typeface="+mn-cs"/>
              </a:rPr>
              <a:t>首次商业化实现基于</a:t>
            </a:r>
            <a:r>
              <a:rPr kumimoji="1" lang="en-US" altLang="zh-CN" sz="1200" b="0" i="0" kern="1200" dirty="0">
                <a:solidFill>
                  <a:schemeClr val="tx1"/>
                </a:solidFill>
                <a:effectLst/>
                <a:latin typeface="Times New Roman" panose="02020503050405090304" pitchFamily="18" charset="0"/>
                <a:ea typeface="宋体" pitchFamily="2" charset="-122"/>
                <a:cs typeface="+mn-cs"/>
              </a:rPr>
              <a:t>NUMA</a:t>
            </a:r>
            <a:r>
              <a:rPr kumimoji="1" lang="zh-CN" altLang="en-US" sz="1200" b="0" i="0" kern="1200" dirty="0">
                <a:solidFill>
                  <a:schemeClr val="tx1"/>
                </a:solidFill>
                <a:effectLst/>
                <a:latin typeface="Times New Roman" panose="02020503050405090304" pitchFamily="18" charset="0"/>
                <a:ea typeface="宋体" pitchFamily="2" charset="-122"/>
                <a:cs typeface="+mn-cs"/>
              </a:rPr>
              <a:t>的</a:t>
            </a:r>
            <a:r>
              <a:rPr kumimoji="1" lang="en-US" altLang="zh-CN" sz="1200" b="0" i="0" kern="1200" dirty="0">
                <a:solidFill>
                  <a:schemeClr val="tx1"/>
                </a:solidFill>
                <a:effectLst/>
                <a:latin typeface="Times New Roman" panose="02020503050405090304" pitchFamily="18" charset="0"/>
                <a:ea typeface="宋体" pitchFamily="2" charset="-122"/>
                <a:cs typeface="+mn-cs"/>
              </a:rPr>
              <a:t>Unix</a:t>
            </a:r>
            <a:r>
              <a:rPr kumimoji="1" lang="zh-CN" altLang="en-US" sz="1200" b="0" i="0" kern="1200" dirty="0">
                <a:solidFill>
                  <a:schemeClr val="tx1"/>
                </a:solidFill>
                <a:effectLst/>
                <a:latin typeface="Times New Roman" panose="02020503050405090304" pitchFamily="18" charset="0"/>
                <a:ea typeface="宋体" pitchFamily="2" charset="-122"/>
                <a:cs typeface="+mn-cs"/>
              </a:rPr>
              <a:t>系统的是对称多处理</a:t>
            </a:r>
            <a:r>
              <a:rPr kumimoji="1" lang="en-US" altLang="zh-CN" sz="1200" b="0" i="0" kern="1200" dirty="0">
                <a:solidFill>
                  <a:schemeClr val="tx1"/>
                </a:solidFill>
                <a:effectLst/>
                <a:latin typeface="Times New Roman" panose="02020503050405090304" pitchFamily="18" charset="0"/>
                <a:ea typeface="宋体" pitchFamily="2" charset="-122"/>
                <a:cs typeface="+mn-cs"/>
              </a:rPr>
              <a:t>XPS-100</a:t>
            </a:r>
            <a:r>
              <a:rPr kumimoji="1" lang="zh-CN" altLang="en-US" sz="1200" b="0" i="0" kern="1200" dirty="0">
                <a:solidFill>
                  <a:schemeClr val="tx1"/>
                </a:solidFill>
                <a:effectLst/>
                <a:latin typeface="Times New Roman" panose="02020503050405090304" pitchFamily="18" charset="0"/>
                <a:ea typeface="宋体" pitchFamily="2" charset="-122"/>
                <a:cs typeface="+mn-cs"/>
              </a:rPr>
              <a:t>系列服务器，它是由</a:t>
            </a:r>
            <a:r>
              <a:rPr kumimoji="1" lang="en-US" altLang="zh-CN" sz="1200" b="0" i="0" kern="1200" dirty="0">
                <a:solidFill>
                  <a:schemeClr val="tx1"/>
                </a:solidFill>
                <a:effectLst/>
                <a:latin typeface="Times New Roman" panose="02020503050405090304" pitchFamily="18" charset="0"/>
                <a:ea typeface="宋体" pitchFamily="2" charset="-122"/>
                <a:cs typeface="+mn-cs"/>
              </a:rPr>
              <a:t>VAST</a:t>
            </a:r>
            <a:r>
              <a:rPr kumimoji="1" lang="zh-CN" altLang="en-US" sz="1200" b="0" i="0" kern="1200" dirty="0">
                <a:solidFill>
                  <a:schemeClr val="tx1"/>
                </a:solidFill>
                <a:effectLst/>
                <a:latin typeface="Times New Roman" panose="02020503050405090304" pitchFamily="18" charset="0"/>
                <a:ea typeface="宋体" pitchFamily="2" charset="-122"/>
                <a:cs typeface="+mn-cs"/>
              </a:rPr>
              <a:t>公司的</a:t>
            </a:r>
            <a:r>
              <a:rPr kumimoji="1" lang="en-US" altLang="zh-CN" sz="1200" b="0" i="0" kern="1200" dirty="0">
                <a:solidFill>
                  <a:schemeClr val="tx1"/>
                </a:solidFill>
                <a:effectLst/>
                <a:latin typeface="Times New Roman" panose="02020503050405090304" pitchFamily="18" charset="0"/>
                <a:ea typeface="宋体" pitchFamily="2" charset="-122"/>
                <a:cs typeface="+mn-cs"/>
              </a:rPr>
              <a:t>Dan </a:t>
            </a:r>
            <a:r>
              <a:rPr kumimoji="1" lang="en-US" altLang="zh-CN" sz="1200" b="0" i="0" kern="1200" dirty="0" err="1">
                <a:solidFill>
                  <a:schemeClr val="tx1"/>
                </a:solidFill>
                <a:effectLst/>
                <a:latin typeface="Times New Roman" panose="02020503050405090304" pitchFamily="18" charset="0"/>
                <a:ea typeface="宋体" pitchFamily="2" charset="-122"/>
                <a:cs typeface="+mn-cs"/>
              </a:rPr>
              <a:t>Gielen</a:t>
            </a:r>
            <a:r>
              <a:rPr kumimoji="1" lang="zh-CN" altLang="en-US" sz="1200" b="0" i="0" kern="1200" dirty="0">
                <a:solidFill>
                  <a:schemeClr val="tx1"/>
                </a:solidFill>
                <a:effectLst/>
                <a:latin typeface="Times New Roman" panose="02020503050405090304" pitchFamily="18" charset="0"/>
                <a:ea typeface="宋体" pitchFamily="2" charset="-122"/>
                <a:cs typeface="+mn-cs"/>
              </a:rPr>
              <a:t>为</a:t>
            </a:r>
            <a:r>
              <a:rPr kumimoji="1" lang="en-US" altLang="zh-CN" sz="1200" b="0" i="0" kern="1200" dirty="0">
                <a:solidFill>
                  <a:schemeClr val="tx1"/>
                </a:solidFill>
                <a:effectLst/>
                <a:latin typeface="Times New Roman" panose="02020503050405090304" pitchFamily="18" charset="0"/>
                <a:ea typeface="宋体" pitchFamily="2" charset="-122"/>
                <a:cs typeface="+mn-cs"/>
              </a:rPr>
              <a:t>HISI</a:t>
            </a:r>
            <a:r>
              <a:rPr kumimoji="1" lang="zh-CN" altLang="en-US" sz="1200" b="0" i="0" kern="1200" dirty="0">
                <a:solidFill>
                  <a:schemeClr val="tx1"/>
                </a:solidFill>
                <a:effectLst/>
                <a:latin typeface="Times New Roman" panose="02020503050405090304" pitchFamily="18" charset="0"/>
                <a:ea typeface="宋体" pitchFamily="2" charset="-122"/>
                <a:cs typeface="+mn-cs"/>
              </a:rPr>
              <a:t>设计的。 这个架构的巨大成功使</a:t>
            </a:r>
            <a:r>
              <a:rPr kumimoji="1" lang="en-US" altLang="zh-CN" sz="1200" b="0" i="0" kern="1200" dirty="0">
                <a:solidFill>
                  <a:schemeClr val="tx1"/>
                </a:solidFill>
                <a:effectLst/>
                <a:latin typeface="Times New Roman" panose="02020503050405090304" pitchFamily="18" charset="0"/>
                <a:ea typeface="宋体" pitchFamily="2" charset="-122"/>
                <a:cs typeface="+mn-cs"/>
              </a:rPr>
              <a:t>HISI</a:t>
            </a:r>
            <a:r>
              <a:rPr kumimoji="1" lang="zh-CN" altLang="en-US" sz="1200" b="0" i="0" kern="1200" dirty="0">
                <a:solidFill>
                  <a:schemeClr val="tx1"/>
                </a:solidFill>
                <a:effectLst/>
                <a:latin typeface="Times New Roman" panose="02020503050405090304" pitchFamily="18" charset="0"/>
                <a:ea typeface="宋体" pitchFamily="2" charset="-122"/>
                <a:cs typeface="+mn-cs"/>
              </a:rPr>
              <a:t>成为了欧洲的顶级</a:t>
            </a:r>
            <a:r>
              <a:rPr kumimoji="1" lang="en-US" altLang="zh-CN" sz="1200" b="0" i="0" kern="1200" dirty="0">
                <a:solidFill>
                  <a:schemeClr val="tx1"/>
                </a:solidFill>
                <a:effectLst/>
                <a:latin typeface="Times New Roman" panose="02020503050405090304" pitchFamily="18" charset="0"/>
                <a:ea typeface="宋体" pitchFamily="2" charset="-122"/>
                <a:cs typeface="+mn-cs"/>
              </a:rPr>
              <a:t>Unix</a:t>
            </a:r>
            <a:r>
              <a:rPr kumimoji="1" lang="zh-CN" altLang="en-US" sz="1200" b="0" i="0" kern="1200" dirty="0">
                <a:solidFill>
                  <a:schemeClr val="tx1"/>
                </a:solidFill>
                <a:effectLst/>
                <a:latin typeface="Times New Roman" panose="02020503050405090304" pitchFamily="18" charset="0"/>
                <a:ea typeface="宋体" pitchFamily="2" charset="-122"/>
                <a:cs typeface="+mn-cs"/>
              </a:rPr>
              <a:t>厂商。</a:t>
            </a:r>
            <a:endParaRPr kumimoji="1" lang="zh-CN" altLang="en-US" sz="1200" b="0" i="0" kern="1200" dirty="0">
              <a:solidFill>
                <a:schemeClr val="tx1"/>
              </a:solidFill>
              <a:effectLst/>
              <a:latin typeface="Times New Roman" panose="02020503050405090304" pitchFamily="18" charset="0"/>
              <a:ea typeface="宋体"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https://bbs.huaweicloud.com/blogs/358526</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a:p>
            <a:r>
              <a:rPr kumimoji="1" lang="en-US" altLang="zh-CN" sz="1200" b="0" i="0" u="none" strike="noStrike" kern="1200" dirty="0">
                <a:solidFill>
                  <a:schemeClr val="tx1"/>
                </a:solidFill>
                <a:effectLst/>
                <a:latin typeface="Times New Roman" panose="02020503050405090304" pitchFamily="18" charset="0"/>
                <a:ea typeface="宋体" pitchFamily="2" charset="-122"/>
                <a:cs typeface="+mn-cs"/>
              </a:rPr>
              <a:t>CSN – Commit Sequence Number</a:t>
            </a:r>
            <a:r>
              <a:rPr kumimoji="1" lang="zh-CN" altLang="en-US" sz="1200" b="0" i="0" kern="1200" dirty="0">
                <a:solidFill>
                  <a:schemeClr val="tx1"/>
                </a:solidFill>
                <a:effectLst/>
                <a:latin typeface="Times New Roman" panose="02020503050405090304" pitchFamily="18" charset="0"/>
                <a:ea typeface="宋体" pitchFamily="2" charset="-122"/>
                <a:cs typeface="+mn-cs"/>
              </a:rPr>
              <a:t>，事务提交号</a:t>
            </a:r>
            <a:endParaRPr kumimoji="1" lang="zh-CN" altLang="en-US" sz="1200" b="0" i="0" kern="1200" dirty="0">
              <a:solidFill>
                <a:schemeClr val="tx1"/>
              </a:solidFill>
              <a:effectLst/>
              <a:latin typeface="Times New Roman" panose="02020503050405090304" pitchFamily="18" charset="0"/>
              <a:ea typeface="宋体" pitchFamily="2" charset="-122"/>
              <a:cs typeface="+mn-cs"/>
            </a:endParaRPr>
          </a:p>
          <a:p>
            <a:r>
              <a:rPr kumimoji="1" lang="en-US" altLang="zh-CN" sz="1200" b="0" i="0" u="none" strike="noStrike" kern="1200" dirty="0">
                <a:solidFill>
                  <a:schemeClr val="tx1"/>
                </a:solidFill>
                <a:effectLst/>
                <a:latin typeface="Times New Roman" panose="02020503050405090304" pitchFamily="18" charset="0"/>
                <a:ea typeface="宋体" pitchFamily="2" charset="-122"/>
                <a:cs typeface="+mn-cs"/>
              </a:rPr>
              <a:t>1</a:t>
            </a:r>
            <a:r>
              <a:rPr kumimoji="1" lang="zh-CN" altLang="en-US" sz="1200" b="0" i="0" kern="1200" dirty="0">
                <a:solidFill>
                  <a:schemeClr val="tx1"/>
                </a:solidFill>
                <a:effectLst/>
                <a:latin typeface="Times New Roman" panose="02020503050405090304" pitchFamily="18" charset="0"/>
                <a:ea typeface="宋体" pitchFamily="2" charset="-122"/>
                <a:cs typeface="+mn-cs"/>
              </a:rPr>
              <a:t>）</a:t>
            </a:r>
            <a:r>
              <a:rPr kumimoji="1" lang="en-US" altLang="zh-CN" sz="1200" b="0" i="0" u="none" strike="noStrike" kern="1200" dirty="0">
                <a:solidFill>
                  <a:schemeClr val="tx1"/>
                </a:solidFill>
                <a:effectLst/>
                <a:latin typeface="Times New Roman" panose="02020503050405090304" pitchFamily="18" charset="0"/>
                <a:ea typeface="宋体" pitchFamily="2" charset="-122"/>
                <a:cs typeface="+mn-cs"/>
              </a:rPr>
              <a:t>CSN</a:t>
            </a:r>
            <a:r>
              <a:rPr kumimoji="1" lang="zh-CN" altLang="en-US" sz="1200" b="0" i="0" kern="1200" dirty="0">
                <a:solidFill>
                  <a:schemeClr val="tx1"/>
                </a:solidFill>
                <a:effectLst/>
                <a:latin typeface="Times New Roman" panose="02020503050405090304" pitchFamily="18" charset="0"/>
                <a:ea typeface="宋体" pitchFamily="2" charset="-122"/>
                <a:cs typeface="+mn-cs"/>
              </a:rPr>
              <a:t>是一个单调递增的</a:t>
            </a:r>
            <a:r>
              <a:rPr kumimoji="1" lang="en-US" altLang="zh-CN" sz="1200" b="0" i="0" u="none" strike="noStrike" kern="1200" dirty="0">
                <a:solidFill>
                  <a:schemeClr val="tx1"/>
                </a:solidFill>
                <a:effectLst/>
                <a:latin typeface="Times New Roman" panose="02020503050405090304" pitchFamily="18" charset="0"/>
                <a:ea typeface="宋体" pitchFamily="2" charset="-122"/>
                <a:cs typeface="+mn-cs"/>
              </a:rPr>
              <a:t>8</a:t>
            </a:r>
            <a:r>
              <a:rPr kumimoji="1" lang="zh-CN" altLang="en-US" sz="1200" b="0" i="0" kern="1200" dirty="0">
                <a:solidFill>
                  <a:schemeClr val="tx1"/>
                </a:solidFill>
                <a:effectLst/>
                <a:latin typeface="Times New Roman" panose="02020503050405090304" pitchFamily="18" charset="0"/>
                <a:ea typeface="宋体" pitchFamily="2" charset="-122"/>
                <a:cs typeface="+mn-cs"/>
              </a:rPr>
              <a:t>字节无符号整数，由</a:t>
            </a:r>
            <a:r>
              <a:rPr kumimoji="1" lang="en-US" altLang="zh-CN" sz="1200" b="0" i="0" u="none" strike="noStrike" kern="1200" dirty="0">
                <a:solidFill>
                  <a:schemeClr val="tx1"/>
                </a:solidFill>
                <a:effectLst/>
                <a:latin typeface="Times New Roman" panose="02020503050405090304" pitchFamily="18" charset="0"/>
                <a:ea typeface="宋体" pitchFamily="2" charset="-122"/>
                <a:cs typeface="+mn-cs"/>
              </a:rPr>
              <a:t>GTM</a:t>
            </a:r>
            <a:r>
              <a:rPr kumimoji="1" lang="zh-CN" altLang="en-US" sz="1200" b="0" i="0" kern="1200" dirty="0">
                <a:solidFill>
                  <a:schemeClr val="tx1"/>
                </a:solidFill>
                <a:effectLst/>
                <a:latin typeface="Times New Roman" panose="02020503050405090304" pitchFamily="18" charset="0"/>
                <a:ea typeface="宋体" pitchFamily="2" charset="-122"/>
                <a:cs typeface="+mn-cs"/>
              </a:rPr>
              <a:t>维护；</a:t>
            </a:r>
            <a:endParaRPr kumimoji="1" lang="zh-CN" altLang="en-US" sz="1200" b="0" i="0" kern="1200" dirty="0">
              <a:solidFill>
                <a:schemeClr val="tx1"/>
              </a:solidFill>
              <a:effectLst/>
              <a:latin typeface="Times New Roman" panose="02020503050405090304" pitchFamily="18" charset="0"/>
              <a:ea typeface="宋体" pitchFamily="2" charset="-122"/>
              <a:cs typeface="+mn-cs"/>
            </a:endParaRPr>
          </a:p>
          <a:p>
            <a:r>
              <a:rPr kumimoji="1" lang="en-US" altLang="zh-CN" sz="1200" b="0" i="0" u="none" strike="noStrike" kern="1200" dirty="0">
                <a:solidFill>
                  <a:schemeClr val="tx1"/>
                </a:solidFill>
                <a:effectLst/>
                <a:latin typeface="Times New Roman" panose="02020503050405090304" pitchFamily="18" charset="0"/>
                <a:ea typeface="宋体" pitchFamily="2" charset="-122"/>
                <a:cs typeface="+mn-cs"/>
              </a:rPr>
              <a:t>2</a:t>
            </a:r>
            <a:r>
              <a:rPr kumimoji="1" lang="zh-CN" altLang="en-US" sz="1200" b="0" i="0" kern="1200" dirty="0">
                <a:solidFill>
                  <a:schemeClr val="tx1"/>
                </a:solidFill>
                <a:effectLst/>
                <a:latin typeface="Times New Roman" panose="02020503050405090304" pitchFamily="18" charset="0"/>
                <a:ea typeface="宋体" pitchFamily="2" charset="-122"/>
                <a:cs typeface="+mn-cs"/>
              </a:rPr>
              <a:t>）事务结束时，从</a:t>
            </a:r>
            <a:r>
              <a:rPr kumimoji="1" lang="en-US" altLang="zh-CN" sz="1200" b="0" i="0" u="none" strike="noStrike" kern="1200" dirty="0">
                <a:solidFill>
                  <a:schemeClr val="tx1"/>
                </a:solidFill>
                <a:effectLst/>
                <a:latin typeface="Times New Roman" panose="02020503050405090304" pitchFamily="18" charset="0"/>
                <a:ea typeface="宋体" pitchFamily="2" charset="-122"/>
                <a:cs typeface="+mn-cs"/>
              </a:rPr>
              <a:t>GTM</a:t>
            </a:r>
            <a:r>
              <a:rPr kumimoji="1" lang="zh-CN" altLang="en-US" sz="1200" b="0" i="0" kern="1200" dirty="0">
                <a:solidFill>
                  <a:schemeClr val="tx1"/>
                </a:solidFill>
                <a:effectLst/>
                <a:latin typeface="Times New Roman" panose="02020503050405090304" pitchFamily="18" charset="0"/>
                <a:ea typeface="宋体" pitchFamily="2" charset="-122"/>
                <a:cs typeface="+mn-cs"/>
              </a:rPr>
              <a:t>上获取并更新</a:t>
            </a:r>
            <a:r>
              <a:rPr kumimoji="1" lang="en-US" altLang="zh-CN" sz="1200" b="0" i="0" u="none" strike="noStrike" kern="1200" dirty="0">
                <a:solidFill>
                  <a:schemeClr val="tx1"/>
                </a:solidFill>
                <a:effectLst/>
                <a:latin typeface="Times New Roman" panose="02020503050405090304" pitchFamily="18" charset="0"/>
                <a:ea typeface="宋体" pitchFamily="2" charset="-122"/>
                <a:cs typeface="+mn-cs"/>
              </a:rPr>
              <a:t>CSN</a:t>
            </a:r>
            <a:r>
              <a:rPr kumimoji="1" lang="zh-CN" altLang="en-US" sz="1200" b="0" i="0" kern="1200" dirty="0">
                <a:solidFill>
                  <a:schemeClr val="tx1"/>
                </a:solidFill>
                <a:effectLst/>
                <a:latin typeface="Times New Roman" panose="02020503050405090304" pitchFamily="18" charset="0"/>
                <a:ea typeface="宋体" pitchFamily="2" charset="-122"/>
                <a:cs typeface="+mn-cs"/>
              </a:rPr>
              <a:t>值；</a:t>
            </a:r>
            <a:endParaRPr kumimoji="1" lang="zh-CN" altLang="en-US" sz="1200" b="0" i="0" kern="1200" dirty="0">
              <a:solidFill>
                <a:schemeClr val="tx1"/>
              </a:solidFill>
              <a:effectLst/>
              <a:latin typeface="Times New Roman" panose="02020503050405090304" pitchFamily="18" charset="0"/>
              <a:ea typeface="宋体" pitchFamily="2" charset="-122"/>
              <a:cs typeface="+mn-cs"/>
            </a:endParaRPr>
          </a:p>
          <a:p>
            <a:r>
              <a:rPr kumimoji="1" lang="en-US" altLang="zh-CN" sz="1200" b="0" i="0" u="none" strike="noStrike" kern="1200" dirty="0">
                <a:solidFill>
                  <a:schemeClr val="tx1"/>
                </a:solidFill>
                <a:effectLst/>
                <a:latin typeface="Times New Roman" panose="02020503050405090304" pitchFamily="18" charset="0"/>
                <a:ea typeface="宋体" pitchFamily="2" charset="-122"/>
                <a:cs typeface="+mn-cs"/>
              </a:rPr>
              <a:t>3</a:t>
            </a:r>
            <a:r>
              <a:rPr kumimoji="1" lang="zh-CN" altLang="en-US" sz="1200" b="0" i="0" kern="1200" dirty="0">
                <a:solidFill>
                  <a:schemeClr val="tx1"/>
                </a:solidFill>
                <a:effectLst/>
                <a:latin typeface="Times New Roman" panose="02020503050405090304" pitchFamily="18" charset="0"/>
                <a:ea typeface="宋体" pitchFamily="2" charset="-122"/>
                <a:cs typeface="+mn-cs"/>
              </a:rPr>
              <a:t>）采用</a:t>
            </a:r>
            <a:r>
              <a:rPr kumimoji="1" lang="en-US" altLang="zh-CN" sz="1200" b="0" i="0" u="none" strike="noStrike" kern="1200" dirty="0">
                <a:solidFill>
                  <a:schemeClr val="tx1"/>
                </a:solidFill>
                <a:effectLst/>
                <a:latin typeface="Times New Roman" panose="02020503050405090304" pitchFamily="18" charset="0"/>
                <a:ea typeface="宋体" pitchFamily="2" charset="-122"/>
                <a:cs typeface="+mn-cs"/>
              </a:rPr>
              <a:t>CSN</a:t>
            </a:r>
            <a:r>
              <a:rPr kumimoji="1" lang="zh-CN" altLang="en-US" sz="1200" b="0" i="0" kern="1200" dirty="0">
                <a:solidFill>
                  <a:schemeClr val="tx1"/>
                </a:solidFill>
                <a:effectLst/>
                <a:latin typeface="Times New Roman" panose="02020503050405090304" pitchFamily="18" charset="0"/>
                <a:ea typeface="宋体" pitchFamily="2" charset="-122"/>
                <a:cs typeface="+mn-cs"/>
              </a:rPr>
              <a:t>机制后，查询只需从</a:t>
            </a:r>
            <a:r>
              <a:rPr kumimoji="1" lang="en-US" altLang="zh-CN" sz="1200" b="0" i="0" u="none" strike="noStrike" kern="1200" dirty="0">
                <a:solidFill>
                  <a:schemeClr val="tx1"/>
                </a:solidFill>
                <a:effectLst/>
                <a:latin typeface="Times New Roman" panose="02020503050405090304" pitchFamily="18" charset="0"/>
                <a:ea typeface="宋体" pitchFamily="2" charset="-122"/>
                <a:cs typeface="+mn-cs"/>
              </a:rPr>
              <a:t>GTM</a:t>
            </a:r>
            <a:r>
              <a:rPr kumimoji="1" lang="zh-CN" altLang="en-US" sz="1200" b="0" i="0" kern="1200" dirty="0">
                <a:solidFill>
                  <a:schemeClr val="tx1"/>
                </a:solidFill>
                <a:effectLst/>
                <a:latin typeface="Times New Roman" panose="02020503050405090304" pitchFamily="18" charset="0"/>
                <a:ea typeface="宋体" pitchFamily="2" charset="-122"/>
                <a:cs typeface="+mn-cs"/>
              </a:rPr>
              <a:t>上获取</a:t>
            </a:r>
            <a:r>
              <a:rPr kumimoji="1" lang="en-US" altLang="zh-CN" sz="1200" b="0" i="0" u="none" strike="noStrike" kern="1200" dirty="0">
                <a:solidFill>
                  <a:schemeClr val="tx1"/>
                </a:solidFill>
                <a:effectLst/>
                <a:latin typeface="Times New Roman" panose="02020503050405090304" pitchFamily="18" charset="0"/>
                <a:ea typeface="宋体" pitchFamily="2" charset="-122"/>
                <a:cs typeface="+mn-cs"/>
              </a:rPr>
              <a:t>CSN</a:t>
            </a:r>
            <a:r>
              <a:rPr kumimoji="1" lang="zh-CN" altLang="en-US" sz="1200" b="0" i="0" kern="1200" dirty="0">
                <a:solidFill>
                  <a:schemeClr val="tx1"/>
                </a:solidFill>
                <a:effectLst/>
                <a:latin typeface="Times New Roman" panose="02020503050405090304" pitchFamily="18" charset="0"/>
                <a:ea typeface="宋体" pitchFamily="2" charset="-122"/>
                <a:cs typeface="+mn-cs"/>
              </a:rPr>
              <a:t>号即可。</a:t>
            </a:r>
            <a:endParaRPr kumimoji="1" lang="zh-CN" altLang="en-US" sz="1200" b="0" i="0" kern="1200" dirty="0">
              <a:solidFill>
                <a:schemeClr val="tx1"/>
              </a:solidFill>
              <a:effectLst/>
              <a:latin typeface="Times New Roman" panose="02020503050405090304" pitchFamily="18" charset="0"/>
              <a:ea typeface="宋体"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https://www.modb.pro/db/48569</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200" b="0" i="0" kern="1200" dirty="0">
                <a:solidFill>
                  <a:schemeClr val="tx1"/>
                </a:solidFill>
                <a:effectLst/>
                <a:latin typeface="Times New Roman" panose="02020503050405090304" pitchFamily="18" charset="0"/>
                <a:ea typeface="宋体" pitchFamily="2" charset="-122"/>
                <a:cs typeface="+mn-cs"/>
              </a:rPr>
              <a:t>注：“五把大锁”是指</a:t>
            </a:r>
            <a:r>
              <a:rPr kumimoji="1" lang="en-US" altLang="zh-CN" sz="1200" b="0" i="0" kern="1200" dirty="0">
                <a:solidFill>
                  <a:schemeClr val="tx1"/>
                </a:solidFill>
                <a:effectLst/>
                <a:latin typeface="Times New Roman" panose="02020503050405090304" pitchFamily="18" charset="0"/>
                <a:ea typeface="宋体" pitchFamily="2" charset="-122"/>
                <a:cs typeface="+mn-cs"/>
              </a:rPr>
              <a:t>openGauss</a:t>
            </a:r>
            <a:r>
              <a:rPr kumimoji="1" lang="zh-CN" altLang="en-US" sz="1200" b="0" i="0" kern="1200" dirty="0">
                <a:solidFill>
                  <a:schemeClr val="tx1"/>
                </a:solidFill>
                <a:effectLst/>
                <a:latin typeface="Times New Roman" panose="02020503050405090304" pitchFamily="18" charset="0"/>
                <a:ea typeface="宋体" pitchFamily="2" charset="-122"/>
                <a:cs typeface="+mn-cs"/>
              </a:rPr>
              <a:t>中的“</a:t>
            </a:r>
            <a:r>
              <a:rPr kumimoji="1" lang="en-US" altLang="zh-CN" sz="1200" b="0" i="0" kern="1200" dirty="0">
                <a:solidFill>
                  <a:schemeClr val="tx1"/>
                </a:solidFill>
                <a:effectLst/>
                <a:latin typeface="Times New Roman" panose="02020503050405090304" pitchFamily="18" charset="0"/>
                <a:ea typeface="宋体" pitchFamily="2" charset="-122"/>
                <a:cs typeface="+mn-cs"/>
              </a:rPr>
              <a:t>Clog</a:t>
            </a:r>
            <a:r>
              <a:rPr kumimoji="1" lang="zh-CN" altLang="en-US" sz="1200" b="0" i="0" kern="1200" dirty="0">
                <a:solidFill>
                  <a:schemeClr val="tx1"/>
                </a:solidFill>
                <a:effectLst/>
                <a:latin typeface="Times New Roman" panose="02020503050405090304" pitchFamily="18" charset="0"/>
                <a:ea typeface="宋体" pitchFamily="2" charset="-122"/>
                <a:cs typeface="+mn-cs"/>
              </a:rPr>
              <a:t>、</a:t>
            </a:r>
            <a:r>
              <a:rPr kumimoji="1" lang="en-US" altLang="zh-CN" sz="1200" b="0" i="0" kern="1200" dirty="0">
                <a:solidFill>
                  <a:schemeClr val="tx1"/>
                </a:solidFill>
                <a:effectLst/>
                <a:latin typeface="Times New Roman" panose="02020503050405090304" pitchFamily="18" charset="0"/>
                <a:ea typeface="宋体" pitchFamily="2" charset="-122"/>
                <a:cs typeface="+mn-cs"/>
              </a:rPr>
              <a:t>WALInsert</a:t>
            </a:r>
            <a:r>
              <a:rPr kumimoji="1" lang="zh-CN" altLang="en-US" sz="1200" b="0" i="0" kern="1200" dirty="0">
                <a:solidFill>
                  <a:schemeClr val="tx1"/>
                </a:solidFill>
                <a:effectLst/>
                <a:latin typeface="Times New Roman" panose="02020503050405090304" pitchFamily="18" charset="0"/>
                <a:ea typeface="宋体" pitchFamily="2" charset="-122"/>
                <a:cs typeface="+mn-cs"/>
              </a:rPr>
              <a:t>、</a:t>
            </a:r>
            <a:r>
              <a:rPr kumimoji="1" lang="en-US" altLang="zh-CN" sz="1200" b="0" i="0" kern="1200" dirty="0">
                <a:solidFill>
                  <a:schemeClr val="tx1"/>
                </a:solidFill>
                <a:effectLst/>
                <a:latin typeface="Times New Roman" panose="02020503050405090304" pitchFamily="18" charset="0"/>
                <a:ea typeface="宋体" pitchFamily="2" charset="-122"/>
                <a:cs typeface="+mn-cs"/>
              </a:rPr>
              <a:t>WALWrite</a:t>
            </a:r>
            <a:r>
              <a:rPr kumimoji="1" lang="zh-CN" altLang="en-US" sz="1200" b="0" i="0" kern="1200" dirty="0">
                <a:solidFill>
                  <a:schemeClr val="tx1"/>
                </a:solidFill>
                <a:effectLst/>
                <a:latin typeface="Times New Roman" panose="02020503050405090304" pitchFamily="18" charset="0"/>
                <a:ea typeface="宋体" pitchFamily="2" charset="-122"/>
                <a:cs typeface="+mn-cs"/>
              </a:rPr>
              <a:t>、</a:t>
            </a:r>
            <a:r>
              <a:rPr kumimoji="1" lang="en-US" altLang="zh-CN" sz="1200" b="0" i="0" kern="1200" dirty="0">
                <a:solidFill>
                  <a:schemeClr val="tx1"/>
                </a:solidFill>
                <a:effectLst/>
                <a:latin typeface="Times New Roman" panose="02020503050405090304" pitchFamily="18" charset="0"/>
                <a:ea typeface="宋体" pitchFamily="2" charset="-122"/>
                <a:cs typeface="+mn-cs"/>
              </a:rPr>
              <a:t>ProcArray</a:t>
            </a:r>
            <a:r>
              <a:rPr kumimoji="1" lang="zh-CN" altLang="en-US" sz="1200" b="0" i="0" kern="1200" dirty="0">
                <a:solidFill>
                  <a:schemeClr val="tx1"/>
                </a:solidFill>
                <a:effectLst/>
                <a:latin typeface="Times New Roman" panose="02020503050405090304" pitchFamily="18" charset="0"/>
                <a:ea typeface="宋体" pitchFamily="2" charset="-122"/>
                <a:cs typeface="+mn-cs"/>
              </a:rPr>
              <a:t>、</a:t>
            </a:r>
            <a:r>
              <a:rPr kumimoji="1" lang="en-US" altLang="zh-CN" sz="1200" b="0" i="0" kern="1200" dirty="0">
                <a:solidFill>
                  <a:schemeClr val="tx1"/>
                </a:solidFill>
                <a:effectLst/>
                <a:latin typeface="Times New Roman" panose="02020503050405090304" pitchFamily="18" charset="0"/>
                <a:ea typeface="宋体" pitchFamily="2" charset="-122"/>
                <a:cs typeface="+mn-cs"/>
              </a:rPr>
              <a:t>XidGen”</a:t>
            </a:r>
            <a:r>
              <a:rPr kumimoji="1" lang="zh-CN" altLang="en-US" sz="1200" b="0" i="0" kern="1200" dirty="0">
                <a:solidFill>
                  <a:schemeClr val="tx1"/>
                </a:solidFill>
                <a:effectLst/>
                <a:latin typeface="Times New Roman" panose="02020503050405090304" pitchFamily="18" charset="0"/>
                <a:ea typeface="宋体" pitchFamily="2" charset="-122"/>
                <a:cs typeface="+mn-cs"/>
              </a:rPr>
              <a:t>这五种锁，这些锁是用来保护数据库服务器内核的数据控制结构，在一定程度上是性能问题的瓶颈。通过对</a:t>
            </a:r>
            <a:r>
              <a:rPr kumimoji="1" lang="en-US" altLang="zh-CN" sz="1200" b="0" i="0" kern="1200" dirty="0">
                <a:solidFill>
                  <a:schemeClr val="tx1"/>
                </a:solidFill>
                <a:effectLst/>
                <a:latin typeface="Times New Roman" panose="02020503050405090304" pitchFamily="18" charset="0"/>
                <a:ea typeface="宋体" pitchFamily="2" charset="-122"/>
                <a:cs typeface="+mn-cs"/>
              </a:rPr>
              <a:t>NUMA</a:t>
            </a:r>
            <a:r>
              <a:rPr kumimoji="1" lang="zh-CN" altLang="en-US" sz="1200" b="0" i="0" kern="1200" dirty="0">
                <a:solidFill>
                  <a:schemeClr val="tx1"/>
                </a:solidFill>
                <a:effectLst/>
                <a:latin typeface="Times New Roman" panose="02020503050405090304" pitchFamily="18" charset="0"/>
                <a:ea typeface="宋体" pitchFamily="2" charset="-122"/>
                <a:cs typeface="+mn-cs"/>
              </a:rPr>
              <a:t>架构的深度优化和运用，优化了</a:t>
            </a:r>
            <a:r>
              <a:rPr kumimoji="1" lang="en-US" altLang="zh-CN" sz="1200" b="0" i="0" kern="1200" dirty="0">
                <a:solidFill>
                  <a:schemeClr val="tx1"/>
                </a:solidFill>
                <a:effectLst/>
                <a:latin typeface="Times New Roman" panose="02020503050405090304" pitchFamily="18" charset="0"/>
                <a:ea typeface="宋体" pitchFamily="2" charset="-122"/>
                <a:cs typeface="+mn-cs"/>
              </a:rPr>
              <a:t>openGauss</a:t>
            </a:r>
            <a:r>
              <a:rPr kumimoji="1" lang="zh-CN" altLang="en-US" sz="1200" b="0" i="0" kern="1200" dirty="0">
                <a:solidFill>
                  <a:schemeClr val="tx1"/>
                </a:solidFill>
                <a:effectLst/>
                <a:latin typeface="Times New Roman" panose="02020503050405090304" pitchFamily="18" charset="0"/>
                <a:ea typeface="宋体" pitchFamily="2" charset="-122"/>
                <a:cs typeface="+mn-cs"/>
              </a:rPr>
              <a:t>内部多核间并发问题。</a:t>
            </a:r>
            <a:endParaRPr lang="zh-CN" altLang="en-US" dirty="0"/>
          </a:p>
          <a:p>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z="1100" dirty="0">
                <a:sym typeface="Calibri"/>
              </a:rPr>
              <a:t>多样性算力下首先企业级开源数据库，多样性算力（鲲鹏，</a:t>
            </a:r>
            <a:r>
              <a:rPr lang="en-US" altLang="zh-CN" sz="1100" dirty="0">
                <a:sym typeface="Calibri"/>
              </a:rPr>
              <a:t>X86</a:t>
            </a:r>
            <a:r>
              <a:rPr lang="zh-CN" altLang="en-US" sz="1100" dirty="0">
                <a:sym typeface="Calibri"/>
              </a:rPr>
              <a:t>）</a:t>
            </a:r>
            <a:endParaRPr lang="en-US" altLang="zh-CN" sz="1100" dirty="0">
              <a:sym typeface="Calibri"/>
            </a:endParaRPr>
          </a:p>
          <a:p>
            <a:r>
              <a:rPr kumimoji="1" lang="en-US" altLang="zh-CN" sz="1200" b="0" i="0" kern="1200" dirty="0">
                <a:solidFill>
                  <a:schemeClr val="tx1"/>
                </a:solidFill>
                <a:effectLst/>
                <a:latin typeface="Times New Roman" panose="02020503050405090304" pitchFamily="18" charset="0"/>
                <a:ea typeface="宋体" pitchFamily="2" charset="-122"/>
                <a:cs typeface="+mn-cs"/>
              </a:rPr>
              <a:t>TPC</a:t>
            </a:r>
            <a:r>
              <a:rPr kumimoji="1" lang="zh-CN" altLang="en-US" sz="1200" b="0" i="0" kern="1200" dirty="0">
                <a:solidFill>
                  <a:schemeClr val="tx1"/>
                </a:solidFill>
                <a:effectLst/>
                <a:latin typeface="Times New Roman" panose="02020503050405090304" pitchFamily="18" charset="0"/>
                <a:ea typeface="宋体" pitchFamily="2" charset="-122"/>
                <a:cs typeface="+mn-cs"/>
              </a:rPr>
              <a:t>－</a:t>
            </a:r>
            <a:r>
              <a:rPr kumimoji="1" lang="en-US" altLang="zh-CN" sz="1200" b="0" i="0" kern="1200" dirty="0">
                <a:solidFill>
                  <a:schemeClr val="tx1"/>
                </a:solidFill>
                <a:effectLst/>
                <a:latin typeface="Times New Roman" panose="02020503050405090304" pitchFamily="18" charset="0"/>
                <a:ea typeface="宋体" pitchFamily="2" charset="-122"/>
                <a:cs typeface="+mn-cs"/>
              </a:rPr>
              <a:t>C</a:t>
            </a:r>
            <a:r>
              <a:rPr kumimoji="1" lang="zh-CN" altLang="en-US" sz="1200" b="0" i="0" kern="1200" dirty="0">
                <a:solidFill>
                  <a:schemeClr val="tx1"/>
                </a:solidFill>
                <a:effectLst/>
                <a:latin typeface="Times New Roman" panose="02020503050405090304" pitchFamily="18" charset="0"/>
                <a:ea typeface="宋体" pitchFamily="2" charset="-122"/>
                <a:cs typeface="+mn-cs"/>
              </a:rPr>
              <a:t>使用三种性能 和价格度量，其中性能由</a:t>
            </a:r>
            <a:r>
              <a:rPr kumimoji="1" lang="en-US" altLang="zh-CN" sz="1200" b="0" i="0" kern="1200" dirty="0">
                <a:solidFill>
                  <a:schemeClr val="tx1"/>
                </a:solidFill>
                <a:effectLst/>
                <a:latin typeface="Times New Roman" panose="02020503050405090304" pitchFamily="18" charset="0"/>
                <a:ea typeface="宋体" pitchFamily="2" charset="-122"/>
                <a:cs typeface="+mn-cs"/>
              </a:rPr>
              <a:t>TPC</a:t>
            </a:r>
            <a:r>
              <a:rPr kumimoji="1" lang="zh-CN" altLang="en-US" sz="1200" b="0" i="0" kern="1200" dirty="0">
                <a:solidFill>
                  <a:schemeClr val="tx1"/>
                </a:solidFill>
                <a:effectLst/>
                <a:latin typeface="Times New Roman" panose="02020503050405090304" pitchFamily="18" charset="0"/>
                <a:ea typeface="宋体" pitchFamily="2" charset="-122"/>
                <a:cs typeface="+mn-cs"/>
              </a:rPr>
              <a:t>－</a:t>
            </a:r>
            <a:r>
              <a:rPr kumimoji="1" lang="en-US" altLang="zh-CN" sz="1200" b="0" i="0" kern="1200" dirty="0">
                <a:solidFill>
                  <a:schemeClr val="tx1"/>
                </a:solidFill>
                <a:effectLst/>
                <a:latin typeface="Times New Roman" panose="02020503050405090304" pitchFamily="18" charset="0"/>
                <a:ea typeface="宋体" pitchFamily="2" charset="-122"/>
                <a:cs typeface="+mn-cs"/>
              </a:rPr>
              <a:t>C</a:t>
            </a:r>
            <a:r>
              <a:rPr kumimoji="1" lang="zh-CN" altLang="en-US" sz="1200" b="0" i="0" kern="1200" dirty="0">
                <a:solidFill>
                  <a:schemeClr val="tx1"/>
                </a:solidFill>
                <a:effectLst/>
                <a:latin typeface="Times New Roman" panose="02020503050405090304" pitchFamily="18" charset="0"/>
                <a:ea typeface="宋体" pitchFamily="2" charset="-122"/>
                <a:cs typeface="+mn-cs"/>
              </a:rPr>
              <a:t>吞吐率衡量，单位是</a:t>
            </a:r>
            <a:r>
              <a:rPr kumimoji="1" lang="en-US" altLang="zh-CN" sz="1200" b="0" i="0" kern="1200" dirty="0" err="1">
                <a:solidFill>
                  <a:schemeClr val="tx1"/>
                </a:solidFill>
                <a:effectLst/>
                <a:latin typeface="Times New Roman" panose="02020503050405090304" pitchFamily="18" charset="0"/>
                <a:ea typeface="宋体" pitchFamily="2" charset="-122"/>
                <a:cs typeface="+mn-cs"/>
              </a:rPr>
              <a:t>tpmC</a:t>
            </a:r>
            <a:r>
              <a:rPr kumimoji="1" lang="zh-CN" altLang="en-US" sz="1200" b="0" i="0" kern="1200" dirty="0">
                <a:solidFill>
                  <a:schemeClr val="tx1"/>
                </a:solidFill>
                <a:effectLst/>
                <a:latin typeface="Times New Roman" panose="02020503050405090304" pitchFamily="18" charset="0"/>
                <a:ea typeface="宋体" pitchFamily="2" charset="-122"/>
                <a:cs typeface="+mn-cs"/>
              </a:rPr>
              <a:t>。</a:t>
            </a:r>
            <a:r>
              <a:rPr kumimoji="1" lang="en-US" altLang="zh-CN" sz="1200" b="0" i="0" kern="1200" dirty="0" err="1">
                <a:solidFill>
                  <a:schemeClr val="tx1"/>
                </a:solidFill>
                <a:effectLst/>
                <a:latin typeface="Times New Roman" panose="02020503050405090304" pitchFamily="18" charset="0"/>
                <a:ea typeface="宋体" pitchFamily="2" charset="-122"/>
                <a:cs typeface="+mn-cs"/>
              </a:rPr>
              <a:t>tpm</a:t>
            </a:r>
            <a:r>
              <a:rPr kumimoji="1" lang="zh-CN" altLang="en-US" sz="1200" b="0" i="0" kern="1200" dirty="0">
                <a:solidFill>
                  <a:schemeClr val="tx1"/>
                </a:solidFill>
                <a:effectLst/>
                <a:latin typeface="Times New Roman" panose="02020503050405090304" pitchFamily="18" charset="0"/>
                <a:ea typeface="宋体" pitchFamily="2" charset="-122"/>
                <a:cs typeface="+mn-cs"/>
              </a:rPr>
              <a:t>是</a:t>
            </a:r>
            <a:r>
              <a:rPr kumimoji="1" lang="en-US" altLang="zh-CN" sz="1200" b="0" i="0" kern="1200" dirty="0">
                <a:solidFill>
                  <a:schemeClr val="tx1"/>
                </a:solidFill>
                <a:effectLst/>
                <a:latin typeface="Times New Roman" panose="02020503050405090304" pitchFamily="18" charset="0"/>
                <a:ea typeface="宋体" pitchFamily="2" charset="-122"/>
                <a:cs typeface="+mn-cs"/>
              </a:rPr>
              <a:t>transactions per minute</a:t>
            </a:r>
            <a:r>
              <a:rPr kumimoji="1" lang="zh-CN" altLang="en-US" sz="1200" b="0" i="0" kern="1200" dirty="0">
                <a:solidFill>
                  <a:schemeClr val="tx1"/>
                </a:solidFill>
                <a:effectLst/>
                <a:latin typeface="Times New Roman" panose="02020503050405090304" pitchFamily="18" charset="0"/>
                <a:ea typeface="宋体" pitchFamily="2" charset="-122"/>
                <a:cs typeface="+mn-cs"/>
              </a:rPr>
              <a:t>的简称；</a:t>
            </a:r>
            <a:r>
              <a:rPr kumimoji="1" lang="en-US" altLang="zh-CN" sz="1200" b="0" i="0" kern="1200" dirty="0">
                <a:solidFill>
                  <a:schemeClr val="tx1"/>
                </a:solidFill>
                <a:effectLst/>
                <a:latin typeface="Times New Roman" panose="02020503050405090304" pitchFamily="18" charset="0"/>
                <a:ea typeface="宋体" pitchFamily="2" charset="-122"/>
                <a:cs typeface="+mn-cs"/>
              </a:rPr>
              <a:t>C</a:t>
            </a:r>
            <a:r>
              <a:rPr kumimoji="1" lang="zh-CN" altLang="en-US" sz="1200" b="0" i="0" kern="1200" dirty="0">
                <a:solidFill>
                  <a:schemeClr val="tx1"/>
                </a:solidFill>
                <a:effectLst/>
                <a:latin typeface="Times New Roman" panose="02020503050405090304" pitchFamily="18" charset="0"/>
                <a:ea typeface="宋体" pitchFamily="2" charset="-122"/>
                <a:cs typeface="+mn-cs"/>
              </a:rPr>
              <a:t>指</a:t>
            </a:r>
            <a:r>
              <a:rPr kumimoji="1" lang="en-US" altLang="zh-CN" sz="1200" b="0" i="0" kern="1200" dirty="0">
                <a:solidFill>
                  <a:schemeClr val="tx1"/>
                </a:solidFill>
                <a:effectLst/>
                <a:latin typeface="Times New Roman" panose="02020503050405090304" pitchFamily="18" charset="0"/>
                <a:ea typeface="宋体" pitchFamily="2" charset="-122"/>
                <a:cs typeface="+mn-cs"/>
              </a:rPr>
              <a:t>TPC</a:t>
            </a:r>
            <a:r>
              <a:rPr kumimoji="1" lang="zh-CN" altLang="en-US" sz="1200" b="0" i="0" kern="1200" dirty="0">
                <a:solidFill>
                  <a:schemeClr val="tx1"/>
                </a:solidFill>
                <a:effectLst/>
                <a:latin typeface="Times New Roman" panose="02020503050405090304" pitchFamily="18" charset="0"/>
                <a:ea typeface="宋体" pitchFamily="2" charset="-122"/>
                <a:cs typeface="+mn-cs"/>
              </a:rPr>
              <a:t>中的</a:t>
            </a:r>
            <a:r>
              <a:rPr kumimoji="1" lang="en-US" altLang="zh-CN" sz="1200" b="0" i="0" kern="1200" dirty="0">
                <a:solidFill>
                  <a:schemeClr val="tx1"/>
                </a:solidFill>
                <a:effectLst/>
                <a:latin typeface="Times New Roman" panose="02020503050405090304" pitchFamily="18" charset="0"/>
                <a:ea typeface="宋体" pitchFamily="2" charset="-122"/>
                <a:cs typeface="+mn-cs"/>
              </a:rPr>
              <a:t>C</a:t>
            </a:r>
            <a:r>
              <a:rPr kumimoji="1" lang="zh-CN" altLang="en-US" sz="1200" b="0" i="0" kern="1200" dirty="0">
                <a:solidFill>
                  <a:schemeClr val="tx1"/>
                </a:solidFill>
                <a:effectLst/>
                <a:latin typeface="Times New Roman" panose="02020503050405090304" pitchFamily="18" charset="0"/>
                <a:ea typeface="宋体" pitchFamily="2" charset="-122"/>
                <a:cs typeface="+mn-cs"/>
              </a:rPr>
              <a:t>基准程序。</a:t>
            </a:r>
            <a:endParaRPr lang="en-US" altLang="zh-CN" sz="1100" dirty="0">
              <a:sym typeface="Calibri"/>
            </a:endParaRPr>
          </a:p>
          <a:p>
            <a:r>
              <a:rPr lang="en-US" altLang="zh-CN" sz="1100" dirty="0">
                <a:sym typeface="Calibri"/>
              </a:rPr>
              <a:t>RTO</a:t>
            </a:r>
            <a:r>
              <a:rPr lang="zh-CN" altLang="en-US" sz="1100" dirty="0">
                <a:sym typeface="Calibri"/>
              </a:rPr>
              <a:t>恢复时间目标</a:t>
            </a:r>
            <a:endParaRPr lang="en-US" altLang="zh-CN" sz="1100" dirty="0">
              <a:sym typeface="Calibri"/>
            </a:endParaRPr>
          </a:p>
          <a:p>
            <a:r>
              <a:rPr lang="en-US" altLang="zh-CN" sz="1100" dirty="0">
                <a:sym typeface="Calibri"/>
              </a:rPr>
              <a:t>RPO</a:t>
            </a:r>
            <a:r>
              <a:rPr lang="zh-CN" altLang="en-US" sz="1100" dirty="0">
                <a:sym typeface="Calibri"/>
              </a:rPr>
              <a:t>恢复点目标</a:t>
            </a:r>
            <a:endParaRPr lang="en-US" altLang="zh-CN" sz="1100" dirty="0">
              <a:sym typeface="Calibri"/>
            </a:endParaRPr>
          </a:p>
        </p:txBody>
      </p:sp>
      <p:sp>
        <p:nvSpPr>
          <p:cNvPr id="5" name="幻灯片图像占位符 4"/>
          <p:cNvSpPr>
            <a:spLocks noGrp="1" noRot="1" noChangeAspect="1"/>
          </p:cNvSpPr>
          <p:nvPr>
            <p:ph type="sldImg"/>
          </p:nvPr>
        </p:nvSpPr>
        <p:spPr>
          <a:xfrm>
            <a:off x="1438275" y="717550"/>
            <a:ext cx="4167188" cy="3125788"/>
          </a:xfr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dirty="0"/>
              <a:t>数据库</a:t>
            </a:r>
            <a:r>
              <a:rPr lang="zh-CN" altLang="zh-CN" dirty="0"/>
              <a:t>云服务</a:t>
            </a:r>
            <a:r>
              <a:rPr lang="zh-CN" altLang="en-US" dirty="0"/>
              <a:t>市场增长迅速，传统线下数据库增长乏力</a:t>
            </a:r>
            <a:endParaRPr lang="zh-CN" altLang="en-US" dirty="0"/>
          </a:p>
          <a:p>
            <a:endParaRPr lang="zh-CN" altLang="en-US" dirty="0"/>
          </a:p>
        </p:txBody>
      </p:sp>
      <p:sp>
        <p:nvSpPr>
          <p:cNvPr id="5" name="幻灯片图像占位符 4"/>
          <p:cNvSpPr>
            <a:spLocks noGrp="1" noRot="1" noChangeAspect="1"/>
          </p:cNvSpPr>
          <p:nvPr>
            <p:ph type="sldImg"/>
          </p:nvPr>
        </p:nvSpPr>
        <p:spPr>
          <a:xfrm>
            <a:off x="1438275" y="717550"/>
            <a:ext cx="4167188" cy="3125788"/>
          </a:xfr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dirty="0"/>
              <a:t>数据库</a:t>
            </a:r>
            <a:r>
              <a:rPr lang="zh-CN" altLang="zh-CN" dirty="0"/>
              <a:t>云服务</a:t>
            </a:r>
            <a:r>
              <a:rPr lang="zh-CN" altLang="en-US" dirty="0"/>
              <a:t>市场增长迅速，传统线下数据库增长乏力</a:t>
            </a:r>
            <a:endParaRPr lang="zh-CN" altLang="en-US" dirty="0"/>
          </a:p>
          <a:p>
            <a:endParaRPr lang="zh-CN" altLang="en-US" dirty="0"/>
          </a:p>
        </p:txBody>
      </p:sp>
      <p:sp>
        <p:nvSpPr>
          <p:cNvPr id="5" name="幻灯片图像占位符 4"/>
          <p:cNvSpPr>
            <a:spLocks noGrp="1" noRot="1" noChangeAspect="1"/>
          </p:cNvSpPr>
          <p:nvPr>
            <p:ph type="sldImg"/>
          </p:nvPr>
        </p:nvSpPr>
        <p:spPr>
          <a:xfrm>
            <a:off x="1438275" y="717550"/>
            <a:ext cx="4167188" cy="3125788"/>
          </a:xfr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a:t>GaussDB</a:t>
            </a:r>
            <a:r>
              <a:rPr lang="zh-CN" altLang="en-US" dirty="0"/>
              <a:t>数据库升级为全场景云服务，依托华为云与云</a:t>
            </a:r>
            <a:r>
              <a:rPr lang="en-US" altLang="zh-CN" dirty="0"/>
              <a:t>Stack</a:t>
            </a:r>
            <a:r>
              <a:rPr lang="zh-CN" altLang="en-US" dirty="0"/>
              <a:t>，持续服务客户</a:t>
            </a:r>
            <a:endParaRPr lang="en-US" altLang="zh-CN" dirty="0"/>
          </a:p>
          <a:p>
            <a:endParaRPr lang="en-US" altLang="zh-CN" dirty="0"/>
          </a:p>
          <a:p>
            <a:pPr marL="0" marR="0" lvl="0" indent="0" algn="l" defTabSz="914400" rtl="0" eaLnBrk="1" fontAlgn="auto" latinLnBrk="0" hangingPunct="1">
              <a:lnSpc>
                <a:spcPct val="100000"/>
              </a:lnSpc>
              <a:spcBef>
                <a:spcPts val="0"/>
              </a:spcBef>
              <a:spcAft>
                <a:spcPts val="0"/>
              </a:spcAft>
              <a:buClrTx/>
              <a:buSzTx/>
              <a:buFont typeface="Arial" panose="020B0604020202090204" pitchFamily="34" charset="0"/>
              <a:buNone/>
              <a:defRPr/>
            </a:pPr>
            <a:r>
              <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学习</a:t>
            </a:r>
            <a:r>
              <a:rPr kumimoji="0" lang="en-US" altLang="zh-CN" sz="12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GuassDB</a:t>
            </a:r>
            <a:r>
              <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与时俱进、勇于开拓云服务技术、全场景服务技术的进取精神，再次激励自己</a:t>
            </a:r>
            <a:r>
              <a:rPr lang="zh-CN" altLang="en-US" dirty="0"/>
              <a:t>勇攀高峰、精益求精的责任感、使命感、大国工匠精神</a:t>
            </a:r>
            <a:endParaRPr lang="zh-CN" altLang="en-US" dirty="0"/>
          </a:p>
          <a:p>
            <a:endParaRPr lang="zh-CN" altLang="en-US" dirty="0"/>
          </a:p>
          <a:p>
            <a:endParaRPr lang="zh-CN" altLang="en-US" dirty="0"/>
          </a:p>
        </p:txBody>
      </p:sp>
      <p:sp>
        <p:nvSpPr>
          <p:cNvPr id="5" name="幻灯片图像占位符 4"/>
          <p:cNvSpPr>
            <a:spLocks noGrp="1" noRot="1" noChangeAspect="1"/>
          </p:cNvSpPr>
          <p:nvPr>
            <p:ph type="sldImg"/>
          </p:nvPr>
        </p:nvSpPr>
        <p:spPr>
          <a:xfrm>
            <a:off x="1438275" y="717550"/>
            <a:ext cx="4167188" cy="3125788"/>
          </a:xfr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844D3E43-1D8B-4F51-BA77-0B67D9B321CC}" type="slidenum">
              <a:rPr lang="en-US" altLang="zh-CN" smtClean="0"/>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844D3E43-1D8B-4F51-BA77-0B67D9B321CC}" type="slidenum">
              <a:rPr lang="en-US" altLang="zh-CN"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themeOverride" Target="../theme/themeOverride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themeOverride" Target="../theme/themeOverride2.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Ref idx="1002">
        <a:schemeClr val="bg2"/>
      </p:bgRef>
    </p:bg>
    <p:spTree>
      <p:nvGrpSpPr>
        <p:cNvPr id="1" name=""/>
        <p:cNvGrpSpPr/>
        <p:nvPr/>
      </p:nvGrpSpPr>
      <p:grpSpPr>
        <a:xfrm>
          <a:off x="0" y="0"/>
          <a:ext cx="0" cy="0"/>
          <a:chOff x="0" y="0"/>
          <a:chExt cx="0" cy="0"/>
        </a:xfrm>
      </p:grpSpPr>
      <p:sp>
        <p:nvSpPr>
          <p:cNvPr id="9" name="标题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a:t>单击此处编辑母版标题样式</a:t>
            </a:r>
            <a:endParaRPr lang="en-US"/>
          </a:p>
        </p:txBody>
      </p:sp>
      <p:sp>
        <p:nvSpPr>
          <p:cNvPr id="17" name="副标题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a:t>单击此处编辑母版副标题样式</a:t>
            </a:r>
            <a:endParaRPr lang="en-US"/>
          </a:p>
        </p:txBody>
      </p:sp>
      <p:sp>
        <p:nvSpPr>
          <p:cNvPr id="4" name="日期占位符 29"/>
          <p:cNvSpPr>
            <a:spLocks noGrp="1"/>
          </p:cNvSpPr>
          <p:nvPr>
            <p:ph type="dt" sz="half" idx="10"/>
          </p:nvPr>
        </p:nvSpPr>
        <p:spPr/>
        <p:txBody>
          <a:bodyPr/>
          <a:lstStyle>
            <a:lvl1pPr>
              <a:defRPr/>
            </a:lvl1pPr>
          </a:lstStyle>
          <a:p>
            <a:pPr>
              <a:defRPr/>
            </a:pPr>
            <a:endParaRPr lang="en-US" altLang="zh-CN"/>
          </a:p>
        </p:txBody>
      </p:sp>
      <p:sp>
        <p:nvSpPr>
          <p:cNvPr id="5" name="页脚占位符 18"/>
          <p:cNvSpPr>
            <a:spLocks noGrp="1"/>
          </p:cNvSpPr>
          <p:nvPr>
            <p:ph type="ftr" sz="quarter" idx="11"/>
          </p:nvPr>
        </p:nvSpPr>
        <p:spPr/>
        <p:txBody>
          <a:bodyPr/>
          <a:lstStyle>
            <a:lvl1pPr>
              <a:defRPr/>
            </a:lvl1pPr>
          </a:lstStyle>
          <a:p>
            <a:pPr>
              <a:defRPr/>
            </a:pPr>
            <a:endParaRPr lang="en-US" altLang="zh-CN"/>
          </a:p>
        </p:txBody>
      </p:sp>
      <p:sp>
        <p:nvSpPr>
          <p:cNvPr id="6" name="灯片编号占位符 26"/>
          <p:cNvSpPr>
            <a:spLocks noGrp="1"/>
          </p:cNvSpPr>
          <p:nvPr>
            <p:ph type="sldNum" sz="quarter" idx="12"/>
          </p:nvPr>
        </p:nvSpPr>
        <p:spPr/>
        <p:txBody>
          <a:bodyPr/>
          <a:lstStyle>
            <a:lvl1pPr>
              <a:defRPr/>
            </a:lvl1pPr>
          </a:lstStyle>
          <a:p>
            <a:pPr>
              <a:defRPr/>
            </a:pPr>
            <a:fld id="{AF4A019B-DBA2-4FAB-8895-A8FED0098A5F}" type="slidenum">
              <a:rPr lang="en-US" altLang="zh-CN"/>
            </a:fld>
            <a:endParaRPr lang="en-US" altLang="zh-CN"/>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TextBox 3"/>
          <p:cNvSpPr txBox="1"/>
          <p:nvPr userDrawn="1"/>
        </p:nvSpPr>
        <p:spPr>
          <a:xfrm>
            <a:off x="5438775" y="0"/>
            <a:ext cx="3705225" cy="461963"/>
          </a:xfrm>
          <a:prstGeom prst="rect">
            <a:avLst/>
          </a:prstGeom>
          <a:noFill/>
        </p:spPr>
        <p:txBody>
          <a:bodyPr wrap="none">
            <a:spAutoFit/>
          </a:bodyPr>
          <a:lstStyle>
            <a:defPPr>
              <a:defRPr lang="zh-CN"/>
            </a:defPPr>
            <a:lvl1pPr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1pPr>
            <a:lvl2pPr marL="4572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2pPr>
            <a:lvl3pPr marL="9144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3pPr>
            <a:lvl4pPr marL="13716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4pPr>
            <a:lvl5pPr marL="18288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9pPr>
          </a:lstStyle>
          <a:p>
            <a:pPr>
              <a:defRPr/>
            </a:pPr>
            <a:r>
              <a:rPr lang="en-US" altLang="zh-CN" i="1" dirty="0">
                <a:solidFill>
                  <a:srgbClr val="66CCFF"/>
                </a:solidFill>
                <a:effectLst>
                  <a:outerShdw blurRad="38100" dist="38100" dir="2700000" algn="tl">
                    <a:srgbClr val="000000">
                      <a:alpha val="43137"/>
                    </a:srgbClr>
                  </a:outerShdw>
                </a:effectLst>
              </a:rPr>
              <a:t>HUST-CS      PANPENG</a:t>
            </a:r>
            <a:endParaRPr lang="zh-CN" altLang="en-US" i="1" dirty="0">
              <a:solidFill>
                <a:srgbClr val="66CCFF"/>
              </a:solidFill>
              <a:effectLst>
                <a:outerShdw blurRad="38100" dist="38100" dir="2700000" algn="tl">
                  <a:srgbClr val="000000">
                    <a:alpha val="43137"/>
                  </a:srgbClr>
                </a:outerShdw>
              </a:effectLst>
            </a:endParaRPr>
          </a:p>
        </p:txBody>
      </p:sp>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idx="1"/>
          </p:nvPr>
        </p:nvSpPr>
        <p:spPr/>
        <p:txBody>
          <a:bodyPr/>
          <a:lstStyle>
            <a:lvl1pPr>
              <a:lnSpc>
                <a:spcPct val="120000"/>
              </a:lnSpc>
              <a:defRPr/>
            </a:lvl1pPr>
            <a:lvl2pPr>
              <a:lnSpc>
                <a:spcPct val="120000"/>
              </a:lnSpc>
              <a:defRPr/>
            </a:lvl2pPr>
            <a:lvl3pPr>
              <a:lnSpc>
                <a:spcPct val="120000"/>
              </a:lnSpc>
              <a:defRPr/>
            </a:lvl3pPr>
            <a:lvl4pPr>
              <a:lnSpc>
                <a:spcPct val="120000"/>
              </a:lnSpc>
              <a:defRPr/>
            </a:lvl4pPr>
            <a:lvl5pPr>
              <a:lnSpc>
                <a:spcPct val="120000"/>
              </a:lnSpc>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5" name="日期占位符 9"/>
          <p:cNvSpPr>
            <a:spLocks noGrp="1"/>
          </p:cNvSpPr>
          <p:nvPr>
            <p:ph type="dt" sz="half" idx="10"/>
          </p:nvPr>
        </p:nvSpPr>
        <p:spPr/>
        <p:txBody>
          <a:bodyPr/>
          <a:lstStyle>
            <a:lvl1pPr>
              <a:defRPr/>
            </a:lvl1pPr>
          </a:lstStyle>
          <a:p>
            <a:pPr>
              <a:defRPr/>
            </a:pPr>
            <a:endParaRPr lang="en-US" altLang="zh-CN"/>
          </a:p>
        </p:txBody>
      </p:sp>
      <p:sp>
        <p:nvSpPr>
          <p:cNvPr id="6" name="页脚占位符 21"/>
          <p:cNvSpPr>
            <a:spLocks noGrp="1"/>
          </p:cNvSpPr>
          <p:nvPr>
            <p:ph type="ftr" sz="quarter" idx="11"/>
          </p:nvPr>
        </p:nvSpPr>
        <p:spPr/>
        <p:txBody>
          <a:bodyPr/>
          <a:lstStyle>
            <a:lvl1pPr>
              <a:defRPr/>
            </a:lvl1pPr>
          </a:lstStyle>
          <a:p>
            <a:pPr>
              <a:defRPr/>
            </a:pPr>
            <a:endParaRPr lang="en-US" altLang="zh-CN"/>
          </a:p>
        </p:txBody>
      </p:sp>
      <p:sp>
        <p:nvSpPr>
          <p:cNvPr id="7" name="灯片编号占位符 17"/>
          <p:cNvSpPr>
            <a:spLocks noGrp="1"/>
          </p:cNvSpPr>
          <p:nvPr>
            <p:ph type="sldNum" sz="quarter" idx="12"/>
          </p:nvPr>
        </p:nvSpPr>
        <p:spPr/>
        <p:txBody>
          <a:bodyPr/>
          <a:lstStyle>
            <a:lvl1pPr>
              <a:defRPr/>
            </a:lvl1pPr>
          </a:lstStyle>
          <a:p>
            <a:pPr>
              <a:defRPr/>
            </a:pPr>
            <a:fld id="{CFA1E52B-4C93-4B76-9495-20A0E949F63E}" type="slidenum">
              <a:rPr lang="en-US" altLang="zh-CN"/>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Ref idx="1002">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a:t>单击此处编辑母版标题样式</a:t>
            </a:r>
            <a:endParaRPr lang="en-US"/>
          </a:p>
        </p:txBody>
      </p:sp>
      <p:sp>
        <p:nvSpPr>
          <p:cNvPr id="3" name="文本占位符 2"/>
          <p:cNvSpPr>
            <a:spLocks noGrp="1"/>
          </p:cNvSpPr>
          <p:nvPr>
            <p:ph type="body" idx="1"/>
          </p:nvPr>
        </p:nvSpPr>
        <p:spPr>
          <a:xfrm>
            <a:off x="530352" y="2704664"/>
            <a:ext cx="77724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C532E6E3-8304-4415-93AC-C4968BB046D8}" type="slidenum">
              <a:rPr lang="en-US" altLang="zh-CN"/>
            </a:fld>
            <a:endParaRPr lang="en-US" altLang="zh-CN"/>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a:lstStyle/>
          <a:p>
            <a:r>
              <a:rPr lang="zh-CN" altLang="en-US"/>
              <a:t>单击此处编辑母版标题样式</a:t>
            </a:r>
            <a:endParaRPr lang="en-US"/>
          </a:p>
        </p:txBody>
      </p:sp>
      <p:sp>
        <p:nvSpPr>
          <p:cNvPr id="3" name="内容占位符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内容占位符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5" name="日期占位符 9"/>
          <p:cNvSpPr>
            <a:spLocks noGrp="1"/>
          </p:cNvSpPr>
          <p:nvPr>
            <p:ph type="dt" sz="half" idx="10"/>
          </p:nvPr>
        </p:nvSpPr>
        <p:spPr/>
        <p:txBody>
          <a:bodyPr/>
          <a:lstStyle>
            <a:lvl1pPr>
              <a:defRPr/>
            </a:lvl1pPr>
          </a:lstStyle>
          <a:p>
            <a:pPr>
              <a:defRPr/>
            </a:pPr>
            <a:endParaRPr lang="en-US" altLang="zh-CN"/>
          </a:p>
        </p:txBody>
      </p:sp>
      <p:sp>
        <p:nvSpPr>
          <p:cNvPr id="6" name="页脚占位符 21"/>
          <p:cNvSpPr>
            <a:spLocks noGrp="1"/>
          </p:cNvSpPr>
          <p:nvPr>
            <p:ph type="ftr" sz="quarter" idx="11"/>
          </p:nvPr>
        </p:nvSpPr>
        <p:spPr/>
        <p:txBody>
          <a:bodyPr/>
          <a:lstStyle>
            <a:lvl1pPr>
              <a:defRPr/>
            </a:lvl1pPr>
          </a:lstStyle>
          <a:p>
            <a:pPr>
              <a:defRPr/>
            </a:pPr>
            <a:endParaRPr lang="en-US" altLang="zh-CN"/>
          </a:p>
        </p:txBody>
      </p:sp>
      <p:sp>
        <p:nvSpPr>
          <p:cNvPr id="7" name="灯片编号占位符 17"/>
          <p:cNvSpPr>
            <a:spLocks noGrp="1"/>
          </p:cNvSpPr>
          <p:nvPr>
            <p:ph type="sldNum" sz="quarter" idx="12"/>
          </p:nvPr>
        </p:nvSpPr>
        <p:spPr/>
        <p:txBody>
          <a:bodyPr/>
          <a:lstStyle>
            <a:lvl1pPr>
              <a:defRPr/>
            </a:lvl1pPr>
          </a:lstStyle>
          <a:p>
            <a:pPr>
              <a:defRPr/>
            </a:pPr>
            <a:fld id="{DAEDE4A4-974D-43E0-B556-BA3EB635EA92}"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a:lstStyle>
            <a:lvl1pPr>
              <a:defRPr/>
            </a:lvl1pPr>
          </a:lstStyle>
          <a:p>
            <a:r>
              <a:rPr lang="zh-CN" altLang="en-US"/>
              <a:t>单击此处编辑母版标题样式</a:t>
            </a:r>
            <a:endParaRPr lang="en-US"/>
          </a:p>
        </p:txBody>
      </p:sp>
      <p:sp>
        <p:nvSpPr>
          <p:cNvPr id="3" name="文本占位符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endParaRPr lang="zh-CN" altLang="en-US"/>
          </a:p>
        </p:txBody>
      </p:sp>
      <p:sp>
        <p:nvSpPr>
          <p:cNvPr id="4" name="文本占位符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endParaRPr lang="zh-CN" altLang="en-US"/>
          </a:p>
        </p:txBody>
      </p:sp>
      <p:sp>
        <p:nvSpPr>
          <p:cNvPr id="5" name="内容占位符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6" name="内容占位符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7" name="日期占位符 9"/>
          <p:cNvSpPr>
            <a:spLocks noGrp="1"/>
          </p:cNvSpPr>
          <p:nvPr>
            <p:ph type="dt" sz="half" idx="10"/>
          </p:nvPr>
        </p:nvSpPr>
        <p:spPr/>
        <p:txBody>
          <a:bodyPr/>
          <a:lstStyle>
            <a:lvl1pPr>
              <a:defRPr/>
            </a:lvl1pPr>
          </a:lstStyle>
          <a:p>
            <a:pPr>
              <a:defRPr/>
            </a:pPr>
            <a:endParaRPr lang="en-US" altLang="zh-CN"/>
          </a:p>
        </p:txBody>
      </p:sp>
      <p:sp>
        <p:nvSpPr>
          <p:cNvPr id="8" name="页脚占位符 21"/>
          <p:cNvSpPr>
            <a:spLocks noGrp="1"/>
          </p:cNvSpPr>
          <p:nvPr>
            <p:ph type="ftr" sz="quarter" idx="11"/>
          </p:nvPr>
        </p:nvSpPr>
        <p:spPr/>
        <p:txBody>
          <a:bodyPr/>
          <a:lstStyle>
            <a:lvl1pPr>
              <a:defRPr/>
            </a:lvl1pPr>
          </a:lstStyle>
          <a:p>
            <a:pPr>
              <a:defRPr/>
            </a:pPr>
            <a:endParaRPr lang="en-US" altLang="zh-CN"/>
          </a:p>
        </p:txBody>
      </p:sp>
      <p:sp>
        <p:nvSpPr>
          <p:cNvPr id="9" name="灯片编号占位符 17"/>
          <p:cNvSpPr>
            <a:spLocks noGrp="1"/>
          </p:cNvSpPr>
          <p:nvPr>
            <p:ph type="sldNum" sz="quarter" idx="12"/>
          </p:nvPr>
        </p:nvSpPr>
        <p:spPr/>
        <p:txBody>
          <a:bodyPr/>
          <a:lstStyle>
            <a:lvl1pPr>
              <a:defRPr/>
            </a:lvl1pPr>
          </a:lstStyle>
          <a:p>
            <a:pPr>
              <a:defRPr/>
            </a:pPr>
            <a:fld id="{110F6190-064A-484C-AE47-F738F0812AF6}"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zh-CN" altLang="en-US"/>
              <a:t>单击此处编辑母版标题样式</a:t>
            </a:r>
            <a:endParaRPr lang="en-US"/>
          </a:p>
        </p:txBody>
      </p:sp>
      <p:sp>
        <p:nvSpPr>
          <p:cNvPr id="3" name="日期占位符 9"/>
          <p:cNvSpPr>
            <a:spLocks noGrp="1"/>
          </p:cNvSpPr>
          <p:nvPr>
            <p:ph type="dt" sz="half" idx="10"/>
          </p:nvPr>
        </p:nvSpPr>
        <p:spPr/>
        <p:txBody>
          <a:bodyPr/>
          <a:lstStyle>
            <a:lvl1pPr>
              <a:defRPr/>
            </a:lvl1pPr>
          </a:lstStyle>
          <a:p>
            <a:pPr>
              <a:defRPr/>
            </a:pPr>
            <a:endParaRPr lang="en-US" altLang="zh-CN"/>
          </a:p>
        </p:txBody>
      </p:sp>
      <p:sp>
        <p:nvSpPr>
          <p:cNvPr id="4" name="页脚占位符 21"/>
          <p:cNvSpPr>
            <a:spLocks noGrp="1"/>
          </p:cNvSpPr>
          <p:nvPr>
            <p:ph type="ftr" sz="quarter" idx="11"/>
          </p:nvPr>
        </p:nvSpPr>
        <p:spPr/>
        <p:txBody>
          <a:bodyPr/>
          <a:lstStyle>
            <a:lvl1pPr>
              <a:defRPr/>
            </a:lvl1pPr>
          </a:lstStyle>
          <a:p>
            <a:pPr>
              <a:defRPr/>
            </a:pPr>
            <a:endParaRPr lang="en-US" altLang="zh-CN"/>
          </a:p>
        </p:txBody>
      </p:sp>
      <p:sp>
        <p:nvSpPr>
          <p:cNvPr id="5" name="灯片编号占位符 17"/>
          <p:cNvSpPr>
            <a:spLocks noGrp="1"/>
          </p:cNvSpPr>
          <p:nvPr>
            <p:ph type="sldNum" sz="quarter" idx="12"/>
          </p:nvPr>
        </p:nvSpPr>
        <p:spPr/>
        <p:txBody>
          <a:bodyPr/>
          <a:lstStyle>
            <a:lvl1pPr>
              <a:defRPr/>
            </a:lvl1pPr>
          </a:lstStyle>
          <a:p>
            <a:pPr>
              <a:defRPr/>
            </a:pPr>
            <a:fld id="{F1287A60-6A5D-4DCB-B230-02F2C7F7B422}"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TextBox 1"/>
          <p:cNvSpPr txBox="1"/>
          <p:nvPr userDrawn="1"/>
        </p:nvSpPr>
        <p:spPr>
          <a:xfrm>
            <a:off x="5438775" y="0"/>
            <a:ext cx="3705225" cy="461963"/>
          </a:xfrm>
          <a:prstGeom prst="rect">
            <a:avLst/>
          </a:prstGeom>
          <a:noFill/>
        </p:spPr>
        <p:txBody>
          <a:bodyPr wrap="none">
            <a:spAutoFit/>
          </a:bodyPr>
          <a:lstStyle>
            <a:defPPr>
              <a:defRPr lang="zh-CN"/>
            </a:defPPr>
            <a:lvl1pPr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1pPr>
            <a:lvl2pPr marL="4572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2pPr>
            <a:lvl3pPr marL="9144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3pPr>
            <a:lvl4pPr marL="13716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4pPr>
            <a:lvl5pPr marL="18288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9pPr>
          </a:lstStyle>
          <a:p>
            <a:pPr>
              <a:defRPr/>
            </a:pPr>
            <a:r>
              <a:rPr lang="en-US" altLang="zh-CN" i="1" dirty="0">
                <a:solidFill>
                  <a:srgbClr val="66CCFF"/>
                </a:solidFill>
                <a:effectLst>
                  <a:outerShdw blurRad="38100" dist="38100" dir="2700000" algn="tl">
                    <a:srgbClr val="000000">
                      <a:alpha val="43137"/>
                    </a:srgbClr>
                  </a:outerShdw>
                </a:effectLst>
              </a:rPr>
              <a:t>HUST-CS      PANPENG</a:t>
            </a:r>
            <a:endParaRPr lang="zh-CN" altLang="en-US" i="1" dirty="0">
              <a:solidFill>
                <a:srgbClr val="66CCFF"/>
              </a:solidFill>
              <a:effectLst>
                <a:outerShdw blurRad="38100" dist="38100" dir="2700000" algn="tl">
                  <a:srgbClr val="000000">
                    <a:alpha val="43137"/>
                  </a:srgbClr>
                </a:outerShdw>
              </a:effectLst>
            </a:endParaRPr>
          </a:p>
        </p:txBody>
      </p:sp>
      <p:sp>
        <p:nvSpPr>
          <p:cNvPr id="3" name="日期占位符 9"/>
          <p:cNvSpPr>
            <a:spLocks noGrp="1"/>
          </p:cNvSpPr>
          <p:nvPr>
            <p:ph type="dt" sz="half" idx="10"/>
          </p:nvPr>
        </p:nvSpPr>
        <p:spPr/>
        <p:txBody>
          <a:bodyPr/>
          <a:lstStyle>
            <a:lvl1pPr>
              <a:defRPr/>
            </a:lvl1pPr>
          </a:lstStyle>
          <a:p>
            <a:pPr>
              <a:defRPr/>
            </a:pPr>
            <a:endParaRPr lang="en-US" altLang="zh-CN"/>
          </a:p>
        </p:txBody>
      </p:sp>
      <p:sp>
        <p:nvSpPr>
          <p:cNvPr id="4" name="页脚占位符 21"/>
          <p:cNvSpPr>
            <a:spLocks noGrp="1"/>
          </p:cNvSpPr>
          <p:nvPr>
            <p:ph type="ftr" sz="quarter" idx="11"/>
          </p:nvPr>
        </p:nvSpPr>
        <p:spPr/>
        <p:txBody>
          <a:bodyPr/>
          <a:lstStyle>
            <a:lvl1pPr>
              <a:defRPr/>
            </a:lvl1pPr>
          </a:lstStyle>
          <a:p>
            <a:pPr>
              <a:defRPr/>
            </a:pPr>
            <a:endParaRPr lang="en-US" altLang="zh-CN"/>
          </a:p>
        </p:txBody>
      </p:sp>
      <p:sp>
        <p:nvSpPr>
          <p:cNvPr id="5" name="灯片编号占位符 17"/>
          <p:cNvSpPr>
            <a:spLocks noGrp="1"/>
          </p:cNvSpPr>
          <p:nvPr>
            <p:ph type="sldNum" sz="quarter" idx="12"/>
          </p:nvPr>
        </p:nvSpPr>
        <p:spPr/>
        <p:txBody>
          <a:bodyPr/>
          <a:lstStyle>
            <a:lvl1pPr>
              <a:defRPr/>
            </a:lvl1pPr>
          </a:lstStyle>
          <a:p>
            <a:pPr>
              <a:defRPr/>
            </a:pPr>
            <a:fld id="{155F95A4-BEB3-4C64-A081-FC37F4F1C7F7}"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85800" y="514352"/>
            <a:ext cx="27432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zh-CN" altLang="en-US"/>
              <a:t>单击此处编辑母版标题样式</a:t>
            </a:r>
            <a:endParaRPr lang="en-US"/>
          </a:p>
        </p:txBody>
      </p:sp>
      <p:sp>
        <p:nvSpPr>
          <p:cNvPr id="3" name="文本占位符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zh-CN" altLang="en-US"/>
              <a:t>单击此处编辑母版文本样式</a:t>
            </a:r>
            <a:endParaRPr lang="zh-CN" altLang="en-US"/>
          </a:p>
        </p:txBody>
      </p:sp>
      <p:sp>
        <p:nvSpPr>
          <p:cNvPr id="4" name="内容占位符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5" name="日期占位符 9"/>
          <p:cNvSpPr>
            <a:spLocks noGrp="1"/>
          </p:cNvSpPr>
          <p:nvPr>
            <p:ph type="dt" sz="half" idx="10"/>
          </p:nvPr>
        </p:nvSpPr>
        <p:spPr/>
        <p:txBody>
          <a:bodyPr/>
          <a:lstStyle>
            <a:lvl1pPr>
              <a:defRPr/>
            </a:lvl1pPr>
          </a:lstStyle>
          <a:p>
            <a:pPr>
              <a:defRPr/>
            </a:pPr>
            <a:endParaRPr lang="en-US" altLang="zh-CN"/>
          </a:p>
        </p:txBody>
      </p:sp>
      <p:sp>
        <p:nvSpPr>
          <p:cNvPr id="6" name="页脚占位符 21"/>
          <p:cNvSpPr>
            <a:spLocks noGrp="1"/>
          </p:cNvSpPr>
          <p:nvPr>
            <p:ph type="ftr" sz="quarter" idx="11"/>
          </p:nvPr>
        </p:nvSpPr>
        <p:spPr/>
        <p:txBody>
          <a:bodyPr/>
          <a:lstStyle>
            <a:lvl1pPr>
              <a:defRPr/>
            </a:lvl1pPr>
          </a:lstStyle>
          <a:p>
            <a:pPr>
              <a:defRPr/>
            </a:pPr>
            <a:endParaRPr lang="en-US" altLang="zh-CN"/>
          </a:p>
        </p:txBody>
      </p:sp>
      <p:sp>
        <p:nvSpPr>
          <p:cNvPr id="7" name="灯片编号占位符 17"/>
          <p:cNvSpPr>
            <a:spLocks noGrp="1"/>
          </p:cNvSpPr>
          <p:nvPr>
            <p:ph type="sldNum" sz="quarter" idx="12"/>
          </p:nvPr>
        </p:nvSpPr>
        <p:spPr/>
        <p:txBody>
          <a:bodyPr/>
          <a:lstStyle>
            <a:lvl1pPr>
              <a:defRPr/>
            </a:lvl1pPr>
          </a:lstStyle>
          <a:p>
            <a:pPr>
              <a:defRPr/>
            </a:pPr>
            <a:fld id="{65195202-918B-41E4-BA4A-8517BA52D5D7}"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sp>
        <p:nvSpPr>
          <p:cNvPr id="5" name="单圆角矩形 4"/>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kumimoji="0" lang="en-US"/>
          </a:p>
        </p:txBody>
      </p:sp>
      <p:sp>
        <p:nvSpPr>
          <p:cNvPr id="6" name="直角三角形 5"/>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kumimoji="0" lang="en-US"/>
          </a:p>
        </p:txBody>
      </p:sp>
      <p:sp>
        <p:nvSpPr>
          <p:cNvPr id="7" name="任意多边形 6"/>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8" name="任意多边形 7"/>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2" name="标题 1"/>
          <p:cNvSpPr>
            <a:spLocks noGrp="1"/>
          </p:cNvSpPr>
          <p:nvPr>
            <p:ph type="title"/>
          </p:nvPr>
        </p:nvSpPr>
        <p:spPr>
          <a:xfrm>
            <a:off x="609600" y="1176996"/>
            <a:ext cx="2212848" cy="1582621"/>
          </a:xfrm>
        </p:spPr>
        <p:txBody>
          <a:bodyPr lIns="45720" rIns="45720" bIns="45720"/>
          <a:lstStyle>
            <a:lvl1pPr algn="l">
              <a:buNone/>
              <a:defRPr sz="2000" b="1">
                <a:solidFill>
                  <a:schemeClr val="tx2"/>
                </a:solidFill>
              </a:defRPr>
            </a:lvl1pPr>
          </a:lstStyle>
          <a:p>
            <a:r>
              <a:rPr lang="zh-CN" altLang="en-US"/>
              <a:t>单击此处编辑母版标题样式</a:t>
            </a:r>
            <a:endParaRPr lang="en-US"/>
          </a:p>
        </p:txBody>
      </p:sp>
      <p:sp>
        <p:nvSpPr>
          <p:cNvPr id="4" name="文本占位符 3"/>
          <p:cNvSpPr>
            <a:spLocks noGrp="1"/>
          </p:cNvSpPr>
          <p:nvPr>
            <p:ph type="body" sz="half" idx="2"/>
          </p:nvPr>
        </p:nvSpPr>
        <p:spPr>
          <a:xfrm>
            <a:off x="609600" y="2828785"/>
            <a:ext cx="22098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zh-CN" altLang="en-US"/>
              <a:t>单击此处编辑母版文本样式</a:t>
            </a:r>
            <a:endParaRPr lang="zh-CN" altLang="en-US"/>
          </a:p>
        </p:txBody>
      </p:sp>
      <p:sp>
        <p:nvSpPr>
          <p:cNvPr id="3" name="图片占位符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zh-CN" altLang="en-US" noProof="0"/>
              <a:t>单击图标添加图片</a:t>
            </a:r>
            <a:endParaRPr lang="en-US" noProof="0" dirty="0"/>
          </a:p>
        </p:txBody>
      </p:sp>
      <p:sp>
        <p:nvSpPr>
          <p:cNvPr id="9" name="日期占位符 4"/>
          <p:cNvSpPr>
            <a:spLocks noGrp="1"/>
          </p:cNvSpPr>
          <p:nvPr>
            <p:ph type="dt" sz="half" idx="10"/>
          </p:nvPr>
        </p:nvSpPr>
        <p:spPr/>
        <p:txBody>
          <a:bodyPr/>
          <a:lstStyle>
            <a:lvl1pPr>
              <a:defRPr/>
            </a:lvl1pPr>
          </a:lstStyle>
          <a:p>
            <a:pPr>
              <a:defRPr/>
            </a:pPr>
            <a:endParaRPr lang="en-US" altLang="zh-CN"/>
          </a:p>
        </p:txBody>
      </p:sp>
      <p:sp>
        <p:nvSpPr>
          <p:cNvPr id="10" name="页脚占位符 5"/>
          <p:cNvSpPr>
            <a:spLocks noGrp="1"/>
          </p:cNvSpPr>
          <p:nvPr>
            <p:ph type="ftr" sz="quarter" idx="11"/>
          </p:nvPr>
        </p:nvSpPr>
        <p:spPr/>
        <p:txBody>
          <a:bodyPr/>
          <a:lstStyle>
            <a:lvl1pPr>
              <a:defRPr/>
            </a:lvl1pPr>
          </a:lstStyle>
          <a:p>
            <a:pPr>
              <a:defRPr/>
            </a:pPr>
            <a:endParaRPr lang="en-US" altLang="zh-CN"/>
          </a:p>
        </p:txBody>
      </p:sp>
      <p:sp>
        <p:nvSpPr>
          <p:cNvPr id="11" name="灯片编号占位符 6"/>
          <p:cNvSpPr>
            <a:spLocks noGrp="1"/>
          </p:cNvSpPr>
          <p:nvPr>
            <p:ph type="sldNum" sz="quarter" idx="12"/>
          </p:nvPr>
        </p:nvSpPr>
        <p:spPr>
          <a:xfrm>
            <a:off x="8077200" y="6356350"/>
            <a:ext cx="609600" cy="365125"/>
          </a:xfrm>
        </p:spPr>
        <p:txBody>
          <a:bodyPr/>
          <a:lstStyle>
            <a:lvl1pPr>
              <a:defRPr/>
            </a:lvl1pPr>
          </a:lstStyle>
          <a:p>
            <a:pPr>
              <a:defRPr/>
            </a:pPr>
            <a:fld id="{9782AF98-9D31-4096-9C68-D874AB6B0166}"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日期占位符 9"/>
          <p:cNvSpPr>
            <a:spLocks noGrp="1"/>
          </p:cNvSpPr>
          <p:nvPr>
            <p:ph type="dt" sz="half" idx="10"/>
          </p:nvPr>
        </p:nvSpPr>
        <p:spPr/>
        <p:txBody>
          <a:bodyPr/>
          <a:lstStyle>
            <a:lvl1pPr>
              <a:defRPr/>
            </a:lvl1pPr>
          </a:lstStyle>
          <a:p>
            <a:pPr>
              <a:defRPr/>
            </a:pPr>
            <a:endParaRPr lang="en-US" altLang="zh-CN"/>
          </a:p>
        </p:txBody>
      </p:sp>
      <p:sp>
        <p:nvSpPr>
          <p:cNvPr id="5" name="页脚占位符 21"/>
          <p:cNvSpPr>
            <a:spLocks noGrp="1"/>
          </p:cNvSpPr>
          <p:nvPr>
            <p:ph type="ftr" sz="quarter" idx="11"/>
          </p:nvPr>
        </p:nvSpPr>
        <p:spPr/>
        <p:txBody>
          <a:bodyPr/>
          <a:lstStyle>
            <a:lvl1pPr>
              <a:defRPr/>
            </a:lvl1pPr>
          </a:lstStyle>
          <a:p>
            <a:pPr>
              <a:defRPr/>
            </a:pPr>
            <a:endParaRPr lang="en-US" altLang="zh-CN"/>
          </a:p>
        </p:txBody>
      </p:sp>
      <p:sp>
        <p:nvSpPr>
          <p:cNvPr id="6" name="灯片编号占位符 17"/>
          <p:cNvSpPr>
            <a:spLocks noGrp="1"/>
          </p:cNvSpPr>
          <p:nvPr>
            <p:ph type="sldNum" sz="quarter" idx="12"/>
          </p:nvPr>
        </p:nvSpPr>
        <p:spPr/>
        <p:txBody>
          <a:bodyPr/>
          <a:lstStyle>
            <a:lvl1pPr>
              <a:defRPr/>
            </a:lvl1pPr>
          </a:lstStyle>
          <a:p>
            <a:pPr>
              <a:defRPr/>
            </a:pPr>
            <a:fld id="{69630340-00F0-45DE-9453-8E2D181A2615}"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914401"/>
            <a:ext cx="2057400" cy="5211763"/>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457200" y="914401"/>
            <a:ext cx="6019800" cy="5211763"/>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日期占位符 9"/>
          <p:cNvSpPr>
            <a:spLocks noGrp="1"/>
          </p:cNvSpPr>
          <p:nvPr>
            <p:ph type="dt" sz="half" idx="10"/>
          </p:nvPr>
        </p:nvSpPr>
        <p:spPr/>
        <p:txBody>
          <a:bodyPr/>
          <a:lstStyle>
            <a:lvl1pPr>
              <a:defRPr/>
            </a:lvl1pPr>
          </a:lstStyle>
          <a:p>
            <a:pPr>
              <a:defRPr/>
            </a:pPr>
            <a:endParaRPr lang="en-US" altLang="zh-CN"/>
          </a:p>
        </p:txBody>
      </p:sp>
      <p:sp>
        <p:nvSpPr>
          <p:cNvPr id="5" name="页脚占位符 21"/>
          <p:cNvSpPr>
            <a:spLocks noGrp="1"/>
          </p:cNvSpPr>
          <p:nvPr>
            <p:ph type="ftr" sz="quarter" idx="11"/>
          </p:nvPr>
        </p:nvSpPr>
        <p:spPr/>
        <p:txBody>
          <a:bodyPr/>
          <a:lstStyle>
            <a:lvl1pPr>
              <a:defRPr/>
            </a:lvl1pPr>
          </a:lstStyle>
          <a:p>
            <a:pPr>
              <a:defRPr/>
            </a:pPr>
            <a:endParaRPr lang="en-US" altLang="zh-CN"/>
          </a:p>
        </p:txBody>
      </p:sp>
      <p:sp>
        <p:nvSpPr>
          <p:cNvPr id="6" name="灯片编号占位符 17"/>
          <p:cNvSpPr>
            <a:spLocks noGrp="1"/>
          </p:cNvSpPr>
          <p:nvPr>
            <p:ph type="sldNum" sz="quarter" idx="12"/>
          </p:nvPr>
        </p:nvSpPr>
        <p:spPr/>
        <p:txBody>
          <a:bodyPr/>
          <a:lstStyle>
            <a:lvl1pPr>
              <a:defRPr/>
            </a:lvl1pPr>
          </a:lstStyle>
          <a:p>
            <a:pPr>
              <a:defRPr/>
            </a:pPr>
            <a:fld id="{46F7EAF1-1024-484A-AB85-5ECFDE105849}" type="slidenum">
              <a:rPr lang="en-US" altLang="zh-CN"/>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7#标题和内容（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548879" y="447468"/>
            <a:ext cx="8046244" cy="1001920"/>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890905">
              <a:lnSpc>
                <a:spcPts val="2575"/>
              </a:lnSpc>
              <a:spcBef>
                <a:spcPts val="0"/>
              </a:spcBef>
              <a:buFont typeface="Arial" panose="020B0604020202090204" pitchFamily="34" charset="0"/>
            </a:pPr>
            <a:r>
              <a:rPr lang="zh-CN" altLang="en-US" dirty="0"/>
              <a:t>单击此处编辑母版标题样式</a:t>
            </a:r>
            <a:endParaRPr lang="zh-CN" altLang="en-US" dirty="0"/>
          </a:p>
        </p:txBody>
      </p:sp>
      <p:sp>
        <p:nvSpPr>
          <p:cNvPr id="9" name="文本占位符 6"/>
          <p:cNvSpPr>
            <a:spLocks noGrp="1"/>
          </p:cNvSpPr>
          <p:nvPr>
            <p:ph type="body" sz="quarter" idx="10" hasCustomPrompt="1"/>
          </p:nvPr>
        </p:nvSpPr>
        <p:spPr>
          <a:xfrm>
            <a:off x="548878" y="1484312"/>
            <a:ext cx="8046245" cy="4443243"/>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7*#标题和内容（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548879" y="447468"/>
            <a:ext cx="8046244" cy="485982"/>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890905">
              <a:lnSpc>
                <a:spcPts val="2575"/>
              </a:lnSpc>
              <a:spcBef>
                <a:spcPts val="0"/>
              </a:spcBef>
              <a:buFont typeface="Arial" panose="020B0604020202090204" pitchFamily="34" charset="0"/>
            </a:pPr>
            <a:r>
              <a:rPr lang="zh-CN" altLang="en-US" dirty="0"/>
              <a:t>单击此处编辑母版标题样式</a:t>
            </a:r>
            <a:endParaRPr lang="zh-CN" altLang="en-US" dirty="0"/>
          </a:p>
        </p:txBody>
      </p:sp>
      <p:sp>
        <p:nvSpPr>
          <p:cNvPr id="9" name="文本占位符 6"/>
          <p:cNvSpPr>
            <a:spLocks noGrp="1"/>
          </p:cNvSpPr>
          <p:nvPr>
            <p:ph type="body" sz="quarter" idx="10" hasCustomPrompt="1"/>
          </p:nvPr>
        </p:nvSpPr>
        <p:spPr>
          <a:xfrm>
            <a:off x="548878" y="1047751"/>
            <a:ext cx="8046245" cy="4879805"/>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8#仅标题（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548879" y="447468"/>
            <a:ext cx="8046244" cy="1001920"/>
          </a:xfrm>
          <a:prstGeom prst="rect">
            <a:avLst/>
          </a:prstGeom>
        </p:spPr>
        <p:txBody>
          <a:bodyPr lIns="0" tIns="0" rIns="0" bIns="0" anchor="t">
            <a:normAutofit/>
          </a:bodyPr>
          <a:lstStyle>
            <a:lvl1pPr>
              <a:defRPr lang="zh-CN" altLang="en-US" baseline="0" dirty="0"/>
            </a:lvl1pPr>
          </a:lstStyle>
          <a:p>
            <a:pPr marL="0" lvl="0" indent="0" defTabSz="890905">
              <a:lnSpc>
                <a:spcPts val="2575"/>
              </a:lnSpc>
              <a:spcBef>
                <a:spcPts val="0"/>
              </a:spcBef>
              <a:buFont typeface="Arial" panose="020B0604020202090204" pitchFamily="34" charset="0"/>
            </a:pPr>
            <a:r>
              <a:rPr lang="zh-CN" altLang="en-US" dirty="0"/>
              <a:t>单击此处编辑母版标题样式</a:t>
            </a:r>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8*#仅标题（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548879" y="447469"/>
            <a:ext cx="8046244" cy="497095"/>
          </a:xfrm>
          <a:prstGeom prst="rect">
            <a:avLst/>
          </a:prstGeom>
        </p:spPr>
        <p:txBody>
          <a:bodyPr lIns="0" tIns="0" rIns="0" bIns="0" anchor="t">
            <a:normAutofit/>
          </a:bodyPr>
          <a:lstStyle>
            <a:lvl1pPr>
              <a:defRPr lang="zh-CN" altLang="en-US" baseline="0" dirty="0"/>
            </a:lvl1pPr>
          </a:lstStyle>
          <a:p>
            <a:pPr marL="0" lvl="0" indent="0" defTabSz="890905">
              <a:lnSpc>
                <a:spcPts val="2575"/>
              </a:lnSpc>
              <a:spcBef>
                <a:spcPts val="0"/>
              </a:spcBef>
              <a:buFont typeface="Arial" panose="020B0604020202090204" pitchFamily="34" charset="0"/>
            </a:pPr>
            <a:r>
              <a:rPr lang="zh-CN" altLang="en-US" dirty="0"/>
              <a:t>单击此处编辑母版标题样式</a:t>
            </a:r>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9#全白背景">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内容">
    <p:spTree>
      <p:nvGrpSpPr>
        <p:cNvPr id="1" name=""/>
        <p:cNvGrpSpPr/>
        <p:nvPr/>
      </p:nvGrpSpPr>
      <p:grpSpPr>
        <a:xfrm>
          <a:off x="0" y="0"/>
          <a:ext cx="0" cy="0"/>
          <a:chOff x="0" y="0"/>
          <a:chExt cx="0" cy="0"/>
        </a:xfrm>
      </p:grpSpPr>
      <p:sp>
        <p:nvSpPr>
          <p:cNvPr id="7" name="内容占位符 2"/>
          <p:cNvSpPr>
            <a:spLocks noGrp="1"/>
          </p:cNvSpPr>
          <p:nvPr>
            <p:ph idx="10"/>
          </p:nvPr>
        </p:nvSpPr>
        <p:spPr>
          <a:xfrm>
            <a:off x="505225" y="1813241"/>
            <a:ext cx="7712945" cy="3856039"/>
          </a:xfrm>
          <a:prstGeom prst="rect">
            <a:avLst/>
          </a:prstGeom>
        </p:spPr>
        <p:txBody>
          <a:bodyPr/>
          <a:lstStyle>
            <a:lvl1pPr>
              <a:defRPr sz="1800">
                <a:solidFill>
                  <a:schemeClr val="bg1"/>
                </a:solidFill>
                <a:latin typeface="微软雅黑" panose="020B0503020204020204" pitchFamily="34" charset="-122"/>
                <a:ea typeface="微软雅黑" panose="020B0503020204020204" pitchFamily="34" charset="-122"/>
              </a:defRPr>
            </a:lvl1pPr>
          </a:lstStyle>
          <a:p>
            <a:endParaRPr lang="zh-CN" altLang="en-US" dirty="0"/>
          </a:p>
        </p:txBody>
      </p:sp>
      <p:sp>
        <p:nvSpPr>
          <p:cNvPr id="15" name="Rectangle 13"/>
          <p:cNvSpPr/>
          <p:nvPr userDrawn="1"/>
        </p:nvSpPr>
        <p:spPr>
          <a:xfrm flipH="1">
            <a:off x="505225" y="623739"/>
            <a:ext cx="37007" cy="543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5718" tIns="12859" rIns="25718" bIns="12859" rtlCol="0" anchor="ctr"/>
          <a:lstStyle/>
          <a:p>
            <a:pPr algn="ctr"/>
            <a:endParaRPr lang="en-US" sz="1800"/>
          </a:p>
        </p:txBody>
      </p:sp>
      <p:sp>
        <p:nvSpPr>
          <p:cNvPr id="16" name="文本占位符 2"/>
          <p:cNvSpPr>
            <a:spLocks noGrp="1"/>
          </p:cNvSpPr>
          <p:nvPr>
            <p:ph type="body" idx="1" hasCustomPrompt="1"/>
          </p:nvPr>
        </p:nvSpPr>
        <p:spPr>
          <a:xfrm>
            <a:off x="657940" y="665625"/>
            <a:ext cx="3868340" cy="540000"/>
          </a:xfrm>
          <a:prstGeom prst="rect">
            <a:avLst/>
          </a:prstGeom>
        </p:spPr>
        <p:txBody>
          <a:bodyPr anchor="ctr" anchorCtr="0"/>
          <a:lstStyle>
            <a:lvl1pPr marL="0" indent="0">
              <a:buNone/>
              <a:defRPr sz="2400" b="0">
                <a:solidFill>
                  <a:schemeClr val="bg1"/>
                </a:solidFill>
                <a:latin typeface="微软雅黑" panose="020B0503020204020204" pitchFamily="34" charset="-122"/>
                <a:ea typeface="微软雅黑" panose="020B0503020204020204" pitchFamily="34" charset="-122"/>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单击此处添加标题</a:t>
            </a:r>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fld id="{19B9FF43-20F1-4505-AC61-BA301470A50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0F953EE-632C-4661-B989-2AC8A9F84211}"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19B9FF43-20F1-4505-AC61-BA301470A50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0F953EE-632C-4661-B989-2AC8A9F84211}"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45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19B9FF43-20F1-4505-AC61-BA301470A50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0F953EE-632C-4661-B989-2AC8A9F84211}"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28650" y="1825625"/>
            <a:ext cx="38862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29150" y="1825625"/>
            <a:ext cx="38862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19B9FF43-20F1-4505-AC61-BA301470A50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0F953EE-632C-4661-B989-2AC8A9F84211}"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29842" y="2505075"/>
            <a:ext cx="3868340"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2505075"/>
            <a:ext cx="3887391"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19B9FF43-20F1-4505-AC61-BA301470A50B}"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0F953EE-632C-4661-B989-2AC8A9F84211}"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19B9FF43-20F1-4505-AC61-BA301470A50B}"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0F953EE-632C-4661-B989-2AC8A9F84211}"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9B9FF43-20F1-4505-AC61-BA301470A50B}"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0F953EE-632C-4661-B989-2AC8A9F84211}" type="slidenum">
              <a:rPr lang="zh-CN" altLang="en-US" smtClean="0"/>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19B9FF43-20F1-4505-AC61-BA301470A50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0F953EE-632C-4661-B989-2AC8A9F84211}" type="slidenum">
              <a:rPr lang="zh-CN" altLang="en-US" smtClean="0"/>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hasCustomPrompt="1"/>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19B9FF43-20F1-4505-AC61-BA301470A50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0F953EE-632C-4661-B989-2AC8A9F84211}" type="slidenum">
              <a:rPr lang="zh-CN" altLang="en-US" smtClean="0"/>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19B9FF43-20F1-4505-AC61-BA301470A50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0F953EE-632C-4661-B989-2AC8A9F84211}" type="slidenum">
              <a:rPr lang="zh-CN" altLang="en-US" smtClean="0"/>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365125"/>
            <a:ext cx="5800725"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19B9FF43-20F1-4505-AC61-BA301470A50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0F953EE-632C-4661-B989-2AC8A9F84211}" type="slidenum">
              <a:rPr lang="zh-CN" altLang="en-US" smtClean="0"/>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8*#仅标题（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548879" y="447469"/>
            <a:ext cx="8046244" cy="497095"/>
          </a:xfrm>
          <a:prstGeom prst="rect">
            <a:avLst/>
          </a:prstGeom>
        </p:spPr>
        <p:txBody>
          <a:bodyPr lIns="0" tIns="0" rIns="0" bIns="0" anchor="t">
            <a:normAutofit/>
          </a:bodyPr>
          <a:lstStyle>
            <a:lvl1pPr>
              <a:defRPr lang="zh-CN" altLang="en-US" baseline="0" dirty="0"/>
            </a:lvl1pPr>
          </a:lstStyle>
          <a:p>
            <a:pPr marL="0" lvl="0" indent="0" defTabSz="890905">
              <a:lnSpc>
                <a:spcPts val="2575"/>
              </a:lnSpc>
              <a:spcBef>
                <a:spcPts val="0"/>
              </a:spcBef>
              <a:buFont typeface="Arial" panose="020B0604020202090204" pitchFamily="34" charset="0"/>
            </a:pPr>
            <a:r>
              <a:rPr lang="zh-CN" altLang="en-US" dirty="0"/>
              <a:t>单击此处编辑母版标题样式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7" Type="http://schemas.openxmlformats.org/officeDocument/2006/relationships/image" Target="../media/image2.png"/><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26.xml"/><Relationship Id="rId8" Type="http://schemas.openxmlformats.org/officeDocument/2006/relationships/slideLayout" Target="../slideLayouts/slideLayout25.xml"/><Relationship Id="rId7" Type="http://schemas.openxmlformats.org/officeDocument/2006/relationships/slideLayout" Target="../slideLayouts/slideLayout24.xml"/><Relationship Id="rId6" Type="http://schemas.openxmlformats.org/officeDocument/2006/relationships/slideLayout" Target="../slideLayouts/slideLayout23.xml"/><Relationship Id="rId5" Type="http://schemas.openxmlformats.org/officeDocument/2006/relationships/slideLayout" Target="../slideLayouts/slideLayout22.xml"/><Relationship Id="rId4" Type="http://schemas.openxmlformats.org/officeDocument/2006/relationships/slideLayout" Target="../slideLayouts/slideLayout21.xml"/><Relationship Id="rId3" Type="http://schemas.openxmlformats.org/officeDocument/2006/relationships/slideLayout" Target="../slideLayouts/slideLayout20.xml"/><Relationship Id="rId2" Type="http://schemas.openxmlformats.org/officeDocument/2006/relationships/slideLayout" Target="../slideLayouts/slideLayout19.xml"/><Relationship Id="rId13" Type="http://schemas.openxmlformats.org/officeDocument/2006/relationships/theme" Target="../theme/theme3.xml"/><Relationship Id="rId12" Type="http://schemas.openxmlformats.org/officeDocument/2006/relationships/slideLayout" Target="../slideLayouts/slideLayout29.xml"/><Relationship Id="rId11" Type="http://schemas.openxmlformats.org/officeDocument/2006/relationships/slideLayout" Target="../slideLayouts/slideLayout28.xml"/><Relationship Id="rId10" Type="http://schemas.openxmlformats.org/officeDocument/2006/relationships/slideLayout" Target="../slideLayouts/slideLayout27.xml"/><Relationship Id="rId1"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任意多边形 6"/>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8" name="任意多边形 7"/>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24580" name="标题占位符 8"/>
          <p:cNvSpPr>
            <a:spLocks noGrp="1"/>
          </p:cNvSpPr>
          <p:nvPr>
            <p:ph type="title"/>
          </p:nvPr>
        </p:nvSpPr>
        <p:spPr bwMode="auto">
          <a:xfrm>
            <a:off x="457200" y="704850"/>
            <a:ext cx="8229600" cy="1143000"/>
          </a:xfrm>
          <a:prstGeom prst="rect">
            <a:avLst/>
          </a:prstGeom>
          <a:noFill/>
          <a:ln w="9525">
            <a:noFill/>
            <a:miter lim="800000"/>
          </a:ln>
        </p:spPr>
        <p:txBody>
          <a:bodyPr vert="horz" wrap="square" lIns="0" tIns="45720" rIns="0" bIns="0" numCol="1" anchor="b" anchorCtr="0" compatLnSpc="1"/>
          <a:lstStyle/>
          <a:p>
            <a:pPr lvl="0"/>
            <a:r>
              <a:rPr lang="zh-CN" altLang="en-US"/>
              <a:t>单击此处编辑母版标题样式</a:t>
            </a:r>
            <a:endParaRPr lang="en-US"/>
          </a:p>
        </p:txBody>
      </p:sp>
      <p:sp>
        <p:nvSpPr>
          <p:cNvPr id="24581" name="文本占位符 29"/>
          <p:cNvSpPr>
            <a:spLocks noGrp="1"/>
          </p:cNvSpPr>
          <p:nvPr>
            <p:ph type="body" idx="1"/>
          </p:nvPr>
        </p:nvSpPr>
        <p:spPr bwMode="auto">
          <a:xfrm>
            <a:off x="457200" y="1935163"/>
            <a:ext cx="8229600" cy="4389437"/>
          </a:xfrm>
          <a:prstGeom prst="rect">
            <a:avLst/>
          </a:prstGeom>
          <a:noFill/>
          <a:ln w="9525">
            <a:noFill/>
            <a:miter lim="800000"/>
          </a:ln>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10" name="日期占位符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ea typeface="宋体" pitchFamily="2" charset="-122"/>
              </a:defRPr>
            </a:lvl1pPr>
          </a:lstStyle>
          <a:p>
            <a:pPr>
              <a:defRPr/>
            </a:pPr>
            <a:endParaRPr lang="en-US" altLang="zh-CN"/>
          </a:p>
        </p:txBody>
      </p:sp>
      <p:sp>
        <p:nvSpPr>
          <p:cNvPr id="22" name="页脚占位符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ea typeface="宋体" pitchFamily="2" charset="-122"/>
              </a:defRPr>
            </a:lvl1pPr>
          </a:lstStyle>
          <a:p>
            <a:pPr>
              <a:defRPr/>
            </a:pPr>
            <a:endParaRPr lang="en-US" altLang="zh-CN"/>
          </a:p>
        </p:txBody>
      </p:sp>
      <p:sp>
        <p:nvSpPr>
          <p:cNvPr id="18" name="灯片编号占位符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ea typeface="宋体" pitchFamily="2" charset="-122"/>
              </a:defRPr>
            </a:lvl1pPr>
          </a:lstStyle>
          <a:p>
            <a:pPr>
              <a:defRPr/>
            </a:pPr>
            <a:fld id="{91A2E28F-27FB-4988-8687-4E7A97180728}" type="slidenum">
              <a:rPr lang="en-US" altLang="zh-CN"/>
            </a:fld>
            <a:endParaRPr lang="en-US" altLang="zh-CN"/>
          </a:p>
        </p:txBody>
      </p:sp>
      <p:grpSp>
        <p:nvGrpSpPr>
          <p:cNvPr id="24585" name="组合 1"/>
          <p:cNvGrpSpPr/>
          <p:nvPr/>
        </p:nvGrpSpPr>
        <p:grpSpPr bwMode="auto">
          <a:xfrm>
            <a:off x="-19050" y="203200"/>
            <a:ext cx="9180513" cy="647700"/>
            <a:chOff x="-19045" y="216550"/>
            <a:chExt cx="9180548" cy="649224"/>
          </a:xfrm>
        </p:grpSpPr>
        <p:sp>
          <p:nvSpPr>
            <p:cNvPr id="12" name="任意多边形 11"/>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a:defRPr/>
              </a:pPr>
              <a:endParaRPr kumimoji="0" lang="en-US">
                <a:ea typeface="宋体" pitchFamily="2" charset="-122"/>
              </a:endParaRPr>
            </a:p>
          </p:txBody>
        </p:sp>
        <p:sp>
          <p:nvSpPr>
            <p:cNvPr id="13" name="任意多边形 12"/>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a:defRPr/>
              </a:pPr>
              <a:endParaRPr kumimoji="0" lang="en-US">
                <a:ea typeface="宋体" pitchFamily="2" charset="-122"/>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rtl="0" eaLnBrk="0" fontAlgn="base" hangingPunct="0">
        <a:spcBef>
          <a:spcPct val="0"/>
        </a:spcBef>
        <a:spcAft>
          <a:spcPct val="0"/>
        </a:spcAft>
        <a:defRPr sz="5000" kern="12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Calibri" pitchFamily="34" charset="0"/>
          <a:ea typeface="隶书" pitchFamily="49" charset="-122"/>
        </a:defRPr>
      </a:lvl2pPr>
      <a:lvl3pPr algn="l" rtl="0" eaLnBrk="0" fontAlgn="base" hangingPunct="0">
        <a:spcBef>
          <a:spcPct val="0"/>
        </a:spcBef>
        <a:spcAft>
          <a:spcPct val="0"/>
        </a:spcAft>
        <a:defRPr sz="5000">
          <a:solidFill>
            <a:schemeClr val="tx2"/>
          </a:solidFill>
          <a:latin typeface="Calibri" pitchFamily="34" charset="0"/>
          <a:ea typeface="隶书" pitchFamily="49" charset="-122"/>
        </a:defRPr>
      </a:lvl3pPr>
      <a:lvl4pPr algn="l" rtl="0" eaLnBrk="0" fontAlgn="base" hangingPunct="0">
        <a:spcBef>
          <a:spcPct val="0"/>
        </a:spcBef>
        <a:spcAft>
          <a:spcPct val="0"/>
        </a:spcAft>
        <a:defRPr sz="5000">
          <a:solidFill>
            <a:schemeClr val="tx2"/>
          </a:solidFill>
          <a:latin typeface="Calibri" pitchFamily="34" charset="0"/>
          <a:ea typeface="隶书" pitchFamily="49" charset="-122"/>
        </a:defRPr>
      </a:lvl4pPr>
      <a:lvl5pPr algn="l" rtl="0" eaLnBrk="0" fontAlgn="base" hangingPunct="0">
        <a:spcBef>
          <a:spcPct val="0"/>
        </a:spcBef>
        <a:spcAft>
          <a:spcPct val="0"/>
        </a:spcAft>
        <a:defRPr sz="5000">
          <a:solidFill>
            <a:schemeClr val="tx2"/>
          </a:solidFill>
          <a:latin typeface="Calibri" pitchFamily="34" charset="0"/>
          <a:ea typeface="隶书" pitchFamily="49" charset="-122"/>
        </a:defRPr>
      </a:lvl5pPr>
      <a:lvl6pPr marL="457200" algn="l" rtl="0" fontAlgn="base">
        <a:spcBef>
          <a:spcPct val="0"/>
        </a:spcBef>
        <a:spcAft>
          <a:spcPct val="0"/>
        </a:spcAft>
        <a:defRPr sz="5000">
          <a:solidFill>
            <a:schemeClr val="tx2"/>
          </a:solidFill>
          <a:latin typeface="Calibri" pitchFamily="34" charset="0"/>
          <a:ea typeface="隶书" pitchFamily="49" charset="-122"/>
        </a:defRPr>
      </a:lvl6pPr>
      <a:lvl7pPr marL="914400" algn="l" rtl="0" fontAlgn="base">
        <a:spcBef>
          <a:spcPct val="0"/>
        </a:spcBef>
        <a:spcAft>
          <a:spcPct val="0"/>
        </a:spcAft>
        <a:defRPr sz="5000">
          <a:solidFill>
            <a:schemeClr val="tx2"/>
          </a:solidFill>
          <a:latin typeface="Calibri" pitchFamily="34" charset="0"/>
          <a:ea typeface="隶书" pitchFamily="49" charset="-122"/>
        </a:defRPr>
      </a:lvl7pPr>
      <a:lvl8pPr marL="1371600" algn="l" rtl="0" fontAlgn="base">
        <a:spcBef>
          <a:spcPct val="0"/>
        </a:spcBef>
        <a:spcAft>
          <a:spcPct val="0"/>
        </a:spcAft>
        <a:defRPr sz="5000">
          <a:solidFill>
            <a:schemeClr val="tx2"/>
          </a:solidFill>
          <a:latin typeface="Calibri" pitchFamily="34" charset="0"/>
          <a:ea typeface="隶书" pitchFamily="49" charset="-122"/>
        </a:defRPr>
      </a:lvl8pPr>
      <a:lvl9pPr marL="1828800" algn="l" rtl="0" fontAlgn="base">
        <a:spcBef>
          <a:spcPct val="0"/>
        </a:spcBef>
        <a:spcAft>
          <a:spcPct val="0"/>
        </a:spcAft>
        <a:defRPr sz="5000">
          <a:solidFill>
            <a:schemeClr val="tx2"/>
          </a:solidFill>
          <a:latin typeface="Calibri" pitchFamily="34" charset="0"/>
          <a:ea typeface="隶书" pitchFamily="49" charset="-122"/>
        </a:defRPr>
      </a:lvl9pPr>
    </p:titleStyle>
    <p:body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7" name="Rectangle 6"/>
          <p:cNvSpPr>
            <a:spLocks noGrp="1" noChangeArrowheads="1"/>
          </p:cNvSpPr>
          <p:nvPr>
            <p:ph type="title"/>
          </p:nvPr>
        </p:nvSpPr>
        <p:spPr bwMode="auto">
          <a:xfrm>
            <a:off x="550598" y="457500"/>
            <a:ext cx="8044524" cy="980113"/>
          </a:xfrm>
          <a:prstGeom prst="rect">
            <a:avLst/>
          </a:prstGeom>
        </p:spPr>
        <p:txBody>
          <a:bodyPr lIns="0" tIns="0" rIns="0" bIns="0" anchor="t">
            <a:normAutofit/>
          </a:bodyPr>
          <a:lstStyle/>
          <a:p>
            <a:pPr marL="0" lvl="0" indent="0" defTabSz="890905">
              <a:lnSpc>
                <a:spcPts val="2575"/>
              </a:lnSpc>
              <a:spcBef>
                <a:spcPts val="0"/>
              </a:spcBef>
              <a:buFont typeface="Arial" panose="020B0604020202090204" pitchFamily="34" charset="0"/>
            </a:pPr>
            <a:r>
              <a:rPr lang="zh-CN" altLang="en-US" dirty="0"/>
              <a:t>单击此处编辑母版标题样式</a:t>
            </a:r>
            <a:endParaRPr lang="zh-CN" altLang="en-US" dirty="0"/>
          </a:p>
        </p:txBody>
      </p:sp>
      <p:sp>
        <p:nvSpPr>
          <p:cNvPr id="28" name="Rectangle 57"/>
          <p:cNvSpPr>
            <a:spLocks noGrp="1" noChangeArrowheads="1"/>
          </p:cNvSpPr>
          <p:nvPr>
            <p:ph type="body" idx="1"/>
          </p:nvPr>
        </p:nvSpPr>
        <p:spPr bwMode="auto">
          <a:xfrm>
            <a:off x="552562" y="1483479"/>
            <a:ext cx="8046244" cy="4443760"/>
          </a:xfrm>
          <a:prstGeom prst="rect">
            <a:avLst/>
          </a:prstGeom>
          <a:noFill/>
          <a:ln w="9525">
            <a:noFill/>
            <a:miter lim="800000"/>
          </a:ln>
        </p:spPr>
        <p:txBody>
          <a:bodyPr vert="horz" wrap="square" lIns="80141" tIns="40071" rIns="80141" bIns="40071" numCol="1" anchor="t" anchorCtr="0" compatLnSpc="1"/>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3" name="TextBox 2"/>
          <p:cNvSpPr txBox="1"/>
          <p:nvPr userDrawn="1"/>
        </p:nvSpPr>
        <p:spPr>
          <a:xfrm>
            <a:off x="821601" y="6356939"/>
            <a:ext cx="1097600" cy="204800"/>
          </a:xfrm>
          <a:prstGeom prst="rect">
            <a:avLst/>
          </a:prstGeom>
          <a:noFill/>
        </p:spPr>
        <p:txBody>
          <a:bodyPr wrap="square" rtlCol="0">
            <a:spAutoFit/>
          </a:bodyPr>
          <a:lstStyle/>
          <a:p>
            <a:r>
              <a:rPr lang="en-US" sz="730"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endParaRPr lang="en-US" sz="730"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24" name="TextBox 3"/>
          <p:cNvSpPr txBox="1"/>
          <p:nvPr userDrawn="1"/>
        </p:nvSpPr>
        <p:spPr>
          <a:xfrm>
            <a:off x="550599" y="6402807"/>
            <a:ext cx="374797" cy="112467"/>
          </a:xfrm>
          <a:prstGeom prst="rect">
            <a:avLst/>
          </a:prstGeom>
          <a:noFill/>
        </p:spPr>
        <p:txBody>
          <a:bodyPr wrap="square" lIns="0" tIns="0" rIns="0" bIns="0" rtlCol="0">
            <a:spAutoFit/>
          </a:bodyPr>
          <a:lstStyle/>
          <a:p>
            <a:pPr marL="0" marR="0" lvl="0" indent="0" algn="l" defTabSz="668020" rtl="0" eaLnBrk="1" fontAlgn="auto" latinLnBrk="0" hangingPunct="1">
              <a:lnSpc>
                <a:spcPct val="100000"/>
              </a:lnSpc>
              <a:spcBef>
                <a:spcPts val="0"/>
              </a:spcBef>
              <a:spcAft>
                <a:spcPts val="0"/>
              </a:spcAft>
              <a:buClrTx/>
              <a:buSzTx/>
              <a:buFontTx/>
              <a:buNone/>
              <a:defRPr/>
            </a:pPr>
            <a:fld id="{C3837181-38C6-AD4F-B8BA-B444770388BB}" type="slidenum">
              <a:rPr lang="en-US" sz="730"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fld>
            <a:endParaRPr lang="en-US" sz="73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7647000" y="6319871"/>
            <a:ext cx="951806" cy="271153"/>
          </a:xfrm>
          <a:prstGeom prst="rect">
            <a:avLst/>
          </a:prstGeom>
        </p:spPr>
      </p:pic>
      <p:grpSp>
        <p:nvGrpSpPr>
          <p:cNvPr id="29" name="Group 87"/>
          <p:cNvGrpSpPr>
            <a:grpSpLocks noChangeAspect="1"/>
          </p:cNvGrpSpPr>
          <p:nvPr userDrawn="1"/>
        </p:nvGrpSpPr>
        <p:grpSpPr>
          <a:xfrm>
            <a:off x="9217854" y="2656168"/>
            <a:ext cx="1472492" cy="4202737"/>
            <a:chOff x="5343885" y="2305"/>
            <a:chExt cx="3263586" cy="6986117"/>
          </a:xfrm>
        </p:grpSpPr>
        <p:sp>
          <p:nvSpPr>
            <p:cNvPr id="30" name="矩形 13"/>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chemeClr val="tx2"/>
                  </a:solidFill>
                  <a:latin typeface="Arial" panose="020B0604020202090204" pitchFamily="34" charset="0"/>
                  <a:ea typeface="Arial" panose="020B0604020202090204" pitchFamily="34" charset="0"/>
                  <a:cs typeface="Arial" panose="020B0604020202090204" pitchFamily="34" charset="0"/>
                </a:rPr>
                <a:t>RGB</a:t>
              </a:r>
              <a:br>
                <a:rPr kumimoji="1" lang="en-US" altLang="zh-CN" sz="375" b="1" dirty="0">
                  <a:solidFill>
                    <a:schemeClr val="tx2"/>
                  </a:solidFill>
                  <a:latin typeface="Arial" panose="020B0604020202090204" pitchFamily="34" charset="0"/>
                  <a:ea typeface="Arial" panose="020B0604020202090204" pitchFamily="34" charset="0"/>
                  <a:cs typeface="Arial" panose="020B0604020202090204" pitchFamily="34" charset="0"/>
                </a:rPr>
              </a:br>
              <a:r>
                <a:rPr kumimoji="1" lang="en-US" altLang="zh-CN" sz="375" b="1" dirty="0">
                  <a:solidFill>
                    <a:schemeClr val="tx2"/>
                  </a:solidFill>
                  <a:latin typeface="Arial" panose="020B0604020202090204" pitchFamily="34" charset="0"/>
                  <a:ea typeface="Arial" panose="020B0604020202090204" pitchFamily="34" charset="0"/>
                  <a:cs typeface="Arial" panose="020B0604020202090204" pitchFamily="34" charset="0"/>
                </a:rPr>
                <a:t>196/0/84</a:t>
              </a:r>
              <a:endParaRPr kumimoji="1" lang="en-US" altLang="zh-CN" sz="375" b="1" dirty="0">
                <a:solidFill>
                  <a:schemeClr val="tx2"/>
                </a:solidFill>
                <a:latin typeface="Arial" panose="020B0604020202090204" pitchFamily="34" charset="0"/>
                <a:ea typeface="Arial" panose="020B0604020202090204" pitchFamily="34" charset="0"/>
                <a:cs typeface="Arial" panose="020B0604020202090204" pitchFamily="34" charset="0"/>
              </a:endParaRPr>
            </a:p>
          </p:txBody>
        </p:sp>
        <p:sp>
          <p:nvSpPr>
            <p:cNvPr id="31" name="文本框 15"/>
            <p:cNvSpPr txBox="1"/>
            <p:nvPr userDrawn="1"/>
          </p:nvSpPr>
          <p:spPr>
            <a:xfrm>
              <a:off x="5352723" y="1745659"/>
              <a:ext cx="1052647" cy="153483"/>
            </a:xfrm>
            <a:prstGeom prst="rect">
              <a:avLst/>
            </a:prstGeom>
            <a:noFill/>
          </p:spPr>
          <p:txBody>
            <a:bodyPr wrap="square" lIns="0" tIns="0" rIns="0" bIns="0" rtlCol="0" anchor="b" anchorCtr="0">
              <a:spAutoFit/>
            </a:bodyPr>
            <a:lstStyle/>
            <a:p>
              <a:pPr algn="l">
                <a:lnSpc>
                  <a:spcPct val="100000"/>
                </a:lnSpc>
              </a:pPr>
              <a:r>
                <a:rPr kumimoji="1" lang="zh-CN" altLang="en-US" sz="600" b="0" i="0" dirty="0">
                  <a:solidFill>
                    <a:schemeClr val="tx1"/>
                  </a:solidFill>
                  <a:latin typeface="微软雅黑" panose="020B0503020204020204" pitchFamily="34" charset="-122"/>
                  <a:ea typeface="微软雅黑" panose="020B0503020204020204" pitchFamily="34" charset="-122"/>
                </a:rPr>
                <a:t>公司辅助色</a:t>
              </a:r>
              <a:endParaRPr kumimoji="1" lang="zh-CN" altLang="en-US" sz="600" b="0" i="0" dirty="0">
                <a:solidFill>
                  <a:schemeClr val="tx1"/>
                </a:solidFill>
                <a:latin typeface="微软雅黑" panose="020B0503020204020204" pitchFamily="34" charset="-122"/>
                <a:ea typeface="微软雅黑" panose="020B0503020204020204" pitchFamily="34" charset="-122"/>
              </a:endParaRPr>
            </a:p>
          </p:txBody>
        </p:sp>
        <p:sp>
          <p:nvSpPr>
            <p:cNvPr id="32" name="矩形 13"/>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203/55/120</a:t>
              </a:r>
              <a:endPar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endParaRPr>
            </a:p>
          </p:txBody>
        </p:sp>
        <p:sp>
          <p:nvSpPr>
            <p:cNvPr id="33" name="矩形 13"/>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237/109/0</a:t>
              </a:r>
              <a:endPar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endParaRPr>
            </a:p>
          </p:txBody>
        </p:sp>
        <p:sp>
          <p:nvSpPr>
            <p:cNvPr id="34" name="矩形 13"/>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685800" rtl="0" eaLnBrk="1" fontAlgn="auto" latinLnBrk="0" hangingPunct="1">
                <a:lnSpc>
                  <a:spcPts val="465"/>
                </a:lnSpc>
                <a:spcBef>
                  <a:spcPts val="0"/>
                </a:spcBef>
                <a:spcAft>
                  <a:spcPts val="0"/>
                </a:spcAft>
                <a:buClrTx/>
                <a:buSzTx/>
                <a:buFontTx/>
                <a:buNone/>
                <a:defRPr/>
              </a:pP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153/54/54</a:t>
              </a:r>
              <a:endPar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endParaRPr>
            </a:p>
          </p:txBody>
        </p:sp>
        <p:sp>
          <p:nvSpPr>
            <p:cNvPr id="35" name="矩形 13"/>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98/178/48</a:t>
              </a:r>
              <a:endPar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endParaRPr>
            </a:p>
          </p:txBody>
        </p:sp>
        <p:sp>
          <p:nvSpPr>
            <p:cNvPr id="36" name="矩形 13"/>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242/137/68</a:t>
              </a:r>
              <a:endPar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endParaRPr>
            </a:p>
          </p:txBody>
        </p:sp>
        <p:sp>
          <p:nvSpPr>
            <p:cNvPr id="37" name="矩形 13"/>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chemeClr val="tx2"/>
                  </a:solidFill>
                  <a:latin typeface="Arial" panose="020B0604020202090204" pitchFamily="34" charset="0"/>
                  <a:ea typeface="Arial" panose="020B0604020202090204" pitchFamily="34" charset="0"/>
                  <a:cs typeface="Arial" panose="020B0604020202090204" pitchFamily="34" charset="0"/>
                </a:rPr>
                <a:t>PANTONE 185C</a:t>
              </a:r>
              <a:endParaRPr kumimoji="1" lang="en-US" altLang="zh-CN" sz="375" b="1" dirty="0">
                <a:solidFill>
                  <a:schemeClr val="tx2"/>
                </a:solidFill>
                <a:latin typeface="Arial" panose="020B0604020202090204" pitchFamily="34" charset="0"/>
                <a:ea typeface="Arial" panose="020B0604020202090204" pitchFamily="34" charset="0"/>
                <a:cs typeface="Arial" panose="020B0604020202090204" pitchFamily="34" charset="0"/>
              </a:endParaRPr>
            </a:p>
            <a:p>
              <a:pPr algn="ctr">
                <a:lnSpc>
                  <a:spcPts val="465"/>
                </a:lnSpc>
                <a:spcBef>
                  <a:spcPts val="0"/>
                </a:spcBef>
              </a:pPr>
              <a:r>
                <a:rPr kumimoji="1" lang="en-US" altLang="zh-CN" sz="375" b="1" dirty="0">
                  <a:solidFill>
                    <a:schemeClr val="tx2"/>
                  </a:solidFill>
                  <a:latin typeface="Arial" panose="020B0604020202090204" pitchFamily="34" charset="0"/>
                  <a:ea typeface="Arial" panose="020B0604020202090204" pitchFamily="34" charset="0"/>
                  <a:cs typeface="Arial" panose="020B0604020202090204" pitchFamily="34" charset="0"/>
                </a:rPr>
                <a:t>RGB </a:t>
              </a:r>
              <a:br>
                <a:rPr kumimoji="1" lang="en-US" altLang="zh-CN" sz="375" b="1" dirty="0">
                  <a:solidFill>
                    <a:schemeClr val="tx2"/>
                  </a:solidFill>
                  <a:latin typeface="Arial" panose="020B0604020202090204" pitchFamily="34" charset="0"/>
                  <a:ea typeface="Arial" panose="020B0604020202090204" pitchFamily="34" charset="0"/>
                  <a:cs typeface="Arial" panose="020B0604020202090204" pitchFamily="34" charset="0"/>
                </a:rPr>
              </a:br>
              <a:r>
                <a:rPr kumimoji="1" lang="en-US" altLang="zh-CN" sz="375" b="1" dirty="0">
                  <a:solidFill>
                    <a:schemeClr val="tx2"/>
                  </a:solidFill>
                  <a:latin typeface="Arial" panose="020B0604020202090204" pitchFamily="34" charset="0"/>
                  <a:ea typeface="Arial" panose="020B0604020202090204" pitchFamily="34" charset="0"/>
                  <a:cs typeface="Arial" panose="020B0604020202090204" pitchFamily="34" charset="0"/>
                </a:rPr>
                <a:t>199/0/11  </a:t>
              </a:r>
              <a:endParaRPr kumimoji="1" lang="en-US" altLang="zh-CN" sz="375" b="1" dirty="0">
                <a:solidFill>
                  <a:schemeClr val="tx2"/>
                </a:solidFill>
                <a:latin typeface="Arial" panose="020B0604020202090204" pitchFamily="34" charset="0"/>
                <a:ea typeface="Arial" panose="020B0604020202090204" pitchFamily="34" charset="0"/>
                <a:cs typeface="Arial" panose="020B0604020202090204" pitchFamily="34" charset="0"/>
              </a:endParaRPr>
            </a:p>
          </p:txBody>
        </p:sp>
        <p:sp>
          <p:nvSpPr>
            <p:cNvPr id="38" name="文本框 15"/>
            <p:cNvSpPr txBox="1"/>
            <p:nvPr userDrawn="1"/>
          </p:nvSpPr>
          <p:spPr>
            <a:xfrm>
              <a:off x="5343885" y="2305"/>
              <a:ext cx="726488" cy="153483"/>
            </a:xfrm>
            <a:prstGeom prst="rect">
              <a:avLst/>
            </a:prstGeom>
            <a:noFill/>
          </p:spPr>
          <p:txBody>
            <a:bodyPr wrap="square" lIns="0" tIns="0" rIns="0" bIns="0" rtlCol="0" anchor="b" anchorCtr="0">
              <a:spAutoFit/>
            </a:bodyPr>
            <a:lstStyle/>
            <a:p>
              <a:pPr algn="l">
                <a:lnSpc>
                  <a:spcPct val="100000"/>
                </a:lnSpc>
              </a:pPr>
              <a:r>
                <a:rPr kumimoji="1" lang="zh-CN" altLang="en-US" sz="600" b="0" i="0" dirty="0">
                  <a:solidFill>
                    <a:schemeClr val="tx1"/>
                  </a:solidFill>
                  <a:latin typeface="微软雅黑" panose="020B0503020204020204" pitchFamily="34" charset="-122"/>
                  <a:ea typeface="微软雅黑" panose="020B0503020204020204" pitchFamily="34" charset="-122"/>
                </a:rPr>
                <a:t>公司色</a:t>
              </a:r>
              <a:endParaRPr kumimoji="1" lang="zh-CN" altLang="en-US" sz="600" b="0" i="0" dirty="0">
                <a:solidFill>
                  <a:schemeClr val="tx1"/>
                </a:solidFill>
                <a:latin typeface="微软雅黑" panose="020B0503020204020204" pitchFamily="34" charset="-122"/>
                <a:ea typeface="微软雅黑" panose="020B0503020204020204" pitchFamily="34" charset="-122"/>
              </a:endParaRPr>
            </a:p>
          </p:txBody>
        </p:sp>
        <p:sp>
          <p:nvSpPr>
            <p:cNvPr id="39" name="矩形 13"/>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chemeClr val="tx2"/>
                  </a:solidFill>
                  <a:latin typeface="Arial" panose="020B0604020202090204" pitchFamily="34" charset="0"/>
                  <a:ea typeface="Arial" panose="020B0604020202090204" pitchFamily="34" charset="0"/>
                  <a:cs typeface="Arial" panose="020B0604020202090204" pitchFamily="34" charset="0"/>
                </a:rPr>
                <a:t>PANTONE 186C</a:t>
              </a:r>
              <a:endParaRPr kumimoji="1" lang="en-US" altLang="zh-CN" sz="375" b="1" dirty="0">
                <a:solidFill>
                  <a:schemeClr val="tx2"/>
                </a:solidFill>
                <a:latin typeface="Arial" panose="020B0604020202090204" pitchFamily="34" charset="0"/>
                <a:ea typeface="Arial" panose="020B0604020202090204" pitchFamily="34" charset="0"/>
                <a:cs typeface="Arial" panose="020B0604020202090204" pitchFamily="34" charset="0"/>
              </a:endParaRPr>
            </a:p>
            <a:p>
              <a:pPr algn="ctr">
                <a:lnSpc>
                  <a:spcPts val="465"/>
                </a:lnSpc>
              </a:pPr>
              <a:r>
                <a:rPr kumimoji="1" lang="en-US" altLang="zh-CN" sz="375" b="1" dirty="0">
                  <a:solidFill>
                    <a:schemeClr val="tx2"/>
                  </a:solidFill>
                  <a:latin typeface="Arial" panose="020B0604020202090204" pitchFamily="34" charset="0"/>
                  <a:ea typeface="Arial" panose="020B0604020202090204" pitchFamily="34" charset="0"/>
                  <a:cs typeface="Arial" panose="020B0604020202090204" pitchFamily="34" charset="0"/>
                </a:rPr>
                <a:t>RGB</a:t>
              </a:r>
              <a:br>
                <a:rPr kumimoji="1" lang="en-US" altLang="zh-CN" sz="375" b="1" dirty="0">
                  <a:solidFill>
                    <a:schemeClr val="tx2"/>
                  </a:solidFill>
                  <a:latin typeface="Arial" panose="020B0604020202090204" pitchFamily="34" charset="0"/>
                  <a:ea typeface="Arial" panose="020B0604020202090204" pitchFamily="34" charset="0"/>
                  <a:cs typeface="Arial" panose="020B0604020202090204" pitchFamily="34" charset="0"/>
                </a:rPr>
              </a:br>
              <a:r>
                <a:rPr kumimoji="1" lang="en-US" altLang="zh-CN" sz="375" b="1" dirty="0">
                  <a:solidFill>
                    <a:schemeClr val="tx2"/>
                  </a:solidFill>
                  <a:latin typeface="Arial" panose="020B0604020202090204" pitchFamily="34" charset="0"/>
                  <a:ea typeface="Arial" panose="020B0604020202090204" pitchFamily="34" charset="0"/>
                  <a:cs typeface="Arial" panose="020B0604020202090204" pitchFamily="34" charset="0"/>
                </a:rPr>
                <a:t>200/16/46  </a:t>
              </a:r>
              <a:endParaRPr kumimoji="1" lang="en-US" altLang="zh-CN" sz="375" b="1" dirty="0">
                <a:solidFill>
                  <a:schemeClr val="tx2"/>
                </a:solidFill>
                <a:latin typeface="Arial" panose="020B0604020202090204" pitchFamily="34" charset="0"/>
                <a:ea typeface="Arial" panose="020B0604020202090204" pitchFamily="34" charset="0"/>
                <a:cs typeface="Arial" panose="020B0604020202090204" pitchFamily="34" charset="0"/>
              </a:endParaRPr>
            </a:p>
          </p:txBody>
        </p:sp>
        <p:sp>
          <p:nvSpPr>
            <p:cNvPr id="40" name="矩形 13"/>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127/0/1</a:t>
              </a:r>
              <a:endPar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endParaRPr>
            </a:p>
          </p:txBody>
        </p:sp>
        <p:sp>
          <p:nvSpPr>
            <p:cNvPr id="41" name="矩形 13"/>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52/200/0</a:t>
              </a:r>
              <a:endPar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endParaRPr>
            </a:p>
          </p:txBody>
        </p:sp>
        <p:sp>
          <p:nvSpPr>
            <p:cNvPr id="42" name="矩形 13"/>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48/181/197</a:t>
              </a:r>
              <a:endPar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endParaRPr>
            </a:p>
          </p:txBody>
        </p:sp>
        <p:sp>
          <p:nvSpPr>
            <p:cNvPr id="43" name="矩形 13"/>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129/193/95</a:t>
              </a:r>
              <a:endPar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endParaRPr>
            </a:p>
          </p:txBody>
        </p:sp>
        <p:sp>
          <p:nvSpPr>
            <p:cNvPr id="44" name="矩形 13"/>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253/211/81</a:t>
              </a:r>
              <a:endPar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endParaRPr>
            </a:p>
          </p:txBody>
        </p:sp>
        <p:sp>
          <p:nvSpPr>
            <p:cNvPr id="65" name="矩形 13"/>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86/196/210</a:t>
              </a:r>
              <a:endPar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endParaRPr>
            </a:p>
          </p:txBody>
        </p:sp>
        <p:sp>
          <p:nvSpPr>
            <p:cNvPr id="66"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211/57/65</a:t>
              </a:r>
              <a:endPar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endParaRPr>
            </a:p>
          </p:txBody>
        </p:sp>
        <p:sp>
          <p:nvSpPr>
            <p:cNvPr id="67"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RGB </a:t>
              </a:r>
              <a:endPar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endParaRPr>
            </a:p>
            <a:p>
              <a:pPr algn="ctr">
                <a:lnSpc>
                  <a:spcPts val="465"/>
                </a:lnSpc>
              </a:pP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211/56/89</a:t>
              </a:r>
              <a:endPar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endParaRPr>
            </a:p>
          </p:txBody>
        </p:sp>
        <p:sp>
          <p:nvSpPr>
            <p:cNvPr id="68"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rPr>
                <a:t>RGB 221/128/170</a:t>
              </a:r>
              <a:endPar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endParaRPr>
            </a:p>
          </p:txBody>
        </p:sp>
        <p:sp>
          <p:nvSpPr>
            <p:cNvPr id="69"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685800" rtl="0" eaLnBrk="1" fontAlgn="auto" latinLnBrk="0" hangingPunct="1">
                <a:lnSpc>
                  <a:spcPts val="465"/>
                </a:lnSpc>
                <a:spcBef>
                  <a:spcPts val="0"/>
                </a:spcBef>
                <a:spcAft>
                  <a:spcPts val="0"/>
                </a:spcAft>
                <a:buClrTx/>
                <a:buSzTx/>
                <a:buFontTx/>
                <a:buNone/>
                <a:defRPr/>
              </a:pPr>
              <a:r>
                <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rPr>
                <a:t>RGB 191/128/130</a:t>
              </a:r>
              <a:endPar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endParaRPr>
            </a:p>
          </p:txBody>
        </p:sp>
        <p:sp>
          <p:nvSpPr>
            <p:cNvPr id="70"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rPr>
                <a:t>RGB 246/183/140</a:t>
              </a:r>
              <a:endPar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endParaRPr>
            </a:p>
          </p:txBody>
        </p:sp>
        <p:sp>
          <p:nvSpPr>
            <p:cNvPr id="71"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rPr>
                <a:t>RGB 176/216/156</a:t>
              </a:r>
              <a:endPar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endParaRPr>
            </a:p>
          </p:txBody>
        </p:sp>
        <p:sp>
          <p:nvSpPr>
            <p:cNvPr id="72"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rPr>
                <a:t>RGB 253/227/181</a:t>
              </a:r>
              <a:endPar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endParaRPr>
            </a:p>
          </p:txBody>
        </p:sp>
        <p:sp>
          <p:nvSpPr>
            <p:cNvPr id="73"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rPr>
                <a:t>RGB 148/218/226</a:t>
              </a:r>
              <a:endPar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endParaRPr>
            </a:p>
          </p:txBody>
        </p:sp>
        <p:sp>
          <p:nvSpPr>
            <p:cNvPr id="74"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rPr>
                <a:t>RGB 226/129/137</a:t>
              </a:r>
              <a:endPar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endParaRPr>
            </a:p>
          </p:txBody>
        </p:sp>
        <p:sp>
          <p:nvSpPr>
            <p:cNvPr id="75"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rPr>
                <a:t>RGB 226/129/152</a:t>
              </a:r>
              <a:endPar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endParaRPr>
            </a:p>
          </p:txBody>
        </p:sp>
        <p:sp>
          <p:nvSpPr>
            <p:cNvPr id="76" name="矩形 13"/>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rPr>
                <a:t>RGB 235/179/204</a:t>
              </a:r>
              <a:endPar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endParaRPr>
            </a:p>
          </p:txBody>
        </p:sp>
        <p:sp>
          <p:nvSpPr>
            <p:cNvPr id="77"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685800" rtl="0" eaLnBrk="1" fontAlgn="auto" latinLnBrk="0" hangingPunct="1">
                <a:lnSpc>
                  <a:spcPts val="465"/>
                </a:lnSpc>
                <a:spcBef>
                  <a:spcPts val="0"/>
                </a:spcBef>
                <a:spcAft>
                  <a:spcPts val="0"/>
                </a:spcAft>
                <a:buClrTx/>
                <a:buSzTx/>
                <a:buFontTx/>
                <a:buNone/>
                <a:defRPr/>
              </a:pPr>
              <a:r>
                <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rPr>
                <a:t>RGB 216/179/179</a:t>
              </a:r>
              <a:endPar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endParaRPr>
            </a:p>
          </p:txBody>
        </p:sp>
        <p:sp>
          <p:nvSpPr>
            <p:cNvPr id="78" name="矩形 13"/>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rPr>
                <a:t>RGB 250/211/187</a:t>
              </a:r>
              <a:endPar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endParaRPr>
            </a:p>
          </p:txBody>
        </p:sp>
        <p:sp>
          <p:nvSpPr>
            <p:cNvPr id="79" name="矩形 13"/>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rPr>
                <a:t>RGB 208/232/196</a:t>
              </a:r>
              <a:endPar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endParaRPr>
            </a:p>
          </p:txBody>
        </p:sp>
        <p:sp>
          <p:nvSpPr>
            <p:cNvPr id="80" name="矩形 13"/>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rPr>
                <a:t>RGB 254/238/193</a:t>
              </a:r>
              <a:endPar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endParaRPr>
            </a:p>
          </p:txBody>
        </p:sp>
        <p:sp>
          <p:nvSpPr>
            <p:cNvPr id="81" name="矩形 13"/>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rPr>
                <a:t>RGB</a:t>
              </a:r>
              <a:br>
                <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rPr>
              </a:br>
              <a:r>
                <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rPr>
                <a:t>190/23/238</a:t>
              </a:r>
              <a:endPar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endParaRPr>
            </a:p>
          </p:txBody>
        </p:sp>
        <p:sp>
          <p:nvSpPr>
            <p:cNvPr id="82"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rPr>
                <a:t>RGB 239/178/184</a:t>
              </a:r>
              <a:endPar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endParaRPr>
            </a:p>
          </p:txBody>
        </p:sp>
        <p:sp>
          <p:nvSpPr>
            <p:cNvPr id="83"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rPr>
                <a:t>RGB 238/179/193</a:t>
              </a:r>
              <a:endPar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endParaRPr>
            </a:p>
          </p:txBody>
        </p:sp>
        <p:sp>
          <p:nvSpPr>
            <p:cNvPr id="84" name="矩形 13"/>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35/24/21</a:t>
              </a:r>
              <a:endPar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endParaRPr>
            </a:p>
          </p:txBody>
        </p:sp>
        <p:sp>
          <p:nvSpPr>
            <p:cNvPr id="85" name="矩形 13"/>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RGB </a:t>
              </a:r>
              <a:endPar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endParaRPr>
            </a:p>
            <a:p>
              <a:pPr algn="ctr">
                <a:lnSpc>
                  <a:spcPts val="465"/>
                </a:lnSpc>
              </a:pP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89/87/87</a:t>
              </a:r>
              <a:endPar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endParaRPr>
            </a:p>
          </p:txBody>
        </p:sp>
        <p:sp>
          <p:nvSpPr>
            <p:cNvPr id="86" name="矩形 13"/>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RGB</a:t>
              </a:r>
              <a:endPar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endParaRPr>
            </a:p>
            <a:p>
              <a:pPr algn="ctr">
                <a:lnSpc>
                  <a:spcPts val="465"/>
                </a:lnSpc>
              </a:pP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137/137/</a:t>
              </a:r>
              <a:b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137</a:t>
              </a:r>
              <a:endPar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endParaRPr>
            </a:p>
          </p:txBody>
        </p:sp>
        <p:sp>
          <p:nvSpPr>
            <p:cNvPr id="87" name="矩形 13"/>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RGB</a:t>
              </a:r>
              <a:endPar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endParaRPr>
            </a:p>
            <a:p>
              <a:pPr algn="ctr">
                <a:lnSpc>
                  <a:spcPts val="465"/>
                </a:lnSpc>
              </a:pP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181/181/</a:t>
              </a:r>
              <a:b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rPr>
                <a:t>181</a:t>
              </a:r>
              <a:endParaRPr kumimoji="1" lang="en-US" altLang="zh-CN" sz="375" b="1" dirty="0">
                <a:solidFill>
                  <a:srgbClr val="FFFFFF"/>
                </a:solidFill>
                <a:latin typeface="Arial" panose="020B0604020202090204" pitchFamily="34" charset="0"/>
                <a:ea typeface="Arial" panose="020B0604020202090204" pitchFamily="34" charset="0"/>
                <a:cs typeface="Arial" panose="020B0604020202090204" pitchFamily="34" charset="0"/>
              </a:endParaRPr>
            </a:p>
          </p:txBody>
        </p:sp>
        <p:sp>
          <p:nvSpPr>
            <p:cNvPr id="88" name="矩形 13"/>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rPr>
                <a:t>RGB 221/221/</a:t>
              </a:r>
              <a:br>
                <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rPr>
              </a:br>
              <a:r>
                <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rPr>
                <a:t>221</a:t>
              </a:r>
              <a:endPar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endParaRPr>
            </a:p>
          </p:txBody>
        </p:sp>
        <p:sp>
          <p:nvSpPr>
            <p:cNvPr id="89" name="矩形 13"/>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rPr>
                <a:t>RGB</a:t>
              </a:r>
              <a:endPar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endParaRPr>
            </a:p>
            <a:p>
              <a:pPr algn="ctr">
                <a:lnSpc>
                  <a:spcPts val="465"/>
                </a:lnSpc>
              </a:pPr>
              <a:r>
                <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rPr>
                <a:t>255/255/</a:t>
              </a:r>
              <a:br>
                <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rPr>
              </a:br>
              <a:r>
                <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rPr>
                <a:t>255</a:t>
              </a:r>
              <a:endParaRPr kumimoji="1" lang="en-US" altLang="zh-CN" sz="375" b="1" dirty="0">
                <a:solidFill>
                  <a:srgbClr val="595757"/>
                </a:solidFill>
                <a:latin typeface="Arial" panose="020B0604020202090204" pitchFamily="34" charset="0"/>
                <a:ea typeface="Arial" panose="020B0604020202090204" pitchFamily="34" charset="0"/>
                <a:cs typeface="Arial" panose="020B0604020202090204" pitchFamily="34" charset="0"/>
              </a:endParaRPr>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lgn="l" defTabSz="685800" rtl="0" eaLnBrk="1" fontAlgn="base" latinLnBrk="0" hangingPunct="1">
        <a:lnSpc>
          <a:spcPct val="90000"/>
        </a:lnSpc>
        <a:spcBef>
          <a:spcPct val="0"/>
        </a:spcBef>
        <a:buNone/>
        <a:defRPr lang="zh-CN" altLang="en-US" sz="24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226695" indent="-226695" algn="l" defTabSz="685800" rtl="0" eaLnBrk="1" fontAlgn="ctr" latinLnBrk="0" hangingPunct="1">
        <a:lnSpc>
          <a:spcPct val="140000"/>
        </a:lnSpc>
        <a:spcBef>
          <a:spcPts val="595"/>
        </a:spcBef>
        <a:buSzPct val="50000"/>
        <a:buFont typeface="Wingdings" panose="05000000000000000000" pitchFamily="2" charset="2"/>
        <a:buChar char="l"/>
        <a:defRPr sz="1650" kern="1200" baseline="0">
          <a:solidFill>
            <a:schemeClr val="tx1"/>
          </a:solidFill>
          <a:latin typeface="Huawei Sans" panose="020C0503030203020204" pitchFamily="34" charset="0"/>
          <a:ea typeface="方正兰亭黑简体" panose="02000000000000000000" pitchFamily="2" charset="-122"/>
          <a:cs typeface="+mn-cs"/>
        </a:defRPr>
      </a:lvl1pPr>
      <a:lvl2pPr marL="491490" indent="-189230" algn="l" defTabSz="685800" rtl="0" eaLnBrk="1" fontAlgn="ctr" latinLnBrk="0" hangingPunct="1">
        <a:lnSpc>
          <a:spcPct val="140000"/>
        </a:lnSpc>
        <a:spcBef>
          <a:spcPts val="540"/>
        </a:spcBef>
        <a:buClrTx/>
        <a:buSzPct val="50000"/>
        <a:buFont typeface="Wingdings" panose="05000000000000000000" pitchFamily="2" charset="2"/>
        <a:buChar char="p"/>
        <a:defRPr sz="1500" kern="1200" baseline="0">
          <a:solidFill>
            <a:schemeClr val="tx1"/>
          </a:solidFill>
          <a:latin typeface="Huawei Sans" panose="020C0503030203020204" pitchFamily="34" charset="0"/>
          <a:ea typeface="方正兰亭黑简体" panose="02000000000000000000" pitchFamily="2" charset="-122"/>
          <a:cs typeface="+mn-cs"/>
        </a:defRPr>
      </a:lvl2pPr>
      <a:lvl3pPr marL="753110" indent="-151130" algn="l" defTabSz="685800" rtl="0" eaLnBrk="1" fontAlgn="ctr" latinLnBrk="0" hangingPunct="1">
        <a:lnSpc>
          <a:spcPct val="140000"/>
        </a:lnSpc>
        <a:spcBef>
          <a:spcPts val="485"/>
        </a:spcBef>
        <a:buClrTx/>
        <a:buSzPct val="50000"/>
        <a:buFont typeface="Wingdings" panose="05000000000000000000" pitchFamily="2" charset="2"/>
        <a:buChar char="n"/>
        <a:defRPr sz="1350" kern="1200" baseline="0">
          <a:solidFill>
            <a:schemeClr val="tx1"/>
          </a:solidFill>
          <a:latin typeface="Huawei Sans" panose="020C0503030203020204" pitchFamily="34" charset="0"/>
          <a:ea typeface="方正兰亭黑简体" panose="02000000000000000000" pitchFamily="2" charset="-122"/>
          <a:cs typeface="+mn-cs"/>
        </a:defRPr>
      </a:lvl3pPr>
      <a:lvl4pPr marL="1049655" indent="-148590" algn="l" defTabSz="685800" rtl="0" eaLnBrk="1" fontAlgn="ctr" latinLnBrk="0" hangingPunct="1">
        <a:lnSpc>
          <a:spcPct val="140000"/>
        </a:lnSpc>
        <a:spcBef>
          <a:spcPts val="430"/>
        </a:spcBef>
        <a:buFont typeface="Huawei Sans" panose="020C0503030203020204" pitchFamily="34" charset="0"/>
        <a:buChar char="−"/>
        <a:defRPr sz="1200" kern="1200" baseline="0">
          <a:solidFill>
            <a:schemeClr val="tx1"/>
          </a:solidFill>
          <a:latin typeface="Huawei Sans" panose="020C0503030203020204" pitchFamily="34" charset="0"/>
          <a:ea typeface="方正兰亭黑简体" panose="02000000000000000000" pitchFamily="2" charset="-122"/>
          <a:cs typeface="+mn-cs"/>
        </a:defRPr>
      </a:lvl4pPr>
      <a:lvl5pPr marL="1351915" indent="-151130" algn="l" defTabSz="685800" rtl="0" eaLnBrk="1" fontAlgn="ctr" latinLnBrk="0" hangingPunct="1">
        <a:lnSpc>
          <a:spcPct val="140000"/>
        </a:lnSpc>
        <a:spcBef>
          <a:spcPts val="430"/>
        </a:spcBef>
        <a:buFont typeface="Huawei Sans" panose="020C0503030203020204" pitchFamily="34" charset="0"/>
        <a:buChar char="~"/>
        <a:defRPr sz="1050" kern="1200" baseline="0">
          <a:solidFill>
            <a:schemeClr val="tx1"/>
          </a:solidFill>
          <a:latin typeface="Huawei Sans" panose="020C0503030203020204" pitchFamily="34" charset="0"/>
          <a:ea typeface="方正兰亭黑简体" panose="02000000000000000000" pitchFamily="2" charset="-122"/>
          <a:cs typeface="+mn-cs"/>
        </a:defRPr>
      </a:lvl5pPr>
      <a:lvl6pPr marL="1885315"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215"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048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338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065" algn="l" defTabSz="685800" rtl="0" eaLnBrk="1" latinLnBrk="0" hangingPunct="1">
        <a:defRPr sz="1350" kern="1200">
          <a:solidFill>
            <a:schemeClr val="tx1"/>
          </a:solidFill>
          <a:latin typeface="+mn-lt"/>
          <a:ea typeface="+mn-ea"/>
          <a:cs typeface="+mn-cs"/>
        </a:defRPr>
      </a:lvl4pPr>
      <a:lvl5pPr marL="1370965" algn="l" defTabSz="685800" rtl="0" eaLnBrk="1" latinLnBrk="0" hangingPunct="1">
        <a:defRPr sz="1350" kern="1200">
          <a:solidFill>
            <a:schemeClr val="tx1"/>
          </a:solidFill>
          <a:latin typeface="+mn-lt"/>
          <a:ea typeface="+mn-ea"/>
          <a:cs typeface="+mn-cs"/>
        </a:defRPr>
      </a:lvl5pPr>
      <a:lvl6pPr marL="1713865" algn="l" defTabSz="685800" rtl="0" eaLnBrk="1" latinLnBrk="0" hangingPunct="1">
        <a:defRPr sz="1350" kern="1200">
          <a:solidFill>
            <a:schemeClr val="tx1"/>
          </a:solidFill>
          <a:latin typeface="+mn-lt"/>
          <a:ea typeface="+mn-ea"/>
          <a:cs typeface="+mn-cs"/>
        </a:defRPr>
      </a:lvl6pPr>
      <a:lvl7pPr marL="2056765" algn="l" defTabSz="685800" rtl="0" eaLnBrk="1" latinLnBrk="0" hangingPunct="1">
        <a:defRPr sz="1350" kern="1200">
          <a:solidFill>
            <a:schemeClr val="tx1"/>
          </a:solidFill>
          <a:latin typeface="+mn-lt"/>
          <a:ea typeface="+mn-ea"/>
          <a:cs typeface="+mn-cs"/>
        </a:defRPr>
      </a:lvl7pPr>
      <a:lvl8pPr marL="2399030" algn="l" defTabSz="685800" rtl="0" eaLnBrk="1" latinLnBrk="0" hangingPunct="1">
        <a:defRPr sz="1350" kern="1200">
          <a:solidFill>
            <a:schemeClr val="tx1"/>
          </a:solidFill>
          <a:latin typeface="+mn-lt"/>
          <a:ea typeface="+mn-ea"/>
          <a:cs typeface="+mn-cs"/>
        </a:defRPr>
      </a:lvl8pPr>
      <a:lvl9pPr marL="274193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9B9FF43-20F1-4505-AC61-BA301470A50B}" type="datetimeFigureOut">
              <a:rPr lang="zh-CN" altLang="en-US" smtClean="0"/>
            </a:fld>
            <a:endParaRPr lang="zh-CN" altLang="en-US"/>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0F953EE-632C-4661-B989-2AC8A9F84211}"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9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9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9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hyperlink" Target="https://hust.fanya.chaoxing.com/" TargetMode="Externa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www.icourse163.org/course/HUST-1449788170?tid=1476677456"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jpeg"/><Relationship Id="rId1" Type="http://schemas.openxmlformats.org/officeDocument/2006/relationships/image" Target="../media/image8.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jpeg"/></Relationships>
</file>

<file path=ppt/slides/_rels/slide3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12.wmf"/></Relationships>
</file>

<file path=ppt/slides/_rels/slide35.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7.xml"/><Relationship Id="rId2" Type="http://schemas.openxmlformats.org/officeDocument/2006/relationships/image" Target="../media/image15.wmf"/><Relationship Id="rId1" Type="http://schemas.openxmlformats.org/officeDocument/2006/relationships/oleObject" Target="../embeddings/oleObject1.bin"/></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16.wmf"/><Relationship Id="rId1" Type="http://schemas.openxmlformats.org/officeDocument/2006/relationships/oleObject" Target="../embeddings/oleObject2.bin"/></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image" Target="../media/image17.jpe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jpe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jpe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23.wmf"/><Relationship Id="rId1" Type="http://schemas.openxmlformats.org/officeDocument/2006/relationships/oleObject" Target="../embeddings/oleObject3.bin"/></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7.xml"/><Relationship Id="rId2" Type="http://schemas.openxmlformats.org/officeDocument/2006/relationships/image" Target="../media/image27.wmf"/><Relationship Id="rId1" Type="http://schemas.openxmlformats.org/officeDocument/2006/relationships/oleObject" Target="../embeddings/oleObject4.bin"/></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slideLayout" Target="../slideLayouts/slideLayout7.xml"/><Relationship Id="rId4" Type="http://schemas.openxmlformats.org/officeDocument/2006/relationships/image" Target="../media/image29.wmf"/><Relationship Id="rId3" Type="http://schemas.openxmlformats.org/officeDocument/2006/relationships/oleObject" Target="../embeddings/oleObject6.bin"/><Relationship Id="rId2" Type="http://schemas.openxmlformats.org/officeDocument/2006/relationships/image" Target="../media/image28.wmf"/><Relationship Id="rId1" Type="http://schemas.openxmlformats.org/officeDocument/2006/relationships/oleObject" Target="../embeddings/oleObject5.bin"/></Relationships>
</file>

<file path=ppt/slides/_rels/slide54.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7.xml"/><Relationship Id="rId2" Type="http://schemas.openxmlformats.org/officeDocument/2006/relationships/image" Target="../media/image30.wmf"/><Relationship Id="rId1" Type="http://schemas.openxmlformats.org/officeDocument/2006/relationships/oleObject" Target="../embeddings/oleObject7.bin"/></Relationships>
</file>

<file path=ppt/slides/_rels/slide55.xml.rels><?xml version="1.0" encoding="UTF-8" standalone="yes"?>
<Relationships xmlns="http://schemas.openxmlformats.org/package/2006/relationships"><Relationship Id="rId8" Type="http://schemas.openxmlformats.org/officeDocument/2006/relationships/vmlDrawing" Target="../drawings/vmlDrawing7.vml"/><Relationship Id="rId7" Type="http://schemas.openxmlformats.org/officeDocument/2006/relationships/slideLayout" Target="../slideLayouts/slideLayout7.xml"/><Relationship Id="rId6" Type="http://schemas.openxmlformats.org/officeDocument/2006/relationships/image" Target="../media/image33.wmf"/><Relationship Id="rId5" Type="http://schemas.openxmlformats.org/officeDocument/2006/relationships/oleObject" Target="../embeddings/oleObject10.bin"/><Relationship Id="rId4" Type="http://schemas.openxmlformats.org/officeDocument/2006/relationships/image" Target="../media/image32.wmf"/><Relationship Id="rId3" Type="http://schemas.openxmlformats.org/officeDocument/2006/relationships/oleObject" Target="../embeddings/oleObject9.bin"/><Relationship Id="rId2" Type="http://schemas.openxmlformats.org/officeDocument/2006/relationships/image" Target="../media/image31.wmf"/><Relationship Id="rId1" Type="http://schemas.openxmlformats.org/officeDocument/2006/relationships/oleObject" Target="../embeddings/oleObject8.bin"/></Relationships>
</file>

<file path=ppt/slides/_rels/slide56.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7.xml"/><Relationship Id="rId2" Type="http://schemas.openxmlformats.org/officeDocument/2006/relationships/image" Target="../media/image34.wmf"/><Relationship Id="rId1" Type="http://schemas.openxmlformats.org/officeDocument/2006/relationships/oleObject" Target="../embeddings/oleObject11.bin"/></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emf"/></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7.emf"/><Relationship Id="rId1" Type="http://schemas.openxmlformats.org/officeDocument/2006/relationships/image" Target="../media/image36.emf"/></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8.emf"/></Relationships>
</file>

<file path=ppt/slides/_rels/slide60.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7.xml"/><Relationship Id="rId2" Type="http://schemas.openxmlformats.org/officeDocument/2006/relationships/image" Target="../media/image39.wmf"/><Relationship Id="rId1" Type="http://schemas.openxmlformats.org/officeDocument/2006/relationships/oleObject" Target="../embeddings/oleObject12.bin"/></Relationships>
</file>

<file path=ppt/slides/_rels/slide61.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7.xml"/><Relationship Id="rId2" Type="http://schemas.openxmlformats.org/officeDocument/2006/relationships/image" Target="../media/image40.wmf"/><Relationship Id="rId1" Type="http://schemas.openxmlformats.org/officeDocument/2006/relationships/oleObject" Target="../embeddings/oleObject13.bin"/></Relationships>
</file>

<file path=ppt/slides/_rels/slide62.xml.rels><?xml version="1.0" encoding="UTF-8" standalone="yes"?>
<Relationships xmlns="http://schemas.openxmlformats.org/package/2006/relationships"><Relationship Id="rId4" Type="http://schemas.openxmlformats.org/officeDocument/2006/relationships/vmlDrawing" Target="../drawings/vmlDrawing11.vml"/><Relationship Id="rId3" Type="http://schemas.openxmlformats.org/officeDocument/2006/relationships/slideLayout" Target="../slideLayouts/slideLayout7.xml"/><Relationship Id="rId2" Type="http://schemas.openxmlformats.org/officeDocument/2006/relationships/image" Target="../media/image41.wmf"/><Relationship Id="rId1" Type="http://schemas.openxmlformats.org/officeDocument/2006/relationships/oleObject" Target="../embeddings/oleObject14.bin"/></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4" Type="http://schemas.openxmlformats.org/officeDocument/2006/relationships/vmlDrawing" Target="../drawings/vmlDrawing12.vml"/><Relationship Id="rId3" Type="http://schemas.openxmlformats.org/officeDocument/2006/relationships/slideLayout" Target="../slideLayouts/slideLayout7.xml"/><Relationship Id="rId2" Type="http://schemas.openxmlformats.org/officeDocument/2006/relationships/image" Target="../media/image42.wmf"/><Relationship Id="rId1" Type="http://schemas.openxmlformats.org/officeDocument/2006/relationships/oleObject" Target="../embeddings/oleObject15.bin"/></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4" Type="http://schemas.openxmlformats.org/officeDocument/2006/relationships/vmlDrawing" Target="../drawings/vmlDrawing13.vml"/><Relationship Id="rId3" Type="http://schemas.openxmlformats.org/officeDocument/2006/relationships/slideLayout" Target="../slideLayouts/slideLayout7.xml"/><Relationship Id="rId2" Type="http://schemas.openxmlformats.org/officeDocument/2006/relationships/image" Target="../media/image43.wmf"/><Relationship Id="rId1" Type="http://schemas.openxmlformats.org/officeDocument/2006/relationships/oleObject" Target="../embeddings/oleObject16.bin"/></Relationships>
</file>

<file path=ppt/slides/_rels/slide67.xml.rels><?xml version="1.0" encoding="UTF-8" standalone="yes"?>
<Relationships xmlns="http://schemas.openxmlformats.org/package/2006/relationships"><Relationship Id="rId6" Type="http://schemas.openxmlformats.org/officeDocument/2006/relationships/vmlDrawing" Target="../drawings/vmlDrawing14.vml"/><Relationship Id="rId5" Type="http://schemas.openxmlformats.org/officeDocument/2006/relationships/slideLayout" Target="../slideLayouts/slideLayout7.xml"/><Relationship Id="rId4" Type="http://schemas.openxmlformats.org/officeDocument/2006/relationships/image" Target="../media/image45.wmf"/><Relationship Id="rId3" Type="http://schemas.openxmlformats.org/officeDocument/2006/relationships/oleObject" Target="../embeddings/oleObject18.bin"/><Relationship Id="rId2" Type="http://schemas.openxmlformats.org/officeDocument/2006/relationships/image" Target="../media/image44.wmf"/><Relationship Id="rId1" Type="http://schemas.openxmlformats.org/officeDocument/2006/relationships/oleObject" Target="../embeddings/oleObject17.bin"/></Relationships>
</file>

<file path=ppt/slides/_rels/slide68.xml.rels><?xml version="1.0" encoding="UTF-8" standalone="yes"?>
<Relationships xmlns="http://schemas.openxmlformats.org/package/2006/relationships"><Relationship Id="rId6" Type="http://schemas.openxmlformats.org/officeDocument/2006/relationships/vmlDrawing" Target="../drawings/vmlDrawing15.vml"/><Relationship Id="rId5" Type="http://schemas.openxmlformats.org/officeDocument/2006/relationships/slideLayout" Target="../slideLayouts/slideLayout7.xml"/><Relationship Id="rId4" Type="http://schemas.openxmlformats.org/officeDocument/2006/relationships/image" Target="../media/image47.wmf"/><Relationship Id="rId3" Type="http://schemas.openxmlformats.org/officeDocument/2006/relationships/oleObject" Target="../embeddings/oleObject20.bin"/><Relationship Id="rId2" Type="http://schemas.openxmlformats.org/officeDocument/2006/relationships/image" Target="../media/image46.wmf"/><Relationship Id="rId1" Type="http://schemas.openxmlformats.org/officeDocument/2006/relationships/oleObject" Target="../embeddings/oleObject19.bin"/></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vmlDrawing" Target="../drawings/vmlDrawing16.vml"/><Relationship Id="rId3" Type="http://schemas.openxmlformats.org/officeDocument/2006/relationships/slideLayout" Target="../slideLayouts/slideLayout7.xml"/><Relationship Id="rId2" Type="http://schemas.openxmlformats.org/officeDocument/2006/relationships/image" Target="../media/image48.wmf"/><Relationship Id="rId1" Type="http://schemas.openxmlformats.org/officeDocument/2006/relationships/oleObject" Target="../embeddings/oleObject21.bin"/></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9.emf"/></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4" Type="http://schemas.openxmlformats.org/officeDocument/2006/relationships/vmlDrawing" Target="../drawings/vmlDrawing17.vml"/><Relationship Id="rId3" Type="http://schemas.openxmlformats.org/officeDocument/2006/relationships/slideLayout" Target="../slideLayouts/slideLayout2.xml"/><Relationship Id="rId2" Type="http://schemas.openxmlformats.org/officeDocument/2006/relationships/image" Target="../media/image50.wmf"/><Relationship Id="rId1" Type="http://schemas.openxmlformats.org/officeDocument/2006/relationships/oleObject" Target="../embeddings/oleObject22.bin"/></Relationships>
</file>

<file path=ppt/slides/_rels/slide89.xml.rels><?xml version="1.0" encoding="UTF-8" standalone="yes"?>
<Relationships xmlns="http://schemas.openxmlformats.org/package/2006/relationships"><Relationship Id="rId4" Type="http://schemas.openxmlformats.org/officeDocument/2006/relationships/vmlDrawing" Target="../drawings/vmlDrawing18.vml"/><Relationship Id="rId3" Type="http://schemas.openxmlformats.org/officeDocument/2006/relationships/slideLayout" Target="../slideLayouts/slideLayout7.xml"/><Relationship Id="rId2" Type="http://schemas.openxmlformats.org/officeDocument/2006/relationships/image" Target="../media/image51.wmf"/><Relationship Id="rId1" Type="http://schemas.openxmlformats.org/officeDocument/2006/relationships/oleObject" Target="../embeddings/oleObject23.bin"/></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4" Type="http://schemas.openxmlformats.org/officeDocument/2006/relationships/vmlDrawing" Target="../drawings/vmlDrawing19.vml"/><Relationship Id="rId3" Type="http://schemas.openxmlformats.org/officeDocument/2006/relationships/slideLayout" Target="../slideLayouts/slideLayout7.xml"/><Relationship Id="rId2" Type="http://schemas.openxmlformats.org/officeDocument/2006/relationships/image" Target="../media/image52.wmf"/><Relationship Id="rId1" Type="http://schemas.openxmlformats.org/officeDocument/2006/relationships/oleObject" Target="../embeddings/oleObject24.bin"/></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4" Type="http://schemas.openxmlformats.org/officeDocument/2006/relationships/vmlDrawing" Target="../drawings/vmlDrawing20.vml"/><Relationship Id="rId3" Type="http://schemas.openxmlformats.org/officeDocument/2006/relationships/slideLayout" Target="../slideLayouts/slideLayout2.xml"/><Relationship Id="rId2" Type="http://schemas.openxmlformats.org/officeDocument/2006/relationships/image" Target="../media/image53.wmf"/><Relationship Id="rId1" Type="http://schemas.openxmlformats.org/officeDocument/2006/relationships/oleObject" Target="../embeddings/oleObject25.bin"/></Relationships>
</file>

<file path=ppt/slides/_rels/slide94.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vmlDrawing" Target="../drawings/vmlDrawing21.vml"/><Relationship Id="rId3" Type="http://schemas.openxmlformats.org/officeDocument/2006/relationships/slideLayout" Target="../slideLayouts/slideLayout2.xml"/><Relationship Id="rId2" Type="http://schemas.openxmlformats.org/officeDocument/2006/relationships/image" Target="../media/image54.wmf"/><Relationship Id="rId1" Type="http://schemas.openxmlformats.org/officeDocument/2006/relationships/oleObject" Target="../embeddings/oleObject26.bin"/></Relationships>
</file>

<file path=ppt/slides/_rels/slide95.xml.rels><?xml version="1.0" encoding="UTF-8" standalone="yes"?>
<Relationships xmlns="http://schemas.openxmlformats.org/package/2006/relationships"><Relationship Id="rId4" Type="http://schemas.openxmlformats.org/officeDocument/2006/relationships/vmlDrawing" Target="../drawings/vmlDrawing22.vml"/><Relationship Id="rId3" Type="http://schemas.openxmlformats.org/officeDocument/2006/relationships/slideLayout" Target="../slideLayouts/slideLayout7.xml"/><Relationship Id="rId2" Type="http://schemas.openxmlformats.org/officeDocument/2006/relationships/image" Target="../media/image55.wmf"/><Relationship Id="rId1" Type="http://schemas.openxmlformats.org/officeDocument/2006/relationships/oleObject" Target="../embeddings/oleObject27.bin"/></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6.emf"/></Relationships>
</file>

<file path=ppt/slides/_rels/slide10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6.emf"/></Relationships>
</file>

<file path=ppt/slides/_rels/slide10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57.png"/></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07.xml.rels><?xml version="1.0" encoding="UTF-8" standalone="yes"?>
<Relationships xmlns="http://schemas.openxmlformats.org/package/2006/relationships"><Relationship Id="rId7" Type="http://schemas.openxmlformats.org/officeDocument/2006/relationships/notesSlide" Target="../notesSlides/notesSlide14.xml"/><Relationship Id="rId6" Type="http://schemas.openxmlformats.org/officeDocument/2006/relationships/slideLayout" Target="../slideLayouts/slideLayout13.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11.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5.xml"/><Relationship Id="rId1" Type="http://schemas.openxmlformats.org/officeDocument/2006/relationships/chart" Target="../charts/chart1.xml"/></Relationships>
</file>

<file path=ppt/slides/_rels/slide112.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9.xml"/><Relationship Id="rId1" Type="http://schemas.openxmlformats.org/officeDocument/2006/relationships/chart" Target="../charts/chart2.xml"/></Relationships>
</file>

<file path=ppt/slides/_rels/slide113.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29.xml"/><Relationship Id="rId2" Type="http://schemas.microsoft.com/office/2007/relationships/hdphoto" Target="../media/image59.wdp"/><Relationship Id="rId1" Type="http://schemas.openxmlformats.org/officeDocument/2006/relationships/image" Target="../media/image58.png"/></Relationships>
</file>

<file path=ppt/slides/_rels/slide114.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vmlDrawing" Target="../drawings/vmlDrawing23.vml"/><Relationship Id="rId3" Type="http://schemas.openxmlformats.org/officeDocument/2006/relationships/slideLayout" Target="../slideLayouts/slideLayout7.xml"/><Relationship Id="rId2" Type="http://schemas.openxmlformats.org/officeDocument/2006/relationships/image" Target="../media/image60.wmf"/><Relationship Id="rId1" Type="http://schemas.openxmlformats.org/officeDocument/2006/relationships/oleObject" Target="../embeddings/oleObject28.bin"/></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4"/>
          <p:cNvSpPr>
            <a:spLocks noGrp="1" noChangeArrowheads="1"/>
          </p:cNvSpPr>
          <p:nvPr>
            <p:ph type="title"/>
          </p:nvPr>
        </p:nvSpPr>
        <p:spPr>
          <a:xfrm>
            <a:off x="457200" y="620713"/>
            <a:ext cx="8229600" cy="1143000"/>
          </a:xfrm>
        </p:spPr>
        <p:txBody>
          <a:bodyPr>
            <a:normAutofit fontScale="90000"/>
          </a:bodyPr>
          <a:lstStyle/>
          <a:p>
            <a:pPr algn="ctr" eaLnBrk="1" fontAlgn="auto" hangingPunct="1">
              <a:spcAft>
                <a:spcPts val="0"/>
              </a:spcAft>
              <a:defRPr/>
            </a:pPr>
            <a:r>
              <a:rPr lang="zh-CN" altLang="en-US" dirty="0">
                <a:solidFill>
                  <a:srgbClr val="0000FF"/>
                </a:solidFill>
                <a:effectLst>
                  <a:outerShdw blurRad="38100" dist="38100" dir="2700000" algn="tl">
                    <a:srgbClr val="000000">
                      <a:alpha val="43137"/>
                    </a:srgbClr>
                  </a:outerShdw>
                </a:effectLst>
              </a:rPr>
              <a:t>数据库系统原理</a:t>
            </a:r>
            <a:r>
              <a:rPr lang="en-US" altLang="zh-CN" dirty="0">
                <a:solidFill>
                  <a:srgbClr val="0000FF"/>
                </a:solidFill>
                <a:effectLst>
                  <a:outerShdw blurRad="38100" dist="38100" dir="2700000" algn="tl">
                    <a:srgbClr val="000000">
                      <a:alpha val="43137"/>
                    </a:srgbClr>
                  </a:outerShdw>
                </a:effectLst>
                <a:latin typeface="Times New Roman" panose="02020503050405090304"/>
              </a:rPr>
              <a:t>——</a:t>
            </a:r>
            <a:r>
              <a:rPr lang="zh-CN" altLang="en-US" sz="3600" dirty="0">
                <a:solidFill>
                  <a:srgbClr val="0000FF"/>
                </a:solidFill>
                <a:effectLst>
                  <a:outerShdw blurRad="38100" dist="38100" dir="2700000" algn="tl">
                    <a:srgbClr val="000000">
                      <a:alpha val="43137"/>
                    </a:srgbClr>
                  </a:outerShdw>
                </a:effectLst>
              </a:rPr>
              <a:t>潘鹏</a:t>
            </a:r>
            <a:br>
              <a:rPr lang="en-US" altLang="zh-CN" sz="3600" dirty="0">
                <a:solidFill>
                  <a:srgbClr val="0000FF"/>
                </a:solidFill>
                <a:effectLst>
                  <a:outerShdw blurRad="38100" dist="38100" dir="2700000" algn="tl">
                    <a:srgbClr val="000000">
                      <a:alpha val="43137"/>
                    </a:srgbClr>
                  </a:outerShdw>
                </a:effectLst>
              </a:rPr>
            </a:br>
            <a:r>
              <a:rPr lang="en-US" altLang="zh-CN" sz="3600" dirty="0">
                <a:solidFill>
                  <a:srgbClr val="0000FF"/>
                </a:solidFill>
                <a:effectLst>
                  <a:outerShdw blurRad="38100" dist="38100" dir="2700000" algn="tl">
                    <a:srgbClr val="000000">
                      <a:alpha val="43137"/>
                    </a:srgbClr>
                  </a:outerShdw>
                </a:effectLst>
              </a:rPr>
              <a:t>13006147552</a:t>
            </a:r>
            <a:endParaRPr lang="zh-CN" altLang="en-US" sz="3600" dirty="0">
              <a:solidFill>
                <a:srgbClr val="0000FF"/>
              </a:solidFill>
              <a:effectLst>
                <a:outerShdw blurRad="38100" dist="38100" dir="2700000" algn="tl">
                  <a:srgbClr val="000000">
                    <a:alpha val="43137"/>
                  </a:srgbClr>
                </a:outerShdw>
              </a:effectLst>
            </a:endParaRPr>
          </a:p>
        </p:txBody>
      </p:sp>
      <p:sp>
        <p:nvSpPr>
          <p:cNvPr id="30723" name="Rectangle 5"/>
          <p:cNvSpPr>
            <a:spLocks noGrp="1" noChangeArrowheads="1"/>
          </p:cNvSpPr>
          <p:nvPr>
            <p:ph idx="1"/>
          </p:nvPr>
        </p:nvSpPr>
        <p:spPr>
          <a:xfrm>
            <a:off x="250825" y="1935163"/>
            <a:ext cx="8713788" cy="4786312"/>
          </a:xfrm>
        </p:spPr>
        <p:txBody>
          <a:bodyPr/>
          <a:lstStyle/>
          <a:p>
            <a:pPr eaLnBrk="1" hangingPunct="1">
              <a:buClrTx/>
              <a:buSzTx/>
              <a:buFontTx/>
              <a:buChar char="•"/>
            </a:pPr>
            <a:r>
              <a:rPr lang="zh-CN" altLang="en-US" sz="3600" dirty="0"/>
              <a:t>教材</a:t>
            </a:r>
            <a:r>
              <a:rPr lang="zh-CN" altLang="en-US" sz="4400" dirty="0"/>
              <a:t> </a:t>
            </a:r>
            <a:r>
              <a:rPr lang="zh-CN" altLang="en-US" dirty="0">
                <a:latin typeface="楷体_GB2312" pitchFamily="49" charset="-122"/>
                <a:ea typeface="楷体_GB2312" pitchFamily="49" charset="-122"/>
              </a:rPr>
              <a:t> </a:t>
            </a:r>
            <a:endParaRPr lang="zh-CN" altLang="en-US" dirty="0">
              <a:latin typeface="楷体_GB2312" pitchFamily="49" charset="-122"/>
              <a:ea typeface="楷体_GB2312" pitchFamily="49" charset="-122"/>
            </a:endParaRPr>
          </a:p>
          <a:p>
            <a:pPr lvl="1" eaLnBrk="1" hangingPunct="1">
              <a:buClrTx/>
              <a:buSzTx/>
              <a:buFontTx/>
              <a:buChar char="–"/>
            </a:pPr>
            <a:r>
              <a:rPr lang="zh-CN" altLang="en-US" dirty="0">
                <a:latin typeface="华文新魏" pitchFamily="2" charset="-122"/>
              </a:rPr>
              <a:t>王珊，杜小勇，陈红编著。数据库系统概论</a:t>
            </a:r>
            <a:r>
              <a:rPr lang="en-US" altLang="zh-CN" dirty="0">
                <a:latin typeface="华文新魏" pitchFamily="2" charset="-122"/>
              </a:rPr>
              <a:t>(</a:t>
            </a:r>
            <a:r>
              <a:rPr lang="zh-CN" altLang="en-US" dirty="0">
                <a:latin typeface="华文新魏" pitchFamily="2" charset="-122"/>
              </a:rPr>
              <a:t>第六版</a:t>
            </a:r>
            <a:r>
              <a:rPr lang="en-US" altLang="zh-CN" dirty="0">
                <a:latin typeface="华文新魏" pitchFamily="2" charset="-122"/>
              </a:rPr>
              <a:t>)</a:t>
            </a:r>
            <a:r>
              <a:rPr lang="zh-CN" altLang="en-US" dirty="0">
                <a:latin typeface="华文新魏" pitchFamily="2" charset="-122"/>
              </a:rPr>
              <a:t>，北京：高等教育出版社</a:t>
            </a:r>
            <a:endParaRPr lang="zh-CN" altLang="en-US" dirty="0">
              <a:latin typeface="楷体_GB2312" pitchFamily="49" charset="-122"/>
              <a:ea typeface="楷体_GB2312" pitchFamily="49" charset="-122"/>
            </a:endParaRPr>
          </a:p>
          <a:p>
            <a:pPr eaLnBrk="1" hangingPunct="1">
              <a:buClrTx/>
              <a:buSzTx/>
              <a:buFontTx/>
              <a:buChar char="•"/>
            </a:pPr>
            <a:r>
              <a:rPr lang="zh-CN" altLang="en-US" sz="3600" dirty="0"/>
              <a:t>相关工具软件</a:t>
            </a:r>
            <a:endParaRPr lang="en-US" altLang="zh-CN" sz="3600" dirty="0"/>
          </a:p>
          <a:p>
            <a:pPr eaLnBrk="1" hangingPunct="1">
              <a:lnSpc>
                <a:spcPct val="100000"/>
              </a:lnSpc>
              <a:buClrTx/>
              <a:buSzTx/>
              <a:buNone/>
            </a:pPr>
            <a:r>
              <a:rPr lang="en-US" altLang="zh-CN" sz="3600" dirty="0">
                <a:latin typeface="Times New Roman" panose="02020503050405090304" pitchFamily="18" charset="0"/>
              </a:rPr>
              <a:t>   </a:t>
            </a:r>
            <a:r>
              <a:rPr lang="en-US" altLang="zh-CN" b="1" dirty="0">
                <a:latin typeface="微软雅黑" panose="020B0503020204020204" pitchFamily="34" charset="-122"/>
                <a:ea typeface="微软雅黑" panose="020B0503020204020204" pitchFamily="34" charset="-122"/>
              </a:rPr>
              <a:t>DBMS</a:t>
            </a:r>
            <a:r>
              <a:rPr lang="zh-CN" altLang="en-US" b="1" dirty="0">
                <a:latin typeface="微软雅黑" panose="020B0503020204020204" pitchFamily="34" charset="-122"/>
                <a:ea typeface="微软雅黑" panose="020B0503020204020204" pitchFamily="34" charset="-122"/>
              </a:rPr>
              <a:t>（数据库管理系统）</a:t>
            </a:r>
            <a:r>
              <a:rPr lang="en-US" altLang="zh-CN" b="1" dirty="0">
                <a:latin typeface="微软雅黑" panose="020B0503020204020204" pitchFamily="34" charset="-122"/>
                <a:ea typeface="微软雅黑" panose="020B0503020204020204" pitchFamily="34" charset="-122"/>
              </a:rPr>
              <a:t>:</a:t>
            </a:r>
            <a:endParaRPr lang="en-US" altLang="zh-CN" b="1" dirty="0">
              <a:latin typeface="微软雅黑" panose="020B0503020204020204" pitchFamily="34" charset="-122"/>
              <a:ea typeface="微软雅黑" panose="020B0503020204020204" pitchFamily="34" charset="-122"/>
            </a:endParaRPr>
          </a:p>
          <a:p>
            <a:pPr eaLnBrk="1" hangingPunct="1">
              <a:lnSpc>
                <a:spcPct val="100000"/>
              </a:lnSpc>
              <a:buClrTx/>
              <a:buSzTx/>
              <a:buNone/>
            </a:pPr>
            <a:r>
              <a:rPr lang="en-US" altLang="zh-CN" dirty="0">
                <a:latin typeface="Times New Roman" panose="02020503050405090304" pitchFamily="18" charset="0"/>
              </a:rPr>
              <a:t>        </a:t>
            </a:r>
            <a:r>
              <a:rPr lang="zh-CN" altLang="en-US" dirty="0">
                <a:latin typeface="Times New Roman" panose="02020503050405090304" pitchFamily="18" charset="0"/>
              </a:rPr>
              <a:t>达梦、</a:t>
            </a:r>
            <a:r>
              <a:rPr lang="en-US" altLang="zh-CN" dirty="0">
                <a:latin typeface="Times New Roman" panose="02020503050405090304" pitchFamily="18" charset="0"/>
              </a:rPr>
              <a:t>OpenGauss</a:t>
            </a:r>
            <a:r>
              <a:rPr lang="zh-CN" altLang="en-US" dirty="0">
                <a:latin typeface="Times New Roman" panose="02020503050405090304" pitchFamily="18" charset="0"/>
              </a:rPr>
              <a:t>、</a:t>
            </a:r>
            <a:r>
              <a:rPr lang="en-US" altLang="zh-CN" dirty="0">
                <a:latin typeface="Times New Roman" panose="02020503050405090304" pitchFamily="18" charset="0"/>
              </a:rPr>
              <a:t>OceanBase</a:t>
            </a:r>
            <a:r>
              <a:rPr lang="zh-CN" altLang="en-US" dirty="0">
                <a:latin typeface="Times New Roman" panose="02020503050405090304" pitchFamily="18" charset="0"/>
              </a:rPr>
              <a:t>、。。。</a:t>
            </a:r>
            <a:endParaRPr lang="en-US" altLang="zh-CN" dirty="0">
              <a:latin typeface="Times New Roman" panose="02020503050405090304" pitchFamily="18" charset="0"/>
            </a:endParaRPr>
          </a:p>
          <a:p>
            <a:pPr eaLnBrk="1" hangingPunct="1">
              <a:lnSpc>
                <a:spcPct val="100000"/>
              </a:lnSpc>
              <a:buClrTx/>
              <a:buSzTx/>
              <a:buNone/>
            </a:pPr>
            <a:r>
              <a:rPr lang="en-US" altLang="zh-CN" dirty="0">
                <a:latin typeface="Times New Roman" panose="02020503050405090304" pitchFamily="18" charset="0"/>
              </a:rPr>
              <a:t>        SQL Server</a:t>
            </a:r>
            <a:r>
              <a:rPr lang="zh-CN" altLang="en-US" dirty="0">
                <a:latin typeface="Times New Roman" panose="02020503050405090304" pitchFamily="18" charset="0"/>
              </a:rPr>
              <a:t>、</a:t>
            </a:r>
            <a:r>
              <a:rPr lang="en-US" altLang="zh-CN" dirty="0">
                <a:latin typeface="Times New Roman" panose="02020503050405090304" pitchFamily="18" charset="0"/>
              </a:rPr>
              <a:t>ORACLE</a:t>
            </a:r>
            <a:r>
              <a:rPr lang="zh-CN" altLang="en-US" dirty="0">
                <a:latin typeface="Times New Roman" panose="02020503050405090304" pitchFamily="18" charset="0"/>
              </a:rPr>
              <a:t>、</a:t>
            </a:r>
            <a:r>
              <a:rPr lang="en-US" altLang="zh-CN" dirty="0">
                <a:latin typeface="Times New Roman" panose="02020503050405090304" pitchFamily="18" charset="0"/>
              </a:rPr>
              <a:t>MySQL</a:t>
            </a:r>
            <a:r>
              <a:rPr lang="zh-CN" altLang="en-US" dirty="0">
                <a:latin typeface="Times New Roman" panose="02020503050405090304" pitchFamily="18" charset="0"/>
              </a:rPr>
              <a:t>、</a:t>
            </a:r>
            <a:r>
              <a:rPr lang="en-US" altLang="zh-CN" dirty="0">
                <a:latin typeface="Times New Roman" panose="02020503050405090304" pitchFamily="18" charset="0"/>
              </a:rPr>
              <a:t>Postgres</a:t>
            </a:r>
            <a:r>
              <a:rPr lang="zh-CN" altLang="en-US" dirty="0">
                <a:latin typeface="Times New Roman" panose="02020503050405090304" pitchFamily="18" charset="0"/>
              </a:rPr>
              <a:t>、。。。</a:t>
            </a:r>
            <a:endParaRPr lang="en-US" altLang="zh-CN" dirty="0">
              <a:latin typeface="Times New Roman" panose="02020503050405090304" pitchFamily="18" charset="0"/>
            </a:endParaRPr>
          </a:p>
        </p:txBody>
      </p:sp>
      <p:sp>
        <p:nvSpPr>
          <p:cNvPr id="6" name="Rectangle 71"/>
          <p:cNvSpPr>
            <a:spLocks noGrp="1" noChangeArrowheads="1"/>
          </p:cNvSpPr>
          <p:nvPr>
            <p:ph type="sldNum" sz="quarter" idx="12"/>
          </p:nvPr>
        </p:nvSpPr>
        <p:spPr/>
        <p:txBody>
          <a:bodyPr/>
          <a:lstStyle/>
          <a:p>
            <a:pPr>
              <a:defRPr/>
            </a:pPr>
            <a:fld id="{197E8A2C-0255-4C3C-9B38-B58E97CD26CB}" type="slidenum">
              <a:rPr lang="en-US" altLang="zh-CN"/>
            </a:fld>
            <a:endParaRPr lang="en-US" altLang="zh-CN"/>
          </a:p>
        </p:txBody>
      </p:sp>
    </p:spTree>
  </p:cSld>
  <p:clrMapOvr>
    <a:overrideClrMapping bg1="lt1" tx1="dk1" bg2="lt2" tx2="dk2" accent1="accent1" accent2="accent2" accent3="accent3" accent4="accent4" accent5="accent5" accent6="accent6" hlink="hlink" folHlink="folHlink"/>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9552" y="692696"/>
            <a:ext cx="8229600" cy="707926"/>
          </a:xfrm>
        </p:spPr>
        <p:txBody>
          <a:bodyPr/>
          <a:lstStyle/>
          <a:p>
            <a:r>
              <a:rPr lang="zh-CN" altLang="en-US" sz="4400" dirty="0"/>
              <a:t>开课准备</a:t>
            </a:r>
            <a:r>
              <a:rPr lang="en-US" altLang="zh-CN" sz="4400" dirty="0"/>
              <a:t>1</a:t>
            </a:r>
            <a:r>
              <a:rPr lang="zh-CN" altLang="en-US" sz="4400" dirty="0"/>
              <a:t>：教学组织工作</a:t>
            </a:r>
            <a:endParaRPr lang="zh-CN" altLang="en-US" sz="4400" dirty="0"/>
          </a:p>
        </p:txBody>
      </p:sp>
      <p:sp>
        <p:nvSpPr>
          <p:cNvPr id="3" name="内容占位符 2"/>
          <p:cNvSpPr>
            <a:spLocks noGrp="1"/>
          </p:cNvSpPr>
          <p:nvPr>
            <p:ph idx="1"/>
          </p:nvPr>
        </p:nvSpPr>
        <p:spPr>
          <a:xfrm>
            <a:off x="323528" y="1484784"/>
            <a:ext cx="8363272" cy="4389437"/>
          </a:xfrm>
        </p:spPr>
        <p:txBody>
          <a:bodyPr/>
          <a:lstStyle/>
          <a:p>
            <a:r>
              <a:rPr lang="zh-CN" altLang="en-US" sz="2400" dirty="0">
                <a:solidFill>
                  <a:srgbClr val="0000FF"/>
                </a:solidFill>
                <a:latin typeface="微软雅黑" panose="020B0503020204020204" pitchFamily="34" charset="-122"/>
                <a:ea typeface="微软雅黑" panose="020B0503020204020204" pitchFamily="34" charset="-122"/>
              </a:rPr>
              <a:t>学在华科大课程平台（发布课件</a:t>
            </a:r>
            <a:r>
              <a:rPr lang="en-US" altLang="zh-CN" sz="2400" dirty="0">
                <a:solidFill>
                  <a:srgbClr val="0000FF"/>
                </a:solidFill>
                <a:latin typeface="微软雅黑" panose="020B0503020204020204" pitchFamily="34" charset="-122"/>
                <a:ea typeface="微软雅黑" panose="020B0503020204020204" pitchFamily="34" charset="-122"/>
              </a:rPr>
              <a:t>/</a:t>
            </a:r>
            <a:r>
              <a:rPr lang="zh-CN" altLang="en-US" sz="2400" dirty="0">
                <a:solidFill>
                  <a:srgbClr val="0000FF"/>
                </a:solidFill>
                <a:latin typeface="微软雅黑" panose="020B0503020204020204" pitchFamily="34" charset="-122"/>
                <a:ea typeface="微软雅黑" panose="020B0503020204020204" pitchFamily="34" charset="-122"/>
              </a:rPr>
              <a:t>通知、平时作业提交），</a:t>
            </a:r>
            <a:endParaRPr lang="en-US" altLang="zh-CN" sz="2400" dirty="0">
              <a:solidFill>
                <a:srgbClr val="0000FF"/>
              </a:solidFill>
              <a:latin typeface="微软雅黑" panose="020B0503020204020204" pitchFamily="34" charset="-122"/>
              <a:ea typeface="微软雅黑" panose="020B0503020204020204" pitchFamily="34" charset="-122"/>
            </a:endParaRPr>
          </a:p>
          <a:p>
            <a:pPr marL="0" indent="0">
              <a:buNone/>
            </a:pPr>
            <a:r>
              <a:rPr lang="en-US" altLang="zh-CN" sz="2400" dirty="0">
                <a:solidFill>
                  <a:srgbClr val="0000FF"/>
                </a:solidFill>
                <a:latin typeface="微软雅黑" panose="020B0503020204020204" pitchFamily="34" charset="-122"/>
                <a:ea typeface="微软雅黑" panose="020B0503020204020204" pitchFamily="34" charset="-122"/>
              </a:rPr>
              <a:t>   </a:t>
            </a:r>
            <a:r>
              <a:rPr lang="en-US" altLang="zh-CN" sz="2400" dirty="0">
                <a:solidFill>
                  <a:srgbClr val="0000FF"/>
                </a:solidFill>
                <a:latin typeface="微软雅黑" panose="020B0503020204020204" pitchFamily="34" charset="-122"/>
                <a:ea typeface="微软雅黑" panose="020B0503020204020204" pitchFamily="34" charset="-122"/>
                <a:hlinkClick r:id="rId1"/>
              </a:rPr>
              <a:t>https://hust.fanya.chaoxing.com/</a:t>
            </a:r>
            <a:endParaRPr lang="en-US" altLang="zh-CN" sz="2400" dirty="0">
              <a:solidFill>
                <a:srgbClr val="0000FF"/>
              </a:solidFill>
              <a:latin typeface="微软雅黑" panose="020B0503020204020204" pitchFamily="34" charset="-122"/>
              <a:ea typeface="微软雅黑" panose="020B0503020204020204" pitchFamily="34" charset="-122"/>
            </a:endParaRPr>
          </a:p>
          <a:p>
            <a:pPr marL="0" indent="0">
              <a:buNone/>
            </a:pPr>
            <a:r>
              <a:rPr lang="en-US" altLang="zh-CN" sz="2400" dirty="0">
                <a:solidFill>
                  <a:srgbClr val="0000FF"/>
                </a:solidFill>
                <a:latin typeface="微软雅黑" panose="020B0503020204020204" pitchFamily="34" charset="-122"/>
                <a:ea typeface="微软雅黑" panose="020B0503020204020204" pitchFamily="34" charset="-122"/>
              </a:rPr>
              <a:t>   smartcourse.hust.edu.cn</a:t>
            </a:r>
            <a:endParaRPr lang="en-US" altLang="zh-CN" sz="2400" dirty="0">
              <a:solidFill>
                <a:srgbClr val="0000FF"/>
              </a:solidFill>
              <a:latin typeface="微软雅黑" panose="020B0503020204020204" pitchFamily="34" charset="-122"/>
              <a:ea typeface="微软雅黑" panose="020B0503020204020204" pitchFamily="34" charset="-122"/>
            </a:endParaRPr>
          </a:p>
          <a:p>
            <a:pPr marL="0" indent="0">
              <a:buNone/>
            </a:pPr>
            <a:endParaRPr lang="en-US" altLang="zh-CN" sz="2400" dirty="0">
              <a:solidFill>
                <a:srgbClr val="0000FF"/>
              </a:solidFill>
              <a:latin typeface="微软雅黑" panose="020B0503020204020204" pitchFamily="34" charset="-122"/>
              <a:ea typeface="微软雅黑" panose="020B0503020204020204" pitchFamily="34" charset="-122"/>
            </a:endParaRPr>
          </a:p>
          <a:p>
            <a:pPr marL="0" indent="0">
              <a:buNone/>
            </a:pPr>
            <a:r>
              <a:rPr lang="zh-CN" altLang="en-US" sz="2400" dirty="0">
                <a:solidFill>
                  <a:srgbClr val="0000FF"/>
                </a:solidFill>
                <a:latin typeface="微软雅黑" panose="020B0503020204020204" pitchFamily="34" charset="-122"/>
                <a:ea typeface="微软雅黑" panose="020B0503020204020204" pitchFamily="34" charset="-122"/>
              </a:rPr>
              <a:t>   学在华科大课堂首次作业（不计成绩）</a:t>
            </a:r>
            <a:endParaRPr lang="en-US" altLang="zh-CN" sz="2400" dirty="0">
              <a:solidFill>
                <a:srgbClr val="0000FF"/>
              </a:solidFill>
              <a:latin typeface="微软雅黑" panose="020B0503020204020204" pitchFamily="34" charset="-122"/>
              <a:ea typeface="微软雅黑" panose="020B0503020204020204" pitchFamily="34" charset="-122"/>
            </a:endParaRPr>
          </a:p>
          <a:p>
            <a:pPr marL="0" indent="0">
              <a:buNone/>
            </a:pPr>
            <a:endParaRPr lang="en-US" altLang="zh-CN" sz="2400" dirty="0">
              <a:solidFill>
                <a:srgbClr val="0000FF"/>
              </a:solidFill>
              <a:latin typeface="微软雅黑" panose="020B0503020204020204" pitchFamily="34" charset="-122"/>
              <a:ea typeface="微软雅黑" panose="020B0503020204020204" pitchFamily="34" charset="-122"/>
            </a:endParaRPr>
          </a:p>
          <a:p>
            <a:pPr marL="0" indent="0">
              <a:buNone/>
            </a:pPr>
            <a:endParaRPr lang="en-US" altLang="zh-CN" sz="2400" dirty="0">
              <a:solidFill>
                <a:srgbClr val="0000FF"/>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pPr>
              <a:defRPr/>
            </a:pPr>
            <a:fld id="{CFA1E52B-4C93-4B76-9495-20A0E949F63E}" type="slidenum">
              <a:rPr lang="en-US" altLang="zh-CN" smtClean="0"/>
            </a:fld>
            <a:endParaRPr lang="en-US" altLang="zh-CN"/>
          </a:p>
        </p:txBody>
      </p:sp>
      <p:pic>
        <p:nvPicPr>
          <p:cNvPr id="8" name="图片 7"/>
          <p:cNvPicPr>
            <a:picLocks noChangeAspect="1"/>
          </p:cNvPicPr>
          <p:nvPr/>
        </p:nvPicPr>
        <p:blipFill>
          <a:blip r:embed="rId2"/>
          <a:stretch>
            <a:fillRect/>
          </a:stretch>
        </p:blipFill>
        <p:spPr>
          <a:xfrm>
            <a:off x="559647" y="4100714"/>
            <a:ext cx="8445624" cy="225563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9552" y="692696"/>
            <a:ext cx="8229600" cy="792088"/>
          </a:xfrm>
        </p:spPr>
        <p:txBody>
          <a:bodyPr/>
          <a:lstStyle/>
          <a:p>
            <a:r>
              <a:rPr lang="zh-CN" altLang="en-US" sz="4400" dirty="0"/>
              <a:t>开课准备</a:t>
            </a:r>
            <a:r>
              <a:rPr lang="en-US" altLang="zh-CN" sz="4400" dirty="0"/>
              <a:t>2</a:t>
            </a:r>
            <a:r>
              <a:rPr lang="zh-CN" altLang="en-US" sz="4400" dirty="0"/>
              <a:t>：微助教课堂用于签到</a:t>
            </a:r>
            <a:endParaRPr lang="zh-CN" altLang="en-US" sz="4400" dirty="0"/>
          </a:p>
        </p:txBody>
      </p:sp>
      <p:sp>
        <p:nvSpPr>
          <p:cNvPr id="3" name="内容占位符 2"/>
          <p:cNvSpPr>
            <a:spLocks noGrp="1"/>
          </p:cNvSpPr>
          <p:nvPr>
            <p:ph idx="1"/>
          </p:nvPr>
        </p:nvSpPr>
        <p:spPr>
          <a:xfrm>
            <a:off x="323528" y="1484784"/>
            <a:ext cx="8568952" cy="4389437"/>
          </a:xfrm>
        </p:spPr>
        <p:txBody>
          <a:bodyPr/>
          <a:lstStyle/>
          <a:p>
            <a:r>
              <a:rPr lang="zh-CN" altLang="en-US" dirty="0">
                <a:latin typeface="微软雅黑" panose="020B0503020204020204" pitchFamily="34" charset="-122"/>
                <a:ea typeface="微软雅黑" panose="020B0503020204020204" pitchFamily="34" charset="-122"/>
              </a:rPr>
              <a:t>课堂名称：</a:t>
            </a:r>
            <a:r>
              <a:rPr lang="en-US" altLang="zh-CN" dirty="0">
                <a:latin typeface="微软雅黑" panose="020B0503020204020204" pitchFamily="34" charset="-122"/>
                <a:ea typeface="微软雅黑" panose="020B0503020204020204" pitchFamily="34" charset="-122"/>
              </a:rPr>
              <a:t>2026</a:t>
            </a:r>
            <a:r>
              <a:rPr lang="zh-CN" altLang="en-US" dirty="0">
                <a:latin typeface="微软雅黑" panose="020B0503020204020204" pitchFamily="34" charset="-122"/>
                <a:ea typeface="微软雅黑" panose="020B0503020204020204" pitchFamily="34" charset="-122"/>
              </a:rPr>
              <a:t>年春数据库系统原理（大数据</a:t>
            </a:r>
            <a:r>
              <a:rPr lang="en-US" altLang="zh-CN" dirty="0">
                <a:latin typeface="微软雅黑" panose="020B0503020204020204" pitchFamily="34" charset="-122"/>
                <a:ea typeface="微软雅黑" panose="020B0503020204020204" pitchFamily="34" charset="-122"/>
              </a:rPr>
              <a:t>24</a:t>
            </a:r>
            <a:r>
              <a:rPr lang="zh-CN" altLang="en-US" dirty="0">
                <a:latin typeface="微软雅黑" panose="020B0503020204020204" pitchFamily="34" charset="-122"/>
                <a:ea typeface="微软雅黑" panose="020B0503020204020204" pitchFamily="34" charset="-122"/>
              </a:rPr>
              <a:t>级）</a:t>
            </a:r>
            <a:endParaRPr lang="zh-CN" altLang="en-US"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课堂编号：</a:t>
            </a:r>
            <a:r>
              <a:rPr lang="en-US" altLang="zh-CN" dirty="0"/>
              <a:t> </a:t>
            </a:r>
            <a:r>
              <a:rPr lang="en-US" altLang="zh-CN" dirty="0">
                <a:latin typeface="微软雅黑" panose="020B0503020204020204" pitchFamily="34" charset="-122"/>
                <a:ea typeface="微软雅黑" panose="020B0503020204020204" pitchFamily="34" charset="-122"/>
              </a:rPr>
              <a:t>RG984</a:t>
            </a:r>
            <a:endParaRPr lang="zh-CN" altLang="en-US" sz="2400" dirty="0">
              <a:solidFill>
                <a:srgbClr val="0000FF"/>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pPr>
              <a:defRPr/>
            </a:pPr>
            <a:fld id="{CFA1E52B-4C93-4B76-9495-20A0E949F63E}" type="slidenum">
              <a:rPr lang="en-US" altLang="zh-CN" smtClean="0"/>
            </a:fld>
            <a:endParaRPr lang="en-US" altLang="zh-CN"/>
          </a:p>
        </p:txBody>
      </p:sp>
      <p:pic>
        <p:nvPicPr>
          <p:cNvPr id="6" name="图片 5"/>
          <p:cNvPicPr>
            <a:picLocks noChangeAspect="1"/>
          </p:cNvPicPr>
          <p:nvPr/>
        </p:nvPicPr>
        <p:blipFill>
          <a:blip r:embed="rId1"/>
          <a:stretch>
            <a:fillRect/>
          </a:stretch>
        </p:blipFill>
        <p:spPr>
          <a:xfrm>
            <a:off x="3975926" y="1935253"/>
            <a:ext cx="4297660" cy="472742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35504" y="1775867"/>
            <a:ext cx="8229600" cy="4389437"/>
          </a:xfrm>
        </p:spPr>
        <p:txBody>
          <a:bodyPr/>
          <a:lstStyle/>
          <a:p>
            <a:r>
              <a:rPr lang="zh-CN" altLang="en-US" sz="2800" dirty="0">
                <a:solidFill>
                  <a:srgbClr val="0000FF"/>
                </a:solidFill>
                <a:latin typeface="微软雅黑" panose="020B0503020204020204" pitchFamily="34" charset="-122"/>
                <a:ea typeface="微软雅黑" panose="020B0503020204020204" pitchFamily="34" charset="-122"/>
              </a:rPr>
              <a:t>课程</a:t>
            </a:r>
            <a:r>
              <a:rPr lang="en-US" altLang="zh-CN" sz="2800" dirty="0">
                <a:solidFill>
                  <a:srgbClr val="0000FF"/>
                </a:solidFill>
                <a:latin typeface="微软雅黑" panose="020B0503020204020204" pitchFamily="34" charset="-122"/>
                <a:ea typeface="微软雅黑" panose="020B0503020204020204" pitchFamily="34" charset="-122"/>
              </a:rPr>
              <a:t>QQ</a:t>
            </a:r>
            <a:r>
              <a:rPr lang="zh-CN" altLang="en-US" sz="2800" dirty="0">
                <a:solidFill>
                  <a:srgbClr val="0000FF"/>
                </a:solidFill>
                <a:latin typeface="微软雅黑" panose="020B0503020204020204" pitchFamily="34" charset="-122"/>
                <a:ea typeface="微软雅黑" panose="020B0503020204020204" pitchFamily="34" charset="-122"/>
              </a:rPr>
              <a:t>群：</a:t>
            </a:r>
            <a:r>
              <a:rPr lang="zh-CN" altLang="en-US" dirty="0"/>
              <a:t> </a:t>
            </a:r>
            <a:r>
              <a:rPr lang="en-US" altLang="zh-CN" sz="2800" dirty="0">
                <a:solidFill>
                  <a:srgbClr val="0000FF"/>
                </a:solidFill>
                <a:latin typeface="微软雅黑" panose="020B0503020204020204" pitchFamily="34" charset="-122"/>
                <a:ea typeface="微软雅黑" panose="020B0503020204020204" pitchFamily="34" charset="-122"/>
              </a:rPr>
              <a:t>1062131244    </a:t>
            </a:r>
            <a:endParaRPr lang="en-US" altLang="zh-CN" sz="2800" dirty="0">
              <a:solidFill>
                <a:srgbClr val="0000FF"/>
              </a:solidFill>
              <a:latin typeface="微软雅黑" panose="020B0503020204020204" pitchFamily="34" charset="-122"/>
              <a:ea typeface="微软雅黑" panose="020B0503020204020204" pitchFamily="34" charset="-122"/>
            </a:endParaRPr>
          </a:p>
          <a:p>
            <a:pPr marL="0" indent="0">
              <a:buNone/>
            </a:pPr>
            <a:r>
              <a:rPr lang="zh-CN" altLang="en-US" sz="2800" dirty="0">
                <a:solidFill>
                  <a:srgbClr val="0000FF"/>
                </a:solidFill>
                <a:latin typeface="微软雅黑" panose="020B0503020204020204" pitchFamily="34" charset="-122"/>
                <a:ea typeface="微软雅黑" panose="020B0503020204020204" pitchFamily="34" charset="-122"/>
              </a:rPr>
              <a:t>（ </a:t>
            </a:r>
            <a:r>
              <a:rPr lang="en-US" altLang="zh-CN" sz="2800" dirty="0">
                <a:solidFill>
                  <a:srgbClr val="0000FF"/>
                </a:solidFill>
                <a:latin typeface="微软雅黑" panose="020B0503020204020204" pitchFamily="34" charset="-122"/>
                <a:ea typeface="微软雅黑" panose="020B0503020204020204" pitchFamily="34" charset="-122"/>
              </a:rPr>
              <a:t>2026</a:t>
            </a:r>
            <a:r>
              <a:rPr lang="zh-CN" altLang="en-US" sz="2800" dirty="0">
                <a:solidFill>
                  <a:srgbClr val="0000FF"/>
                </a:solidFill>
                <a:latin typeface="微软雅黑" panose="020B0503020204020204" pitchFamily="34" charset="-122"/>
                <a:ea typeface="微软雅黑" panose="020B0503020204020204" pitchFamily="34" charset="-122"/>
              </a:rPr>
              <a:t>年</a:t>
            </a:r>
            <a:r>
              <a:rPr lang="en-US" altLang="zh-CN" sz="2800" dirty="0">
                <a:solidFill>
                  <a:srgbClr val="0000FF"/>
                </a:solidFill>
                <a:latin typeface="微软雅黑" panose="020B0503020204020204" pitchFamily="34" charset="-122"/>
                <a:ea typeface="微软雅黑" panose="020B0503020204020204" pitchFamily="34" charset="-122"/>
              </a:rPr>
              <a:t>BD</a:t>
            </a:r>
            <a:r>
              <a:rPr lang="zh-CN" altLang="en-US" sz="2800" dirty="0">
                <a:solidFill>
                  <a:srgbClr val="0000FF"/>
                </a:solidFill>
                <a:latin typeface="微软雅黑" panose="020B0503020204020204" pitchFamily="34" charset="-122"/>
                <a:ea typeface="微软雅黑" panose="020B0503020204020204" pitchFamily="34" charset="-122"/>
              </a:rPr>
              <a:t>数据库系统原理），</a:t>
            </a:r>
            <a:endParaRPr lang="en-US" altLang="zh-CN" sz="2800" dirty="0">
              <a:solidFill>
                <a:srgbClr val="0000FF"/>
              </a:solidFill>
              <a:latin typeface="微软雅黑" panose="020B0503020204020204" pitchFamily="34" charset="-122"/>
              <a:ea typeface="微软雅黑" panose="020B0503020204020204" pitchFamily="34" charset="-122"/>
            </a:endParaRPr>
          </a:p>
          <a:p>
            <a:pPr marL="0" indent="0">
              <a:buNone/>
            </a:pPr>
            <a:r>
              <a:rPr lang="zh-CN" altLang="en-US" sz="2800" dirty="0">
                <a:solidFill>
                  <a:srgbClr val="0000FF"/>
                </a:solidFill>
                <a:latin typeface="微软雅黑" panose="020B0503020204020204" pitchFamily="34" charset="-122"/>
                <a:ea typeface="微软雅黑" panose="020B0503020204020204" pitchFamily="34" charset="-122"/>
              </a:rPr>
              <a:t>  入群验证问题：周三下午哪间教室？</a:t>
            </a:r>
            <a:endParaRPr lang="en-US" altLang="zh-CN" sz="2800" dirty="0">
              <a:solidFill>
                <a:srgbClr val="0000FF"/>
              </a:solidFill>
              <a:latin typeface="微软雅黑" panose="020B0503020204020204" pitchFamily="34" charset="-122"/>
              <a:ea typeface="微软雅黑" panose="020B0503020204020204" pitchFamily="34" charset="-122"/>
            </a:endParaRPr>
          </a:p>
          <a:p>
            <a:pPr marL="0" indent="0">
              <a:buNone/>
            </a:pPr>
            <a:r>
              <a:rPr lang="en-US" altLang="zh-CN" sz="2800" dirty="0">
                <a:solidFill>
                  <a:srgbClr val="0000FF"/>
                </a:solidFill>
                <a:latin typeface="微软雅黑" panose="020B0503020204020204" pitchFamily="34" charset="-122"/>
                <a:ea typeface="微软雅黑" panose="020B0503020204020204" pitchFamily="34" charset="-122"/>
              </a:rPr>
              <a:t>  </a:t>
            </a:r>
            <a:r>
              <a:rPr lang="zh-CN" altLang="en-US" sz="2800" dirty="0">
                <a:solidFill>
                  <a:srgbClr val="0000FF"/>
                </a:solidFill>
                <a:latin typeface="微软雅黑" panose="020B0503020204020204" pitchFamily="34" charset="-122"/>
                <a:ea typeface="微软雅黑" panose="020B0503020204020204" pitchFamily="34" charset="-122"/>
              </a:rPr>
              <a:t>答：</a:t>
            </a:r>
            <a:r>
              <a:rPr lang="en-US" altLang="zh-CN" sz="2800" dirty="0">
                <a:solidFill>
                  <a:srgbClr val="0000FF"/>
                </a:solidFill>
                <a:latin typeface="微软雅黑" panose="020B0503020204020204" pitchFamily="34" charset="-122"/>
                <a:ea typeface="微软雅黑" panose="020B0503020204020204" pitchFamily="34" charset="-122"/>
              </a:rPr>
              <a:t>S310</a:t>
            </a:r>
            <a:endParaRPr lang="en-US" altLang="zh-CN" sz="2800" dirty="0">
              <a:solidFill>
                <a:srgbClr val="0000FF"/>
              </a:solidFill>
              <a:latin typeface="微软雅黑" panose="020B0503020204020204" pitchFamily="34" charset="-122"/>
              <a:ea typeface="微软雅黑" panose="020B0503020204020204" pitchFamily="34" charset="-122"/>
            </a:endParaRPr>
          </a:p>
          <a:p>
            <a:endParaRPr lang="en-US" altLang="zh-CN" sz="2800" dirty="0">
              <a:solidFill>
                <a:srgbClr val="0000FF"/>
              </a:solidFill>
              <a:latin typeface="微软雅黑" panose="020B0503020204020204" pitchFamily="34" charset="-122"/>
              <a:ea typeface="微软雅黑" panose="020B0503020204020204" pitchFamily="34" charset="-122"/>
            </a:endParaRPr>
          </a:p>
          <a:p>
            <a:r>
              <a:rPr lang="zh-CN" altLang="en-US" sz="2800" dirty="0">
                <a:solidFill>
                  <a:srgbClr val="0000FF"/>
                </a:solidFill>
                <a:latin typeface="微软雅黑" panose="020B0503020204020204" pitchFamily="34" charset="-122"/>
                <a:ea typeface="微软雅黑" panose="020B0503020204020204" pitchFamily="34" charset="-122"/>
              </a:rPr>
              <a:t>每个班级请班长告知我日常联系手机号等信息，协助交流通知，感谢支持！</a:t>
            </a:r>
            <a:endParaRPr lang="en-US" altLang="zh-CN" sz="2800" dirty="0">
              <a:solidFill>
                <a:srgbClr val="0000FF"/>
              </a:solidFill>
              <a:latin typeface="微软雅黑" panose="020B0503020204020204" pitchFamily="34" charset="-122"/>
              <a:ea typeface="微软雅黑" panose="020B0503020204020204" pitchFamily="34" charset="-122"/>
            </a:endParaRPr>
          </a:p>
          <a:p>
            <a:pPr marL="0" indent="0">
              <a:buNone/>
            </a:pPr>
            <a:endParaRPr lang="zh-CN" altLang="en-US" dirty="0"/>
          </a:p>
        </p:txBody>
      </p:sp>
      <p:sp>
        <p:nvSpPr>
          <p:cNvPr id="4" name="灯片编号占位符 3"/>
          <p:cNvSpPr>
            <a:spLocks noGrp="1"/>
          </p:cNvSpPr>
          <p:nvPr>
            <p:ph type="sldNum" sz="quarter" idx="12"/>
          </p:nvPr>
        </p:nvSpPr>
        <p:spPr/>
        <p:txBody>
          <a:bodyPr/>
          <a:lstStyle/>
          <a:p>
            <a:pPr>
              <a:defRPr/>
            </a:pPr>
            <a:fld id="{CFA1E52B-4C93-4B76-9495-20A0E949F63E}" type="slidenum">
              <a:rPr lang="en-US" altLang="zh-CN" smtClean="0"/>
            </a:fld>
            <a:endParaRPr lang="en-US" altLang="zh-CN"/>
          </a:p>
        </p:txBody>
      </p:sp>
      <p:sp>
        <p:nvSpPr>
          <p:cNvPr id="5" name="标题 1"/>
          <p:cNvSpPr>
            <a:spLocks noGrp="1"/>
          </p:cNvSpPr>
          <p:nvPr>
            <p:ph type="title"/>
          </p:nvPr>
        </p:nvSpPr>
        <p:spPr>
          <a:xfrm>
            <a:off x="251520" y="692696"/>
            <a:ext cx="8640960" cy="707926"/>
          </a:xfrm>
        </p:spPr>
        <p:txBody>
          <a:bodyPr/>
          <a:lstStyle/>
          <a:p>
            <a:r>
              <a:rPr lang="zh-CN" altLang="en-US" sz="3600" dirty="0"/>
              <a:t>开课准备</a:t>
            </a:r>
            <a:r>
              <a:rPr lang="en-US" altLang="zh-CN" sz="3600" dirty="0"/>
              <a:t>3</a:t>
            </a:r>
            <a:r>
              <a:rPr lang="zh-CN" altLang="en-US" sz="3600" dirty="0"/>
              <a:t>：课程日常交流及通知发布</a:t>
            </a:r>
            <a:r>
              <a:rPr lang="en-US" altLang="zh-CN" sz="3600" dirty="0"/>
              <a:t>QQ</a:t>
            </a:r>
            <a:r>
              <a:rPr lang="zh-CN" altLang="en-US" sz="3600" dirty="0"/>
              <a:t>群</a:t>
            </a:r>
            <a:endParaRPr lang="zh-CN" altLang="en-US" sz="3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课程教学建设</a:t>
            </a:r>
            <a:endParaRPr lang="zh-CN" altLang="en-US" dirty="0"/>
          </a:p>
        </p:txBody>
      </p:sp>
      <p:sp>
        <p:nvSpPr>
          <p:cNvPr id="3" name="内容占位符 2"/>
          <p:cNvSpPr>
            <a:spLocks noGrp="1"/>
          </p:cNvSpPr>
          <p:nvPr>
            <p:ph idx="1"/>
          </p:nvPr>
        </p:nvSpPr>
        <p:spPr>
          <a:xfrm>
            <a:off x="457200" y="1966913"/>
            <a:ext cx="8229600" cy="4389437"/>
          </a:xfrm>
        </p:spPr>
        <p:txBody>
          <a:bodyPr/>
          <a:lstStyle/>
          <a:p>
            <a:r>
              <a:rPr lang="zh-CN" altLang="en-US" sz="2400" dirty="0">
                <a:latin typeface="微软雅黑" panose="020B0503020204020204" pitchFamily="34" charset="-122"/>
                <a:ea typeface="微软雅黑" panose="020B0503020204020204" pitchFamily="34" charset="-122"/>
              </a:rPr>
              <a:t>制作慕课 “数据库系统原理”并坚持发布（本学期第</a:t>
            </a:r>
            <a:r>
              <a:rPr lang="en-US" altLang="zh-CN" sz="2400" dirty="0">
                <a:latin typeface="微软雅黑" panose="020B0503020204020204" pitchFamily="34" charset="-122"/>
                <a:ea typeface="微软雅黑" panose="020B0503020204020204" pitchFamily="34" charset="-122"/>
              </a:rPr>
              <a:t>8</a:t>
            </a:r>
            <a:r>
              <a:rPr lang="zh-CN" altLang="en-US" sz="2400" dirty="0">
                <a:latin typeface="微软雅黑" panose="020B0503020204020204" pitchFamily="34" charset="-122"/>
                <a:ea typeface="微软雅黑" panose="020B0503020204020204" pitchFamily="34" charset="-122"/>
              </a:rPr>
              <a:t>次开课，且内容有更新）。</a:t>
            </a:r>
            <a:endParaRPr lang="en-US" altLang="zh-CN"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引入</a:t>
            </a:r>
            <a:r>
              <a:rPr lang="en-US" altLang="zh-CN" sz="2400" dirty="0">
                <a:latin typeface="微软雅黑" panose="020B0503020204020204" pitchFamily="34" charset="-122"/>
                <a:ea typeface="微软雅黑" panose="020B0503020204020204" pitchFamily="34" charset="-122"/>
              </a:rPr>
              <a:t>CMU15-445</a:t>
            </a:r>
            <a:r>
              <a:rPr lang="zh-CN" altLang="en-US" sz="2400" dirty="0">
                <a:latin typeface="微软雅黑" panose="020B0503020204020204" pitchFamily="34" charset="-122"/>
                <a:ea typeface="微软雅黑" panose="020B0503020204020204" pitchFamily="34" charset="-122"/>
              </a:rPr>
              <a:t>部分教学内容（系统内部实现技术）。</a:t>
            </a:r>
            <a:endParaRPr lang="en-US" altLang="zh-CN"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实践课融合头歌平台考察模式（杨茂林、赵小松等）</a:t>
            </a:r>
            <a:endParaRPr lang="en-US" altLang="zh-CN"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数据库竞赛（谢美意、赵小松等）</a:t>
            </a:r>
            <a:endParaRPr lang="en-US" altLang="zh-CN"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数据库系统软件进阶设计（高年级课程系统综合能力培养，谢美意、左琼等）</a:t>
            </a:r>
            <a:endParaRPr lang="en-US" altLang="zh-CN"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与华为签订战略合作协议，共同推进课程建设，并结合企业、行业生产和科研的实际需求。</a:t>
            </a:r>
            <a:endParaRPr lang="zh-CN" altLang="en-US" sz="2400" i="1" dirty="0">
              <a:solidFill>
                <a:srgbClr val="0000FF"/>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pPr>
              <a:defRPr/>
            </a:pPr>
            <a:fld id="{CFA1E52B-4C93-4B76-9495-20A0E949F63E}" type="slidenum">
              <a:rPr lang="en-US" altLang="zh-CN" smtClean="0"/>
            </a:fld>
            <a:endParaRPr lang="en-US" altLang="zh-C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线上学习资源</a:t>
            </a:r>
            <a:endParaRPr lang="zh-CN" altLang="en-US" dirty="0"/>
          </a:p>
        </p:txBody>
      </p:sp>
      <p:sp>
        <p:nvSpPr>
          <p:cNvPr id="3" name="内容占位符 2"/>
          <p:cNvSpPr>
            <a:spLocks noGrp="1"/>
          </p:cNvSpPr>
          <p:nvPr>
            <p:ph idx="1"/>
          </p:nvPr>
        </p:nvSpPr>
        <p:spPr>
          <a:xfrm>
            <a:off x="457200" y="1966913"/>
            <a:ext cx="8229600" cy="4389437"/>
          </a:xfrm>
        </p:spPr>
        <p:txBody>
          <a:bodyPr/>
          <a:lstStyle/>
          <a:p>
            <a:r>
              <a:rPr lang="zh-CN" altLang="en-US" sz="2400" dirty="0">
                <a:latin typeface="微软雅黑" panose="020B0503020204020204" pitchFamily="34" charset="-122"/>
                <a:ea typeface="微软雅黑" panose="020B0503020204020204" pitchFamily="34" charset="-122"/>
              </a:rPr>
              <a:t>华中科技大学计算机学院“数据库系统原理”慕课，链接地址（第</a:t>
            </a:r>
            <a:r>
              <a:rPr lang="en-US" altLang="zh-CN" sz="2400" dirty="0">
                <a:latin typeface="微软雅黑" panose="020B0503020204020204" pitchFamily="34" charset="-122"/>
                <a:ea typeface="微软雅黑" panose="020B0503020204020204" pitchFamily="34" charset="-122"/>
              </a:rPr>
              <a:t>10</a:t>
            </a:r>
            <a:r>
              <a:rPr lang="zh-CN" altLang="en-US" sz="2400" dirty="0">
                <a:latin typeface="微软雅黑" panose="020B0503020204020204" pitchFamily="34" charset="-122"/>
                <a:ea typeface="微软雅黑" panose="020B0503020204020204" pitchFamily="34" charset="-122"/>
              </a:rPr>
              <a:t>次开课）：</a:t>
            </a:r>
            <a:r>
              <a:rPr lang="en-US" altLang="zh-CN" sz="2400" dirty="0">
                <a:solidFill>
                  <a:srgbClr val="0000FF"/>
                </a:solidFill>
                <a:latin typeface="微软雅黑" panose="020B0503020204020204" pitchFamily="34" charset="-122"/>
                <a:ea typeface="微软雅黑" panose="020B0503020204020204" pitchFamily="34" charset="-122"/>
                <a:hlinkClick r:id="rId1"/>
              </a:rPr>
              <a:t>https://www.icourse163.org/course/HUST-1449788170?tid=1476677456</a:t>
            </a:r>
            <a:endParaRPr lang="en-US" altLang="zh-CN" sz="2400" dirty="0">
              <a:solidFill>
                <a:srgbClr val="0000FF"/>
              </a:solidFill>
              <a:latin typeface="微软雅黑" panose="020B0503020204020204" pitchFamily="34" charset="-122"/>
              <a:ea typeface="微软雅黑" panose="020B0503020204020204" pitchFamily="34" charset="-122"/>
            </a:endParaRPr>
          </a:p>
          <a:p>
            <a:endParaRPr lang="en-US" altLang="zh-CN" sz="2400" dirty="0">
              <a:solidFill>
                <a:srgbClr val="0000FF"/>
              </a:solidFill>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华为相关在线课程系列</a:t>
            </a:r>
            <a:r>
              <a:rPr lang="en-US" altLang="zh-CN" sz="2400" dirty="0">
                <a:solidFill>
                  <a:srgbClr val="0000FF"/>
                </a:solidFill>
                <a:latin typeface="微软雅黑" panose="020B0503020204020204" pitchFamily="34" charset="-122"/>
                <a:ea typeface="微软雅黑" panose="020B0503020204020204" pitchFamily="34" charset="-122"/>
              </a:rPr>
              <a:t>https://edu.huaweicloud.com/roadmap/colleges.html</a:t>
            </a:r>
            <a:endParaRPr lang="en-US" altLang="zh-CN" sz="2400" dirty="0">
              <a:solidFill>
                <a:srgbClr val="0000FF"/>
              </a:solidFill>
              <a:latin typeface="微软雅黑" panose="020B0503020204020204" pitchFamily="34" charset="-122"/>
              <a:ea typeface="微软雅黑" panose="020B0503020204020204" pitchFamily="34" charset="-122"/>
            </a:endParaRPr>
          </a:p>
          <a:p>
            <a:pPr marL="0" indent="0">
              <a:buNone/>
            </a:pPr>
            <a:r>
              <a:rPr lang="zh-CN" altLang="en-US" sz="2400" dirty="0">
                <a:latin typeface="微软雅黑" panose="020B0503020204020204" pitchFamily="34" charset="-122"/>
                <a:ea typeface="微软雅黑" panose="020B0503020204020204" pitchFamily="34" charset="-122"/>
              </a:rPr>
              <a:t>    </a:t>
            </a:r>
            <a:r>
              <a:rPr lang="zh-CN" altLang="en-US" sz="2400" i="1" dirty="0">
                <a:solidFill>
                  <a:srgbClr val="0000FF"/>
                </a:solidFill>
                <a:latin typeface="微软雅黑" panose="020B0503020204020204" pitchFamily="34" charset="-122"/>
                <a:ea typeface="微软雅黑" panose="020B0503020204020204" pitchFamily="34" charset="-122"/>
              </a:rPr>
              <a:t>华为在线课程数据库系列，通过技术领域选择“鲲鹏”后，查找数据库或者</a:t>
            </a:r>
            <a:r>
              <a:rPr lang="en-US" altLang="zh-CN" sz="2400" i="1" dirty="0">
                <a:solidFill>
                  <a:srgbClr val="0000FF"/>
                </a:solidFill>
                <a:latin typeface="微软雅黑" panose="020B0503020204020204" pitchFamily="34" charset="-122"/>
                <a:ea typeface="微软雅黑" panose="020B0503020204020204" pitchFamily="34" charset="-122"/>
              </a:rPr>
              <a:t>openGauss</a:t>
            </a:r>
            <a:r>
              <a:rPr lang="zh-CN" altLang="en-US" sz="2400" i="1" dirty="0">
                <a:solidFill>
                  <a:srgbClr val="0000FF"/>
                </a:solidFill>
                <a:latin typeface="微软雅黑" panose="020B0503020204020204" pitchFamily="34" charset="-122"/>
                <a:ea typeface="微软雅黑" panose="020B0503020204020204" pitchFamily="34" charset="-122"/>
              </a:rPr>
              <a:t>的课程进入，或者直接搜索数据库相关课程</a:t>
            </a:r>
            <a:endParaRPr lang="zh-CN" altLang="en-US" sz="2400" i="1" dirty="0">
              <a:solidFill>
                <a:srgbClr val="0000FF"/>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pPr>
              <a:defRPr/>
            </a:pPr>
            <a:fld id="{CFA1E52B-4C93-4B76-9495-20A0E949F63E}" type="slidenum">
              <a:rPr lang="en-US" altLang="zh-CN" smtClean="0"/>
            </a:fld>
            <a:endParaRPr lang="en-US" altLang="zh-C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课程成绩构成</a:t>
            </a:r>
            <a:endParaRPr lang="zh-CN" altLang="en-US" dirty="0"/>
          </a:p>
        </p:txBody>
      </p:sp>
      <p:sp>
        <p:nvSpPr>
          <p:cNvPr id="3" name="内容占位符 2"/>
          <p:cNvSpPr>
            <a:spLocks noGrp="1"/>
          </p:cNvSpPr>
          <p:nvPr>
            <p:ph idx="1"/>
          </p:nvPr>
        </p:nvSpPr>
        <p:spPr/>
        <p:txBody>
          <a:bodyPr/>
          <a:lstStyle/>
          <a:p>
            <a:r>
              <a:rPr lang="zh-CN" altLang="en-US" dirty="0">
                <a:latin typeface="微软雅黑" panose="020B0503020204020204" pitchFamily="34" charset="-122"/>
                <a:ea typeface="微软雅黑" panose="020B0503020204020204" pitchFamily="34" charset="-122"/>
              </a:rPr>
              <a:t>课堂测验占</a:t>
            </a:r>
            <a:r>
              <a:rPr lang="en-US" altLang="zh-CN" dirty="0">
                <a:solidFill>
                  <a:srgbClr val="FF0000"/>
                </a:solidFill>
                <a:latin typeface="微软雅黑" panose="020B0503020204020204" pitchFamily="34" charset="-122"/>
                <a:ea typeface="微软雅黑" panose="020B0503020204020204" pitchFamily="34" charset="-122"/>
              </a:rPr>
              <a:t>15%</a:t>
            </a:r>
            <a:r>
              <a:rPr lang="zh-CN" altLang="en-US" dirty="0">
                <a:latin typeface="微软雅黑" panose="020B0503020204020204" pitchFamily="34" charset="-122"/>
                <a:ea typeface="微软雅黑" panose="020B0503020204020204" pitchFamily="34" charset="-122"/>
              </a:rPr>
              <a:t>（</a:t>
            </a:r>
            <a:r>
              <a:rPr lang="zh-CN" altLang="en-US" dirty="0">
                <a:solidFill>
                  <a:srgbClr val="0000FF"/>
                </a:solidFill>
                <a:latin typeface="微软雅黑" panose="020B0503020204020204" pitchFamily="34" charset="-122"/>
                <a:ea typeface="微软雅黑" panose="020B0503020204020204" pitchFamily="34" charset="-122"/>
              </a:rPr>
              <a:t>注：早先慕课成绩占</a:t>
            </a:r>
            <a:r>
              <a:rPr lang="en-US" altLang="zh-CN" dirty="0">
                <a:solidFill>
                  <a:srgbClr val="0000FF"/>
                </a:solidFill>
                <a:latin typeface="微软雅黑" panose="020B0503020204020204" pitchFamily="34" charset="-122"/>
                <a:ea typeface="微软雅黑" panose="020B0503020204020204" pitchFamily="34" charset="-122"/>
              </a:rPr>
              <a:t>15%</a:t>
            </a:r>
            <a:r>
              <a:rPr lang="zh-CN" altLang="en-US" dirty="0">
                <a:solidFill>
                  <a:srgbClr val="0000FF"/>
                </a:solidFill>
                <a:latin typeface="微软雅黑" panose="020B0503020204020204" pitchFamily="34" charset="-122"/>
                <a:ea typeface="微软雅黑" panose="020B0503020204020204" pitchFamily="34" charset="-122"/>
              </a:rPr>
              <a:t>现在不再要求，</a:t>
            </a:r>
            <a:r>
              <a:rPr lang="zh-CN" altLang="en-US" dirty="0">
                <a:solidFill>
                  <a:srgbClr val="FF0000"/>
                </a:solidFill>
                <a:latin typeface="微软雅黑" panose="020B0503020204020204" pitchFamily="34" charset="-122"/>
                <a:ea typeface="微软雅黑" panose="020B0503020204020204" pitchFamily="34" charset="-122"/>
              </a:rPr>
              <a:t>希望同学们选修慕课</a:t>
            </a:r>
            <a:r>
              <a:rPr lang="zh-CN" altLang="en-US" dirty="0">
                <a:solidFill>
                  <a:srgbClr val="0000FF"/>
                </a:solidFill>
                <a:latin typeface="微软雅黑" panose="020B0503020204020204" pitchFamily="34" charset="-122"/>
                <a:ea typeface="微软雅黑" panose="020B0503020204020204" pitchFamily="34" charset="-122"/>
              </a:rPr>
              <a:t>，充分利用已有教学资源，也是对老师工作的支持）</a:t>
            </a:r>
            <a:endParaRPr lang="en-US" altLang="zh-CN" dirty="0">
              <a:solidFill>
                <a:srgbClr val="0000FF"/>
              </a:solidFill>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平时考察及作业占</a:t>
            </a:r>
            <a:r>
              <a:rPr lang="en-US" altLang="zh-CN" dirty="0">
                <a:solidFill>
                  <a:srgbClr val="FF0000"/>
                </a:solidFill>
                <a:latin typeface="微软雅黑" panose="020B0503020204020204" pitchFamily="34" charset="-122"/>
                <a:ea typeface="微软雅黑" panose="020B0503020204020204" pitchFamily="34" charset="-122"/>
              </a:rPr>
              <a:t>15%</a:t>
            </a:r>
            <a:endParaRPr lang="en-US" altLang="zh-CN" dirty="0">
              <a:solidFill>
                <a:srgbClr val="FF0000"/>
              </a:solidFill>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考试卷面成绩占</a:t>
            </a:r>
            <a:r>
              <a:rPr lang="en-US" altLang="zh-CN" dirty="0">
                <a:solidFill>
                  <a:srgbClr val="FF0000"/>
                </a:solidFill>
                <a:latin typeface="微软雅黑" panose="020B0503020204020204" pitchFamily="34" charset="-122"/>
                <a:ea typeface="微软雅黑" panose="020B0503020204020204" pitchFamily="34" charset="-122"/>
              </a:rPr>
              <a:t>70%</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pPr>
              <a:defRPr/>
            </a:pPr>
            <a:fld id="{CFA1E52B-4C93-4B76-9495-20A0E949F63E}" type="slidenum">
              <a:rPr lang="en-US" altLang="zh-CN" smtClean="0"/>
            </a:fld>
            <a:endParaRPr lang="en-US" altLang="zh-C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3"/>
          <p:cNvSpPr>
            <a:spLocks noGrp="1"/>
          </p:cNvSpPr>
          <p:nvPr>
            <p:ph type="sldNum" sz="quarter" idx="12"/>
          </p:nvPr>
        </p:nvSpPr>
        <p:spPr/>
        <p:txBody>
          <a:bodyPr/>
          <a:lstStyle/>
          <a:p>
            <a:pPr>
              <a:defRPr/>
            </a:pPr>
            <a:fld id="{27894594-55B5-489A-9402-16CE9821A44B}" type="slidenum">
              <a:rPr lang="en-US" altLang="zh-CN"/>
            </a:fld>
            <a:endParaRPr lang="en-US" altLang="zh-CN"/>
          </a:p>
        </p:txBody>
      </p:sp>
      <p:sp>
        <p:nvSpPr>
          <p:cNvPr id="44035" name="Text Box 2"/>
          <p:cNvSpPr txBox="1">
            <a:spLocks noChangeArrowheads="1"/>
          </p:cNvSpPr>
          <p:nvPr/>
        </p:nvSpPr>
        <p:spPr bwMode="auto">
          <a:xfrm>
            <a:off x="533400" y="990600"/>
            <a:ext cx="7788275" cy="1384300"/>
          </a:xfrm>
          <a:prstGeom prst="rect">
            <a:avLst/>
          </a:prstGeom>
          <a:noFill/>
          <a:ln w="9525">
            <a:noFill/>
            <a:miter lim="800000"/>
          </a:ln>
        </p:spPr>
        <p:txBody>
          <a:bodyPr>
            <a:spAutoFit/>
          </a:bodyPr>
          <a:lstStyle/>
          <a:p>
            <a:r>
              <a:rPr lang="zh-CN" altLang="en-US" sz="2800" dirty="0">
                <a:latin typeface="华文新魏" pitchFamily="2" charset="-122"/>
                <a:ea typeface="华文新魏" pitchFamily="2" charset="-122"/>
              </a:rPr>
              <a:t>第</a:t>
            </a:r>
            <a:r>
              <a:rPr lang="en-US" altLang="zh-CN" sz="2800" dirty="0">
                <a:latin typeface="华文新魏" pitchFamily="2" charset="-122"/>
                <a:ea typeface="华文新魏" pitchFamily="2" charset="-122"/>
              </a:rPr>
              <a:t>1</a:t>
            </a:r>
            <a:r>
              <a:rPr lang="zh-CN" altLang="en-US" sz="2800" dirty="0">
                <a:latin typeface="华文新魏" pitchFamily="2" charset="-122"/>
                <a:ea typeface="华文新魏" pitchFamily="2" charset="-122"/>
              </a:rPr>
              <a:t>章 绪论</a:t>
            </a:r>
            <a:endParaRPr lang="zh-CN" altLang="en-US" sz="2800" dirty="0">
              <a:latin typeface="华文新魏" pitchFamily="2" charset="-122"/>
              <a:ea typeface="华文新魏" pitchFamily="2" charset="-122"/>
            </a:endParaRPr>
          </a:p>
          <a:p>
            <a:r>
              <a:rPr lang="zh-CN" altLang="en-US" sz="2800" dirty="0">
                <a:solidFill>
                  <a:srgbClr val="0000FF"/>
                </a:solidFill>
                <a:latin typeface="华文新魏" pitchFamily="2" charset="-122"/>
                <a:ea typeface="华文新魏" pitchFamily="2" charset="-122"/>
              </a:rPr>
              <a:t>      产生与发展、数据模型、模式、系统结构</a:t>
            </a:r>
            <a:endParaRPr lang="en-US" altLang="zh-CN" sz="2800" dirty="0">
              <a:solidFill>
                <a:srgbClr val="0000FF"/>
              </a:solidFill>
              <a:latin typeface="华文新魏" pitchFamily="2" charset="-122"/>
              <a:ea typeface="华文新魏" pitchFamily="2" charset="-122"/>
            </a:endParaRPr>
          </a:p>
          <a:p>
            <a:r>
              <a:rPr lang="zh-CN" altLang="en-US" sz="2800" dirty="0">
                <a:solidFill>
                  <a:srgbClr val="0000FF"/>
                </a:solidFill>
              </a:rPr>
              <a:t>    </a:t>
            </a:r>
            <a:r>
              <a:rPr lang="zh-CN" altLang="en-US" sz="2800" i="1" dirty="0">
                <a:solidFill>
                  <a:srgbClr val="0000FF"/>
                </a:solidFill>
              </a:rPr>
              <a:t>抽象方法、计算机方法论</a:t>
            </a:r>
            <a:endParaRPr lang="zh-CN" altLang="en-US" sz="2800" i="1" dirty="0">
              <a:solidFill>
                <a:srgbClr val="0000FF"/>
              </a:solidFill>
              <a:latin typeface="华文新魏" pitchFamily="2" charset="-122"/>
              <a:ea typeface="华文新魏" pitchFamily="2" charset="-122"/>
            </a:endParaRPr>
          </a:p>
        </p:txBody>
      </p:sp>
      <p:sp>
        <p:nvSpPr>
          <p:cNvPr id="81923" name="Text Box 3"/>
          <p:cNvSpPr txBox="1">
            <a:spLocks noChangeArrowheads="1"/>
          </p:cNvSpPr>
          <p:nvPr/>
        </p:nvSpPr>
        <p:spPr bwMode="auto">
          <a:xfrm>
            <a:off x="533400" y="2420938"/>
            <a:ext cx="7467600" cy="1341437"/>
          </a:xfrm>
          <a:prstGeom prst="rect">
            <a:avLst/>
          </a:prstGeom>
          <a:noFill/>
          <a:ln w="9525">
            <a:noFill/>
            <a:miter lim="800000"/>
          </a:ln>
        </p:spPr>
        <p:txBody>
          <a:bodyPr>
            <a:spAutoFit/>
          </a:bodyPr>
          <a:lstStyle/>
          <a:p>
            <a:pPr>
              <a:lnSpc>
                <a:spcPct val="90000"/>
              </a:lnSpc>
              <a:spcBef>
                <a:spcPct val="20000"/>
              </a:spcBef>
            </a:pPr>
            <a:r>
              <a:rPr lang="zh-CN" altLang="en-US" sz="2800" dirty="0">
                <a:latin typeface="华文新魏" pitchFamily="2" charset="-122"/>
                <a:ea typeface="华文新魏" pitchFamily="2" charset="-122"/>
              </a:rPr>
              <a:t>第</a:t>
            </a:r>
            <a:r>
              <a:rPr lang="en-US" altLang="zh-CN" sz="2800" dirty="0">
                <a:latin typeface="华文新魏" pitchFamily="2" charset="-122"/>
                <a:ea typeface="华文新魏" pitchFamily="2" charset="-122"/>
              </a:rPr>
              <a:t>2</a:t>
            </a:r>
            <a:r>
              <a:rPr lang="zh-CN" altLang="en-US" sz="2800" dirty="0">
                <a:latin typeface="华文新魏" pitchFamily="2" charset="-122"/>
                <a:ea typeface="华文新魏" pitchFamily="2" charset="-122"/>
              </a:rPr>
              <a:t>章  关系数据库</a:t>
            </a:r>
            <a:endParaRPr lang="zh-CN" altLang="en-US" sz="2800" dirty="0">
              <a:latin typeface="华文新魏" pitchFamily="2" charset="-122"/>
              <a:ea typeface="华文新魏" pitchFamily="2" charset="-122"/>
            </a:endParaRPr>
          </a:p>
          <a:p>
            <a:r>
              <a:rPr lang="zh-CN" altLang="en-US" sz="2800" dirty="0">
                <a:solidFill>
                  <a:srgbClr val="0000FF"/>
                </a:solidFill>
                <a:latin typeface="华文新魏" pitchFamily="2" charset="-122"/>
                <a:ea typeface="华文新魏" pitchFamily="2" charset="-122"/>
              </a:rPr>
              <a:t>     基本概念、操作概述、关系代数基础</a:t>
            </a:r>
            <a:endParaRPr lang="en-US" altLang="zh-CN" sz="2800" dirty="0">
              <a:solidFill>
                <a:srgbClr val="0000FF"/>
              </a:solidFill>
              <a:latin typeface="华文新魏" pitchFamily="2" charset="-122"/>
              <a:ea typeface="华文新魏" pitchFamily="2" charset="-122"/>
            </a:endParaRPr>
          </a:p>
          <a:p>
            <a:r>
              <a:rPr lang="zh-CN" altLang="en-US" sz="2800" dirty="0"/>
              <a:t>    </a:t>
            </a:r>
            <a:r>
              <a:rPr lang="zh-CN" altLang="en-US" sz="2800" i="1" dirty="0">
                <a:solidFill>
                  <a:srgbClr val="0000FF"/>
                </a:solidFill>
              </a:rPr>
              <a:t>代数运算、</a:t>
            </a:r>
            <a:r>
              <a:rPr lang="zh-CN" altLang="en-US" sz="2800" i="1" dirty="0">
                <a:solidFill>
                  <a:srgbClr val="009999"/>
                </a:solidFill>
              </a:rPr>
              <a:t>谓词演算</a:t>
            </a:r>
            <a:endParaRPr lang="zh-CN" altLang="en-US" sz="2800" i="1" dirty="0">
              <a:solidFill>
                <a:srgbClr val="009999"/>
              </a:solidFill>
              <a:latin typeface="华文新魏" pitchFamily="2" charset="-122"/>
              <a:ea typeface="华文新魏" pitchFamily="2" charset="-122"/>
            </a:endParaRPr>
          </a:p>
        </p:txBody>
      </p:sp>
      <p:sp>
        <p:nvSpPr>
          <p:cNvPr id="81924" name="Text Box 4"/>
          <p:cNvSpPr txBox="1">
            <a:spLocks noChangeArrowheads="1"/>
          </p:cNvSpPr>
          <p:nvPr/>
        </p:nvSpPr>
        <p:spPr bwMode="auto">
          <a:xfrm>
            <a:off x="533400" y="3789363"/>
            <a:ext cx="7513595" cy="1384995"/>
          </a:xfrm>
          <a:prstGeom prst="rect">
            <a:avLst/>
          </a:prstGeom>
          <a:noFill/>
          <a:ln w="9525">
            <a:noFill/>
            <a:miter lim="800000"/>
          </a:ln>
        </p:spPr>
        <p:txBody>
          <a:bodyPr wrap="none">
            <a:spAutoFit/>
          </a:bodyPr>
          <a:lstStyle/>
          <a:p>
            <a:r>
              <a:rPr lang="zh-CN" altLang="en-US" sz="2800" dirty="0">
                <a:latin typeface="华文新魏" pitchFamily="2" charset="-122"/>
                <a:ea typeface="华文新魏" pitchFamily="2" charset="-122"/>
              </a:rPr>
              <a:t>第</a:t>
            </a:r>
            <a:r>
              <a:rPr lang="en-US" altLang="zh-CN" sz="2800" dirty="0">
                <a:latin typeface="华文新魏" pitchFamily="2" charset="-122"/>
                <a:ea typeface="华文新魏" pitchFamily="2" charset="-122"/>
              </a:rPr>
              <a:t>3</a:t>
            </a:r>
            <a:r>
              <a:rPr lang="zh-CN" altLang="en-US" sz="2800" dirty="0">
                <a:latin typeface="华文新魏" pitchFamily="2" charset="-122"/>
                <a:ea typeface="华文新魏" pitchFamily="2" charset="-122"/>
              </a:rPr>
              <a:t>章  关系数据库标准语言</a:t>
            </a:r>
            <a:r>
              <a:rPr lang="en-US" altLang="zh-CN" sz="2800" dirty="0">
                <a:latin typeface="华文新魏" pitchFamily="2" charset="-122"/>
                <a:ea typeface="华文新魏" pitchFamily="2" charset="-122"/>
              </a:rPr>
              <a:t>SQL</a:t>
            </a:r>
            <a:endParaRPr lang="en-US" altLang="zh-CN" sz="2800" dirty="0">
              <a:latin typeface="华文新魏" pitchFamily="2" charset="-122"/>
              <a:ea typeface="华文新魏" pitchFamily="2" charset="-122"/>
            </a:endParaRPr>
          </a:p>
          <a:p>
            <a:r>
              <a:rPr lang="en-US" altLang="zh-CN" sz="2800" dirty="0">
                <a:latin typeface="华文新魏" pitchFamily="2" charset="-122"/>
                <a:ea typeface="华文新魏" pitchFamily="2" charset="-122"/>
              </a:rPr>
              <a:t>     </a:t>
            </a:r>
            <a:r>
              <a:rPr lang="zh-CN" altLang="en-US" sz="2800" dirty="0">
                <a:solidFill>
                  <a:srgbClr val="0000FF"/>
                </a:solidFill>
                <a:latin typeface="华文新魏" pitchFamily="2" charset="-122"/>
                <a:ea typeface="华文新魏" pitchFamily="2" charset="-122"/>
              </a:rPr>
              <a:t>掌握基础的语法、句式</a:t>
            </a:r>
            <a:endParaRPr lang="en-US" altLang="zh-CN" sz="2800" dirty="0">
              <a:solidFill>
                <a:srgbClr val="0000FF"/>
              </a:solidFill>
              <a:latin typeface="华文新魏" pitchFamily="2" charset="-122"/>
              <a:ea typeface="华文新魏" pitchFamily="2" charset="-122"/>
            </a:endParaRPr>
          </a:p>
          <a:p>
            <a:r>
              <a:rPr lang="zh-CN" altLang="en-US" sz="2800" dirty="0"/>
              <a:t>    </a:t>
            </a:r>
            <a:r>
              <a:rPr lang="zh-CN" altLang="en-US" sz="2800" i="1" dirty="0">
                <a:solidFill>
                  <a:srgbClr val="0000FF"/>
                </a:solidFill>
              </a:rPr>
              <a:t>一种英文文法及其语义内涵，也是一种程序</a:t>
            </a:r>
            <a:endParaRPr lang="zh-CN" altLang="en-US" sz="2800" i="1" dirty="0">
              <a:solidFill>
                <a:srgbClr val="0000FF"/>
              </a:solidFill>
              <a:latin typeface="华文新魏" pitchFamily="2" charset="-122"/>
              <a:ea typeface="华文新魏" pitchFamily="2" charset="-122"/>
            </a:endParaRPr>
          </a:p>
        </p:txBody>
      </p:sp>
      <p:sp>
        <p:nvSpPr>
          <p:cNvPr id="39943" name="Text Box 6"/>
          <p:cNvSpPr txBox="1">
            <a:spLocks noChangeArrowheads="1"/>
          </p:cNvSpPr>
          <p:nvPr/>
        </p:nvSpPr>
        <p:spPr bwMode="auto">
          <a:xfrm>
            <a:off x="3352800" y="423863"/>
            <a:ext cx="2749550" cy="862012"/>
          </a:xfrm>
          <a:prstGeom prst="rect">
            <a:avLst/>
          </a:prstGeom>
          <a:noFill/>
          <a:ln w="9525">
            <a:noFill/>
            <a:miter lim="800000"/>
          </a:ln>
        </p:spPr>
        <p:txBody>
          <a:bodyPr wrap="none">
            <a:spAutoFit/>
          </a:bodyPr>
          <a:lstStyle/>
          <a:p>
            <a:pPr>
              <a:defRPr/>
            </a:pPr>
            <a:r>
              <a:rPr lang="zh-CN" altLang="en-US" sz="5000" dirty="0">
                <a:solidFill>
                  <a:schemeClr val="tx2"/>
                </a:solidFill>
                <a:latin typeface="+mj-lt"/>
                <a:ea typeface="+mj-ea"/>
                <a:cs typeface="+mj-cs"/>
              </a:rPr>
              <a:t>课程内容</a:t>
            </a:r>
            <a:endParaRPr lang="zh-CN" altLang="en-US" sz="5000" dirty="0">
              <a:solidFill>
                <a:schemeClr val="tx2"/>
              </a:solidFill>
              <a:latin typeface="+mj-lt"/>
              <a:ea typeface="+mj-ea"/>
              <a:cs typeface="+mj-cs"/>
            </a:endParaRPr>
          </a:p>
        </p:txBody>
      </p:sp>
      <p:sp>
        <p:nvSpPr>
          <p:cNvPr id="81927" name="Text Box 7"/>
          <p:cNvSpPr txBox="1">
            <a:spLocks noChangeArrowheads="1"/>
          </p:cNvSpPr>
          <p:nvPr/>
        </p:nvSpPr>
        <p:spPr bwMode="auto">
          <a:xfrm>
            <a:off x="533400" y="5157788"/>
            <a:ext cx="7162800" cy="1384300"/>
          </a:xfrm>
          <a:prstGeom prst="rect">
            <a:avLst/>
          </a:prstGeom>
          <a:noFill/>
          <a:ln w="9525">
            <a:noFill/>
            <a:miter lim="800000"/>
          </a:ln>
        </p:spPr>
        <p:txBody>
          <a:bodyPr>
            <a:spAutoFit/>
          </a:bodyPr>
          <a:lstStyle/>
          <a:p>
            <a:r>
              <a:rPr lang="zh-CN" altLang="en-US" sz="2800" dirty="0">
                <a:latin typeface="华文新魏" pitchFamily="2" charset="-122"/>
                <a:ea typeface="华文新魏" pitchFamily="2" charset="-122"/>
              </a:rPr>
              <a:t>第</a:t>
            </a:r>
            <a:r>
              <a:rPr lang="en-US" altLang="zh-CN" sz="2800" dirty="0">
                <a:latin typeface="华文新魏" pitchFamily="2" charset="-122"/>
                <a:ea typeface="华文新魏" pitchFamily="2" charset="-122"/>
              </a:rPr>
              <a:t>4</a:t>
            </a:r>
            <a:r>
              <a:rPr lang="zh-CN" altLang="en-US" sz="2800" dirty="0">
                <a:latin typeface="华文新魏" pitchFamily="2" charset="-122"/>
                <a:ea typeface="华文新魏" pitchFamily="2" charset="-122"/>
              </a:rPr>
              <a:t>章  数据库安全性</a:t>
            </a:r>
            <a:endParaRPr lang="zh-CN" altLang="en-US" sz="2800" dirty="0">
              <a:latin typeface="华文新魏" pitchFamily="2" charset="-122"/>
              <a:ea typeface="华文新魏" pitchFamily="2" charset="-122"/>
            </a:endParaRPr>
          </a:p>
          <a:p>
            <a:r>
              <a:rPr lang="zh-CN" altLang="en-US" sz="2800" dirty="0">
                <a:latin typeface="华文新魏" pitchFamily="2" charset="-122"/>
                <a:ea typeface="华文新魏" pitchFamily="2" charset="-122"/>
              </a:rPr>
              <a:t>     </a:t>
            </a:r>
            <a:r>
              <a:rPr lang="zh-CN" altLang="en-US" sz="2800" dirty="0">
                <a:solidFill>
                  <a:srgbClr val="0000FF"/>
                </a:solidFill>
                <a:latin typeface="华文新魏" pitchFamily="2" charset="-122"/>
                <a:ea typeface="华文新魏" pitchFamily="2" charset="-122"/>
              </a:rPr>
              <a:t>基本概念</a:t>
            </a:r>
            <a:endParaRPr lang="en-US" altLang="zh-CN" sz="2800" dirty="0">
              <a:solidFill>
                <a:srgbClr val="0000FF"/>
              </a:solidFill>
              <a:latin typeface="华文新魏" pitchFamily="2" charset="-122"/>
              <a:ea typeface="华文新魏" pitchFamily="2" charset="-122"/>
            </a:endParaRPr>
          </a:p>
          <a:p>
            <a:r>
              <a:rPr lang="zh-CN" altLang="en-US" sz="2800" dirty="0">
                <a:solidFill>
                  <a:srgbClr val="0000FF"/>
                </a:solidFill>
              </a:rPr>
              <a:t>    </a:t>
            </a:r>
            <a:r>
              <a:rPr lang="zh-CN" altLang="en-US" sz="2800" i="1" dirty="0">
                <a:solidFill>
                  <a:srgbClr val="0000FF"/>
                </a:solidFill>
              </a:rPr>
              <a:t>计算机安全的基本知识和策略</a:t>
            </a:r>
            <a:endParaRPr lang="zh-CN" altLang="en-US" sz="2800" i="1" dirty="0">
              <a:solidFill>
                <a:srgbClr val="0000FF"/>
              </a:solidFill>
              <a:latin typeface="华文新魏" pitchFamily="2" charset="-122"/>
              <a:ea typeface="华文新魏" pitchFamily="2" charset="-122"/>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783AE16F-14DC-4905-8760-88972A186CF6}" type="slidenum">
              <a:rPr lang="en-US" altLang="zh-CN" smtClean="0"/>
            </a:fld>
            <a:endParaRPr lang="en-US" altLang="zh-CN"/>
          </a:p>
        </p:txBody>
      </p:sp>
      <p:sp>
        <p:nvSpPr>
          <p:cNvPr id="3" name="Text Box 5"/>
          <p:cNvSpPr txBox="1">
            <a:spLocks noChangeArrowheads="1"/>
          </p:cNvSpPr>
          <p:nvPr/>
        </p:nvSpPr>
        <p:spPr bwMode="auto">
          <a:xfrm>
            <a:off x="533400" y="2338388"/>
            <a:ext cx="8077200" cy="1384995"/>
          </a:xfrm>
          <a:prstGeom prst="rect">
            <a:avLst/>
          </a:prstGeom>
          <a:noFill/>
          <a:ln w="9525">
            <a:noFill/>
            <a:miter lim="800000"/>
          </a:ln>
        </p:spPr>
        <p:txBody>
          <a:bodyPr>
            <a:spAutoFit/>
          </a:bodyPr>
          <a:lstStyle/>
          <a:p>
            <a:r>
              <a:rPr lang="zh-CN" altLang="en-US" sz="2800" dirty="0">
                <a:latin typeface="华文新魏" pitchFamily="2" charset="-122"/>
                <a:ea typeface="华文新魏" pitchFamily="2" charset="-122"/>
              </a:rPr>
              <a:t>第</a:t>
            </a:r>
            <a:r>
              <a:rPr lang="en-US" altLang="zh-CN" sz="2800" dirty="0">
                <a:latin typeface="华文新魏" pitchFamily="2" charset="-122"/>
                <a:ea typeface="华文新魏" pitchFamily="2" charset="-122"/>
              </a:rPr>
              <a:t>6</a:t>
            </a:r>
            <a:r>
              <a:rPr lang="zh-CN" altLang="en-US" sz="2800" dirty="0">
                <a:latin typeface="华文新魏" pitchFamily="2" charset="-122"/>
                <a:ea typeface="华文新魏" pitchFamily="2" charset="-122"/>
              </a:rPr>
              <a:t>章  关系数据理论</a:t>
            </a:r>
            <a:endParaRPr lang="en-US" altLang="zh-CN" sz="2800" dirty="0">
              <a:latin typeface="华文新魏" pitchFamily="2" charset="-122"/>
              <a:ea typeface="华文新魏" pitchFamily="2" charset="-122"/>
            </a:endParaRPr>
          </a:p>
          <a:p>
            <a:r>
              <a:rPr lang="zh-CN" altLang="en-US" sz="2800" dirty="0">
                <a:solidFill>
                  <a:srgbClr val="0000FF"/>
                </a:solidFill>
                <a:latin typeface="华文新魏" pitchFamily="2" charset="-122"/>
                <a:ea typeface="华文新魏" pitchFamily="2" charset="-122"/>
              </a:rPr>
              <a:t>      问题的提出、范式的概念及应用、公理系统</a:t>
            </a:r>
            <a:endParaRPr lang="en-US" altLang="zh-CN" sz="2800" dirty="0">
              <a:solidFill>
                <a:srgbClr val="0000FF"/>
              </a:solidFill>
              <a:latin typeface="华文新魏" pitchFamily="2" charset="-122"/>
              <a:ea typeface="华文新魏" pitchFamily="2" charset="-122"/>
            </a:endParaRPr>
          </a:p>
          <a:p>
            <a:r>
              <a:rPr lang="zh-CN" altLang="en-US" sz="2800" i="1" dirty="0">
                <a:solidFill>
                  <a:srgbClr val="0000FF"/>
                </a:solidFill>
              </a:rPr>
              <a:t>    集合论、闭包的概念及其算法应用</a:t>
            </a:r>
            <a:endParaRPr lang="zh-CN" altLang="en-US" sz="2800" i="1" dirty="0">
              <a:solidFill>
                <a:srgbClr val="0000FF"/>
              </a:solidFill>
              <a:latin typeface="华文新魏" pitchFamily="2" charset="-122"/>
              <a:ea typeface="华文新魏" pitchFamily="2" charset="-122"/>
            </a:endParaRPr>
          </a:p>
        </p:txBody>
      </p:sp>
      <p:sp>
        <p:nvSpPr>
          <p:cNvPr id="45060" name="Text Box 8"/>
          <p:cNvSpPr txBox="1">
            <a:spLocks noChangeArrowheads="1"/>
          </p:cNvSpPr>
          <p:nvPr/>
        </p:nvSpPr>
        <p:spPr bwMode="auto">
          <a:xfrm>
            <a:off x="541338" y="908050"/>
            <a:ext cx="7840662" cy="1385888"/>
          </a:xfrm>
          <a:prstGeom prst="rect">
            <a:avLst/>
          </a:prstGeom>
          <a:noFill/>
          <a:ln w="9525">
            <a:noFill/>
            <a:miter lim="800000"/>
          </a:ln>
        </p:spPr>
        <p:txBody>
          <a:bodyPr>
            <a:spAutoFit/>
          </a:bodyPr>
          <a:lstStyle/>
          <a:p>
            <a:r>
              <a:rPr lang="zh-CN" altLang="en-US" sz="2800" dirty="0">
                <a:latin typeface="华文新魏" pitchFamily="2" charset="-122"/>
                <a:ea typeface="华文新魏" pitchFamily="2" charset="-122"/>
              </a:rPr>
              <a:t>第</a:t>
            </a:r>
            <a:r>
              <a:rPr lang="en-US" altLang="zh-CN" sz="2800" dirty="0">
                <a:latin typeface="华文新魏" pitchFamily="2" charset="-122"/>
                <a:ea typeface="华文新魏" pitchFamily="2" charset="-122"/>
              </a:rPr>
              <a:t>5</a:t>
            </a:r>
            <a:r>
              <a:rPr lang="zh-CN" altLang="en-US" sz="2800" dirty="0">
                <a:latin typeface="华文新魏" pitchFamily="2" charset="-122"/>
                <a:ea typeface="华文新魏" pitchFamily="2" charset="-122"/>
              </a:rPr>
              <a:t>章 数据库完整性</a:t>
            </a:r>
            <a:endParaRPr lang="zh-CN" altLang="en-US" sz="2800" dirty="0">
              <a:latin typeface="华文新魏" pitchFamily="2" charset="-122"/>
              <a:ea typeface="华文新魏" pitchFamily="2" charset="-122"/>
            </a:endParaRPr>
          </a:p>
          <a:p>
            <a:r>
              <a:rPr lang="zh-CN" altLang="en-US" sz="2800" dirty="0">
                <a:latin typeface="华文新魏" pitchFamily="2" charset="-122"/>
                <a:ea typeface="华文新魏" pitchFamily="2" charset="-122"/>
              </a:rPr>
              <a:t>      </a:t>
            </a:r>
            <a:r>
              <a:rPr lang="zh-CN" altLang="en-US" sz="2800" dirty="0">
                <a:solidFill>
                  <a:srgbClr val="0000FF"/>
                </a:solidFill>
                <a:latin typeface="华文新魏" pitchFamily="2" charset="-122"/>
                <a:ea typeface="华文新魏" pitchFamily="2" charset="-122"/>
              </a:rPr>
              <a:t>完整性的范畴、机制</a:t>
            </a:r>
            <a:endParaRPr lang="en-US" altLang="zh-CN" sz="2800" dirty="0">
              <a:solidFill>
                <a:srgbClr val="0000FF"/>
              </a:solidFill>
              <a:latin typeface="华文新魏" pitchFamily="2" charset="-122"/>
              <a:ea typeface="华文新魏" pitchFamily="2" charset="-122"/>
            </a:endParaRPr>
          </a:p>
          <a:p>
            <a:r>
              <a:rPr lang="zh-CN" altLang="en-US" sz="2800" i="1" dirty="0">
                <a:solidFill>
                  <a:srgbClr val="0000FF"/>
                </a:solidFill>
              </a:rPr>
              <a:t>    数据的语义约束的描述和实现机制</a:t>
            </a:r>
            <a:endParaRPr lang="zh-CN" altLang="en-US" sz="2800" i="1" dirty="0">
              <a:solidFill>
                <a:srgbClr val="0000FF"/>
              </a:solidFill>
              <a:latin typeface="华文新魏" pitchFamily="2" charset="-122"/>
              <a:ea typeface="华文新魏" pitchFamily="2" charset="-122"/>
            </a:endParaRPr>
          </a:p>
        </p:txBody>
      </p:sp>
      <p:sp>
        <p:nvSpPr>
          <p:cNvPr id="5" name="Text Box 2"/>
          <p:cNvSpPr txBox="1">
            <a:spLocks noChangeArrowheads="1"/>
          </p:cNvSpPr>
          <p:nvPr/>
        </p:nvSpPr>
        <p:spPr bwMode="auto">
          <a:xfrm>
            <a:off x="533400" y="5084763"/>
            <a:ext cx="7927032" cy="1384995"/>
          </a:xfrm>
          <a:prstGeom prst="rect">
            <a:avLst/>
          </a:prstGeom>
          <a:noFill/>
          <a:ln w="9525">
            <a:noFill/>
            <a:miter lim="800000"/>
          </a:ln>
        </p:spPr>
        <p:txBody>
          <a:bodyPr wrap="square">
            <a:spAutoFit/>
          </a:bodyPr>
          <a:lstStyle/>
          <a:p>
            <a:r>
              <a:rPr lang="zh-CN" altLang="en-US" sz="2800" dirty="0">
                <a:solidFill>
                  <a:srgbClr val="009999"/>
                </a:solidFill>
                <a:latin typeface="华文新魏" pitchFamily="2" charset="-122"/>
                <a:ea typeface="华文新魏" pitchFamily="2" charset="-122"/>
              </a:rPr>
              <a:t>第</a:t>
            </a:r>
            <a:r>
              <a:rPr lang="en-US" altLang="zh-CN" sz="2800" dirty="0">
                <a:solidFill>
                  <a:srgbClr val="009999"/>
                </a:solidFill>
                <a:latin typeface="华文新魏" pitchFamily="2" charset="-122"/>
                <a:ea typeface="华文新魏" pitchFamily="2" charset="-122"/>
              </a:rPr>
              <a:t>8</a:t>
            </a:r>
            <a:r>
              <a:rPr lang="zh-CN" altLang="en-US" sz="2800" dirty="0">
                <a:solidFill>
                  <a:srgbClr val="009999"/>
                </a:solidFill>
                <a:latin typeface="华文新魏" pitchFamily="2" charset="-122"/>
                <a:ea typeface="华文新魏" pitchFamily="2" charset="-122"/>
              </a:rPr>
              <a:t>章 数据库编程（</a:t>
            </a:r>
            <a:r>
              <a:rPr lang="zh-CN" altLang="en-US" sz="2800" dirty="0">
                <a:solidFill>
                  <a:srgbClr val="0000FF"/>
                </a:solidFill>
                <a:latin typeface="华文新魏" pitchFamily="2" charset="-122"/>
                <a:ea typeface="华文新魏" pitchFamily="2" charset="-122"/>
              </a:rPr>
              <a:t>不作为课堂教学内容</a:t>
            </a:r>
            <a:r>
              <a:rPr lang="zh-CN" altLang="en-US" sz="2800" dirty="0">
                <a:solidFill>
                  <a:srgbClr val="009999"/>
                </a:solidFill>
                <a:latin typeface="华文新魏" pitchFamily="2" charset="-122"/>
                <a:ea typeface="华文新魏" pitchFamily="2" charset="-122"/>
              </a:rPr>
              <a:t>）</a:t>
            </a:r>
            <a:endParaRPr lang="zh-CN" altLang="en-US" sz="2800" dirty="0">
              <a:solidFill>
                <a:srgbClr val="009999"/>
              </a:solidFill>
              <a:latin typeface="华文新魏" pitchFamily="2" charset="-122"/>
              <a:ea typeface="华文新魏" pitchFamily="2" charset="-122"/>
            </a:endParaRPr>
          </a:p>
          <a:p>
            <a:r>
              <a:rPr lang="zh-CN" altLang="en-US" sz="2800" dirty="0">
                <a:solidFill>
                  <a:srgbClr val="009999"/>
                </a:solidFill>
                <a:latin typeface="华文新魏" pitchFamily="2" charset="-122"/>
                <a:ea typeface="华文新魏" pitchFamily="2" charset="-122"/>
              </a:rPr>
              <a:t>      嵌入式</a:t>
            </a:r>
            <a:r>
              <a:rPr lang="en-US" altLang="zh-CN" sz="2800" dirty="0" err="1">
                <a:solidFill>
                  <a:srgbClr val="009999"/>
                </a:solidFill>
                <a:latin typeface="华文新魏" pitchFamily="2" charset="-122"/>
                <a:ea typeface="华文新魏" pitchFamily="2" charset="-122"/>
              </a:rPr>
              <a:t>sql</a:t>
            </a:r>
            <a:r>
              <a:rPr lang="zh-CN" altLang="en-US" sz="2800" dirty="0">
                <a:solidFill>
                  <a:srgbClr val="009999"/>
                </a:solidFill>
                <a:latin typeface="华文新魏" pitchFamily="2" charset="-122"/>
                <a:ea typeface="华文新魏" pitchFamily="2" charset="-122"/>
              </a:rPr>
              <a:t>的使用、</a:t>
            </a:r>
            <a:r>
              <a:rPr lang="en-US" altLang="zh-CN" sz="2800" dirty="0">
                <a:solidFill>
                  <a:srgbClr val="009999"/>
                </a:solidFill>
                <a:latin typeface="华文新魏" pitchFamily="2" charset="-122"/>
                <a:ea typeface="华文新魏" pitchFamily="2" charset="-122"/>
              </a:rPr>
              <a:t>JDBC</a:t>
            </a:r>
            <a:r>
              <a:rPr lang="zh-CN" altLang="en-US" sz="2800" dirty="0">
                <a:solidFill>
                  <a:srgbClr val="009999"/>
                </a:solidFill>
                <a:latin typeface="华文新魏" pitchFamily="2" charset="-122"/>
                <a:ea typeface="华文新魏" pitchFamily="2" charset="-122"/>
              </a:rPr>
              <a:t>工作原理、</a:t>
            </a:r>
            <a:r>
              <a:rPr lang="en-US" altLang="zh-CN" sz="2800" dirty="0">
                <a:solidFill>
                  <a:srgbClr val="009999"/>
                </a:solidFill>
                <a:latin typeface="华文新魏" pitchFamily="2" charset="-122"/>
                <a:ea typeface="华文新魏" pitchFamily="2" charset="-122"/>
              </a:rPr>
              <a:t>MVC</a:t>
            </a:r>
            <a:r>
              <a:rPr lang="zh-CN" altLang="en-US" sz="2800" dirty="0">
                <a:solidFill>
                  <a:srgbClr val="009999"/>
                </a:solidFill>
                <a:latin typeface="华文新魏" pitchFamily="2" charset="-122"/>
                <a:ea typeface="华文新魏" pitchFamily="2" charset="-122"/>
              </a:rPr>
              <a:t>概念</a:t>
            </a:r>
            <a:endParaRPr lang="en-US" altLang="zh-CN" sz="2800" dirty="0">
              <a:solidFill>
                <a:srgbClr val="009999"/>
              </a:solidFill>
              <a:latin typeface="华文新魏" pitchFamily="2" charset="-122"/>
              <a:ea typeface="华文新魏" pitchFamily="2" charset="-122"/>
            </a:endParaRPr>
          </a:p>
          <a:p>
            <a:r>
              <a:rPr lang="zh-CN" altLang="en-US" sz="2800" i="1" dirty="0">
                <a:solidFill>
                  <a:srgbClr val="009999"/>
                </a:solidFill>
                <a:latin typeface="宋体" pitchFamily="2" charset="-122"/>
              </a:rPr>
              <a:t>   数据库与其它开发语言的整合</a:t>
            </a:r>
            <a:endParaRPr lang="zh-CN" altLang="en-US" sz="2800" i="1" dirty="0">
              <a:solidFill>
                <a:srgbClr val="009999"/>
              </a:solidFill>
              <a:latin typeface="宋体" pitchFamily="2" charset="-122"/>
            </a:endParaRPr>
          </a:p>
        </p:txBody>
      </p:sp>
      <p:sp>
        <p:nvSpPr>
          <p:cNvPr id="6" name="Text Box 3"/>
          <p:cNvSpPr txBox="1">
            <a:spLocks noChangeArrowheads="1"/>
          </p:cNvSpPr>
          <p:nvPr/>
        </p:nvSpPr>
        <p:spPr bwMode="auto">
          <a:xfrm>
            <a:off x="533400" y="3716338"/>
            <a:ext cx="8153400" cy="1385887"/>
          </a:xfrm>
          <a:prstGeom prst="rect">
            <a:avLst/>
          </a:prstGeom>
          <a:noFill/>
          <a:ln w="9525">
            <a:noFill/>
            <a:miter lim="800000"/>
          </a:ln>
        </p:spPr>
        <p:txBody>
          <a:bodyPr>
            <a:spAutoFit/>
          </a:bodyPr>
          <a:lstStyle/>
          <a:p>
            <a:r>
              <a:rPr lang="zh-CN" altLang="en-US" sz="2800" dirty="0">
                <a:latin typeface="华文新魏" pitchFamily="2" charset="-122"/>
                <a:ea typeface="华文新魏" pitchFamily="2" charset="-122"/>
              </a:rPr>
              <a:t>第</a:t>
            </a:r>
            <a:r>
              <a:rPr lang="en-US" altLang="zh-CN" sz="2800" dirty="0">
                <a:latin typeface="华文新魏" pitchFamily="2" charset="-122"/>
                <a:ea typeface="华文新魏" pitchFamily="2" charset="-122"/>
              </a:rPr>
              <a:t>7</a:t>
            </a:r>
            <a:r>
              <a:rPr lang="zh-CN" altLang="en-US" sz="2800" dirty="0">
                <a:latin typeface="华文新魏" pitchFamily="2" charset="-122"/>
                <a:ea typeface="华文新魏" pitchFamily="2" charset="-122"/>
              </a:rPr>
              <a:t>章 数据库设计</a:t>
            </a:r>
            <a:endParaRPr lang="zh-CN" altLang="en-US" sz="2800" dirty="0">
              <a:latin typeface="华文新魏" pitchFamily="2" charset="-122"/>
              <a:ea typeface="华文新魏" pitchFamily="2" charset="-122"/>
            </a:endParaRPr>
          </a:p>
          <a:p>
            <a:r>
              <a:rPr lang="zh-CN" altLang="en-US" sz="2800" dirty="0">
                <a:solidFill>
                  <a:srgbClr val="0000FF"/>
                </a:solidFill>
                <a:latin typeface="华文新魏" pitchFamily="2" charset="-122"/>
                <a:ea typeface="华文新魏" pitchFamily="2" charset="-122"/>
              </a:rPr>
              <a:t>      设计的基本步骤、设计的主要工作</a:t>
            </a:r>
            <a:endParaRPr lang="en-US" altLang="zh-CN" sz="2800" dirty="0">
              <a:solidFill>
                <a:srgbClr val="0000FF"/>
              </a:solidFill>
              <a:latin typeface="华文新魏" pitchFamily="2" charset="-122"/>
              <a:ea typeface="华文新魏" pitchFamily="2" charset="-122"/>
            </a:endParaRPr>
          </a:p>
          <a:p>
            <a:r>
              <a:rPr lang="zh-CN" altLang="en-US" sz="2800" i="1" dirty="0">
                <a:solidFill>
                  <a:srgbClr val="0000FF"/>
                </a:solidFill>
              </a:rPr>
              <a:t>    软件工程，需求</a:t>
            </a:r>
            <a:r>
              <a:rPr lang="en-US" altLang="zh-CN" sz="2800" i="1" dirty="0">
                <a:solidFill>
                  <a:srgbClr val="0000FF"/>
                </a:solidFill>
              </a:rPr>
              <a:t>-</a:t>
            </a:r>
            <a:r>
              <a:rPr lang="zh-CN" altLang="en-US" sz="2800" i="1" dirty="0">
                <a:solidFill>
                  <a:srgbClr val="0000FF"/>
                </a:solidFill>
              </a:rPr>
              <a:t>设计</a:t>
            </a:r>
            <a:r>
              <a:rPr lang="en-US" altLang="zh-CN" sz="2800" i="1" dirty="0">
                <a:solidFill>
                  <a:srgbClr val="0000FF"/>
                </a:solidFill>
              </a:rPr>
              <a:t>-</a:t>
            </a:r>
            <a:r>
              <a:rPr lang="zh-CN" altLang="en-US" sz="2800" i="1" dirty="0">
                <a:solidFill>
                  <a:srgbClr val="0000FF"/>
                </a:solidFill>
              </a:rPr>
              <a:t>实现</a:t>
            </a:r>
            <a:endParaRPr lang="zh-CN" altLang="en-US" sz="2800" i="1" dirty="0">
              <a:solidFill>
                <a:srgbClr val="0000FF"/>
              </a:solidFill>
              <a:latin typeface="华文新魏" pitchFamily="2" charset="-122"/>
              <a:ea typeface="华文新魏"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3"/>
          <p:cNvSpPr>
            <a:spLocks noGrp="1"/>
          </p:cNvSpPr>
          <p:nvPr>
            <p:ph type="sldNum" sz="quarter" idx="12"/>
          </p:nvPr>
        </p:nvSpPr>
        <p:spPr/>
        <p:txBody>
          <a:bodyPr/>
          <a:lstStyle/>
          <a:p>
            <a:pPr>
              <a:defRPr/>
            </a:pPr>
            <a:fld id="{1F8A6C34-BD78-449B-9123-FA4F23A3ADEE}" type="slidenum">
              <a:rPr lang="en-US" altLang="zh-CN"/>
            </a:fld>
            <a:endParaRPr lang="en-US" altLang="zh-CN"/>
          </a:p>
        </p:txBody>
      </p:sp>
      <p:sp>
        <p:nvSpPr>
          <p:cNvPr id="46083" name="Text Box 4"/>
          <p:cNvSpPr txBox="1">
            <a:spLocks noChangeArrowheads="1"/>
          </p:cNvSpPr>
          <p:nvPr/>
        </p:nvSpPr>
        <p:spPr bwMode="auto">
          <a:xfrm>
            <a:off x="520700" y="1316720"/>
            <a:ext cx="8359775" cy="2677656"/>
          </a:xfrm>
          <a:prstGeom prst="rect">
            <a:avLst/>
          </a:prstGeom>
          <a:noFill/>
          <a:ln w="9525">
            <a:noFill/>
            <a:miter lim="800000"/>
          </a:ln>
        </p:spPr>
        <p:txBody>
          <a:bodyPr>
            <a:spAutoFit/>
          </a:bodyPr>
          <a:lstStyle/>
          <a:p>
            <a:r>
              <a:rPr lang="zh-CN" altLang="en-US" sz="2800" dirty="0">
                <a:latin typeface="华文新魏" pitchFamily="2" charset="-122"/>
                <a:ea typeface="华文新魏" pitchFamily="2" charset="-122"/>
              </a:rPr>
              <a:t>第</a:t>
            </a:r>
            <a:r>
              <a:rPr lang="en-US" altLang="zh-CN" sz="2800" dirty="0">
                <a:latin typeface="华文新魏" pitchFamily="2" charset="-122"/>
                <a:ea typeface="华文新魏" pitchFamily="2" charset="-122"/>
              </a:rPr>
              <a:t>8</a:t>
            </a:r>
            <a:r>
              <a:rPr lang="zh-CN" altLang="en-US" sz="2800" dirty="0">
                <a:latin typeface="华文新魏" pitchFamily="2" charset="-122"/>
                <a:ea typeface="华文新魏" pitchFamily="2" charset="-122"/>
              </a:rPr>
              <a:t>章关系数据库引擎基础（教材第</a:t>
            </a:r>
            <a:r>
              <a:rPr lang="en-US" altLang="zh-CN" sz="2800" dirty="0">
                <a:latin typeface="华文新魏" pitchFamily="2" charset="-122"/>
                <a:ea typeface="华文新魏" pitchFamily="2" charset="-122"/>
              </a:rPr>
              <a:t>9</a:t>
            </a:r>
            <a:r>
              <a:rPr lang="zh-CN" altLang="en-US" sz="2800" dirty="0">
                <a:latin typeface="华文新魏" pitchFamily="2" charset="-122"/>
                <a:ea typeface="华文新魏" pitchFamily="2" charset="-122"/>
              </a:rPr>
              <a:t>章、融合</a:t>
            </a:r>
            <a:r>
              <a:rPr lang="en-US" altLang="zh-CN" sz="2800" dirty="0">
                <a:latin typeface="华文新魏" pitchFamily="2" charset="-122"/>
                <a:ea typeface="华文新魏" pitchFamily="2" charset="-122"/>
              </a:rPr>
              <a:t>CMU</a:t>
            </a:r>
            <a:r>
              <a:rPr lang="zh-CN" altLang="en-US" sz="2800" dirty="0">
                <a:latin typeface="华文新魏" pitchFamily="2" charset="-122"/>
                <a:ea typeface="华文新魏" pitchFamily="2" charset="-122"/>
              </a:rPr>
              <a:t>）</a:t>
            </a:r>
            <a:endParaRPr lang="en-US" altLang="zh-CN" sz="2800" dirty="0">
              <a:latin typeface="华文新魏" pitchFamily="2" charset="-122"/>
              <a:ea typeface="华文新魏" pitchFamily="2" charset="-122"/>
            </a:endParaRPr>
          </a:p>
          <a:p>
            <a:r>
              <a:rPr lang="zh-CN" altLang="en-US" sz="2800" dirty="0">
                <a:latin typeface="华文新魏" pitchFamily="2" charset="-122"/>
                <a:ea typeface="华文新魏" pitchFamily="2" charset="-122"/>
              </a:rPr>
              <a:t>      </a:t>
            </a:r>
            <a:r>
              <a:rPr lang="zh-CN" altLang="en-US" sz="2800" dirty="0">
                <a:solidFill>
                  <a:srgbClr val="0000FF"/>
                </a:solidFill>
                <a:latin typeface="华文新魏" pitchFamily="2" charset="-122"/>
                <a:ea typeface="华文新魏" pitchFamily="2" charset="-122"/>
              </a:rPr>
              <a:t>数据库存储、缓存、查询处理等</a:t>
            </a:r>
            <a:endParaRPr lang="en-US" altLang="zh-CN" sz="2800" dirty="0">
              <a:solidFill>
                <a:srgbClr val="0000FF"/>
              </a:solidFill>
              <a:latin typeface="华文新魏" pitchFamily="2" charset="-122"/>
              <a:ea typeface="华文新魏" pitchFamily="2" charset="-122"/>
            </a:endParaRPr>
          </a:p>
          <a:p>
            <a:r>
              <a:rPr lang="zh-CN" altLang="en-US" sz="2800" i="1" dirty="0">
                <a:solidFill>
                  <a:srgbClr val="0000FF"/>
                </a:solidFill>
              </a:rPr>
              <a:t>    系统内部的数据结构、策略、算法</a:t>
            </a:r>
            <a:endParaRPr lang="en-US" altLang="zh-CN" sz="2800" dirty="0">
              <a:solidFill>
                <a:srgbClr val="0000FF"/>
              </a:solidFill>
              <a:latin typeface="华文新魏" pitchFamily="2" charset="-122"/>
              <a:ea typeface="华文新魏" pitchFamily="2" charset="-122"/>
            </a:endParaRPr>
          </a:p>
          <a:p>
            <a:r>
              <a:rPr lang="zh-CN" altLang="en-US" sz="2800" dirty="0">
                <a:latin typeface="华文新魏" pitchFamily="2" charset="-122"/>
                <a:ea typeface="华文新魏" pitchFamily="2" charset="-122"/>
              </a:rPr>
              <a:t>第</a:t>
            </a:r>
            <a:r>
              <a:rPr lang="en-US" altLang="zh-CN" sz="2800" dirty="0">
                <a:latin typeface="华文新魏" pitchFamily="2" charset="-122"/>
                <a:ea typeface="华文新魏" pitchFamily="2" charset="-122"/>
              </a:rPr>
              <a:t>9</a:t>
            </a:r>
            <a:r>
              <a:rPr lang="zh-CN" altLang="en-US" sz="2800" dirty="0">
                <a:latin typeface="华文新魏" pitchFamily="2" charset="-122"/>
                <a:ea typeface="华文新魏" pitchFamily="2" charset="-122"/>
              </a:rPr>
              <a:t>章 关系查询处理和查询优化</a:t>
            </a:r>
            <a:endParaRPr lang="zh-CN" altLang="en-US" sz="2800" dirty="0">
              <a:latin typeface="华文新魏" pitchFamily="2" charset="-122"/>
              <a:ea typeface="华文新魏" pitchFamily="2" charset="-122"/>
            </a:endParaRPr>
          </a:p>
          <a:p>
            <a:r>
              <a:rPr lang="zh-CN" altLang="en-US" sz="2800" dirty="0">
                <a:solidFill>
                  <a:srgbClr val="0000FF"/>
                </a:solidFill>
                <a:latin typeface="华文新魏" pitchFamily="2" charset="-122"/>
                <a:ea typeface="华文新魏" pitchFamily="2" charset="-122"/>
              </a:rPr>
              <a:t>      优化的原因、如何优化</a:t>
            </a:r>
            <a:endParaRPr lang="en-US" altLang="zh-CN" sz="2800" dirty="0">
              <a:solidFill>
                <a:srgbClr val="0000FF"/>
              </a:solidFill>
              <a:latin typeface="华文新魏" pitchFamily="2" charset="-122"/>
              <a:ea typeface="华文新魏" pitchFamily="2" charset="-122"/>
            </a:endParaRPr>
          </a:p>
          <a:p>
            <a:r>
              <a:rPr lang="zh-CN" altLang="en-US" sz="2800" dirty="0"/>
              <a:t>    </a:t>
            </a:r>
            <a:r>
              <a:rPr lang="zh-CN" altLang="en-US" sz="2800" i="1" dirty="0">
                <a:solidFill>
                  <a:srgbClr val="0000FF"/>
                </a:solidFill>
              </a:rPr>
              <a:t>数据结构的算法</a:t>
            </a:r>
            <a:r>
              <a:rPr lang="en-US" altLang="zh-CN" sz="2800" i="1" dirty="0">
                <a:solidFill>
                  <a:srgbClr val="0000FF"/>
                </a:solidFill>
              </a:rPr>
              <a:t>I/O</a:t>
            </a:r>
            <a:r>
              <a:rPr lang="zh-CN" altLang="en-US" sz="2800" i="1" dirty="0">
                <a:solidFill>
                  <a:srgbClr val="0000FF"/>
                </a:solidFill>
              </a:rPr>
              <a:t>复杂度分析，启发式方法</a:t>
            </a:r>
            <a:endParaRPr lang="zh-CN" altLang="en-US" sz="2800" i="1" dirty="0">
              <a:solidFill>
                <a:srgbClr val="0000FF"/>
              </a:solidFill>
              <a:latin typeface="华文新魏" pitchFamily="2" charset="-122"/>
              <a:ea typeface="华文新魏" pitchFamily="2" charset="-122"/>
            </a:endParaRPr>
          </a:p>
        </p:txBody>
      </p:sp>
      <p:sp>
        <p:nvSpPr>
          <p:cNvPr id="82949" name="Text Box 5"/>
          <p:cNvSpPr txBox="1">
            <a:spLocks noChangeArrowheads="1"/>
          </p:cNvSpPr>
          <p:nvPr/>
        </p:nvSpPr>
        <p:spPr bwMode="auto">
          <a:xfrm>
            <a:off x="520700" y="3933056"/>
            <a:ext cx="7785100" cy="1384300"/>
          </a:xfrm>
          <a:prstGeom prst="rect">
            <a:avLst/>
          </a:prstGeom>
          <a:noFill/>
          <a:ln w="9525">
            <a:noFill/>
            <a:miter lim="800000"/>
          </a:ln>
        </p:spPr>
        <p:txBody>
          <a:bodyPr>
            <a:spAutoFit/>
          </a:bodyPr>
          <a:lstStyle/>
          <a:p>
            <a:r>
              <a:rPr lang="zh-CN" altLang="en-US" sz="2800" dirty="0">
                <a:latin typeface="华文新魏" pitchFamily="2" charset="-122"/>
                <a:ea typeface="华文新魏" pitchFamily="2" charset="-122"/>
              </a:rPr>
              <a:t>第</a:t>
            </a:r>
            <a:r>
              <a:rPr lang="en-US" altLang="zh-CN" sz="2800" dirty="0">
                <a:latin typeface="华文新魏" pitchFamily="2" charset="-122"/>
                <a:ea typeface="华文新魏" pitchFamily="2" charset="-122"/>
              </a:rPr>
              <a:t>10</a:t>
            </a:r>
            <a:r>
              <a:rPr lang="zh-CN" altLang="en-US" sz="2800" dirty="0">
                <a:latin typeface="华文新魏" pitchFamily="2" charset="-122"/>
                <a:ea typeface="华文新魏" pitchFamily="2" charset="-122"/>
              </a:rPr>
              <a:t>章 数据库恢复技术</a:t>
            </a:r>
            <a:endParaRPr lang="zh-CN" altLang="en-US" sz="2800" dirty="0">
              <a:latin typeface="华文新魏" pitchFamily="2" charset="-122"/>
              <a:ea typeface="华文新魏" pitchFamily="2" charset="-122"/>
            </a:endParaRPr>
          </a:p>
          <a:p>
            <a:r>
              <a:rPr lang="zh-CN" altLang="en-US" sz="2800" dirty="0">
                <a:solidFill>
                  <a:srgbClr val="0000FF"/>
                </a:solidFill>
                <a:latin typeface="华文新魏" pitchFamily="2" charset="-122"/>
                <a:ea typeface="华文新魏" pitchFamily="2" charset="-122"/>
              </a:rPr>
              <a:t>      以事务为语义单位，以日志为核心</a:t>
            </a:r>
            <a:endParaRPr lang="en-US" altLang="zh-CN" sz="2800" dirty="0">
              <a:solidFill>
                <a:srgbClr val="0000FF"/>
              </a:solidFill>
              <a:latin typeface="华文新魏" pitchFamily="2" charset="-122"/>
              <a:ea typeface="华文新魏" pitchFamily="2" charset="-122"/>
            </a:endParaRPr>
          </a:p>
          <a:p>
            <a:r>
              <a:rPr lang="en-US" altLang="zh-CN" sz="2800" i="1" dirty="0">
                <a:solidFill>
                  <a:srgbClr val="0000FF"/>
                </a:solidFill>
                <a:latin typeface="宋体" pitchFamily="2" charset="-122"/>
              </a:rPr>
              <a:t>   </a:t>
            </a:r>
            <a:r>
              <a:rPr lang="zh-CN" altLang="en-US" sz="2800" i="1" dirty="0">
                <a:solidFill>
                  <a:srgbClr val="0000FF"/>
                </a:solidFill>
                <a:latin typeface="宋体" pitchFamily="2" charset="-122"/>
              </a:rPr>
              <a:t>计算机的状态的记录与持久化机制</a:t>
            </a:r>
            <a:endParaRPr lang="zh-CN" altLang="en-US" sz="2800" i="1" dirty="0">
              <a:solidFill>
                <a:srgbClr val="0000FF"/>
              </a:solidFill>
              <a:latin typeface="宋体" pitchFamily="2" charset="-122"/>
            </a:endParaRPr>
          </a:p>
        </p:txBody>
      </p:sp>
      <p:sp>
        <p:nvSpPr>
          <p:cNvPr id="82950" name="Text Box 6"/>
          <p:cNvSpPr txBox="1">
            <a:spLocks noChangeArrowheads="1"/>
          </p:cNvSpPr>
          <p:nvPr/>
        </p:nvSpPr>
        <p:spPr bwMode="auto">
          <a:xfrm>
            <a:off x="520700" y="5301208"/>
            <a:ext cx="7723188" cy="1384300"/>
          </a:xfrm>
          <a:prstGeom prst="rect">
            <a:avLst/>
          </a:prstGeom>
          <a:noFill/>
          <a:ln w="9525">
            <a:noFill/>
            <a:miter lim="800000"/>
          </a:ln>
        </p:spPr>
        <p:txBody>
          <a:bodyPr>
            <a:spAutoFit/>
          </a:bodyPr>
          <a:lstStyle/>
          <a:p>
            <a:r>
              <a:rPr lang="zh-CN" altLang="en-US" sz="2800" dirty="0">
                <a:latin typeface="华文新魏" pitchFamily="2" charset="-122"/>
                <a:ea typeface="华文新魏" pitchFamily="2" charset="-122"/>
              </a:rPr>
              <a:t>第</a:t>
            </a:r>
            <a:r>
              <a:rPr lang="en-US" altLang="zh-CN" sz="2800" dirty="0">
                <a:latin typeface="华文新魏" pitchFamily="2" charset="-122"/>
                <a:ea typeface="华文新魏" pitchFamily="2" charset="-122"/>
              </a:rPr>
              <a:t>11</a:t>
            </a:r>
            <a:r>
              <a:rPr lang="zh-CN" altLang="en-US" sz="2800" dirty="0">
                <a:latin typeface="华文新魏" pitchFamily="2" charset="-122"/>
                <a:ea typeface="华文新魏" pitchFamily="2" charset="-122"/>
              </a:rPr>
              <a:t>章 并发控制</a:t>
            </a:r>
            <a:endParaRPr lang="zh-CN" altLang="en-US" sz="2800" dirty="0">
              <a:latin typeface="华文新魏" pitchFamily="2" charset="-122"/>
              <a:ea typeface="华文新魏" pitchFamily="2" charset="-122"/>
            </a:endParaRPr>
          </a:p>
          <a:p>
            <a:r>
              <a:rPr lang="zh-CN" altLang="en-US" sz="2800" dirty="0">
                <a:solidFill>
                  <a:srgbClr val="0000FF"/>
                </a:solidFill>
                <a:latin typeface="华文新魏" pitchFamily="2" charset="-122"/>
                <a:ea typeface="华文新魏" pitchFamily="2" charset="-122"/>
              </a:rPr>
              <a:t>      并发的冲突、锁、可串行化</a:t>
            </a:r>
            <a:endParaRPr lang="en-US" altLang="zh-CN" sz="2800" dirty="0">
              <a:solidFill>
                <a:srgbClr val="0000FF"/>
              </a:solidFill>
              <a:latin typeface="华文新魏" pitchFamily="2" charset="-122"/>
              <a:ea typeface="华文新魏" pitchFamily="2" charset="-122"/>
            </a:endParaRPr>
          </a:p>
          <a:p>
            <a:r>
              <a:rPr lang="en-US" altLang="zh-CN" sz="2800" dirty="0">
                <a:solidFill>
                  <a:srgbClr val="0000FF"/>
                </a:solidFill>
                <a:latin typeface="华文新魏" pitchFamily="2" charset="-122"/>
                <a:ea typeface="华文新魏" pitchFamily="2" charset="-122"/>
              </a:rPr>
              <a:t>      </a:t>
            </a:r>
            <a:r>
              <a:rPr lang="zh-CN" altLang="en-US" sz="2800" i="1" dirty="0">
                <a:solidFill>
                  <a:srgbClr val="0000FF"/>
                </a:solidFill>
                <a:latin typeface="宋体" pitchFamily="2" charset="-122"/>
              </a:rPr>
              <a:t>事务背景下计算机资源的调度策略</a:t>
            </a:r>
            <a:endParaRPr lang="zh-CN" altLang="en-US" sz="2800" i="1" dirty="0">
              <a:solidFill>
                <a:srgbClr val="0000FF"/>
              </a:solidFill>
              <a:latin typeface="宋体" pitchFamily="2" charset="-122"/>
            </a:endParaRPr>
          </a:p>
        </p:txBody>
      </p:sp>
      <p:sp>
        <p:nvSpPr>
          <p:cNvPr id="40968" name="Text Box 7"/>
          <p:cNvSpPr txBox="1">
            <a:spLocks noChangeArrowheads="1"/>
          </p:cNvSpPr>
          <p:nvPr/>
        </p:nvSpPr>
        <p:spPr bwMode="auto">
          <a:xfrm>
            <a:off x="2470150" y="423863"/>
            <a:ext cx="4673600" cy="862012"/>
          </a:xfrm>
          <a:prstGeom prst="rect">
            <a:avLst/>
          </a:prstGeom>
          <a:noFill/>
          <a:ln w="9525">
            <a:noFill/>
            <a:miter lim="800000"/>
          </a:ln>
        </p:spPr>
        <p:txBody>
          <a:bodyPr wrap="none">
            <a:spAutoFit/>
          </a:bodyPr>
          <a:lstStyle/>
          <a:p>
            <a:pPr>
              <a:defRPr/>
            </a:pPr>
            <a:r>
              <a:rPr lang="zh-CN" altLang="en-US" sz="5000" dirty="0">
                <a:solidFill>
                  <a:schemeClr val="tx2"/>
                </a:solidFill>
                <a:latin typeface="+mj-lt"/>
                <a:ea typeface="+mj-ea"/>
                <a:cs typeface="+mj-cs"/>
              </a:rPr>
              <a:t>课程内容（续）</a:t>
            </a:r>
            <a:endParaRPr lang="zh-CN" altLang="en-US" sz="5000" dirty="0">
              <a:solidFill>
                <a:schemeClr val="tx2"/>
              </a:solidFill>
              <a:latin typeface="+mj-lt"/>
              <a:ea typeface="+mj-ea"/>
              <a:cs typeface="+mj-cs"/>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1026"/>
          <p:cNvSpPr>
            <a:spLocks noGrp="1" noChangeArrowheads="1"/>
          </p:cNvSpPr>
          <p:nvPr>
            <p:ph type="title"/>
          </p:nvPr>
        </p:nvSpPr>
        <p:spPr>
          <a:xfrm>
            <a:off x="533400" y="747713"/>
            <a:ext cx="8162925" cy="762000"/>
          </a:xfrm>
        </p:spPr>
        <p:txBody>
          <a:bodyPr>
            <a:normAutofit fontScale="90000"/>
          </a:bodyPr>
          <a:lstStyle/>
          <a:p>
            <a:pPr eaLnBrk="1" fontAlgn="auto" hangingPunct="1">
              <a:spcAft>
                <a:spcPts val="0"/>
              </a:spcAft>
              <a:defRPr/>
            </a:pPr>
            <a:r>
              <a:rPr lang="zh-CN" altLang="en-US" dirty="0"/>
              <a:t>课程学习基础任务结构</a:t>
            </a:r>
            <a:endParaRPr lang="zh-CN" altLang="en-US" dirty="0"/>
          </a:p>
        </p:txBody>
      </p:sp>
      <p:sp>
        <p:nvSpPr>
          <p:cNvPr id="47107" name="Rectangle 1027"/>
          <p:cNvSpPr>
            <a:spLocks noGrp="1" noChangeArrowheads="1"/>
          </p:cNvSpPr>
          <p:nvPr>
            <p:ph idx="1"/>
          </p:nvPr>
        </p:nvSpPr>
        <p:spPr>
          <a:xfrm>
            <a:off x="457200" y="1738313"/>
            <a:ext cx="8363272" cy="4191000"/>
          </a:xfrm>
        </p:spPr>
        <p:txBody>
          <a:bodyPr/>
          <a:lstStyle/>
          <a:p>
            <a:pPr eaLnBrk="1" hangingPunct="1">
              <a:lnSpc>
                <a:spcPct val="90000"/>
              </a:lnSpc>
              <a:buClrTx/>
              <a:buSzTx/>
              <a:buFontTx/>
              <a:buChar char="•"/>
            </a:pPr>
            <a:r>
              <a:rPr lang="zh-CN" altLang="en-US" sz="2800" dirty="0">
                <a:latin typeface="华文新魏" pitchFamily="2" charset="-122"/>
                <a:ea typeface="华文新魏" pitchFamily="2" charset="-122"/>
              </a:rPr>
              <a:t>结合关系型数据库系统深入理解</a:t>
            </a:r>
            <a:r>
              <a:rPr lang="zh-CN" altLang="en-US" sz="2800" dirty="0">
                <a:solidFill>
                  <a:srgbClr val="FF0000"/>
                </a:solidFill>
                <a:latin typeface="华文新魏" pitchFamily="2" charset="-122"/>
                <a:ea typeface="华文新魏" pitchFamily="2" charset="-122"/>
              </a:rPr>
              <a:t>数据库系统的基本概念，原理和方法</a:t>
            </a:r>
            <a:r>
              <a:rPr lang="zh-CN" altLang="en-US" sz="2800" dirty="0">
                <a:latin typeface="华文新魏" pitchFamily="2" charset="-122"/>
                <a:ea typeface="华文新魏" pitchFamily="2" charset="-122"/>
              </a:rPr>
              <a:t>。</a:t>
            </a:r>
            <a:endParaRPr lang="zh-CN" altLang="en-US" sz="2800" dirty="0">
              <a:latin typeface="华文新魏" pitchFamily="2" charset="-122"/>
              <a:ea typeface="华文新魏" pitchFamily="2" charset="-122"/>
            </a:endParaRPr>
          </a:p>
          <a:p>
            <a:pPr eaLnBrk="1" hangingPunct="1">
              <a:lnSpc>
                <a:spcPct val="90000"/>
              </a:lnSpc>
              <a:buClrTx/>
              <a:buSzTx/>
              <a:buFontTx/>
              <a:buChar char="•"/>
            </a:pPr>
            <a:r>
              <a:rPr lang="zh-CN" altLang="en-US" sz="2800" dirty="0">
                <a:latin typeface="华文新魏" pitchFamily="2" charset="-122"/>
                <a:ea typeface="华文新魏" pitchFamily="2" charset="-122"/>
              </a:rPr>
              <a:t>掌握</a:t>
            </a:r>
            <a:r>
              <a:rPr lang="zh-CN" altLang="en-US" sz="2800" dirty="0">
                <a:solidFill>
                  <a:srgbClr val="FF0000"/>
                </a:solidFill>
                <a:latin typeface="华文新魏" pitchFamily="2" charset="-122"/>
                <a:ea typeface="华文新魏" pitchFamily="2" charset="-122"/>
              </a:rPr>
              <a:t>关系数据模型</a:t>
            </a:r>
            <a:r>
              <a:rPr lang="zh-CN" altLang="en-US" sz="2800" dirty="0">
                <a:latin typeface="华文新魏" pitchFamily="2" charset="-122"/>
                <a:ea typeface="华文新魏" pitchFamily="2" charset="-122"/>
              </a:rPr>
              <a:t>及关系数据</a:t>
            </a:r>
            <a:r>
              <a:rPr lang="zh-CN" altLang="en-US" sz="2800" dirty="0">
                <a:solidFill>
                  <a:srgbClr val="FF0000"/>
                </a:solidFill>
                <a:latin typeface="华文新魏" pitchFamily="2" charset="-122"/>
                <a:ea typeface="华文新魏" pitchFamily="2" charset="-122"/>
              </a:rPr>
              <a:t>语言</a:t>
            </a:r>
            <a:r>
              <a:rPr lang="zh-CN" altLang="en-US" sz="2800" dirty="0">
                <a:latin typeface="华文新魏" pitchFamily="2" charset="-122"/>
                <a:ea typeface="华文新魏" pitchFamily="2" charset="-122"/>
              </a:rPr>
              <a:t>，能熟练应用</a:t>
            </a:r>
            <a:r>
              <a:rPr lang="en-US" altLang="zh-CN" sz="2800" dirty="0">
                <a:latin typeface="华文新魏" pitchFamily="2" charset="-122"/>
                <a:ea typeface="华文新魏" pitchFamily="2" charset="-122"/>
              </a:rPr>
              <a:t>SQL</a:t>
            </a:r>
            <a:r>
              <a:rPr lang="zh-CN" altLang="en-US" sz="2800" dirty="0">
                <a:latin typeface="华文新魏" pitchFamily="2" charset="-122"/>
                <a:ea typeface="华文新魏" pitchFamily="2" charset="-122"/>
              </a:rPr>
              <a:t>语言表达各种数据操作。</a:t>
            </a:r>
            <a:endParaRPr lang="zh-CN" altLang="en-US" sz="2800" dirty="0">
              <a:latin typeface="华文新魏" pitchFamily="2" charset="-122"/>
              <a:ea typeface="华文新魏" pitchFamily="2" charset="-122"/>
            </a:endParaRPr>
          </a:p>
          <a:p>
            <a:pPr eaLnBrk="1" hangingPunct="1">
              <a:lnSpc>
                <a:spcPct val="90000"/>
              </a:lnSpc>
              <a:buClrTx/>
              <a:buSzTx/>
              <a:buFontTx/>
              <a:buChar char="•"/>
            </a:pPr>
            <a:r>
              <a:rPr lang="zh-CN" altLang="en-US" sz="2800" dirty="0">
                <a:latin typeface="华文新魏" pitchFamily="2" charset="-122"/>
                <a:ea typeface="华文新魏" pitchFamily="2" charset="-122"/>
              </a:rPr>
              <a:t>掌握</a:t>
            </a:r>
            <a:r>
              <a:rPr lang="en-US" altLang="zh-CN" sz="2800" dirty="0">
                <a:latin typeface="华文新魏" pitchFamily="2" charset="-122"/>
                <a:ea typeface="华文新魏" pitchFamily="2" charset="-122"/>
              </a:rPr>
              <a:t>E-R</a:t>
            </a:r>
            <a:r>
              <a:rPr lang="zh-CN" altLang="en-US" sz="2800" dirty="0">
                <a:latin typeface="华文新魏" pitchFamily="2" charset="-122"/>
                <a:ea typeface="华文新魏" pitchFamily="2" charset="-122"/>
              </a:rPr>
              <a:t>模型的概念和方法，关系数据库</a:t>
            </a:r>
            <a:r>
              <a:rPr lang="zh-CN" altLang="en-US" sz="2800" dirty="0">
                <a:solidFill>
                  <a:srgbClr val="FF0000"/>
                </a:solidFill>
                <a:latin typeface="华文新魏" pitchFamily="2" charset="-122"/>
                <a:ea typeface="华文新魏" pitchFamily="2" charset="-122"/>
              </a:rPr>
              <a:t>规范化理论</a:t>
            </a:r>
            <a:r>
              <a:rPr lang="zh-CN" altLang="en-US" sz="2800" dirty="0">
                <a:latin typeface="华文新魏" pitchFamily="2" charset="-122"/>
                <a:ea typeface="华文新魏" pitchFamily="2" charset="-122"/>
              </a:rPr>
              <a:t>和数据库</a:t>
            </a:r>
            <a:r>
              <a:rPr lang="zh-CN" altLang="en-US" sz="2800" dirty="0">
                <a:solidFill>
                  <a:srgbClr val="FF0000"/>
                </a:solidFill>
                <a:latin typeface="华文新魏" pitchFamily="2" charset="-122"/>
                <a:ea typeface="华文新魏" pitchFamily="2" charset="-122"/>
              </a:rPr>
              <a:t>设计方法</a:t>
            </a:r>
            <a:r>
              <a:rPr lang="zh-CN" altLang="en-US" sz="2800" dirty="0">
                <a:latin typeface="华文新魏" pitchFamily="2" charset="-122"/>
                <a:ea typeface="华文新魏" pitchFamily="2" charset="-122"/>
              </a:rPr>
              <a:t>，通过上机实习的训练，初步具备进行数据库应用系统开发的能力。</a:t>
            </a:r>
            <a:endParaRPr lang="zh-CN" altLang="en-US" sz="2800" dirty="0">
              <a:latin typeface="华文新魏" pitchFamily="2" charset="-122"/>
              <a:ea typeface="华文新魏" pitchFamily="2" charset="-122"/>
            </a:endParaRPr>
          </a:p>
          <a:p>
            <a:pPr eaLnBrk="1" hangingPunct="1">
              <a:lnSpc>
                <a:spcPct val="90000"/>
              </a:lnSpc>
              <a:buClrTx/>
              <a:buSzTx/>
              <a:buFontTx/>
              <a:buChar char="•"/>
            </a:pPr>
            <a:r>
              <a:rPr lang="zh-CN" altLang="en-US" sz="2800" dirty="0">
                <a:latin typeface="华文新魏" pitchFamily="2" charset="-122"/>
                <a:ea typeface="华文新魏" pitchFamily="2" charset="-122"/>
              </a:rPr>
              <a:t>掌握数据库系统</a:t>
            </a:r>
            <a:r>
              <a:rPr lang="zh-CN" altLang="en-US" sz="2800" dirty="0">
                <a:solidFill>
                  <a:srgbClr val="FF0000"/>
                </a:solidFill>
                <a:latin typeface="华文新魏" pitchFamily="2" charset="-122"/>
                <a:ea typeface="华文新魏" pitchFamily="2" charset="-122"/>
              </a:rPr>
              <a:t>核心机制的思想原理</a:t>
            </a:r>
            <a:r>
              <a:rPr lang="zh-CN" altLang="en-US" sz="2800" dirty="0">
                <a:latin typeface="华文新魏" pitchFamily="2" charset="-122"/>
                <a:ea typeface="华文新魏" pitchFamily="2" charset="-122"/>
              </a:rPr>
              <a:t>：安全性与完整性控制、恢复、并发控制。</a:t>
            </a:r>
            <a:endParaRPr lang="en-US" altLang="zh-CN" sz="2800" dirty="0">
              <a:latin typeface="华文新魏" pitchFamily="2" charset="-122"/>
              <a:ea typeface="华文新魏" pitchFamily="2" charset="-122"/>
            </a:endParaRPr>
          </a:p>
          <a:p>
            <a:pPr eaLnBrk="1" hangingPunct="1">
              <a:lnSpc>
                <a:spcPct val="90000"/>
              </a:lnSpc>
              <a:buClrTx/>
              <a:buSzTx/>
              <a:buFontTx/>
              <a:buChar char="•"/>
            </a:pPr>
            <a:r>
              <a:rPr lang="zh-CN" altLang="en-US" sz="2800" dirty="0">
                <a:latin typeface="华文新魏" pitchFamily="2" charset="-122"/>
                <a:ea typeface="华文新魏" pitchFamily="2" charset="-122"/>
              </a:rPr>
              <a:t>理解数据库</a:t>
            </a:r>
            <a:r>
              <a:rPr lang="zh-CN" altLang="en-US" sz="2800" dirty="0">
                <a:solidFill>
                  <a:srgbClr val="FF0000"/>
                </a:solidFill>
                <a:latin typeface="华文新魏" pitchFamily="2" charset="-122"/>
                <a:ea typeface="华文新魏" pitchFamily="2" charset="-122"/>
              </a:rPr>
              <a:t>存储</a:t>
            </a:r>
            <a:r>
              <a:rPr lang="zh-CN" altLang="en-US" sz="2800" dirty="0">
                <a:latin typeface="华文新魏" pitchFamily="2" charset="-122"/>
                <a:ea typeface="华文新魏" pitchFamily="2" charset="-122"/>
              </a:rPr>
              <a:t>、</a:t>
            </a:r>
            <a:r>
              <a:rPr lang="zh-CN" altLang="en-US" sz="2800" dirty="0">
                <a:solidFill>
                  <a:srgbClr val="FF0000"/>
                </a:solidFill>
                <a:latin typeface="华文新魏" pitchFamily="2" charset="-122"/>
                <a:ea typeface="华文新魏" pitchFamily="2" charset="-122"/>
              </a:rPr>
              <a:t>查询执行</a:t>
            </a:r>
            <a:r>
              <a:rPr lang="zh-CN" altLang="en-US" sz="2800" dirty="0">
                <a:latin typeface="华文新魏" pitchFamily="2" charset="-122"/>
                <a:ea typeface="华文新魏" pitchFamily="2" charset="-122"/>
              </a:rPr>
              <a:t>基本过程及其</a:t>
            </a:r>
            <a:r>
              <a:rPr lang="zh-CN" altLang="en-US" sz="2800" dirty="0">
                <a:solidFill>
                  <a:srgbClr val="FF0000"/>
                </a:solidFill>
                <a:latin typeface="华文新魏" pitchFamily="2" charset="-122"/>
                <a:ea typeface="华文新魏" pitchFamily="2" charset="-122"/>
              </a:rPr>
              <a:t>优化思想</a:t>
            </a:r>
            <a:endParaRPr lang="zh-CN" altLang="en-US" sz="2800" dirty="0">
              <a:solidFill>
                <a:srgbClr val="FF0000"/>
              </a:solidFill>
            </a:endParaRPr>
          </a:p>
        </p:txBody>
      </p:sp>
      <p:sp>
        <p:nvSpPr>
          <p:cNvPr id="6" name="灯片编号占位符 5"/>
          <p:cNvSpPr>
            <a:spLocks noGrp="1"/>
          </p:cNvSpPr>
          <p:nvPr>
            <p:ph type="sldNum" sz="quarter" idx="12"/>
          </p:nvPr>
        </p:nvSpPr>
        <p:spPr/>
        <p:txBody>
          <a:bodyPr>
            <a:normAutofit/>
          </a:bodyPr>
          <a:lstStyle/>
          <a:p>
            <a:pPr>
              <a:defRPr/>
            </a:pPr>
            <a:fld id="{ED05BFA2-22AA-491E-BF6D-64A5A384CFFA}" type="slidenum">
              <a:rPr lang="en-US" altLang="zh-CN"/>
            </a:fld>
            <a:endParaRPr lang="en-US" altLang="zh-CN"/>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1026"/>
          <p:cNvSpPr>
            <a:spLocks noGrp="1" noChangeArrowheads="1"/>
          </p:cNvSpPr>
          <p:nvPr>
            <p:ph type="title"/>
          </p:nvPr>
        </p:nvSpPr>
        <p:spPr>
          <a:xfrm>
            <a:off x="533400" y="304800"/>
            <a:ext cx="8162925" cy="762000"/>
          </a:xfrm>
        </p:spPr>
        <p:txBody>
          <a:bodyPr>
            <a:normAutofit fontScale="90000"/>
          </a:bodyPr>
          <a:lstStyle/>
          <a:p>
            <a:pPr eaLnBrk="1" fontAlgn="auto" hangingPunct="1">
              <a:spcAft>
                <a:spcPts val="0"/>
              </a:spcAft>
              <a:defRPr/>
            </a:pPr>
            <a:r>
              <a:rPr lang="zh-CN" altLang="en-US"/>
              <a:t>第</a:t>
            </a:r>
            <a:r>
              <a:rPr lang="en-US" altLang="zh-CN"/>
              <a:t>1</a:t>
            </a:r>
            <a:r>
              <a:rPr lang="zh-CN" altLang="en-US"/>
              <a:t>章  绪论</a:t>
            </a:r>
            <a:endParaRPr lang="zh-CN" altLang="en-US"/>
          </a:p>
        </p:txBody>
      </p:sp>
      <p:sp>
        <p:nvSpPr>
          <p:cNvPr id="50179" name="Rectangle 1027"/>
          <p:cNvSpPr>
            <a:spLocks noGrp="1" noChangeArrowheads="1"/>
          </p:cNvSpPr>
          <p:nvPr>
            <p:ph idx="1"/>
          </p:nvPr>
        </p:nvSpPr>
        <p:spPr>
          <a:xfrm>
            <a:off x="381000" y="1219200"/>
            <a:ext cx="8110538" cy="4191000"/>
          </a:xfrm>
        </p:spPr>
        <p:txBody>
          <a:bodyPr/>
          <a:lstStyle/>
          <a:p>
            <a:pPr eaLnBrk="1" hangingPunct="1"/>
            <a:r>
              <a:rPr lang="zh-CN" altLang="en-US" dirty="0"/>
              <a:t>数据（</a:t>
            </a:r>
            <a:r>
              <a:rPr lang="en-US" altLang="zh-CN" dirty="0"/>
              <a:t>Data</a:t>
            </a:r>
            <a:r>
              <a:rPr lang="zh-CN" altLang="en-US" dirty="0"/>
              <a:t>）</a:t>
            </a:r>
            <a:endParaRPr lang="zh-CN" altLang="en-US" dirty="0"/>
          </a:p>
          <a:p>
            <a:pPr eaLnBrk="1" hangingPunct="1"/>
            <a:r>
              <a:rPr lang="zh-CN" altLang="en-US" dirty="0"/>
              <a:t>数据库（</a:t>
            </a:r>
            <a:r>
              <a:rPr lang="en-US" altLang="zh-CN" dirty="0"/>
              <a:t>DataBase, DB</a:t>
            </a:r>
            <a:r>
              <a:rPr lang="zh-CN" altLang="en-US" dirty="0"/>
              <a:t>）</a:t>
            </a:r>
            <a:endParaRPr lang="zh-CN" altLang="en-US" dirty="0"/>
          </a:p>
          <a:p>
            <a:pPr eaLnBrk="1" hangingPunct="1"/>
            <a:r>
              <a:rPr lang="zh-CN" altLang="en-US" dirty="0"/>
              <a:t>数据库管理系统（</a:t>
            </a:r>
            <a:r>
              <a:rPr lang="en-US" altLang="zh-CN" dirty="0"/>
              <a:t>DBMS</a:t>
            </a:r>
            <a:r>
              <a:rPr lang="zh-CN" altLang="en-US" dirty="0"/>
              <a:t>）</a:t>
            </a:r>
            <a:endParaRPr lang="zh-CN" altLang="en-US" dirty="0"/>
          </a:p>
          <a:p>
            <a:pPr eaLnBrk="1" hangingPunct="1"/>
            <a:r>
              <a:rPr lang="zh-CN" altLang="en-US" dirty="0"/>
              <a:t>数据库系统（</a:t>
            </a:r>
            <a:r>
              <a:rPr lang="en-US" altLang="zh-CN" dirty="0"/>
              <a:t>DBS</a:t>
            </a:r>
            <a:r>
              <a:rPr lang="zh-CN" altLang="en-US" dirty="0"/>
              <a:t>）</a:t>
            </a:r>
            <a:endParaRPr lang="zh-CN" altLang="en-US" dirty="0"/>
          </a:p>
        </p:txBody>
      </p:sp>
      <p:sp>
        <p:nvSpPr>
          <p:cNvPr id="6" name="灯片编号占位符 5"/>
          <p:cNvSpPr>
            <a:spLocks noGrp="1"/>
          </p:cNvSpPr>
          <p:nvPr>
            <p:ph type="sldNum" sz="quarter" idx="12"/>
          </p:nvPr>
        </p:nvSpPr>
        <p:spPr/>
        <p:txBody>
          <a:bodyPr>
            <a:normAutofit/>
          </a:bodyPr>
          <a:lstStyle/>
          <a:p>
            <a:pPr>
              <a:defRPr/>
            </a:pPr>
            <a:fld id="{465EBAED-7E75-4A2B-817F-6C8FAACC1215}" type="slidenum">
              <a:rPr lang="en-US" altLang="zh-CN"/>
            </a:fld>
            <a:endParaRPr lang="en-US" altLang="zh-CN"/>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a:xfrm>
            <a:off x="457200" y="500063"/>
            <a:ext cx="8229600" cy="847725"/>
          </a:xfrm>
        </p:spPr>
        <p:txBody>
          <a:bodyPr/>
          <a:lstStyle/>
          <a:p>
            <a:r>
              <a:rPr lang="zh-CN" altLang="en-US" dirty="0"/>
              <a:t>数据处理的相关工作？</a:t>
            </a:r>
            <a:endParaRPr lang="zh-CN" altLang="en-US" dirty="0"/>
          </a:p>
        </p:txBody>
      </p:sp>
      <p:sp>
        <p:nvSpPr>
          <p:cNvPr id="3" name="内容占位符 2"/>
          <p:cNvSpPr>
            <a:spLocks noGrp="1"/>
          </p:cNvSpPr>
          <p:nvPr>
            <p:ph idx="1"/>
          </p:nvPr>
        </p:nvSpPr>
        <p:spPr>
          <a:xfrm>
            <a:off x="457200" y="1285875"/>
            <a:ext cx="8229600" cy="703263"/>
          </a:xfrm>
        </p:spPr>
        <p:txBody>
          <a:bodyPr/>
          <a:lstStyle/>
          <a:p>
            <a:r>
              <a:rPr lang="zh-CN" altLang="en-US" dirty="0"/>
              <a:t>数据的寻址、逻辑比较、计算、简单处理过程</a:t>
            </a:r>
            <a:endParaRPr lang="zh-CN" altLang="en-US" dirty="0">
              <a:solidFill>
                <a:srgbClr val="0070C0"/>
              </a:solidFill>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953E8008-5DDF-4551-8FDA-5F98EE7CC23F}" type="slidenum">
              <a:rPr kumimoji="0" lang="en-US" altLang="zh-CN" sz="1200" b="0" i="0" u="none" strike="noStrike" kern="1200" cap="none" spc="0" normalizeH="0" baseline="0" noProof="0" smtClean="0">
                <a:ln>
                  <a:noFill/>
                </a:ln>
                <a:solidFill>
                  <a:srgbClr val="04617B">
                    <a:shade val="90000"/>
                  </a:srgbClr>
                </a:solidFill>
                <a:effectLst/>
                <a:uLnTx/>
                <a:uFillTx/>
                <a:latin typeface="Verdana" panose="020B0804030504040204" pitchFamily="34" charset="0"/>
                <a:ea typeface="宋体" pitchFamily="2" charset="-122"/>
                <a:cs typeface="+mn-cs"/>
              </a:rPr>
            </a:fld>
            <a:endPar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endParaRPr>
          </a:p>
        </p:txBody>
      </p:sp>
      <p:sp>
        <p:nvSpPr>
          <p:cNvPr id="5" name="TextBox 4"/>
          <p:cNvSpPr txBox="1">
            <a:spLocks noChangeArrowheads="1"/>
          </p:cNvSpPr>
          <p:nvPr/>
        </p:nvSpPr>
        <p:spPr bwMode="auto">
          <a:xfrm>
            <a:off x="2555875" y="1844675"/>
            <a:ext cx="5821363" cy="523875"/>
          </a:xfrm>
          <a:prstGeom prst="rect">
            <a:avLst/>
          </a:prstGeom>
          <a:noFill/>
          <a:ln w="9525">
            <a:noFill/>
            <a:miter lim="800000"/>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rgbClr val="0033CC"/>
                </a:solidFill>
                <a:effectLst/>
                <a:uLnTx/>
                <a:uFillTx/>
                <a:latin typeface="Verdana" panose="020B0804030504040204" pitchFamily="34" charset="0"/>
                <a:ea typeface="宋体" pitchFamily="2" charset="-122"/>
                <a:cs typeface="+mn-cs"/>
              </a:rPr>
              <a:t>——</a:t>
            </a:r>
            <a:r>
              <a:rPr kumimoji="1" lang="zh-CN" altLang="en-US" sz="2800" b="1" i="0" u="none" strike="noStrike" kern="1200" cap="none" spc="0" normalizeH="0" baseline="0" noProof="0" dirty="0">
                <a:ln>
                  <a:noFill/>
                </a:ln>
                <a:solidFill>
                  <a:srgbClr val="0033CC"/>
                </a:solidFill>
                <a:effectLst/>
                <a:uLnTx/>
                <a:uFillTx/>
                <a:latin typeface="Verdana" panose="020B0804030504040204" pitchFamily="34" charset="0"/>
                <a:ea typeface="宋体" pitchFamily="2" charset="-122"/>
                <a:cs typeface="+mn-cs"/>
              </a:rPr>
              <a:t>从语言开始，例如汇编、</a:t>
            </a:r>
            <a:r>
              <a:rPr kumimoji="1" lang="en-US" altLang="zh-CN" sz="2800" b="1" i="0" u="none" strike="noStrike" kern="1200" cap="none" spc="0" normalizeH="0" baseline="0" noProof="0" dirty="0">
                <a:ln>
                  <a:noFill/>
                </a:ln>
                <a:solidFill>
                  <a:srgbClr val="0033CC"/>
                </a:solidFill>
                <a:effectLst/>
                <a:uLnTx/>
                <a:uFillTx/>
                <a:latin typeface="Verdana" panose="020B0804030504040204" pitchFamily="34" charset="0"/>
                <a:ea typeface="宋体" pitchFamily="2" charset="-122"/>
                <a:cs typeface="+mn-cs"/>
              </a:rPr>
              <a:t>C</a:t>
            </a:r>
            <a:r>
              <a:rPr kumimoji="1" lang="zh-CN" altLang="en-US" sz="2800" b="1" i="0" u="none" strike="noStrike" kern="1200" cap="none" spc="0" normalizeH="0" baseline="0" noProof="0" dirty="0">
                <a:ln>
                  <a:noFill/>
                </a:ln>
                <a:solidFill>
                  <a:srgbClr val="0033CC"/>
                </a:solidFill>
                <a:effectLst/>
                <a:uLnTx/>
                <a:uFillTx/>
                <a:latin typeface="Verdana" panose="020B0804030504040204" pitchFamily="34" charset="0"/>
                <a:ea typeface="宋体" pitchFamily="2" charset="-122"/>
                <a:cs typeface="+mn-cs"/>
              </a:rPr>
              <a:t>语言</a:t>
            </a:r>
            <a:endParaRPr kumimoji="1" lang="zh-CN" altLang="en-US" sz="2800" b="1" i="0" u="none" strike="noStrike" kern="1200" cap="none" spc="0" normalizeH="0" baseline="0" noProof="0" dirty="0">
              <a:ln>
                <a:noFill/>
              </a:ln>
              <a:solidFill>
                <a:srgbClr val="0033CC"/>
              </a:solidFill>
              <a:effectLst/>
              <a:uLnTx/>
              <a:uFillTx/>
              <a:latin typeface="Verdana" panose="020B0804030504040204" pitchFamily="34" charset="0"/>
              <a:ea typeface="宋体" pitchFamily="2" charset="-122"/>
              <a:cs typeface="+mn-cs"/>
            </a:endParaRPr>
          </a:p>
        </p:txBody>
      </p:sp>
      <p:sp>
        <p:nvSpPr>
          <p:cNvPr id="6" name="内容占位符 2"/>
          <p:cNvSpPr txBox="1"/>
          <p:nvPr/>
        </p:nvSpPr>
        <p:spPr bwMode="auto">
          <a:xfrm>
            <a:off x="428625" y="2349500"/>
            <a:ext cx="8229600" cy="1065213"/>
          </a:xfrm>
          <a:prstGeom prst="rect">
            <a:avLst/>
          </a:prstGeom>
          <a:noFill/>
          <a:ln w="9525">
            <a:noFill/>
            <a:miter lim="800000"/>
          </a:ln>
        </p:spPr>
        <p:txBody>
          <a:bodyPr/>
          <a:lstStyle/>
          <a:p>
            <a:pPr marL="273050" marR="0" lvl="0" indent="-273050" algn="l" defTabSz="914400" rtl="0" eaLnBrk="0" fontAlgn="base" latinLnBrk="0" hangingPunct="0">
              <a:lnSpc>
                <a:spcPct val="120000"/>
              </a:lnSpc>
              <a:spcBef>
                <a:spcPct val="20000"/>
              </a:spcBef>
              <a:spcAft>
                <a:spcPct val="0"/>
              </a:spcAft>
              <a:buClr>
                <a:srgbClr val="0BD0D9"/>
              </a:buClr>
              <a:buSzPct val="95000"/>
              <a:buFont typeface="Wingdings 2" panose="05020102010507070707" pitchFamily="18" charset="2"/>
              <a:buChar char=""/>
              <a:defRPr/>
            </a:pPr>
            <a:r>
              <a:rPr kumimoji="0" lang="zh-CN" altLang="en-US" sz="2600" b="0" i="0" u="none" strike="noStrike" kern="1200" cap="none" spc="0" normalizeH="0" baseline="0" noProof="0" dirty="0">
                <a:ln>
                  <a:noFill/>
                </a:ln>
                <a:solidFill>
                  <a:prstClr val="black"/>
                </a:solidFill>
                <a:effectLst/>
                <a:uLnTx/>
                <a:uFillTx/>
                <a:latin typeface="Constantia"/>
                <a:ea typeface="宋体" pitchFamily="2" charset="-122"/>
                <a:cs typeface="+mn-cs"/>
              </a:rPr>
              <a:t>数据的逻辑结构、操作算法，用数据结构描述现实世界的事物，并提供数据读、写的算法。</a:t>
            </a:r>
            <a:endParaRPr kumimoji="0" lang="zh-CN" altLang="en-US" sz="2600" b="0" i="0" u="none" strike="noStrike" kern="1200" cap="none" spc="0" normalizeH="0" baseline="0" noProof="0" dirty="0">
              <a:ln>
                <a:noFill/>
              </a:ln>
              <a:solidFill>
                <a:prstClr val="black"/>
              </a:solidFill>
              <a:effectLst/>
              <a:uLnTx/>
              <a:uFillTx/>
              <a:latin typeface="Constantia"/>
              <a:ea typeface="宋体" pitchFamily="2" charset="-122"/>
              <a:cs typeface="+mn-cs"/>
            </a:endParaRPr>
          </a:p>
        </p:txBody>
      </p:sp>
      <p:sp>
        <p:nvSpPr>
          <p:cNvPr id="7" name="TextBox 6"/>
          <p:cNvSpPr txBox="1">
            <a:spLocks noChangeArrowheads="1"/>
          </p:cNvSpPr>
          <p:nvPr/>
        </p:nvSpPr>
        <p:spPr bwMode="auto">
          <a:xfrm>
            <a:off x="2555875" y="3284538"/>
            <a:ext cx="3416300" cy="523875"/>
          </a:xfrm>
          <a:prstGeom prst="rect">
            <a:avLst/>
          </a:prstGeom>
          <a:noFill/>
          <a:ln w="9525">
            <a:noFill/>
            <a:miter lim="800000"/>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rgbClr val="0033CC"/>
                </a:solidFill>
                <a:effectLst/>
                <a:uLnTx/>
                <a:uFillTx/>
                <a:latin typeface="Verdana" panose="020B0804030504040204" pitchFamily="34" charset="0"/>
                <a:ea typeface="宋体" pitchFamily="2" charset="-122"/>
                <a:cs typeface="+mn-cs"/>
              </a:rPr>
              <a:t>——</a:t>
            </a:r>
            <a:r>
              <a:rPr kumimoji="1" lang="zh-CN" altLang="en-US" sz="2800" b="1" i="0" u="none" strike="noStrike" kern="1200" cap="none" spc="0" normalizeH="0" baseline="0" noProof="0" dirty="0">
                <a:ln>
                  <a:noFill/>
                </a:ln>
                <a:solidFill>
                  <a:srgbClr val="0033CC"/>
                </a:solidFill>
                <a:effectLst/>
                <a:uLnTx/>
                <a:uFillTx/>
                <a:latin typeface="Verdana" panose="020B0804030504040204" pitchFamily="34" charset="0"/>
                <a:ea typeface="宋体" pitchFamily="2" charset="-122"/>
                <a:cs typeface="+mn-cs"/>
              </a:rPr>
              <a:t>从数据结构开始</a:t>
            </a:r>
            <a:endParaRPr kumimoji="1" lang="zh-CN" altLang="en-US" sz="2800" b="1" i="0" u="none" strike="noStrike" kern="1200" cap="none" spc="0" normalizeH="0" baseline="0" noProof="0" dirty="0">
              <a:ln>
                <a:noFill/>
              </a:ln>
              <a:solidFill>
                <a:srgbClr val="0033CC"/>
              </a:solidFill>
              <a:effectLst/>
              <a:uLnTx/>
              <a:uFillTx/>
              <a:latin typeface="Verdana" panose="020B0804030504040204" pitchFamily="34" charset="0"/>
              <a:ea typeface="宋体" pitchFamily="2" charset="-122"/>
              <a:cs typeface="+mn-cs"/>
            </a:endParaRPr>
          </a:p>
        </p:txBody>
      </p:sp>
      <p:sp>
        <p:nvSpPr>
          <p:cNvPr id="8" name="内容占位符 2"/>
          <p:cNvSpPr txBox="1"/>
          <p:nvPr/>
        </p:nvSpPr>
        <p:spPr bwMode="auto">
          <a:xfrm>
            <a:off x="414338" y="3716338"/>
            <a:ext cx="8229600" cy="1065212"/>
          </a:xfrm>
          <a:prstGeom prst="rect">
            <a:avLst/>
          </a:prstGeom>
          <a:noFill/>
          <a:ln w="9525">
            <a:noFill/>
            <a:miter lim="800000"/>
          </a:ln>
        </p:spPr>
        <p:txBody>
          <a:bodyPr/>
          <a:lstStyle/>
          <a:p>
            <a:pPr marL="273050" marR="0" lvl="0" indent="-273050" algn="l" defTabSz="914400" rtl="0" eaLnBrk="0" fontAlgn="base" latinLnBrk="0" hangingPunct="0">
              <a:lnSpc>
                <a:spcPct val="120000"/>
              </a:lnSpc>
              <a:spcBef>
                <a:spcPct val="20000"/>
              </a:spcBef>
              <a:spcAft>
                <a:spcPct val="0"/>
              </a:spcAft>
              <a:buClr>
                <a:srgbClr val="0BD0D9"/>
              </a:buClr>
              <a:buSzPct val="95000"/>
              <a:buFont typeface="Wingdings 2" panose="05020102010507070707" pitchFamily="18" charset="2"/>
              <a:buChar char=""/>
              <a:defRPr/>
            </a:pPr>
            <a:r>
              <a:rPr kumimoji="0" lang="zh-CN" altLang="en-US" sz="2600" b="0" i="0" u="none" strike="noStrike" kern="1200" cap="none" spc="0" normalizeH="0" baseline="0" noProof="0" dirty="0">
                <a:ln>
                  <a:noFill/>
                </a:ln>
                <a:solidFill>
                  <a:prstClr val="black"/>
                </a:solidFill>
                <a:effectLst/>
                <a:uLnTx/>
                <a:uFillTx/>
                <a:latin typeface="Constantia"/>
                <a:ea typeface="宋体" pitchFamily="2" charset="-122"/>
                <a:cs typeface="+mn-cs"/>
              </a:rPr>
              <a:t>文件的存取、并发任务的执行、临界资源的使用、缓存的利用，存储和计算资源的合理分配与使用方法。</a:t>
            </a:r>
            <a:endParaRPr kumimoji="0" lang="zh-CN" altLang="en-US" sz="2600" b="0" i="0" u="none" strike="noStrike" kern="1200" cap="none" spc="0" normalizeH="0" baseline="0" noProof="0" dirty="0">
              <a:ln>
                <a:noFill/>
              </a:ln>
              <a:solidFill>
                <a:prstClr val="black"/>
              </a:solidFill>
              <a:effectLst/>
              <a:uLnTx/>
              <a:uFillTx/>
              <a:latin typeface="Constantia"/>
              <a:ea typeface="宋体" pitchFamily="2" charset="-122"/>
              <a:cs typeface="+mn-cs"/>
            </a:endParaRPr>
          </a:p>
        </p:txBody>
      </p:sp>
      <p:sp>
        <p:nvSpPr>
          <p:cNvPr id="9" name="TextBox 8"/>
          <p:cNvSpPr txBox="1">
            <a:spLocks noChangeArrowheads="1"/>
          </p:cNvSpPr>
          <p:nvPr/>
        </p:nvSpPr>
        <p:spPr bwMode="auto">
          <a:xfrm>
            <a:off x="2555875" y="4652963"/>
            <a:ext cx="3416300" cy="523875"/>
          </a:xfrm>
          <a:prstGeom prst="rect">
            <a:avLst/>
          </a:prstGeom>
          <a:noFill/>
          <a:ln w="9525">
            <a:noFill/>
            <a:miter lim="800000"/>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rgbClr val="0033CC"/>
                </a:solidFill>
                <a:effectLst/>
                <a:uLnTx/>
                <a:uFillTx/>
                <a:latin typeface="Verdana" panose="020B0804030504040204" pitchFamily="34" charset="0"/>
                <a:ea typeface="宋体" pitchFamily="2" charset="-122"/>
                <a:cs typeface="+mn-cs"/>
              </a:rPr>
              <a:t>——</a:t>
            </a:r>
            <a:r>
              <a:rPr kumimoji="1" lang="zh-CN" altLang="en-US" sz="2800" b="1" i="0" u="none" strike="noStrike" kern="1200" cap="none" spc="0" normalizeH="0" baseline="0" noProof="0" dirty="0">
                <a:ln>
                  <a:noFill/>
                </a:ln>
                <a:solidFill>
                  <a:srgbClr val="0033CC"/>
                </a:solidFill>
                <a:effectLst/>
                <a:uLnTx/>
                <a:uFillTx/>
                <a:latin typeface="Verdana" panose="020B0804030504040204" pitchFamily="34" charset="0"/>
                <a:ea typeface="宋体" pitchFamily="2" charset="-122"/>
                <a:cs typeface="+mn-cs"/>
              </a:rPr>
              <a:t>从操作系统开始</a:t>
            </a:r>
            <a:endParaRPr kumimoji="1" lang="zh-CN" altLang="en-US" sz="2800" b="1" i="0" u="none" strike="noStrike" kern="1200" cap="none" spc="0" normalizeH="0" baseline="0" noProof="0" dirty="0">
              <a:ln>
                <a:noFill/>
              </a:ln>
              <a:solidFill>
                <a:srgbClr val="0033CC"/>
              </a:solidFill>
              <a:effectLst/>
              <a:uLnTx/>
              <a:uFillTx/>
              <a:latin typeface="Verdana" panose="020B0804030504040204" pitchFamily="34" charset="0"/>
              <a:ea typeface="宋体" pitchFamily="2" charset="-122"/>
              <a:cs typeface="+mn-cs"/>
            </a:endParaRPr>
          </a:p>
        </p:txBody>
      </p:sp>
      <p:sp>
        <p:nvSpPr>
          <p:cNvPr id="10" name="内容占位符 2"/>
          <p:cNvSpPr txBox="1"/>
          <p:nvPr/>
        </p:nvSpPr>
        <p:spPr bwMode="auto">
          <a:xfrm>
            <a:off x="414338" y="5100638"/>
            <a:ext cx="8229600" cy="1065212"/>
          </a:xfrm>
          <a:prstGeom prst="rect">
            <a:avLst/>
          </a:prstGeom>
          <a:noFill/>
          <a:ln w="9525">
            <a:noFill/>
            <a:miter lim="800000"/>
          </a:ln>
        </p:spPr>
        <p:txBody>
          <a:bodyPr/>
          <a:lstStyle/>
          <a:p>
            <a:pPr marL="273050" marR="0" lvl="0" indent="-273050" algn="l" defTabSz="914400" rtl="0" eaLnBrk="0" fontAlgn="base" latinLnBrk="0" hangingPunct="0">
              <a:lnSpc>
                <a:spcPct val="120000"/>
              </a:lnSpc>
              <a:spcBef>
                <a:spcPct val="20000"/>
              </a:spcBef>
              <a:spcAft>
                <a:spcPct val="0"/>
              </a:spcAft>
              <a:buClr>
                <a:srgbClr val="0BD0D9"/>
              </a:buClr>
              <a:buSzPct val="95000"/>
              <a:buFont typeface="Wingdings 2" panose="05020102010507070707" pitchFamily="18" charset="2"/>
              <a:buChar char=""/>
              <a:defRPr/>
            </a:pPr>
            <a:r>
              <a:rPr kumimoji="0" lang="zh-CN" altLang="en-US" sz="2600" b="0" i="0" u="none" strike="noStrike" kern="1200" cap="none" spc="0" normalizeH="0" baseline="0" noProof="0" dirty="0">
                <a:ln>
                  <a:noFill/>
                </a:ln>
                <a:solidFill>
                  <a:prstClr val="black"/>
                </a:solidFill>
                <a:effectLst/>
                <a:uLnTx/>
                <a:uFillTx/>
                <a:latin typeface="Constantia"/>
                <a:ea typeface="宋体" pitchFamily="2" charset="-122"/>
                <a:cs typeface="+mn-cs"/>
              </a:rPr>
              <a:t>更完整的语义描述、数据操作行为、并发控制、安全性控制、完整性控制、故障容错机制、工程中的应用</a:t>
            </a:r>
            <a:endParaRPr kumimoji="0" lang="zh-CN" altLang="en-US" sz="2600" b="0" i="0" u="none" strike="noStrike" kern="1200" cap="none" spc="0" normalizeH="0" baseline="0" noProof="0" dirty="0">
              <a:ln>
                <a:noFill/>
              </a:ln>
              <a:solidFill>
                <a:prstClr val="black"/>
              </a:solidFill>
              <a:effectLst/>
              <a:uLnTx/>
              <a:uFillTx/>
              <a:latin typeface="Constantia"/>
              <a:ea typeface="宋体" pitchFamily="2" charset="-122"/>
              <a:cs typeface="+mn-cs"/>
            </a:endParaRPr>
          </a:p>
        </p:txBody>
      </p:sp>
      <p:sp>
        <p:nvSpPr>
          <p:cNvPr id="12" name="TextBox 11"/>
          <p:cNvSpPr txBox="1">
            <a:spLocks noChangeArrowheads="1"/>
          </p:cNvSpPr>
          <p:nvPr/>
        </p:nvSpPr>
        <p:spPr bwMode="auto">
          <a:xfrm>
            <a:off x="2627313" y="6092825"/>
            <a:ext cx="5591595" cy="523220"/>
          </a:xfrm>
          <a:prstGeom prst="rect">
            <a:avLst/>
          </a:prstGeom>
          <a:noFill/>
          <a:ln w="9525">
            <a:noFill/>
            <a:miter lim="800000"/>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rgbClr val="0033CC"/>
                </a:solidFill>
                <a:effectLst/>
                <a:uLnTx/>
                <a:uFillTx/>
                <a:latin typeface="Verdana" panose="020B0804030504040204" pitchFamily="34" charset="0"/>
                <a:ea typeface="宋体" pitchFamily="2" charset="-122"/>
                <a:cs typeface="+mn-cs"/>
              </a:rPr>
              <a:t>——</a:t>
            </a:r>
            <a:r>
              <a:rPr kumimoji="1" lang="zh-CN" altLang="en-US" sz="2800" b="1" i="0" u="none" strike="noStrike" kern="1200" cap="none" spc="0" normalizeH="0" baseline="0" noProof="0" dirty="0">
                <a:ln>
                  <a:noFill/>
                </a:ln>
                <a:solidFill>
                  <a:srgbClr val="0033CC"/>
                </a:solidFill>
                <a:effectLst/>
                <a:uLnTx/>
                <a:uFillTx/>
                <a:latin typeface="Verdana" panose="020B0804030504040204" pitchFamily="34" charset="0"/>
                <a:ea typeface="宋体" pitchFamily="2" charset="-122"/>
                <a:cs typeface="+mn-cs"/>
              </a:rPr>
              <a:t>从数据库系统原理这门课开始</a:t>
            </a:r>
            <a:endParaRPr kumimoji="1" lang="zh-CN" altLang="en-US" sz="2800" b="1" i="0" u="none" strike="noStrike" kern="1200" cap="none" spc="0" normalizeH="0" baseline="0" noProof="0" dirty="0">
              <a:ln>
                <a:noFill/>
              </a:ln>
              <a:solidFill>
                <a:srgbClr val="0033CC"/>
              </a:solidFill>
              <a:effectLst/>
              <a:uLnTx/>
              <a:uFillTx/>
              <a:latin typeface="Verdana" panose="020B0804030504040204" pitchFamily="34" charset="0"/>
              <a:ea typeface="宋体" pitchFamily="2" charset="-122"/>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p:txBody>
          <a:bodyPr/>
          <a:lstStyle/>
          <a:p>
            <a:pPr marL="0" indent="0">
              <a:buNone/>
              <a:defRPr/>
            </a:pPr>
            <a:r>
              <a:rPr lang="zh-CN" altLang="en-US" dirty="0"/>
              <a:t>系统软件？</a:t>
            </a:r>
            <a:endParaRPr lang="en-US" altLang="zh-CN" dirty="0"/>
          </a:p>
        </p:txBody>
      </p:sp>
      <p:sp>
        <p:nvSpPr>
          <p:cNvPr id="30723" name="内容占位符 2"/>
          <p:cNvSpPr>
            <a:spLocks noGrp="1"/>
          </p:cNvSpPr>
          <p:nvPr>
            <p:ph idx="1"/>
          </p:nvPr>
        </p:nvSpPr>
        <p:spPr>
          <a:xfrm>
            <a:off x="457200" y="1935163"/>
            <a:ext cx="8229600" cy="3422650"/>
          </a:xfrm>
        </p:spPr>
        <p:txBody>
          <a:bodyPr/>
          <a:lstStyle/>
          <a:p>
            <a:pPr marL="357505" indent="-357505">
              <a:buFont typeface="Wingdings" panose="05000000000000000000" pitchFamily="2" charset="2"/>
              <a:buChar char="Ø"/>
              <a:defRPr/>
            </a:pPr>
            <a:r>
              <a:rPr lang="zh-CN" altLang="en-US" dirty="0"/>
              <a:t>与应用相对独立的视角</a:t>
            </a:r>
            <a:endParaRPr lang="en-US" altLang="zh-CN" dirty="0"/>
          </a:p>
          <a:p>
            <a:pPr marL="357505" indent="-357505">
              <a:buFont typeface="Wingdings" panose="05000000000000000000" pitchFamily="2" charset="2"/>
              <a:buChar char="Ø"/>
              <a:defRPr/>
            </a:pPr>
            <a:r>
              <a:rPr lang="zh-CN" altLang="en-US" dirty="0"/>
              <a:t>体系（内含机制）、策略、功能设计（蕴含在多个系统部件中）</a:t>
            </a:r>
            <a:endParaRPr lang="en-US" altLang="zh-CN" dirty="0"/>
          </a:p>
          <a:p>
            <a:pPr marL="357505" indent="-357505">
              <a:buFont typeface="Wingdings" panose="05000000000000000000" pitchFamily="2" charset="2"/>
              <a:buChar char="Ø"/>
              <a:defRPr/>
            </a:pPr>
            <a:r>
              <a:rPr lang="zh-CN" altLang="en-US" dirty="0"/>
              <a:t>设计要素：功能、性能、稳定性、。。。</a:t>
            </a:r>
            <a:endParaRPr lang="en-US" altLang="zh-CN" dirty="0"/>
          </a:p>
          <a:p>
            <a:pPr marL="357505" indent="-357505">
              <a:buFont typeface="Wingdings" panose="05000000000000000000" pitchFamily="2" charset="2"/>
              <a:buChar char="Ø"/>
              <a:defRPr/>
            </a:pPr>
            <a:r>
              <a:rPr lang="zh-CN" altLang="en-US" dirty="0"/>
              <a:t>专业、易于集成</a:t>
            </a:r>
            <a:endParaRPr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11544C8-979E-401D-924E-181E4C1F3023}" type="slidenum">
              <a:rPr kumimoji="0" lang="en-US" altLang="zh-CN" sz="1200" b="0" i="0" u="none" strike="noStrike" kern="1200" cap="none" spc="0" normalizeH="0" baseline="0" noProof="0" smtClean="0">
                <a:ln>
                  <a:noFill/>
                </a:ln>
                <a:solidFill>
                  <a:srgbClr val="04617B">
                    <a:shade val="90000"/>
                  </a:srgbClr>
                </a:solidFill>
                <a:effectLst/>
                <a:uLnTx/>
                <a:uFillTx/>
                <a:latin typeface="Verdana" panose="020B0804030504040204" pitchFamily="34" charset="0"/>
                <a:ea typeface="宋体" pitchFamily="2" charset="-122"/>
                <a:cs typeface="+mn-cs"/>
              </a:rPr>
            </a:fld>
            <a:endPar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endParaRPr>
          </a:p>
        </p:txBody>
      </p:sp>
      <p:grpSp>
        <p:nvGrpSpPr>
          <p:cNvPr id="2" name="组合 6"/>
          <p:cNvGrpSpPr/>
          <p:nvPr/>
        </p:nvGrpSpPr>
        <p:grpSpPr bwMode="auto">
          <a:xfrm>
            <a:off x="3632200" y="1121180"/>
            <a:ext cx="5511800" cy="830263"/>
            <a:chOff x="3275824" y="1714488"/>
            <a:chExt cx="5512368" cy="830997"/>
          </a:xfrm>
        </p:grpSpPr>
        <p:sp>
          <p:nvSpPr>
            <p:cNvPr id="32774" name="TextBox 4"/>
            <p:cNvSpPr txBox="1">
              <a:spLocks noChangeArrowheads="1"/>
            </p:cNvSpPr>
            <p:nvPr/>
          </p:nvSpPr>
          <p:spPr bwMode="auto">
            <a:xfrm>
              <a:off x="3786182" y="1714488"/>
              <a:ext cx="5002010" cy="830997"/>
            </a:xfrm>
            <a:prstGeom prst="rect">
              <a:avLst/>
            </a:prstGeom>
            <a:noFill/>
            <a:ln w="9525">
              <a:noFill/>
              <a:miter lim="800000"/>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DBMS</a:t>
              </a:r>
              <a:r>
                <a:rPr kumimoji="1" lang="zh-CN" altLang="en-US"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a:t>
              </a:r>
              <a:endParaRPr kumimoji="1" lang="en-US" altLang="zh-CN"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rPr>
                <a:t>Database Management System</a:t>
              </a:r>
              <a:endParaRPr kumimoji="1" lang="zh-CN" altLang="en-US" sz="2400" b="0" i="0" u="none" strike="noStrike" kern="1200" cap="none" spc="0" normalizeH="0" baseline="0" noProof="0" dirty="0">
                <a:ln>
                  <a:noFill/>
                </a:ln>
                <a:solidFill>
                  <a:srgbClr val="04617B"/>
                </a:solidFill>
                <a:effectLst/>
                <a:uLnTx/>
                <a:uFillTx/>
                <a:latin typeface="Verdana" panose="020B0804030504040204" pitchFamily="34" charset="0"/>
                <a:ea typeface="宋体" pitchFamily="2" charset="-122"/>
                <a:cs typeface="+mn-cs"/>
              </a:endParaRPr>
            </a:p>
          </p:txBody>
        </p:sp>
        <p:sp>
          <p:nvSpPr>
            <p:cNvPr id="6" name="右箭头 5"/>
            <p:cNvSpPr/>
            <p:nvPr/>
          </p:nvSpPr>
          <p:spPr>
            <a:xfrm>
              <a:off x="3275824" y="1857489"/>
              <a:ext cx="415968" cy="4846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white"/>
                </a:solidFill>
                <a:effectLst/>
                <a:uLnTx/>
                <a:uFillTx/>
                <a:latin typeface="Constantia"/>
                <a:ea typeface="宋体" pitchFamily="2" charset="-122"/>
                <a:cs typeface="+mn-cs"/>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8625" y="214313"/>
            <a:ext cx="8229600" cy="776287"/>
          </a:xfrm>
        </p:spPr>
        <p:txBody>
          <a:bodyPr>
            <a:normAutofit fontScale="90000"/>
          </a:bodyPr>
          <a:lstStyle/>
          <a:p>
            <a:pPr eaLnBrk="1" fontAlgn="auto" hangingPunct="1">
              <a:spcAft>
                <a:spcPts val="0"/>
              </a:spcAft>
              <a:defRPr/>
            </a:pPr>
            <a:r>
              <a:rPr lang="zh-CN" altLang="en-US" dirty="0"/>
              <a:t>数据库在哪？</a:t>
            </a:r>
            <a:endParaRPr lang="zh-CN" altLang="en-US" dirty="0"/>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A66828-947E-41A3-B6D4-94A85C041D57}" type="slidenum">
              <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rPr>
            </a:fld>
            <a:endParaRPr kumimoji="0" lang="en-US" altLang="zh-CN" sz="1200" b="0" i="0" u="none" strike="noStrike" kern="1200" cap="none" spc="0" normalizeH="0" baseline="0" noProof="0" dirty="0">
              <a:ln>
                <a:noFill/>
              </a:ln>
              <a:solidFill>
                <a:srgbClr val="04617B">
                  <a:shade val="90000"/>
                </a:srgbClr>
              </a:solidFill>
              <a:effectLst/>
              <a:uLnTx/>
              <a:uFillTx/>
              <a:latin typeface="Verdana" panose="020B0804030504040204" pitchFamily="34" charset="0"/>
              <a:ea typeface="宋体" pitchFamily="2" charset="-122"/>
              <a:cs typeface="+mn-cs"/>
            </a:endParaRPr>
          </a:p>
        </p:txBody>
      </p:sp>
      <p:sp>
        <p:nvSpPr>
          <p:cNvPr id="6" name="标题 1"/>
          <p:cNvSpPr txBox="1"/>
          <p:nvPr/>
        </p:nvSpPr>
        <p:spPr>
          <a:xfrm>
            <a:off x="428625" y="1071563"/>
            <a:ext cx="8358188" cy="642937"/>
          </a:xfrm>
          <a:prstGeom prst="rect">
            <a:avLst/>
          </a:prstGeom>
        </p:spPr>
        <p:txBody>
          <a:bodyPr lIns="0" rIns="0" bIns="0" anchor="b">
            <a:normAutofit fontScale="90000" lnSpcReduction="2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5000" b="0" i="0" u="none" strike="noStrike" kern="1200" cap="none" spc="0" normalizeH="0" baseline="0" noProof="0" dirty="0">
                <a:ln>
                  <a:noFill/>
                </a:ln>
                <a:solidFill>
                  <a:srgbClr val="0F6FC6"/>
                </a:solidFill>
                <a:effectLst/>
                <a:uLnTx/>
                <a:uFillTx/>
                <a:latin typeface="Calibri"/>
                <a:ea typeface="宋体" pitchFamily="2" charset="-122"/>
                <a:cs typeface="+mn-cs"/>
              </a:rPr>
              <a:t>LAMP</a:t>
            </a:r>
            <a:r>
              <a:rPr kumimoji="0" lang="en-US" sz="5000" b="0" i="0" u="none" strike="noStrike" kern="1200" cap="none" spc="0" normalizeH="0" baseline="0" noProof="0" dirty="0">
                <a:ln>
                  <a:noFill/>
                </a:ln>
                <a:solidFill>
                  <a:srgbClr val="04617B"/>
                </a:solidFill>
                <a:effectLst/>
                <a:uLnTx/>
                <a:uFillTx/>
                <a:latin typeface="Calibri"/>
                <a:ea typeface="宋体" pitchFamily="2" charset="-122"/>
                <a:cs typeface="+mn-cs"/>
              </a:rPr>
              <a:t>(Linux+Apache+MySQL+PHP)</a:t>
            </a:r>
            <a:endParaRPr kumimoji="0" lang="zh-CN" altLang="en-US" sz="5000" b="0" i="0" u="none" strike="noStrike" kern="1200" cap="none" spc="0" normalizeH="0" baseline="0" noProof="0" dirty="0">
              <a:ln>
                <a:noFill/>
              </a:ln>
              <a:solidFill>
                <a:srgbClr val="04617B"/>
              </a:solidFill>
              <a:effectLst/>
              <a:uLnTx/>
              <a:uFillTx/>
              <a:latin typeface="Calibri"/>
              <a:ea typeface="隶书" pitchFamily="49" charset="-122"/>
              <a:cs typeface="+mn-cs"/>
            </a:endParaRPr>
          </a:p>
        </p:txBody>
      </p:sp>
      <p:pic>
        <p:nvPicPr>
          <p:cNvPr id="33798" name="Picture 2" descr="淘宝网发展史：神秘项目个人网站（2）"/>
          <p:cNvPicPr>
            <a:picLocks noChangeAspect="1" noChangeArrowheads="1"/>
          </p:cNvPicPr>
          <p:nvPr/>
        </p:nvPicPr>
        <p:blipFill>
          <a:blip r:embed="rId1" cstate="print"/>
          <a:srcRect/>
          <a:stretch>
            <a:fillRect/>
          </a:stretch>
        </p:blipFill>
        <p:spPr bwMode="auto">
          <a:xfrm>
            <a:off x="1785938" y="2009775"/>
            <a:ext cx="4572000" cy="4276725"/>
          </a:xfrm>
          <a:prstGeom prst="rect">
            <a:avLst/>
          </a:prstGeom>
          <a:noFill/>
          <a:ln w="9525">
            <a:noFill/>
            <a:miter lim="800000"/>
            <a:headEnd/>
            <a:tailEnd/>
          </a:ln>
        </p:spPr>
      </p:pic>
      <p:sp>
        <p:nvSpPr>
          <p:cNvPr id="33799" name="AutoShape 8"/>
          <p:cNvSpPr>
            <a:spLocks noChangeArrowheads="1"/>
          </p:cNvSpPr>
          <p:nvPr/>
        </p:nvSpPr>
        <p:spPr bwMode="auto">
          <a:xfrm>
            <a:off x="6732588" y="4292600"/>
            <a:ext cx="1943100" cy="1708150"/>
          </a:xfrm>
          <a:prstGeom prst="wedgeRoundRectCallout">
            <a:avLst>
              <a:gd name="adj1" fmla="val -90051"/>
              <a:gd name="adj2" fmla="val -73884"/>
              <a:gd name="adj3" fmla="val 16667"/>
            </a:avLst>
          </a:prstGeom>
          <a:solidFill>
            <a:schemeClr val="bg1"/>
          </a:solidFill>
          <a:ln w="9525">
            <a:solidFill>
              <a:schemeClr val="tx1"/>
            </a:solid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rPr>
              <a:t>Pear DB</a:t>
            </a:r>
            <a:r>
              <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rPr>
              <a:t>：</a:t>
            </a:r>
            <a:r>
              <a:rPr kumimoji="1" lang="en-US" altLang="zh-CN"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rPr>
              <a:t>PHP</a:t>
            </a:r>
            <a:r>
              <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rPr>
              <a:t>模块，负责数据访问层。 </a:t>
            </a: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57188" y="71438"/>
            <a:ext cx="8229600" cy="776287"/>
          </a:xfrm>
        </p:spPr>
        <p:txBody>
          <a:bodyPr>
            <a:normAutofit fontScale="90000"/>
          </a:bodyPr>
          <a:lstStyle/>
          <a:p>
            <a:pPr eaLnBrk="1" fontAlgn="auto" hangingPunct="1">
              <a:spcAft>
                <a:spcPts val="0"/>
              </a:spcAft>
              <a:defRPr/>
            </a:pPr>
            <a:r>
              <a:rPr lang="zh-CN" altLang="en-US" dirty="0"/>
              <a:t>数据库在哪？</a:t>
            </a:r>
            <a:endParaRPr lang="zh-CN" altLang="en-US" dirty="0"/>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A07EBE8-6FEC-4033-9CC5-B17CD63BCAC5}" type="slidenum">
              <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rPr>
            </a:fld>
            <a:endPar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endParaRPr>
          </a:p>
        </p:txBody>
      </p:sp>
      <p:sp>
        <p:nvSpPr>
          <p:cNvPr id="5" name="标题 1"/>
          <p:cNvSpPr txBox="1"/>
          <p:nvPr/>
        </p:nvSpPr>
        <p:spPr>
          <a:xfrm>
            <a:off x="500063" y="928688"/>
            <a:ext cx="8183562" cy="642937"/>
          </a:xfrm>
          <a:prstGeom prst="rect">
            <a:avLst/>
          </a:prstGeom>
        </p:spPr>
        <p:txBody>
          <a:bodyPr lIns="0" rIns="0" bIns="0" anchor="b">
            <a:normAutofit fontScale="92500" lnSpcReduction="2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5000" b="0" i="0" u="none" strike="noStrike" kern="1200" cap="none" spc="0" normalizeH="0" baseline="0" noProof="0" dirty="0">
                <a:ln>
                  <a:noFill/>
                </a:ln>
                <a:solidFill>
                  <a:srgbClr val="04617B"/>
                </a:solidFill>
                <a:effectLst/>
                <a:uLnTx/>
                <a:uFillTx/>
                <a:latin typeface="Calibri"/>
                <a:ea typeface="隶书" pitchFamily="49" charset="-122"/>
                <a:cs typeface="+mn-cs"/>
              </a:rPr>
              <a:t>ORACLE</a:t>
            </a:r>
            <a:r>
              <a:rPr kumimoji="0" lang="zh-CN" altLang="en-US" sz="5000" b="0" i="0" u="none" strike="noStrike" kern="1200" cap="none" spc="0" normalizeH="0" baseline="0" noProof="0" dirty="0">
                <a:ln>
                  <a:noFill/>
                </a:ln>
                <a:solidFill>
                  <a:srgbClr val="04617B"/>
                </a:solidFill>
                <a:effectLst/>
                <a:uLnTx/>
                <a:uFillTx/>
                <a:latin typeface="Calibri"/>
                <a:ea typeface="隶书" pitchFamily="49" charset="-122"/>
                <a:cs typeface="+mn-cs"/>
              </a:rPr>
              <a:t>本地后台</a:t>
            </a:r>
            <a:r>
              <a:rPr kumimoji="0" lang="en-US" altLang="zh-CN" sz="5000" b="0" i="0" u="none" strike="noStrike" kern="1200" cap="none" spc="0" normalizeH="0" baseline="0" noProof="0" dirty="0">
                <a:ln>
                  <a:noFill/>
                </a:ln>
                <a:solidFill>
                  <a:srgbClr val="04617B"/>
                </a:solidFill>
                <a:effectLst/>
                <a:uLnTx/>
                <a:uFillTx/>
                <a:latin typeface="Calibri"/>
                <a:ea typeface="隶书" pitchFamily="49" charset="-122"/>
                <a:cs typeface="+mn-cs"/>
              </a:rPr>
              <a:t>DB+</a:t>
            </a:r>
            <a:r>
              <a:rPr kumimoji="0" lang="zh-CN" altLang="en-US" sz="5000" b="0" i="0" u="none" strike="noStrike" kern="1200" cap="none" spc="0" normalizeH="0" baseline="0" noProof="0" dirty="0">
                <a:ln>
                  <a:noFill/>
                </a:ln>
                <a:solidFill>
                  <a:srgbClr val="04617B"/>
                </a:solidFill>
                <a:effectLst/>
                <a:uLnTx/>
                <a:uFillTx/>
                <a:latin typeface="Calibri"/>
                <a:ea typeface="隶书" pitchFamily="49" charset="-122"/>
                <a:cs typeface="+mn-cs"/>
              </a:rPr>
              <a:t>连接池</a:t>
            </a:r>
            <a:endParaRPr kumimoji="0" lang="zh-CN" altLang="en-US" sz="5000" b="0" i="0" u="none" strike="noStrike" kern="1200" cap="none" spc="0" normalizeH="0" baseline="0" noProof="0" dirty="0">
              <a:ln>
                <a:noFill/>
              </a:ln>
              <a:solidFill>
                <a:srgbClr val="04617B"/>
              </a:solidFill>
              <a:effectLst/>
              <a:uLnTx/>
              <a:uFillTx/>
              <a:latin typeface="Calibri"/>
              <a:ea typeface="隶书" pitchFamily="49" charset="-122"/>
              <a:cs typeface="+mn-cs"/>
            </a:endParaRPr>
          </a:p>
        </p:txBody>
      </p:sp>
      <p:pic>
        <p:nvPicPr>
          <p:cNvPr id="34822" name="Picture 2" descr="淘宝网发展史：Oracle支付宝 旺旺（3）"/>
          <p:cNvPicPr>
            <a:picLocks noChangeAspect="1" noChangeArrowheads="1"/>
          </p:cNvPicPr>
          <p:nvPr/>
        </p:nvPicPr>
        <p:blipFill>
          <a:blip r:embed="rId1" cstate="print"/>
          <a:srcRect/>
          <a:stretch>
            <a:fillRect/>
          </a:stretch>
        </p:blipFill>
        <p:spPr bwMode="auto">
          <a:xfrm>
            <a:off x="1928813" y="1785938"/>
            <a:ext cx="4762500" cy="4086225"/>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1438"/>
            <a:ext cx="8229600" cy="776287"/>
          </a:xfrm>
        </p:spPr>
        <p:txBody>
          <a:bodyPr>
            <a:normAutofit fontScale="90000"/>
          </a:bodyPr>
          <a:lstStyle/>
          <a:p>
            <a:pPr eaLnBrk="1" fontAlgn="auto" hangingPunct="1">
              <a:spcAft>
                <a:spcPts val="0"/>
              </a:spcAft>
              <a:defRPr/>
            </a:pPr>
            <a:r>
              <a:rPr lang="zh-CN" altLang="en-US" dirty="0"/>
              <a:t>数据库在哪？</a:t>
            </a:r>
            <a:endParaRPr lang="zh-CN" altLang="en-US" dirty="0"/>
          </a:p>
        </p:txBody>
      </p:sp>
      <p:sp>
        <p:nvSpPr>
          <p:cNvPr id="35843" name="内容占位符 2"/>
          <p:cNvSpPr>
            <a:spLocks noGrp="1"/>
          </p:cNvSpPr>
          <p:nvPr>
            <p:ph idx="1"/>
          </p:nvPr>
        </p:nvSpPr>
        <p:spPr>
          <a:xfrm>
            <a:off x="457200" y="5589588"/>
            <a:ext cx="8435280" cy="735012"/>
          </a:xfrm>
        </p:spPr>
        <p:txBody>
          <a:bodyPr/>
          <a:lstStyle/>
          <a:p>
            <a:pPr eaLnBrk="1" hangingPunct="1"/>
            <a:r>
              <a:rPr lang="zh-CN" altLang="en-US" dirty="0">
                <a:latin typeface="微软雅黑" panose="020B0503020204020204" pitchFamily="34" charset="-122"/>
                <a:ea typeface="微软雅黑" panose="020B0503020204020204" pitchFamily="34" charset="-122"/>
              </a:rPr>
              <a:t>应用服务器</a:t>
            </a:r>
            <a:r>
              <a:rPr lang="en-US" altLang="zh-CN" dirty="0">
                <a:latin typeface="微软雅黑" panose="020B0503020204020204" pitchFamily="34" charset="-122"/>
                <a:ea typeface="微软雅黑" panose="020B0503020204020204" pitchFamily="34" charset="-122"/>
              </a:rPr>
              <a:t>Jboss</a:t>
            </a:r>
            <a:r>
              <a:rPr lang="zh-CN" altLang="en-US" dirty="0">
                <a:latin typeface="微软雅黑" panose="020B0503020204020204" pitchFamily="34" charset="-122"/>
                <a:ea typeface="微软雅黑" panose="020B0503020204020204" pitchFamily="34" charset="-122"/>
              </a:rPr>
              <a:t>，控制层</a:t>
            </a:r>
            <a:r>
              <a:rPr lang="en-US" altLang="zh-CN" dirty="0">
                <a:latin typeface="微软雅黑" panose="020B0503020204020204" pitchFamily="34" charset="-122"/>
                <a:ea typeface="微软雅黑" panose="020B0503020204020204" pitchFamily="34" charset="-122"/>
              </a:rPr>
              <a:t>Spring</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OR-Mapping</a:t>
            </a:r>
            <a:r>
              <a:rPr lang="zh-CN" altLang="en-US" dirty="0">
                <a:latin typeface="微软雅黑" panose="020B0503020204020204" pitchFamily="34" charset="-122"/>
                <a:ea typeface="微软雅黑" panose="020B0503020204020204" pitchFamily="34" charset="-122"/>
              </a:rPr>
              <a:t>持久层。</a:t>
            </a:r>
            <a:endParaRPr lang="zh-CN" altLang="en-US"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C5C4815-2E79-4A8E-8EB3-F7C5113A13FC}" type="slidenum">
              <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rPr>
            </a:fld>
            <a:endPar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endParaRPr>
          </a:p>
        </p:txBody>
      </p:sp>
      <p:sp>
        <p:nvSpPr>
          <p:cNvPr id="5" name="标题 1"/>
          <p:cNvSpPr txBox="1"/>
          <p:nvPr/>
        </p:nvSpPr>
        <p:spPr>
          <a:xfrm>
            <a:off x="500063" y="928688"/>
            <a:ext cx="8183562" cy="642937"/>
          </a:xfrm>
          <a:prstGeom prst="rect">
            <a:avLst/>
          </a:prstGeom>
        </p:spPr>
        <p:txBody>
          <a:bodyPr lIns="0" rIns="0" bIns="0" anchor="b">
            <a:normAutofit fontScale="92500" lnSpcReduction="2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5000" b="0" i="0" u="none" strike="noStrike" kern="1200" cap="none" spc="0" normalizeH="0" baseline="0" noProof="0" dirty="0">
                <a:ln>
                  <a:noFill/>
                </a:ln>
                <a:solidFill>
                  <a:srgbClr val="04617B"/>
                </a:solidFill>
                <a:effectLst/>
                <a:uLnTx/>
                <a:uFillTx/>
                <a:latin typeface="Calibri"/>
                <a:ea typeface="隶书" pitchFamily="49" charset="-122"/>
                <a:cs typeface="+mn-cs"/>
              </a:rPr>
              <a:t>Jboss+Spring+cache+</a:t>
            </a:r>
            <a:r>
              <a:rPr kumimoji="0" lang="zh-CN" altLang="en-US" sz="5000" b="0" i="0" u="none" strike="noStrike" kern="1200" cap="none" spc="0" normalizeH="0" baseline="0" noProof="0" dirty="0">
                <a:ln>
                  <a:noFill/>
                </a:ln>
                <a:solidFill>
                  <a:srgbClr val="04617B"/>
                </a:solidFill>
                <a:effectLst/>
                <a:uLnTx/>
                <a:uFillTx/>
                <a:latin typeface="Calibri"/>
                <a:ea typeface="隶书" pitchFamily="49" charset="-122"/>
                <a:cs typeface="+mn-cs"/>
              </a:rPr>
              <a:t>分库分表</a:t>
            </a:r>
            <a:endParaRPr kumimoji="0" lang="zh-CN" altLang="en-US" sz="5000" b="0" i="0" u="none" strike="noStrike" kern="1200" cap="none" spc="0" normalizeH="0" baseline="0" noProof="0" dirty="0">
              <a:ln>
                <a:noFill/>
              </a:ln>
              <a:solidFill>
                <a:srgbClr val="04617B"/>
              </a:solidFill>
              <a:effectLst/>
              <a:uLnTx/>
              <a:uFillTx/>
              <a:latin typeface="Calibri"/>
              <a:ea typeface="隶书" pitchFamily="49" charset="-122"/>
              <a:cs typeface="+mn-cs"/>
            </a:endParaRPr>
          </a:p>
        </p:txBody>
      </p:sp>
      <p:pic>
        <p:nvPicPr>
          <p:cNvPr id="35846" name="图片 4" descr="淘宝网发展史：Java时代：坚若磐石(5)"/>
          <p:cNvPicPr>
            <a:picLocks noChangeAspect="1" noChangeArrowheads="1"/>
          </p:cNvPicPr>
          <p:nvPr/>
        </p:nvPicPr>
        <p:blipFill>
          <a:blip r:embed="rId1" cstate="print"/>
          <a:srcRect/>
          <a:stretch>
            <a:fillRect/>
          </a:stretch>
        </p:blipFill>
        <p:spPr bwMode="auto">
          <a:xfrm>
            <a:off x="1928813" y="1628775"/>
            <a:ext cx="5072062" cy="3714750"/>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p:cNvSpPr>
          <p:nvPr>
            <p:ph type="title"/>
          </p:nvPr>
        </p:nvSpPr>
        <p:spPr>
          <a:xfrm>
            <a:off x="521207" y="517610"/>
            <a:ext cx="8229600" cy="779463"/>
          </a:xfrm>
        </p:spPr>
        <p:txBody>
          <a:bodyPr/>
          <a:lstStyle/>
          <a:p>
            <a:r>
              <a:rPr lang="zh-CN" altLang="en-US" dirty="0"/>
              <a:t>初步认识数据库系统</a:t>
            </a:r>
            <a:endParaRPr lang="zh-CN" altLang="en-US" dirty="0"/>
          </a:p>
        </p:txBody>
      </p:sp>
      <p:sp>
        <p:nvSpPr>
          <p:cNvPr id="3" name="内容占位符 2"/>
          <p:cNvSpPr>
            <a:spLocks noGrp="1"/>
          </p:cNvSpPr>
          <p:nvPr>
            <p:ph idx="1"/>
          </p:nvPr>
        </p:nvSpPr>
        <p:spPr>
          <a:xfrm>
            <a:off x="466389" y="1371937"/>
            <a:ext cx="2026568" cy="630237"/>
          </a:xfrm>
        </p:spPr>
        <p:txBody>
          <a:bodyPr/>
          <a:lstStyle/>
          <a:p>
            <a:pPr>
              <a:buClr>
                <a:schemeClr val="accent1"/>
              </a:buClr>
              <a:buSzPct val="75000"/>
              <a:buFont typeface="Wingdings" panose="05000000000000000000" pitchFamily="2" charset="2"/>
              <a:buChar char="l"/>
            </a:pPr>
            <a:r>
              <a:rPr lang="zh-CN" altLang="en-US" sz="2800" dirty="0"/>
              <a:t>体系结构</a:t>
            </a:r>
            <a:endParaRPr lang="en-US" altLang="zh-CN" sz="2800" dirty="0"/>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D393D8-CD02-4999-9A5F-D0AAD4234FA1}" type="slidenum">
              <a:rPr kumimoji="0" lang="en-US" altLang="zh-CN" sz="1200" b="0" i="0" u="none" strike="noStrike" kern="1200" cap="none" spc="0" normalizeH="0" baseline="0" noProof="0" smtClean="0">
                <a:ln>
                  <a:noFill/>
                </a:ln>
                <a:solidFill>
                  <a:srgbClr val="04617B">
                    <a:shade val="90000"/>
                  </a:srgbClr>
                </a:solidFill>
                <a:effectLst/>
                <a:uLnTx/>
                <a:uFillTx/>
                <a:latin typeface="Verdana" panose="020B0804030504040204" pitchFamily="34" charset="0"/>
                <a:ea typeface="宋体" pitchFamily="2" charset="-122"/>
                <a:cs typeface="+mn-cs"/>
              </a:rPr>
            </a:fld>
            <a:endPar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endParaRPr>
          </a:p>
        </p:txBody>
      </p:sp>
      <p:sp>
        <p:nvSpPr>
          <p:cNvPr id="5" name="矩形 4"/>
          <p:cNvSpPr/>
          <p:nvPr/>
        </p:nvSpPr>
        <p:spPr>
          <a:xfrm>
            <a:off x="468313" y="2492375"/>
            <a:ext cx="2015455" cy="523875"/>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
                <a:srgbClr val="0F6FC6"/>
              </a:buClr>
              <a:buSzPct val="75000"/>
              <a:buFont typeface="Wingdings" panose="05000000000000000000" pitchFamily="2" charset="2"/>
              <a:buChar char="l"/>
              <a:defRPr/>
            </a:pPr>
            <a:r>
              <a:rPr kumimoji="1" lang="zh-CN" altLang="en-US" sz="2800" b="0" i="0" u="none" strike="noStrike" kern="1200" cap="none" spc="0" normalizeH="0" baseline="0" noProof="0" dirty="0">
                <a:ln>
                  <a:noFill/>
                </a:ln>
                <a:solidFill>
                  <a:prstClr val="black"/>
                </a:solidFill>
                <a:effectLst/>
                <a:uLnTx/>
                <a:uFillTx/>
                <a:latin typeface="Constantia"/>
                <a:ea typeface="宋体" pitchFamily="2" charset="-122"/>
                <a:cs typeface="+mn-cs"/>
              </a:rPr>
              <a:t> 系统组成</a:t>
            </a:r>
            <a:endParaRPr kumimoji="1" lang="en-US" altLang="zh-CN" sz="2800" b="0" i="0" u="none" strike="noStrike" kern="1200" cap="none" spc="0" normalizeH="0" baseline="0" noProof="0" dirty="0">
              <a:ln>
                <a:noFill/>
              </a:ln>
              <a:solidFill>
                <a:prstClr val="black"/>
              </a:solidFill>
              <a:effectLst/>
              <a:uLnTx/>
              <a:uFillTx/>
              <a:latin typeface="Constantia"/>
              <a:ea typeface="宋体" pitchFamily="2" charset="-122"/>
              <a:cs typeface="+mn-cs"/>
            </a:endParaRPr>
          </a:p>
        </p:txBody>
      </p:sp>
      <p:sp>
        <p:nvSpPr>
          <p:cNvPr id="6" name="矩形 5"/>
          <p:cNvSpPr>
            <a:spLocks noChangeArrowheads="1"/>
          </p:cNvSpPr>
          <p:nvPr/>
        </p:nvSpPr>
        <p:spPr bwMode="auto">
          <a:xfrm>
            <a:off x="468313" y="6217493"/>
            <a:ext cx="2665412" cy="523875"/>
          </a:xfrm>
          <a:prstGeom prst="rect">
            <a:avLst/>
          </a:prstGeom>
          <a:noFill/>
          <a:ln w="9525">
            <a:noFill/>
            <a:miter lim="800000"/>
          </a:ln>
        </p:spPr>
        <p:txBody>
          <a:bodyPr wrap="none">
            <a:spAutoFit/>
          </a:bodyPr>
          <a:lstStyle/>
          <a:p>
            <a:pPr marL="0" marR="0" lvl="0" indent="0" algn="l" defTabSz="914400" rtl="0" eaLnBrk="1" fontAlgn="base" latinLnBrk="0" hangingPunct="1">
              <a:lnSpc>
                <a:spcPct val="100000"/>
              </a:lnSpc>
              <a:spcBef>
                <a:spcPct val="0"/>
              </a:spcBef>
              <a:spcAft>
                <a:spcPct val="0"/>
              </a:spcAft>
              <a:buClr>
                <a:srgbClr val="0F6FC6"/>
              </a:buClr>
              <a:buSzPct val="75000"/>
              <a:buFont typeface="Wingdings" panose="05000000000000000000" pitchFamily="2" charset="2"/>
              <a:buChar char="l"/>
              <a:defRPr/>
            </a:pPr>
            <a:r>
              <a:rPr kumimoji="1" lang="zh-CN" altLang="en-US" sz="28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 包含系统软件</a:t>
            </a:r>
            <a:endParaRPr kumimoji="1" lang="en-US" altLang="zh-CN" sz="28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p:txBody>
      </p:sp>
      <p:sp>
        <p:nvSpPr>
          <p:cNvPr id="8" name="圆角矩形标注 7"/>
          <p:cNvSpPr/>
          <p:nvPr/>
        </p:nvSpPr>
        <p:spPr>
          <a:xfrm>
            <a:off x="4000500" y="5884118"/>
            <a:ext cx="2714625" cy="857250"/>
          </a:xfrm>
          <a:prstGeom prst="wedgeRoundRectCallout">
            <a:avLst>
              <a:gd name="adj1" fmla="val -84820"/>
              <a:gd name="adj2" fmla="val 21172"/>
              <a:gd name="adj3" fmla="val 16667"/>
            </a:avLst>
          </a:prstGeom>
        </p:spPr>
        <p:style>
          <a:lnRef idx="2">
            <a:schemeClr val="accent2"/>
          </a:lnRef>
          <a:fillRef idx="1">
            <a:schemeClr val="lt1"/>
          </a:fillRef>
          <a:effectRef idx="0">
            <a:schemeClr val="accent2"/>
          </a:effectRef>
          <a:fontRef idx="minor">
            <a:schemeClr val="dk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Constantia"/>
                <a:ea typeface="宋体" pitchFamily="2" charset="-122"/>
                <a:cs typeface="+mn-cs"/>
              </a:rPr>
              <a:t>数据库管理系统</a:t>
            </a:r>
            <a:endParaRPr kumimoji="1" lang="en-US" altLang="zh-CN" sz="2400" b="0" i="0" u="none" strike="noStrike" kern="1200" cap="none" spc="0" normalizeH="0" baseline="0" noProof="0" dirty="0">
              <a:ln>
                <a:noFill/>
              </a:ln>
              <a:solidFill>
                <a:prstClr val="black"/>
              </a:solidFill>
              <a:effectLst/>
              <a:uLnTx/>
              <a:uFillTx/>
              <a:latin typeface="Constantia"/>
              <a:ea typeface="宋体"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Constantia"/>
                <a:ea typeface="宋体" pitchFamily="2" charset="-122"/>
                <a:cs typeface="+mn-cs"/>
              </a:rPr>
              <a:t>DBMS</a:t>
            </a:r>
            <a:endParaRPr kumimoji="1" lang="zh-CN" altLang="en-US" sz="2400" b="0" i="0" u="none" strike="noStrike" kern="1200" cap="none" spc="0" normalizeH="0" baseline="0" noProof="0" dirty="0">
              <a:ln>
                <a:noFill/>
              </a:ln>
              <a:solidFill>
                <a:prstClr val="black"/>
              </a:solidFill>
              <a:effectLst/>
              <a:uLnTx/>
              <a:uFillTx/>
              <a:latin typeface="Constantia"/>
              <a:ea typeface="宋体" pitchFamily="2" charset="-122"/>
              <a:cs typeface="+mn-cs"/>
            </a:endParaRPr>
          </a:p>
        </p:txBody>
      </p:sp>
      <p:sp>
        <p:nvSpPr>
          <p:cNvPr id="7" name="圆角矩形标注 6"/>
          <p:cNvSpPr/>
          <p:nvPr/>
        </p:nvSpPr>
        <p:spPr>
          <a:xfrm>
            <a:off x="6818312" y="5652343"/>
            <a:ext cx="1857375" cy="827087"/>
          </a:xfrm>
          <a:prstGeom prst="wedgeRoundRectCallout">
            <a:avLst>
              <a:gd name="adj1" fmla="val -85346"/>
              <a:gd name="adj2" fmla="val 47822"/>
              <a:gd name="adj3" fmla="val 16667"/>
            </a:avLst>
          </a:prstGeom>
        </p:spPr>
        <p:style>
          <a:lnRef idx="2">
            <a:schemeClr val="accent2"/>
          </a:lnRef>
          <a:fillRef idx="1">
            <a:schemeClr val="lt1"/>
          </a:fillRef>
          <a:effectRef idx="0">
            <a:schemeClr val="accent2"/>
          </a:effectRef>
          <a:fontRef idx="minor">
            <a:schemeClr val="dk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Constantia"/>
                <a:ea typeface="宋体" pitchFamily="2" charset="-122"/>
                <a:cs typeface="+mn-cs"/>
              </a:rPr>
              <a:t>操作系统</a:t>
            </a:r>
            <a:endParaRPr kumimoji="1" lang="en-US" altLang="zh-CN" sz="2400" b="0" i="0" u="none" strike="noStrike" kern="1200" cap="none" spc="0" normalizeH="0" baseline="0" noProof="0" dirty="0">
              <a:ln>
                <a:noFill/>
              </a:ln>
              <a:solidFill>
                <a:prstClr val="black"/>
              </a:solidFill>
              <a:effectLst/>
              <a:uLnTx/>
              <a:uFillTx/>
              <a:latin typeface="Constantia"/>
              <a:ea typeface="宋体"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Constantia"/>
                <a:ea typeface="宋体" pitchFamily="2" charset="-122"/>
                <a:cs typeface="+mn-cs"/>
              </a:rPr>
              <a:t>OS</a:t>
            </a:r>
            <a:endParaRPr kumimoji="1" lang="zh-CN" altLang="en-US" sz="2400" b="0" i="0" u="none" strike="noStrike" kern="1200" cap="none" spc="0" normalizeH="0" baseline="0" noProof="0" dirty="0">
              <a:ln>
                <a:noFill/>
              </a:ln>
              <a:solidFill>
                <a:prstClr val="black"/>
              </a:solidFill>
              <a:effectLst/>
              <a:uLnTx/>
              <a:uFillTx/>
              <a:latin typeface="Constantia"/>
              <a:ea typeface="宋体" pitchFamily="2" charset="-122"/>
              <a:cs typeface="+mn-cs"/>
            </a:endParaRPr>
          </a:p>
        </p:txBody>
      </p:sp>
      <p:grpSp>
        <p:nvGrpSpPr>
          <p:cNvPr id="9" name="组合 31"/>
          <p:cNvGrpSpPr/>
          <p:nvPr/>
        </p:nvGrpSpPr>
        <p:grpSpPr bwMode="auto">
          <a:xfrm>
            <a:off x="3347864" y="1746658"/>
            <a:ext cx="5544616" cy="3842582"/>
            <a:chOff x="990600" y="304798"/>
            <a:chExt cx="7543800" cy="6124074"/>
          </a:xfrm>
        </p:grpSpPr>
        <p:sp>
          <p:nvSpPr>
            <p:cNvPr id="10" name="AutoShape 2"/>
            <p:cNvSpPr>
              <a:spLocks noChangeArrowheads="1"/>
            </p:cNvSpPr>
            <p:nvPr/>
          </p:nvSpPr>
          <p:spPr bwMode="auto">
            <a:xfrm>
              <a:off x="3038475" y="5410200"/>
              <a:ext cx="1676400" cy="990600"/>
            </a:xfrm>
            <a:prstGeom prst="flowChartMagneticDisk">
              <a:avLst/>
            </a:prstGeom>
            <a:solidFill>
              <a:schemeClr val="bg1"/>
            </a:solidFill>
            <a:ln w="9525">
              <a:solidFill>
                <a:schemeClr val="tx1"/>
              </a:solidFill>
              <a:miter lim="800000"/>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11" name="Rectangle 3"/>
            <p:cNvSpPr>
              <a:spLocks noChangeArrowheads="1"/>
            </p:cNvSpPr>
            <p:nvPr/>
          </p:nvSpPr>
          <p:spPr bwMode="auto">
            <a:xfrm>
              <a:off x="990600" y="304800"/>
              <a:ext cx="1600200" cy="578151"/>
            </a:xfrm>
            <a:prstGeom prst="rect">
              <a:avLst/>
            </a:prstGeom>
            <a:solidFill>
              <a:schemeClr val="bg1"/>
            </a:solidFill>
            <a:ln w="9525">
              <a:solidFill>
                <a:schemeClr val="tx1"/>
              </a:solidFill>
              <a:miter lim="800000"/>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12" name="Rectangle 4"/>
            <p:cNvSpPr>
              <a:spLocks noChangeArrowheads="1"/>
            </p:cNvSpPr>
            <p:nvPr/>
          </p:nvSpPr>
          <p:spPr bwMode="auto">
            <a:xfrm>
              <a:off x="3048000" y="304798"/>
              <a:ext cx="1600200" cy="587224"/>
            </a:xfrm>
            <a:prstGeom prst="rect">
              <a:avLst/>
            </a:prstGeom>
            <a:solidFill>
              <a:schemeClr val="bg1"/>
            </a:solidFill>
            <a:ln w="9525">
              <a:solidFill>
                <a:schemeClr val="tx1"/>
              </a:solidFill>
              <a:miter lim="800000"/>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13" name="Rectangle 5"/>
            <p:cNvSpPr>
              <a:spLocks noChangeArrowheads="1"/>
            </p:cNvSpPr>
            <p:nvPr/>
          </p:nvSpPr>
          <p:spPr bwMode="auto">
            <a:xfrm>
              <a:off x="5715000" y="304800"/>
              <a:ext cx="1600200" cy="539905"/>
            </a:xfrm>
            <a:prstGeom prst="rect">
              <a:avLst/>
            </a:prstGeom>
            <a:solidFill>
              <a:schemeClr val="bg1"/>
            </a:solidFill>
            <a:ln w="9525">
              <a:solidFill>
                <a:schemeClr val="tx1"/>
              </a:solidFill>
              <a:miter lim="800000"/>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14" name="AutoShape 6"/>
            <p:cNvSpPr>
              <a:spLocks noChangeArrowheads="1"/>
            </p:cNvSpPr>
            <p:nvPr/>
          </p:nvSpPr>
          <p:spPr bwMode="auto">
            <a:xfrm>
              <a:off x="2209801" y="2133600"/>
              <a:ext cx="3502557" cy="609600"/>
            </a:xfrm>
            <a:prstGeom prst="hexagon">
              <a:avLst>
                <a:gd name="adj" fmla="val 121875"/>
                <a:gd name="vf" fmla="val 115470"/>
              </a:avLst>
            </a:prstGeom>
            <a:solidFill>
              <a:schemeClr val="bg1"/>
            </a:solidFill>
            <a:ln w="9525">
              <a:solidFill>
                <a:schemeClr val="tx1"/>
              </a:solidFill>
              <a:miter lim="800000"/>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15" name="AutoShape 7"/>
            <p:cNvSpPr>
              <a:spLocks noChangeArrowheads="1"/>
            </p:cNvSpPr>
            <p:nvPr/>
          </p:nvSpPr>
          <p:spPr bwMode="auto">
            <a:xfrm>
              <a:off x="2209801" y="3086100"/>
              <a:ext cx="3733800" cy="1059182"/>
            </a:xfrm>
            <a:prstGeom prst="hexagon">
              <a:avLst>
                <a:gd name="adj" fmla="val 122500"/>
                <a:gd name="vf" fmla="val 115470"/>
              </a:avLst>
            </a:prstGeom>
            <a:solidFill>
              <a:schemeClr val="bg1"/>
            </a:solidFill>
            <a:ln w="9525">
              <a:solidFill>
                <a:schemeClr val="tx1"/>
              </a:solidFill>
              <a:miter lim="800000"/>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16" name="AutoShape 8"/>
            <p:cNvSpPr>
              <a:spLocks noChangeArrowheads="1"/>
            </p:cNvSpPr>
            <p:nvPr/>
          </p:nvSpPr>
          <p:spPr bwMode="auto">
            <a:xfrm>
              <a:off x="2460171" y="1143000"/>
              <a:ext cx="2841170" cy="609600"/>
            </a:xfrm>
            <a:prstGeom prst="hexagon">
              <a:avLst>
                <a:gd name="adj" fmla="val 87500"/>
                <a:gd name="vf" fmla="val 115470"/>
              </a:avLst>
            </a:prstGeom>
            <a:solidFill>
              <a:schemeClr val="bg1"/>
            </a:solidFill>
            <a:ln w="9525">
              <a:solidFill>
                <a:schemeClr val="tx1"/>
              </a:solidFill>
              <a:miter lim="800000"/>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17" name="AutoShape 9"/>
            <p:cNvSpPr>
              <a:spLocks noChangeArrowheads="1"/>
            </p:cNvSpPr>
            <p:nvPr/>
          </p:nvSpPr>
          <p:spPr bwMode="auto">
            <a:xfrm>
              <a:off x="2705101" y="4405330"/>
              <a:ext cx="2133600" cy="685800"/>
            </a:xfrm>
            <a:prstGeom prst="hexagon">
              <a:avLst>
                <a:gd name="adj" fmla="val 77778"/>
                <a:gd name="vf" fmla="val 115470"/>
              </a:avLst>
            </a:prstGeom>
            <a:solidFill>
              <a:schemeClr val="bg1"/>
            </a:solidFill>
            <a:ln w="9525">
              <a:solidFill>
                <a:schemeClr val="tx1"/>
              </a:solidFill>
              <a:miter lim="800000"/>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18" name="Rectangle 10"/>
            <p:cNvSpPr>
              <a:spLocks noChangeArrowheads="1"/>
            </p:cNvSpPr>
            <p:nvPr/>
          </p:nvSpPr>
          <p:spPr bwMode="auto">
            <a:xfrm>
              <a:off x="6379031" y="3276599"/>
              <a:ext cx="2155369" cy="533401"/>
            </a:xfrm>
            <a:prstGeom prst="rect">
              <a:avLst/>
            </a:prstGeom>
            <a:solidFill>
              <a:schemeClr val="bg1"/>
            </a:solidFill>
            <a:ln w="9525">
              <a:solidFill>
                <a:schemeClr val="tx1"/>
              </a:solidFill>
              <a:miter lim="800000"/>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数据库管理员</a:t>
              </a:r>
              <a:endParaRPr kumimoji="1" lang="zh-CN" altLang="en-US" sz="20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endParaRPr>
            </a:p>
          </p:txBody>
        </p:sp>
        <p:sp>
          <p:nvSpPr>
            <p:cNvPr id="19" name="Text Box 11"/>
            <p:cNvSpPr txBox="1">
              <a:spLocks noChangeArrowheads="1"/>
            </p:cNvSpPr>
            <p:nvPr/>
          </p:nvSpPr>
          <p:spPr bwMode="auto">
            <a:xfrm>
              <a:off x="1447800" y="304800"/>
              <a:ext cx="1219200" cy="396875"/>
            </a:xfrm>
            <a:prstGeom prst="rect">
              <a:avLst/>
            </a:prstGeom>
            <a:noFill/>
            <a:ln w="9525">
              <a:noFill/>
              <a:miter lim="800000"/>
            </a:ln>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000" b="0" i="0" u="none" strike="noStrike" kern="1200" cap="none" spc="0" normalizeH="0" baseline="0" noProof="0" dirty="0">
                  <a:ln>
                    <a:noFill/>
                  </a:ln>
                  <a:solidFill>
                    <a:prstClr val="black"/>
                  </a:solidFill>
                  <a:effectLst/>
                  <a:uLnTx/>
                  <a:uFillTx/>
                  <a:latin typeface="Tahoma" panose="020B0604030504040204" pitchFamily="34" charset="0"/>
                  <a:ea typeface="宋体" pitchFamily="2" charset="-122"/>
                  <a:cs typeface="+mn-cs"/>
                </a:rPr>
                <a:t>用户</a:t>
              </a:r>
              <a:endParaRPr kumimoji="1" lang="zh-CN" altLang="en-US" sz="2000" b="0" i="0" u="none" strike="noStrike" kern="1200" cap="none" spc="0" normalizeH="0" baseline="0" noProof="0" dirty="0">
                <a:ln>
                  <a:noFill/>
                </a:ln>
                <a:solidFill>
                  <a:prstClr val="black"/>
                </a:solidFill>
                <a:effectLst/>
                <a:uLnTx/>
                <a:uFillTx/>
                <a:latin typeface="Tahoma" panose="020B0604030504040204" pitchFamily="34" charset="0"/>
                <a:ea typeface="宋体" pitchFamily="2" charset="-122"/>
                <a:cs typeface="+mn-cs"/>
              </a:endParaRPr>
            </a:p>
          </p:txBody>
        </p:sp>
        <p:sp>
          <p:nvSpPr>
            <p:cNvPr id="20" name="Text Box 12"/>
            <p:cNvSpPr txBox="1">
              <a:spLocks noChangeArrowheads="1"/>
            </p:cNvSpPr>
            <p:nvPr/>
          </p:nvSpPr>
          <p:spPr bwMode="auto">
            <a:xfrm>
              <a:off x="3505200" y="304800"/>
              <a:ext cx="1219200" cy="396875"/>
            </a:xfrm>
            <a:prstGeom prst="rect">
              <a:avLst/>
            </a:prstGeom>
            <a:noFill/>
            <a:ln w="9525">
              <a:noFill/>
              <a:miter lim="800000"/>
            </a:ln>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000" b="0" i="0" u="none" strike="noStrike" kern="1200" cap="none" spc="0" normalizeH="0" baseline="0" noProof="0" dirty="0">
                  <a:ln>
                    <a:noFill/>
                  </a:ln>
                  <a:solidFill>
                    <a:prstClr val="black"/>
                  </a:solidFill>
                  <a:effectLst/>
                  <a:uLnTx/>
                  <a:uFillTx/>
                  <a:latin typeface="Tahoma" panose="020B0604030504040204" pitchFamily="34" charset="0"/>
                  <a:ea typeface="宋体" pitchFamily="2" charset="-122"/>
                  <a:cs typeface="+mn-cs"/>
                </a:rPr>
                <a:t>用户</a:t>
              </a:r>
              <a:endParaRPr kumimoji="1" lang="zh-CN" altLang="en-US" sz="2000" b="0" i="0" u="none" strike="noStrike" kern="1200" cap="none" spc="0" normalizeH="0" baseline="0" noProof="0" dirty="0">
                <a:ln>
                  <a:noFill/>
                </a:ln>
                <a:solidFill>
                  <a:prstClr val="black"/>
                </a:solidFill>
                <a:effectLst/>
                <a:uLnTx/>
                <a:uFillTx/>
                <a:latin typeface="Tahoma" panose="020B0604030504040204" pitchFamily="34" charset="0"/>
                <a:ea typeface="宋体" pitchFamily="2" charset="-122"/>
                <a:cs typeface="+mn-cs"/>
              </a:endParaRPr>
            </a:p>
          </p:txBody>
        </p:sp>
        <p:sp>
          <p:nvSpPr>
            <p:cNvPr id="21" name="Text Box 13"/>
            <p:cNvSpPr txBox="1">
              <a:spLocks noChangeArrowheads="1"/>
            </p:cNvSpPr>
            <p:nvPr/>
          </p:nvSpPr>
          <p:spPr bwMode="auto">
            <a:xfrm>
              <a:off x="6172200" y="304800"/>
              <a:ext cx="1371600" cy="396875"/>
            </a:xfrm>
            <a:prstGeom prst="rect">
              <a:avLst/>
            </a:prstGeom>
            <a:noFill/>
            <a:ln w="9525">
              <a:noFill/>
              <a:miter lim="800000"/>
            </a:ln>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000" b="0" i="0" u="none" strike="noStrike" kern="1200" cap="none" spc="0" normalizeH="0" baseline="0" noProof="0">
                  <a:ln>
                    <a:noFill/>
                  </a:ln>
                  <a:solidFill>
                    <a:prstClr val="black"/>
                  </a:solidFill>
                  <a:effectLst/>
                  <a:uLnTx/>
                  <a:uFillTx/>
                  <a:latin typeface="Tahoma" panose="020B0604030504040204" pitchFamily="34" charset="0"/>
                  <a:ea typeface="宋体" pitchFamily="2" charset="-122"/>
                  <a:cs typeface="+mn-cs"/>
                </a:rPr>
                <a:t>用户</a:t>
              </a:r>
              <a:endParaRPr kumimoji="1" lang="zh-CN" altLang="en-US" sz="2000" b="0" i="0" u="none" strike="noStrike" kern="1200" cap="none" spc="0" normalizeH="0" baseline="0" noProof="0">
                <a:ln>
                  <a:noFill/>
                </a:ln>
                <a:solidFill>
                  <a:prstClr val="black"/>
                </a:solidFill>
                <a:effectLst/>
                <a:uLnTx/>
                <a:uFillTx/>
                <a:latin typeface="Tahoma" panose="020B0604030504040204" pitchFamily="34" charset="0"/>
                <a:ea typeface="宋体" pitchFamily="2" charset="-122"/>
                <a:cs typeface="+mn-cs"/>
              </a:endParaRPr>
            </a:p>
          </p:txBody>
        </p:sp>
        <p:sp>
          <p:nvSpPr>
            <p:cNvPr id="22" name="Text Box 14"/>
            <p:cNvSpPr txBox="1">
              <a:spLocks noChangeArrowheads="1"/>
            </p:cNvSpPr>
            <p:nvPr/>
          </p:nvSpPr>
          <p:spPr bwMode="auto">
            <a:xfrm>
              <a:off x="2895599" y="1219200"/>
              <a:ext cx="1828800" cy="637671"/>
            </a:xfrm>
            <a:prstGeom prst="rect">
              <a:avLst/>
            </a:prstGeom>
            <a:noFill/>
            <a:ln w="9525">
              <a:noFill/>
              <a:miter lim="800000"/>
            </a:ln>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000" b="0" i="0" u="none" strike="noStrike" kern="1200" cap="none" spc="0" normalizeH="0" baseline="0" noProof="0" dirty="0">
                  <a:ln>
                    <a:noFill/>
                  </a:ln>
                  <a:solidFill>
                    <a:prstClr val="black"/>
                  </a:solidFill>
                  <a:effectLst/>
                  <a:uLnTx/>
                  <a:uFillTx/>
                  <a:latin typeface="Tahoma" panose="020B0604030504040204" pitchFamily="34" charset="0"/>
                  <a:ea typeface="宋体" pitchFamily="2" charset="-122"/>
                  <a:cs typeface="+mn-cs"/>
                </a:rPr>
                <a:t>应用系统</a:t>
              </a:r>
              <a:endParaRPr kumimoji="1" lang="zh-CN" altLang="en-US" sz="2000" b="0" i="0" u="none" strike="noStrike" kern="1200" cap="none" spc="0" normalizeH="0" baseline="0" noProof="0" dirty="0">
                <a:ln>
                  <a:noFill/>
                </a:ln>
                <a:solidFill>
                  <a:prstClr val="black"/>
                </a:solidFill>
                <a:effectLst/>
                <a:uLnTx/>
                <a:uFillTx/>
                <a:latin typeface="Tahoma" panose="020B0604030504040204" pitchFamily="34" charset="0"/>
                <a:ea typeface="宋体" pitchFamily="2" charset="-122"/>
                <a:cs typeface="+mn-cs"/>
              </a:endParaRPr>
            </a:p>
          </p:txBody>
        </p:sp>
        <p:sp>
          <p:nvSpPr>
            <p:cNvPr id="23" name="Text Box 15"/>
            <p:cNvSpPr txBox="1">
              <a:spLocks noChangeArrowheads="1"/>
            </p:cNvSpPr>
            <p:nvPr/>
          </p:nvSpPr>
          <p:spPr bwMode="auto">
            <a:xfrm>
              <a:off x="2743200" y="2209801"/>
              <a:ext cx="2362200" cy="637671"/>
            </a:xfrm>
            <a:prstGeom prst="rect">
              <a:avLst/>
            </a:prstGeom>
            <a:noFill/>
            <a:ln w="9525">
              <a:noFill/>
              <a:miter lim="800000"/>
            </a:ln>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000" b="0" i="0" u="none" strike="noStrike" kern="1200" cap="none" spc="0" normalizeH="0" baseline="0" noProof="0" dirty="0">
                  <a:ln>
                    <a:noFill/>
                  </a:ln>
                  <a:solidFill>
                    <a:prstClr val="black"/>
                  </a:solidFill>
                  <a:effectLst/>
                  <a:uLnTx/>
                  <a:uFillTx/>
                  <a:latin typeface="Tahoma" panose="020B0604030504040204" pitchFamily="34" charset="0"/>
                  <a:ea typeface="宋体" pitchFamily="2" charset="-122"/>
                  <a:cs typeface="+mn-cs"/>
                </a:rPr>
                <a:t>应用开发工具</a:t>
              </a:r>
              <a:endParaRPr kumimoji="1" lang="zh-CN" altLang="en-US" sz="2000" b="0" i="0" u="none" strike="noStrike" kern="1200" cap="none" spc="0" normalizeH="0" baseline="0" noProof="0" dirty="0">
                <a:ln>
                  <a:noFill/>
                </a:ln>
                <a:solidFill>
                  <a:prstClr val="black"/>
                </a:solidFill>
                <a:effectLst/>
                <a:uLnTx/>
                <a:uFillTx/>
                <a:latin typeface="Tahoma" panose="020B0604030504040204" pitchFamily="34" charset="0"/>
                <a:ea typeface="宋体" pitchFamily="2" charset="-122"/>
                <a:cs typeface="+mn-cs"/>
              </a:endParaRPr>
            </a:p>
          </p:txBody>
        </p:sp>
        <p:sp>
          <p:nvSpPr>
            <p:cNvPr id="24" name="Text Box 16"/>
            <p:cNvSpPr txBox="1">
              <a:spLocks noChangeArrowheads="1"/>
            </p:cNvSpPr>
            <p:nvPr/>
          </p:nvSpPr>
          <p:spPr bwMode="auto">
            <a:xfrm>
              <a:off x="3072890" y="3130700"/>
              <a:ext cx="1651509" cy="1128186"/>
            </a:xfrm>
            <a:prstGeom prst="rect">
              <a:avLst/>
            </a:prstGeom>
            <a:noFill/>
            <a:ln w="9525">
              <a:noFill/>
              <a:miter lim="800000"/>
            </a:ln>
          </p:spPr>
          <p:txBody>
            <a:bodyPr wrap="square">
              <a:spAutoFit/>
            </a:bodyPr>
            <a:lstStyle/>
            <a:p>
              <a:pPr marL="0" marR="0" lvl="0" indent="0" algn="ctr" defTabSz="914400" rtl="0" eaLnBrk="1" fontAlgn="base" latinLnBrk="0" hangingPunct="1">
                <a:lnSpc>
                  <a:spcPct val="100000"/>
                </a:lnSpc>
                <a:spcBef>
                  <a:spcPts val="0"/>
                </a:spcBef>
                <a:spcAft>
                  <a:spcPct val="0"/>
                </a:spcAft>
                <a:buClrTx/>
                <a:buSzTx/>
                <a:buFontTx/>
                <a:buNone/>
                <a:defRPr/>
              </a:pPr>
              <a:r>
                <a:rPr kumimoji="1" lang="zh-CN" altLang="en-US" sz="2000" b="0" i="0" u="none" strike="noStrike" kern="1200" cap="none" spc="0" normalizeH="0" baseline="0" noProof="0" dirty="0">
                  <a:ln>
                    <a:noFill/>
                  </a:ln>
                  <a:solidFill>
                    <a:prstClr val="black"/>
                  </a:solidFill>
                  <a:effectLst/>
                  <a:uLnTx/>
                  <a:uFillTx/>
                  <a:latin typeface="Tahoma" panose="020B0604030504040204" pitchFamily="34" charset="0"/>
                  <a:ea typeface="宋体" pitchFamily="2" charset="-122"/>
                  <a:cs typeface="+mn-cs"/>
                </a:rPr>
                <a:t>数据库</a:t>
              </a:r>
              <a:endParaRPr kumimoji="1" lang="en-US" altLang="zh-CN" sz="2000" b="0" i="0" u="none" strike="noStrike" kern="1200" cap="none" spc="0" normalizeH="0" baseline="0" noProof="0" dirty="0">
                <a:ln>
                  <a:noFill/>
                </a:ln>
                <a:solidFill>
                  <a:prstClr val="black"/>
                </a:solidFill>
                <a:effectLst/>
                <a:uLnTx/>
                <a:uFillTx/>
                <a:latin typeface="Tahoma" panose="020B0604030504040204" pitchFamily="34" charset="0"/>
                <a:ea typeface="宋体" pitchFamily="2" charset="-122"/>
                <a:cs typeface="+mn-cs"/>
              </a:endParaRPr>
            </a:p>
            <a:p>
              <a:pPr marL="0" marR="0" lvl="0" indent="0" algn="ctr" defTabSz="914400" rtl="0" eaLnBrk="1" fontAlgn="base" latinLnBrk="0" hangingPunct="1">
                <a:lnSpc>
                  <a:spcPct val="100000"/>
                </a:lnSpc>
                <a:spcBef>
                  <a:spcPts val="0"/>
                </a:spcBef>
                <a:spcAft>
                  <a:spcPct val="0"/>
                </a:spcAft>
                <a:buClrTx/>
                <a:buSzTx/>
                <a:buFontTx/>
                <a:buNone/>
                <a:defRPr/>
              </a:pPr>
              <a:r>
                <a:rPr kumimoji="1" lang="zh-CN" altLang="en-US" sz="2000" b="0" i="0" u="none" strike="noStrike" kern="1200" cap="none" spc="0" normalizeH="0" baseline="0" noProof="0" dirty="0">
                  <a:ln>
                    <a:noFill/>
                  </a:ln>
                  <a:solidFill>
                    <a:prstClr val="black"/>
                  </a:solidFill>
                  <a:effectLst/>
                  <a:uLnTx/>
                  <a:uFillTx/>
                  <a:latin typeface="Tahoma" panose="020B0604030504040204" pitchFamily="34" charset="0"/>
                  <a:ea typeface="宋体" pitchFamily="2" charset="-122"/>
                  <a:cs typeface="+mn-cs"/>
                </a:rPr>
                <a:t>管理系统</a:t>
              </a:r>
              <a:endParaRPr kumimoji="1" lang="zh-CN" altLang="en-US" sz="2000" b="0" i="0" u="none" strike="noStrike" kern="1200" cap="none" spc="0" normalizeH="0" baseline="0" noProof="0" dirty="0">
                <a:ln>
                  <a:noFill/>
                </a:ln>
                <a:solidFill>
                  <a:prstClr val="black"/>
                </a:solidFill>
                <a:effectLst/>
                <a:uLnTx/>
                <a:uFillTx/>
                <a:latin typeface="Tahoma" panose="020B0604030504040204" pitchFamily="34" charset="0"/>
                <a:ea typeface="宋体" pitchFamily="2" charset="-122"/>
                <a:cs typeface="+mn-cs"/>
              </a:endParaRPr>
            </a:p>
          </p:txBody>
        </p:sp>
        <p:sp>
          <p:nvSpPr>
            <p:cNvPr id="25" name="Text Box 17"/>
            <p:cNvSpPr txBox="1">
              <a:spLocks noChangeArrowheads="1"/>
            </p:cNvSpPr>
            <p:nvPr/>
          </p:nvSpPr>
          <p:spPr bwMode="auto">
            <a:xfrm>
              <a:off x="3029502" y="4484620"/>
              <a:ext cx="1752599" cy="637671"/>
            </a:xfrm>
            <a:prstGeom prst="rect">
              <a:avLst/>
            </a:prstGeom>
            <a:noFill/>
            <a:ln w="9525">
              <a:noFill/>
              <a:miter lim="800000"/>
            </a:ln>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000" b="0" i="0" u="none" strike="noStrike" kern="1200" cap="none" spc="0" normalizeH="0" baseline="0" noProof="0" dirty="0">
                  <a:ln>
                    <a:noFill/>
                  </a:ln>
                  <a:solidFill>
                    <a:prstClr val="black"/>
                  </a:solidFill>
                  <a:effectLst/>
                  <a:uLnTx/>
                  <a:uFillTx/>
                  <a:latin typeface="Tahoma" panose="020B0604030504040204" pitchFamily="34" charset="0"/>
                  <a:ea typeface="宋体" pitchFamily="2" charset="-122"/>
                  <a:cs typeface="+mn-cs"/>
                </a:rPr>
                <a:t>操作系统</a:t>
              </a:r>
              <a:endParaRPr kumimoji="1" lang="zh-CN" altLang="en-US" sz="2000" b="0" i="0" u="none" strike="noStrike" kern="1200" cap="none" spc="0" normalizeH="0" baseline="0" noProof="0" dirty="0">
                <a:ln>
                  <a:noFill/>
                </a:ln>
                <a:solidFill>
                  <a:prstClr val="black"/>
                </a:solidFill>
                <a:effectLst/>
                <a:uLnTx/>
                <a:uFillTx/>
                <a:latin typeface="Tahoma" panose="020B0604030504040204" pitchFamily="34" charset="0"/>
                <a:ea typeface="宋体" pitchFamily="2" charset="-122"/>
                <a:cs typeface="+mn-cs"/>
              </a:endParaRPr>
            </a:p>
          </p:txBody>
        </p:sp>
        <p:sp>
          <p:nvSpPr>
            <p:cNvPr id="26" name="Text Box 18"/>
            <p:cNvSpPr txBox="1">
              <a:spLocks noChangeArrowheads="1"/>
            </p:cNvSpPr>
            <p:nvPr/>
          </p:nvSpPr>
          <p:spPr bwMode="auto">
            <a:xfrm>
              <a:off x="3200400" y="5791201"/>
              <a:ext cx="1447800" cy="637671"/>
            </a:xfrm>
            <a:prstGeom prst="rect">
              <a:avLst/>
            </a:prstGeom>
            <a:noFill/>
            <a:ln w="9525">
              <a:noFill/>
              <a:miter lim="800000"/>
            </a:ln>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000" b="0" i="0" u="none" strike="noStrike" kern="1200" cap="none" spc="0" normalizeH="0" baseline="0" noProof="0">
                  <a:ln>
                    <a:noFill/>
                  </a:ln>
                  <a:solidFill>
                    <a:prstClr val="black"/>
                  </a:solidFill>
                  <a:effectLst/>
                  <a:uLnTx/>
                  <a:uFillTx/>
                  <a:latin typeface="Tahoma" panose="020B0604030504040204" pitchFamily="34" charset="0"/>
                  <a:ea typeface="宋体" pitchFamily="2" charset="-122"/>
                  <a:cs typeface="+mn-cs"/>
                </a:rPr>
                <a:t>数据库</a:t>
              </a:r>
              <a:endParaRPr kumimoji="1" lang="zh-CN" altLang="en-US" sz="2000" b="0" i="0" u="none" strike="noStrike" kern="1200" cap="none" spc="0" normalizeH="0" baseline="0" noProof="0">
                <a:ln>
                  <a:noFill/>
                </a:ln>
                <a:solidFill>
                  <a:prstClr val="black"/>
                </a:solidFill>
                <a:effectLst/>
                <a:uLnTx/>
                <a:uFillTx/>
                <a:latin typeface="Tahoma" panose="020B0604030504040204" pitchFamily="34" charset="0"/>
                <a:ea typeface="宋体" pitchFamily="2" charset="-122"/>
                <a:cs typeface="+mn-cs"/>
              </a:endParaRPr>
            </a:p>
          </p:txBody>
        </p:sp>
        <p:sp>
          <p:nvSpPr>
            <p:cNvPr id="27" name="Line 19"/>
            <p:cNvSpPr>
              <a:spLocks noChangeShapeType="1"/>
            </p:cNvSpPr>
            <p:nvPr/>
          </p:nvSpPr>
          <p:spPr bwMode="auto">
            <a:xfrm flipH="1">
              <a:off x="5943599" y="3579944"/>
              <a:ext cx="435432" cy="1457"/>
            </a:xfrm>
            <a:prstGeom prst="line">
              <a:avLst/>
            </a:prstGeom>
            <a:noFill/>
            <a:ln w="9525">
              <a:solidFill>
                <a:schemeClr val="tx1"/>
              </a:solidFill>
              <a:miter lim="800000"/>
              <a:tailEnd type="triangle" w="med" len="me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28" name="Line 20"/>
            <p:cNvSpPr>
              <a:spLocks noChangeShapeType="1"/>
            </p:cNvSpPr>
            <p:nvPr/>
          </p:nvSpPr>
          <p:spPr bwMode="auto">
            <a:xfrm>
              <a:off x="7723752" y="3810000"/>
              <a:ext cx="0" cy="990600"/>
            </a:xfrm>
            <a:prstGeom prst="line">
              <a:avLst/>
            </a:prstGeom>
            <a:noFill/>
            <a:ln w="9525">
              <a:solidFill>
                <a:schemeClr val="tx1"/>
              </a:solidFill>
              <a:miter lim="800000"/>
            </a:ln>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29" name="Line 21"/>
            <p:cNvSpPr>
              <a:spLocks noChangeShapeType="1"/>
            </p:cNvSpPr>
            <p:nvPr/>
          </p:nvSpPr>
          <p:spPr bwMode="auto">
            <a:xfrm flipH="1">
              <a:off x="4838697" y="4746774"/>
              <a:ext cx="2900428" cy="1455"/>
            </a:xfrm>
            <a:prstGeom prst="line">
              <a:avLst/>
            </a:prstGeom>
            <a:noFill/>
            <a:ln w="9525">
              <a:solidFill>
                <a:schemeClr val="tx1"/>
              </a:solidFill>
              <a:miter lim="800000"/>
              <a:tailEnd type="triangle" w="med" len="me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30" name="Line 22"/>
            <p:cNvSpPr>
              <a:spLocks noChangeShapeType="1"/>
            </p:cNvSpPr>
            <p:nvPr/>
          </p:nvSpPr>
          <p:spPr bwMode="auto">
            <a:xfrm>
              <a:off x="2460171" y="855091"/>
              <a:ext cx="816429" cy="287911"/>
            </a:xfrm>
            <a:prstGeom prst="line">
              <a:avLst/>
            </a:prstGeom>
            <a:noFill/>
            <a:ln w="9525">
              <a:solidFill>
                <a:schemeClr val="tx1"/>
              </a:solidFill>
              <a:miter lim="800000"/>
              <a:tailEnd type="triangle" w="med" len="me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31" name="Line 23"/>
            <p:cNvSpPr>
              <a:spLocks noChangeShapeType="1"/>
            </p:cNvSpPr>
            <p:nvPr/>
          </p:nvSpPr>
          <p:spPr bwMode="auto">
            <a:xfrm>
              <a:off x="3886199" y="844704"/>
              <a:ext cx="0" cy="298295"/>
            </a:xfrm>
            <a:prstGeom prst="line">
              <a:avLst/>
            </a:prstGeom>
            <a:noFill/>
            <a:ln w="9525">
              <a:solidFill>
                <a:schemeClr val="tx1"/>
              </a:solidFill>
              <a:miter lim="800000"/>
              <a:tailEnd type="triangle" w="med" len="me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32" name="Line 24"/>
            <p:cNvSpPr>
              <a:spLocks noChangeShapeType="1"/>
            </p:cNvSpPr>
            <p:nvPr/>
          </p:nvSpPr>
          <p:spPr bwMode="auto">
            <a:xfrm flipH="1">
              <a:off x="4343399" y="833443"/>
              <a:ext cx="1545762" cy="309558"/>
            </a:xfrm>
            <a:prstGeom prst="line">
              <a:avLst/>
            </a:prstGeom>
            <a:noFill/>
            <a:ln w="9525">
              <a:solidFill>
                <a:schemeClr val="tx1"/>
              </a:solidFill>
              <a:miter lim="800000"/>
              <a:tailEnd type="triangle" w="med" len="me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33" name="Line 25"/>
            <p:cNvSpPr>
              <a:spLocks noChangeShapeType="1"/>
            </p:cNvSpPr>
            <p:nvPr/>
          </p:nvSpPr>
          <p:spPr bwMode="auto">
            <a:xfrm>
              <a:off x="3886200" y="1752600"/>
              <a:ext cx="0" cy="381000"/>
            </a:xfrm>
            <a:prstGeom prst="line">
              <a:avLst/>
            </a:prstGeom>
            <a:noFill/>
            <a:ln w="9525">
              <a:solidFill>
                <a:schemeClr val="tx1"/>
              </a:solidFill>
              <a:miter lim="800000"/>
            </a:ln>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34" name="Line 26"/>
            <p:cNvSpPr>
              <a:spLocks noChangeShapeType="1"/>
            </p:cNvSpPr>
            <p:nvPr/>
          </p:nvSpPr>
          <p:spPr bwMode="auto">
            <a:xfrm>
              <a:off x="3857625" y="2743200"/>
              <a:ext cx="0" cy="342899"/>
            </a:xfrm>
            <a:prstGeom prst="line">
              <a:avLst/>
            </a:prstGeom>
            <a:noFill/>
            <a:ln w="9525">
              <a:solidFill>
                <a:schemeClr val="tx1"/>
              </a:solidFill>
              <a:miter lim="800000"/>
            </a:ln>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35" name="Line 27"/>
            <p:cNvSpPr>
              <a:spLocks noChangeShapeType="1"/>
            </p:cNvSpPr>
            <p:nvPr/>
          </p:nvSpPr>
          <p:spPr bwMode="auto">
            <a:xfrm>
              <a:off x="3857623" y="4159551"/>
              <a:ext cx="0" cy="260049"/>
            </a:xfrm>
            <a:prstGeom prst="line">
              <a:avLst/>
            </a:prstGeom>
            <a:noFill/>
            <a:ln w="9525">
              <a:solidFill>
                <a:schemeClr val="tx1"/>
              </a:solidFill>
              <a:miter lim="800000"/>
            </a:ln>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36" name="Line 28"/>
            <p:cNvSpPr>
              <a:spLocks noChangeShapeType="1"/>
            </p:cNvSpPr>
            <p:nvPr/>
          </p:nvSpPr>
          <p:spPr bwMode="auto">
            <a:xfrm>
              <a:off x="3857625" y="5105400"/>
              <a:ext cx="0" cy="304800"/>
            </a:xfrm>
            <a:prstGeom prst="line">
              <a:avLst/>
            </a:prstGeom>
            <a:noFill/>
            <a:ln w="9525">
              <a:solidFill>
                <a:schemeClr val="tx1"/>
              </a:solidFill>
              <a:miter lim="800000"/>
            </a:ln>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grpSp>
      <p:sp>
        <p:nvSpPr>
          <p:cNvPr id="2" name="箭头: 右 1"/>
          <p:cNvSpPr/>
          <p:nvPr/>
        </p:nvSpPr>
        <p:spPr>
          <a:xfrm>
            <a:off x="2483768" y="2635682"/>
            <a:ext cx="728077" cy="28926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white"/>
              </a:solidFill>
              <a:effectLst/>
              <a:uLnTx/>
              <a:uFillTx/>
              <a:latin typeface="Constantia"/>
              <a:ea typeface="宋体" pitchFamily="2" charset="-122"/>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3"/>
          <p:cNvSpPr>
            <a:spLocks noGrp="1" noChangeArrowheads="1"/>
          </p:cNvSpPr>
          <p:nvPr>
            <p:ph idx="1"/>
          </p:nvPr>
        </p:nvSpPr>
        <p:spPr>
          <a:xfrm>
            <a:off x="251520" y="1196752"/>
            <a:ext cx="8110537" cy="5544616"/>
          </a:xfrm>
        </p:spPr>
        <p:txBody>
          <a:bodyPr/>
          <a:lstStyle/>
          <a:p>
            <a:pPr marL="0" indent="0" eaLnBrk="1" hangingPunct="1">
              <a:lnSpc>
                <a:spcPct val="80000"/>
              </a:lnSpc>
              <a:buFont typeface="Wingdings" panose="05000000000000000000" pitchFamily="2" charset="2"/>
              <a:buNone/>
            </a:pPr>
            <a:r>
              <a:rPr lang="zh-CN" altLang="en-US" sz="2800" b="1" dirty="0">
                <a:latin typeface="黑体" panose="02010609060101010101" pitchFamily="49" charset="-122"/>
                <a:ea typeface="黑体" panose="02010609060101010101" pitchFamily="49" charset="-122"/>
              </a:rPr>
              <a:t>数据库领域有定期举行了多年的顶级国际学术会议和期刊</a:t>
            </a:r>
            <a:endParaRPr lang="en-US" altLang="zh-CN" sz="2800" b="1" dirty="0">
              <a:latin typeface="黑体" panose="02010609060101010101" pitchFamily="49" charset="-122"/>
              <a:ea typeface="黑体" panose="02010609060101010101" pitchFamily="49" charset="-122"/>
            </a:endParaRPr>
          </a:p>
          <a:p>
            <a:pPr marL="0" indent="0" eaLnBrk="1" hangingPunct="1">
              <a:lnSpc>
                <a:spcPct val="80000"/>
              </a:lnSpc>
              <a:buFont typeface="Wingdings" panose="05000000000000000000" pitchFamily="2" charset="2"/>
              <a:buNone/>
            </a:pPr>
            <a:endParaRPr lang="zh-CN" altLang="en-US" sz="2400" dirty="0"/>
          </a:p>
          <a:p>
            <a:pPr marL="0" indent="0" eaLnBrk="1" hangingPunct="1">
              <a:lnSpc>
                <a:spcPct val="80000"/>
              </a:lnSpc>
              <a:buFont typeface="Wingdings" panose="05000000000000000000" pitchFamily="2" charset="2"/>
              <a:buNone/>
            </a:pPr>
            <a:r>
              <a:rPr lang="zh-CN" altLang="en-US" sz="2400" b="1" dirty="0">
                <a:latin typeface="黑体" panose="02010609060101010101" pitchFamily="49" charset="-122"/>
                <a:ea typeface="黑体" panose="02010609060101010101" pitchFamily="49" charset="-122"/>
              </a:rPr>
              <a:t>三大会议</a:t>
            </a:r>
            <a:endParaRPr lang="zh-CN" altLang="en-US" sz="2400" b="1" dirty="0">
              <a:latin typeface="黑体" panose="02010609060101010101" pitchFamily="49" charset="-122"/>
              <a:ea typeface="黑体" panose="02010609060101010101" pitchFamily="49" charset="-122"/>
            </a:endParaRPr>
          </a:p>
          <a:p>
            <a:pPr marL="0" indent="0" eaLnBrk="1" hangingPunct="1">
              <a:lnSpc>
                <a:spcPct val="80000"/>
              </a:lnSpc>
              <a:buFont typeface="Wingdings" panose="05000000000000000000" pitchFamily="2" charset="2"/>
              <a:buNone/>
            </a:pPr>
            <a:r>
              <a:rPr lang="en-US" altLang="zh-CN" sz="2400" dirty="0">
                <a:solidFill>
                  <a:srgbClr val="FF0000"/>
                </a:solidFill>
              </a:rPr>
              <a:t>ICDE</a:t>
            </a:r>
            <a:r>
              <a:rPr lang="en-US" altLang="zh-CN" sz="2400" dirty="0">
                <a:latin typeface="Times New Roman" panose="02020503050405090304" pitchFamily="18" charset="0"/>
              </a:rPr>
              <a:t>——</a:t>
            </a:r>
            <a:r>
              <a:rPr lang="en-US" altLang="zh-CN" sz="2400" i="1" dirty="0"/>
              <a:t>International Conference on Data Engineering</a:t>
            </a:r>
            <a:endParaRPr lang="en-US" altLang="zh-CN" sz="2400" i="1" dirty="0"/>
          </a:p>
          <a:p>
            <a:pPr marL="0" indent="0" eaLnBrk="1" hangingPunct="1">
              <a:lnSpc>
                <a:spcPct val="80000"/>
              </a:lnSpc>
              <a:buFont typeface="Wingdings" panose="05000000000000000000" pitchFamily="2" charset="2"/>
              <a:buNone/>
            </a:pPr>
            <a:r>
              <a:rPr lang="en-US" altLang="zh-CN" sz="2400" dirty="0">
                <a:solidFill>
                  <a:srgbClr val="FF0000"/>
                </a:solidFill>
              </a:rPr>
              <a:t>SIGMOD</a:t>
            </a:r>
            <a:r>
              <a:rPr lang="en-US" altLang="zh-CN" sz="2400" dirty="0">
                <a:latin typeface="Times New Roman" panose="02020503050405090304" pitchFamily="18" charset="0"/>
              </a:rPr>
              <a:t>——</a:t>
            </a:r>
            <a:r>
              <a:rPr lang="en-US" altLang="zh-CN" sz="2400" i="1" dirty="0"/>
              <a:t>Special Interest Group on Management Of Data</a:t>
            </a:r>
            <a:endParaRPr lang="en-US" altLang="zh-CN" sz="2400" i="1" dirty="0"/>
          </a:p>
          <a:p>
            <a:pPr marL="0" indent="0" eaLnBrk="1" hangingPunct="1">
              <a:lnSpc>
                <a:spcPct val="80000"/>
              </a:lnSpc>
              <a:buFont typeface="Wingdings" panose="05000000000000000000" pitchFamily="2" charset="2"/>
              <a:buNone/>
            </a:pPr>
            <a:r>
              <a:rPr lang="en-US" altLang="zh-CN" sz="2400" dirty="0">
                <a:solidFill>
                  <a:srgbClr val="FF0000"/>
                </a:solidFill>
              </a:rPr>
              <a:t>VLDB</a:t>
            </a:r>
            <a:r>
              <a:rPr lang="en-US" altLang="zh-CN" sz="2400" dirty="0">
                <a:latin typeface="Times New Roman" panose="02020503050405090304" pitchFamily="18" charset="0"/>
              </a:rPr>
              <a:t>——</a:t>
            </a:r>
            <a:r>
              <a:rPr lang="en-US" altLang="zh-CN" sz="2400" i="1" dirty="0"/>
              <a:t>International Conference on Very Large Data Bases</a:t>
            </a:r>
            <a:r>
              <a:rPr lang="en-US" altLang="zh-CN" sz="2400" dirty="0"/>
              <a:t> </a:t>
            </a:r>
            <a:endParaRPr lang="en-US" altLang="zh-CN" sz="2400" dirty="0"/>
          </a:p>
          <a:p>
            <a:pPr marL="0" indent="0" eaLnBrk="1" hangingPunct="1">
              <a:lnSpc>
                <a:spcPct val="80000"/>
              </a:lnSpc>
              <a:buFont typeface="Wingdings" panose="05000000000000000000" pitchFamily="2" charset="2"/>
              <a:buNone/>
            </a:pPr>
            <a:endParaRPr lang="en-US" altLang="zh-CN" sz="2400" dirty="0"/>
          </a:p>
          <a:p>
            <a:pPr marL="0" indent="0" eaLnBrk="1" hangingPunct="1">
              <a:lnSpc>
                <a:spcPct val="80000"/>
              </a:lnSpc>
              <a:buNone/>
            </a:pPr>
            <a:r>
              <a:rPr lang="zh-CN" altLang="en-US" sz="2400" b="1" dirty="0">
                <a:latin typeface="黑体" panose="02010609060101010101" pitchFamily="49" charset="-122"/>
                <a:ea typeface="黑体" panose="02010609060101010101" pitchFamily="49" charset="-122"/>
              </a:rPr>
              <a:t>期刊</a:t>
            </a:r>
            <a:endParaRPr lang="zh-CN" altLang="en-US" sz="2400" b="1" dirty="0">
              <a:latin typeface="黑体" panose="02010609060101010101" pitchFamily="49" charset="-122"/>
              <a:ea typeface="黑体" panose="02010609060101010101" pitchFamily="49" charset="-122"/>
            </a:endParaRPr>
          </a:p>
          <a:p>
            <a:pPr marL="0" indent="0" eaLnBrk="1" hangingPunct="1">
              <a:lnSpc>
                <a:spcPct val="80000"/>
              </a:lnSpc>
              <a:buFont typeface="Wingdings" panose="05000000000000000000" pitchFamily="2" charset="2"/>
              <a:buNone/>
            </a:pPr>
            <a:r>
              <a:rPr lang="en-US" altLang="zh-CN" sz="2400" dirty="0">
                <a:solidFill>
                  <a:srgbClr val="FF0000"/>
                </a:solidFill>
              </a:rPr>
              <a:t>TKDE</a:t>
            </a:r>
            <a:r>
              <a:rPr lang="en-US" altLang="zh-CN" sz="2400" dirty="0">
                <a:latin typeface="Times New Roman" panose="02020503050405090304" pitchFamily="18" charset="0"/>
              </a:rPr>
              <a:t>——</a:t>
            </a:r>
            <a:r>
              <a:rPr lang="en-US" altLang="zh-CN" sz="2400" i="1" dirty="0"/>
              <a:t>IEEE Transactions on Knowledge and Data Engineering</a:t>
            </a:r>
            <a:r>
              <a:rPr lang="en-US" altLang="zh-CN" sz="2400" dirty="0"/>
              <a:t> </a:t>
            </a:r>
            <a:endParaRPr lang="en-US" altLang="zh-CN" sz="2400" dirty="0"/>
          </a:p>
          <a:p>
            <a:pPr marL="0" indent="0" eaLnBrk="1" hangingPunct="1">
              <a:lnSpc>
                <a:spcPct val="80000"/>
              </a:lnSpc>
              <a:buFont typeface="Wingdings" panose="05000000000000000000" pitchFamily="2" charset="2"/>
              <a:buNone/>
            </a:pPr>
            <a:endParaRPr lang="en-US" altLang="zh-CN" sz="2400" dirty="0"/>
          </a:p>
          <a:p>
            <a:pPr marL="0" indent="0" eaLnBrk="1" hangingPunct="1">
              <a:lnSpc>
                <a:spcPct val="80000"/>
              </a:lnSpc>
              <a:buFont typeface="Wingdings" panose="05000000000000000000" pitchFamily="2" charset="2"/>
              <a:buNone/>
            </a:pPr>
            <a:r>
              <a:rPr lang="zh-CN" altLang="en-US" sz="2400" b="1" dirty="0">
                <a:latin typeface="黑体" panose="02010609060101010101" pitchFamily="49" charset="-122"/>
                <a:ea typeface="黑体" panose="02010609060101010101" pitchFamily="49" charset="-122"/>
              </a:rPr>
              <a:t>中国数据库学术会议：</a:t>
            </a:r>
            <a:r>
              <a:rPr lang="en-US" altLang="zh-CN" sz="2400" dirty="0"/>
              <a:t>NDBC    </a:t>
            </a:r>
            <a:r>
              <a:rPr lang="zh-CN" altLang="en-US" sz="2400" dirty="0"/>
              <a:t>（</a:t>
            </a:r>
            <a:r>
              <a:rPr lang="en-US" altLang="zh-CN" sz="2400" dirty="0"/>
              <a:t>CCF</a:t>
            </a:r>
            <a:r>
              <a:rPr lang="zh-CN" altLang="en-US" sz="2400" dirty="0"/>
              <a:t>）</a:t>
            </a:r>
            <a:endParaRPr lang="en-US" altLang="zh-CN" sz="2400" dirty="0"/>
          </a:p>
        </p:txBody>
      </p:sp>
      <p:sp>
        <p:nvSpPr>
          <p:cNvPr id="5" name="灯片编号占位符 5"/>
          <p:cNvSpPr>
            <a:spLocks noGrp="1"/>
          </p:cNvSpPr>
          <p:nvPr>
            <p:ph type="sldNum" sz="quarter" idx="12"/>
          </p:nvPr>
        </p:nvSpPr>
        <p:spPr/>
        <p:txBody>
          <a:bodyPr>
            <a:normAutofit/>
          </a:bodyPr>
          <a:lstStyle/>
          <a:p>
            <a:pPr marL="0" marR="0" lvl="0" indent="0" algn="r" defTabSz="914400" rtl="0" eaLnBrk="1" fontAlgn="base" latinLnBrk="0" hangingPunct="1">
              <a:lnSpc>
                <a:spcPct val="100000"/>
              </a:lnSpc>
              <a:spcBef>
                <a:spcPct val="0"/>
              </a:spcBef>
              <a:spcAft>
                <a:spcPct val="0"/>
              </a:spcAft>
              <a:buClrTx/>
              <a:buSzTx/>
              <a:buFontTx/>
              <a:buNone/>
              <a:defRPr/>
            </a:pPr>
            <a:fld id="{76AB6320-8AB1-4902-AC21-DFA6A0C8B534}" type="slidenum">
              <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rPr>
            </a:fld>
            <a:endPar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endParaRPr>
          </a:p>
        </p:txBody>
      </p:sp>
      <p:sp>
        <p:nvSpPr>
          <p:cNvPr id="4" name="标题 1"/>
          <p:cNvSpPr>
            <a:spLocks noGrp="1"/>
          </p:cNvSpPr>
          <p:nvPr>
            <p:ph type="title"/>
          </p:nvPr>
        </p:nvSpPr>
        <p:spPr>
          <a:xfrm>
            <a:off x="251520" y="260648"/>
            <a:ext cx="8229600" cy="793750"/>
          </a:xfrm>
        </p:spPr>
        <p:txBody>
          <a:bodyPr/>
          <a:lstStyle/>
          <a:p>
            <a:r>
              <a:rPr lang="zh-CN" altLang="en-US" sz="4400" dirty="0"/>
              <a:t>计算机科学的数据库分支</a:t>
            </a:r>
            <a:endParaRPr lang="zh-CN" altLang="en-US" sz="4400" dirty="0"/>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3"/>
          <p:cNvSpPr>
            <a:spLocks noGrp="1" noChangeArrowheads="1"/>
          </p:cNvSpPr>
          <p:nvPr>
            <p:ph idx="1"/>
          </p:nvPr>
        </p:nvSpPr>
        <p:spPr>
          <a:xfrm>
            <a:off x="611188" y="1166961"/>
            <a:ext cx="8110537" cy="5286375"/>
          </a:xfrm>
        </p:spPr>
        <p:txBody>
          <a:bodyPr/>
          <a:lstStyle/>
          <a:p>
            <a:pPr marL="0" indent="0" eaLnBrk="1" hangingPunct="1">
              <a:lnSpc>
                <a:spcPct val="150000"/>
              </a:lnSpc>
              <a:buFont typeface="Wingdings" panose="05000000000000000000" pitchFamily="2" charset="2"/>
              <a:buNone/>
            </a:pPr>
            <a:r>
              <a:rPr lang="zh-CN" altLang="en-US" dirty="0"/>
              <a:t>数据库的需求是在不断发展的，其发展也推动了</a:t>
            </a:r>
            <a:r>
              <a:rPr lang="zh-CN" altLang="en-US" dirty="0">
                <a:solidFill>
                  <a:srgbClr val="FF0000"/>
                </a:solidFill>
              </a:rPr>
              <a:t>数据工程领域</a:t>
            </a:r>
            <a:r>
              <a:rPr lang="zh-CN" altLang="en-US" dirty="0"/>
              <a:t>研究的发展，例如：</a:t>
            </a:r>
            <a:endParaRPr lang="en-US" altLang="zh-CN" dirty="0"/>
          </a:p>
          <a:p>
            <a:pPr marL="0" indent="0" eaLnBrk="1" hangingPunct="1">
              <a:lnSpc>
                <a:spcPct val="150000"/>
              </a:lnSpc>
              <a:buFont typeface="Wingdings" panose="05000000000000000000" pitchFamily="2" charset="2"/>
              <a:buNone/>
            </a:pPr>
            <a:r>
              <a:rPr lang="zh-CN" altLang="en-US" dirty="0"/>
              <a:t>    分布式数据库、网格数据库，</a:t>
            </a:r>
            <a:endParaRPr lang="en-US" altLang="zh-CN" dirty="0"/>
          </a:p>
          <a:p>
            <a:pPr marL="0" indent="0" eaLnBrk="1" hangingPunct="1">
              <a:lnSpc>
                <a:spcPct val="150000"/>
              </a:lnSpc>
              <a:buFont typeface="Wingdings" panose="05000000000000000000" pitchFamily="2" charset="2"/>
              <a:buNone/>
            </a:pPr>
            <a:r>
              <a:rPr lang="zh-CN" altLang="en-US" dirty="0"/>
              <a:t>    层次、半结构、无结构等泛结构化数据，</a:t>
            </a:r>
            <a:endParaRPr lang="en-US" altLang="zh-CN" dirty="0"/>
          </a:p>
          <a:p>
            <a:pPr marL="0" indent="0" eaLnBrk="1" hangingPunct="1">
              <a:lnSpc>
                <a:spcPct val="150000"/>
              </a:lnSpc>
              <a:buFont typeface="Wingdings" panose="05000000000000000000" pitchFamily="2" charset="2"/>
              <a:buNone/>
            </a:pPr>
            <a:r>
              <a:rPr lang="zh-CN" altLang="en-US" dirty="0"/>
              <a:t>    海量数据（传统数据库难以处理，因为索引本身就会变得非常大，数据挖掘），</a:t>
            </a:r>
            <a:endParaRPr lang="en-US" altLang="zh-CN" dirty="0"/>
          </a:p>
          <a:p>
            <a:pPr marL="0" indent="0" eaLnBrk="1" hangingPunct="1">
              <a:lnSpc>
                <a:spcPct val="150000"/>
              </a:lnSpc>
              <a:buFont typeface="Wingdings" panose="05000000000000000000" pitchFamily="2" charset="2"/>
              <a:buNone/>
            </a:pPr>
            <a:r>
              <a:rPr lang="zh-CN" altLang="en-US" dirty="0"/>
              <a:t>    大数据（处理、管理、存储、分析）</a:t>
            </a:r>
            <a:endParaRPr lang="en-US" altLang="zh-CN" dirty="0"/>
          </a:p>
        </p:txBody>
      </p:sp>
      <p:sp>
        <p:nvSpPr>
          <p:cNvPr id="5" name="灯片编号占位符 5"/>
          <p:cNvSpPr>
            <a:spLocks noGrp="1"/>
          </p:cNvSpPr>
          <p:nvPr>
            <p:ph type="sldNum" sz="quarter" idx="12"/>
          </p:nvPr>
        </p:nvSpPr>
        <p:spPr/>
        <p:txBody>
          <a:bodyPr>
            <a:normAutofit/>
          </a:bodyPr>
          <a:lstStyle/>
          <a:p>
            <a:pPr marL="0" marR="0" lvl="0" indent="0" algn="r" defTabSz="914400" rtl="0" eaLnBrk="1" fontAlgn="base" latinLnBrk="0" hangingPunct="1">
              <a:lnSpc>
                <a:spcPct val="100000"/>
              </a:lnSpc>
              <a:spcBef>
                <a:spcPct val="0"/>
              </a:spcBef>
              <a:spcAft>
                <a:spcPct val="0"/>
              </a:spcAft>
              <a:buClrTx/>
              <a:buSzTx/>
              <a:buFontTx/>
              <a:buNone/>
              <a:defRPr/>
            </a:pPr>
            <a:fld id="{DD9FF7E1-7169-484C-B797-F083C9528B96}" type="slidenum">
              <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rPr>
            </a:fld>
            <a:endPar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endParaRPr>
          </a:p>
        </p:txBody>
      </p:sp>
      <p:sp>
        <p:nvSpPr>
          <p:cNvPr id="4" name="标题 1"/>
          <p:cNvSpPr>
            <a:spLocks noGrp="1"/>
          </p:cNvSpPr>
          <p:nvPr>
            <p:ph type="title"/>
          </p:nvPr>
        </p:nvSpPr>
        <p:spPr>
          <a:xfrm>
            <a:off x="683568" y="260648"/>
            <a:ext cx="5616624" cy="793750"/>
          </a:xfrm>
        </p:spPr>
        <p:txBody>
          <a:bodyPr/>
          <a:lstStyle/>
          <a:p>
            <a:r>
              <a:rPr lang="zh-CN" altLang="en-US" sz="4400" dirty="0"/>
              <a:t>数据工程的发展</a:t>
            </a:r>
            <a:endParaRPr lang="zh-CN" altLang="en-US" sz="4400" dirty="0"/>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1026"/>
          <p:cNvSpPr>
            <a:spLocks noGrp="1" noChangeArrowheads="1"/>
          </p:cNvSpPr>
          <p:nvPr>
            <p:ph type="title"/>
          </p:nvPr>
        </p:nvSpPr>
        <p:spPr>
          <a:xfrm>
            <a:off x="395288" y="260350"/>
            <a:ext cx="8162925" cy="762000"/>
          </a:xfrm>
        </p:spPr>
        <p:txBody>
          <a:bodyPr>
            <a:normAutofit fontScale="90000"/>
          </a:bodyPr>
          <a:lstStyle/>
          <a:p>
            <a:pPr eaLnBrk="1" fontAlgn="auto" hangingPunct="1">
              <a:spcAft>
                <a:spcPts val="0"/>
              </a:spcAft>
              <a:defRPr/>
            </a:pPr>
            <a:r>
              <a:rPr lang="zh-CN" altLang="en-US"/>
              <a:t>数据库的用途</a:t>
            </a:r>
            <a:endParaRPr lang="zh-CN" altLang="en-US"/>
          </a:p>
        </p:txBody>
      </p:sp>
      <p:sp>
        <p:nvSpPr>
          <p:cNvPr id="41987" name="Rectangle 1027"/>
          <p:cNvSpPr>
            <a:spLocks noGrp="1" noChangeArrowheads="1"/>
          </p:cNvSpPr>
          <p:nvPr>
            <p:ph idx="1"/>
          </p:nvPr>
        </p:nvSpPr>
        <p:spPr>
          <a:xfrm>
            <a:off x="457200" y="1143000"/>
            <a:ext cx="8110538" cy="642938"/>
          </a:xfrm>
        </p:spPr>
        <p:txBody>
          <a:bodyPr/>
          <a:lstStyle/>
          <a:p>
            <a:pPr marL="0" indent="0" eaLnBrk="1" hangingPunct="1">
              <a:lnSpc>
                <a:spcPct val="90000"/>
              </a:lnSpc>
              <a:buClr>
                <a:schemeClr val="accent3"/>
              </a:buClr>
              <a:buSzPct val="80000"/>
              <a:buNone/>
            </a:pPr>
            <a:r>
              <a:rPr lang="zh-CN" altLang="en-US" sz="2800" dirty="0"/>
              <a:t>组织、存储、获取、维护数据</a:t>
            </a:r>
            <a:endParaRPr lang="zh-CN" altLang="en-US" sz="2800" dirty="0"/>
          </a:p>
        </p:txBody>
      </p:sp>
      <p:sp>
        <p:nvSpPr>
          <p:cNvPr id="14" name="灯片编号占位符 5"/>
          <p:cNvSpPr>
            <a:spLocks noGrp="1"/>
          </p:cNvSpPr>
          <p:nvPr>
            <p:ph type="sldNum" sz="quarter" idx="12"/>
          </p:nvPr>
        </p:nvSpPr>
        <p:spPr>
          <a:xfrm>
            <a:off x="7686675" y="5449888"/>
            <a:ext cx="762000" cy="365125"/>
          </a:xfrm>
        </p:spPr>
        <p:txBody>
          <a:bodyPr>
            <a:normAutofit/>
          </a:bodyPr>
          <a:lstStyle/>
          <a:p>
            <a:pPr marL="0" marR="0" lvl="0" indent="0" algn="r" defTabSz="914400" rtl="0" eaLnBrk="1" fontAlgn="base" latinLnBrk="0" hangingPunct="1">
              <a:lnSpc>
                <a:spcPct val="100000"/>
              </a:lnSpc>
              <a:spcBef>
                <a:spcPct val="0"/>
              </a:spcBef>
              <a:spcAft>
                <a:spcPct val="0"/>
              </a:spcAft>
              <a:buClrTx/>
              <a:buSzTx/>
              <a:buFontTx/>
              <a:buNone/>
              <a:defRPr/>
            </a:pPr>
            <a:fld id="{91C3D86D-38ED-4053-99E9-7FCEE3940ECB}" type="slidenum">
              <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rPr>
            </a:fld>
            <a:endPar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endParaRPr>
          </a:p>
        </p:txBody>
      </p:sp>
      <p:sp>
        <p:nvSpPr>
          <p:cNvPr id="93188" name="Text Box 1028"/>
          <p:cNvSpPr txBox="1">
            <a:spLocks noChangeArrowheads="1"/>
          </p:cNvSpPr>
          <p:nvPr/>
        </p:nvSpPr>
        <p:spPr bwMode="auto">
          <a:xfrm>
            <a:off x="1068586" y="3879850"/>
            <a:ext cx="2031325" cy="461665"/>
          </a:xfrm>
          <a:prstGeom prst="rect">
            <a:avLst/>
          </a:prstGeom>
          <a:noFill/>
          <a:ln w="9525">
            <a:noFill/>
            <a:miter lim="800000"/>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局部应用之间</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p:txBody>
      </p:sp>
      <p:sp>
        <p:nvSpPr>
          <p:cNvPr id="93189" name="Text Box 1029"/>
          <p:cNvSpPr txBox="1">
            <a:spLocks noChangeArrowheads="1"/>
          </p:cNvSpPr>
          <p:nvPr/>
        </p:nvSpPr>
        <p:spPr bwMode="auto">
          <a:xfrm>
            <a:off x="1068586" y="4456113"/>
            <a:ext cx="2927350" cy="457200"/>
          </a:xfrm>
          <a:prstGeom prst="rect">
            <a:avLst/>
          </a:prstGeom>
          <a:noFill/>
          <a:ln w="9525">
            <a:noFill/>
            <a:miter lim="800000"/>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不同类型的应用之间</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p:txBody>
      </p:sp>
      <p:sp>
        <p:nvSpPr>
          <p:cNvPr id="93190" name="Text Box 1030"/>
          <p:cNvSpPr txBox="1">
            <a:spLocks noChangeArrowheads="1"/>
          </p:cNvSpPr>
          <p:nvPr/>
        </p:nvSpPr>
        <p:spPr bwMode="auto">
          <a:xfrm>
            <a:off x="1079699" y="5032375"/>
            <a:ext cx="2646878" cy="461665"/>
          </a:xfrm>
          <a:prstGeom prst="rect">
            <a:avLst/>
          </a:prstGeom>
          <a:noFill/>
          <a:ln w="9525">
            <a:noFill/>
            <a:miter lim="800000"/>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历史、现状、未来</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p:txBody>
      </p:sp>
      <p:sp>
        <p:nvSpPr>
          <p:cNvPr id="93191" name="AutoShape 1031"/>
          <p:cNvSpPr>
            <a:spLocks noChangeArrowheads="1"/>
          </p:cNvSpPr>
          <p:nvPr/>
        </p:nvSpPr>
        <p:spPr bwMode="auto">
          <a:xfrm>
            <a:off x="4405312" y="3360739"/>
            <a:ext cx="4415159" cy="2354262"/>
          </a:xfrm>
          <a:prstGeom prst="wedgeRectCallout">
            <a:avLst>
              <a:gd name="adj1" fmla="val -60337"/>
              <a:gd name="adj2" fmla="val -5146"/>
            </a:avLst>
          </a:prstGeom>
          <a:solidFill>
            <a:schemeClr val="tx2">
              <a:lumMod val="20000"/>
              <a:lumOff val="80000"/>
            </a:schemeClr>
          </a:solidFill>
          <a:ln w="9525">
            <a:solidFill>
              <a:schemeClr val="tx1"/>
            </a:solid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联机处理</a:t>
            </a:r>
            <a:r>
              <a:rPr kumimoji="1"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银行转帐业务；</a:t>
            </a:r>
            <a:r>
              <a:rPr kumimoji="1" lang="zh-CN" altLang="en-US"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批处理</a:t>
            </a:r>
            <a:r>
              <a:rPr kumimoji="1"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大批量导入、装载、处理数据；</a:t>
            </a:r>
            <a:endPar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复杂分析应用</a:t>
            </a:r>
            <a:r>
              <a:rPr kumimoji="1"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数据仓库、数据挖掘 </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p:txBody>
      </p:sp>
      <p:sp>
        <p:nvSpPr>
          <p:cNvPr id="93193" name="Text Box 1033"/>
          <p:cNvSpPr txBox="1">
            <a:spLocks noChangeArrowheads="1"/>
          </p:cNvSpPr>
          <p:nvPr/>
        </p:nvSpPr>
        <p:spPr bwMode="auto">
          <a:xfrm>
            <a:off x="457200" y="1910411"/>
            <a:ext cx="8458200" cy="867930"/>
          </a:xfrm>
          <a:prstGeom prst="rect">
            <a:avLst/>
          </a:prstGeom>
          <a:noFill/>
          <a:ln w="9525">
            <a:noFill/>
            <a:miter lim="800000"/>
          </a:ln>
        </p:spPr>
        <p:txBody>
          <a:bodyPr>
            <a:spAutoFit/>
          </a:bodyPr>
          <a:lstStyle/>
          <a:p>
            <a:pPr marL="269875" marR="0" lvl="0" indent="-269875" algn="l" defTabSz="914400" rtl="0" eaLnBrk="1" fontAlgn="base" latinLnBrk="0" hangingPunct="1">
              <a:lnSpc>
                <a:spcPct val="90000"/>
              </a:lnSpc>
              <a:spcBef>
                <a:spcPct val="20000"/>
              </a:spcBef>
              <a:spcAft>
                <a:spcPct val="0"/>
              </a:spcAft>
              <a:buClr>
                <a:srgbClr val="0BD0D9"/>
              </a:buClr>
              <a:buSzPct val="75000"/>
              <a:buFont typeface="Wingdings" panose="05000000000000000000" pitchFamily="2" charset="2"/>
              <a:buChar char="Ø"/>
              <a:defRPr/>
            </a:pPr>
            <a:r>
              <a:rPr kumimoji="1" lang="zh-CN" altLang="en-US" sz="28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解决物理存储的问题，涉及物理优化、备份与恢复（异地）。</a:t>
            </a:r>
            <a:endParaRPr kumimoji="1" lang="zh-CN" altLang="en-US" sz="28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p:txBody>
      </p:sp>
      <p:sp>
        <p:nvSpPr>
          <p:cNvPr id="93194" name="Text Box 1034"/>
          <p:cNvSpPr txBox="1">
            <a:spLocks noChangeArrowheads="1"/>
          </p:cNvSpPr>
          <p:nvPr/>
        </p:nvSpPr>
        <p:spPr bwMode="auto">
          <a:xfrm>
            <a:off x="468313" y="2852738"/>
            <a:ext cx="5673348" cy="480131"/>
          </a:xfrm>
          <a:prstGeom prst="rect">
            <a:avLst/>
          </a:prstGeom>
          <a:noFill/>
          <a:ln w="9525">
            <a:noFill/>
            <a:miter lim="800000"/>
          </a:ln>
        </p:spPr>
        <p:txBody>
          <a:bodyPr wrap="none">
            <a:spAutoFit/>
          </a:bodyPr>
          <a:lstStyle/>
          <a:p>
            <a:pPr marL="269875" marR="0" lvl="0" indent="-269875" algn="l" defTabSz="914400" rtl="0" eaLnBrk="1" fontAlgn="base" latinLnBrk="0" hangingPunct="1">
              <a:lnSpc>
                <a:spcPct val="90000"/>
              </a:lnSpc>
              <a:spcBef>
                <a:spcPct val="20000"/>
              </a:spcBef>
              <a:spcAft>
                <a:spcPct val="0"/>
              </a:spcAft>
              <a:buClr>
                <a:srgbClr val="0BD0D9"/>
              </a:buClr>
              <a:buSzPct val="75000"/>
              <a:buFont typeface="Wingdings" panose="05000000000000000000" pitchFamily="2" charset="2"/>
              <a:buChar char="Ø"/>
              <a:defRPr/>
            </a:pPr>
            <a:r>
              <a:rPr kumimoji="1" lang="zh-CN" altLang="en-US" sz="28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提供高性能的使用和分析机制。</a:t>
            </a:r>
            <a:endParaRPr kumimoji="1" lang="zh-CN" altLang="en-US" sz="28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p:txBody>
      </p:sp>
      <p:sp>
        <p:nvSpPr>
          <p:cNvPr id="93195" name="Text Box 1035"/>
          <p:cNvSpPr txBox="1">
            <a:spLocks noChangeArrowheads="1"/>
          </p:cNvSpPr>
          <p:nvPr/>
        </p:nvSpPr>
        <p:spPr bwMode="auto">
          <a:xfrm>
            <a:off x="468313" y="3429000"/>
            <a:ext cx="2082621" cy="480131"/>
          </a:xfrm>
          <a:prstGeom prst="rect">
            <a:avLst/>
          </a:prstGeom>
          <a:noFill/>
          <a:ln w="9525">
            <a:noFill/>
            <a:miter lim="800000"/>
          </a:ln>
        </p:spPr>
        <p:txBody>
          <a:bodyPr wrap="none">
            <a:spAutoFit/>
          </a:bodyPr>
          <a:lstStyle/>
          <a:p>
            <a:pPr marL="457200" marR="0" lvl="0" indent="-457200" algn="l" defTabSz="914400" rtl="0" eaLnBrk="1" fontAlgn="base" latinLnBrk="0" hangingPunct="1">
              <a:lnSpc>
                <a:spcPct val="90000"/>
              </a:lnSpc>
              <a:spcBef>
                <a:spcPct val="20000"/>
              </a:spcBef>
              <a:spcAft>
                <a:spcPct val="0"/>
              </a:spcAft>
              <a:buClr>
                <a:srgbClr val="0BD0D9"/>
              </a:buClr>
              <a:buSzPct val="75000"/>
              <a:buFont typeface="Wingdings" panose="05000000000000000000" pitchFamily="2" charset="2"/>
              <a:buChar char="Ø"/>
              <a:defRPr/>
            </a:pPr>
            <a:r>
              <a:rPr kumimoji="1" lang="zh-CN" altLang="en-US" sz="28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数据共享</a:t>
            </a:r>
            <a:endParaRPr kumimoji="1" lang="zh-CN" altLang="en-US" sz="28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p:txBody>
      </p:sp>
      <p:sp>
        <p:nvSpPr>
          <p:cNvPr id="41996" name="TextBox 11"/>
          <p:cNvSpPr txBox="1">
            <a:spLocks noChangeArrowheads="1"/>
          </p:cNvSpPr>
          <p:nvPr/>
        </p:nvSpPr>
        <p:spPr bwMode="auto">
          <a:xfrm>
            <a:off x="468313" y="6165850"/>
            <a:ext cx="5415265" cy="461665"/>
          </a:xfrm>
          <a:prstGeom prst="rect">
            <a:avLst/>
          </a:prstGeom>
          <a:noFill/>
          <a:ln w="9525">
            <a:noFill/>
            <a:miter lim="800000"/>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SCIENCE      ENGINE(technology)</a:t>
            </a:r>
            <a:endParaRPr kumimoji="1" lang="zh-CN" altLang="en-US"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endParaRPr>
          </a:p>
        </p:txBody>
      </p:sp>
      <p:sp>
        <p:nvSpPr>
          <p:cNvPr id="2" name="左大括号 1"/>
          <p:cNvSpPr/>
          <p:nvPr/>
        </p:nvSpPr>
        <p:spPr>
          <a:xfrm>
            <a:off x="727695" y="4005064"/>
            <a:ext cx="315913" cy="1368152"/>
          </a:xfrm>
          <a:prstGeom prst="lef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Constantia"/>
              <a:ea typeface="宋体" pitchFamily="2" charset="-122"/>
              <a:cs typeface="+mn-cs"/>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idx="1"/>
          </p:nvPr>
        </p:nvSpPr>
        <p:spPr>
          <a:xfrm>
            <a:off x="381000" y="798513"/>
            <a:ext cx="8110538" cy="4191000"/>
          </a:xfrm>
        </p:spPr>
        <p:txBody>
          <a:bodyPr/>
          <a:lstStyle/>
          <a:p>
            <a:pPr marL="0" indent="0" eaLnBrk="1" hangingPunct="1">
              <a:lnSpc>
                <a:spcPct val="90000"/>
              </a:lnSpc>
              <a:buClr>
                <a:srgbClr val="FF0000"/>
              </a:buClr>
              <a:buSzTx/>
              <a:buNone/>
            </a:pPr>
            <a:r>
              <a:rPr lang="zh-CN" altLang="en-US" sz="3200" dirty="0">
                <a:solidFill>
                  <a:srgbClr val="FF3300"/>
                </a:solidFill>
                <a:latin typeface="微软雅黑" panose="020B0503020204020204" pitchFamily="34" charset="-122"/>
                <a:ea typeface="微软雅黑" panose="020B0503020204020204" pitchFamily="34" charset="-122"/>
              </a:rPr>
              <a:t>   数据</a:t>
            </a:r>
            <a:endParaRPr lang="zh-CN" altLang="en-US" sz="3200" dirty="0">
              <a:solidFill>
                <a:srgbClr val="FF3300"/>
              </a:solidFill>
              <a:latin typeface="微软雅黑" panose="020B0503020204020204" pitchFamily="34" charset="-122"/>
              <a:ea typeface="微软雅黑" panose="020B0503020204020204" pitchFamily="34" charset="-122"/>
            </a:endParaRPr>
          </a:p>
          <a:p>
            <a:pPr lvl="1" eaLnBrk="1" hangingPunct="1">
              <a:lnSpc>
                <a:spcPct val="90000"/>
              </a:lnSpc>
              <a:buClr>
                <a:schemeClr val="tx1"/>
              </a:buClr>
              <a:buSzTx/>
              <a:buFont typeface="Wingdings" panose="05000000000000000000" pitchFamily="2" charset="2"/>
              <a:buChar char="§"/>
            </a:pPr>
            <a:r>
              <a:rPr lang="zh-CN" altLang="en-US" dirty="0">
                <a:latin typeface="Times New Roman" panose="02020503050405090304" pitchFamily="18" charset="0"/>
              </a:rPr>
              <a:t>对现实世界中客观事物的符号</a:t>
            </a:r>
            <a:r>
              <a:rPr lang="zh-CN" altLang="en-US" dirty="0">
                <a:solidFill>
                  <a:srgbClr val="FF0000"/>
                </a:solidFill>
                <a:latin typeface="Times New Roman" panose="02020503050405090304" pitchFamily="18" charset="0"/>
              </a:rPr>
              <a:t>表示</a:t>
            </a:r>
            <a:endParaRPr lang="zh-CN" altLang="en-US" dirty="0">
              <a:solidFill>
                <a:srgbClr val="FF0000"/>
              </a:solidFill>
              <a:latin typeface="Times New Roman" panose="02020503050405090304" pitchFamily="18" charset="0"/>
            </a:endParaRPr>
          </a:p>
          <a:p>
            <a:pPr lvl="1" eaLnBrk="1" hangingPunct="1">
              <a:lnSpc>
                <a:spcPct val="90000"/>
              </a:lnSpc>
              <a:buClr>
                <a:schemeClr val="tx1"/>
              </a:buClr>
              <a:buSzTx/>
              <a:buFont typeface="Wingdings" panose="05000000000000000000" pitchFamily="2" charset="2"/>
              <a:buChar char="§"/>
            </a:pPr>
            <a:r>
              <a:rPr lang="zh-CN" altLang="en-US" dirty="0">
                <a:latin typeface="Times New Roman" panose="02020503050405090304" pitchFamily="18" charset="0"/>
              </a:rPr>
              <a:t>可以是数值数据，也可以是非数值数据，如声音、图像、结构化的记录等</a:t>
            </a:r>
            <a:endParaRPr lang="zh-CN" altLang="en-US" dirty="0">
              <a:latin typeface="Times New Roman" panose="02020503050405090304" pitchFamily="18" charset="0"/>
            </a:endParaRPr>
          </a:p>
          <a:p>
            <a:pPr lvl="1" eaLnBrk="1" hangingPunct="1">
              <a:lnSpc>
                <a:spcPct val="90000"/>
              </a:lnSpc>
              <a:buClr>
                <a:schemeClr val="tx1"/>
              </a:buClr>
              <a:buSzTx/>
              <a:buFont typeface="Wingdings" panose="05000000000000000000" pitchFamily="2" charset="2"/>
              <a:buChar char="§"/>
            </a:pPr>
            <a:r>
              <a:rPr lang="zh-CN" altLang="en-US" dirty="0">
                <a:latin typeface="Times New Roman" panose="02020503050405090304" pitchFamily="18" charset="0"/>
              </a:rPr>
              <a:t>计算机中的数据</a:t>
            </a:r>
            <a:endParaRPr lang="zh-CN" altLang="en-US" dirty="0">
              <a:latin typeface="Times New Roman" panose="02020503050405090304" pitchFamily="18" charset="0"/>
            </a:endParaRPr>
          </a:p>
          <a:p>
            <a:pPr marL="668020" lvl="2" indent="0" eaLnBrk="1" hangingPunct="1">
              <a:lnSpc>
                <a:spcPct val="90000"/>
              </a:lnSpc>
              <a:buClr>
                <a:schemeClr val="tx1"/>
              </a:buClr>
              <a:buNone/>
            </a:pPr>
            <a:r>
              <a:rPr lang="zh-CN" altLang="en-US" dirty="0">
                <a:latin typeface="Times New Roman" panose="02020503050405090304" pitchFamily="18" charset="0"/>
              </a:rPr>
              <a:t>   能输入计算机，并能为其处理的符号序列（</a:t>
            </a:r>
            <a:r>
              <a:rPr lang="en-US" altLang="zh-CN" dirty="0">
                <a:latin typeface="Times New Roman" panose="02020503050405090304" pitchFamily="18" charset="0"/>
              </a:rPr>
              <a:t>I/O</a:t>
            </a:r>
            <a:r>
              <a:rPr lang="zh-CN" altLang="en-US" dirty="0">
                <a:latin typeface="Times New Roman" panose="02020503050405090304" pitchFamily="18" charset="0"/>
              </a:rPr>
              <a:t>及其规则）</a:t>
            </a:r>
            <a:endParaRPr lang="zh-CN" altLang="en-US" dirty="0">
              <a:latin typeface="Times New Roman" panose="02020503050405090304" pitchFamily="18" charset="0"/>
            </a:endParaRPr>
          </a:p>
          <a:p>
            <a:pPr lvl="1" eaLnBrk="1" hangingPunct="1">
              <a:lnSpc>
                <a:spcPct val="90000"/>
              </a:lnSpc>
              <a:buClr>
                <a:schemeClr val="tx1"/>
              </a:buClr>
              <a:buSzTx/>
              <a:buFont typeface="Wingdings" panose="05000000000000000000" pitchFamily="2" charset="2"/>
              <a:buChar char="§"/>
            </a:pPr>
            <a:r>
              <a:rPr lang="zh-CN" altLang="en-US" dirty="0">
                <a:latin typeface="Times New Roman" panose="02020503050405090304" pitchFamily="18" charset="0"/>
              </a:rPr>
              <a:t>数据与其语义不可分</a:t>
            </a:r>
            <a:endParaRPr lang="zh-CN" altLang="en-US" dirty="0">
              <a:latin typeface="Times New Roman" panose="02020503050405090304" pitchFamily="18" charset="0"/>
            </a:endParaRPr>
          </a:p>
        </p:txBody>
      </p:sp>
      <p:sp>
        <p:nvSpPr>
          <p:cNvPr id="13" name="灯片编号占位符 5"/>
          <p:cNvSpPr>
            <a:spLocks noGrp="1"/>
          </p:cNvSpPr>
          <p:nvPr>
            <p:ph type="sldNum" sz="quarter" idx="12"/>
          </p:nvPr>
        </p:nvSpPr>
        <p:spPr>
          <a:xfrm>
            <a:off x="7924800" y="6380163"/>
            <a:ext cx="762000" cy="365125"/>
          </a:xfrm>
        </p:spPr>
        <p:txBody>
          <a:bodyPr>
            <a:normAutofit/>
          </a:bodyPr>
          <a:lstStyle/>
          <a:p>
            <a:pPr>
              <a:defRPr/>
            </a:pPr>
            <a:fld id="{83EBE552-4E18-49A1-BA7A-B54E23196802}" type="slidenum">
              <a:rPr lang="en-US" altLang="zh-CN"/>
            </a:fld>
            <a:endParaRPr lang="en-US" altLang="zh-CN"/>
          </a:p>
        </p:txBody>
      </p:sp>
      <p:sp>
        <p:nvSpPr>
          <p:cNvPr id="51204" name="Text Box 4"/>
          <p:cNvSpPr txBox="1">
            <a:spLocks noChangeArrowheads="1"/>
          </p:cNvSpPr>
          <p:nvPr/>
        </p:nvSpPr>
        <p:spPr bwMode="auto">
          <a:xfrm>
            <a:off x="642938" y="4151313"/>
            <a:ext cx="6643687" cy="461962"/>
          </a:xfrm>
          <a:prstGeom prst="rect">
            <a:avLst/>
          </a:prstGeom>
          <a:noFill/>
          <a:ln w="9525">
            <a:noFill/>
            <a:miter lim="800000"/>
          </a:ln>
        </p:spPr>
        <p:txBody>
          <a:bodyPr>
            <a:spAutoFit/>
          </a:bodyPr>
          <a:lstStyle/>
          <a:p>
            <a:r>
              <a:rPr lang="en-US" altLang="zh-CN">
                <a:latin typeface="Times New Roman" panose="02020503050405090304" pitchFamily="18" charset="0"/>
              </a:rPr>
              <a:t>(0005794, 601,           </a:t>
            </a:r>
            <a:r>
              <a:rPr lang="zh-CN" altLang="en-US">
                <a:latin typeface="Times New Roman" panose="02020503050405090304" pitchFamily="18" charset="0"/>
              </a:rPr>
              <a:t>刘武</a:t>
            </a:r>
            <a:r>
              <a:rPr lang="en-US" altLang="zh-CN">
                <a:latin typeface="Times New Roman" panose="02020503050405090304" pitchFamily="18" charset="0"/>
              </a:rPr>
              <a:t>,  1,      1946.08.26,   01)</a:t>
            </a:r>
            <a:endParaRPr lang="en-US" altLang="zh-CN">
              <a:latin typeface="Times New Roman" panose="02020503050405090304" pitchFamily="18" charset="0"/>
            </a:endParaRPr>
          </a:p>
        </p:txBody>
      </p:sp>
      <p:sp>
        <p:nvSpPr>
          <p:cNvPr id="21509" name="Text Box 5"/>
          <p:cNvSpPr txBox="1">
            <a:spLocks noChangeArrowheads="1"/>
          </p:cNvSpPr>
          <p:nvPr/>
        </p:nvSpPr>
        <p:spPr bwMode="auto">
          <a:xfrm>
            <a:off x="642938" y="4608513"/>
            <a:ext cx="8310562" cy="457200"/>
          </a:xfrm>
          <a:prstGeom prst="rect">
            <a:avLst/>
          </a:prstGeom>
          <a:noFill/>
          <a:ln w="9525">
            <a:noFill/>
            <a:miter lim="800000"/>
          </a:ln>
        </p:spPr>
        <p:txBody>
          <a:bodyPr>
            <a:spAutoFit/>
          </a:bodyPr>
          <a:lstStyle/>
          <a:p>
            <a:r>
              <a:rPr lang="en-US" altLang="zh-CN">
                <a:solidFill>
                  <a:srgbClr val="FF0000"/>
                </a:solidFill>
                <a:latin typeface="Times New Roman" panose="02020503050405090304" pitchFamily="18" charset="0"/>
              </a:rPr>
              <a:t>(</a:t>
            </a:r>
            <a:r>
              <a:rPr lang="zh-CN" altLang="en-US">
                <a:solidFill>
                  <a:srgbClr val="FF0000"/>
                </a:solidFill>
                <a:latin typeface="Times New Roman" panose="02020503050405090304" pitchFamily="18" charset="0"/>
              </a:rPr>
              <a:t>工号</a:t>
            </a:r>
            <a:r>
              <a:rPr lang="en-US" altLang="zh-CN">
                <a:solidFill>
                  <a:srgbClr val="FF0000"/>
                </a:solidFill>
                <a:latin typeface="Times New Roman" panose="02020503050405090304" pitchFamily="18" charset="0"/>
              </a:rPr>
              <a:t>,       </a:t>
            </a:r>
            <a:r>
              <a:rPr lang="zh-CN" altLang="en-US">
                <a:solidFill>
                  <a:srgbClr val="FF0000"/>
                </a:solidFill>
                <a:latin typeface="Times New Roman" panose="02020503050405090304" pitchFamily="18" charset="0"/>
              </a:rPr>
              <a:t>部门编号</a:t>
            </a:r>
            <a:r>
              <a:rPr lang="en-US" altLang="zh-CN">
                <a:solidFill>
                  <a:srgbClr val="FF0000"/>
                </a:solidFill>
                <a:latin typeface="Times New Roman" panose="02020503050405090304" pitchFamily="18" charset="0"/>
              </a:rPr>
              <a:t>, </a:t>
            </a:r>
            <a:r>
              <a:rPr lang="zh-CN" altLang="en-US">
                <a:solidFill>
                  <a:srgbClr val="FF0000"/>
                </a:solidFill>
                <a:latin typeface="Times New Roman" panose="02020503050405090304" pitchFamily="18" charset="0"/>
              </a:rPr>
              <a:t>姓名</a:t>
            </a:r>
            <a:r>
              <a:rPr lang="en-US" altLang="zh-CN">
                <a:solidFill>
                  <a:srgbClr val="FF0000"/>
                </a:solidFill>
                <a:latin typeface="Times New Roman" panose="02020503050405090304" pitchFamily="18" charset="0"/>
              </a:rPr>
              <a:t>, </a:t>
            </a:r>
            <a:r>
              <a:rPr lang="zh-CN" altLang="en-US">
                <a:solidFill>
                  <a:srgbClr val="FF0000"/>
                </a:solidFill>
                <a:latin typeface="Times New Roman" panose="02020503050405090304" pitchFamily="18" charset="0"/>
              </a:rPr>
              <a:t>性别</a:t>
            </a:r>
            <a:r>
              <a:rPr lang="en-US" altLang="zh-CN">
                <a:solidFill>
                  <a:srgbClr val="FF0000"/>
                </a:solidFill>
                <a:latin typeface="Times New Roman" panose="02020503050405090304" pitchFamily="18" charset="0"/>
              </a:rPr>
              <a:t>, </a:t>
            </a:r>
            <a:r>
              <a:rPr lang="zh-CN" altLang="en-US">
                <a:solidFill>
                  <a:srgbClr val="FF0000"/>
                </a:solidFill>
                <a:latin typeface="Times New Roman" panose="02020503050405090304" pitchFamily="18" charset="0"/>
              </a:rPr>
              <a:t>出生日期</a:t>
            </a:r>
            <a:r>
              <a:rPr lang="en-US" altLang="zh-CN">
                <a:solidFill>
                  <a:srgbClr val="FF0000"/>
                </a:solidFill>
                <a:latin typeface="Times New Roman" panose="02020503050405090304" pitchFamily="18" charset="0"/>
              </a:rPr>
              <a:t>,    </a:t>
            </a:r>
            <a:r>
              <a:rPr lang="zh-CN" altLang="en-US">
                <a:solidFill>
                  <a:srgbClr val="FF0000"/>
                </a:solidFill>
                <a:latin typeface="Times New Roman" panose="02020503050405090304" pitchFamily="18" charset="0"/>
              </a:rPr>
              <a:t>民族</a:t>
            </a:r>
            <a:r>
              <a:rPr lang="en-US" altLang="zh-CN">
                <a:solidFill>
                  <a:srgbClr val="FF0000"/>
                </a:solidFill>
                <a:latin typeface="Times New Roman" panose="02020503050405090304" pitchFamily="18" charset="0"/>
              </a:rPr>
              <a:t>)</a:t>
            </a:r>
            <a:endParaRPr lang="en-US" altLang="zh-CN">
              <a:solidFill>
                <a:srgbClr val="FF0000"/>
              </a:solidFill>
              <a:latin typeface="Times New Roman" panose="02020503050405090304" pitchFamily="18" charset="0"/>
            </a:endParaRPr>
          </a:p>
        </p:txBody>
      </p:sp>
      <p:sp>
        <p:nvSpPr>
          <p:cNvPr id="21512" name="AutoShape 8"/>
          <p:cNvSpPr>
            <a:spLocks noChangeArrowheads="1"/>
          </p:cNvSpPr>
          <p:nvPr/>
        </p:nvSpPr>
        <p:spPr bwMode="auto">
          <a:xfrm>
            <a:off x="2357438" y="3556000"/>
            <a:ext cx="1981200" cy="533400"/>
          </a:xfrm>
          <a:prstGeom prst="wedgeRoundRectCallout">
            <a:avLst>
              <a:gd name="adj1" fmla="val -50319"/>
              <a:gd name="adj2" fmla="val 78926"/>
              <a:gd name="adj3" fmla="val 16667"/>
            </a:avLst>
          </a:prstGeom>
          <a:gradFill rotWithShape="0">
            <a:gsLst>
              <a:gs pos="0">
                <a:srgbClr val="3333FF"/>
              </a:gs>
              <a:gs pos="100000">
                <a:srgbClr val="3366FF"/>
              </a:gs>
            </a:gsLst>
            <a:lin ang="0" scaled="1"/>
          </a:gradFill>
          <a:ln w="9525">
            <a:solidFill>
              <a:srgbClr val="FF0000"/>
            </a:solidFill>
            <a:miter lim="800000"/>
          </a:ln>
        </p:spPr>
        <p:txBody>
          <a:bodyPr/>
          <a:lstStyle/>
          <a:p>
            <a:pPr algn="ctr"/>
            <a:r>
              <a:rPr lang="zh-CN" altLang="en-US" dirty="0">
                <a:solidFill>
                  <a:schemeClr val="bg1"/>
                </a:solidFill>
                <a:latin typeface="Times New Roman" panose="02020503050405090304" pitchFamily="18" charset="0"/>
              </a:rPr>
              <a:t>人力资源科</a:t>
            </a:r>
            <a:endParaRPr lang="zh-CN" altLang="en-US" dirty="0">
              <a:solidFill>
                <a:schemeClr val="bg1"/>
              </a:solidFill>
              <a:latin typeface="Times New Roman" panose="02020503050405090304" pitchFamily="18" charset="0"/>
            </a:endParaRPr>
          </a:p>
        </p:txBody>
      </p:sp>
      <p:sp>
        <p:nvSpPr>
          <p:cNvPr id="21513" name="AutoShape 9"/>
          <p:cNvSpPr>
            <a:spLocks noChangeArrowheads="1"/>
          </p:cNvSpPr>
          <p:nvPr/>
        </p:nvSpPr>
        <p:spPr bwMode="auto">
          <a:xfrm>
            <a:off x="7072313" y="3556000"/>
            <a:ext cx="990600" cy="533400"/>
          </a:xfrm>
          <a:prstGeom prst="wedgeRoundRectCallout">
            <a:avLst>
              <a:gd name="adj1" fmla="val -59847"/>
              <a:gd name="adj2" fmla="val 77111"/>
              <a:gd name="adj3" fmla="val 16667"/>
            </a:avLst>
          </a:prstGeom>
          <a:gradFill rotWithShape="0">
            <a:gsLst>
              <a:gs pos="0">
                <a:srgbClr val="3333FF"/>
              </a:gs>
              <a:gs pos="100000">
                <a:srgbClr val="3366FF"/>
              </a:gs>
            </a:gsLst>
            <a:lin ang="0" scaled="1"/>
          </a:gradFill>
          <a:ln w="9525">
            <a:solidFill>
              <a:srgbClr val="FF0000"/>
            </a:solidFill>
            <a:miter lim="800000"/>
          </a:ln>
        </p:spPr>
        <p:txBody>
          <a:bodyPr/>
          <a:lstStyle/>
          <a:p>
            <a:pPr algn="ctr"/>
            <a:r>
              <a:rPr lang="zh-CN" altLang="en-US">
                <a:solidFill>
                  <a:schemeClr val="bg1"/>
                </a:solidFill>
                <a:latin typeface="Times New Roman" panose="02020503050405090304" pitchFamily="18" charset="0"/>
              </a:rPr>
              <a:t>汉族</a:t>
            </a:r>
            <a:endParaRPr lang="zh-CN" altLang="en-US">
              <a:solidFill>
                <a:schemeClr val="bg1"/>
              </a:solidFill>
              <a:latin typeface="Times New Roman" panose="02020503050405090304" pitchFamily="18" charset="0"/>
            </a:endParaRPr>
          </a:p>
        </p:txBody>
      </p:sp>
      <p:sp>
        <p:nvSpPr>
          <p:cNvPr id="21514" name="AutoShape 10"/>
          <p:cNvSpPr>
            <a:spLocks noChangeArrowheads="1"/>
          </p:cNvSpPr>
          <p:nvPr/>
        </p:nvSpPr>
        <p:spPr bwMode="auto">
          <a:xfrm>
            <a:off x="5072063" y="3556000"/>
            <a:ext cx="685800" cy="533400"/>
          </a:xfrm>
          <a:prstGeom prst="wedgeRoundRectCallout">
            <a:avLst>
              <a:gd name="adj1" fmla="val -148069"/>
              <a:gd name="adj2" fmla="val 78491"/>
              <a:gd name="adj3" fmla="val 16667"/>
            </a:avLst>
          </a:prstGeom>
          <a:gradFill rotWithShape="0">
            <a:gsLst>
              <a:gs pos="0">
                <a:srgbClr val="3333FF"/>
              </a:gs>
              <a:gs pos="100000">
                <a:srgbClr val="3366FF"/>
              </a:gs>
            </a:gsLst>
            <a:lin ang="0" scaled="1"/>
          </a:gradFill>
          <a:ln w="9525">
            <a:solidFill>
              <a:srgbClr val="FF0000"/>
            </a:solidFill>
            <a:miter lim="800000"/>
          </a:ln>
        </p:spPr>
        <p:txBody>
          <a:bodyPr/>
          <a:lstStyle/>
          <a:p>
            <a:pPr algn="ctr"/>
            <a:r>
              <a:rPr lang="zh-CN" altLang="en-US" dirty="0">
                <a:solidFill>
                  <a:schemeClr val="bg1"/>
                </a:solidFill>
                <a:latin typeface="Times New Roman" panose="02020503050405090304" pitchFamily="18" charset="0"/>
              </a:rPr>
              <a:t>男</a:t>
            </a:r>
            <a:endParaRPr lang="zh-CN" altLang="en-US" dirty="0">
              <a:solidFill>
                <a:schemeClr val="bg1"/>
              </a:solidFill>
              <a:latin typeface="Times New Roman" panose="02020503050405090304" pitchFamily="18" charset="0"/>
            </a:endParaRPr>
          </a:p>
        </p:txBody>
      </p:sp>
      <p:sp>
        <p:nvSpPr>
          <p:cNvPr id="51209" name="AutoShape 1026"/>
          <p:cNvSpPr>
            <a:spLocks noChangeArrowheads="1"/>
          </p:cNvSpPr>
          <p:nvPr/>
        </p:nvSpPr>
        <p:spPr bwMode="auto">
          <a:xfrm>
            <a:off x="8172450" y="5641975"/>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sp>
        <p:nvSpPr>
          <p:cNvPr id="51210" name="AutoShape 1027"/>
          <p:cNvSpPr>
            <a:spLocks noChangeArrowheads="1"/>
          </p:cNvSpPr>
          <p:nvPr/>
        </p:nvSpPr>
        <p:spPr bwMode="auto">
          <a:xfrm>
            <a:off x="8497888" y="746125"/>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sp>
        <p:nvSpPr>
          <p:cNvPr id="14" name="圆角矩形标注 13"/>
          <p:cNvSpPr/>
          <p:nvPr/>
        </p:nvSpPr>
        <p:spPr>
          <a:xfrm>
            <a:off x="785813" y="5143500"/>
            <a:ext cx="7143750" cy="1525588"/>
          </a:xfrm>
          <a:prstGeom prst="wedgeRoundRectCallout">
            <a:avLst>
              <a:gd name="adj1" fmla="val -55295"/>
              <a:gd name="adj2" fmla="val -1320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lstStyle/>
          <a:p>
            <a:pPr algn="ctr">
              <a:defRPr/>
            </a:pPr>
            <a:r>
              <a:rPr lang="zh-CN" altLang="en-US" dirty="0"/>
              <a:t>科教、</a:t>
            </a:r>
            <a:r>
              <a:rPr lang="zh-CN" altLang="en-US" dirty="0">
                <a:solidFill>
                  <a:srgbClr val="FF0000"/>
                </a:solidFill>
              </a:rPr>
              <a:t>电力</a:t>
            </a:r>
            <a:r>
              <a:rPr lang="zh-CN" altLang="en-US" dirty="0"/>
              <a:t>、通讯、交通、金融、军事、人事、医疗、生产、地理信息、</a:t>
            </a:r>
            <a:r>
              <a:rPr lang="zh-CN" altLang="en-US" dirty="0">
                <a:solidFill>
                  <a:srgbClr val="FF0000"/>
                </a:solidFill>
              </a:rPr>
              <a:t>水文、水利工程</a:t>
            </a:r>
            <a:r>
              <a:rPr lang="zh-CN" altLang="en-US" dirty="0"/>
              <a:t>。。。。。</a:t>
            </a:r>
            <a:endParaRPr lang="en-US" altLang="zh-CN" dirty="0"/>
          </a:p>
          <a:p>
            <a:pPr>
              <a:spcBef>
                <a:spcPts val="1000"/>
              </a:spcBef>
              <a:defRPr/>
            </a:pPr>
            <a:r>
              <a:rPr lang="zh-CN" altLang="en-US" b="1" dirty="0">
                <a:solidFill>
                  <a:schemeClr val="bg1"/>
                </a:solidFill>
              </a:rPr>
              <a:t>形式、取值、内容都很丰富</a:t>
            </a:r>
            <a:endParaRPr lang="zh-CN" altLang="en-US" b="1" dirty="0">
              <a:solidFill>
                <a:schemeClr val="bg1"/>
              </a:solidFill>
            </a:endParaRPr>
          </a:p>
          <a:p>
            <a:pPr algn="ctr">
              <a:defRPr/>
            </a:pPr>
            <a:endParaRPr lang="zh-CN" altLang="en-US" dirty="0"/>
          </a:p>
        </p:txBody>
      </p:sp>
      <p:sp>
        <p:nvSpPr>
          <p:cNvPr id="12" name="对话气泡: 圆角矩形 11"/>
          <p:cNvSpPr/>
          <p:nvPr/>
        </p:nvSpPr>
        <p:spPr>
          <a:xfrm>
            <a:off x="5770415" y="6059487"/>
            <a:ext cx="914400" cy="537865"/>
          </a:xfrm>
          <a:prstGeom prst="wedgeRoundRectCallout">
            <a:avLst>
              <a:gd name="adj1" fmla="val -98547"/>
              <a:gd name="adj2" fmla="val -69910"/>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FF0000"/>
                </a:solidFill>
                <a:effectLst/>
                <a:uLnTx/>
                <a:uFillTx/>
                <a:latin typeface="Constantia"/>
                <a:ea typeface="宋体" pitchFamily="2" charset="-122"/>
                <a:cs typeface="+mn-cs"/>
              </a:rPr>
              <a:t>国标</a:t>
            </a:r>
            <a:endParaRPr kumimoji="1" lang="zh-CN" altLang="en-US" sz="2400" b="0" i="0" u="none" strike="noStrike" kern="1200" cap="none" spc="0" normalizeH="0" baseline="0" noProof="0" dirty="0">
              <a:ln>
                <a:noFill/>
              </a:ln>
              <a:solidFill>
                <a:srgbClr val="FF0000"/>
              </a:solidFill>
              <a:effectLst/>
              <a:uLnTx/>
              <a:uFillTx/>
              <a:latin typeface="Constantia"/>
              <a:ea typeface="宋体" pitchFamily="2" charset="-122"/>
              <a:cs typeface="+mn-cs"/>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D0712BB7-284C-4008-AA94-1E451A64925E}" type="slidenum">
              <a:rPr lang="en-US" altLang="zh-CN"/>
            </a:fld>
            <a:endParaRPr lang="en-US" altLang="zh-CN"/>
          </a:p>
        </p:txBody>
      </p:sp>
      <p:sp>
        <p:nvSpPr>
          <p:cNvPr id="53251" name="Text Box 2"/>
          <p:cNvSpPr txBox="1">
            <a:spLocks noChangeArrowheads="1"/>
          </p:cNvSpPr>
          <p:nvPr/>
        </p:nvSpPr>
        <p:spPr bwMode="auto">
          <a:xfrm>
            <a:off x="457200" y="885825"/>
            <a:ext cx="7848600" cy="4757738"/>
          </a:xfrm>
          <a:prstGeom prst="rect">
            <a:avLst/>
          </a:prstGeom>
          <a:noFill/>
          <a:ln w="9525">
            <a:noFill/>
            <a:miter lim="800000"/>
          </a:ln>
        </p:spPr>
        <p:txBody>
          <a:bodyPr>
            <a:spAutoFit/>
          </a:bodyPr>
          <a:lstStyle/>
          <a:p>
            <a:pPr>
              <a:lnSpc>
                <a:spcPct val="90000"/>
              </a:lnSpc>
              <a:spcBef>
                <a:spcPct val="20000"/>
              </a:spcBef>
              <a:buClr>
                <a:srgbClr val="FF0000"/>
              </a:buClr>
            </a:pPr>
            <a:r>
              <a:rPr lang="zh-CN" altLang="en-US" sz="3200" b="1" dirty="0">
                <a:solidFill>
                  <a:srgbClr val="FF3300"/>
                </a:solidFill>
                <a:latin typeface="微软雅黑" panose="020B0503020204020204" pitchFamily="34" charset="-122"/>
                <a:ea typeface="微软雅黑" panose="020B0503020204020204" pitchFamily="34" charset="-122"/>
              </a:rPr>
              <a:t>数据库（</a:t>
            </a:r>
            <a:r>
              <a:rPr lang="en-US" altLang="zh-CN" sz="3200" b="1" dirty="0">
                <a:solidFill>
                  <a:srgbClr val="FF3300"/>
                </a:solidFill>
                <a:latin typeface="微软雅黑" panose="020B0503020204020204" pitchFamily="34" charset="-122"/>
                <a:ea typeface="微软雅黑" panose="020B0503020204020204" pitchFamily="34" charset="-122"/>
              </a:rPr>
              <a:t>Database </a:t>
            </a:r>
            <a:r>
              <a:rPr lang="en-US" altLang="zh-CN" sz="3200" b="1" i="1" dirty="0">
                <a:solidFill>
                  <a:srgbClr val="FF3300"/>
                </a:solidFill>
                <a:latin typeface="微软雅黑" panose="020B0503020204020204" pitchFamily="34" charset="-122"/>
                <a:ea typeface="微软雅黑" panose="020B0503020204020204" pitchFamily="34" charset="-122"/>
              </a:rPr>
              <a:t>file</a:t>
            </a:r>
            <a:r>
              <a:rPr lang="zh-CN" altLang="en-US" sz="3200" b="1" dirty="0">
                <a:solidFill>
                  <a:srgbClr val="FF3300"/>
                </a:solidFill>
                <a:latin typeface="微软雅黑" panose="020B0503020204020204" pitchFamily="34" charset="-122"/>
                <a:ea typeface="微软雅黑" panose="020B0503020204020204" pitchFamily="34" charset="-122"/>
              </a:rPr>
              <a:t>）</a:t>
            </a:r>
            <a:endParaRPr lang="zh-CN" altLang="en-US" sz="3200" b="1" dirty="0">
              <a:solidFill>
                <a:srgbClr val="FF3300"/>
              </a:solidFill>
              <a:latin typeface="微软雅黑" panose="020B0503020204020204" pitchFamily="34" charset="-122"/>
              <a:ea typeface="微软雅黑" panose="020B0503020204020204" pitchFamily="34" charset="-122"/>
            </a:endParaRPr>
          </a:p>
          <a:p>
            <a:pPr lvl="1">
              <a:lnSpc>
                <a:spcPct val="120000"/>
              </a:lnSpc>
              <a:spcBef>
                <a:spcPct val="20000"/>
              </a:spcBef>
              <a:buClr>
                <a:schemeClr val="tx1"/>
              </a:buClr>
            </a:pPr>
            <a:r>
              <a:rPr lang="zh-CN" altLang="en-US" sz="2800" dirty="0">
                <a:latin typeface="Times New Roman" panose="02020503050405090304" pitchFamily="18" charset="0"/>
              </a:rPr>
              <a:t>存放数据的“仓库”</a:t>
            </a:r>
            <a:endParaRPr lang="zh-CN" altLang="en-US" sz="2800" dirty="0">
              <a:latin typeface="Times New Roman" panose="02020503050405090304" pitchFamily="18" charset="0"/>
            </a:endParaRPr>
          </a:p>
          <a:p>
            <a:pPr lvl="1">
              <a:lnSpc>
                <a:spcPct val="120000"/>
              </a:lnSpc>
              <a:spcBef>
                <a:spcPct val="20000"/>
              </a:spcBef>
              <a:buClr>
                <a:schemeClr val="tx1"/>
              </a:buClr>
            </a:pPr>
            <a:r>
              <a:rPr lang="zh-CN" altLang="en-US" sz="2800" dirty="0">
                <a:latin typeface="Times New Roman" panose="02020503050405090304" pitchFamily="18" charset="0"/>
              </a:rPr>
              <a:t>存储在计算机的存储设备上</a:t>
            </a:r>
            <a:endParaRPr lang="zh-CN" altLang="en-US" sz="2800" dirty="0">
              <a:latin typeface="Times New Roman" panose="02020503050405090304" pitchFamily="18" charset="0"/>
            </a:endParaRPr>
          </a:p>
          <a:p>
            <a:pPr lvl="1">
              <a:lnSpc>
                <a:spcPct val="120000"/>
              </a:lnSpc>
              <a:spcBef>
                <a:spcPct val="20000"/>
              </a:spcBef>
              <a:buClr>
                <a:schemeClr val="tx1"/>
              </a:buClr>
            </a:pPr>
            <a:r>
              <a:rPr lang="zh-CN" altLang="en-US" sz="2800" dirty="0">
                <a:latin typeface="Times New Roman" panose="02020503050405090304" pitchFamily="18" charset="0"/>
              </a:rPr>
              <a:t>按一定的格式组织、描述和存储</a:t>
            </a:r>
            <a:endParaRPr lang="zh-CN" altLang="en-US" sz="2800" dirty="0">
              <a:latin typeface="Times New Roman" panose="02020503050405090304" pitchFamily="18" charset="0"/>
            </a:endParaRPr>
          </a:p>
          <a:p>
            <a:pPr lvl="1">
              <a:lnSpc>
                <a:spcPct val="120000"/>
              </a:lnSpc>
              <a:spcBef>
                <a:spcPct val="20000"/>
              </a:spcBef>
              <a:buClr>
                <a:schemeClr val="tx1"/>
              </a:buClr>
            </a:pPr>
            <a:r>
              <a:rPr lang="zh-CN" altLang="en-US" sz="2800" dirty="0">
                <a:latin typeface="Times New Roman" panose="02020503050405090304" pitchFamily="18" charset="0"/>
              </a:rPr>
              <a:t>较小的</a:t>
            </a:r>
            <a:r>
              <a:rPr lang="zh-CN" altLang="en-US" sz="2800" dirty="0">
                <a:solidFill>
                  <a:srgbClr val="FF0000"/>
                </a:solidFill>
                <a:latin typeface="Times New Roman" panose="02020503050405090304" pitchFamily="18" charset="0"/>
              </a:rPr>
              <a:t>冗余度</a:t>
            </a:r>
            <a:endParaRPr lang="zh-CN" altLang="en-US" sz="2800" dirty="0">
              <a:solidFill>
                <a:srgbClr val="FF0000"/>
              </a:solidFill>
              <a:latin typeface="Times New Roman" panose="02020503050405090304" pitchFamily="18" charset="0"/>
            </a:endParaRPr>
          </a:p>
          <a:p>
            <a:pPr lvl="1">
              <a:lnSpc>
                <a:spcPct val="120000"/>
              </a:lnSpc>
              <a:spcBef>
                <a:spcPct val="20000"/>
              </a:spcBef>
              <a:buClr>
                <a:schemeClr val="tx1"/>
              </a:buClr>
            </a:pPr>
            <a:r>
              <a:rPr lang="zh-CN" altLang="en-US" sz="2800" dirty="0">
                <a:latin typeface="Times New Roman" panose="02020503050405090304" pitchFamily="18" charset="0"/>
              </a:rPr>
              <a:t>数据</a:t>
            </a:r>
            <a:r>
              <a:rPr lang="zh-CN" altLang="en-US" sz="2800" dirty="0">
                <a:solidFill>
                  <a:srgbClr val="FF0000"/>
                </a:solidFill>
                <a:latin typeface="Times New Roman" panose="02020503050405090304" pitchFamily="18" charset="0"/>
              </a:rPr>
              <a:t>独立性</a:t>
            </a:r>
            <a:endParaRPr lang="zh-CN" altLang="en-US" sz="2800" dirty="0">
              <a:solidFill>
                <a:srgbClr val="FF0000"/>
              </a:solidFill>
              <a:latin typeface="Times New Roman" panose="02020503050405090304" pitchFamily="18" charset="0"/>
            </a:endParaRPr>
          </a:p>
          <a:p>
            <a:pPr lvl="1">
              <a:lnSpc>
                <a:spcPct val="120000"/>
              </a:lnSpc>
              <a:spcBef>
                <a:spcPct val="20000"/>
              </a:spcBef>
              <a:buClr>
                <a:schemeClr val="tx1"/>
              </a:buClr>
            </a:pPr>
            <a:r>
              <a:rPr lang="zh-CN" altLang="en-US" sz="2800" dirty="0">
                <a:latin typeface="Times New Roman" panose="02020503050405090304" pitchFamily="18" charset="0"/>
              </a:rPr>
              <a:t>易扩展</a:t>
            </a:r>
            <a:endParaRPr lang="zh-CN" altLang="en-US" sz="2800" dirty="0">
              <a:latin typeface="Times New Roman" panose="02020503050405090304" pitchFamily="18" charset="0"/>
            </a:endParaRPr>
          </a:p>
          <a:p>
            <a:pPr lvl="1">
              <a:lnSpc>
                <a:spcPct val="120000"/>
              </a:lnSpc>
              <a:spcBef>
                <a:spcPct val="20000"/>
              </a:spcBef>
              <a:buClr>
                <a:schemeClr val="tx1"/>
              </a:buClr>
            </a:pPr>
            <a:r>
              <a:rPr lang="zh-CN" altLang="en-US" sz="2800" dirty="0">
                <a:latin typeface="Times New Roman" panose="02020503050405090304" pitchFamily="18" charset="0"/>
              </a:rPr>
              <a:t>可共享</a:t>
            </a:r>
            <a:endParaRPr lang="zh-CN" altLang="en-US" dirty="0"/>
          </a:p>
        </p:txBody>
      </p:sp>
      <p:sp>
        <p:nvSpPr>
          <p:cNvPr id="2" name="对话气泡: 圆角矩形 1"/>
          <p:cNvSpPr/>
          <p:nvPr/>
        </p:nvSpPr>
        <p:spPr>
          <a:xfrm>
            <a:off x="5195616" y="1049027"/>
            <a:ext cx="3013968" cy="1080120"/>
          </a:xfrm>
          <a:prstGeom prst="wedgeRoundRectCallout">
            <a:avLst>
              <a:gd name="adj1" fmla="val -63278"/>
              <a:gd name="adj2" fmla="val 4169"/>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还有一个概念叫“数据仓库”，</a:t>
            </a:r>
            <a:endParaRPr lang="en-US" altLang="zh-CN" dirty="0"/>
          </a:p>
          <a:p>
            <a:pPr algn="ctr"/>
            <a:r>
              <a:rPr lang="en-US" altLang="zh-CN" dirty="0"/>
              <a:t>data warehouse</a:t>
            </a:r>
            <a:endParaRPr lang="zh-CN" altLang="en-US" dirty="0"/>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标注 5"/>
          <p:cNvSpPr/>
          <p:nvPr/>
        </p:nvSpPr>
        <p:spPr>
          <a:xfrm>
            <a:off x="6300788" y="3357563"/>
            <a:ext cx="2303462" cy="612775"/>
          </a:xfrm>
          <a:prstGeom prst="wedgeRoundRectCallout">
            <a:avLst>
              <a:gd name="adj1" fmla="val -138514"/>
              <a:gd name="adj2" fmla="val 116540"/>
              <a:gd name="adj3" fmla="val 16667"/>
            </a:avLst>
          </a:prstGeom>
          <a:noFill/>
        </p:spPr>
        <p:style>
          <a:lnRef idx="2">
            <a:schemeClr val="accent1"/>
          </a:lnRef>
          <a:fillRef idx="1">
            <a:schemeClr val="lt1"/>
          </a:fillRef>
          <a:effectRef idx="0">
            <a:schemeClr val="accent1"/>
          </a:effectRef>
          <a:fontRef idx="minor">
            <a:schemeClr val="dk1"/>
          </a:fontRef>
        </p:style>
        <p:txBody>
          <a:bodyPr anchor="ctr"/>
          <a:lstStyle/>
          <a:p>
            <a:pPr algn="ctr">
              <a:defRPr/>
            </a:pPr>
            <a:r>
              <a:rPr lang="en-US" altLang="zh-CN" dirty="0">
                <a:solidFill>
                  <a:srgbClr val="FF0000"/>
                </a:solidFill>
              </a:rPr>
              <a:t>M</a:t>
            </a:r>
            <a:r>
              <a:rPr lang="en-US" altLang="zh-CN" dirty="0"/>
              <a:t>anipulate</a:t>
            </a:r>
            <a:endParaRPr lang="zh-CN" altLang="en-US" dirty="0"/>
          </a:p>
        </p:txBody>
      </p:sp>
      <p:sp>
        <p:nvSpPr>
          <p:cNvPr id="7" name="圆角矩形标注 6"/>
          <p:cNvSpPr/>
          <p:nvPr/>
        </p:nvSpPr>
        <p:spPr>
          <a:xfrm>
            <a:off x="6300788" y="5949950"/>
            <a:ext cx="2303462" cy="611188"/>
          </a:xfrm>
          <a:prstGeom prst="wedgeRoundRectCallout">
            <a:avLst>
              <a:gd name="adj1" fmla="val -124831"/>
              <a:gd name="adj2" fmla="val -151086"/>
              <a:gd name="adj3" fmla="val 16667"/>
            </a:avLst>
          </a:prstGeom>
          <a:noFill/>
        </p:spPr>
        <p:style>
          <a:lnRef idx="2">
            <a:schemeClr val="accent1"/>
          </a:lnRef>
          <a:fillRef idx="1">
            <a:schemeClr val="lt1"/>
          </a:fillRef>
          <a:effectRef idx="0">
            <a:schemeClr val="accent1"/>
          </a:effectRef>
          <a:fontRef idx="minor">
            <a:schemeClr val="dk1"/>
          </a:fontRef>
        </p:style>
        <p:txBody>
          <a:bodyPr anchor="ctr"/>
          <a:lstStyle/>
          <a:p>
            <a:pPr algn="ctr">
              <a:defRPr/>
            </a:pPr>
            <a:r>
              <a:rPr lang="en-US" altLang="zh-CN" dirty="0">
                <a:solidFill>
                  <a:srgbClr val="FF0000"/>
                </a:solidFill>
              </a:rPr>
              <a:t>C</a:t>
            </a:r>
            <a:r>
              <a:rPr lang="en-US" altLang="zh-CN" dirty="0"/>
              <a:t>ontrol</a:t>
            </a:r>
            <a:endParaRPr lang="zh-CN" altLang="en-US" dirty="0"/>
          </a:p>
        </p:txBody>
      </p:sp>
      <p:sp>
        <p:nvSpPr>
          <p:cNvPr id="54274" name="Rectangle 3"/>
          <p:cNvSpPr>
            <a:spLocks noGrp="1" noChangeArrowheads="1"/>
          </p:cNvSpPr>
          <p:nvPr>
            <p:ph idx="1"/>
          </p:nvPr>
        </p:nvSpPr>
        <p:spPr>
          <a:xfrm>
            <a:off x="0" y="857250"/>
            <a:ext cx="8534400" cy="5791200"/>
          </a:xfrm>
        </p:spPr>
        <p:txBody>
          <a:bodyPr/>
          <a:lstStyle/>
          <a:p>
            <a:pPr marL="0" indent="0" eaLnBrk="1" hangingPunct="1">
              <a:buClr>
                <a:srgbClr val="FF0000"/>
              </a:buClr>
              <a:buSzTx/>
              <a:buNone/>
            </a:pPr>
            <a:r>
              <a:rPr lang="zh-CN" altLang="en-US" sz="3200" dirty="0">
                <a:solidFill>
                  <a:srgbClr val="FF3300"/>
                </a:solidFill>
                <a:latin typeface="Times New Roman" panose="02020503050405090304" pitchFamily="18" charset="0"/>
              </a:rPr>
              <a:t>    </a:t>
            </a:r>
            <a:r>
              <a:rPr lang="zh-CN" altLang="en-US" sz="3200" b="1" dirty="0">
                <a:solidFill>
                  <a:srgbClr val="FF3300"/>
                </a:solidFill>
                <a:latin typeface="微软雅黑" panose="020B0503020204020204" pitchFamily="34" charset="-122"/>
                <a:ea typeface="微软雅黑" panose="020B0503020204020204" pitchFamily="34" charset="-122"/>
              </a:rPr>
              <a:t>数据库管理系统</a:t>
            </a:r>
            <a:r>
              <a:rPr lang="en-US" altLang="zh-CN" sz="3200" b="1" dirty="0">
                <a:solidFill>
                  <a:srgbClr val="FF3300"/>
                </a:solidFill>
                <a:latin typeface="微软雅黑" panose="020B0503020204020204" pitchFamily="34" charset="-122"/>
                <a:ea typeface="微软雅黑" panose="020B0503020204020204" pitchFamily="34" charset="-122"/>
              </a:rPr>
              <a:t>(DBMS)</a:t>
            </a:r>
            <a:endParaRPr lang="en-US" altLang="zh-CN" sz="3200" b="1" dirty="0">
              <a:solidFill>
                <a:srgbClr val="FF3300"/>
              </a:solidFill>
              <a:latin typeface="微软雅黑" panose="020B0503020204020204" pitchFamily="34" charset="-122"/>
              <a:ea typeface="微软雅黑" panose="020B0503020204020204" pitchFamily="34" charset="-122"/>
            </a:endParaRPr>
          </a:p>
          <a:p>
            <a:pPr marL="393700" lvl="1" indent="0" eaLnBrk="1" hangingPunct="1">
              <a:buClr>
                <a:schemeClr val="tx1"/>
              </a:buClr>
              <a:buSzTx/>
              <a:buNone/>
            </a:pPr>
            <a:r>
              <a:rPr lang="zh-CN" altLang="en-US" sz="2600" dirty="0">
                <a:latin typeface="Times New Roman" panose="02020503050405090304" pitchFamily="18" charset="0"/>
              </a:rPr>
              <a:t>系统软件，</a:t>
            </a:r>
            <a:r>
              <a:rPr lang="zh-CN" altLang="en-US" sz="2600" dirty="0">
                <a:solidFill>
                  <a:srgbClr val="FF0000"/>
                </a:solidFill>
                <a:latin typeface="Times New Roman" panose="02020503050405090304" pitchFamily="18" charset="0"/>
              </a:rPr>
              <a:t>数据库系统的一个重要组成部分；</a:t>
            </a:r>
            <a:endParaRPr lang="zh-CN" altLang="en-US" sz="2600" dirty="0">
              <a:solidFill>
                <a:srgbClr val="FF0000"/>
              </a:solidFill>
              <a:latin typeface="Times New Roman" panose="02020503050405090304" pitchFamily="18" charset="0"/>
            </a:endParaRPr>
          </a:p>
          <a:p>
            <a:pPr marL="393700" lvl="1" indent="0" eaLnBrk="1" hangingPunct="1">
              <a:buClr>
                <a:schemeClr val="tx1"/>
              </a:buClr>
              <a:buSzTx/>
              <a:buNone/>
            </a:pPr>
            <a:r>
              <a:rPr lang="zh-CN" altLang="en-US" sz="2600" dirty="0">
                <a:latin typeface="Times New Roman" panose="02020503050405090304" pitchFamily="18" charset="0"/>
              </a:rPr>
              <a:t>科学的组织和存储数据，高效地获取和维护数据；</a:t>
            </a:r>
            <a:endParaRPr lang="zh-CN" altLang="en-US" sz="2600" dirty="0">
              <a:latin typeface="Times New Roman" panose="02020503050405090304" pitchFamily="18" charset="0"/>
            </a:endParaRPr>
          </a:p>
          <a:p>
            <a:pPr marL="393700" lvl="1" indent="0" eaLnBrk="1" hangingPunct="1">
              <a:buClr>
                <a:schemeClr val="tx1"/>
              </a:buClr>
              <a:buSzTx/>
              <a:buNone/>
            </a:pPr>
            <a:r>
              <a:rPr lang="zh-CN" altLang="en-US" sz="2600" dirty="0">
                <a:latin typeface="Times New Roman" panose="02020503050405090304" pitchFamily="18" charset="0"/>
              </a:rPr>
              <a:t>位于用户与操作系统之间；</a:t>
            </a:r>
            <a:endParaRPr lang="zh-CN" altLang="en-US" sz="2600" dirty="0">
              <a:latin typeface="Times New Roman" panose="02020503050405090304" pitchFamily="18" charset="0"/>
            </a:endParaRPr>
          </a:p>
          <a:p>
            <a:pPr marL="393700" lvl="1" indent="0" eaLnBrk="1" hangingPunct="1">
              <a:buClr>
                <a:schemeClr val="tx1"/>
              </a:buClr>
              <a:buSzTx/>
              <a:buNone/>
            </a:pPr>
            <a:r>
              <a:rPr lang="zh-CN" altLang="en-US" sz="2600" dirty="0">
                <a:latin typeface="Times New Roman" panose="02020503050405090304" pitchFamily="18" charset="0"/>
              </a:rPr>
              <a:t>具有下述典型功能：</a:t>
            </a:r>
            <a:endParaRPr lang="zh-CN" altLang="en-US" sz="2600" dirty="0">
              <a:latin typeface="Times New Roman" panose="02020503050405090304" pitchFamily="18" charset="0"/>
            </a:endParaRPr>
          </a:p>
          <a:p>
            <a:pPr lvl="2" eaLnBrk="1" hangingPunct="1">
              <a:buClr>
                <a:schemeClr val="tx1"/>
              </a:buClr>
              <a:buFont typeface="Wingdings" panose="05000000000000000000" pitchFamily="2" charset="2"/>
              <a:buChar char="§"/>
            </a:pPr>
            <a:r>
              <a:rPr lang="zh-CN" altLang="en-US" sz="2600" dirty="0">
                <a:latin typeface="Times New Roman" panose="02020503050405090304" pitchFamily="18" charset="0"/>
              </a:rPr>
              <a:t>数据定义功能 </a:t>
            </a:r>
            <a:r>
              <a:rPr lang="en-US" altLang="zh-CN" sz="2600" dirty="0">
                <a:latin typeface="Times New Roman" panose="02020503050405090304" pitchFamily="18" charset="0"/>
              </a:rPr>
              <a:t>– D</a:t>
            </a:r>
            <a:r>
              <a:rPr lang="en-US" altLang="zh-CN" sz="2600" dirty="0">
                <a:solidFill>
                  <a:srgbClr val="FF0000"/>
                </a:solidFill>
                <a:latin typeface="Times New Roman" panose="02020503050405090304" pitchFamily="18" charset="0"/>
              </a:rPr>
              <a:t>D</a:t>
            </a:r>
            <a:r>
              <a:rPr lang="en-US" altLang="zh-CN" sz="2600" dirty="0">
                <a:latin typeface="Times New Roman" panose="02020503050405090304" pitchFamily="18" charset="0"/>
              </a:rPr>
              <a:t>L (</a:t>
            </a:r>
            <a:r>
              <a:rPr lang="zh-CN" altLang="en-US" sz="2600" dirty="0">
                <a:latin typeface="Times New Roman" panose="02020503050405090304" pitchFamily="18" charset="0"/>
              </a:rPr>
              <a:t>如</a:t>
            </a:r>
            <a:r>
              <a:rPr lang="en-US" altLang="zh-CN" sz="2600" dirty="0">
                <a:latin typeface="Times New Roman" panose="02020503050405090304" pitchFamily="18" charset="0"/>
              </a:rPr>
              <a:t>Create)</a:t>
            </a:r>
            <a:endParaRPr lang="en-US" altLang="zh-CN" sz="2600" dirty="0">
              <a:latin typeface="Times New Roman" panose="02020503050405090304" pitchFamily="18" charset="0"/>
            </a:endParaRPr>
          </a:p>
          <a:p>
            <a:pPr lvl="2" eaLnBrk="1" hangingPunct="1">
              <a:buClr>
                <a:schemeClr val="tx1"/>
              </a:buClr>
              <a:buFont typeface="Wingdings" panose="05000000000000000000" pitchFamily="2" charset="2"/>
              <a:buChar char="§"/>
            </a:pPr>
            <a:r>
              <a:rPr lang="zh-CN" altLang="en-US" sz="2600" dirty="0">
                <a:latin typeface="Times New Roman" panose="02020503050405090304" pitchFamily="18" charset="0"/>
              </a:rPr>
              <a:t>数据操作功能 </a:t>
            </a:r>
            <a:r>
              <a:rPr lang="en-US" altLang="zh-CN" sz="2600" dirty="0">
                <a:latin typeface="Times New Roman" panose="02020503050405090304" pitchFamily="18" charset="0"/>
              </a:rPr>
              <a:t>– D</a:t>
            </a:r>
            <a:r>
              <a:rPr lang="en-US" altLang="zh-CN" sz="2600" dirty="0">
                <a:solidFill>
                  <a:srgbClr val="FF0000"/>
                </a:solidFill>
                <a:latin typeface="Times New Roman" panose="02020503050405090304" pitchFamily="18" charset="0"/>
              </a:rPr>
              <a:t>M</a:t>
            </a:r>
            <a:r>
              <a:rPr lang="en-US" altLang="zh-CN" sz="2600" dirty="0">
                <a:latin typeface="Times New Roman" panose="02020503050405090304" pitchFamily="18" charset="0"/>
              </a:rPr>
              <a:t>L(</a:t>
            </a:r>
            <a:r>
              <a:rPr lang="zh-CN" altLang="en-US" sz="2600" dirty="0">
                <a:latin typeface="Times New Roman" panose="02020503050405090304" pitchFamily="18" charset="0"/>
              </a:rPr>
              <a:t>如</a:t>
            </a:r>
            <a:r>
              <a:rPr lang="en-US" altLang="zh-CN" sz="2600" dirty="0">
                <a:latin typeface="Times New Roman" panose="02020503050405090304" pitchFamily="18" charset="0"/>
              </a:rPr>
              <a:t>Select, Delete, Insert, Update)</a:t>
            </a:r>
            <a:endParaRPr lang="en-US" altLang="zh-CN" sz="2600" dirty="0">
              <a:latin typeface="Times New Roman" panose="02020503050405090304" pitchFamily="18" charset="0"/>
            </a:endParaRPr>
          </a:p>
          <a:p>
            <a:pPr lvl="2" eaLnBrk="1" hangingPunct="1">
              <a:buClr>
                <a:schemeClr val="tx1"/>
              </a:buClr>
              <a:buFont typeface="Wingdings" panose="05000000000000000000" pitchFamily="2" charset="2"/>
              <a:buChar char="§"/>
            </a:pPr>
            <a:r>
              <a:rPr lang="zh-CN" altLang="en-US" sz="2600" dirty="0">
                <a:latin typeface="Times New Roman" panose="02020503050405090304" pitchFamily="18" charset="0"/>
              </a:rPr>
              <a:t>数据库的运行管理</a:t>
            </a:r>
            <a:r>
              <a:rPr lang="en-US" altLang="zh-CN" sz="2600" dirty="0">
                <a:latin typeface="Times New Roman" panose="02020503050405090304" pitchFamily="18" charset="0"/>
              </a:rPr>
              <a:t>—D</a:t>
            </a:r>
            <a:r>
              <a:rPr lang="en-US" altLang="zh-CN" sz="2600" dirty="0">
                <a:solidFill>
                  <a:srgbClr val="FF0000"/>
                </a:solidFill>
                <a:latin typeface="Times New Roman" panose="02020503050405090304" pitchFamily="18" charset="0"/>
              </a:rPr>
              <a:t>C</a:t>
            </a:r>
            <a:r>
              <a:rPr lang="en-US" altLang="zh-CN" sz="2600" dirty="0">
                <a:latin typeface="Times New Roman" panose="02020503050405090304" pitchFamily="18" charset="0"/>
              </a:rPr>
              <a:t>L</a:t>
            </a:r>
            <a:r>
              <a:rPr lang="zh-CN" altLang="en-US" sz="2600" dirty="0">
                <a:latin typeface="Times New Roman" panose="02020503050405090304" pitchFamily="18" charset="0"/>
              </a:rPr>
              <a:t>（统一管理、控制）</a:t>
            </a:r>
            <a:endParaRPr lang="zh-CN" altLang="en-US" sz="2600" dirty="0"/>
          </a:p>
          <a:p>
            <a:pPr lvl="2" eaLnBrk="1" hangingPunct="1">
              <a:buClr>
                <a:schemeClr val="tx1"/>
              </a:buClr>
              <a:buFont typeface="Wingdings" panose="05000000000000000000" pitchFamily="2" charset="2"/>
              <a:buChar char="§"/>
            </a:pPr>
            <a:r>
              <a:rPr lang="zh-CN" altLang="en-US" sz="2600" dirty="0">
                <a:latin typeface="Times New Roman" panose="02020503050405090304" pitchFamily="18" charset="0"/>
              </a:rPr>
              <a:t>数据库的建立和维护功能（监视、分析）</a:t>
            </a:r>
            <a:endParaRPr lang="zh-CN" altLang="en-US" sz="2600" dirty="0">
              <a:latin typeface="Times New Roman" panose="02020503050405090304" pitchFamily="18" charset="0"/>
            </a:endParaRPr>
          </a:p>
        </p:txBody>
      </p:sp>
      <p:sp>
        <p:nvSpPr>
          <p:cNvPr id="5" name="灯片编号占位符 5"/>
          <p:cNvSpPr>
            <a:spLocks noGrp="1"/>
          </p:cNvSpPr>
          <p:nvPr>
            <p:ph type="sldNum" sz="quarter" idx="12"/>
          </p:nvPr>
        </p:nvSpPr>
        <p:spPr/>
        <p:txBody>
          <a:bodyPr>
            <a:normAutofit/>
          </a:bodyPr>
          <a:lstStyle/>
          <a:p>
            <a:pPr>
              <a:defRPr/>
            </a:pPr>
            <a:fld id="{A1B3F1DE-34B6-41D3-A031-D4BE6A2EDE3A}" type="slidenum">
              <a:rPr lang="en-US" altLang="zh-CN"/>
            </a:fld>
            <a:endParaRPr lang="en-US" altLang="zh-CN"/>
          </a:p>
        </p:txBody>
      </p:sp>
      <p:sp>
        <p:nvSpPr>
          <p:cNvPr id="4" name="圆角矩形标注 3"/>
          <p:cNvSpPr/>
          <p:nvPr/>
        </p:nvSpPr>
        <p:spPr>
          <a:xfrm>
            <a:off x="4859338" y="2636838"/>
            <a:ext cx="2305050" cy="612775"/>
          </a:xfrm>
          <a:prstGeom prst="wedgeRoundRectCallout">
            <a:avLst>
              <a:gd name="adj1" fmla="val -76253"/>
              <a:gd name="adj2" fmla="val 129407"/>
              <a:gd name="adj3" fmla="val 16667"/>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r>
              <a:rPr lang="en-US" altLang="zh-CN" dirty="0"/>
              <a:t>Data </a:t>
            </a:r>
            <a:r>
              <a:rPr lang="en-US" altLang="zh-CN" dirty="0">
                <a:solidFill>
                  <a:srgbClr val="FF0000"/>
                </a:solidFill>
              </a:rPr>
              <a:t>D</a:t>
            </a:r>
            <a:r>
              <a:rPr lang="en-US" altLang="zh-CN" dirty="0"/>
              <a:t>escribe</a:t>
            </a:r>
            <a:endParaRPr lang="zh-CN" altLang="en-US" dirty="0"/>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3"/>
          <p:cNvSpPr>
            <a:spLocks noGrp="1" noChangeArrowheads="1"/>
          </p:cNvSpPr>
          <p:nvPr>
            <p:ph idx="1"/>
          </p:nvPr>
        </p:nvSpPr>
        <p:spPr>
          <a:xfrm>
            <a:off x="533400" y="809625"/>
            <a:ext cx="8110538" cy="4191000"/>
          </a:xfrm>
        </p:spPr>
        <p:txBody>
          <a:bodyPr/>
          <a:lstStyle/>
          <a:p>
            <a:pPr marL="0" indent="0" eaLnBrk="1" hangingPunct="1">
              <a:buClr>
                <a:schemeClr val="tx1"/>
              </a:buClr>
              <a:buSzTx/>
              <a:buNone/>
            </a:pPr>
            <a:r>
              <a:rPr lang="zh-CN" altLang="en-US" sz="3200" b="1" dirty="0">
                <a:solidFill>
                  <a:srgbClr val="FF3300"/>
                </a:solidFill>
                <a:latin typeface="微软雅黑" panose="020B0503020204020204" pitchFamily="34" charset="-122"/>
                <a:ea typeface="微软雅黑" panose="020B0503020204020204" pitchFamily="34" charset="-122"/>
              </a:rPr>
              <a:t>数据库系统</a:t>
            </a:r>
            <a:r>
              <a:rPr lang="en-US" altLang="zh-CN" sz="3200" b="1" dirty="0">
                <a:solidFill>
                  <a:srgbClr val="FF3300"/>
                </a:solidFill>
                <a:latin typeface="微软雅黑" panose="020B0503020204020204" pitchFamily="34" charset="-122"/>
                <a:ea typeface="微软雅黑" panose="020B0503020204020204" pitchFamily="34" charset="-122"/>
              </a:rPr>
              <a:t>(DBS)</a:t>
            </a:r>
            <a:endParaRPr lang="en-US" altLang="zh-CN" sz="3200" b="1" dirty="0">
              <a:solidFill>
                <a:srgbClr val="FF3300"/>
              </a:solidFill>
              <a:latin typeface="微软雅黑" panose="020B0503020204020204" pitchFamily="34" charset="-122"/>
              <a:ea typeface="微软雅黑" panose="020B0503020204020204" pitchFamily="34" charset="-122"/>
            </a:endParaRPr>
          </a:p>
          <a:p>
            <a:pPr marL="357505" lvl="1" indent="-357505" eaLnBrk="1" hangingPunct="1">
              <a:buClr>
                <a:schemeClr val="tx1"/>
              </a:buClr>
              <a:buSzTx/>
              <a:buFont typeface="Wingdings" panose="05000000000000000000" pitchFamily="2" charset="2"/>
              <a:buChar char="§"/>
            </a:pPr>
            <a:r>
              <a:rPr lang="zh-CN" altLang="en-US" sz="2600" dirty="0">
                <a:solidFill>
                  <a:srgbClr val="FF0000"/>
                </a:solidFill>
                <a:latin typeface="Times New Roman" panose="02020503050405090304" pitchFamily="18" charset="0"/>
              </a:rPr>
              <a:t>计算机系统</a:t>
            </a:r>
            <a:r>
              <a:rPr lang="zh-CN" altLang="en-US" sz="2600" dirty="0">
                <a:latin typeface="Times New Roman" panose="02020503050405090304" pitchFamily="18" charset="0"/>
              </a:rPr>
              <a:t>引入数据库后的系统；</a:t>
            </a:r>
            <a:endParaRPr lang="zh-CN" altLang="en-US" sz="2600" dirty="0">
              <a:latin typeface="Times New Roman" panose="02020503050405090304" pitchFamily="18" charset="0"/>
            </a:endParaRPr>
          </a:p>
          <a:p>
            <a:pPr marL="357505" lvl="1" indent="-357505" eaLnBrk="1" hangingPunct="1">
              <a:buClr>
                <a:schemeClr val="tx1"/>
              </a:buClr>
              <a:buSzTx/>
              <a:buFont typeface="Wingdings" panose="05000000000000000000" pitchFamily="2" charset="2"/>
              <a:buChar char="§"/>
            </a:pPr>
            <a:r>
              <a:rPr lang="zh-CN" altLang="en-US" sz="2600" dirty="0">
                <a:latin typeface="Times New Roman" panose="02020503050405090304" pitchFamily="18" charset="0"/>
              </a:rPr>
              <a:t>包含：数据库管理系统</a:t>
            </a:r>
            <a:r>
              <a:rPr lang="en-US" altLang="zh-CN" sz="2600" dirty="0">
                <a:latin typeface="Times New Roman" panose="02020503050405090304" pitchFamily="18" charset="0"/>
              </a:rPr>
              <a:t>DBMS(</a:t>
            </a:r>
            <a:r>
              <a:rPr lang="zh-CN" altLang="en-US" sz="2600" dirty="0">
                <a:latin typeface="Times New Roman" panose="02020503050405090304" pitchFamily="18" charset="0"/>
              </a:rPr>
              <a:t>及开发工具</a:t>
            </a:r>
            <a:r>
              <a:rPr lang="en-US" altLang="zh-CN" sz="2600" dirty="0">
                <a:latin typeface="Times New Roman" panose="02020503050405090304" pitchFamily="18" charset="0"/>
              </a:rPr>
              <a:t>)</a:t>
            </a:r>
            <a:r>
              <a:rPr lang="zh-CN" altLang="en-US" sz="2600" dirty="0">
                <a:latin typeface="Times New Roman" panose="02020503050405090304" pitchFamily="18" charset="0"/>
              </a:rPr>
              <a:t>、应用系统、数据库管理员</a:t>
            </a:r>
            <a:r>
              <a:rPr lang="en-US" altLang="zh-CN" sz="2600" dirty="0">
                <a:latin typeface="Times New Roman" panose="02020503050405090304" pitchFamily="18" charset="0"/>
              </a:rPr>
              <a:t>(DBA)</a:t>
            </a:r>
            <a:r>
              <a:rPr lang="zh-CN" altLang="en-US" sz="2600" dirty="0">
                <a:latin typeface="Times New Roman" panose="02020503050405090304" pitchFamily="18" charset="0"/>
              </a:rPr>
              <a:t>、用户。</a:t>
            </a:r>
            <a:endParaRPr lang="zh-CN" altLang="en-US" sz="2600" dirty="0">
              <a:latin typeface="Times New Roman" panose="02020503050405090304" pitchFamily="18" charset="0"/>
            </a:endParaRPr>
          </a:p>
          <a:p>
            <a:pPr eaLnBrk="1" hangingPunct="1">
              <a:buClr>
                <a:schemeClr val="tx1"/>
              </a:buClr>
              <a:buSzTx/>
            </a:pPr>
            <a:endParaRPr lang="en-US" altLang="zh-CN" dirty="0"/>
          </a:p>
        </p:txBody>
      </p:sp>
      <p:sp>
        <p:nvSpPr>
          <p:cNvPr id="5" name="灯片编号占位符 5"/>
          <p:cNvSpPr>
            <a:spLocks noGrp="1"/>
          </p:cNvSpPr>
          <p:nvPr>
            <p:ph type="sldNum" sz="quarter" idx="12"/>
          </p:nvPr>
        </p:nvSpPr>
        <p:spPr/>
        <p:txBody>
          <a:bodyPr>
            <a:normAutofit/>
          </a:bodyPr>
          <a:lstStyle/>
          <a:p>
            <a:pPr>
              <a:defRPr/>
            </a:pPr>
            <a:fld id="{EF0A6AAC-BA83-45D3-B924-195C36A780DE}" type="slidenum">
              <a:rPr lang="en-US" altLang="zh-CN"/>
            </a:fld>
            <a:endParaRPr lang="en-US" altLang="zh-CN"/>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C4D0EC84-8812-40DE-A22A-20DBC5218BF8}" type="slidenum">
              <a:rPr lang="en-US" altLang="zh-CN" smtClean="0"/>
            </a:fld>
            <a:endParaRPr lang="en-US" altLang="zh-CN"/>
          </a:p>
        </p:txBody>
      </p:sp>
      <p:grpSp>
        <p:nvGrpSpPr>
          <p:cNvPr id="56323" name="Group 5"/>
          <p:cNvGrpSpPr/>
          <p:nvPr/>
        </p:nvGrpSpPr>
        <p:grpSpPr bwMode="auto">
          <a:xfrm>
            <a:off x="250825" y="260350"/>
            <a:ext cx="8534400" cy="4738688"/>
            <a:chOff x="48" y="1152"/>
            <a:chExt cx="5376" cy="2985"/>
          </a:xfrm>
        </p:grpSpPr>
        <p:sp>
          <p:nvSpPr>
            <p:cNvPr id="4" name="Text Box 6"/>
            <p:cNvSpPr txBox="1">
              <a:spLocks noChangeArrowheads="1"/>
            </p:cNvSpPr>
            <p:nvPr/>
          </p:nvSpPr>
          <p:spPr bwMode="auto">
            <a:xfrm>
              <a:off x="2577" y="3754"/>
              <a:ext cx="646" cy="383"/>
            </a:xfrm>
            <a:prstGeom prst="rect">
              <a:avLst/>
            </a:prstGeom>
            <a:gradFill rotWithShape="0">
              <a:gsLst>
                <a:gs pos="0">
                  <a:srgbClr val="5E9EFF"/>
                </a:gs>
                <a:gs pos="39999">
                  <a:srgbClr val="85C2FF"/>
                </a:gs>
                <a:gs pos="70000">
                  <a:srgbClr val="C4D6EB"/>
                </a:gs>
                <a:gs pos="100000">
                  <a:srgbClr val="FFEBFA"/>
                </a:gs>
              </a:gsLst>
              <a:lin ang="5400000" scaled="1"/>
            </a:gradFill>
            <a:ln w="28575" cap="sq">
              <a:solidFill>
                <a:schemeClr val="tx1"/>
              </a:solidFill>
              <a:miter lim="800000"/>
              <a:headEnd type="none" w="sm" len="sm"/>
              <a:tailEnd type="none" w="sm" len="sm"/>
            </a:ln>
          </p:spPr>
          <p:txBody>
            <a:bodyPr wrap="none" anchor="ctr">
              <a:spAutoFit/>
            </a:bodyPr>
            <a:lstStyle/>
            <a:p>
              <a:pPr algn="ctr">
                <a:spcBef>
                  <a:spcPct val="50000"/>
                </a:spcBef>
                <a:defRPr/>
              </a:pPr>
              <a:r>
                <a:rPr lang="zh-CN" altLang="en-US" sz="3200" b="1">
                  <a:latin typeface="+mn-ea"/>
                  <a:ea typeface="+mn-ea"/>
                </a:rPr>
                <a:t>硬件</a:t>
              </a:r>
              <a:endParaRPr lang="zh-CN" altLang="en-US" sz="4400">
                <a:latin typeface="+mn-ea"/>
                <a:ea typeface="+mn-ea"/>
              </a:endParaRPr>
            </a:p>
          </p:txBody>
        </p:sp>
        <p:sp>
          <p:nvSpPr>
            <p:cNvPr id="5" name="Text Box 7"/>
            <p:cNvSpPr txBox="1">
              <a:spLocks noChangeArrowheads="1"/>
            </p:cNvSpPr>
            <p:nvPr/>
          </p:nvSpPr>
          <p:spPr bwMode="auto">
            <a:xfrm>
              <a:off x="2281" y="3159"/>
              <a:ext cx="1158" cy="383"/>
            </a:xfrm>
            <a:prstGeom prst="rect">
              <a:avLst/>
            </a:prstGeom>
            <a:gradFill rotWithShape="0">
              <a:gsLst>
                <a:gs pos="0">
                  <a:srgbClr val="5E9EFF"/>
                </a:gs>
                <a:gs pos="39999">
                  <a:srgbClr val="85C2FF"/>
                </a:gs>
                <a:gs pos="70000">
                  <a:srgbClr val="C4D6EB"/>
                </a:gs>
                <a:gs pos="100000">
                  <a:srgbClr val="FFEBFA"/>
                </a:gs>
              </a:gsLst>
              <a:lin ang="5400000" scaled="1"/>
            </a:gradFill>
            <a:ln w="28575" cap="sq">
              <a:solidFill>
                <a:schemeClr val="tx1"/>
              </a:solidFill>
              <a:miter lim="800000"/>
              <a:headEnd type="none" w="sm" len="sm"/>
              <a:tailEnd type="none" w="sm" len="sm"/>
            </a:ln>
          </p:spPr>
          <p:txBody>
            <a:bodyPr wrap="none" anchor="ctr">
              <a:spAutoFit/>
            </a:bodyPr>
            <a:lstStyle/>
            <a:p>
              <a:pPr algn="ctr">
                <a:spcBef>
                  <a:spcPct val="50000"/>
                </a:spcBef>
                <a:defRPr/>
              </a:pPr>
              <a:r>
                <a:rPr lang="zh-CN" altLang="en-US" sz="3200" b="1">
                  <a:latin typeface="+mn-ea"/>
                  <a:ea typeface="+mn-ea"/>
                </a:rPr>
                <a:t>操作系统</a:t>
              </a:r>
              <a:endParaRPr lang="zh-CN" altLang="en-US" sz="4400">
                <a:latin typeface="+mn-ea"/>
                <a:ea typeface="+mn-ea"/>
              </a:endParaRPr>
            </a:p>
          </p:txBody>
        </p:sp>
        <p:sp>
          <p:nvSpPr>
            <p:cNvPr id="6" name="Text Box 8"/>
            <p:cNvSpPr txBox="1">
              <a:spLocks noChangeArrowheads="1"/>
            </p:cNvSpPr>
            <p:nvPr/>
          </p:nvSpPr>
          <p:spPr bwMode="auto">
            <a:xfrm>
              <a:off x="1831" y="2554"/>
              <a:ext cx="1935" cy="368"/>
            </a:xfrm>
            <a:prstGeom prst="rect">
              <a:avLst/>
            </a:prstGeom>
            <a:gradFill rotWithShape="0">
              <a:gsLst>
                <a:gs pos="0">
                  <a:srgbClr val="5E9EFF"/>
                </a:gs>
                <a:gs pos="39999">
                  <a:srgbClr val="85C2FF"/>
                </a:gs>
                <a:gs pos="70000">
                  <a:srgbClr val="C4D6EB"/>
                </a:gs>
                <a:gs pos="100000">
                  <a:srgbClr val="FFEBFA"/>
                </a:gs>
              </a:gsLst>
              <a:lin ang="5400000" scaled="1"/>
            </a:gradFill>
            <a:ln w="28575" cap="sq">
              <a:solidFill>
                <a:schemeClr val="tx1"/>
              </a:solidFill>
              <a:miter lim="800000"/>
              <a:headEnd type="none" w="sm" len="sm"/>
              <a:tailEnd type="none" w="sm" len="sm"/>
            </a:ln>
          </p:spPr>
          <p:txBody>
            <a:bodyPr wrap="none" anchor="ctr">
              <a:spAutoFit/>
            </a:bodyPr>
            <a:lstStyle/>
            <a:p>
              <a:pPr algn="ctr">
                <a:spcBef>
                  <a:spcPct val="50000"/>
                </a:spcBef>
                <a:defRPr/>
              </a:pPr>
              <a:r>
                <a:rPr lang="en-US" altLang="zh-CN" sz="3200" b="1" dirty="0">
                  <a:latin typeface="+mn-ea"/>
                  <a:ea typeface="+mn-ea"/>
                </a:rPr>
                <a:t>DBMS</a:t>
              </a:r>
              <a:r>
                <a:rPr lang="zh-CN" altLang="en-US" sz="3200" b="1" dirty="0">
                  <a:latin typeface="+mn-ea"/>
                  <a:ea typeface="+mn-ea"/>
                </a:rPr>
                <a:t>，编译系统</a:t>
              </a:r>
              <a:endParaRPr lang="zh-CN" altLang="en-US" sz="4400" dirty="0">
                <a:latin typeface="+mn-ea"/>
                <a:ea typeface="+mn-ea"/>
              </a:endParaRPr>
            </a:p>
          </p:txBody>
        </p:sp>
        <p:sp>
          <p:nvSpPr>
            <p:cNvPr id="7" name="Text Box 9"/>
            <p:cNvSpPr txBox="1">
              <a:spLocks noChangeArrowheads="1"/>
            </p:cNvSpPr>
            <p:nvPr/>
          </p:nvSpPr>
          <p:spPr bwMode="auto">
            <a:xfrm>
              <a:off x="1817" y="1930"/>
              <a:ext cx="2182" cy="383"/>
            </a:xfrm>
            <a:prstGeom prst="rect">
              <a:avLst/>
            </a:prstGeom>
            <a:gradFill rotWithShape="0">
              <a:gsLst>
                <a:gs pos="0">
                  <a:srgbClr val="5E9EFF"/>
                </a:gs>
                <a:gs pos="39999">
                  <a:srgbClr val="85C2FF"/>
                </a:gs>
                <a:gs pos="70000">
                  <a:srgbClr val="C4D6EB"/>
                </a:gs>
                <a:gs pos="100000">
                  <a:srgbClr val="FFEBFA"/>
                </a:gs>
              </a:gsLst>
              <a:lin ang="5400000" scaled="1"/>
            </a:gradFill>
            <a:ln w="28575" cap="sq">
              <a:solidFill>
                <a:schemeClr val="tx1"/>
              </a:solidFill>
              <a:miter lim="800000"/>
              <a:headEnd type="none" w="sm" len="sm"/>
              <a:tailEnd type="none" w="sm" len="sm"/>
            </a:ln>
          </p:spPr>
          <p:txBody>
            <a:bodyPr wrap="none" anchor="ctr">
              <a:spAutoFit/>
            </a:bodyPr>
            <a:lstStyle/>
            <a:p>
              <a:pPr algn="ctr">
                <a:spcBef>
                  <a:spcPct val="50000"/>
                </a:spcBef>
                <a:defRPr/>
              </a:pPr>
              <a:r>
                <a:rPr lang="zh-CN" altLang="en-US" sz="3200" b="1" dirty="0">
                  <a:latin typeface="+mn-ea"/>
                  <a:ea typeface="+mn-ea"/>
                </a:rPr>
                <a:t>应用开发工具软件</a:t>
              </a:r>
              <a:endParaRPr lang="zh-CN" altLang="en-US" dirty="0">
                <a:latin typeface="+mn-ea"/>
                <a:ea typeface="+mn-ea"/>
              </a:endParaRPr>
            </a:p>
          </p:txBody>
        </p:sp>
        <p:sp>
          <p:nvSpPr>
            <p:cNvPr id="8" name="Text Box 10"/>
            <p:cNvSpPr txBox="1">
              <a:spLocks noChangeArrowheads="1"/>
            </p:cNvSpPr>
            <p:nvPr/>
          </p:nvSpPr>
          <p:spPr bwMode="auto">
            <a:xfrm>
              <a:off x="2383" y="1287"/>
              <a:ext cx="1158" cy="383"/>
            </a:xfrm>
            <a:prstGeom prst="rect">
              <a:avLst/>
            </a:prstGeom>
            <a:gradFill rotWithShape="0">
              <a:gsLst>
                <a:gs pos="0">
                  <a:srgbClr val="5E9EFF"/>
                </a:gs>
                <a:gs pos="39999">
                  <a:srgbClr val="85C2FF"/>
                </a:gs>
                <a:gs pos="70000">
                  <a:srgbClr val="C4D6EB"/>
                </a:gs>
                <a:gs pos="100000">
                  <a:srgbClr val="FFEBFA"/>
                </a:gs>
              </a:gsLst>
              <a:lin ang="5400000" scaled="1"/>
            </a:gradFill>
            <a:ln w="28575" cap="sq">
              <a:solidFill>
                <a:schemeClr val="tx1"/>
              </a:solidFill>
              <a:miter lim="800000"/>
              <a:headEnd type="none" w="sm" len="sm"/>
              <a:tailEnd type="none" w="sm" len="sm"/>
            </a:ln>
          </p:spPr>
          <p:txBody>
            <a:bodyPr wrap="none" anchor="ctr">
              <a:spAutoFit/>
            </a:bodyPr>
            <a:lstStyle/>
            <a:p>
              <a:pPr algn="ctr">
                <a:spcBef>
                  <a:spcPct val="50000"/>
                </a:spcBef>
                <a:defRPr/>
              </a:pPr>
              <a:r>
                <a:rPr lang="zh-CN" altLang="en-US" sz="3200" b="1" dirty="0">
                  <a:latin typeface="+mn-ea"/>
                  <a:ea typeface="+mn-ea"/>
                </a:rPr>
                <a:t>应用系统</a:t>
              </a:r>
              <a:endParaRPr lang="zh-CN" altLang="en-US" dirty="0">
                <a:latin typeface="+mn-ea"/>
                <a:ea typeface="+mn-ea"/>
              </a:endParaRPr>
            </a:p>
          </p:txBody>
        </p:sp>
        <p:sp>
          <p:nvSpPr>
            <p:cNvPr id="56330" name="Line 11"/>
            <p:cNvSpPr>
              <a:spLocks noChangeShapeType="1"/>
            </p:cNvSpPr>
            <p:nvPr/>
          </p:nvSpPr>
          <p:spPr bwMode="auto">
            <a:xfrm>
              <a:off x="2160" y="3648"/>
              <a:ext cx="1536" cy="0"/>
            </a:xfrm>
            <a:prstGeom prst="line">
              <a:avLst/>
            </a:prstGeom>
            <a:noFill/>
            <a:ln w="28575" cap="sq">
              <a:solidFill>
                <a:schemeClr val="tx1"/>
              </a:solidFill>
              <a:round/>
              <a:headEnd type="none" w="sm" len="sm"/>
              <a:tailEnd type="none" w="sm" len="sm"/>
            </a:ln>
          </p:spPr>
          <p:txBody>
            <a:bodyPr wrap="none" anchor="ctr"/>
            <a:lstStyle/>
            <a:p>
              <a:endParaRPr lang="zh-CN" altLang="en-US"/>
            </a:p>
          </p:txBody>
        </p:sp>
        <p:sp>
          <p:nvSpPr>
            <p:cNvPr id="56331" name="Line 12"/>
            <p:cNvSpPr>
              <a:spLocks noChangeShapeType="1"/>
            </p:cNvSpPr>
            <p:nvPr/>
          </p:nvSpPr>
          <p:spPr bwMode="auto">
            <a:xfrm flipH="1">
              <a:off x="1584" y="3648"/>
              <a:ext cx="576" cy="432"/>
            </a:xfrm>
            <a:prstGeom prst="line">
              <a:avLst/>
            </a:prstGeom>
            <a:noFill/>
            <a:ln w="28575" cap="sq">
              <a:solidFill>
                <a:schemeClr val="tx1"/>
              </a:solidFill>
              <a:round/>
              <a:headEnd type="none" w="sm" len="sm"/>
              <a:tailEnd type="none" w="sm" len="sm"/>
            </a:ln>
          </p:spPr>
          <p:txBody>
            <a:bodyPr wrap="none" anchor="ctr"/>
            <a:lstStyle/>
            <a:p>
              <a:endParaRPr lang="zh-CN" altLang="en-US"/>
            </a:p>
          </p:txBody>
        </p:sp>
        <p:sp>
          <p:nvSpPr>
            <p:cNvPr id="56332" name="Line 13"/>
            <p:cNvSpPr>
              <a:spLocks noChangeShapeType="1"/>
            </p:cNvSpPr>
            <p:nvPr/>
          </p:nvSpPr>
          <p:spPr bwMode="auto">
            <a:xfrm>
              <a:off x="3696" y="3648"/>
              <a:ext cx="528" cy="384"/>
            </a:xfrm>
            <a:prstGeom prst="line">
              <a:avLst/>
            </a:prstGeom>
            <a:noFill/>
            <a:ln w="28575" cap="sq">
              <a:solidFill>
                <a:schemeClr val="tx1"/>
              </a:solidFill>
              <a:round/>
              <a:headEnd type="none" w="sm" len="sm"/>
              <a:tailEnd type="none" w="sm" len="sm"/>
            </a:ln>
          </p:spPr>
          <p:txBody>
            <a:bodyPr wrap="none" anchor="ctr"/>
            <a:lstStyle/>
            <a:p>
              <a:endParaRPr lang="zh-CN" altLang="en-US"/>
            </a:p>
          </p:txBody>
        </p:sp>
        <p:sp>
          <p:nvSpPr>
            <p:cNvPr id="56333" name="Line 14"/>
            <p:cNvSpPr>
              <a:spLocks noChangeShapeType="1"/>
            </p:cNvSpPr>
            <p:nvPr/>
          </p:nvSpPr>
          <p:spPr bwMode="auto">
            <a:xfrm>
              <a:off x="2064" y="3072"/>
              <a:ext cx="1728" cy="0"/>
            </a:xfrm>
            <a:prstGeom prst="line">
              <a:avLst/>
            </a:prstGeom>
            <a:noFill/>
            <a:ln w="28575" cap="sq">
              <a:solidFill>
                <a:schemeClr val="tx1"/>
              </a:solidFill>
              <a:round/>
              <a:headEnd type="none" w="sm" len="sm"/>
              <a:tailEnd type="none" w="sm" len="sm"/>
            </a:ln>
          </p:spPr>
          <p:txBody>
            <a:bodyPr wrap="none" anchor="ctr"/>
            <a:lstStyle/>
            <a:p>
              <a:endParaRPr lang="zh-CN" altLang="en-US"/>
            </a:p>
          </p:txBody>
        </p:sp>
        <p:sp>
          <p:nvSpPr>
            <p:cNvPr id="56334" name="Line 15"/>
            <p:cNvSpPr>
              <a:spLocks noChangeShapeType="1"/>
            </p:cNvSpPr>
            <p:nvPr/>
          </p:nvSpPr>
          <p:spPr bwMode="auto">
            <a:xfrm flipH="1">
              <a:off x="1488" y="3072"/>
              <a:ext cx="576" cy="432"/>
            </a:xfrm>
            <a:prstGeom prst="line">
              <a:avLst/>
            </a:prstGeom>
            <a:noFill/>
            <a:ln w="28575" cap="sq">
              <a:solidFill>
                <a:schemeClr val="tx1"/>
              </a:solidFill>
              <a:round/>
              <a:headEnd type="none" w="sm" len="sm"/>
              <a:tailEnd type="none" w="sm" len="sm"/>
            </a:ln>
          </p:spPr>
          <p:txBody>
            <a:bodyPr wrap="none" anchor="ctr"/>
            <a:lstStyle/>
            <a:p>
              <a:endParaRPr lang="zh-CN" altLang="en-US"/>
            </a:p>
          </p:txBody>
        </p:sp>
        <p:sp>
          <p:nvSpPr>
            <p:cNvPr id="56335" name="Line 16"/>
            <p:cNvSpPr>
              <a:spLocks noChangeShapeType="1"/>
            </p:cNvSpPr>
            <p:nvPr/>
          </p:nvSpPr>
          <p:spPr bwMode="auto">
            <a:xfrm>
              <a:off x="3792" y="3072"/>
              <a:ext cx="528" cy="384"/>
            </a:xfrm>
            <a:prstGeom prst="line">
              <a:avLst/>
            </a:prstGeom>
            <a:noFill/>
            <a:ln w="28575" cap="sq">
              <a:solidFill>
                <a:schemeClr val="tx1"/>
              </a:solidFill>
              <a:round/>
              <a:headEnd type="none" w="sm" len="sm"/>
              <a:tailEnd type="none" w="sm" len="sm"/>
            </a:ln>
          </p:spPr>
          <p:txBody>
            <a:bodyPr wrap="none" anchor="ctr"/>
            <a:lstStyle/>
            <a:p>
              <a:endParaRPr lang="zh-CN" altLang="en-US"/>
            </a:p>
          </p:txBody>
        </p:sp>
        <p:sp>
          <p:nvSpPr>
            <p:cNvPr id="56336" name="Line 17"/>
            <p:cNvSpPr>
              <a:spLocks noChangeShapeType="1"/>
            </p:cNvSpPr>
            <p:nvPr/>
          </p:nvSpPr>
          <p:spPr bwMode="auto">
            <a:xfrm>
              <a:off x="1584" y="2448"/>
              <a:ext cx="2544" cy="0"/>
            </a:xfrm>
            <a:prstGeom prst="line">
              <a:avLst/>
            </a:prstGeom>
            <a:noFill/>
            <a:ln w="28575" cap="sq">
              <a:solidFill>
                <a:schemeClr val="tx1"/>
              </a:solidFill>
              <a:round/>
              <a:headEnd type="none" w="sm" len="sm"/>
              <a:tailEnd type="none" w="sm" len="sm"/>
            </a:ln>
          </p:spPr>
          <p:txBody>
            <a:bodyPr wrap="none" anchor="ctr"/>
            <a:lstStyle/>
            <a:p>
              <a:endParaRPr lang="zh-CN" altLang="en-US"/>
            </a:p>
          </p:txBody>
        </p:sp>
        <p:sp>
          <p:nvSpPr>
            <p:cNvPr id="56337" name="Line 18"/>
            <p:cNvSpPr>
              <a:spLocks noChangeShapeType="1"/>
            </p:cNvSpPr>
            <p:nvPr/>
          </p:nvSpPr>
          <p:spPr bwMode="auto">
            <a:xfrm flipH="1">
              <a:off x="1008" y="2448"/>
              <a:ext cx="576" cy="432"/>
            </a:xfrm>
            <a:prstGeom prst="line">
              <a:avLst/>
            </a:prstGeom>
            <a:noFill/>
            <a:ln w="28575" cap="sq">
              <a:solidFill>
                <a:schemeClr val="tx1"/>
              </a:solidFill>
              <a:round/>
              <a:headEnd type="none" w="sm" len="sm"/>
              <a:tailEnd type="none" w="sm" len="sm"/>
            </a:ln>
          </p:spPr>
          <p:txBody>
            <a:bodyPr wrap="none" anchor="ctr"/>
            <a:lstStyle/>
            <a:p>
              <a:endParaRPr lang="zh-CN" altLang="en-US"/>
            </a:p>
          </p:txBody>
        </p:sp>
        <p:sp>
          <p:nvSpPr>
            <p:cNvPr id="56338" name="Line 19"/>
            <p:cNvSpPr>
              <a:spLocks noChangeShapeType="1"/>
            </p:cNvSpPr>
            <p:nvPr/>
          </p:nvSpPr>
          <p:spPr bwMode="auto">
            <a:xfrm>
              <a:off x="4128" y="2448"/>
              <a:ext cx="528" cy="384"/>
            </a:xfrm>
            <a:prstGeom prst="line">
              <a:avLst/>
            </a:prstGeom>
            <a:noFill/>
            <a:ln w="28575" cap="sq">
              <a:solidFill>
                <a:schemeClr val="tx1"/>
              </a:solidFill>
              <a:round/>
              <a:headEnd type="none" w="sm" len="sm"/>
              <a:tailEnd type="none" w="sm" len="sm"/>
            </a:ln>
          </p:spPr>
          <p:txBody>
            <a:bodyPr wrap="none" anchor="ctr"/>
            <a:lstStyle/>
            <a:p>
              <a:endParaRPr lang="zh-CN" altLang="en-US"/>
            </a:p>
          </p:txBody>
        </p:sp>
        <p:sp>
          <p:nvSpPr>
            <p:cNvPr id="56339" name="Line 20"/>
            <p:cNvSpPr>
              <a:spLocks noChangeShapeType="1"/>
            </p:cNvSpPr>
            <p:nvPr/>
          </p:nvSpPr>
          <p:spPr bwMode="auto">
            <a:xfrm>
              <a:off x="1584" y="1824"/>
              <a:ext cx="2544" cy="0"/>
            </a:xfrm>
            <a:prstGeom prst="line">
              <a:avLst/>
            </a:prstGeom>
            <a:noFill/>
            <a:ln w="28575" cap="sq">
              <a:solidFill>
                <a:schemeClr val="tx1"/>
              </a:solidFill>
              <a:round/>
              <a:headEnd type="none" w="sm" len="sm"/>
              <a:tailEnd type="none" w="sm" len="sm"/>
            </a:ln>
          </p:spPr>
          <p:txBody>
            <a:bodyPr wrap="none" anchor="ctr"/>
            <a:lstStyle/>
            <a:p>
              <a:endParaRPr lang="zh-CN" altLang="en-US"/>
            </a:p>
          </p:txBody>
        </p:sp>
        <p:sp>
          <p:nvSpPr>
            <p:cNvPr id="56340" name="Line 21"/>
            <p:cNvSpPr>
              <a:spLocks noChangeShapeType="1"/>
            </p:cNvSpPr>
            <p:nvPr/>
          </p:nvSpPr>
          <p:spPr bwMode="auto">
            <a:xfrm flipH="1">
              <a:off x="1008" y="1824"/>
              <a:ext cx="576" cy="432"/>
            </a:xfrm>
            <a:prstGeom prst="line">
              <a:avLst/>
            </a:prstGeom>
            <a:noFill/>
            <a:ln w="28575" cap="sq">
              <a:solidFill>
                <a:schemeClr val="tx1"/>
              </a:solidFill>
              <a:round/>
              <a:headEnd type="none" w="sm" len="sm"/>
              <a:tailEnd type="none" w="sm" len="sm"/>
            </a:ln>
          </p:spPr>
          <p:txBody>
            <a:bodyPr wrap="none" anchor="ctr"/>
            <a:lstStyle/>
            <a:p>
              <a:endParaRPr lang="zh-CN" altLang="en-US"/>
            </a:p>
          </p:txBody>
        </p:sp>
        <p:sp>
          <p:nvSpPr>
            <p:cNvPr id="56341" name="Line 22"/>
            <p:cNvSpPr>
              <a:spLocks noChangeShapeType="1"/>
            </p:cNvSpPr>
            <p:nvPr/>
          </p:nvSpPr>
          <p:spPr bwMode="auto">
            <a:xfrm>
              <a:off x="4128" y="1824"/>
              <a:ext cx="528" cy="384"/>
            </a:xfrm>
            <a:prstGeom prst="line">
              <a:avLst/>
            </a:prstGeom>
            <a:noFill/>
            <a:ln w="28575" cap="sq">
              <a:solidFill>
                <a:schemeClr val="tx1"/>
              </a:solidFill>
              <a:round/>
              <a:headEnd type="none" w="sm" len="sm"/>
              <a:tailEnd type="none" w="sm" len="sm"/>
            </a:ln>
          </p:spPr>
          <p:txBody>
            <a:bodyPr wrap="none" anchor="ctr"/>
            <a:lstStyle/>
            <a:p>
              <a:endParaRPr lang="zh-CN" altLang="en-US"/>
            </a:p>
          </p:txBody>
        </p:sp>
        <p:sp>
          <p:nvSpPr>
            <p:cNvPr id="56342" name="AutoShape 23"/>
            <p:cNvSpPr>
              <a:spLocks noChangeArrowheads="1"/>
            </p:cNvSpPr>
            <p:nvPr/>
          </p:nvSpPr>
          <p:spPr bwMode="auto">
            <a:xfrm>
              <a:off x="4176" y="1152"/>
              <a:ext cx="1248" cy="576"/>
            </a:xfrm>
            <a:prstGeom prst="wedgeRoundRectCallout">
              <a:avLst>
                <a:gd name="adj1" fmla="val -64421"/>
                <a:gd name="adj2" fmla="val 91667"/>
                <a:gd name="adj3" fmla="val 16667"/>
              </a:avLst>
            </a:prstGeom>
            <a:gradFill rotWithShape="0">
              <a:gsLst>
                <a:gs pos="0">
                  <a:srgbClr val="5E9EFF"/>
                </a:gs>
                <a:gs pos="39999">
                  <a:srgbClr val="85C2FF"/>
                </a:gs>
                <a:gs pos="70000">
                  <a:srgbClr val="C4D6EB"/>
                </a:gs>
                <a:gs pos="100000">
                  <a:srgbClr val="FFEBFA"/>
                </a:gs>
              </a:gsLst>
              <a:lin ang="5400000" scaled="1"/>
            </a:gradFill>
            <a:ln w="28575" cap="sq">
              <a:solidFill>
                <a:schemeClr val="tx1"/>
              </a:solidFill>
              <a:miter lim="800000"/>
              <a:headEnd type="none" w="sm" len="sm"/>
              <a:tailEnd type="none" w="sm" len="sm"/>
            </a:ln>
          </p:spPr>
          <p:txBody>
            <a:bodyPr wrap="none" anchor="ctr"/>
            <a:lstStyle/>
            <a:p>
              <a:pPr algn="ctr"/>
              <a:r>
                <a:rPr lang="en-US" altLang="zh-CN" sz="2800" dirty="0">
                  <a:latin typeface="Times New Roman" panose="02020503050405090304" pitchFamily="18" charset="0"/>
                </a:rPr>
                <a:t>VC</a:t>
              </a:r>
              <a:endParaRPr lang="en-US" altLang="zh-CN" sz="2800" dirty="0">
                <a:latin typeface="Times New Roman" panose="02020503050405090304" pitchFamily="18" charset="0"/>
              </a:endParaRPr>
            </a:p>
            <a:p>
              <a:pPr algn="ctr"/>
              <a:r>
                <a:rPr lang="en-US" altLang="zh-CN" sz="2800" dirty="0">
                  <a:latin typeface="Times New Roman" panose="02020503050405090304" pitchFamily="18" charset="0"/>
                </a:rPr>
                <a:t>C#, Java</a:t>
              </a:r>
              <a:endParaRPr lang="en-US" altLang="zh-CN" sz="2800" dirty="0">
                <a:latin typeface="Times New Roman" panose="02020503050405090304" pitchFamily="18" charset="0"/>
              </a:endParaRPr>
            </a:p>
          </p:txBody>
        </p:sp>
        <p:sp>
          <p:nvSpPr>
            <p:cNvPr id="56343" name="AutoShape 24"/>
            <p:cNvSpPr>
              <a:spLocks noChangeArrowheads="1"/>
            </p:cNvSpPr>
            <p:nvPr/>
          </p:nvSpPr>
          <p:spPr bwMode="auto">
            <a:xfrm rot="16200000">
              <a:off x="298" y="1526"/>
              <a:ext cx="864" cy="1364"/>
            </a:xfrm>
            <a:prstGeom prst="wedgeRoundRectCallout">
              <a:avLst>
                <a:gd name="adj1" fmla="val -35095"/>
                <a:gd name="adj2" fmla="val 79637"/>
                <a:gd name="adj3" fmla="val 16667"/>
              </a:avLst>
            </a:prstGeom>
            <a:gradFill rotWithShape="0">
              <a:gsLst>
                <a:gs pos="0">
                  <a:srgbClr val="5E9EFF"/>
                </a:gs>
                <a:gs pos="39999">
                  <a:srgbClr val="85C2FF"/>
                </a:gs>
                <a:gs pos="70000">
                  <a:srgbClr val="C4D6EB"/>
                </a:gs>
                <a:gs pos="100000">
                  <a:srgbClr val="FFEBFA"/>
                </a:gs>
              </a:gsLst>
              <a:lin ang="5400000" scaled="1"/>
            </a:gradFill>
            <a:ln w="28575" cap="sq">
              <a:solidFill>
                <a:schemeClr val="tx1"/>
              </a:solidFill>
              <a:miter lim="800000"/>
              <a:headEnd type="none" w="sm" len="sm"/>
              <a:tailEnd type="none" w="sm" len="sm"/>
            </a:ln>
          </p:spPr>
          <p:txBody>
            <a:bodyPr vert="eaVert" wrap="none" anchor="ctr"/>
            <a:lstStyle/>
            <a:p>
              <a:pPr algn="ctr">
                <a:lnSpc>
                  <a:spcPct val="75000"/>
                </a:lnSpc>
              </a:pPr>
              <a:r>
                <a:rPr lang="en-US" altLang="zh-CN" sz="2800" dirty="0">
                  <a:latin typeface="Times New Roman" panose="02020503050405090304" pitchFamily="18" charset="0"/>
                </a:rPr>
                <a:t>Oracle,</a:t>
              </a:r>
              <a:endParaRPr lang="en-US" altLang="zh-CN" sz="2800" dirty="0">
                <a:latin typeface="Times New Roman" panose="02020503050405090304" pitchFamily="18" charset="0"/>
              </a:endParaRPr>
            </a:p>
            <a:p>
              <a:pPr algn="ctr">
                <a:lnSpc>
                  <a:spcPct val="75000"/>
                </a:lnSpc>
              </a:pPr>
              <a:r>
                <a:rPr lang="en-US" altLang="zh-CN" sz="2800" dirty="0">
                  <a:latin typeface="Times New Roman" panose="02020503050405090304" pitchFamily="18" charset="0"/>
                </a:rPr>
                <a:t>SQL Server,</a:t>
              </a:r>
              <a:endParaRPr lang="en-US" altLang="zh-CN" sz="2800" dirty="0">
                <a:latin typeface="Times New Roman" panose="02020503050405090304" pitchFamily="18" charset="0"/>
              </a:endParaRPr>
            </a:p>
            <a:p>
              <a:pPr algn="ctr">
                <a:lnSpc>
                  <a:spcPct val="75000"/>
                </a:lnSpc>
              </a:pPr>
              <a:r>
                <a:rPr lang="en-US" altLang="zh-CN" sz="2800" dirty="0" err="1">
                  <a:latin typeface="Times New Roman" panose="02020503050405090304" pitchFamily="18" charset="0"/>
                </a:rPr>
                <a:t>Mysql</a:t>
              </a:r>
              <a:r>
                <a:rPr lang="en-US" altLang="zh-CN" sz="2800" dirty="0">
                  <a:latin typeface="Times New Roman" panose="02020503050405090304" pitchFamily="18" charset="0"/>
                </a:rPr>
                <a:t>, DM</a:t>
              </a:r>
              <a:r>
                <a:rPr lang="zh-CN" altLang="en-US" sz="2800" dirty="0">
                  <a:latin typeface="Times New Roman" panose="02020503050405090304" pitchFamily="18" charset="0"/>
                </a:rPr>
                <a:t>，</a:t>
              </a:r>
              <a:endParaRPr lang="en-US" altLang="zh-CN" sz="2800" dirty="0">
                <a:latin typeface="Times New Roman" panose="02020503050405090304" pitchFamily="18" charset="0"/>
              </a:endParaRPr>
            </a:p>
          </p:txBody>
        </p:sp>
      </p:grpSp>
      <p:sp>
        <p:nvSpPr>
          <p:cNvPr id="56324" name="Text Box 25"/>
          <p:cNvSpPr txBox="1">
            <a:spLocks noChangeArrowheads="1"/>
          </p:cNvSpPr>
          <p:nvPr/>
        </p:nvSpPr>
        <p:spPr bwMode="auto">
          <a:xfrm>
            <a:off x="2613025" y="5518150"/>
            <a:ext cx="4146550" cy="457200"/>
          </a:xfrm>
          <a:prstGeom prst="rect">
            <a:avLst/>
          </a:prstGeom>
          <a:noFill/>
          <a:ln w="9525">
            <a:noFill/>
            <a:miter lim="800000"/>
          </a:ln>
        </p:spPr>
        <p:txBody>
          <a:bodyPr wrap="none">
            <a:spAutoFit/>
          </a:bodyPr>
          <a:lstStyle/>
          <a:p>
            <a:pPr algn="ctr"/>
            <a:r>
              <a:rPr lang="zh-CN" altLang="en-US"/>
              <a:t>数据库在计算机系统中的地位</a:t>
            </a:r>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a:xfrm>
            <a:off x="395288" y="530225"/>
            <a:ext cx="8162925" cy="762000"/>
          </a:xfrm>
        </p:spPr>
        <p:txBody>
          <a:bodyPr>
            <a:normAutofit fontScale="90000"/>
          </a:bodyPr>
          <a:lstStyle/>
          <a:p>
            <a:pPr eaLnBrk="1" fontAlgn="auto" hangingPunct="1">
              <a:spcAft>
                <a:spcPts val="0"/>
              </a:spcAft>
              <a:defRPr/>
            </a:pPr>
            <a:r>
              <a:rPr lang="zh-CN" altLang="en-US" dirty="0">
                <a:solidFill>
                  <a:srgbClr val="FF0000"/>
                </a:solidFill>
                <a:latin typeface="宋体" pitchFamily="2" charset="-122"/>
                <a:ea typeface="宋体" pitchFamily="2" charset="-122"/>
              </a:rPr>
              <a:t>计算机系统的运行机制</a:t>
            </a:r>
            <a:endParaRPr lang="zh-CN" altLang="en-US" dirty="0">
              <a:solidFill>
                <a:srgbClr val="FF0000"/>
              </a:solidFill>
              <a:latin typeface="宋体" pitchFamily="2" charset="-122"/>
              <a:ea typeface="宋体" pitchFamily="2" charset="-122"/>
            </a:endParaRPr>
          </a:p>
        </p:txBody>
      </p:sp>
      <p:sp>
        <p:nvSpPr>
          <p:cNvPr id="101379" name="Rectangle 3"/>
          <p:cNvSpPr>
            <a:spLocks noGrp="1" noChangeArrowheads="1"/>
          </p:cNvSpPr>
          <p:nvPr>
            <p:ph idx="1"/>
          </p:nvPr>
        </p:nvSpPr>
        <p:spPr>
          <a:xfrm>
            <a:off x="2987825" y="1340768"/>
            <a:ext cx="5400600" cy="647700"/>
          </a:xfrm>
        </p:spPr>
        <p:txBody>
          <a:bodyPr/>
          <a:lstStyle/>
          <a:p>
            <a:pPr eaLnBrk="1" hangingPunct="1">
              <a:buFont typeface="Wingdings" panose="05000000000000000000" pitchFamily="2" charset="2"/>
              <a:buNone/>
            </a:pPr>
            <a:r>
              <a:rPr lang="zh-CN" altLang="en-US" sz="2800" dirty="0">
                <a:solidFill>
                  <a:srgbClr val="FF0000"/>
                </a:solidFill>
              </a:rPr>
              <a:t>操作系统（以物理块为单位）</a:t>
            </a:r>
            <a:endParaRPr lang="zh-CN" altLang="en-US" sz="2800" dirty="0">
              <a:solidFill>
                <a:srgbClr val="FF0000"/>
              </a:solidFill>
            </a:endParaRPr>
          </a:p>
        </p:txBody>
      </p:sp>
      <p:sp>
        <p:nvSpPr>
          <p:cNvPr id="10" name="灯片编号占位符 5"/>
          <p:cNvSpPr>
            <a:spLocks noGrp="1"/>
          </p:cNvSpPr>
          <p:nvPr>
            <p:ph type="sldNum" sz="quarter" idx="12"/>
          </p:nvPr>
        </p:nvSpPr>
        <p:spPr/>
        <p:txBody>
          <a:bodyPr>
            <a:normAutofit/>
          </a:bodyPr>
          <a:lstStyle/>
          <a:p>
            <a:pPr>
              <a:defRPr/>
            </a:pPr>
            <a:fld id="{8C5BF412-2409-4A3B-BFED-D9D6BF8783EE}" type="slidenum">
              <a:rPr lang="en-US" altLang="zh-CN"/>
            </a:fld>
            <a:endParaRPr lang="en-US" altLang="zh-CN"/>
          </a:p>
        </p:txBody>
      </p:sp>
      <p:sp>
        <p:nvSpPr>
          <p:cNvPr id="101380" name="Rectangle 4"/>
          <p:cNvSpPr>
            <a:spLocks noChangeArrowheads="1"/>
          </p:cNvSpPr>
          <p:nvPr/>
        </p:nvSpPr>
        <p:spPr bwMode="auto">
          <a:xfrm>
            <a:off x="4427984" y="2204864"/>
            <a:ext cx="4464496" cy="647700"/>
          </a:xfrm>
          <a:prstGeom prst="rect">
            <a:avLst/>
          </a:prstGeom>
          <a:noFill/>
          <a:ln w="9525">
            <a:noFill/>
            <a:miter lim="800000"/>
          </a:ln>
        </p:spPr>
        <p:txBody>
          <a:bodyPr/>
          <a:lstStyle/>
          <a:p>
            <a:pPr marL="342900" indent="-342900">
              <a:spcBef>
                <a:spcPct val="20000"/>
              </a:spcBef>
              <a:buClr>
                <a:schemeClr val="folHlink"/>
              </a:buClr>
              <a:buSzPct val="75000"/>
              <a:buFont typeface="Wingdings" panose="05000000000000000000" pitchFamily="2" charset="2"/>
              <a:buNone/>
            </a:pPr>
            <a:r>
              <a:rPr lang="zh-CN" altLang="en-US" sz="2800" dirty="0">
                <a:solidFill>
                  <a:srgbClr val="FF0000"/>
                </a:solidFill>
              </a:rPr>
              <a:t>由</a:t>
            </a:r>
            <a:r>
              <a:rPr lang="en-US" altLang="zh-CN" sz="2800" dirty="0">
                <a:solidFill>
                  <a:srgbClr val="FF0000"/>
                </a:solidFill>
              </a:rPr>
              <a:t>DBMS</a:t>
            </a:r>
            <a:r>
              <a:rPr lang="zh-CN" altLang="en-US" sz="2800" dirty="0">
                <a:solidFill>
                  <a:srgbClr val="FF0000"/>
                </a:solidFill>
              </a:rPr>
              <a:t>管理（更专业）</a:t>
            </a:r>
            <a:endParaRPr lang="zh-CN" altLang="en-US" sz="2800" dirty="0">
              <a:solidFill>
                <a:srgbClr val="FF0000"/>
              </a:solidFill>
            </a:endParaRPr>
          </a:p>
        </p:txBody>
      </p:sp>
      <p:sp>
        <p:nvSpPr>
          <p:cNvPr id="101381" name="Rectangle 5"/>
          <p:cNvSpPr>
            <a:spLocks noChangeArrowheads="1"/>
          </p:cNvSpPr>
          <p:nvPr/>
        </p:nvSpPr>
        <p:spPr bwMode="auto">
          <a:xfrm>
            <a:off x="1259633" y="3645024"/>
            <a:ext cx="7704856" cy="1223963"/>
          </a:xfrm>
          <a:prstGeom prst="rect">
            <a:avLst/>
          </a:prstGeom>
          <a:noFill/>
          <a:ln w="9525">
            <a:noFill/>
            <a:miter lim="800000"/>
          </a:ln>
        </p:spPr>
        <p:txBody>
          <a:bodyPr/>
          <a:lstStyle/>
          <a:p>
            <a:pPr marL="342900" indent="-342900">
              <a:spcBef>
                <a:spcPct val="20000"/>
              </a:spcBef>
              <a:buClr>
                <a:schemeClr val="folHlink"/>
              </a:buClr>
              <a:buSzPct val="75000"/>
              <a:buFont typeface="Wingdings" panose="05000000000000000000" pitchFamily="2" charset="2"/>
              <a:buNone/>
            </a:pPr>
            <a:r>
              <a:rPr lang="en-US" altLang="zh-CN" sz="2800" dirty="0">
                <a:solidFill>
                  <a:srgbClr val="FF0000"/>
                </a:solidFill>
              </a:rPr>
              <a:t>DBMS:</a:t>
            </a:r>
            <a:r>
              <a:rPr lang="zh-CN" altLang="en-US" sz="2800" dirty="0">
                <a:solidFill>
                  <a:srgbClr val="FF0000"/>
                </a:solidFill>
              </a:rPr>
              <a:t>专有的缓存管理进程</a:t>
            </a:r>
            <a:endParaRPr lang="en-US" altLang="zh-CN" sz="2800" dirty="0">
              <a:solidFill>
                <a:srgbClr val="FF0000"/>
              </a:solidFill>
            </a:endParaRPr>
          </a:p>
          <a:p>
            <a:pPr marL="342900" indent="-342900">
              <a:spcBef>
                <a:spcPct val="20000"/>
              </a:spcBef>
              <a:buClr>
                <a:schemeClr val="folHlink"/>
              </a:buClr>
              <a:buSzPct val="75000"/>
              <a:buFont typeface="Wingdings" panose="05000000000000000000" pitchFamily="2" charset="2"/>
              <a:buNone/>
            </a:pPr>
            <a:r>
              <a:rPr lang="zh-CN" altLang="en-US" sz="2800" dirty="0">
                <a:solidFill>
                  <a:srgbClr val="FF0000"/>
                </a:solidFill>
              </a:rPr>
              <a:t>          或者</a:t>
            </a:r>
            <a:r>
              <a:rPr lang="en-US" altLang="zh-CN" sz="2800" dirty="0">
                <a:solidFill>
                  <a:srgbClr val="FF0000"/>
                </a:solidFill>
              </a:rPr>
              <a:t>DBMS</a:t>
            </a:r>
            <a:r>
              <a:rPr lang="zh-CN" altLang="en-US" sz="2800" dirty="0">
                <a:solidFill>
                  <a:srgbClr val="FF0000"/>
                </a:solidFill>
              </a:rPr>
              <a:t>函数链入应用程序进程</a:t>
            </a:r>
            <a:endParaRPr lang="zh-CN" altLang="en-US" sz="2800" dirty="0">
              <a:solidFill>
                <a:srgbClr val="FF0000"/>
              </a:solidFill>
            </a:endParaRPr>
          </a:p>
        </p:txBody>
      </p:sp>
      <p:sp>
        <p:nvSpPr>
          <p:cNvPr id="101382" name="Rectangle 6"/>
          <p:cNvSpPr>
            <a:spLocks noChangeArrowheads="1"/>
          </p:cNvSpPr>
          <p:nvPr/>
        </p:nvSpPr>
        <p:spPr bwMode="auto">
          <a:xfrm>
            <a:off x="1187625" y="5310143"/>
            <a:ext cx="7848872" cy="647700"/>
          </a:xfrm>
          <a:prstGeom prst="rect">
            <a:avLst/>
          </a:prstGeom>
          <a:noFill/>
          <a:ln w="9525">
            <a:noFill/>
            <a:miter lim="800000"/>
          </a:ln>
        </p:spPr>
        <p:txBody>
          <a:bodyPr/>
          <a:lstStyle/>
          <a:p>
            <a:pPr marL="342900" indent="-342900">
              <a:spcBef>
                <a:spcPct val="20000"/>
              </a:spcBef>
              <a:buClr>
                <a:schemeClr val="folHlink"/>
              </a:buClr>
              <a:buSzPct val="75000"/>
              <a:buFont typeface="Wingdings" panose="05000000000000000000" pitchFamily="2" charset="2"/>
              <a:buNone/>
            </a:pPr>
            <a:r>
              <a:rPr lang="en-US" altLang="zh-CN" sz="2800" dirty="0">
                <a:solidFill>
                  <a:srgbClr val="FF0000"/>
                </a:solidFill>
              </a:rPr>
              <a:t>DBMS</a:t>
            </a:r>
            <a:r>
              <a:rPr lang="zh-CN" altLang="en-US" sz="2800" dirty="0">
                <a:solidFill>
                  <a:srgbClr val="FF0000"/>
                </a:solidFill>
              </a:rPr>
              <a:t>进程中的数据操作函数进行缓存数据扫描</a:t>
            </a:r>
            <a:endParaRPr lang="zh-CN" altLang="en-US" sz="2800" dirty="0">
              <a:solidFill>
                <a:srgbClr val="FF0000"/>
              </a:solidFill>
            </a:endParaRPr>
          </a:p>
        </p:txBody>
      </p:sp>
      <p:sp>
        <p:nvSpPr>
          <p:cNvPr id="101383" name="Rectangle 7"/>
          <p:cNvSpPr>
            <a:spLocks noChangeArrowheads="1"/>
          </p:cNvSpPr>
          <p:nvPr/>
        </p:nvSpPr>
        <p:spPr bwMode="auto">
          <a:xfrm>
            <a:off x="4355976" y="5891212"/>
            <a:ext cx="3488527" cy="647700"/>
          </a:xfrm>
          <a:prstGeom prst="rect">
            <a:avLst/>
          </a:prstGeom>
          <a:noFill/>
          <a:ln w="9525">
            <a:noFill/>
            <a:miter lim="800000"/>
          </a:ln>
        </p:spPr>
        <p:txBody>
          <a:bodyPr/>
          <a:lstStyle/>
          <a:p>
            <a:pPr marL="342900" indent="-342900">
              <a:spcBef>
                <a:spcPct val="20000"/>
              </a:spcBef>
              <a:buClr>
                <a:schemeClr val="folHlink"/>
              </a:buClr>
              <a:buSzPct val="75000"/>
              <a:buFont typeface="Wingdings" panose="05000000000000000000" pitchFamily="2" charset="2"/>
              <a:buNone/>
            </a:pPr>
            <a:r>
              <a:rPr lang="en-US" altLang="zh-CN" sz="2800" dirty="0">
                <a:solidFill>
                  <a:srgbClr val="FF0000"/>
                </a:solidFill>
              </a:rPr>
              <a:t>SQL</a:t>
            </a:r>
            <a:r>
              <a:rPr lang="zh-CN" altLang="en-US" sz="2800" dirty="0">
                <a:solidFill>
                  <a:srgbClr val="FF0000"/>
                </a:solidFill>
              </a:rPr>
              <a:t>语言给出描述</a:t>
            </a:r>
            <a:endParaRPr lang="zh-CN" altLang="en-US" sz="2800" dirty="0">
              <a:solidFill>
                <a:srgbClr val="FF0000"/>
              </a:solidFill>
            </a:endParaRPr>
          </a:p>
        </p:txBody>
      </p:sp>
      <p:sp>
        <p:nvSpPr>
          <p:cNvPr id="9" name="矩形 8"/>
          <p:cNvSpPr/>
          <p:nvPr/>
        </p:nvSpPr>
        <p:spPr>
          <a:xfrm>
            <a:off x="395536" y="1412776"/>
            <a:ext cx="2339102" cy="523220"/>
          </a:xfrm>
          <a:prstGeom prst="rect">
            <a:avLst/>
          </a:prstGeom>
        </p:spPr>
        <p:txBody>
          <a:bodyPr wrap="none">
            <a:spAutoFit/>
          </a:bodyPr>
          <a:lstStyle/>
          <a:p>
            <a:r>
              <a:rPr lang="zh-CN" altLang="en-US" sz="2800" dirty="0">
                <a:solidFill>
                  <a:srgbClr val="0000FF"/>
                </a:solidFill>
                <a:latin typeface="微软雅黑" panose="020B0503020204020204" pitchFamily="34" charset="-122"/>
                <a:ea typeface="微软雅黑" panose="020B0503020204020204" pitchFamily="34" charset="-122"/>
              </a:rPr>
              <a:t>谁读写磁盘？</a:t>
            </a:r>
            <a:endParaRPr lang="zh-CN" altLang="en-US" sz="2800" dirty="0">
              <a:solidFill>
                <a:srgbClr val="0000FF"/>
              </a:solidFill>
              <a:latin typeface="微软雅黑" panose="020B0503020204020204" pitchFamily="34" charset="-122"/>
              <a:ea typeface="微软雅黑" panose="020B0503020204020204" pitchFamily="34" charset="-122"/>
            </a:endParaRPr>
          </a:p>
        </p:txBody>
      </p:sp>
      <p:sp>
        <p:nvSpPr>
          <p:cNvPr id="11" name="矩形 10"/>
          <p:cNvSpPr/>
          <p:nvPr/>
        </p:nvSpPr>
        <p:spPr>
          <a:xfrm>
            <a:off x="355655" y="2204864"/>
            <a:ext cx="3775393" cy="523220"/>
          </a:xfrm>
          <a:prstGeom prst="rect">
            <a:avLst/>
          </a:prstGeom>
        </p:spPr>
        <p:txBody>
          <a:bodyPr wrap="none">
            <a:spAutoFit/>
          </a:bodyPr>
          <a:lstStyle/>
          <a:p>
            <a:r>
              <a:rPr lang="zh-CN" altLang="en-US" sz="2800" dirty="0">
                <a:solidFill>
                  <a:srgbClr val="0000FF"/>
                </a:solidFill>
                <a:latin typeface="微软雅黑" panose="020B0503020204020204" pitchFamily="34" charset="-122"/>
                <a:ea typeface="微软雅黑" panose="020B0503020204020204" pitchFamily="34" charset="-122"/>
              </a:rPr>
              <a:t>谁管理缓存中的页面？</a:t>
            </a:r>
            <a:endParaRPr lang="zh-CN" altLang="en-US" sz="2800" dirty="0">
              <a:solidFill>
                <a:srgbClr val="0000FF"/>
              </a:solidFill>
              <a:latin typeface="微软雅黑" panose="020B0503020204020204" pitchFamily="34" charset="-122"/>
              <a:ea typeface="微软雅黑" panose="020B0503020204020204" pitchFamily="34" charset="-122"/>
            </a:endParaRPr>
          </a:p>
        </p:txBody>
      </p:sp>
      <p:sp>
        <p:nvSpPr>
          <p:cNvPr id="12" name="矩形 11"/>
          <p:cNvSpPr/>
          <p:nvPr/>
        </p:nvSpPr>
        <p:spPr>
          <a:xfrm>
            <a:off x="395536" y="3068960"/>
            <a:ext cx="6288901" cy="523220"/>
          </a:xfrm>
          <a:prstGeom prst="rect">
            <a:avLst/>
          </a:prstGeom>
        </p:spPr>
        <p:txBody>
          <a:bodyPr wrap="none">
            <a:spAutoFit/>
          </a:bodyPr>
          <a:lstStyle/>
          <a:p>
            <a:r>
              <a:rPr lang="zh-CN" altLang="en-US" sz="2800" dirty="0">
                <a:solidFill>
                  <a:srgbClr val="0000FF"/>
                </a:solidFill>
                <a:latin typeface="微软雅黑" panose="020B0503020204020204" pitchFamily="34" charset="-122"/>
                <a:ea typeface="微软雅黑" panose="020B0503020204020204" pitchFamily="34" charset="-122"/>
              </a:rPr>
              <a:t>什么软件的什么“部件”来管理缓存？</a:t>
            </a:r>
            <a:endParaRPr lang="zh-CN" altLang="en-US" sz="2800" dirty="0">
              <a:solidFill>
                <a:srgbClr val="0000FF"/>
              </a:solidFill>
              <a:latin typeface="微软雅黑" panose="020B0503020204020204" pitchFamily="34" charset="-122"/>
              <a:ea typeface="微软雅黑" panose="020B0503020204020204" pitchFamily="34" charset="-122"/>
            </a:endParaRPr>
          </a:p>
        </p:txBody>
      </p:sp>
      <p:sp>
        <p:nvSpPr>
          <p:cNvPr id="13" name="矩形 12"/>
          <p:cNvSpPr/>
          <p:nvPr/>
        </p:nvSpPr>
        <p:spPr>
          <a:xfrm>
            <a:off x="383746" y="4725144"/>
            <a:ext cx="6269665" cy="523220"/>
          </a:xfrm>
          <a:prstGeom prst="rect">
            <a:avLst/>
          </a:prstGeom>
        </p:spPr>
        <p:txBody>
          <a:bodyPr wrap="none">
            <a:spAutoFit/>
          </a:bodyPr>
          <a:lstStyle/>
          <a:p>
            <a:r>
              <a:rPr lang="en-US" altLang="zh-CN" sz="2800" dirty="0">
                <a:solidFill>
                  <a:srgbClr val="0000FF"/>
                </a:solidFill>
                <a:latin typeface="微软雅黑" panose="020B0503020204020204" pitchFamily="34" charset="-122"/>
                <a:ea typeface="微软雅黑" panose="020B0503020204020204" pitchFamily="34" charset="-122"/>
              </a:rPr>
              <a:t>DBMS</a:t>
            </a:r>
            <a:r>
              <a:rPr lang="zh-CN" altLang="en-US" sz="2800" dirty="0">
                <a:solidFill>
                  <a:srgbClr val="0000FF"/>
                </a:solidFill>
                <a:latin typeface="微软雅黑" panose="020B0503020204020204" pitchFamily="34" charset="-122"/>
                <a:ea typeface="微软雅黑" panose="020B0503020204020204" pitchFamily="34" charset="-122"/>
              </a:rPr>
              <a:t>如何查阅、修改缓存中的数据？</a:t>
            </a:r>
            <a:endParaRPr lang="zh-CN" altLang="en-US" sz="2800" dirty="0">
              <a:solidFill>
                <a:srgbClr val="0000FF"/>
              </a:solidFill>
              <a:latin typeface="微软雅黑" panose="020B0503020204020204" pitchFamily="34" charset="-122"/>
              <a:ea typeface="微软雅黑" panose="020B0503020204020204" pitchFamily="34" charset="-122"/>
            </a:endParaRPr>
          </a:p>
        </p:txBody>
      </p:sp>
      <p:sp>
        <p:nvSpPr>
          <p:cNvPr id="14" name="矩形 13"/>
          <p:cNvSpPr/>
          <p:nvPr/>
        </p:nvSpPr>
        <p:spPr>
          <a:xfrm>
            <a:off x="362625" y="5877272"/>
            <a:ext cx="4134465" cy="523220"/>
          </a:xfrm>
          <a:prstGeom prst="rect">
            <a:avLst/>
          </a:prstGeom>
        </p:spPr>
        <p:txBody>
          <a:bodyPr wrap="none">
            <a:spAutoFit/>
          </a:bodyPr>
          <a:lstStyle/>
          <a:p>
            <a:r>
              <a:rPr lang="zh-CN" altLang="en-US" sz="2800" dirty="0">
                <a:solidFill>
                  <a:srgbClr val="0000FF"/>
                </a:solidFill>
                <a:latin typeface="微软雅黑" panose="020B0503020204020204" pitchFamily="34" charset="-122"/>
                <a:ea typeface="微软雅黑" panose="020B0503020204020204" pitchFamily="34" charset="-122"/>
              </a:rPr>
              <a:t>缓存读写需求如何描述？</a:t>
            </a:r>
            <a:endParaRPr lang="zh-CN" altLang="en-US" sz="2800" dirty="0">
              <a:solidFill>
                <a:srgbClr val="0000FF"/>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a:xfrm>
            <a:off x="395288" y="571500"/>
            <a:ext cx="8162925" cy="762000"/>
          </a:xfrm>
        </p:spPr>
        <p:txBody>
          <a:bodyPr>
            <a:normAutofit fontScale="90000"/>
          </a:bodyPr>
          <a:lstStyle/>
          <a:p>
            <a:pPr eaLnBrk="1" fontAlgn="auto" hangingPunct="1">
              <a:spcAft>
                <a:spcPts val="0"/>
              </a:spcAft>
              <a:defRPr/>
            </a:pPr>
            <a:r>
              <a:rPr lang="zh-CN" altLang="en-US" dirty="0">
                <a:solidFill>
                  <a:srgbClr val="FF0000"/>
                </a:solidFill>
                <a:latin typeface="宋体" pitchFamily="2" charset="-122"/>
                <a:ea typeface="宋体" pitchFamily="2" charset="-122"/>
              </a:rPr>
              <a:t>计算机系统的运作方式（续）</a:t>
            </a:r>
            <a:endParaRPr lang="zh-CN" altLang="en-US" dirty="0">
              <a:solidFill>
                <a:srgbClr val="FF0000"/>
              </a:solidFill>
              <a:latin typeface="宋体" pitchFamily="2" charset="-122"/>
              <a:ea typeface="宋体" pitchFamily="2" charset="-122"/>
            </a:endParaRPr>
          </a:p>
        </p:txBody>
      </p:sp>
      <p:sp>
        <p:nvSpPr>
          <p:cNvPr id="102403" name="Rectangle 3"/>
          <p:cNvSpPr>
            <a:spLocks noGrp="1" noChangeArrowheads="1"/>
          </p:cNvSpPr>
          <p:nvPr>
            <p:ph idx="1"/>
          </p:nvPr>
        </p:nvSpPr>
        <p:spPr>
          <a:xfrm>
            <a:off x="616136" y="4365401"/>
            <a:ext cx="8110538" cy="1439863"/>
          </a:xfrm>
        </p:spPr>
        <p:txBody>
          <a:bodyPr/>
          <a:lstStyle/>
          <a:p>
            <a:pPr marL="0" indent="0" eaLnBrk="1" hangingPunct="1">
              <a:lnSpc>
                <a:spcPct val="150000"/>
              </a:lnSpc>
              <a:spcBef>
                <a:spcPts val="0"/>
              </a:spcBef>
              <a:buFont typeface="Wingdings" panose="05000000000000000000" pitchFamily="2" charset="2"/>
              <a:buNone/>
            </a:pPr>
            <a:r>
              <a:rPr lang="zh-CN" altLang="en-US" sz="2800" dirty="0">
                <a:solidFill>
                  <a:srgbClr val="FF0000"/>
                </a:solidFill>
              </a:rPr>
              <a:t>应用程序代码中嵌入</a:t>
            </a:r>
            <a:r>
              <a:rPr lang="en-US" altLang="zh-CN" sz="2800" dirty="0">
                <a:solidFill>
                  <a:srgbClr val="FF0000"/>
                </a:solidFill>
              </a:rPr>
              <a:t>SQL</a:t>
            </a:r>
            <a:r>
              <a:rPr lang="zh-CN" altLang="en-US" sz="2800" dirty="0">
                <a:solidFill>
                  <a:srgbClr val="FF0000"/>
                </a:solidFill>
              </a:rPr>
              <a:t>语言，经开发环境编译器处理后形成应用程序目标模块和对</a:t>
            </a:r>
            <a:r>
              <a:rPr lang="en-US" altLang="zh-CN" sz="2800" dirty="0">
                <a:solidFill>
                  <a:srgbClr val="FF0000"/>
                </a:solidFill>
              </a:rPr>
              <a:t>SQL</a:t>
            </a:r>
            <a:r>
              <a:rPr lang="zh-CN" altLang="en-US" sz="2800" dirty="0">
                <a:solidFill>
                  <a:srgbClr val="FF0000"/>
                </a:solidFill>
              </a:rPr>
              <a:t>模块的调用，其数据交换通过参数绑定和结果变量。</a:t>
            </a:r>
            <a:endParaRPr lang="zh-CN" altLang="en-US" sz="2800" dirty="0">
              <a:solidFill>
                <a:srgbClr val="FF0000"/>
              </a:solidFill>
            </a:endParaRPr>
          </a:p>
        </p:txBody>
      </p:sp>
      <p:sp>
        <p:nvSpPr>
          <p:cNvPr id="7" name="灯片编号占位符 5"/>
          <p:cNvSpPr>
            <a:spLocks noGrp="1"/>
          </p:cNvSpPr>
          <p:nvPr>
            <p:ph type="sldNum" sz="quarter" idx="12"/>
          </p:nvPr>
        </p:nvSpPr>
        <p:spPr/>
        <p:txBody>
          <a:bodyPr>
            <a:normAutofit/>
          </a:bodyPr>
          <a:lstStyle/>
          <a:p>
            <a:pPr>
              <a:defRPr/>
            </a:pPr>
            <a:fld id="{7093F320-3BA9-4D8A-B74B-0BF30D650E13}" type="slidenum">
              <a:rPr lang="en-US" altLang="zh-CN"/>
            </a:fld>
            <a:endParaRPr lang="en-US" altLang="zh-CN"/>
          </a:p>
        </p:txBody>
      </p:sp>
      <p:sp>
        <p:nvSpPr>
          <p:cNvPr id="102404" name="Rectangle 4"/>
          <p:cNvSpPr>
            <a:spLocks noChangeArrowheads="1"/>
          </p:cNvSpPr>
          <p:nvPr/>
        </p:nvSpPr>
        <p:spPr bwMode="auto">
          <a:xfrm>
            <a:off x="616136" y="2158937"/>
            <a:ext cx="8110538" cy="1152128"/>
          </a:xfrm>
          <a:prstGeom prst="rect">
            <a:avLst/>
          </a:prstGeom>
          <a:noFill/>
          <a:ln w="9525">
            <a:noFill/>
            <a:miter lim="800000"/>
          </a:ln>
        </p:spPr>
        <p:txBody>
          <a:bodyPr/>
          <a:lstStyle/>
          <a:p>
            <a:pPr>
              <a:lnSpc>
                <a:spcPct val="150000"/>
              </a:lnSpc>
              <a:spcBef>
                <a:spcPts val="0"/>
              </a:spcBef>
              <a:buClr>
                <a:schemeClr val="folHlink"/>
              </a:buClr>
              <a:buSzPct val="75000"/>
              <a:buFont typeface="Wingdings" panose="05000000000000000000" pitchFamily="2" charset="2"/>
              <a:buNone/>
            </a:pPr>
            <a:r>
              <a:rPr lang="en-US" altLang="zh-CN" sz="2800" dirty="0">
                <a:solidFill>
                  <a:srgbClr val="FF0000"/>
                </a:solidFill>
              </a:rPr>
              <a:t>SQL</a:t>
            </a:r>
            <a:r>
              <a:rPr lang="zh-CN" altLang="en-US" sz="2800" dirty="0">
                <a:solidFill>
                  <a:srgbClr val="FF0000"/>
                </a:solidFill>
              </a:rPr>
              <a:t>语言经由</a:t>
            </a:r>
            <a:r>
              <a:rPr lang="en-US" altLang="zh-CN" sz="2800" dirty="0">
                <a:solidFill>
                  <a:srgbClr val="FF0000"/>
                </a:solidFill>
              </a:rPr>
              <a:t>DBMS</a:t>
            </a:r>
            <a:r>
              <a:rPr lang="zh-CN" altLang="en-US" sz="2800" dirty="0">
                <a:solidFill>
                  <a:srgbClr val="FF0000"/>
                </a:solidFill>
              </a:rPr>
              <a:t>编译后转换成用内部函数描述的执行计划（代码）。</a:t>
            </a:r>
            <a:endParaRPr lang="zh-CN" altLang="en-US" sz="2800" dirty="0">
              <a:solidFill>
                <a:srgbClr val="FF0000"/>
              </a:solidFill>
            </a:endParaRPr>
          </a:p>
        </p:txBody>
      </p:sp>
      <p:sp>
        <p:nvSpPr>
          <p:cNvPr id="6" name="矩形 5"/>
          <p:cNvSpPr/>
          <p:nvPr/>
        </p:nvSpPr>
        <p:spPr>
          <a:xfrm>
            <a:off x="395536" y="1700808"/>
            <a:ext cx="3741730" cy="523220"/>
          </a:xfrm>
          <a:prstGeom prst="rect">
            <a:avLst/>
          </a:prstGeom>
        </p:spPr>
        <p:txBody>
          <a:bodyPr wrap="none">
            <a:spAutoFit/>
          </a:bodyPr>
          <a:lstStyle/>
          <a:p>
            <a:r>
              <a:rPr lang="en-US" altLang="zh-CN" sz="2800" dirty="0">
                <a:solidFill>
                  <a:srgbClr val="0000FF"/>
                </a:solidFill>
                <a:latin typeface="微软雅黑" panose="020B0503020204020204" pitchFamily="34" charset="-122"/>
                <a:ea typeface="微软雅黑" panose="020B0503020204020204" pitchFamily="34" charset="-122"/>
              </a:rPr>
              <a:t>SQL</a:t>
            </a:r>
            <a:r>
              <a:rPr lang="zh-CN" altLang="en-US" sz="2800" dirty="0">
                <a:solidFill>
                  <a:srgbClr val="0000FF"/>
                </a:solidFill>
                <a:latin typeface="微软雅黑" panose="020B0503020204020204" pitchFamily="34" charset="-122"/>
                <a:ea typeface="微软雅黑" panose="020B0503020204020204" pitchFamily="34" charset="-122"/>
              </a:rPr>
              <a:t>语言为何能执行？</a:t>
            </a:r>
            <a:endParaRPr lang="zh-CN" altLang="en-US" sz="2800" dirty="0">
              <a:solidFill>
                <a:srgbClr val="0000FF"/>
              </a:solidFill>
              <a:latin typeface="微软雅黑" panose="020B0503020204020204" pitchFamily="34" charset="-122"/>
              <a:ea typeface="微软雅黑" panose="020B0503020204020204" pitchFamily="34" charset="-122"/>
            </a:endParaRPr>
          </a:p>
        </p:txBody>
      </p:sp>
      <p:sp>
        <p:nvSpPr>
          <p:cNvPr id="8" name="矩形 7"/>
          <p:cNvSpPr/>
          <p:nvPr/>
        </p:nvSpPr>
        <p:spPr>
          <a:xfrm>
            <a:off x="395536" y="3664336"/>
            <a:ext cx="3741730" cy="523220"/>
          </a:xfrm>
          <a:prstGeom prst="rect">
            <a:avLst/>
          </a:prstGeom>
        </p:spPr>
        <p:txBody>
          <a:bodyPr wrap="none">
            <a:spAutoFit/>
          </a:bodyPr>
          <a:lstStyle/>
          <a:p>
            <a:r>
              <a:rPr lang="en-US" altLang="zh-CN" sz="2800" dirty="0">
                <a:solidFill>
                  <a:srgbClr val="0000FF"/>
                </a:solidFill>
                <a:latin typeface="微软雅黑" panose="020B0503020204020204" pitchFamily="34" charset="-122"/>
                <a:ea typeface="微软雅黑" panose="020B0503020204020204" pitchFamily="34" charset="-122"/>
              </a:rPr>
              <a:t>SQL</a:t>
            </a:r>
            <a:r>
              <a:rPr lang="zh-CN" altLang="en-US" sz="2800" dirty="0">
                <a:solidFill>
                  <a:srgbClr val="0000FF"/>
                </a:solidFill>
                <a:latin typeface="微软雅黑" panose="020B0503020204020204" pitchFamily="34" charset="-122"/>
                <a:ea typeface="微软雅黑" panose="020B0503020204020204" pitchFamily="34" charset="-122"/>
              </a:rPr>
              <a:t>与应用如何集成？</a:t>
            </a:r>
            <a:endParaRPr lang="zh-CN" altLang="en-US" sz="2800" dirty="0">
              <a:solidFill>
                <a:srgbClr val="0000FF"/>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457200" y="312738"/>
            <a:ext cx="8162925" cy="762000"/>
          </a:xfrm>
        </p:spPr>
        <p:txBody>
          <a:bodyPr>
            <a:normAutofit fontScale="90000"/>
          </a:bodyPr>
          <a:lstStyle/>
          <a:p>
            <a:pPr eaLnBrk="1" fontAlgn="auto" hangingPunct="1">
              <a:spcAft>
                <a:spcPts val="0"/>
              </a:spcAft>
              <a:defRPr/>
            </a:pPr>
            <a:r>
              <a:rPr lang="zh-CN" altLang="en-US" dirty="0"/>
              <a:t>本章主要问题的提出</a:t>
            </a:r>
            <a:endParaRPr lang="zh-CN" altLang="en-US" dirty="0"/>
          </a:p>
        </p:txBody>
      </p:sp>
      <p:sp>
        <p:nvSpPr>
          <p:cNvPr id="59395" name="Rectangle 3"/>
          <p:cNvSpPr>
            <a:spLocks noGrp="1" noChangeArrowheads="1"/>
          </p:cNvSpPr>
          <p:nvPr>
            <p:ph idx="1"/>
          </p:nvPr>
        </p:nvSpPr>
        <p:spPr>
          <a:xfrm>
            <a:off x="381000" y="1150938"/>
            <a:ext cx="8110538" cy="5410200"/>
          </a:xfrm>
        </p:spPr>
        <p:txBody>
          <a:bodyPr/>
          <a:lstStyle/>
          <a:p>
            <a:pPr marL="0" indent="476250" eaLnBrk="1" hangingPunct="1">
              <a:lnSpc>
                <a:spcPct val="90000"/>
              </a:lnSpc>
            </a:pPr>
            <a:r>
              <a:rPr lang="zh-CN" altLang="en-US" sz="2400" dirty="0"/>
              <a:t>数据（</a:t>
            </a:r>
            <a:r>
              <a:rPr lang="en-US" altLang="zh-CN" sz="2400" dirty="0"/>
              <a:t>Data</a:t>
            </a:r>
            <a:r>
              <a:rPr lang="zh-CN" altLang="en-US" sz="2400" dirty="0"/>
              <a:t>）</a:t>
            </a:r>
            <a:endParaRPr lang="zh-CN" altLang="en-US" sz="2400" dirty="0"/>
          </a:p>
          <a:p>
            <a:pPr marL="0" indent="476250" eaLnBrk="1" hangingPunct="1">
              <a:lnSpc>
                <a:spcPct val="90000"/>
              </a:lnSpc>
              <a:buFont typeface="Wingdings" panose="05000000000000000000" pitchFamily="2" charset="2"/>
              <a:buNone/>
            </a:pPr>
            <a:r>
              <a:rPr lang="zh-CN" altLang="en-US" sz="2400" dirty="0"/>
              <a:t>数据越来越丰富，需求不断增加，管理数据的方式？</a:t>
            </a:r>
            <a:endParaRPr lang="en-US" altLang="zh-CN" sz="2400" dirty="0"/>
          </a:p>
          <a:p>
            <a:pPr marL="0" indent="476250" eaLnBrk="1" hangingPunct="1">
              <a:lnSpc>
                <a:spcPct val="90000"/>
              </a:lnSpc>
              <a:buFont typeface="Wingdings" panose="05000000000000000000" pitchFamily="2" charset="2"/>
              <a:buNone/>
            </a:pPr>
            <a:endParaRPr lang="zh-CN" altLang="en-US" sz="2400" dirty="0"/>
          </a:p>
          <a:p>
            <a:pPr eaLnBrk="1" hangingPunct="1">
              <a:lnSpc>
                <a:spcPct val="90000"/>
              </a:lnSpc>
            </a:pPr>
            <a:r>
              <a:rPr lang="zh-CN" altLang="en-US" sz="2400" dirty="0"/>
              <a:t>  用什么样的方法科学的描述数据？</a:t>
            </a:r>
            <a:endParaRPr lang="zh-CN" altLang="en-US" sz="2400" dirty="0"/>
          </a:p>
          <a:p>
            <a:pPr marL="0" indent="476250" eaLnBrk="1" hangingPunct="1">
              <a:lnSpc>
                <a:spcPct val="90000"/>
              </a:lnSpc>
              <a:buFont typeface="Wingdings" panose="05000000000000000000" pitchFamily="2" charset="2"/>
              <a:buNone/>
            </a:pPr>
            <a:endParaRPr lang="zh-CN" altLang="en-US" sz="2400" dirty="0"/>
          </a:p>
          <a:p>
            <a:pPr marL="0" indent="476250" eaLnBrk="1" hangingPunct="1">
              <a:lnSpc>
                <a:spcPct val="90000"/>
              </a:lnSpc>
            </a:pPr>
            <a:r>
              <a:rPr lang="zh-CN" altLang="en-US" sz="2400" dirty="0"/>
              <a:t>数据库（</a:t>
            </a:r>
            <a:r>
              <a:rPr lang="en-US" altLang="zh-CN" sz="2400" dirty="0"/>
              <a:t>DataBase, DB</a:t>
            </a:r>
            <a:r>
              <a:rPr lang="zh-CN" altLang="en-US" sz="2400" dirty="0"/>
              <a:t>）</a:t>
            </a:r>
            <a:endParaRPr lang="zh-CN" altLang="en-US" sz="2400" dirty="0"/>
          </a:p>
          <a:p>
            <a:pPr marL="0" indent="476250" eaLnBrk="1" hangingPunct="1">
              <a:lnSpc>
                <a:spcPct val="90000"/>
              </a:lnSpc>
              <a:buFont typeface="Wingdings" panose="05000000000000000000" pitchFamily="2" charset="2"/>
              <a:buNone/>
            </a:pPr>
            <a:r>
              <a:rPr lang="zh-CN" altLang="en-US" sz="2400" dirty="0"/>
              <a:t>下有物理设备，上有应用，如何建立系统？</a:t>
            </a:r>
            <a:endParaRPr lang="zh-CN" altLang="en-US" sz="2400" dirty="0"/>
          </a:p>
          <a:p>
            <a:pPr marL="0" indent="476250" eaLnBrk="1" hangingPunct="1">
              <a:lnSpc>
                <a:spcPct val="90000"/>
              </a:lnSpc>
              <a:buFont typeface="Wingdings" panose="05000000000000000000" pitchFamily="2" charset="2"/>
              <a:buNone/>
            </a:pPr>
            <a:endParaRPr lang="zh-CN" altLang="en-US" sz="2400" dirty="0"/>
          </a:p>
          <a:p>
            <a:pPr marL="0" indent="476250" eaLnBrk="1" hangingPunct="1">
              <a:lnSpc>
                <a:spcPct val="90000"/>
              </a:lnSpc>
            </a:pPr>
            <a:r>
              <a:rPr lang="zh-CN" altLang="en-US" sz="2400" dirty="0"/>
              <a:t>数据库管理系统（</a:t>
            </a:r>
            <a:r>
              <a:rPr lang="en-US" altLang="zh-CN" sz="2400" dirty="0"/>
              <a:t>DBMS</a:t>
            </a:r>
            <a:r>
              <a:rPr lang="zh-CN" altLang="en-US" sz="2400" dirty="0"/>
              <a:t>）</a:t>
            </a:r>
            <a:endParaRPr lang="zh-CN" altLang="en-US" sz="2400" dirty="0"/>
          </a:p>
          <a:p>
            <a:pPr marL="0" indent="476250" eaLnBrk="1" hangingPunct="1">
              <a:lnSpc>
                <a:spcPct val="90000"/>
              </a:lnSpc>
              <a:buFont typeface="Wingdings" panose="05000000000000000000" pitchFamily="2" charset="2"/>
              <a:buNone/>
            </a:pPr>
            <a:r>
              <a:rPr lang="zh-CN" altLang="en-US" sz="2400" dirty="0"/>
              <a:t>系统的分布如何？</a:t>
            </a:r>
            <a:endParaRPr lang="en-US" altLang="zh-CN" sz="2400" dirty="0"/>
          </a:p>
          <a:p>
            <a:pPr marL="0" indent="476250" eaLnBrk="1" hangingPunct="1">
              <a:lnSpc>
                <a:spcPct val="90000"/>
              </a:lnSpc>
              <a:buFont typeface="Wingdings" panose="05000000000000000000" pitchFamily="2" charset="2"/>
              <a:buNone/>
            </a:pPr>
            <a:endParaRPr lang="zh-CN" altLang="en-US" sz="2400" dirty="0"/>
          </a:p>
          <a:p>
            <a:pPr marL="0" indent="476250" eaLnBrk="1" hangingPunct="1">
              <a:lnSpc>
                <a:spcPct val="90000"/>
              </a:lnSpc>
            </a:pPr>
            <a:r>
              <a:rPr lang="zh-CN" altLang="en-US" sz="2400" dirty="0"/>
              <a:t>数据库系统（</a:t>
            </a:r>
            <a:r>
              <a:rPr lang="en-US" altLang="zh-CN" sz="2400" dirty="0"/>
              <a:t>DBS</a:t>
            </a:r>
            <a:r>
              <a:rPr lang="zh-CN" altLang="en-US" sz="2400" dirty="0"/>
              <a:t>）</a:t>
            </a:r>
            <a:endParaRPr lang="zh-CN" altLang="en-US" sz="2400" dirty="0"/>
          </a:p>
        </p:txBody>
      </p:sp>
      <p:sp>
        <p:nvSpPr>
          <p:cNvPr id="11" name="灯片编号占位符 5"/>
          <p:cNvSpPr>
            <a:spLocks noGrp="1"/>
          </p:cNvSpPr>
          <p:nvPr>
            <p:ph type="sldNum" sz="quarter" idx="12"/>
          </p:nvPr>
        </p:nvSpPr>
        <p:spPr/>
        <p:txBody>
          <a:bodyPr>
            <a:normAutofit/>
          </a:bodyPr>
          <a:lstStyle/>
          <a:p>
            <a:pPr>
              <a:defRPr/>
            </a:pPr>
            <a:fld id="{8A2BE76B-AFDC-4ED9-AD07-DA038504B7E4}" type="slidenum">
              <a:rPr lang="en-US" altLang="zh-CN"/>
            </a:fld>
            <a:endParaRPr lang="en-US" altLang="zh-CN"/>
          </a:p>
        </p:txBody>
      </p:sp>
      <p:sp>
        <p:nvSpPr>
          <p:cNvPr id="100356" name="Rectangle 4"/>
          <p:cNvSpPr>
            <a:spLocks noChangeArrowheads="1"/>
          </p:cNvSpPr>
          <p:nvPr/>
        </p:nvSpPr>
        <p:spPr bwMode="auto">
          <a:xfrm>
            <a:off x="1259632" y="1909743"/>
            <a:ext cx="7231906" cy="461665"/>
          </a:xfrm>
          <a:prstGeom prst="rect">
            <a:avLst/>
          </a:prstGeom>
          <a:noFill/>
          <a:ln w="9525">
            <a:noFill/>
            <a:miter lim="800000"/>
          </a:ln>
        </p:spPr>
        <p:txBody>
          <a:bodyPr wrap="square">
            <a:spAutoFit/>
          </a:bodyPr>
          <a:lstStyle/>
          <a:p>
            <a:r>
              <a:rPr lang="en-US" altLang="zh-CN" dirty="0">
                <a:solidFill>
                  <a:srgbClr val="0033CC"/>
                </a:solidFill>
                <a:latin typeface="Times New Roman" panose="02020503050405090304" pitchFamily="18" charset="0"/>
              </a:rPr>
              <a:t>——</a:t>
            </a:r>
            <a:r>
              <a:rPr lang="zh-CN" altLang="en-US" dirty="0">
                <a:solidFill>
                  <a:srgbClr val="0033CC"/>
                </a:solidFill>
              </a:rPr>
              <a:t>数据库系统的产生（面向全局，系统、高效）</a:t>
            </a:r>
            <a:endParaRPr lang="zh-CN" altLang="en-US" dirty="0">
              <a:solidFill>
                <a:srgbClr val="0033CC"/>
              </a:solidFill>
            </a:endParaRPr>
          </a:p>
        </p:txBody>
      </p:sp>
      <p:sp>
        <p:nvSpPr>
          <p:cNvPr id="100357" name="Rectangle 5"/>
          <p:cNvSpPr>
            <a:spLocks noChangeArrowheads="1"/>
          </p:cNvSpPr>
          <p:nvPr/>
        </p:nvSpPr>
        <p:spPr bwMode="auto">
          <a:xfrm>
            <a:off x="1259632" y="2707937"/>
            <a:ext cx="6950942" cy="461665"/>
          </a:xfrm>
          <a:prstGeom prst="rect">
            <a:avLst/>
          </a:prstGeom>
          <a:noFill/>
          <a:ln w="9525">
            <a:noFill/>
            <a:miter lim="800000"/>
          </a:ln>
        </p:spPr>
        <p:txBody>
          <a:bodyPr wrap="none">
            <a:spAutoFit/>
          </a:bodyPr>
          <a:lstStyle/>
          <a:p>
            <a:r>
              <a:rPr lang="en-US" altLang="zh-CN" dirty="0">
                <a:solidFill>
                  <a:srgbClr val="0033CC"/>
                </a:solidFill>
                <a:latin typeface="Times New Roman" panose="02020503050405090304" pitchFamily="18" charset="0"/>
              </a:rPr>
              <a:t>——</a:t>
            </a:r>
            <a:r>
              <a:rPr lang="zh-CN" altLang="en-US" dirty="0">
                <a:solidFill>
                  <a:srgbClr val="0033CC"/>
                </a:solidFill>
              </a:rPr>
              <a:t>数据</a:t>
            </a:r>
            <a:r>
              <a:rPr lang="zh-CN" altLang="en-US" dirty="0">
                <a:solidFill>
                  <a:srgbClr val="FF0000"/>
                </a:solidFill>
              </a:rPr>
              <a:t>模型</a:t>
            </a:r>
            <a:r>
              <a:rPr lang="en-US" altLang="zh-CN" dirty="0">
                <a:solidFill>
                  <a:srgbClr val="FF0000"/>
                </a:solidFill>
              </a:rPr>
              <a:t>(model)</a:t>
            </a:r>
            <a:r>
              <a:rPr lang="zh-CN" altLang="en-US" dirty="0">
                <a:solidFill>
                  <a:srgbClr val="0033CC"/>
                </a:solidFill>
              </a:rPr>
              <a:t>。数据库本身的发展过程。</a:t>
            </a:r>
            <a:endParaRPr lang="zh-CN" altLang="en-US" dirty="0">
              <a:solidFill>
                <a:srgbClr val="0033CC"/>
              </a:solidFill>
            </a:endParaRPr>
          </a:p>
        </p:txBody>
      </p:sp>
      <p:sp>
        <p:nvSpPr>
          <p:cNvPr id="100358" name="Rectangle 6"/>
          <p:cNvSpPr>
            <a:spLocks noChangeArrowheads="1"/>
          </p:cNvSpPr>
          <p:nvPr/>
        </p:nvSpPr>
        <p:spPr bwMode="auto">
          <a:xfrm>
            <a:off x="1259632" y="3939147"/>
            <a:ext cx="7186583" cy="424732"/>
          </a:xfrm>
          <a:prstGeom prst="rect">
            <a:avLst/>
          </a:prstGeom>
          <a:noFill/>
          <a:ln w="9525">
            <a:noFill/>
            <a:miter lim="800000"/>
          </a:ln>
        </p:spPr>
        <p:txBody>
          <a:bodyPr wrap="none">
            <a:spAutoFit/>
          </a:bodyPr>
          <a:lstStyle/>
          <a:p>
            <a:pPr>
              <a:lnSpc>
                <a:spcPct val="90000"/>
              </a:lnSpc>
              <a:spcBef>
                <a:spcPct val="20000"/>
              </a:spcBef>
              <a:buClr>
                <a:schemeClr val="folHlink"/>
              </a:buClr>
              <a:buSzPct val="75000"/>
              <a:buFont typeface="Wingdings" panose="05000000000000000000" pitchFamily="2" charset="2"/>
              <a:buNone/>
            </a:pPr>
            <a:r>
              <a:rPr lang="en-US" altLang="zh-CN" dirty="0">
                <a:solidFill>
                  <a:srgbClr val="0033CC"/>
                </a:solidFill>
                <a:latin typeface="Times New Roman" panose="02020503050405090304" pitchFamily="18" charset="0"/>
              </a:rPr>
              <a:t>——</a:t>
            </a:r>
            <a:r>
              <a:rPr lang="zh-CN" altLang="en-US" dirty="0">
                <a:solidFill>
                  <a:srgbClr val="FF0000"/>
                </a:solidFill>
              </a:rPr>
              <a:t>模式</a:t>
            </a:r>
            <a:r>
              <a:rPr lang="en-US" altLang="zh-CN" dirty="0">
                <a:solidFill>
                  <a:srgbClr val="0033CC"/>
                </a:solidFill>
              </a:rPr>
              <a:t>(</a:t>
            </a:r>
            <a:r>
              <a:rPr lang="en-US" altLang="zh-CN" dirty="0">
                <a:solidFill>
                  <a:srgbClr val="FF0000"/>
                </a:solidFill>
              </a:rPr>
              <a:t>schema</a:t>
            </a:r>
            <a:r>
              <a:rPr lang="zh-CN" altLang="en-US" dirty="0">
                <a:solidFill>
                  <a:srgbClr val="FF0000"/>
                </a:solidFill>
              </a:rPr>
              <a:t>，</a:t>
            </a:r>
            <a:r>
              <a:rPr lang="zh-CN" altLang="en-US" dirty="0">
                <a:solidFill>
                  <a:srgbClr val="0033CC"/>
                </a:solidFill>
              </a:rPr>
              <a:t>包含架构的含义，考虑独立性</a:t>
            </a:r>
            <a:r>
              <a:rPr lang="en-US" altLang="zh-CN" dirty="0">
                <a:solidFill>
                  <a:srgbClr val="0033CC"/>
                </a:solidFill>
              </a:rPr>
              <a:t>)</a:t>
            </a:r>
            <a:endParaRPr lang="zh-CN" altLang="en-US" dirty="0">
              <a:solidFill>
                <a:srgbClr val="0033CC"/>
              </a:solidFill>
            </a:endParaRPr>
          </a:p>
        </p:txBody>
      </p:sp>
      <p:sp>
        <p:nvSpPr>
          <p:cNvPr id="100359" name="Rectangle 7"/>
          <p:cNvSpPr>
            <a:spLocks noChangeArrowheads="1"/>
          </p:cNvSpPr>
          <p:nvPr/>
        </p:nvSpPr>
        <p:spPr bwMode="auto">
          <a:xfrm>
            <a:off x="1183432" y="5147748"/>
            <a:ext cx="7503368" cy="424732"/>
          </a:xfrm>
          <a:prstGeom prst="rect">
            <a:avLst/>
          </a:prstGeom>
          <a:noFill/>
          <a:ln w="9525">
            <a:noFill/>
            <a:miter lim="800000"/>
          </a:ln>
        </p:spPr>
        <p:txBody>
          <a:bodyPr wrap="square">
            <a:spAutoFit/>
          </a:bodyPr>
          <a:lstStyle/>
          <a:p>
            <a:pPr>
              <a:lnSpc>
                <a:spcPct val="90000"/>
              </a:lnSpc>
              <a:spcBef>
                <a:spcPct val="20000"/>
              </a:spcBef>
              <a:buClr>
                <a:schemeClr val="folHlink"/>
              </a:buClr>
              <a:buSzPct val="75000"/>
              <a:buFont typeface="Wingdings" panose="05000000000000000000" pitchFamily="2" charset="2"/>
              <a:buNone/>
            </a:pPr>
            <a:r>
              <a:rPr lang="en-US" altLang="zh-CN" dirty="0">
                <a:solidFill>
                  <a:srgbClr val="0033CC"/>
                </a:solidFill>
                <a:latin typeface="Times New Roman" panose="02020503050405090304" pitchFamily="18" charset="0"/>
              </a:rPr>
              <a:t>——</a:t>
            </a:r>
            <a:r>
              <a:rPr lang="zh-CN" altLang="en-US" dirty="0">
                <a:solidFill>
                  <a:srgbClr val="0033CC"/>
                </a:solidFill>
              </a:rPr>
              <a:t>体系结构，集中式、</a:t>
            </a:r>
            <a:r>
              <a:rPr lang="en-US" altLang="zh-CN" dirty="0">
                <a:solidFill>
                  <a:srgbClr val="0033CC"/>
                </a:solidFill>
              </a:rPr>
              <a:t>C/S</a:t>
            </a:r>
            <a:r>
              <a:rPr lang="zh-CN" altLang="en-US" dirty="0">
                <a:solidFill>
                  <a:srgbClr val="0033CC"/>
                </a:solidFill>
              </a:rPr>
              <a:t>、</a:t>
            </a:r>
            <a:r>
              <a:rPr lang="en-US" altLang="zh-CN" dirty="0">
                <a:solidFill>
                  <a:srgbClr val="0033CC"/>
                </a:solidFill>
              </a:rPr>
              <a:t>B/S</a:t>
            </a:r>
            <a:r>
              <a:rPr lang="zh-CN" altLang="en-US" dirty="0">
                <a:solidFill>
                  <a:srgbClr val="0033CC"/>
                </a:solidFill>
              </a:rPr>
              <a:t>、分布式</a:t>
            </a:r>
            <a:endParaRPr lang="zh-CN" altLang="en-US" dirty="0">
              <a:solidFill>
                <a:srgbClr val="0033CC"/>
              </a:solidFill>
            </a:endParaRPr>
          </a:p>
        </p:txBody>
      </p:sp>
      <p:sp>
        <p:nvSpPr>
          <p:cNvPr id="100360" name="Rectangle 8"/>
          <p:cNvSpPr>
            <a:spLocks noChangeArrowheads="1"/>
          </p:cNvSpPr>
          <p:nvPr/>
        </p:nvSpPr>
        <p:spPr bwMode="auto">
          <a:xfrm>
            <a:off x="1259632" y="6041045"/>
            <a:ext cx="6075702" cy="424732"/>
          </a:xfrm>
          <a:prstGeom prst="rect">
            <a:avLst/>
          </a:prstGeom>
          <a:noFill/>
          <a:ln w="9525">
            <a:noFill/>
            <a:miter lim="800000"/>
          </a:ln>
        </p:spPr>
        <p:txBody>
          <a:bodyPr wrap="none">
            <a:spAutoFit/>
          </a:bodyPr>
          <a:lstStyle/>
          <a:p>
            <a:pPr>
              <a:lnSpc>
                <a:spcPct val="90000"/>
              </a:lnSpc>
              <a:spcBef>
                <a:spcPct val="20000"/>
              </a:spcBef>
              <a:buClr>
                <a:schemeClr val="folHlink"/>
              </a:buClr>
              <a:buSzPct val="75000"/>
              <a:buFont typeface="Wingdings" panose="05000000000000000000" pitchFamily="2" charset="2"/>
              <a:buNone/>
            </a:pPr>
            <a:r>
              <a:rPr lang="en-US" altLang="zh-CN" dirty="0">
                <a:solidFill>
                  <a:srgbClr val="0033CC"/>
                </a:solidFill>
                <a:latin typeface="Times New Roman" panose="02020503050405090304" pitchFamily="18" charset="0"/>
              </a:rPr>
              <a:t>——</a:t>
            </a:r>
            <a:r>
              <a:rPr lang="en-US" altLang="zh-CN" dirty="0">
                <a:solidFill>
                  <a:srgbClr val="0033CC"/>
                </a:solidFill>
              </a:rPr>
              <a:t>DBS</a:t>
            </a:r>
            <a:r>
              <a:rPr lang="zh-CN" altLang="en-US" dirty="0">
                <a:solidFill>
                  <a:srgbClr val="0033CC"/>
                </a:solidFill>
              </a:rPr>
              <a:t>的组成？功能？工作过程？特征？</a:t>
            </a:r>
            <a:endParaRPr lang="zh-CN" altLang="en-US" dirty="0">
              <a:solidFill>
                <a:srgbClr val="0033CC"/>
              </a:solidFill>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3"/>
          <p:cNvSpPr>
            <a:spLocks noGrp="1" noChangeArrowheads="1"/>
          </p:cNvSpPr>
          <p:nvPr>
            <p:ph idx="1"/>
          </p:nvPr>
        </p:nvSpPr>
        <p:spPr>
          <a:xfrm>
            <a:off x="457200" y="685800"/>
            <a:ext cx="8229600" cy="5410200"/>
          </a:xfrm>
        </p:spPr>
        <p:txBody>
          <a:bodyPr/>
          <a:lstStyle/>
          <a:p>
            <a:pPr algn="just" eaLnBrk="1" hangingPunct="1">
              <a:buFont typeface="Wingdings" panose="05000000000000000000" pitchFamily="2" charset="2"/>
              <a:buNone/>
            </a:pPr>
            <a:r>
              <a:rPr lang="en-US" altLang="zh-CN" b="1" dirty="0">
                <a:latin typeface="Arial" panose="020B0604020202090204" pitchFamily="34" charset="0"/>
                <a:ea typeface="黑体" panose="02010609060101010101" pitchFamily="49" charset="-122"/>
              </a:rPr>
              <a:t>1.1  </a:t>
            </a:r>
            <a:r>
              <a:rPr lang="zh-CN" altLang="en-US" b="1" dirty="0">
                <a:latin typeface="Arial" panose="020B0604020202090204" pitchFamily="34" charset="0"/>
                <a:ea typeface="黑体" panose="02010609060101010101" pitchFamily="49" charset="-122"/>
              </a:rPr>
              <a:t>数据库系统的产生</a:t>
            </a:r>
            <a:endParaRPr lang="zh-CN" altLang="en-US" b="1" dirty="0">
              <a:latin typeface="Arial" panose="020B0604020202090204" pitchFamily="34" charset="0"/>
              <a:ea typeface="黑体" panose="02010609060101010101" pitchFamily="49" charset="-122"/>
            </a:endParaRPr>
          </a:p>
          <a:p>
            <a:pPr algn="just" eaLnBrk="1" hangingPunct="1">
              <a:buFont typeface="Wingdings" panose="05000000000000000000" pitchFamily="2" charset="2"/>
              <a:buNone/>
            </a:pPr>
            <a:r>
              <a:rPr lang="zh-CN" altLang="en-US" dirty="0">
                <a:latin typeface="Times New Roman" panose="02020503050405090304" pitchFamily="18" charset="0"/>
              </a:rPr>
              <a:t>	数据库系统</a:t>
            </a:r>
            <a:r>
              <a:rPr lang="en-US" altLang="zh-CN" dirty="0"/>
              <a:t>(DBS</a:t>
            </a:r>
            <a:r>
              <a:rPr lang="zh-CN" altLang="en-US" dirty="0">
                <a:latin typeface="Times New Roman" panose="02020503050405090304" pitchFamily="18" charset="0"/>
              </a:rPr>
              <a:t>：</a:t>
            </a:r>
            <a:r>
              <a:rPr lang="en-US" altLang="zh-CN" dirty="0"/>
              <a:t>Database System)</a:t>
            </a:r>
            <a:r>
              <a:rPr lang="zh-CN" altLang="en-US" dirty="0"/>
              <a:t>的产生</a:t>
            </a:r>
            <a:r>
              <a:rPr lang="zh-CN" altLang="en-US" dirty="0">
                <a:latin typeface="Times New Roman" panose="02020503050405090304" pitchFamily="18" charset="0"/>
              </a:rPr>
              <a:t>经历了人工方法、文件系统方法和数据库系统方法三个历史阶段。</a:t>
            </a:r>
            <a:endParaRPr lang="zh-CN" altLang="en-US" dirty="0"/>
          </a:p>
          <a:p>
            <a:pPr marL="393700" lvl="1" indent="0" eaLnBrk="1" hangingPunct="1">
              <a:buClr>
                <a:schemeClr val="tx2"/>
              </a:buClr>
              <a:buSzTx/>
              <a:buNone/>
            </a:pPr>
            <a:r>
              <a:rPr lang="zh-CN" altLang="en-US" dirty="0">
                <a:latin typeface="Times New Roman" panose="02020503050405090304" pitchFamily="18" charset="0"/>
              </a:rPr>
              <a:t>（</a:t>
            </a:r>
            <a:r>
              <a:rPr lang="en-US" altLang="zh-CN" dirty="0">
                <a:latin typeface="Times New Roman" panose="02020503050405090304" pitchFamily="18" charset="0"/>
              </a:rPr>
              <a:t>1</a:t>
            </a:r>
            <a:r>
              <a:rPr lang="zh-CN" altLang="en-US" dirty="0">
                <a:latin typeface="Times New Roman" panose="02020503050405090304" pitchFamily="18" charset="0"/>
              </a:rPr>
              <a:t>）人工管理阶段</a:t>
            </a:r>
            <a:r>
              <a:rPr lang="en-US" altLang="zh-CN" dirty="0">
                <a:latin typeface="Times New Roman" panose="02020503050405090304" pitchFamily="18" charset="0"/>
              </a:rPr>
              <a:t>(20</a:t>
            </a:r>
            <a:r>
              <a:rPr lang="zh-CN" altLang="en-US" dirty="0">
                <a:latin typeface="Times New Roman" panose="02020503050405090304" pitchFamily="18" charset="0"/>
              </a:rPr>
              <a:t>世纪</a:t>
            </a:r>
            <a:r>
              <a:rPr lang="en-US" altLang="zh-CN" dirty="0">
                <a:latin typeface="Times New Roman" panose="02020503050405090304" pitchFamily="18" charset="0"/>
              </a:rPr>
              <a:t>50</a:t>
            </a:r>
            <a:r>
              <a:rPr lang="zh-CN" altLang="en-US" dirty="0">
                <a:latin typeface="Times New Roman" panose="02020503050405090304" pitchFamily="18" charset="0"/>
              </a:rPr>
              <a:t>年代中期以前</a:t>
            </a:r>
            <a:r>
              <a:rPr lang="en-US" altLang="zh-CN" dirty="0">
                <a:latin typeface="Times New Roman" panose="02020503050405090304" pitchFamily="18" charset="0"/>
              </a:rPr>
              <a:t>)</a:t>
            </a:r>
            <a:endParaRPr lang="en-US" altLang="zh-CN" dirty="0">
              <a:latin typeface="Times New Roman" panose="02020503050405090304" pitchFamily="18" charset="0"/>
            </a:endParaRPr>
          </a:p>
          <a:p>
            <a:pPr marL="393700" lvl="1" indent="0" eaLnBrk="1" hangingPunct="1">
              <a:buClr>
                <a:schemeClr val="tx2"/>
              </a:buClr>
              <a:buSzTx/>
              <a:buNone/>
            </a:pPr>
            <a:r>
              <a:rPr lang="zh-CN" altLang="en-US" dirty="0">
                <a:latin typeface="Times New Roman" panose="02020503050405090304" pitchFamily="18" charset="0"/>
              </a:rPr>
              <a:t>（</a:t>
            </a:r>
            <a:r>
              <a:rPr lang="en-US" altLang="zh-CN" dirty="0">
                <a:latin typeface="Times New Roman" panose="02020503050405090304" pitchFamily="18" charset="0"/>
              </a:rPr>
              <a:t>2</a:t>
            </a:r>
            <a:r>
              <a:rPr lang="zh-CN" altLang="en-US" dirty="0">
                <a:latin typeface="Times New Roman" panose="02020503050405090304" pitchFamily="18" charset="0"/>
              </a:rPr>
              <a:t>）文件系统阶段</a:t>
            </a:r>
            <a:r>
              <a:rPr lang="en-US" altLang="zh-CN" dirty="0">
                <a:latin typeface="Times New Roman" panose="02020503050405090304" pitchFamily="18" charset="0"/>
              </a:rPr>
              <a:t>(20</a:t>
            </a:r>
            <a:r>
              <a:rPr lang="zh-CN" altLang="en-US" dirty="0">
                <a:latin typeface="Times New Roman" panose="02020503050405090304" pitchFamily="18" charset="0"/>
              </a:rPr>
              <a:t>世纪</a:t>
            </a:r>
            <a:r>
              <a:rPr lang="en-US" altLang="zh-CN" dirty="0">
                <a:latin typeface="Times New Roman" panose="02020503050405090304" pitchFamily="18" charset="0"/>
              </a:rPr>
              <a:t>50</a:t>
            </a:r>
            <a:r>
              <a:rPr lang="zh-CN" altLang="en-US" dirty="0">
                <a:latin typeface="Times New Roman" panose="02020503050405090304" pitchFamily="18" charset="0"/>
              </a:rPr>
              <a:t>年代后期</a:t>
            </a:r>
            <a:r>
              <a:rPr lang="en-US" altLang="zh-CN" dirty="0">
                <a:latin typeface="Times New Roman" panose="02020503050405090304" pitchFamily="18" charset="0"/>
              </a:rPr>
              <a:t>-60</a:t>
            </a:r>
            <a:r>
              <a:rPr lang="zh-CN" altLang="en-US" dirty="0">
                <a:latin typeface="Times New Roman" panose="02020503050405090304" pitchFamily="18" charset="0"/>
              </a:rPr>
              <a:t>年代中期</a:t>
            </a:r>
            <a:r>
              <a:rPr lang="en-US" altLang="zh-CN" dirty="0">
                <a:latin typeface="Times New Roman" panose="02020503050405090304" pitchFamily="18" charset="0"/>
              </a:rPr>
              <a:t>)</a:t>
            </a:r>
            <a:endParaRPr lang="en-US" altLang="zh-CN" dirty="0">
              <a:latin typeface="Times New Roman" panose="02020503050405090304" pitchFamily="18" charset="0"/>
            </a:endParaRPr>
          </a:p>
          <a:p>
            <a:pPr marL="393700" lvl="1" indent="0" eaLnBrk="1" hangingPunct="1">
              <a:buClr>
                <a:schemeClr val="tx2"/>
              </a:buClr>
              <a:buSzTx/>
              <a:buNone/>
            </a:pPr>
            <a:r>
              <a:rPr lang="zh-CN" altLang="en-US" dirty="0">
                <a:latin typeface="Times New Roman" panose="02020503050405090304" pitchFamily="18" charset="0"/>
              </a:rPr>
              <a:t>（</a:t>
            </a:r>
            <a:r>
              <a:rPr lang="en-US" altLang="zh-CN" dirty="0">
                <a:latin typeface="Times New Roman" panose="02020503050405090304" pitchFamily="18" charset="0"/>
              </a:rPr>
              <a:t>3</a:t>
            </a:r>
            <a:r>
              <a:rPr lang="zh-CN" altLang="en-US" dirty="0">
                <a:latin typeface="Times New Roman" panose="02020503050405090304" pitchFamily="18" charset="0"/>
              </a:rPr>
              <a:t>）数据库系统阶段</a:t>
            </a:r>
            <a:r>
              <a:rPr lang="en-US" altLang="zh-CN" dirty="0">
                <a:latin typeface="Times New Roman" panose="02020503050405090304" pitchFamily="18" charset="0"/>
              </a:rPr>
              <a:t>(20</a:t>
            </a:r>
            <a:r>
              <a:rPr lang="zh-CN" altLang="en-US" dirty="0">
                <a:latin typeface="Times New Roman" panose="02020503050405090304" pitchFamily="18" charset="0"/>
              </a:rPr>
              <a:t>世纪</a:t>
            </a:r>
            <a:r>
              <a:rPr lang="en-US" altLang="zh-CN" dirty="0">
                <a:latin typeface="Times New Roman" panose="02020503050405090304" pitchFamily="18" charset="0"/>
              </a:rPr>
              <a:t>60</a:t>
            </a:r>
            <a:r>
              <a:rPr lang="zh-CN" altLang="en-US" dirty="0">
                <a:latin typeface="Times New Roman" panose="02020503050405090304" pitchFamily="18" charset="0"/>
              </a:rPr>
              <a:t>年代后期开始</a:t>
            </a:r>
            <a:r>
              <a:rPr lang="en-US" altLang="zh-CN" dirty="0">
                <a:latin typeface="Times New Roman" panose="02020503050405090304" pitchFamily="18" charset="0"/>
              </a:rPr>
              <a:t>)</a:t>
            </a:r>
            <a:endParaRPr lang="en-US" altLang="zh-CN" dirty="0">
              <a:latin typeface="Times New Roman" panose="02020503050405090304" pitchFamily="18" charset="0"/>
            </a:endParaRPr>
          </a:p>
          <a:p>
            <a:pPr algn="just" eaLnBrk="1" hangingPunct="1">
              <a:buFont typeface="Wingdings" panose="05000000000000000000" pitchFamily="2" charset="2"/>
              <a:buNone/>
            </a:pPr>
            <a:endParaRPr lang="en-US" altLang="zh-CN" dirty="0"/>
          </a:p>
        </p:txBody>
      </p:sp>
      <p:sp>
        <p:nvSpPr>
          <p:cNvPr id="6" name="灯片编号占位符 5"/>
          <p:cNvSpPr>
            <a:spLocks noGrp="1"/>
          </p:cNvSpPr>
          <p:nvPr>
            <p:ph type="sldNum" sz="quarter" idx="12"/>
          </p:nvPr>
        </p:nvSpPr>
        <p:spPr/>
        <p:txBody>
          <a:bodyPr>
            <a:normAutofit/>
          </a:bodyPr>
          <a:lstStyle/>
          <a:p>
            <a:pPr>
              <a:defRPr/>
            </a:pPr>
            <a:fld id="{9A47BAD3-2254-44D4-8E3D-DC0EC5DF3F60}" type="slidenum">
              <a:rPr lang="en-US" altLang="zh-CN"/>
            </a:fld>
            <a:endParaRPr lang="en-US" altLang="zh-CN"/>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3"/>
          <p:cNvSpPr>
            <a:spLocks noGrp="1" noChangeArrowheads="1"/>
          </p:cNvSpPr>
          <p:nvPr>
            <p:ph idx="1"/>
          </p:nvPr>
        </p:nvSpPr>
        <p:spPr>
          <a:xfrm>
            <a:off x="609600" y="533400"/>
            <a:ext cx="8110538" cy="3543300"/>
          </a:xfrm>
        </p:spPr>
        <p:txBody>
          <a:bodyPr/>
          <a:lstStyle/>
          <a:p>
            <a:pPr algn="just" eaLnBrk="1" hangingPunct="1">
              <a:buFont typeface="Wingdings" panose="05000000000000000000" pitchFamily="2" charset="2"/>
              <a:buNone/>
              <a:defRPr/>
            </a:pPr>
            <a:r>
              <a:rPr lang="en-US" altLang="zh-CN" sz="2400" b="1" dirty="0">
                <a:latin typeface="+mn-ea"/>
              </a:rPr>
              <a:t>1.1.1  </a:t>
            </a:r>
            <a:r>
              <a:rPr lang="zh-CN" altLang="en-US" sz="2400" b="1" dirty="0">
                <a:latin typeface="+mn-ea"/>
              </a:rPr>
              <a:t>人工方法</a:t>
            </a:r>
            <a:endParaRPr lang="zh-CN" altLang="en-US" sz="2400" b="1" dirty="0">
              <a:latin typeface="+mn-ea"/>
            </a:endParaRPr>
          </a:p>
          <a:p>
            <a:pPr algn="just" eaLnBrk="1" hangingPunct="1">
              <a:buFont typeface="Wingdings" panose="05000000000000000000" pitchFamily="2" charset="2"/>
              <a:buNone/>
              <a:defRPr/>
            </a:pPr>
            <a:r>
              <a:rPr lang="en-US" altLang="zh-CN" sz="2400" b="1" dirty="0">
                <a:latin typeface="+mn-ea"/>
              </a:rPr>
              <a:t>1. </a:t>
            </a:r>
            <a:r>
              <a:rPr lang="zh-CN" altLang="en-US" sz="2400" b="1" dirty="0">
                <a:latin typeface="+mn-ea"/>
              </a:rPr>
              <a:t>特征</a:t>
            </a:r>
            <a:endParaRPr lang="zh-CN" altLang="en-US" sz="2400" b="1" dirty="0">
              <a:latin typeface="+mn-ea"/>
            </a:endParaRPr>
          </a:p>
          <a:p>
            <a:pPr algn="just" eaLnBrk="1" hangingPunct="1">
              <a:buFont typeface="Wingdings" panose="05000000000000000000" pitchFamily="2" charset="2"/>
              <a:buNone/>
              <a:defRPr/>
            </a:pPr>
            <a:r>
              <a:rPr lang="en-US" altLang="zh-CN" sz="2400" dirty="0">
                <a:latin typeface="+mn-ea"/>
              </a:rPr>
              <a:t>1</a:t>
            </a:r>
            <a:r>
              <a:rPr lang="zh-CN" altLang="en-US" sz="2400" dirty="0">
                <a:latin typeface="+mn-ea"/>
              </a:rPr>
              <a:t>）计算机一般用于</a:t>
            </a:r>
            <a:r>
              <a:rPr lang="zh-CN" altLang="en-US" sz="2400" dirty="0">
                <a:solidFill>
                  <a:srgbClr val="FF0000"/>
                </a:solidFill>
                <a:latin typeface="+mn-ea"/>
              </a:rPr>
              <a:t>科学计算</a:t>
            </a:r>
            <a:r>
              <a:rPr lang="zh-CN" altLang="en-US" sz="2400" dirty="0">
                <a:latin typeface="+mn-ea"/>
              </a:rPr>
              <a:t>；</a:t>
            </a:r>
            <a:endParaRPr lang="zh-CN" altLang="en-US" sz="2400" dirty="0">
              <a:latin typeface="+mn-ea"/>
            </a:endParaRPr>
          </a:p>
          <a:p>
            <a:pPr algn="just" eaLnBrk="1" hangingPunct="1">
              <a:buFont typeface="Wingdings" panose="05000000000000000000" pitchFamily="2" charset="2"/>
              <a:buNone/>
              <a:defRPr/>
            </a:pPr>
            <a:r>
              <a:rPr lang="en-US" altLang="zh-CN" sz="2400" dirty="0">
                <a:latin typeface="+mn-ea"/>
              </a:rPr>
              <a:t>2</a:t>
            </a:r>
            <a:r>
              <a:rPr lang="zh-CN" altLang="en-US" sz="2400" dirty="0">
                <a:latin typeface="+mn-ea"/>
              </a:rPr>
              <a:t>）硬件性能差，</a:t>
            </a:r>
            <a:r>
              <a:rPr lang="zh-CN" altLang="en-US" sz="2400" dirty="0">
                <a:solidFill>
                  <a:srgbClr val="FF0000"/>
                </a:solidFill>
                <a:latin typeface="+mn-ea"/>
              </a:rPr>
              <a:t>无磁盘</a:t>
            </a:r>
            <a:r>
              <a:rPr lang="zh-CN" altLang="en-US" sz="2400" dirty="0">
                <a:latin typeface="+mn-ea"/>
              </a:rPr>
              <a:t>；</a:t>
            </a:r>
            <a:endParaRPr lang="zh-CN" altLang="en-US" sz="2400" dirty="0">
              <a:latin typeface="+mn-ea"/>
            </a:endParaRPr>
          </a:p>
          <a:p>
            <a:pPr algn="just" eaLnBrk="1" hangingPunct="1">
              <a:buFont typeface="Wingdings" panose="05000000000000000000" pitchFamily="2" charset="2"/>
              <a:buNone/>
              <a:defRPr/>
            </a:pPr>
            <a:r>
              <a:rPr lang="en-US" altLang="zh-CN" sz="2400" dirty="0">
                <a:latin typeface="+mn-ea"/>
              </a:rPr>
              <a:t>3</a:t>
            </a:r>
            <a:r>
              <a:rPr lang="zh-CN" altLang="en-US" sz="2400" dirty="0">
                <a:latin typeface="+mn-ea"/>
              </a:rPr>
              <a:t>）数据一般</a:t>
            </a:r>
            <a:r>
              <a:rPr lang="zh-CN" altLang="en-US" sz="2400" dirty="0">
                <a:solidFill>
                  <a:srgbClr val="FF0000"/>
                </a:solidFill>
                <a:latin typeface="+mn-ea"/>
              </a:rPr>
              <a:t>不需长期保存</a:t>
            </a:r>
            <a:r>
              <a:rPr lang="zh-CN" altLang="en-US" sz="2400" dirty="0">
                <a:latin typeface="+mn-ea"/>
              </a:rPr>
              <a:t>；</a:t>
            </a:r>
            <a:endParaRPr lang="zh-CN" altLang="en-US" sz="2400" dirty="0">
              <a:latin typeface="+mn-ea"/>
            </a:endParaRPr>
          </a:p>
          <a:p>
            <a:pPr algn="just" eaLnBrk="1" hangingPunct="1">
              <a:buFont typeface="Wingdings" panose="05000000000000000000" pitchFamily="2" charset="2"/>
              <a:buNone/>
              <a:defRPr/>
            </a:pPr>
            <a:r>
              <a:rPr lang="en-US" altLang="zh-CN" sz="2400" dirty="0">
                <a:latin typeface="+mn-ea"/>
              </a:rPr>
              <a:t>4</a:t>
            </a:r>
            <a:r>
              <a:rPr lang="zh-CN" altLang="en-US" sz="2400" dirty="0">
                <a:latin typeface="+mn-ea"/>
              </a:rPr>
              <a:t>）无数据</a:t>
            </a:r>
            <a:r>
              <a:rPr lang="zh-CN" altLang="en-US" sz="2400" dirty="0">
                <a:solidFill>
                  <a:srgbClr val="FF0000"/>
                </a:solidFill>
                <a:latin typeface="+mn-ea"/>
              </a:rPr>
              <a:t>管理软件</a:t>
            </a:r>
            <a:r>
              <a:rPr lang="en-US" altLang="zh-CN" sz="2400" dirty="0">
                <a:latin typeface="+mn-ea"/>
              </a:rPr>
              <a:t>(</a:t>
            </a:r>
            <a:r>
              <a:rPr lang="zh-CN" altLang="en-US" sz="2400" dirty="0">
                <a:latin typeface="+mn-ea"/>
              </a:rPr>
              <a:t>无</a:t>
            </a:r>
            <a:r>
              <a:rPr lang="en-US" altLang="zh-CN" sz="2400" dirty="0">
                <a:latin typeface="+mn-ea"/>
              </a:rPr>
              <a:t>OS)</a:t>
            </a:r>
            <a:r>
              <a:rPr lang="zh-CN" altLang="en-US" sz="2400" dirty="0">
                <a:latin typeface="+mn-ea"/>
              </a:rPr>
              <a:t>。</a:t>
            </a:r>
            <a:endParaRPr lang="zh-CN" altLang="en-US" sz="2400" dirty="0">
              <a:latin typeface="+mn-ea"/>
            </a:endParaRPr>
          </a:p>
        </p:txBody>
      </p:sp>
      <p:sp>
        <p:nvSpPr>
          <p:cNvPr id="7" name="灯片编号占位符 5"/>
          <p:cNvSpPr>
            <a:spLocks noGrp="1"/>
          </p:cNvSpPr>
          <p:nvPr>
            <p:ph type="sldNum" sz="quarter" idx="12"/>
          </p:nvPr>
        </p:nvSpPr>
        <p:spPr/>
        <p:txBody>
          <a:bodyPr>
            <a:normAutofit/>
          </a:bodyPr>
          <a:lstStyle/>
          <a:p>
            <a:pPr>
              <a:defRPr/>
            </a:pPr>
            <a:fld id="{AB7A4105-3AE9-4585-BA8A-9D5DA245B488}" type="slidenum">
              <a:rPr lang="en-US" altLang="zh-CN"/>
            </a:fld>
            <a:endParaRPr lang="en-US" altLang="zh-CN"/>
          </a:p>
        </p:txBody>
      </p:sp>
      <p:sp>
        <p:nvSpPr>
          <p:cNvPr id="30724" name="Rectangle 4"/>
          <p:cNvSpPr>
            <a:spLocks noChangeArrowheads="1"/>
          </p:cNvSpPr>
          <p:nvPr/>
        </p:nvSpPr>
        <p:spPr bwMode="auto">
          <a:xfrm>
            <a:off x="609600" y="4174761"/>
            <a:ext cx="2831840" cy="2255143"/>
          </a:xfrm>
          <a:prstGeom prst="rect">
            <a:avLst/>
          </a:prstGeom>
          <a:noFill/>
          <a:ln w="9525">
            <a:noFill/>
            <a:miter lim="800000"/>
          </a:ln>
        </p:spPr>
        <p:txBody>
          <a:bodyPr/>
          <a:lstStyle/>
          <a:p>
            <a:pPr marL="342900" indent="-342900" algn="just">
              <a:spcBef>
                <a:spcPct val="20000"/>
              </a:spcBef>
              <a:buClr>
                <a:schemeClr val="folHlink"/>
              </a:buClr>
              <a:buSzPct val="75000"/>
              <a:buFont typeface="Wingdings" panose="05000000000000000000" pitchFamily="2" charset="2"/>
              <a:buNone/>
            </a:pPr>
            <a:r>
              <a:rPr lang="zh-CN" altLang="en-US" sz="2800" b="1" dirty="0">
                <a:ea typeface="黑体" panose="02010609060101010101" pitchFamily="49" charset="-122"/>
              </a:rPr>
              <a:t>纸带（打孔）、</a:t>
            </a:r>
            <a:endParaRPr lang="en-US" altLang="zh-CN" sz="2800" b="1" dirty="0">
              <a:ea typeface="黑体" panose="02010609060101010101" pitchFamily="49" charset="-122"/>
            </a:endParaRPr>
          </a:p>
          <a:p>
            <a:pPr marL="342900" indent="-342900" algn="just">
              <a:spcBef>
                <a:spcPct val="20000"/>
              </a:spcBef>
              <a:buClr>
                <a:schemeClr val="folHlink"/>
              </a:buClr>
              <a:buSzPct val="75000"/>
              <a:buFont typeface="Wingdings" panose="05000000000000000000" pitchFamily="2" charset="2"/>
              <a:buNone/>
            </a:pPr>
            <a:r>
              <a:rPr lang="zh-CN" altLang="en-US" sz="2800" b="1" dirty="0">
                <a:ea typeface="黑体" panose="02010609060101010101" pitchFamily="49" charset="-122"/>
              </a:rPr>
              <a:t>卡片、磁带</a:t>
            </a:r>
            <a:endParaRPr lang="zh-CN" altLang="en-US" sz="2800" b="1" dirty="0">
              <a:ea typeface="黑体" panose="02010609060101010101" pitchFamily="49" charset="-122"/>
            </a:endParaRPr>
          </a:p>
          <a:p>
            <a:pPr algn="just">
              <a:spcBef>
                <a:spcPct val="20000"/>
              </a:spcBef>
              <a:buClr>
                <a:schemeClr val="folHlink"/>
              </a:buClr>
              <a:buSzPct val="75000"/>
              <a:buFont typeface="Wingdings" panose="05000000000000000000" pitchFamily="2" charset="2"/>
              <a:buNone/>
            </a:pPr>
            <a:r>
              <a:rPr lang="zh-CN" altLang="en-US" sz="2800" dirty="0">
                <a:solidFill>
                  <a:srgbClr val="0070C0"/>
                </a:solidFill>
                <a:latin typeface="宋体" pitchFamily="2" charset="-122"/>
                <a:ea typeface="宋体" pitchFamily="2" charset="-122"/>
              </a:rPr>
              <a:t>类似于人们绳结记事</a:t>
            </a:r>
            <a:endParaRPr lang="zh-CN" altLang="en-US" sz="2800" dirty="0">
              <a:solidFill>
                <a:srgbClr val="0070C0"/>
              </a:solidFill>
              <a:latin typeface="宋体" pitchFamily="2" charset="-122"/>
              <a:ea typeface="宋体" pitchFamily="2" charset="-122"/>
            </a:endParaRPr>
          </a:p>
        </p:txBody>
      </p:sp>
      <p:pic>
        <p:nvPicPr>
          <p:cNvPr id="6" name="图片 4" descr="阅读纸带打孔.jpg"/>
          <p:cNvPicPr>
            <a:picLocks noChangeAspect="1"/>
          </p:cNvPicPr>
          <p:nvPr/>
        </p:nvPicPr>
        <p:blipFill>
          <a:blip r:embed="rId1" cstate="print"/>
          <a:srcRect/>
          <a:stretch>
            <a:fillRect/>
          </a:stretch>
        </p:blipFill>
        <p:spPr bwMode="auto">
          <a:xfrm>
            <a:off x="5364088" y="1268760"/>
            <a:ext cx="3456384" cy="2661381"/>
          </a:xfrm>
          <a:prstGeom prst="rect">
            <a:avLst/>
          </a:prstGeom>
          <a:noFill/>
          <a:ln w="9525">
            <a:noFill/>
            <a:miter lim="800000"/>
            <a:headEnd/>
            <a:tailEnd/>
          </a:ln>
        </p:spPr>
      </p:pic>
      <p:pic>
        <p:nvPicPr>
          <p:cNvPr id="8" name="图片 5" descr="纸带打孔.jpg"/>
          <p:cNvPicPr>
            <a:picLocks noChangeAspect="1"/>
          </p:cNvPicPr>
          <p:nvPr/>
        </p:nvPicPr>
        <p:blipFill>
          <a:blip r:embed="rId2" cstate="print"/>
          <a:srcRect/>
          <a:stretch>
            <a:fillRect/>
          </a:stretch>
        </p:blipFill>
        <p:spPr bwMode="auto">
          <a:xfrm>
            <a:off x="4283968" y="4005065"/>
            <a:ext cx="4536504" cy="2120508"/>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0724"/>
                                        </p:tgtEl>
                                        <p:attrNameLst>
                                          <p:attrName>style.visibility</p:attrName>
                                        </p:attrNameLst>
                                      </p:cBhvr>
                                      <p:to>
                                        <p:strVal val="visible"/>
                                      </p:to>
                                    </p:set>
                                    <p:anim calcmode="lin" valueType="num">
                                      <p:cBhvr additive="base">
                                        <p:cTn id="7" dur="500" fill="hold"/>
                                        <p:tgtEl>
                                          <p:spTgt spid="30724"/>
                                        </p:tgtEl>
                                        <p:attrNameLst>
                                          <p:attrName>ppt_x</p:attrName>
                                        </p:attrNameLst>
                                      </p:cBhvr>
                                      <p:tavLst>
                                        <p:tav tm="0">
                                          <p:val>
                                            <p:strVal val="#ppt_x"/>
                                          </p:val>
                                        </p:tav>
                                        <p:tav tm="100000">
                                          <p:val>
                                            <p:strVal val="#ppt_x"/>
                                          </p:val>
                                        </p:tav>
                                      </p:tavLst>
                                    </p:anim>
                                    <p:anim calcmode="lin" valueType="num">
                                      <p:cBhvr additive="base">
                                        <p:cTn id="8" dur="500" fill="hold"/>
                                        <p:tgtEl>
                                          <p:spTgt spid="307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493A3A5C-4E04-4280-B123-1EEB994086B2}" type="slidenum">
              <a:rPr lang="en-US" altLang="zh-CN"/>
            </a:fld>
            <a:endParaRPr lang="en-US" altLang="zh-CN"/>
          </a:p>
        </p:txBody>
      </p:sp>
      <p:sp>
        <p:nvSpPr>
          <p:cNvPr id="63491" name="Text Box 2"/>
          <p:cNvSpPr txBox="1">
            <a:spLocks noChangeArrowheads="1"/>
          </p:cNvSpPr>
          <p:nvPr/>
        </p:nvSpPr>
        <p:spPr bwMode="auto">
          <a:xfrm>
            <a:off x="304800" y="571500"/>
            <a:ext cx="8232775" cy="6010275"/>
          </a:xfrm>
          <a:prstGeom prst="rect">
            <a:avLst/>
          </a:prstGeom>
          <a:noFill/>
          <a:ln w="9525">
            <a:noFill/>
            <a:miter lim="800000"/>
          </a:ln>
        </p:spPr>
        <p:txBody>
          <a:bodyPr wrap="none">
            <a:spAutoFit/>
          </a:bodyPr>
          <a:lstStyle/>
          <a:p>
            <a:pPr>
              <a:lnSpc>
                <a:spcPct val="90000"/>
              </a:lnSpc>
              <a:spcBef>
                <a:spcPct val="20000"/>
              </a:spcBef>
              <a:buClr>
                <a:schemeClr val="folHlink"/>
              </a:buClr>
              <a:buSzPct val="75000"/>
              <a:buFont typeface="Wingdings" panose="05000000000000000000" pitchFamily="2" charset="2"/>
              <a:buNone/>
            </a:pPr>
            <a:r>
              <a:rPr lang="en-US" altLang="zh-CN" sz="2800" b="1" dirty="0">
                <a:latin typeface="Arial" panose="020B0604020202090204" pitchFamily="34" charset="0"/>
                <a:ea typeface="黑体" panose="02010609060101010101" pitchFamily="49" charset="-122"/>
              </a:rPr>
              <a:t>2. </a:t>
            </a:r>
            <a:r>
              <a:rPr lang="zh-CN" altLang="en-US" sz="2800" b="1" dirty="0">
                <a:latin typeface="Arial" panose="020B0604020202090204" pitchFamily="34" charset="0"/>
                <a:ea typeface="黑体" panose="02010609060101010101" pitchFamily="49" charset="-122"/>
              </a:rPr>
              <a:t>问题</a:t>
            </a:r>
            <a:endParaRPr lang="zh-CN" altLang="en-US" sz="2800" b="1" dirty="0">
              <a:latin typeface="Arial" panose="020B0604020202090204" pitchFamily="34" charset="0"/>
              <a:ea typeface="黑体" panose="02010609060101010101" pitchFamily="49" charset="-122"/>
            </a:endParaRPr>
          </a:p>
          <a:p>
            <a:pPr>
              <a:lnSpc>
                <a:spcPct val="90000"/>
              </a:lnSpc>
              <a:spcBef>
                <a:spcPct val="20000"/>
              </a:spcBef>
              <a:buClr>
                <a:schemeClr val="folHlink"/>
              </a:buClr>
              <a:buSzPct val="75000"/>
              <a:buFont typeface="Wingdings" panose="05000000000000000000" pitchFamily="2" charset="2"/>
              <a:buNone/>
            </a:pPr>
            <a:r>
              <a:rPr lang="en-US" altLang="zh-CN" sz="2800" dirty="0"/>
              <a:t>1</a:t>
            </a:r>
            <a:r>
              <a:rPr lang="zh-CN" altLang="en-US" sz="2800" dirty="0">
                <a:latin typeface="Times New Roman" panose="02020503050405090304" pitchFamily="18" charset="0"/>
              </a:rPr>
              <a:t>）程序编制困难、易出错</a:t>
            </a:r>
            <a:endParaRPr lang="zh-CN" altLang="en-US" sz="2800" dirty="0"/>
          </a:p>
          <a:p>
            <a:pPr marL="1073150">
              <a:lnSpc>
                <a:spcPct val="90000"/>
              </a:lnSpc>
              <a:spcBef>
                <a:spcPct val="20000"/>
              </a:spcBef>
              <a:buClr>
                <a:schemeClr val="folHlink"/>
              </a:buClr>
              <a:buSzPct val="75000"/>
            </a:pPr>
            <a:r>
              <a:rPr lang="zh-CN" altLang="en-US" sz="2800" dirty="0"/>
              <a:t> </a:t>
            </a:r>
            <a:r>
              <a:rPr lang="zh-CN" altLang="en-US" sz="2800" dirty="0">
                <a:latin typeface="Times New Roman" panose="02020503050405090304" pitchFamily="18" charset="0"/>
              </a:rPr>
              <a:t>说明数据的</a:t>
            </a:r>
            <a:r>
              <a:rPr lang="zh-CN" altLang="en-US" sz="2800" dirty="0">
                <a:solidFill>
                  <a:srgbClr val="FF0000"/>
                </a:solidFill>
                <a:latin typeface="Times New Roman" panose="02020503050405090304" pitchFamily="18" charset="0"/>
              </a:rPr>
              <a:t>逻辑</a:t>
            </a:r>
            <a:r>
              <a:rPr lang="zh-CN" altLang="en-US" sz="2800" dirty="0">
                <a:latin typeface="Times New Roman" panose="02020503050405090304" pitchFamily="18" charset="0"/>
              </a:rPr>
              <a:t>结构；</a:t>
            </a:r>
            <a:endParaRPr lang="zh-CN" altLang="en-US" sz="2800" dirty="0"/>
          </a:p>
          <a:p>
            <a:pPr marL="1073150">
              <a:lnSpc>
                <a:spcPct val="90000"/>
              </a:lnSpc>
              <a:spcBef>
                <a:spcPct val="20000"/>
              </a:spcBef>
              <a:buClr>
                <a:schemeClr val="folHlink"/>
              </a:buClr>
              <a:buSzPct val="75000"/>
            </a:pPr>
            <a:r>
              <a:rPr lang="zh-CN" altLang="en-US" sz="2800" dirty="0"/>
              <a:t> </a:t>
            </a:r>
            <a:r>
              <a:rPr lang="zh-CN" altLang="en-US" sz="2800" dirty="0">
                <a:latin typeface="Times New Roman" panose="02020503050405090304" pitchFamily="18" charset="0"/>
              </a:rPr>
              <a:t>设计数据的</a:t>
            </a:r>
            <a:r>
              <a:rPr lang="zh-CN" altLang="en-US" sz="2800" dirty="0">
                <a:solidFill>
                  <a:srgbClr val="FF0000"/>
                </a:solidFill>
                <a:latin typeface="Times New Roman" panose="02020503050405090304" pitchFamily="18" charset="0"/>
              </a:rPr>
              <a:t>存储</a:t>
            </a:r>
            <a:r>
              <a:rPr lang="zh-CN" altLang="en-US" sz="2800" dirty="0">
                <a:latin typeface="Times New Roman" panose="02020503050405090304" pitchFamily="18" charset="0"/>
              </a:rPr>
              <a:t>结构；</a:t>
            </a:r>
            <a:endParaRPr lang="zh-CN" altLang="en-US" sz="2800" dirty="0"/>
          </a:p>
          <a:p>
            <a:pPr marL="1073150">
              <a:lnSpc>
                <a:spcPct val="90000"/>
              </a:lnSpc>
              <a:spcBef>
                <a:spcPct val="20000"/>
              </a:spcBef>
              <a:buClr>
                <a:schemeClr val="folHlink"/>
              </a:buClr>
              <a:buSzPct val="75000"/>
            </a:pPr>
            <a:r>
              <a:rPr lang="zh-CN" altLang="en-US" sz="2800" dirty="0"/>
              <a:t> 。。。。。</a:t>
            </a:r>
            <a:r>
              <a:rPr lang="zh-CN" altLang="en-US" sz="2800" dirty="0">
                <a:solidFill>
                  <a:srgbClr val="FF0000"/>
                </a:solidFill>
                <a:latin typeface="Times New Roman" panose="02020503050405090304" pitchFamily="18" charset="0"/>
              </a:rPr>
              <a:t>存取</a:t>
            </a:r>
            <a:r>
              <a:rPr lang="zh-CN" altLang="en-US" sz="2800" dirty="0">
                <a:latin typeface="Times New Roman" panose="02020503050405090304" pitchFamily="18" charset="0"/>
              </a:rPr>
              <a:t>方法；</a:t>
            </a:r>
            <a:endParaRPr lang="zh-CN" altLang="en-US" sz="2800" dirty="0"/>
          </a:p>
          <a:p>
            <a:pPr marL="1073150">
              <a:lnSpc>
                <a:spcPct val="90000"/>
              </a:lnSpc>
              <a:spcBef>
                <a:spcPct val="20000"/>
              </a:spcBef>
              <a:buClr>
                <a:schemeClr val="folHlink"/>
              </a:buClr>
              <a:buSzPct val="75000"/>
            </a:pPr>
            <a:r>
              <a:rPr lang="zh-CN" altLang="en-US" sz="2800" dirty="0"/>
              <a:t> 。。。。。</a:t>
            </a:r>
            <a:r>
              <a:rPr lang="en-US" altLang="zh-CN" sz="2800" dirty="0">
                <a:solidFill>
                  <a:srgbClr val="FF0000"/>
                </a:solidFill>
              </a:rPr>
              <a:t>I/O</a:t>
            </a:r>
            <a:r>
              <a:rPr lang="zh-CN" altLang="en-US" sz="2800" dirty="0">
                <a:latin typeface="Times New Roman" panose="02020503050405090304" pitchFamily="18" charset="0"/>
              </a:rPr>
              <a:t>方式。</a:t>
            </a:r>
            <a:endParaRPr lang="zh-CN" altLang="en-US" sz="2800" dirty="0"/>
          </a:p>
          <a:p>
            <a:pPr>
              <a:lnSpc>
                <a:spcPct val="90000"/>
              </a:lnSpc>
              <a:spcBef>
                <a:spcPct val="20000"/>
              </a:spcBef>
              <a:buClr>
                <a:schemeClr val="folHlink"/>
              </a:buClr>
              <a:buSzPct val="75000"/>
              <a:buFont typeface="Wingdings" panose="05000000000000000000" pitchFamily="2" charset="2"/>
              <a:buNone/>
            </a:pPr>
            <a:r>
              <a:rPr lang="en-US" altLang="zh-CN" sz="2800" dirty="0"/>
              <a:t>2</a:t>
            </a:r>
            <a:r>
              <a:rPr lang="zh-CN" altLang="en-US" sz="2800" dirty="0">
                <a:latin typeface="Times New Roman" panose="02020503050405090304" pitchFamily="18" charset="0"/>
              </a:rPr>
              <a:t>）数据不共享</a:t>
            </a:r>
            <a:endParaRPr lang="zh-CN" altLang="en-US" sz="2800" dirty="0"/>
          </a:p>
          <a:p>
            <a:pPr marL="1167130">
              <a:lnSpc>
                <a:spcPct val="90000"/>
              </a:lnSpc>
              <a:spcBef>
                <a:spcPct val="20000"/>
              </a:spcBef>
              <a:buClr>
                <a:schemeClr val="folHlink"/>
              </a:buClr>
              <a:buSzPct val="75000"/>
            </a:pPr>
            <a:r>
              <a:rPr lang="zh-CN" altLang="en-US" sz="2800" dirty="0"/>
              <a:t> </a:t>
            </a:r>
            <a:r>
              <a:rPr lang="zh-CN" altLang="en-US" sz="2800" dirty="0">
                <a:latin typeface="Times New Roman" panose="02020503050405090304" pitchFamily="18" charset="0"/>
              </a:rPr>
              <a:t>数据与应用程序一一对应；</a:t>
            </a:r>
            <a:endParaRPr lang="zh-CN" altLang="en-US" sz="2800" dirty="0"/>
          </a:p>
          <a:p>
            <a:pPr marL="1167130">
              <a:lnSpc>
                <a:spcPct val="90000"/>
              </a:lnSpc>
              <a:spcBef>
                <a:spcPct val="20000"/>
              </a:spcBef>
              <a:buClr>
                <a:schemeClr val="folHlink"/>
              </a:buClr>
              <a:buSzPct val="75000"/>
            </a:pPr>
            <a:r>
              <a:rPr lang="zh-CN" altLang="en-US" sz="2800" dirty="0"/>
              <a:t> </a:t>
            </a:r>
            <a:r>
              <a:rPr lang="zh-CN" altLang="en-US" sz="2800" dirty="0">
                <a:latin typeface="Times New Roman" panose="02020503050405090304" pitchFamily="18" charset="0"/>
              </a:rPr>
              <a:t>相同数据须各自重复建立。</a:t>
            </a:r>
            <a:endParaRPr lang="zh-CN" altLang="en-US" sz="2800" dirty="0"/>
          </a:p>
          <a:p>
            <a:pPr>
              <a:lnSpc>
                <a:spcPct val="90000"/>
              </a:lnSpc>
              <a:spcBef>
                <a:spcPct val="20000"/>
              </a:spcBef>
              <a:buClr>
                <a:schemeClr val="folHlink"/>
              </a:buClr>
              <a:buSzPct val="75000"/>
              <a:buFont typeface="Wingdings" panose="05000000000000000000" pitchFamily="2" charset="2"/>
              <a:buNone/>
            </a:pPr>
            <a:r>
              <a:rPr lang="en-US" altLang="zh-CN" sz="2800" dirty="0"/>
              <a:t>3</a:t>
            </a:r>
            <a:r>
              <a:rPr lang="zh-CN" altLang="en-US" sz="2800" dirty="0">
                <a:latin typeface="Times New Roman" panose="02020503050405090304" pitchFamily="18" charset="0"/>
              </a:rPr>
              <a:t>）数据冗余大</a:t>
            </a:r>
            <a:endParaRPr lang="zh-CN" altLang="en-US" sz="2800" dirty="0"/>
          </a:p>
          <a:p>
            <a:pPr>
              <a:lnSpc>
                <a:spcPct val="90000"/>
              </a:lnSpc>
              <a:spcBef>
                <a:spcPct val="20000"/>
              </a:spcBef>
              <a:buClr>
                <a:schemeClr val="folHlink"/>
              </a:buClr>
              <a:buSzPct val="75000"/>
              <a:buFont typeface="Wingdings" panose="05000000000000000000" pitchFamily="2" charset="2"/>
              <a:buNone/>
            </a:pPr>
            <a:r>
              <a:rPr lang="en-US" altLang="zh-CN" sz="2800" dirty="0"/>
              <a:t>4</a:t>
            </a:r>
            <a:r>
              <a:rPr lang="zh-CN" altLang="en-US" sz="2800" dirty="0">
                <a:latin typeface="Times New Roman" panose="02020503050405090304" pitchFamily="18" charset="0"/>
              </a:rPr>
              <a:t>）应用程序高度依赖于数据的</a:t>
            </a:r>
            <a:r>
              <a:rPr lang="zh-CN" altLang="en-US" sz="2800" dirty="0">
                <a:solidFill>
                  <a:srgbClr val="FF0000"/>
                </a:solidFill>
                <a:latin typeface="Times New Roman" panose="02020503050405090304" pitchFamily="18" charset="0"/>
              </a:rPr>
              <a:t>逻辑结构</a:t>
            </a:r>
            <a:r>
              <a:rPr lang="zh-CN" altLang="en-US" sz="2800" dirty="0">
                <a:latin typeface="Times New Roman" panose="02020503050405090304" pitchFamily="18" charset="0"/>
              </a:rPr>
              <a:t>与</a:t>
            </a:r>
            <a:r>
              <a:rPr lang="zh-CN" altLang="en-US" sz="2800" dirty="0">
                <a:solidFill>
                  <a:srgbClr val="FF0000"/>
                </a:solidFill>
                <a:latin typeface="Times New Roman" panose="02020503050405090304" pitchFamily="18" charset="0"/>
              </a:rPr>
              <a:t>物理结构</a:t>
            </a:r>
            <a:endParaRPr lang="zh-CN" altLang="en-US" sz="2800" dirty="0">
              <a:solidFill>
                <a:srgbClr val="FF0000"/>
              </a:solidFill>
            </a:endParaRPr>
          </a:p>
          <a:p>
            <a:pPr>
              <a:lnSpc>
                <a:spcPct val="90000"/>
              </a:lnSpc>
              <a:spcBef>
                <a:spcPct val="20000"/>
              </a:spcBef>
              <a:buClr>
                <a:schemeClr val="folHlink"/>
              </a:buClr>
              <a:buSzPct val="75000"/>
              <a:buFont typeface="Wingdings" panose="05000000000000000000" pitchFamily="2" charset="2"/>
              <a:buNone/>
            </a:pPr>
            <a:r>
              <a:rPr lang="en-US" altLang="zh-CN" sz="2800" dirty="0"/>
              <a:t>5</a:t>
            </a:r>
            <a:r>
              <a:rPr lang="zh-CN" altLang="en-US" sz="2800" dirty="0">
                <a:latin typeface="Times New Roman" panose="02020503050405090304" pitchFamily="18" charset="0"/>
              </a:rPr>
              <a:t>）不能表示</a:t>
            </a:r>
            <a:r>
              <a:rPr lang="zh-CN" altLang="en-US" sz="2800" dirty="0">
                <a:solidFill>
                  <a:srgbClr val="FF0000"/>
                </a:solidFill>
                <a:latin typeface="Times New Roman" panose="02020503050405090304" pitchFamily="18" charset="0"/>
              </a:rPr>
              <a:t>数据间联系</a:t>
            </a:r>
            <a:endParaRPr lang="zh-CN" altLang="en-US" sz="2800" dirty="0">
              <a:solidFill>
                <a:srgbClr val="FF0000"/>
              </a:solidFill>
            </a:endParaRPr>
          </a:p>
          <a:p>
            <a:endParaRPr lang="en-US" altLang="zh-CN" dirty="0"/>
          </a:p>
        </p:txBody>
      </p:sp>
      <p:sp>
        <p:nvSpPr>
          <p:cNvPr id="2" name="流程图: 可选过程 1"/>
          <p:cNvSpPr/>
          <p:nvPr/>
        </p:nvSpPr>
        <p:spPr>
          <a:xfrm>
            <a:off x="5148064" y="1545053"/>
            <a:ext cx="3168352" cy="360040"/>
          </a:xfrm>
          <a:prstGeom prst="flowChartAlternateProcess">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dirty="0"/>
              <a:t>整数</a:t>
            </a:r>
            <a:r>
              <a:rPr lang="en-US" altLang="zh-CN" dirty="0"/>
              <a:t>?</a:t>
            </a:r>
            <a:r>
              <a:rPr lang="zh-CN" altLang="en-US" dirty="0"/>
              <a:t>小数？字符串？</a:t>
            </a:r>
            <a:endParaRPr lang="zh-CN" altLang="en-US" dirty="0"/>
          </a:p>
        </p:txBody>
      </p:sp>
      <p:sp>
        <p:nvSpPr>
          <p:cNvPr id="5" name="流程图: 可选过程 4"/>
          <p:cNvSpPr/>
          <p:nvPr/>
        </p:nvSpPr>
        <p:spPr>
          <a:xfrm>
            <a:off x="5137448" y="2060848"/>
            <a:ext cx="3168352" cy="360040"/>
          </a:xfrm>
          <a:prstGeom prst="flowChartAlternateProcess">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dirty="0"/>
              <a:t>数组？链表？块？</a:t>
            </a:r>
            <a:endParaRPr lang="zh-CN" altLang="en-US" dirty="0"/>
          </a:p>
        </p:txBody>
      </p:sp>
      <p:sp>
        <p:nvSpPr>
          <p:cNvPr id="7" name="流程图: 可选过程 6"/>
          <p:cNvSpPr/>
          <p:nvPr/>
        </p:nvSpPr>
        <p:spPr>
          <a:xfrm>
            <a:off x="5137448" y="2518606"/>
            <a:ext cx="3168352" cy="360040"/>
          </a:xfrm>
          <a:prstGeom prst="flowChartAlternateProcess">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dirty="0"/>
              <a:t>算法？</a:t>
            </a:r>
            <a:endParaRPr lang="zh-CN" altLang="en-US" dirty="0"/>
          </a:p>
        </p:txBody>
      </p:sp>
      <p:sp>
        <p:nvSpPr>
          <p:cNvPr id="8" name="流程图: 可选过程 7"/>
          <p:cNvSpPr/>
          <p:nvPr/>
        </p:nvSpPr>
        <p:spPr>
          <a:xfrm>
            <a:off x="5155339" y="2976892"/>
            <a:ext cx="3168352" cy="360040"/>
          </a:xfrm>
          <a:prstGeom prst="flowChartAlternateProcess">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dirty="0"/>
              <a:t>顺序</a:t>
            </a:r>
            <a:r>
              <a:rPr lang="en-US" altLang="zh-CN" dirty="0"/>
              <a:t>?</a:t>
            </a:r>
            <a:r>
              <a:rPr lang="zh-CN" altLang="en-US" dirty="0"/>
              <a:t>随机？</a:t>
            </a:r>
            <a:endParaRPr lang="zh-CN" altLang="en-US" dirty="0"/>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3"/>
          <p:cNvSpPr>
            <a:spLocks noGrp="1" noChangeArrowheads="1"/>
          </p:cNvSpPr>
          <p:nvPr>
            <p:ph idx="1"/>
          </p:nvPr>
        </p:nvSpPr>
        <p:spPr>
          <a:xfrm>
            <a:off x="533400" y="457200"/>
            <a:ext cx="8110538" cy="3692525"/>
          </a:xfrm>
        </p:spPr>
        <p:txBody>
          <a:bodyPr/>
          <a:lstStyle/>
          <a:p>
            <a:pPr algn="just" eaLnBrk="1" hangingPunct="1">
              <a:buFont typeface="Wingdings" panose="05000000000000000000" pitchFamily="2" charset="2"/>
              <a:buNone/>
              <a:defRPr/>
            </a:pPr>
            <a:r>
              <a:rPr lang="en-US" altLang="zh-CN" b="1" dirty="0">
                <a:latin typeface="+mn-ea"/>
              </a:rPr>
              <a:t>1.1.2  </a:t>
            </a:r>
            <a:r>
              <a:rPr lang="zh-CN" altLang="en-US" b="1" dirty="0">
                <a:latin typeface="+mn-ea"/>
              </a:rPr>
              <a:t>文件系统方法</a:t>
            </a:r>
            <a:endParaRPr lang="zh-CN" altLang="en-US" b="1" dirty="0">
              <a:latin typeface="+mn-ea"/>
            </a:endParaRPr>
          </a:p>
          <a:p>
            <a:pPr algn="just" eaLnBrk="1" hangingPunct="1">
              <a:buFont typeface="Wingdings" panose="05000000000000000000" pitchFamily="2" charset="2"/>
              <a:buNone/>
              <a:defRPr/>
            </a:pPr>
            <a:r>
              <a:rPr lang="en-US" altLang="zh-CN" b="1" dirty="0">
                <a:latin typeface="+mn-ea"/>
                <a:cs typeface="Arial" panose="020B0604020202090204" pitchFamily="34" charset="0"/>
              </a:rPr>
              <a:t>1. </a:t>
            </a:r>
            <a:r>
              <a:rPr lang="zh-CN" altLang="en-US" b="1" dirty="0">
                <a:latin typeface="+mn-ea"/>
              </a:rPr>
              <a:t>特征</a:t>
            </a:r>
            <a:endParaRPr lang="zh-CN" altLang="en-US" b="1" dirty="0">
              <a:latin typeface="+mn-ea"/>
              <a:cs typeface="Arial" panose="020B0604020202090204" pitchFamily="34" charset="0"/>
            </a:endParaRPr>
          </a:p>
          <a:p>
            <a:pPr algn="just" eaLnBrk="1" hangingPunct="1">
              <a:buFont typeface="Wingdings" panose="05000000000000000000" pitchFamily="2" charset="2"/>
              <a:buNone/>
              <a:defRPr/>
            </a:pPr>
            <a:r>
              <a:rPr lang="en-US" altLang="zh-CN" dirty="0">
                <a:latin typeface="+mn-ea"/>
              </a:rPr>
              <a:t>1</a:t>
            </a:r>
            <a:r>
              <a:rPr lang="zh-CN" altLang="en-US" dirty="0">
                <a:latin typeface="+mn-ea"/>
              </a:rPr>
              <a:t>）计算机用于科学计算，还用于</a:t>
            </a:r>
            <a:r>
              <a:rPr lang="zh-CN" altLang="en-US" dirty="0">
                <a:solidFill>
                  <a:srgbClr val="FF0000"/>
                </a:solidFill>
                <a:latin typeface="+mn-ea"/>
              </a:rPr>
              <a:t>管理</a:t>
            </a:r>
            <a:r>
              <a:rPr lang="zh-CN" altLang="en-US" dirty="0">
                <a:latin typeface="+mn-ea"/>
              </a:rPr>
              <a:t>；</a:t>
            </a:r>
            <a:endParaRPr lang="zh-CN" altLang="en-US" dirty="0">
              <a:latin typeface="+mn-ea"/>
            </a:endParaRPr>
          </a:p>
          <a:p>
            <a:pPr algn="just" eaLnBrk="1" hangingPunct="1">
              <a:buFont typeface="Wingdings" panose="05000000000000000000" pitchFamily="2" charset="2"/>
              <a:buNone/>
              <a:defRPr/>
            </a:pPr>
            <a:r>
              <a:rPr lang="en-US" altLang="zh-CN" dirty="0">
                <a:latin typeface="+mn-ea"/>
              </a:rPr>
              <a:t>2</a:t>
            </a:r>
            <a:r>
              <a:rPr lang="zh-CN" altLang="en-US" dirty="0">
                <a:latin typeface="+mn-ea"/>
              </a:rPr>
              <a:t>）有磁盘，磁鼓等直接</a:t>
            </a:r>
            <a:r>
              <a:rPr lang="zh-CN" altLang="en-US" dirty="0">
                <a:solidFill>
                  <a:srgbClr val="FF0000"/>
                </a:solidFill>
                <a:latin typeface="+mn-ea"/>
              </a:rPr>
              <a:t>存取设备</a:t>
            </a:r>
            <a:r>
              <a:rPr lang="zh-CN" altLang="en-US" dirty="0">
                <a:latin typeface="+mn-ea"/>
              </a:rPr>
              <a:t>；</a:t>
            </a:r>
            <a:endParaRPr lang="zh-CN" altLang="en-US" dirty="0">
              <a:latin typeface="+mn-ea"/>
            </a:endParaRPr>
          </a:p>
          <a:p>
            <a:pPr algn="just" eaLnBrk="1" hangingPunct="1">
              <a:buFont typeface="Wingdings" panose="05000000000000000000" pitchFamily="2" charset="2"/>
              <a:buNone/>
              <a:defRPr/>
            </a:pPr>
            <a:r>
              <a:rPr lang="en-US" altLang="zh-CN" dirty="0">
                <a:latin typeface="+mn-ea"/>
              </a:rPr>
              <a:t>3</a:t>
            </a:r>
            <a:r>
              <a:rPr lang="zh-CN" altLang="en-US" dirty="0">
                <a:latin typeface="+mn-ea"/>
              </a:rPr>
              <a:t>）数据可</a:t>
            </a:r>
            <a:r>
              <a:rPr lang="zh-CN" altLang="en-US" dirty="0">
                <a:solidFill>
                  <a:srgbClr val="FF0000"/>
                </a:solidFill>
                <a:latin typeface="+mn-ea"/>
              </a:rPr>
              <a:t>长期保存</a:t>
            </a:r>
            <a:r>
              <a:rPr lang="zh-CN" altLang="en-US" dirty="0">
                <a:latin typeface="+mn-ea"/>
              </a:rPr>
              <a:t>；</a:t>
            </a:r>
            <a:endParaRPr lang="zh-CN" altLang="en-US" dirty="0">
              <a:latin typeface="+mn-ea"/>
            </a:endParaRPr>
          </a:p>
          <a:p>
            <a:pPr algn="just" eaLnBrk="1" hangingPunct="1">
              <a:buFont typeface="Wingdings" panose="05000000000000000000" pitchFamily="2" charset="2"/>
              <a:buNone/>
              <a:defRPr/>
            </a:pPr>
            <a:r>
              <a:rPr lang="en-US" altLang="zh-CN" dirty="0">
                <a:latin typeface="+mn-ea"/>
              </a:rPr>
              <a:t>4</a:t>
            </a:r>
            <a:r>
              <a:rPr lang="zh-CN" altLang="en-US" dirty="0">
                <a:latin typeface="+mn-ea"/>
              </a:rPr>
              <a:t>）有</a:t>
            </a:r>
            <a:r>
              <a:rPr lang="en-US" altLang="zh-CN" dirty="0">
                <a:latin typeface="+mn-ea"/>
              </a:rPr>
              <a:t>OS(FMS)</a:t>
            </a:r>
            <a:r>
              <a:rPr lang="zh-CN" altLang="en-US" dirty="0">
                <a:solidFill>
                  <a:srgbClr val="FF0000"/>
                </a:solidFill>
                <a:latin typeface="+mn-ea"/>
              </a:rPr>
              <a:t>管理数据</a:t>
            </a:r>
            <a:r>
              <a:rPr lang="zh-CN" altLang="en-US" dirty="0">
                <a:latin typeface="+mn-ea"/>
              </a:rPr>
              <a:t>。</a:t>
            </a:r>
            <a:endParaRPr lang="zh-CN" altLang="en-US" dirty="0">
              <a:latin typeface="+mn-ea"/>
            </a:endParaRPr>
          </a:p>
        </p:txBody>
      </p:sp>
      <p:sp>
        <p:nvSpPr>
          <p:cNvPr id="7" name="灯片编号占位符 5"/>
          <p:cNvSpPr>
            <a:spLocks noGrp="1"/>
          </p:cNvSpPr>
          <p:nvPr>
            <p:ph type="sldNum" sz="quarter" idx="12"/>
          </p:nvPr>
        </p:nvSpPr>
        <p:spPr/>
        <p:txBody>
          <a:bodyPr>
            <a:normAutofit/>
          </a:bodyPr>
          <a:lstStyle/>
          <a:p>
            <a:pPr>
              <a:defRPr/>
            </a:pPr>
            <a:fld id="{F27EF174-8C8E-4A8A-B39C-63BA29266E1B}" type="slidenum">
              <a:rPr lang="en-US" altLang="zh-CN"/>
            </a:fld>
            <a:endParaRPr lang="en-US" altLang="zh-CN"/>
          </a:p>
        </p:txBody>
      </p:sp>
      <p:sp>
        <p:nvSpPr>
          <p:cNvPr id="31989" name="Text Box 245"/>
          <p:cNvSpPr txBox="1">
            <a:spLocks noChangeArrowheads="1"/>
          </p:cNvSpPr>
          <p:nvPr/>
        </p:nvSpPr>
        <p:spPr bwMode="auto">
          <a:xfrm>
            <a:off x="735013" y="4221163"/>
            <a:ext cx="7508875" cy="954107"/>
          </a:xfrm>
          <a:prstGeom prst="rect">
            <a:avLst/>
          </a:prstGeom>
          <a:noFill/>
          <a:ln w="9525">
            <a:noFill/>
            <a:miter lim="800000"/>
          </a:ln>
        </p:spPr>
        <p:txBody>
          <a:bodyPr>
            <a:spAutoFit/>
          </a:bodyPr>
          <a:lstStyle/>
          <a:p>
            <a:r>
              <a:rPr lang="en-US" altLang="zh-CN" sz="2800" dirty="0">
                <a:latin typeface="黑体" panose="02010609060101010101" pitchFamily="49" charset="-122"/>
                <a:ea typeface="黑体" panose="02010609060101010101" pitchFamily="49" charset="-122"/>
              </a:rPr>
              <a:t>5.25</a:t>
            </a:r>
            <a:r>
              <a:rPr lang="zh-CN" altLang="en-US" sz="2800" dirty="0">
                <a:latin typeface="黑体" panose="02010609060101010101" pitchFamily="49" charset="-122"/>
                <a:ea typeface="黑体" panose="02010609060101010101" pitchFamily="49" charset="-122"/>
              </a:rPr>
              <a:t>英寸磁盘（</a:t>
            </a:r>
            <a:r>
              <a:rPr lang="en-US" altLang="zh-CN" sz="2800" dirty="0">
                <a:latin typeface="黑体" panose="02010609060101010101" pitchFamily="49" charset="-122"/>
                <a:ea typeface="黑体" panose="02010609060101010101" pitchFamily="49" charset="-122"/>
              </a:rPr>
              <a:t>720KB</a:t>
            </a:r>
            <a:r>
              <a:rPr lang="zh-CN" altLang="en-US" sz="2800" dirty="0">
                <a:latin typeface="黑体" panose="02010609060101010101" pitchFamily="49" charset="-122"/>
                <a:ea typeface="黑体" panose="02010609060101010101" pitchFamily="49" charset="-122"/>
              </a:rPr>
              <a:t>）、</a:t>
            </a:r>
            <a:r>
              <a:rPr lang="en-US" altLang="zh-CN" sz="2800" dirty="0">
                <a:latin typeface="黑体" panose="02010609060101010101" pitchFamily="49" charset="-122"/>
                <a:ea typeface="黑体" panose="02010609060101010101" pitchFamily="49" charset="-122"/>
              </a:rPr>
              <a:t>3.5</a:t>
            </a:r>
            <a:r>
              <a:rPr lang="zh-CN" altLang="en-US" sz="2800" dirty="0">
                <a:latin typeface="黑体" panose="02010609060101010101" pitchFamily="49" charset="-122"/>
                <a:ea typeface="黑体" panose="02010609060101010101" pitchFamily="49" charset="-122"/>
              </a:rPr>
              <a:t>英寸磁盘（</a:t>
            </a:r>
            <a:r>
              <a:rPr lang="en-US" altLang="zh-CN" sz="2800" dirty="0">
                <a:latin typeface="黑体" panose="02010609060101010101" pitchFamily="49" charset="-122"/>
                <a:ea typeface="黑体" panose="02010609060101010101" pitchFamily="49" charset="-122"/>
              </a:rPr>
              <a:t>1.44MB</a:t>
            </a:r>
            <a:r>
              <a:rPr lang="zh-CN" altLang="en-US" sz="2800" dirty="0">
                <a:latin typeface="黑体" panose="02010609060101010101" pitchFamily="49" charset="-122"/>
                <a:ea typeface="黑体" panose="02010609060101010101" pitchFamily="49" charset="-122"/>
              </a:rPr>
              <a:t>）</a:t>
            </a:r>
            <a:endParaRPr lang="zh-CN" altLang="en-US" sz="2800" dirty="0">
              <a:latin typeface="黑体" panose="02010609060101010101" pitchFamily="49" charset="-122"/>
              <a:ea typeface="黑体" panose="02010609060101010101" pitchFamily="49" charset="-122"/>
            </a:endParaRPr>
          </a:p>
        </p:txBody>
      </p:sp>
      <p:sp>
        <p:nvSpPr>
          <p:cNvPr id="6" name="圆角矩形标注 5"/>
          <p:cNvSpPr/>
          <p:nvPr/>
        </p:nvSpPr>
        <p:spPr>
          <a:xfrm>
            <a:off x="3203848" y="5037122"/>
            <a:ext cx="4488333" cy="1071067"/>
          </a:xfrm>
          <a:prstGeom prst="wedgeRoundRectCallout">
            <a:avLst>
              <a:gd name="adj1" fmla="val -57595"/>
              <a:gd name="adj2" fmla="val -5629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t>有一个动作叫</a:t>
            </a:r>
            <a:r>
              <a:rPr lang="zh-CN" altLang="en-US" dirty="0">
                <a:solidFill>
                  <a:srgbClr val="FFFF00"/>
                </a:solidFill>
              </a:rPr>
              <a:t>“存盘”</a:t>
            </a:r>
            <a:endParaRPr lang="en-US" altLang="zh-CN" dirty="0">
              <a:solidFill>
                <a:srgbClr val="FFFF00"/>
              </a:solidFill>
            </a:endParaRPr>
          </a:p>
          <a:p>
            <a:pPr algn="ctr">
              <a:defRPr/>
            </a:pPr>
            <a:r>
              <a:rPr lang="zh-CN" altLang="en-US" dirty="0"/>
              <a:t>有一个器件叫作</a:t>
            </a:r>
            <a:r>
              <a:rPr lang="zh-CN" altLang="en-US" dirty="0">
                <a:solidFill>
                  <a:srgbClr val="FFFF00"/>
                </a:solidFill>
              </a:rPr>
              <a:t>“优盘”</a:t>
            </a:r>
            <a:endParaRPr lang="zh-CN" altLang="en-US" dirty="0">
              <a:solidFill>
                <a:srgbClr val="FFFF00"/>
              </a:solidFill>
            </a:endParaRPr>
          </a:p>
        </p:txBody>
      </p:sp>
      <p:pic>
        <p:nvPicPr>
          <p:cNvPr id="64518" name="图片 7" descr="磁盘.jpg"/>
          <p:cNvPicPr>
            <a:picLocks noChangeAspect="1"/>
          </p:cNvPicPr>
          <p:nvPr/>
        </p:nvPicPr>
        <p:blipFill>
          <a:blip r:embed="rId1" cstate="print"/>
          <a:srcRect/>
          <a:stretch>
            <a:fillRect/>
          </a:stretch>
        </p:blipFill>
        <p:spPr bwMode="auto">
          <a:xfrm>
            <a:off x="6948264" y="1344597"/>
            <a:ext cx="1873250" cy="1601497"/>
          </a:xfrm>
          <a:prstGeom prst="rect">
            <a:avLst/>
          </a:prstGeom>
          <a:noFill/>
          <a:ln w="9525">
            <a:noFill/>
            <a:miter lim="800000"/>
            <a:headEnd/>
            <a:tailEnd/>
          </a:ln>
        </p:spPr>
      </p:pic>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15730" y="3212976"/>
            <a:ext cx="1714845" cy="1071066"/>
          </a:xfrm>
          <a:prstGeom prst="rect">
            <a:avLst/>
          </a:prstGeom>
        </p:spPr>
      </p:pic>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灯片编号占位符 3"/>
          <p:cNvSpPr>
            <a:spLocks noGrp="1"/>
          </p:cNvSpPr>
          <p:nvPr>
            <p:ph type="sldNum" sz="quarter" idx="12"/>
          </p:nvPr>
        </p:nvSpPr>
        <p:spPr/>
        <p:txBody>
          <a:bodyPr/>
          <a:lstStyle/>
          <a:p>
            <a:pPr>
              <a:defRPr/>
            </a:pPr>
            <a:fld id="{2CCF2BC4-CFE5-4735-8B67-55C330782345}" type="slidenum">
              <a:rPr lang="en-US" altLang="zh-CN"/>
            </a:fld>
            <a:endParaRPr lang="en-US" altLang="zh-CN"/>
          </a:p>
        </p:txBody>
      </p:sp>
      <p:pic>
        <p:nvPicPr>
          <p:cNvPr id="65539" name="Picture 1026" descr="BD04972_"/>
          <p:cNvPicPr>
            <a:picLocks noChangeAspect="1" noChangeArrowheads="1"/>
          </p:cNvPicPr>
          <p:nvPr/>
        </p:nvPicPr>
        <p:blipFill>
          <a:blip r:embed="rId1" cstate="print"/>
          <a:srcRect/>
          <a:stretch>
            <a:fillRect/>
          </a:stretch>
        </p:blipFill>
        <p:spPr bwMode="auto">
          <a:xfrm>
            <a:off x="1295400" y="1185863"/>
            <a:ext cx="2209800" cy="1657350"/>
          </a:xfrm>
          <a:prstGeom prst="rect">
            <a:avLst/>
          </a:prstGeom>
          <a:noFill/>
          <a:ln w="9525">
            <a:noFill/>
            <a:miter lim="800000"/>
            <a:headEnd/>
            <a:tailEnd/>
          </a:ln>
        </p:spPr>
      </p:pic>
      <p:sp>
        <p:nvSpPr>
          <p:cNvPr id="65540" name="Rectangle 1027"/>
          <p:cNvSpPr>
            <a:spLocks noChangeArrowheads="1"/>
          </p:cNvSpPr>
          <p:nvPr/>
        </p:nvSpPr>
        <p:spPr bwMode="auto">
          <a:xfrm>
            <a:off x="228600" y="500063"/>
            <a:ext cx="8534400" cy="579437"/>
          </a:xfrm>
          <a:prstGeom prst="rect">
            <a:avLst/>
          </a:prstGeom>
          <a:noFill/>
          <a:ln w="9525">
            <a:noFill/>
            <a:miter lim="800000"/>
          </a:ln>
        </p:spPr>
        <p:txBody>
          <a:bodyPr>
            <a:spAutoFit/>
          </a:bodyPr>
          <a:lstStyle/>
          <a:p>
            <a:pPr>
              <a:spcBef>
                <a:spcPct val="50000"/>
              </a:spcBef>
              <a:buClr>
                <a:schemeClr val="folHlink"/>
              </a:buClr>
              <a:buSzPct val="75000"/>
              <a:buFont typeface="Wingdings" panose="05000000000000000000" pitchFamily="2" charset="2"/>
              <a:buNone/>
            </a:pPr>
            <a:r>
              <a:rPr lang="zh-CN" altLang="en-US" sz="3200" dirty="0"/>
              <a:t>设有如下应用程序所需的数据：</a:t>
            </a:r>
            <a:endParaRPr lang="zh-CN" altLang="en-US" sz="3200" dirty="0"/>
          </a:p>
        </p:txBody>
      </p:sp>
      <p:sp>
        <p:nvSpPr>
          <p:cNvPr id="65541" name="Text Box 1028"/>
          <p:cNvSpPr txBox="1">
            <a:spLocks noChangeArrowheads="1"/>
          </p:cNvSpPr>
          <p:nvPr/>
        </p:nvSpPr>
        <p:spPr bwMode="auto">
          <a:xfrm>
            <a:off x="228600" y="1139825"/>
            <a:ext cx="996950" cy="579438"/>
          </a:xfrm>
          <a:prstGeom prst="rect">
            <a:avLst/>
          </a:prstGeom>
          <a:noFill/>
          <a:ln w="9525">
            <a:noFill/>
            <a:miter lim="800000"/>
          </a:ln>
        </p:spPr>
        <p:txBody>
          <a:bodyPr wrap="none">
            <a:spAutoFit/>
          </a:bodyPr>
          <a:lstStyle/>
          <a:p>
            <a:r>
              <a:rPr lang="zh-CN" altLang="en-US" sz="3200"/>
              <a:t>职工</a:t>
            </a:r>
            <a:endParaRPr lang="zh-CN" altLang="en-US" sz="3200"/>
          </a:p>
        </p:txBody>
      </p:sp>
      <p:sp>
        <p:nvSpPr>
          <p:cNvPr id="65542" name="Text Box 1029"/>
          <p:cNvSpPr txBox="1">
            <a:spLocks noChangeArrowheads="1"/>
          </p:cNvSpPr>
          <p:nvPr/>
        </p:nvSpPr>
        <p:spPr bwMode="auto">
          <a:xfrm>
            <a:off x="3717925" y="1130300"/>
            <a:ext cx="5045075" cy="830997"/>
          </a:xfrm>
          <a:prstGeom prst="rect">
            <a:avLst/>
          </a:prstGeom>
          <a:noFill/>
          <a:ln w="9525">
            <a:noFill/>
            <a:miter lim="800000"/>
          </a:ln>
        </p:spPr>
        <p:txBody>
          <a:bodyPr>
            <a:spAutoFit/>
          </a:bodyPr>
          <a:lstStyle/>
          <a:p>
            <a:r>
              <a:rPr lang="zh-CN" altLang="en-US" dirty="0"/>
              <a:t>（</a:t>
            </a:r>
            <a:r>
              <a:rPr lang="zh-CN" altLang="en-US" dirty="0">
                <a:solidFill>
                  <a:srgbClr val="FF0000"/>
                </a:solidFill>
              </a:rPr>
              <a:t>职工号、姓名</a:t>
            </a:r>
            <a:r>
              <a:rPr lang="zh-CN" altLang="en-US" dirty="0"/>
              <a:t>、单位、性别、年龄、工龄、</a:t>
            </a:r>
            <a:r>
              <a:rPr lang="zh-CN" altLang="en-US" dirty="0">
                <a:solidFill>
                  <a:srgbClr val="FF0000"/>
                </a:solidFill>
              </a:rPr>
              <a:t>职称</a:t>
            </a:r>
            <a:r>
              <a:rPr lang="zh-CN" altLang="en-US" dirty="0"/>
              <a:t>、工资）</a:t>
            </a:r>
            <a:endParaRPr lang="zh-CN" altLang="en-US" dirty="0"/>
          </a:p>
        </p:txBody>
      </p:sp>
      <p:pic>
        <p:nvPicPr>
          <p:cNvPr id="65543" name="Picture 1030" descr="BS02064_"/>
          <p:cNvPicPr>
            <a:picLocks noChangeAspect="1" noChangeArrowheads="1"/>
          </p:cNvPicPr>
          <p:nvPr/>
        </p:nvPicPr>
        <p:blipFill>
          <a:blip r:embed="rId2" cstate="print"/>
          <a:srcRect/>
          <a:stretch>
            <a:fillRect/>
          </a:stretch>
        </p:blipFill>
        <p:spPr bwMode="auto">
          <a:xfrm>
            <a:off x="1371600" y="4919663"/>
            <a:ext cx="1720850" cy="1712912"/>
          </a:xfrm>
          <a:prstGeom prst="rect">
            <a:avLst/>
          </a:prstGeom>
          <a:noFill/>
          <a:ln w="9525">
            <a:noFill/>
            <a:miter lim="800000"/>
            <a:headEnd/>
            <a:tailEnd/>
          </a:ln>
        </p:spPr>
      </p:pic>
      <p:sp>
        <p:nvSpPr>
          <p:cNvPr id="65544" name="Text Box 1031"/>
          <p:cNvSpPr txBox="1">
            <a:spLocks noChangeArrowheads="1"/>
          </p:cNvSpPr>
          <p:nvPr/>
        </p:nvSpPr>
        <p:spPr bwMode="auto">
          <a:xfrm>
            <a:off x="228600" y="3167063"/>
            <a:ext cx="996950" cy="579437"/>
          </a:xfrm>
          <a:prstGeom prst="rect">
            <a:avLst/>
          </a:prstGeom>
          <a:noFill/>
          <a:ln w="9525">
            <a:noFill/>
            <a:miter lim="800000"/>
          </a:ln>
        </p:spPr>
        <p:txBody>
          <a:bodyPr wrap="none">
            <a:spAutoFit/>
          </a:bodyPr>
          <a:lstStyle/>
          <a:p>
            <a:r>
              <a:rPr lang="zh-CN" altLang="en-US" sz="3200"/>
              <a:t>工资</a:t>
            </a:r>
            <a:endParaRPr lang="zh-CN" altLang="en-US" sz="3200"/>
          </a:p>
        </p:txBody>
      </p:sp>
      <p:sp>
        <p:nvSpPr>
          <p:cNvPr id="65545" name="Text Box 1032"/>
          <p:cNvSpPr txBox="1">
            <a:spLocks noChangeArrowheads="1"/>
          </p:cNvSpPr>
          <p:nvPr/>
        </p:nvSpPr>
        <p:spPr bwMode="auto">
          <a:xfrm>
            <a:off x="3810000" y="3014663"/>
            <a:ext cx="5045075" cy="830997"/>
          </a:xfrm>
          <a:prstGeom prst="rect">
            <a:avLst/>
          </a:prstGeom>
          <a:noFill/>
          <a:ln w="9525">
            <a:noFill/>
            <a:miter lim="800000"/>
          </a:ln>
        </p:spPr>
        <p:txBody>
          <a:bodyPr>
            <a:spAutoFit/>
          </a:bodyPr>
          <a:lstStyle/>
          <a:p>
            <a:r>
              <a:rPr lang="zh-CN" altLang="en-US" dirty="0"/>
              <a:t>（</a:t>
            </a:r>
            <a:r>
              <a:rPr lang="zh-CN" altLang="en-US" dirty="0">
                <a:solidFill>
                  <a:srgbClr val="FF0000"/>
                </a:solidFill>
              </a:rPr>
              <a:t>职工号、姓名</a:t>
            </a:r>
            <a:r>
              <a:rPr lang="zh-CN" altLang="en-US" dirty="0"/>
              <a:t>、</a:t>
            </a:r>
            <a:r>
              <a:rPr lang="zh-CN" altLang="en-US" dirty="0">
                <a:solidFill>
                  <a:srgbClr val="FF0000"/>
                </a:solidFill>
              </a:rPr>
              <a:t>职称</a:t>
            </a:r>
            <a:r>
              <a:rPr lang="zh-CN" altLang="en-US" dirty="0"/>
              <a:t>、工龄、工资、房租、水电）</a:t>
            </a:r>
            <a:endParaRPr lang="zh-CN" altLang="en-US" dirty="0"/>
          </a:p>
        </p:txBody>
      </p:sp>
      <p:sp>
        <p:nvSpPr>
          <p:cNvPr id="65546" name="Text Box 1033"/>
          <p:cNvSpPr txBox="1">
            <a:spLocks noChangeArrowheads="1"/>
          </p:cNvSpPr>
          <p:nvPr/>
        </p:nvSpPr>
        <p:spPr bwMode="auto">
          <a:xfrm>
            <a:off x="228600" y="4995863"/>
            <a:ext cx="996950" cy="579437"/>
          </a:xfrm>
          <a:prstGeom prst="rect">
            <a:avLst/>
          </a:prstGeom>
          <a:noFill/>
          <a:ln w="9525">
            <a:noFill/>
            <a:miter lim="800000"/>
          </a:ln>
        </p:spPr>
        <p:txBody>
          <a:bodyPr wrap="none">
            <a:spAutoFit/>
          </a:bodyPr>
          <a:lstStyle/>
          <a:p>
            <a:r>
              <a:rPr lang="zh-CN" altLang="en-US" sz="3200"/>
              <a:t>教课</a:t>
            </a:r>
            <a:endParaRPr lang="zh-CN" altLang="en-US" sz="3200"/>
          </a:p>
        </p:txBody>
      </p:sp>
      <p:sp>
        <p:nvSpPr>
          <p:cNvPr id="65547" name="Text Box 1034"/>
          <p:cNvSpPr txBox="1">
            <a:spLocks noChangeArrowheads="1"/>
          </p:cNvSpPr>
          <p:nvPr/>
        </p:nvSpPr>
        <p:spPr bwMode="auto">
          <a:xfrm>
            <a:off x="3810000" y="4691063"/>
            <a:ext cx="5045075" cy="830997"/>
          </a:xfrm>
          <a:prstGeom prst="rect">
            <a:avLst/>
          </a:prstGeom>
          <a:noFill/>
          <a:ln w="9525">
            <a:noFill/>
            <a:miter lim="800000"/>
          </a:ln>
        </p:spPr>
        <p:txBody>
          <a:bodyPr>
            <a:spAutoFit/>
          </a:bodyPr>
          <a:lstStyle/>
          <a:p>
            <a:r>
              <a:rPr lang="zh-CN" altLang="en-US" dirty="0"/>
              <a:t>（</a:t>
            </a:r>
            <a:r>
              <a:rPr lang="zh-CN" altLang="en-US" dirty="0">
                <a:solidFill>
                  <a:srgbClr val="FF0000"/>
                </a:solidFill>
              </a:rPr>
              <a:t>职工号</a:t>
            </a:r>
            <a:r>
              <a:rPr lang="zh-CN" altLang="en-US" dirty="0"/>
              <a:t>、单位、</a:t>
            </a:r>
            <a:r>
              <a:rPr lang="zh-CN" altLang="en-US" dirty="0">
                <a:solidFill>
                  <a:srgbClr val="FF0000"/>
                </a:solidFill>
              </a:rPr>
              <a:t>姓名</a:t>
            </a:r>
            <a:r>
              <a:rPr lang="zh-CN" altLang="en-US" dirty="0"/>
              <a:t>、</a:t>
            </a:r>
            <a:r>
              <a:rPr lang="zh-CN" altLang="en-US" dirty="0">
                <a:solidFill>
                  <a:srgbClr val="FF0000"/>
                </a:solidFill>
              </a:rPr>
              <a:t>职称</a:t>
            </a:r>
            <a:r>
              <a:rPr lang="zh-CN" altLang="en-US" dirty="0"/>
              <a:t>、课程名、学时）</a:t>
            </a:r>
            <a:endParaRPr lang="zh-CN" altLang="en-US" dirty="0"/>
          </a:p>
        </p:txBody>
      </p:sp>
      <p:pic>
        <p:nvPicPr>
          <p:cNvPr id="65548" name="Picture 1035" descr="BS00508_"/>
          <p:cNvPicPr>
            <a:picLocks noChangeAspect="1" noChangeArrowheads="1"/>
          </p:cNvPicPr>
          <p:nvPr/>
        </p:nvPicPr>
        <p:blipFill>
          <a:blip r:embed="rId3" cstate="print"/>
          <a:srcRect/>
          <a:stretch>
            <a:fillRect/>
          </a:stretch>
        </p:blipFill>
        <p:spPr bwMode="auto">
          <a:xfrm>
            <a:off x="1447800" y="3014663"/>
            <a:ext cx="1574800" cy="1662112"/>
          </a:xfrm>
          <a:prstGeom prst="rect">
            <a:avLst/>
          </a:prstGeom>
          <a:noFill/>
          <a:ln w="9525">
            <a:noFill/>
            <a:miter lim="800000"/>
            <a:headEnd/>
            <a:tailEnd/>
          </a:ln>
        </p:spPr>
      </p:pic>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p:cNvSpPr>
            <a:spLocks noGrp="1"/>
          </p:cNvSpPr>
          <p:nvPr>
            <p:ph type="sldNum" sz="quarter" idx="12"/>
          </p:nvPr>
        </p:nvSpPr>
        <p:spPr>
          <a:xfrm>
            <a:off x="7924800" y="6346825"/>
            <a:ext cx="762000" cy="365125"/>
          </a:xfrm>
        </p:spPr>
        <p:txBody>
          <a:bodyPr/>
          <a:lstStyle/>
          <a:p>
            <a:pPr>
              <a:defRPr/>
            </a:pPr>
            <a:fld id="{5C0073E1-C473-4D8E-80B6-61FAC3A1F8C1}" type="slidenum">
              <a:rPr lang="en-US" altLang="zh-CN"/>
            </a:fld>
            <a:endParaRPr lang="en-US" altLang="zh-CN"/>
          </a:p>
        </p:txBody>
      </p:sp>
      <p:sp>
        <p:nvSpPr>
          <p:cNvPr id="1028" name="Text Box 2"/>
          <p:cNvSpPr txBox="1">
            <a:spLocks noChangeArrowheads="1"/>
          </p:cNvSpPr>
          <p:nvPr/>
        </p:nvSpPr>
        <p:spPr bwMode="auto">
          <a:xfrm>
            <a:off x="142875" y="701675"/>
            <a:ext cx="8947150" cy="584200"/>
          </a:xfrm>
          <a:prstGeom prst="rect">
            <a:avLst/>
          </a:prstGeom>
          <a:noFill/>
          <a:ln w="9525">
            <a:noFill/>
            <a:miter lim="800000"/>
          </a:ln>
        </p:spPr>
        <p:txBody>
          <a:bodyPr wrap="none">
            <a:spAutoFit/>
          </a:bodyPr>
          <a:lstStyle/>
          <a:p>
            <a:r>
              <a:rPr lang="zh-CN" altLang="en-US" sz="3200">
                <a:latin typeface="宋体" pitchFamily="2" charset="-122"/>
              </a:rPr>
              <a:t>则文件系统中应用程序与数据的使用对应方式：</a:t>
            </a:r>
            <a:r>
              <a:rPr lang="zh-CN" altLang="en-US" sz="3200"/>
              <a:t> </a:t>
            </a:r>
            <a:endParaRPr lang="zh-CN" altLang="en-US" sz="3200"/>
          </a:p>
        </p:txBody>
      </p:sp>
      <p:graphicFrame>
        <p:nvGraphicFramePr>
          <p:cNvPr id="1026" name="Object 7"/>
          <p:cNvGraphicFramePr>
            <a:graphicFrameLocks noChangeAspect="1"/>
          </p:cNvGraphicFramePr>
          <p:nvPr/>
        </p:nvGraphicFramePr>
        <p:xfrm>
          <a:off x="666750" y="1323975"/>
          <a:ext cx="7543800" cy="2776538"/>
        </p:xfrm>
        <a:graphic>
          <a:graphicData uri="http://schemas.openxmlformats.org/presentationml/2006/ole">
            <mc:AlternateContent xmlns:mc="http://schemas.openxmlformats.org/markup-compatibility/2006">
              <mc:Choice xmlns:v="urn:schemas-microsoft-com:vml" Requires="v">
                <p:oleObj spid="_x0000_s1403" name="" r:id="rId1" imgW="3496310" imgH="1286510" progId="Word.Picture.8">
                  <p:embed/>
                </p:oleObj>
              </mc:Choice>
              <mc:Fallback>
                <p:oleObj name="" r:id="rId1" imgW="3496310" imgH="1286510" progId="Word.Picture.8">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750" y="1323975"/>
                        <a:ext cx="7543800" cy="2776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9" name="Text Box 5"/>
          <p:cNvSpPr txBox="1">
            <a:spLocks noChangeArrowheads="1"/>
          </p:cNvSpPr>
          <p:nvPr/>
        </p:nvSpPr>
        <p:spPr bwMode="auto">
          <a:xfrm>
            <a:off x="2038350" y="4295775"/>
            <a:ext cx="5525872" cy="461665"/>
          </a:xfrm>
          <a:prstGeom prst="rect">
            <a:avLst/>
          </a:prstGeom>
          <a:noFill/>
          <a:ln w="9525">
            <a:noFill/>
            <a:miter lim="800000"/>
          </a:ln>
        </p:spPr>
        <p:txBody>
          <a:bodyPr wrap="none">
            <a:spAutoFit/>
          </a:bodyPr>
          <a:lstStyle/>
          <a:p>
            <a:r>
              <a:rPr lang="zh-CN" altLang="en-US" dirty="0">
                <a:latin typeface="宋体" pitchFamily="2" charset="-122"/>
              </a:rPr>
              <a:t>文件系统中应用程序及其数据应用方式</a:t>
            </a:r>
            <a:r>
              <a:rPr lang="zh-CN" altLang="en-US" dirty="0"/>
              <a:t> </a:t>
            </a:r>
            <a:endParaRPr lang="zh-CN" altLang="en-US" dirty="0"/>
          </a:p>
        </p:txBody>
      </p:sp>
      <p:sp>
        <p:nvSpPr>
          <p:cNvPr id="32774" name="Text Box 6"/>
          <p:cNvSpPr txBox="1">
            <a:spLocks noChangeArrowheads="1"/>
          </p:cNvSpPr>
          <p:nvPr/>
        </p:nvSpPr>
        <p:spPr bwMode="auto">
          <a:xfrm>
            <a:off x="530225" y="5010150"/>
            <a:ext cx="7007046" cy="954107"/>
          </a:xfrm>
          <a:prstGeom prst="rect">
            <a:avLst/>
          </a:prstGeom>
          <a:noFill/>
          <a:ln w="9525">
            <a:noFill/>
            <a:miter lim="800000"/>
          </a:ln>
        </p:spPr>
        <p:txBody>
          <a:bodyPr wrap="none">
            <a:spAutoFit/>
          </a:bodyPr>
          <a:lstStyle/>
          <a:p>
            <a:r>
              <a:rPr lang="zh-CN" altLang="en-US" sz="2800" dirty="0">
                <a:solidFill>
                  <a:srgbClr val="FF0000"/>
                </a:solidFill>
                <a:ea typeface="黑体" panose="02010609060101010101" pitchFamily="49" charset="-122"/>
              </a:rPr>
              <a:t>应用是局部的，数据是相关联的、全局的。</a:t>
            </a:r>
            <a:endParaRPr lang="en-US" altLang="zh-CN" sz="2800" dirty="0">
              <a:solidFill>
                <a:srgbClr val="FF0000"/>
              </a:solidFill>
              <a:ea typeface="黑体" panose="02010609060101010101" pitchFamily="49" charset="-122"/>
            </a:endParaRPr>
          </a:p>
          <a:p>
            <a:r>
              <a:rPr lang="zh-CN" altLang="en-US" sz="2800" dirty="0">
                <a:solidFill>
                  <a:srgbClr val="FF0000"/>
                </a:solidFill>
                <a:ea typeface="黑体" panose="02010609060101010101" pitchFamily="49" charset="-122"/>
              </a:rPr>
              <a:t>前后端分离了么？</a:t>
            </a:r>
            <a:endParaRPr lang="zh-CN" altLang="en-US" sz="2800" dirty="0">
              <a:solidFill>
                <a:srgbClr val="FF0000"/>
              </a:solidFill>
              <a:ea typeface="黑体" panose="02010609060101010101" pitchFamily="49" charset="-122"/>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3"/>
          <p:cNvSpPr>
            <a:spLocks noGrp="1" noChangeArrowheads="1"/>
          </p:cNvSpPr>
          <p:nvPr>
            <p:ph idx="1"/>
          </p:nvPr>
        </p:nvSpPr>
        <p:spPr>
          <a:xfrm>
            <a:off x="533400" y="642938"/>
            <a:ext cx="8287072" cy="4191000"/>
          </a:xfrm>
        </p:spPr>
        <p:txBody>
          <a:bodyPr>
            <a:normAutofit fontScale="92500" lnSpcReduction="10000"/>
          </a:bodyPr>
          <a:lstStyle/>
          <a:p>
            <a:pPr marL="274320" indent="-274320" algn="just" eaLnBrk="1" fontAlgn="auto" hangingPunct="1">
              <a:spcAft>
                <a:spcPts val="0"/>
              </a:spcAft>
              <a:buClr>
                <a:schemeClr val="accent3"/>
              </a:buClr>
              <a:buFont typeface="Wingdings" panose="05000000000000000000" pitchFamily="2" charset="2"/>
              <a:buNone/>
              <a:defRPr/>
            </a:pPr>
            <a:r>
              <a:rPr lang="en-US" altLang="zh-CN" sz="2800" b="1" dirty="0">
                <a:latin typeface="宋体" pitchFamily="2" charset="-122"/>
                <a:cs typeface="Arial" panose="020B0604020202090204" pitchFamily="34" charset="0"/>
              </a:rPr>
              <a:t>2. </a:t>
            </a:r>
            <a:r>
              <a:rPr lang="zh-CN" altLang="en-US" sz="2800" b="1" dirty="0">
                <a:latin typeface="宋体" pitchFamily="2" charset="-122"/>
              </a:rPr>
              <a:t>问题</a:t>
            </a:r>
            <a:endParaRPr lang="zh-CN" altLang="en-US" sz="2800" b="1" dirty="0">
              <a:latin typeface="宋体" pitchFamily="2" charset="-122"/>
              <a:cs typeface="Arial" panose="020B0604020202090204" pitchFamily="34" charset="0"/>
            </a:endParaRPr>
          </a:p>
          <a:p>
            <a:pPr marL="274320" indent="-274320" algn="just" eaLnBrk="1" fontAlgn="auto" hangingPunct="1">
              <a:spcAft>
                <a:spcPts val="0"/>
              </a:spcAft>
              <a:buClr>
                <a:schemeClr val="accent3"/>
              </a:buClr>
              <a:buFont typeface="Wingdings" panose="05000000000000000000" pitchFamily="2" charset="2"/>
              <a:buNone/>
              <a:defRPr/>
            </a:pPr>
            <a:r>
              <a:rPr lang="en-US" altLang="zh-CN" sz="2800" dirty="0">
                <a:latin typeface="宋体" pitchFamily="2" charset="-122"/>
              </a:rPr>
              <a:t>1</a:t>
            </a:r>
            <a:r>
              <a:rPr lang="zh-CN" altLang="en-US" sz="2800" dirty="0">
                <a:latin typeface="宋体" pitchFamily="2" charset="-122"/>
              </a:rPr>
              <a:t>）数据</a:t>
            </a:r>
            <a:r>
              <a:rPr lang="zh-CN" altLang="en-US" sz="2800" dirty="0">
                <a:solidFill>
                  <a:srgbClr val="FF0000"/>
                </a:solidFill>
                <a:latin typeface="宋体" pitchFamily="2" charset="-122"/>
              </a:rPr>
              <a:t>共享性差</a:t>
            </a:r>
            <a:endParaRPr lang="zh-CN" altLang="en-US" sz="2800" dirty="0">
              <a:solidFill>
                <a:srgbClr val="FF0000"/>
              </a:solidFill>
              <a:latin typeface="宋体" pitchFamily="2" charset="-122"/>
            </a:endParaRPr>
          </a:p>
          <a:p>
            <a:pPr marL="354330" indent="0" algn="just" eaLnBrk="1" fontAlgn="auto" hangingPunct="1">
              <a:spcAft>
                <a:spcPts val="0"/>
              </a:spcAft>
              <a:buClr>
                <a:schemeClr val="tx2"/>
              </a:buClr>
              <a:buNone/>
              <a:defRPr/>
            </a:pPr>
            <a:r>
              <a:rPr lang="zh-CN" altLang="en-US" sz="2800" dirty="0">
                <a:latin typeface="宋体" pitchFamily="2" charset="-122"/>
              </a:rPr>
              <a:t>   基本上一个</a:t>
            </a:r>
            <a:r>
              <a:rPr lang="zh-CN" altLang="en-US" sz="2800" dirty="0">
                <a:solidFill>
                  <a:srgbClr val="FF0000"/>
                </a:solidFill>
                <a:latin typeface="宋体" pitchFamily="2" charset="-122"/>
              </a:rPr>
              <a:t>程序对应一个文件</a:t>
            </a:r>
            <a:r>
              <a:rPr lang="zh-CN" altLang="en-US" sz="2800" dirty="0">
                <a:latin typeface="宋体" pitchFamily="2" charset="-122"/>
              </a:rPr>
              <a:t>（打开文件有限  制）； 部分数据相同时，仍需建立各自文件。</a:t>
            </a:r>
            <a:endParaRPr lang="zh-CN" altLang="en-US" sz="2800" dirty="0">
              <a:latin typeface="宋体" pitchFamily="2" charset="-122"/>
            </a:endParaRPr>
          </a:p>
          <a:p>
            <a:pPr marL="274320" indent="-274320" algn="just" eaLnBrk="1" fontAlgn="auto" hangingPunct="1">
              <a:spcAft>
                <a:spcPts val="0"/>
              </a:spcAft>
              <a:buClr>
                <a:schemeClr val="accent3"/>
              </a:buClr>
              <a:buFont typeface="Wingdings" panose="05000000000000000000" pitchFamily="2" charset="2"/>
              <a:buNone/>
              <a:defRPr/>
            </a:pPr>
            <a:r>
              <a:rPr lang="en-US" altLang="zh-CN" sz="2800" dirty="0">
                <a:latin typeface="宋体" pitchFamily="2" charset="-122"/>
              </a:rPr>
              <a:t>2</a:t>
            </a:r>
            <a:r>
              <a:rPr lang="zh-CN" altLang="en-US" sz="2800" dirty="0">
                <a:latin typeface="宋体" pitchFamily="2" charset="-122"/>
              </a:rPr>
              <a:t>）数据</a:t>
            </a:r>
            <a:r>
              <a:rPr lang="zh-CN" altLang="en-US" sz="2800" dirty="0">
                <a:solidFill>
                  <a:srgbClr val="FF0000"/>
                </a:solidFill>
                <a:latin typeface="宋体" pitchFamily="2" charset="-122"/>
              </a:rPr>
              <a:t>冗余大</a:t>
            </a:r>
            <a:endParaRPr lang="zh-CN" altLang="en-US" sz="2800" dirty="0">
              <a:solidFill>
                <a:srgbClr val="FF0000"/>
              </a:solidFill>
              <a:latin typeface="宋体" pitchFamily="2" charset="-122"/>
            </a:endParaRPr>
          </a:p>
          <a:p>
            <a:pPr marL="274320" indent="-274320" algn="just" eaLnBrk="1" fontAlgn="auto" hangingPunct="1">
              <a:spcAft>
                <a:spcPts val="0"/>
              </a:spcAft>
              <a:buClr>
                <a:schemeClr val="accent3"/>
              </a:buClr>
              <a:buFont typeface="Wingdings" panose="05000000000000000000" pitchFamily="2" charset="2"/>
              <a:buNone/>
              <a:defRPr/>
            </a:pPr>
            <a:r>
              <a:rPr lang="en-US" altLang="zh-CN" sz="2800" dirty="0">
                <a:latin typeface="宋体" pitchFamily="2" charset="-122"/>
              </a:rPr>
              <a:t>3</a:t>
            </a:r>
            <a:r>
              <a:rPr lang="zh-CN" altLang="en-US" sz="2800" dirty="0">
                <a:latin typeface="宋体" pitchFamily="2" charset="-122"/>
              </a:rPr>
              <a:t>）潜在数据不一致性</a:t>
            </a:r>
            <a:r>
              <a:rPr lang="en-US" altLang="zh-CN" sz="2800" dirty="0">
                <a:latin typeface="宋体" pitchFamily="2" charset="-122"/>
              </a:rPr>
              <a:t>(</a:t>
            </a:r>
            <a:r>
              <a:rPr lang="zh-CN" altLang="en-US" sz="2800" dirty="0">
                <a:latin typeface="宋体" pitchFamily="2" charset="-122"/>
              </a:rPr>
              <a:t>冗余导致</a:t>
            </a:r>
            <a:r>
              <a:rPr lang="en-US" altLang="zh-CN" sz="2800" dirty="0">
                <a:latin typeface="宋体" pitchFamily="2" charset="-122"/>
              </a:rPr>
              <a:t>)</a:t>
            </a:r>
            <a:endParaRPr lang="en-US" altLang="zh-CN" sz="2800" dirty="0">
              <a:latin typeface="宋体" pitchFamily="2" charset="-122"/>
            </a:endParaRPr>
          </a:p>
          <a:p>
            <a:pPr marL="274320" indent="-274320" algn="just" eaLnBrk="1" fontAlgn="auto" hangingPunct="1">
              <a:spcAft>
                <a:spcPts val="0"/>
              </a:spcAft>
              <a:buClr>
                <a:schemeClr val="accent3"/>
              </a:buClr>
              <a:buFont typeface="Wingdings" panose="05000000000000000000" pitchFamily="2" charset="2"/>
              <a:buNone/>
              <a:defRPr/>
            </a:pPr>
            <a:r>
              <a:rPr lang="en-US" altLang="zh-CN" sz="2800" dirty="0">
                <a:latin typeface="宋体" pitchFamily="2" charset="-122"/>
              </a:rPr>
              <a:t>4</a:t>
            </a:r>
            <a:r>
              <a:rPr lang="zh-CN" altLang="en-US" sz="2800" dirty="0">
                <a:latin typeface="宋体" pitchFamily="2" charset="-122"/>
              </a:rPr>
              <a:t>）应用程序与数据结构</a:t>
            </a:r>
            <a:r>
              <a:rPr lang="zh-CN" altLang="en-US" sz="2800" dirty="0">
                <a:solidFill>
                  <a:srgbClr val="FF0000"/>
                </a:solidFill>
                <a:latin typeface="宋体" pitchFamily="2" charset="-122"/>
              </a:rPr>
              <a:t>相互依赖</a:t>
            </a:r>
            <a:endParaRPr lang="zh-CN" altLang="en-US" sz="2800" dirty="0">
              <a:solidFill>
                <a:srgbClr val="FF0000"/>
              </a:solidFill>
              <a:latin typeface="宋体" pitchFamily="2" charset="-122"/>
            </a:endParaRPr>
          </a:p>
          <a:p>
            <a:pPr marL="274320" indent="-274320" algn="just" eaLnBrk="1" fontAlgn="auto" hangingPunct="1">
              <a:spcAft>
                <a:spcPts val="0"/>
              </a:spcAft>
              <a:buClr>
                <a:schemeClr val="accent3"/>
              </a:buClr>
              <a:buFont typeface="Wingdings" panose="05000000000000000000" pitchFamily="2" charset="2"/>
              <a:buNone/>
              <a:defRPr/>
            </a:pPr>
            <a:r>
              <a:rPr lang="en-US" altLang="zh-CN" sz="2800" dirty="0">
                <a:latin typeface="宋体" pitchFamily="2" charset="-122"/>
              </a:rPr>
              <a:t>5</a:t>
            </a:r>
            <a:r>
              <a:rPr lang="zh-CN" altLang="en-US" sz="2800" dirty="0">
                <a:latin typeface="宋体" pitchFamily="2" charset="-122"/>
              </a:rPr>
              <a:t>）不能表示</a:t>
            </a:r>
            <a:r>
              <a:rPr lang="zh-CN" altLang="en-US" sz="2800" dirty="0">
                <a:solidFill>
                  <a:srgbClr val="FF0000"/>
                </a:solidFill>
                <a:latin typeface="宋体" pitchFamily="2" charset="-122"/>
              </a:rPr>
              <a:t>数据间联系</a:t>
            </a:r>
            <a:endParaRPr lang="zh-CN" altLang="en-US" sz="2800" dirty="0">
              <a:solidFill>
                <a:srgbClr val="FF0000"/>
              </a:solidFill>
              <a:latin typeface="宋体" pitchFamily="2" charset="-122"/>
            </a:endParaRPr>
          </a:p>
        </p:txBody>
      </p:sp>
      <p:sp>
        <p:nvSpPr>
          <p:cNvPr id="7" name="灯片编号占位符 5"/>
          <p:cNvSpPr>
            <a:spLocks noGrp="1"/>
          </p:cNvSpPr>
          <p:nvPr>
            <p:ph type="sldNum" sz="quarter" idx="12"/>
          </p:nvPr>
        </p:nvSpPr>
        <p:spPr/>
        <p:txBody>
          <a:bodyPr>
            <a:normAutofit/>
          </a:bodyPr>
          <a:lstStyle/>
          <a:p>
            <a:pPr>
              <a:defRPr/>
            </a:pPr>
            <a:fld id="{872AB8E4-6276-4BE7-90CF-E7B931C5BB46}" type="slidenum">
              <a:rPr lang="en-US" altLang="zh-CN"/>
            </a:fld>
            <a:endParaRPr lang="en-US" altLang="zh-CN"/>
          </a:p>
        </p:txBody>
      </p:sp>
      <p:sp>
        <p:nvSpPr>
          <p:cNvPr id="3" name="流程图: 可选过程 2"/>
          <p:cNvSpPr/>
          <p:nvPr/>
        </p:nvSpPr>
        <p:spPr>
          <a:xfrm>
            <a:off x="5724128" y="3212976"/>
            <a:ext cx="1800200" cy="1762125"/>
          </a:xfrm>
          <a:prstGeom prst="flowChartAlternateProcess">
            <a:avLst/>
          </a:prstGeom>
        </p:spPr>
        <p:style>
          <a:lnRef idx="2">
            <a:schemeClr val="accent1"/>
          </a:lnRef>
          <a:fillRef idx="1">
            <a:schemeClr val="lt1"/>
          </a:fillRef>
          <a:effectRef idx="0">
            <a:schemeClr val="accent1"/>
          </a:effectRef>
          <a:fontRef idx="minor">
            <a:schemeClr val="dk1"/>
          </a:fontRef>
        </p:style>
        <p:txBody>
          <a:bodyPr rtlCol="0" anchor="ctr"/>
          <a:lstStyle/>
          <a:p>
            <a:pPr>
              <a:lnSpc>
                <a:spcPct val="90000"/>
              </a:lnSpc>
              <a:spcBef>
                <a:spcPct val="20000"/>
              </a:spcBef>
              <a:buClr>
                <a:schemeClr val="folHlink"/>
              </a:buClr>
              <a:buSzPct val="75000"/>
            </a:pPr>
            <a:r>
              <a:rPr lang="zh-CN" altLang="en-US" dirty="0">
                <a:solidFill>
                  <a:srgbClr val="FF0000"/>
                </a:solidFill>
                <a:latin typeface="Times New Roman" panose="02020503050405090304" pitchFamily="18" charset="0"/>
              </a:rPr>
              <a:t>逻辑</a:t>
            </a:r>
            <a:r>
              <a:rPr lang="zh-CN" altLang="en-US" dirty="0">
                <a:latin typeface="Times New Roman" panose="02020503050405090304" pitchFamily="18" charset="0"/>
              </a:rPr>
              <a:t>结构</a:t>
            </a:r>
            <a:endParaRPr lang="zh-CN" altLang="en-US" dirty="0"/>
          </a:p>
          <a:p>
            <a:pPr>
              <a:lnSpc>
                <a:spcPct val="90000"/>
              </a:lnSpc>
              <a:spcBef>
                <a:spcPct val="20000"/>
              </a:spcBef>
              <a:buClr>
                <a:schemeClr val="folHlink"/>
              </a:buClr>
              <a:buSzPct val="75000"/>
            </a:pPr>
            <a:r>
              <a:rPr lang="zh-CN" altLang="en-US" dirty="0">
                <a:solidFill>
                  <a:srgbClr val="FF0000"/>
                </a:solidFill>
                <a:latin typeface="Times New Roman" panose="02020503050405090304" pitchFamily="18" charset="0"/>
              </a:rPr>
              <a:t>存储</a:t>
            </a:r>
            <a:r>
              <a:rPr lang="zh-CN" altLang="en-US" dirty="0">
                <a:latin typeface="Times New Roman" panose="02020503050405090304" pitchFamily="18" charset="0"/>
              </a:rPr>
              <a:t>结构</a:t>
            </a:r>
            <a:endParaRPr lang="zh-CN" altLang="en-US" dirty="0"/>
          </a:p>
          <a:p>
            <a:pPr>
              <a:lnSpc>
                <a:spcPct val="90000"/>
              </a:lnSpc>
              <a:spcBef>
                <a:spcPct val="20000"/>
              </a:spcBef>
              <a:buClr>
                <a:schemeClr val="folHlink"/>
              </a:buClr>
              <a:buSzPct val="75000"/>
            </a:pPr>
            <a:r>
              <a:rPr lang="zh-CN" altLang="en-US" dirty="0">
                <a:solidFill>
                  <a:srgbClr val="FF0000"/>
                </a:solidFill>
                <a:latin typeface="Times New Roman" panose="02020503050405090304" pitchFamily="18" charset="0"/>
              </a:rPr>
              <a:t>存取</a:t>
            </a:r>
            <a:r>
              <a:rPr lang="zh-CN" altLang="en-US" dirty="0">
                <a:latin typeface="Times New Roman" panose="02020503050405090304" pitchFamily="18" charset="0"/>
              </a:rPr>
              <a:t>方法</a:t>
            </a:r>
            <a:endParaRPr lang="zh-CN" altLang="en-US" dirty="0"/>
          </a:p>
          <a:p>
            <a:pPr>
              <a:lnSpc>
                <a:spcPct val="90000"/>
              </a:lnSpc>
              <a:spcBef>
                <a:spcPct val="20000"/>
              </a:spcBef>
              <a:buClr>
                <a:schemeClr val="folHlink"/>
              </a:buClr>
              <a:buSzPct val="75000"/>
            </a:pPr>
            <a:r>
              <a:rPr lang="en-US" altLang="zh-CN" dirty="0">
                <a:solidFill>
                  <a:srgbClr val="FF0000"/>
                </a:solidFill>
              </a:rPr>
              <a:t> I/O</a:t>
            </a:r>
            <a:r>
              <a:rPr lang="zh-CN" altLang="en-US" dirty="0">
                <a:latin typeface="Times New Roman" panose="02020503050405090304" pitchFamily="18" charset="0"/>
              </a:rPr>
              <a:t>方式</a:t>
            </a:r>
            <a:endParaRPr lang="zh-CN" altLang="en-US" dirty="0"/>
          </a:p>
        </p:txBody>
      </p:sp>
      <p:sp>
        <p:nvSpPr>
          <p:cNvPr id="8" name="圆角矩形标注 5"/>
          <p:cNvSpPr/>
          <p:nvPr/>
        </p:nvSpPr>
        <p:spPr>
          <a:xfrm>
            <a:off x="3563888" y="2564904"/>
            <a:ext cx="4464496" cy="517197"/>
          </a:xfrm>
          <a:prstGeom prst="wedgeRoundRectCallout">
            <a:avLst>
              <a:gd name="adj1" fmla="val -61913"/>
              <a:gd name="adj2" fmla="val 54660"/>
              <a:gd name="adj3" fmla="val 16667"/>
            </a:avLst>
          </a:prstGeom>
          <a:noFill/>
        </p:spPr>
        <p:style>
          <a:lnRef idx="2">
            <a:schemeClr val="accent1"/>
          </a:lnRef>
          <a:fillRef idx="1">
            <a:schemeClr val="lt1"/>
          </a:fillRef>
          <a:effectRef idx="0">
            <a:schemeClr val="accent1"/>
          </a:effectRef>
          <a:fontRef idx="minor">
            <a:schemeClr val="dk1"/>
          </a:fontRef>
        </p:style>
        <p:txBody>
          <a:bodyPr anchor="ctr"/>
          <a:lstStyle/>
          <a:p>
            <a:pPr algn="ctr">
              <a:defRPr/>
            </a:pPr>
            <a:r>
              <a:rPr lang="zh-CN" altLang="en-US" dirty="0">
                <a:solidFill>
                  <a:srgbClr val="FF0000"/>
                </a:solidFill>
              </a:rPr>
              <a:t>数据同步、批量导入</a:t>
            </a:r>
            <a:r>
              <a:rPr lang="en-US" altLang="zh-CN" dirty="0">
                <a:solidFill>
                  <a:srgbClr val="FF0000"/>
                </a:solidFill>
              </a:rPr>
              <a:t>/</a:t>
            </a:r>
            <a:r>
              <a:rPr lang="zh-CN" altLang="en-US" dirty="0">
                <a:solidFill>
                  <a:srgbClr val="FF0000"/>
                </a:solidFill>
              </a:rPr>
              <a:t>导出数据</a:t>
            </a:r>
            <a:endParaRPr lang="zh-CN" altLang="en-US" dirty="0"/>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3"/>
          <p:cNvSpPr>
            <a:spLocks noGrp="1" noChangeArrowheads="1"/>
          </p:cNvSpPr>
          <p:nvPr>
            <p:ph idx="1"/>
          </p:nvPr>
        </p:nvSpPr>
        <p:spPr>
          <a:xfrm>
            <a:off x="304800" y="152400"/>
            <a:ext cx="8110538" cy="6096000"/>
          </a:xfrm>
        </p:spPr>
        <p:txBody>
          <a:bodyPr/>
          <a:lstStyle/>
          <a:p>
            <a:pPr algn="just" eaLnBrk="1" hangingPunct="1">
              <a:buFont typeface="Wingdings" panose="05000000000000000000" pitchFamily="2" charset="2"/>
              <a:buNone/>
            </a:pPr>
            <a:r>
              <a:rPr lang="en-US" altLang="zh-CN" sz="2800" b="1" dirty="0">
                <a:latin typeface="宋体" pitchFamily="2" charset="-122"/>
              </a:rPr>
              <a:t>1.1.3  </a:t>
            </a:r>
            <a:r>
              <a:rPr lang="zh-CN" altLang="en-US" sz="2800" b="1" dirty="0">
                <a:latin typeface="宋体" pitchFamily="2" charset="-122"/>
              </a:rPr>
              <a:t>数据库系统方法</a:t>
            </a:r>
            <a:endParaRPr lang="zh-CN" altLang="en-US" sz="2800" b="1" dirty="0">
              <a:latin typeface="宋体" pitchFamily="2" charset="-122"/>
            </a:endParaRPr>
          </a:p>
          <a:p>
            <a:pPr algn="just" eaLnBrk="1" hangingPunct="1">
              <a:buFont typeface="Wingdings" panose="05000000000000000000" pitchFamily="2" charset="2"/>
              <a:buNone/>
            </a:pPr>
            <a:r>
              <a:rPr lang="en-US" altLang="zh-CN" sz="2800" b="1" dirty="0">
                <a:latin typeface="Arial" panose="020B0604020202090204" pitchFamily="34" charset="0"/>
                <a:cs typeface="Arial" panose="020B0604020202090204" pitchFamily="34" charset="0"/>
              </a:rPr>
              <a:t>1. </a:t>
            </a:r>
            <a:r>
              <a:rPr lang="zh-CN" altLang="en-US" sz="2800" b="1" dirty="0">
                <a:latin typeface="Arial" panose="020B0604020202090204" pitchFamily="34" charset="0"/>
                <a:ea typeface="黑体" panose="02010609060101010101" pitchFamily="49" charset="-122"/>
              </a:rPr>
              <a:t>特征</a:t>
            </a:r>
            <a:endParaRPr lang="zh-CN" altLang="en-US" sz="2800" b="1" dirty="0">
              <a:latin typeface="Arial" panose="020B0604020202090204" pitchFamily="34" charset="0"/>
              <a:cs typeface="Arial" panose="020B0604020202090204" pitchFamily="34" charset="0"/>
            </a:endParaRPr>
          </a:p>
          <a:p>
            <a:pPr algn="just" eaLnBrk="1" hangingPunct="1">
              <a:buFont typeface="Wingdings" panose="05000000000000000000" pitchFamily="2" charset="2"/>
              <a:buNone/>
            </a:pPr>
            <a:r>
              <a:rPr lang="en-US" altLang="zh-CN" dirty="0">
                <a:latin typeface="宋体" pitchFamily="2" charset="-122"/>
              </a:rPr>
              <a:t>1</a:t>
            </a:r>
            <a:r>
              <a:rPr lang="zh-CN" altLang="en-US" dirty="0">
                <a:latin typeface="宋体" pitchFamily="2" charset="-122"/>
              </a:rPr>
              <a:t>）应用</a:t>
            </a:r>
            <a:r>
              <a:rPr lang="zh-CN" altLang="en-US" dirty="0">
                <a:solidFill>
                  <a:srgbClr val="FF0000"/>
                </a:solidFill>
                <a:latin typeface="宋体" pitchFamily="2" charset="-122"/>
              </a:rPr>
              <a:t>更广</a:t>
            </a:r>
            <a:r>
              <a:rPr lang="en-US" altLang="zh-CN" dirty="0">
                <a:latin typeface="宋体" pitchFamily="2" charset="-122"/>
              </a:rPr>
              <a:t>(</a:t>
            </a:r>
            <a:r>
              <a:rPr lang="zh-CN" altLang="en-US" dirty="0">
                <a:latin typeface="宋体" pitchFamily="2" charset="-122"/>
              </a:rPr>
              <a:t>联机，分布，共享</a:t>
            </a:r>
            <a:r>
              <a:rPr lang="en-US" altLang="zh-CN" dirty="0">
                <a:latin typeface="宋体" pitchFamily="2" charset="-122"/>
              </a:rPr>
              <a:t>)</a:t>
            </a:r>
            <a:endParaRPr lang="en-US" altLang="zh-CN" dirty="0">
              <a:latin typeface="宋体" pitchFamily="2" charset="-122"/>
            </a:endParaRPr>
          </a:p>
          <a:p>
            <a:pPr algn="just" eaLnBrk="1" hangingPunct="1">
              <a:buFont typeface="Wingdings" panose="05000000000000000000" pitchFamily="2" charset="2"/>
              <a:buNone/>
            </a:pPr>
            <a:r>
              <a:rPr lang="en-US" altLang="zh-CN" dirty="0">
                <a:latin typeface="宋体" pitchFamily="2" charset="-122"/>
              </a:rPr>
              <a:t>2</a:t>
            </a:r>
            <a:r>
              <a:rPr lang="zh-CN" altLang="en-US" dirty="0">
                <a:latin typeface="宋体" pitchFamily="2" charset="-122"/>
              </a:rPr>
              <a:t>）</a:t>
            </a:r>
            <a:r>
              <a:rPr lang="zh-CN" altLang="en-US" dirty="0">
                <a:solidFill>
                  <a:srgbClr val="FF0000"/>
                </a:solidFill>
                <a:latin typeface="宋体" pitchFamily="2" charset="-122"/>
              </a:rPr>
              <a:t>大容量</a:t>
            </a:r>
            <a:r>
              <a:rPr lang="zh-CN" altLang="en-US" dirty="0">
                <a:latin typeface="宋体" pitchFamily="2" charset="-122"/>
              </a:rPr>
              <a:t>磁盘</a:t>
            </a:r>
            <a:endParaRPr lang="zh-CN" altLang="en-US" dirty="0">
              <a:latin typeface="宋体" pitchFamily="2" charset="-122"/>
            </a:endParaRPr>
          </a:p>
          <a:p>
            <a:pPr algn="just" eaLnBrk="1" hangingPunct="1">
              <a:buFont typeface="Wingdings" panose="05000000000000000000" pitchFamily="2" charset="2"/>
              <a:buNone/>
            </a:pPr>
            <a:r>
              <a:rPr lang="en-US" altLang="zh-CN" dirty="0">
                <a:latin typeface="宋体" pitchFamily="2" charset="-122"/>
              </a:rPr>
              <a:t>3</a:t>
            </a:r>
            <a:r>
              <a:rPr lang="zh-CN" altLang="en-US" dirty="0">
                <a:latin typeface="宋体" pitchFamily="2" charset="-122"/>
              </a:rPr>
              <a:t>）数据</a:t>
            </a:r>
            <a:r>
              <a:rPr lang="zh-CN" altLang="en-US" dirty="0">
                <a:solidFill>
                  <a:srgbClr val="FF0000"/>
                </a:solidFill>
                <a:latin typeface="宋体" pitchFamily="2" charset="-122"/>
              </a:rPr>
              <a:t>长期保存</a:t>
            </a:r>
            <a:endParaRPr lang="zh-CN" altLang="en-US" dirty="0">
              <a:solidFill>
                <a:srgbClr val="FF0000"/>
              </a:solidFill>
              <a:latin typeface="宋体" pitchFamily="2" charset="-122"/>
            </a:endParaRPr>
          </a:p>
          <a:p>
            <a:pPr algn="just" eaLnBrk="1" hangingPunct="1">
              <a:buFont typeface="Wingdings" panose="05000000000000000000" pitchFamily="2" charset="2"/>
              <a:buNone/>
            </a:pPr>
            <a:r>
              <a:rPr lang="en-US" altLang="zh-CN" dirty="0">
                <a:latin typeface="宋体" pitchFamily="2" charset="-122"/>
              </a:rPr>
              <a:t>4</a:t>
            </a:r>
            <a:r>
              <a:rPr lang="zh-CN" altLang="en-US" dirty="0">
                <a:latin typeface="宋体" pitchFamily="2" charset="-122"/>
              </a:rPr>
              <a:t>）</a:t>
            </a:r>
            <a:r>
              <a:rPr lang="zh-CN" altLang="en-US" dirty="0">
                <a:solidFill>
                  <a:srgbClr val="FF0000"/>
                </a:solidFill>
                <a:latin typeface="宋体" pitchFamily="2" charset="-122"/>
              </a:rPr>
              <a:t>集中数据管理</a:t>
            </a:r>
            <a:r>
              <a:rPr lang="zh-CN" altLang="en-US" dirty="0">
                <a:latin typeface="宋体" pitchFamily="2" charset="-122"/>
              </a:rPr>
              <a:t>软件</a:t>
            </a:r>
            <a:r>
              <a:rPr lang="en-US" altLang="zh-CN" dirty="0">
                <a:latin typeface="宋体" pitchFamily="2" charset="-122"/>
              </a:rPr>
              <a:t>(DBMS)</a:t>
            </a:r>
            <a:endParaRPr lang="en-US" altLang="zh-CN" dirty="0">
              <a:latin typeface="宋体" pitchFamily="2" charset="-122"/>
            </a:endParaRPr>
          </a:p>
          <a:p>
            <a:pPr algn="just" eaLnBrk="1" hangingPunct="1">
              <a:buFont typeface="Wingdings" panose="05000000000000000000" pitchFamily="2" charset="2"/>
              <a:buNone/>
            </a:pPr>
            <a:r>
              <a:rPr lang="en-US" altLang="zh-CN" dirty="0">
                <a:latin typeface="宋体" pitchFamily="2" charset="-122"/>
              </a:rPr>
              <a:t>DBMS</a:t>
            </a:r>
            <a:r>
              <a:rPr lang="zh-CN" altLang="en-US" dirty="0">
                <a:latin typeface="宋体" pitchFamily="2" charset="-122"/>
              </a:rPr>
              <a:t>：</a:t>
            </a:r>
            <a:r>
              <a:rPr lang="en-US" altLang="zh-CN" dirty="0">
                <a:latin typeface="宋体" pitchFamily="2" charset="-122"/>
              </a:rPr>
              <a:t>Database Management System</a:t>
            </a:r>
            <a:endParaRPr lang="en-US" altLang="zh-CN" dirty="0">
              <a:latin typeface="宋体" pitchFamily="2" charset="-122"/>
            </a:endParaRPr>
          </a:p>
          <a:p>
            <a:pPr algn="just" eaLnBrk="1" hangingPunct="1">
              <a:buFont typeface="Wingdings" panose="05000000000000000000" pitchFamily="2" charset="2"/>
              <a:buNone/>
            </a:pPr>
            <a:r>
              <a:rPr lang="en-US" altLang="zh-CN" dirty="0">
                <a:latin typeface="宋体" pitchFamily="2" charset="-122"/>
              </a:rPr>
              <a:t>2. </a:t>
            </a:r>
            <a:r>
              <a:rPr lang="zh-CN" altLang="en-US" dirty="0">
                <a:latin typeface="宋体" pitchFamily="2" charset="-122"/>
              </a:rPr>
              <a:t>应用程序与数据的应用方式：</a:t>
            </a:r>
            <a:endParaRPr lang="zh-CN" altLang="en-US" dirty="0">
              <a:latin typeface="宋体" pitchFamily="2" charset="-122"/>
            </a:endParaRPr>
          </a:p>
        </p:txBody>
      </p:sp>
      <p:sp>
        <p:nvSpPr>
          <p:cNvPr id="10" name="灯片编号占位符 5"/>
          <p:cNvSpPr>
            <a:spLocks noGrp="1"/>
          </p:cNvSpPr>
          <p:nvPr>
            <p:ph type="sldNum" sz="quarter" idx="12"/>
          </p:nvPr>
        </p:nvSpPr>
        <p:spPr/>
        <p:txBody>
          <a:bodyPr>
            <a:normAutofit/>
          </a:bodyPr>
          <a:lstStyle/>
          <a:p>
            <a:pPr>
              <a:defRPr/>
            </a:pPr>
            <a:fld id="{3FB47A9C-7839-4294-AB94-F9418DF53C56}" type="slidenum">
              <a:rPr lang="en-US" altLang="zh-CN"/>
            </a:fld>
            <a:endParaRPr lang="en-US" altLang="zh-CN"/>
          </a:p>
        </p:txBody>
      </p:sp>
      <p:graphicFrame>
        <p:nvGraphicFramePr>
          <p:cNvPr id="2050" name="Object 7"/>
          <p:cNvGraphicFramePr>
            <a:graphicFrameLocks noChangeAspect="1"/>
          </p:cNvGraphicFramePr>
          <p:nvPr/>
        </p:nvGraphicFramePr>
        <p:xfrm>
          <a:off x="1447800" y="4643438"/>
          <a:ext cx="5332413" cy="1562100"/>
        </p:xfrm>
        <a:graphic>
          <a:graphicData uri="http://schemas.openxmlformats.org/presentationml/2006/ole">
            <mc:AlternateContent xmlns:mc="http://schemas.openxmlformats.org/markup-compatibility/2006">
              <mc:Choice xmlns:v="urn:schemas-microsoft-com:vml" Requires="v">
                <p:oleObj spid="_x0000_s2427" name="" r:id="rId1" imgW="3715385" imgH="1086485" progId="Word.Picture.8">
                  <p:embed/>
                </p:oleObj>
              </mc:Choice>
              <mc:Fallback>
                <p:oleObj name="" r:id="rId1" imgW="3715385" imgH="1086485" progId="Word.Picture.8">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4643438"/>
                        <a:ext cx="5332413" cy="1562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3" name="Text Box 8"/>
          <p:cNvSpPr txBox="1">
            <a:spLocks noChangeArrowheads="1"/>
          </p:cNvSpPr>
          <p:nvPr/>
        </p:nvSpPr>
        <p:spPr bwMode="auto">
          <a:xfrm>
            <a:off x="1905000" y="6248400"/>
            <a:ext cx="5942652" cy="461665"/>
          </a:xfrm>
          <a:prstGeom prst="rect">
            <a:avLst/>
          </a:prstGeom>
          <a:noFill/>
          <a:ln w="9525">
            <a:noFill/>
            <a:miter lim="800000"/>
          </a:ln>
        </p:spPr>
        <p:txBody>
          <a:bodyPr wrap="none">
            <a:spAutoFit/>
          </a:bodyPr>
          <a:lstStyle/>
          <a:p>
            <a:r>
              <a:rPr lang="zh-CN" altLang="en-US" dirty="0"/>
              <a:t>数据库系统中</a:t>
            </a:r>
            <a:r>
              <a:rPr lang="zh-CN" altLang="en-US" dirty="0">
                <a:latin typeface="宋体" pitchFamily="2" charset="-122"/>
              </a:rPr>
              <a:t>应用程序与数据的处理方式</a:t>
            </a:r>
            <a:r>
              <a:rPr lang="zh-CN" altLang="en-US" dirty="0"/>
              <a:t> </a:t>
            </a:r>
            <a:endParaRPr lang="zh-CN" altLang="en-US" dirty="0"/>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3"/>
          <p:cNvSpPr>
            <a:spLocks noGrp="1" noChangeArrowheads="1"/>
          </p:cNvSpPr>
          <p:nvPr>
            <p:ph idx="1"/>
          </p:nvPr>
        </p:nvSpPr>
        <p:spPr>
          <a:xfrm>
            <a:off x="457200" y="228600"/>
            <a:ext cx="8110538" cy="4191000"/>
          </a:xfrm>
        </p:spPr>
        <p:txBody>
          <a:bodyPr/>
          <a:lstStyle/>
          <a:p>
            <a:pPr algn="just" eaLnBrk="1" hangingPunct="1">
              <a:buFont typeface="Wingdings" panose="05000000000000000000" pitchFamily="2" charset="2"/>
              <a:buNone/>
            </a:pPr>
            <a:r>
              <a:rPr lang="en-US" altLang="zh-CN" b="1" dirty="0">
                <a:latin typeface="宋体" pitchFamily="2" charset="-122"/>
                <a:cs typeface="Arial" panose="020B0604020202090204" pitchFamily="34" charset="0"/>
              </a:rPr>
              <a:t>3. </a:t>
            </a:r>
            <a:r>
              <a:rPr lang="zh-CN" altLang="en-US" b="1" dirty="0">
                <a:latin typeface="宋体" pitchFamily="2" charset="-122"/>
              </a:rPr>
              <a:t>有关概念</a:t>
            </a:r>
            <a:endParaRPr lang="zh-CN" altLang="en-US" b="1" dirty="0">
              <a:latin typeface="宋体" pitchFamily="2" charset="-122"/>
              <a:cs typeface="Arial" panose="020B0604020202090204" pitchFamily="34" charset="0"/>
            </a:endParaRPr>
          </a:p>
          <a:p>
            <a:pPr algn="just" eaLnBrk="1" hangingPunct="1">
              <a:buFont typeface="Wingdings" panose="05000000000000000000" pitchFamily="2" charset="2"/>
              <a:buNone/>
            </a:pPr>
            <a:r>
              <a:rPr lang="en-US" altLang="zh-CN" dirty="0">
                <a:latin typeface="Verdana" panose="020B0804030504040204" pitchFamily="34" charset="0"/>
              </a:rPr>
              <a:t>1</a:t>
            </a:r>
            <a:r>
              <a:rPr lang="zh-CN" altLang="en-US" dirty="0">
                <a:latin typeface="宋体" pitchFamily="2" charset="-122"/>
              </a:rPr>
              <a:t>）局部数据结构：用户局部数据的逻辑结构及其特征的说明。</a:t>
            </a:r>
            <a:endParaRPr lang="zh-CN" altLang="en-US" dirty="0">
              <a:latin typeface="宋体" pitchFamily="2" charset="-122"/>
            </a:endParaRPr>
          </a:p>
          <a:p>
            <a:pPr algn="just" eaLnBrk="1" hangingPunct="1">
              <a:buFont typeface="Wingdings" panose="05000000000000000000" pitchFamily="2" charset="2"/>
              <a:buNone/>
            </a:pPr>
            <a:r>
              <a:rPr lang="en-US" altLang="zh-CN" dirty="0">
                <a:latin typeface="Verdana" panose="020B0804030504040204" pitchFamily="34" charset="0"/>
              </a:rPr>
              <a:t>2</a:t>
            </a:r>
            <a:r>
              <a:rPr lang="zh-CN" altLang="en-US" dirty="0">
                <a:latin typeface="宋体" pitchFamily="2" charset="-122"/>
              </a:rPr>
              <a:t>）全局数据结构：用户全部数据的逻辑结构及其特征的说明。</a:t>
            </a:r>
            <a:endParaRPr lang="zh-CN" altLang="en-US" dirty="0">
              <a:latin typeface="宋体" pitchFamily="2" charset="-122"/>
            </a:endParaRPr>
          </a:p>
          <a:p>
            <a:pPr algn="just" eaLnBrk="1" hangingPunct="1">
              <a:buFont typeface="Wingdings" panose="05000000000000000000" pitchFamily="2" charset="2"/>
              <a:buNone/>
            </a:pPr>
            <a:r>
              <a:rPr lang="zh-CN" altLang="en-US" dirty="0">
                <a:latin typeface="宋体" pitchFamily="2" charset="-122"/>
              </a:rPr>
              <a:t>例</a:t>
            </a:r>
            <a:r>
              <a:rPr lang="en-US" altLang="zh-CN" dirty="0">
                <a:latin typeface="宋体" pitchFamily="2" charset="-122"/>
              </a:rPr>
              <a:t>1</a:t>
            </a:r>
            <a:r>
              <a:rPr lang="zh-CN" altLang="en-US" dirty="0">
                <a:latin typeface="宋体" pitchFamily="2" charset="-122"/>
              </a:rPr>
              <a:t>：全局数据结构</a:t>
            </a:r>
            <a:endParaRPr lang="zh-CN" altLang="en-US" dirty="0">
              <a:latin typeface="宋体" pitchFamily="2" charset="-122"/>
            </a:endParaRPr>
          </a:p>
        </p:txBody>
      </p:sp>
      <p:sp>
        <p:nvSpPr>
          <p:cNvPr id="78" name="灯片编号占位符 5"/>
          <p:cNvSpPr>
            <a:spLocks noGrp="1"/>
          </p:cNvSpPr>
          <p:nvPr>
            <p:ph type="sldNum" sz="quarter" idx="12"/>
          </p:nvPr>
        </p:nvSpPr>
        <p:spPr/>
        <p:txBody>
          <a:bodyPr>
            <a:normAutofit/>
          </a:bodyPr>
          <a:lstStyle/>
          <a:p>
            <a:pPr>
              <a:defRPr/>
            </a:pPr>
            <a:fld id="{612C34E9-8570-4DDB-B662-C50E99C49A44}" type="slidenum">
              <a:rPr lang="en-US" altLang="zh-CN"/>
            </a:fld>
            <a:endParaRPr lang="en-US" altLang="zh-CN"/>
          </a:p>
        </p:txBody>
      </p:sp>
      <p:graphicFrame>
        <p:nvGraphicFramePr>
          <p:cNvPr id="36938" name="Group 74"/>
          <p:cNvGraphicFramePr>
            <a:graphicFrameLocks noGrp="1"/>
          </p:cNvGraphicFramePr>
          <p:nvPr/>
        </p:nvGraphicFramePr>
        <p:xfrm>
          <a:off x="152400" y="3619500"/>
          <a:ext cx="8839200" cy="381000"/>
        </p:xfrm>
        <a:graphic>
          <a:graphicData uri="http://schemas.openxmlformats.org/drawingml/2006/table">
            <a:tbl>
              <a:tblPr/>
              <a:tblGrid>
                <a:gridCol w="876300"/>
                <a:gridCol w="636588"/>
                <a:gridCol w="636587"/>
                <a:gridCol w="636588"/>
                <a:gridCol w="638175"/>
                <a:gridCol w="635000"/>
                <a:gridCol w="638175"/>
                <a:gridCol w="715962"/>
                <a:gridCol w="609600"/>
                <a:gridCol w="679450"/>
                <a:gridCol w="679450"/>
                <a:gridCol w="847725"/>
                <a:gridCol w="609600"/>
              </a:tblGrid>
              <a:tr h="381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1600" b="0" i="0" u="none" strike="noStrike" cap="none" normalizeH="0" baseline="0" dirty="0">
                          <a:ln>
                            <a:noFill/>
                          </a:ln>
                          <a:solidFill>
                            <a:schemeClr val="tx1"/>
                          </a:solidFill>
                          <a:effectLst/>
                          <a:latin typeface="Verdana" panose="020B0804030504040204" pitchFamily="34" charset="0"/>
                          <a:ea typeface="宋体" pitchFamily="2" charset="-122"/>
                        </a:rPr>
                        <a:t>职工号</a:t>
                      </a:r>
                      <a:endParaRPr kumimoji="1" lang="zh-CN" altLang="en-US" sz="16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1600" b="0" i="0" u="none" strike="noStrike" cap="none" normalizeH="0" baseline="0">
                          <a:ln>
                            <a:noFill/>
                          </a:ln>
                          <a:solidFill>
                            <a:schemeClr val="tx1"/>
                          </a:solidFill>
                          <a:effectLst/>
                          <a:latin typeface="Verdana" panose="020B0804030504040204" pitchFamily="34" charset="0"/>
                          <a:ea typeface="宋体" pitchFamily="2" charset="-122"/>
                        </a:rPr>
                        <a:t>姓名</a:t>
                      </a:r>
                      <a:endParaRPr kumimoji="1" lang="zh-CN" altLang="en-US" sz="16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1600" b="0" i="0" u="none" strike="noStrike" cap="none" normalizeH="0" baseline="0" dirty="0">
                          <a:ln>
                            <a:noFill/>
                          </a:ln>
                          <a:solidFill>
                            <a:schemeClr val="tx1"/>
                          </a:solidFill>
                          <a:effectLst/>
                          <a:latin typeface="Verdana" panose="020B0804030504040204" pitchFamily="34" charset="0"/>
                          <a:ea typeface="宋体" pitchFamily="2" charset="-122"/>
                        </a:rPr>
                        <a:t>单位</a:t>
                      </a:r>
                      <a:endParaRPr kumimoji="1" lang="zh-CN" altLang="en-US" sz="16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1600" b="0" i="0" u="none" strike="noStrike" cap="none" normalizeH="0" baseline="0" dirty="0">
                          <a:ln>
                            <a:noFill/>
                          </a:ln>
                          <a:solidFill>
                            <a:schemeClr val="tx1"/>
                          </a:solidFill>
                          <a:effectLst/>
                          <a:latin typeface="Verdana" panose="020B0804030504040204" pitchFamily="34" charset="0"/>
                          <a:ea typeface="宋体" pitchFamily="2" charset="-122"/>
                        </a:rPr>
                        <a:t>性别</a:t>
                      </a:r>
                      <a:endParaRPr kumimoji="1" lang="zh-CN" altLang="en-US" sz="16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1600" b="0" i="0" u="none" strike="noStrike" cap="none" normalizeH="0" baseline="0" dirty="0">
                          <a:ln>
                            <a:noFill/>
                          </a:ln>
                          <a:solidFill>
                            <a:schemeClr val="tx1"/>
                          </a:solidFill>
                          <a:effectLst/>
                          <a:latin typeface="Verdana" panose="020B0804030504040204" pitchFamily="34" charset="0"/>
                          <a:ea typeface="宋体" pitchFamily="2" charset="-122"/>
                        </a:rPr>
                        <a:t>年龄</a:t>
                      </a:r>
                      <a:endParaRPr kumimoji="1" lang="zh-CN" altLang="en-US" sz="16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1600" b="0" i="0" u="none" strike="noStrike" cap="none" normalizeH="0" baseline="0" dirty="0">
                          <a:ln>
                            <a:noFill/>
                          </a:ln>
                          <a:solidFill>
                            <a:schemeClr val="tx1"/>
                          </a:solidFill>
                          <a:effectLst/>
                          <a:latin typeface="Verdana" panose="020B0804030504040204" pitchFamily="34" charset="0"/>
                          <a:ea typeface="宋体" pitchFamily="2" charset="-122"/>
                        </a:rPr>
                        <a:t>工龄</a:t>
                      </a:r>
                      <a:endParaRPr kumimoji="1" lang="zh-CN" altLang="en-US" sz="16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1600" b="0" i="0" u="none" strike="noStrike" cap="none" normalizeH="0" baseline="0" dirty="0">
                          <a:ln>
                            <a:noFill/>
                          </a:ln>
                          <a:solidFill>
                            <a:schemeClr val="tx1"/>
                          </a:solidFill>
                          <a:effectLst/>
                          <a:latin typeface="Verdana" panose="020B0804030504040204" pitchFamily="34" charset="0"/>
                          <a:ea typeface="宋体" pitchFamily="2" charset="-122"/>
                        </a:rPr>
                        <a:t>工资</a:t>
                      </a:r>
                      <a:endParaRPr kumimoji="1" lang="zh-CN" altLang="en-US" sz="16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1600" b="0" i="0" u="none" strike="noStrike" cap="none" normalizeH="0" baseline="0" dirty="0">
                          <a:ln>
                            <a:noFill/>
                          </a:ln>
                          <a:solidFill>
                            <a:schemeClr val="tx1"/>
                          </a:solidFill>
                          <a:effectLst/>
                          <a:latin typeface="Verdana" panose="020B0804030504040204" pitchFamily="34" charset="0"/>
                          <a:ea typeface="宋体" pitchFamily="2" charset="-122"/>
                        </a:rPr>
                        <a:t>职称</a:t>
                      </a:r>
                      <a:endParaRPr kumimoji="1" lang="zh-CN" altLang="en-US" sz="16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1600" b="0" i="0" u="none" strike="noStrike" cap="none" normalizeH="0" baseline="0" dirty="0">
                          <a:ln>
                            <a:noFill/>
                          </a:ln>
                          <a:solidFill>
                            <a:schemeClr val="tx1"/>
                          </a:solidFill>
                          <a:effectLst/>
                          <a:latin typeface="Verdana" panose="020B0804030504040204" pitchFamily="34" charset="0"/>
                          <a:ea typeface="宋体" pitchFamily="2" charset="-122"/>
                        </a:rPr>
                        <a:t>奖金</a:t>
                      </a:r>
                      <a:endParaRPr kumimoji="1" lang="zh-CN" altLang="en-US" sz="16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1600" b="0" i="0" u="none" strike="noStrike" cap="none" normalizeH="0" baseline="0" dirty="0">
                          <a:ln>
                            <a:noFill/>
                          </a:ln>
                          <a:solidFill>
                            <a:schemeClr val="tx1"/>
                          </a:solidFill>
                          <a:effectLst/>
                          <a:latin typeface="Verdana" panose="020B0804030504040204" pitchFamily="34" charset="0"/>
                          <a:ea typeface="宋体" pitchFamily="2" charset="-122"/>
                        </a:rPr>
                        <a:t>房租</a:t>
                      </a:r>
                      <a:endParaRPr kumimoji="1" lang="zh-CN" altLang="en-US" sz="16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1600" b="0" i="0" u="none" strike="noStrike" cap="none" normalizeH="0" baseline="0" dirty="0">
                          <a:ln>
                            <a:noFill/>
                          </a:ln>
                          <a:solidFill>
                            <a:schemeClr val="tx1"/>
                          </a:solidFill>
                          <a:effectLst/>
                          <a:latin typeface="Verdana" panose="020B0804030504040204" pitchFamily="34" charset="0"/>
                          <a:ea typeface="宋体" pitchFamily="2" charset="-122"/>
                        </a:rPr>
                        <a:t>水电</a:t>
                      </a:r>
                      <a:endParaRPr kumimoji="1" lang="zh-CN" altLang="en-US" sz="16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1600" b="0" i="0" u="none" strike="noStrike" cap="none" normalizeH="0" baseline="0" dirty="0">
                          <a:ln>
                            <a:noFill/>
                          </a:ln>
                          <a:solidFill>
                            <a:schemeClr val="tx1"/>
                          </a:solidFill>
                          <a:effectLst/>
                          <a:latin typeface="Verdana" panose="020B0804030504040204" pitchFamily="34" charset="0"/>
                          <a:ea typeface="宋体" pitchFamily="2" charset="-122"/>
                        </a:rPr>
                        <a:t>课程名</a:t>
                      </a:r>
                      <a:endParaRPr kumimoji="1" lang="zh-CN" altLang="en-US" sz="16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1600" b="0" i="0" u="none" strike="noStrike" cap="none" normalizeH="0" baseline="0" dirty="0">
                          <a:ln>
                            <a:noFill/>
                          </a:ln>
                          <a:solidFill>
                            <a:schemeClr val="tx1"/>
                          </a:solidFill>
                          <a:effectLst/>
                          <a:latin typeface="Verdana" panose="020B0804030504040204" pitchFamily="34" charset="0"/>
                          <a:ea typeface="宋体" pitchFamily="2" charset="-122"/>
                        </a:rPr>
                        <a:t>学时</a:t>
                      </a:r>
                      <a:endParaRPr kumimoji="1" lang="zh-CN" altLang="en-US" sz="16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
        <p:nvSpPr>
          <p:cNvPr id="67618" name="Text Box 75"/>
          <p:cNvSpPr txBox="1">
            <a:spLocks noChangeArrowheads="1"/>
          </p:cNvSpPr>
          <p:nvPr/>
        </p:nvSpPr>
        <p:spPr bwMode="auto">
          <a:xfrm>
            <a:off x="457200" y="4214813"/>
            <a:ext cx="8543925" cy="2308225"/>
          </a:xfrm>
          <a:prstGeom prst="rect">
            <a:avLst/>
          </a:prstGeom>
          <a:noFill/>
          <a:ln w="9525">
            <a:noFill/>
            <a:miter lim="800000"/>
          </a:ln>
        </p:spPr>
        <p:txBody>
          <a:bodyPr>
            <a:spAutoFit/>
          </a:bodyPr>
          <a:lstStyle/>
          <a:p>
            <a:r>
              <a:rPr lang="zh-CN" altLang="en-US" dirty="0"/>
              <a:t>例</a:t>
            </a:r>
            <a:r>
              <a:rPr lang="en-US" altLang="zh-CN" dirty="0"/>
              <a:t>2</a:t>
            </a:r>
            <a:r>
              <a:rPr lang="zh-CN" altLang="en-US" dirty="0"/>
              <a:t>：</a:t>
            </a:r>
            <a:endParaRPr lang="zh-CN" altLang="en-US" dirty="0"/>
          </a:p>
          <a:p>
            <a:r>
              <a:rPr lang="zh-CN" altLang="en-US" dirty="0"/>
              <a:t>基本信息：</a:t>
            </a:r>
            <a:endParaRPr lang="zh-CN" altLang="en-US" dirty="0"/>
          </a:p>
          <a:p>
            <a:r>
              <a:rPr lang="zh-CN" altLang="en-US" dirty="0"/>
              <a:t>工资：</a:t>
            </a:r>
            <a:endParaRPr lang="zh-CN" altLang="en-US" dirty="0"/>
          </a:p>
          <a:p>
            <a:r>
              <a:rPr lang="zh-CN" altLang="en-US" dirty="0"/>
              <a:t>授课：</a:t>
            </a:r>
            <a:endParaRPr lang="zh-CN" altLang="en-US" dirty="0"/>
          </a:p>
          <a:p>
            <a:endParaRPr lang="zh-CN" altLang="en-US" dirty="0"/>
          </a:p>
          <a:p>
            <a:r>
              <a:rPr lang="en-US" altLang="zh-CN" dirty="0"/>
              <a:t>3</a:t>
            </a:r>
            <a:r>
              <a:rPr lang="zh-CN" altLang="en-US" dirty="0">
                <a:latin typeface="宋体" pitchFamily="2" charset="-122"/>
              </a:rPr>
              <a:t>）</a:t>
            </a:r>
            <a:r>
              <a:rPr lang="en-US" altLang="zh-CN" dirty="0"/>
              <a:t>DB</a:t>
            </a:r>
            <a:r>
              <a:rPr lang="zh-CN" altLang="en-US" dirty="0">
                <a:latin typeface="宋体" pitchFamily="2" charset="-122"/>
              </a:rPr>
              <a:t>：按一定的方式说明、组织并长期保存的共享数据集合。</a:t>
            </a:r>
            <a:r>
              <a:rPr lang="zh-CN" altLang="en-US" dirty="0"/>
              <a:t> </a:t>
            </a:r>
            <a:endParaRPr lang="zh-CN" altLang="en-US" dirty="0"/>
          </a:p>
        </p:txBody>
      </p:sp>
      <p:graphicFrame>
        <p:nvGraphicFramePr>
          <p:cNvPr id="36963" name="Group 99"/>
          <p:cNvGraphicFramePr>
            <a:graphicFrameLocks noGrp="1"/>
          </p:cNvGraphicFramePr>
          <p:nvPr/>
        </p:nvGraphicFramePr>
        <p:xfrm>
          <a:off x="1905000" y="4506913"/>
          <a:ext cx="7010400" cy="396240"/>
        </p:xfrm>
        <a:graphic>
          <a:graphicData uri="http://schemas.openxmlformats.org/drawingml/2006/table">
            <a:tbl>
              <a:tblPr/>
              <a:tblGrid>
                <a:gridCol w="1001713"/>
                <a:gridCol w="1001712"/>
                <a:gridCol w="1001713"/>
                <a:gridCol w="1000125"/>
                <a:gridCol w="1001712"/>
                <a:gridCol w="1001713"/>
                <a:gridCol w="1001712"/>
              </a:tblGrid>
              <a:tr h="381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rPr>
                        <a:t>职工号</a:t>
                      </a:r>
                      <a:endPar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000" b="0" i="0" u="none" strike="noStrike" cap="none" normalizeH="0" baseline="0">
                          <a:ln>
                            <a:noFill/>
                          </a:ln>
                          <a:solidFill>
                            <a:schemeClr val="tx1"/>
                          </a:solidFill>
                          <a:effectLst/>
                          <a:latin typeface="Verdana" panose="020B0804030504040204" pitchFamily="34" charset="0"/>
                          <a:ea typeface="宋体" pitchFamily="2" charset="-122"/>
                        </a:rPr>
                        <a:t>姓名</a:t>
                      </a:r>
                      <a:endParaRPr kumimoji="1" lang="zh-CN" altLang="en-US"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000" b="0" i="0" u="none" strike="noStrike" cap="none" normalizeH="0" baseline="0">
                          <a:ln>
                            <a:noFill/>
                          </a:ln>
                          <a:solidFill>
                            <a:schemeClr val="tx1"/>
                          </a:solidFill>
                          <a:effectLst/>
                          <a:latin typeface="Verdana" panose="020B0804030504040204" pitchFamily="34" charset="0"/>
                          <a:ea typeface="宋体" pitchFamily="2" charset="-122"/>
                        </a:rPr>
                        <a:t>单位</a:t>
                      </a:r>
                      <a:endParaRPr kumimoji="1" lang="zh-CN" altLang="en-US"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000" b="0" i="0" u="none" strike="noStrike" cap="none" normalizeH="0" baseline="0">
                          <a:ln>
                            <a:noFill/>
                          </a:ln>
                          <a:solidFill>
                            <a:schemeClr val="tx1"/>
                          </a:solidFill>
                          <a:effectLst/>
                          <a:latin typeface="Verdana" panose="020B0804030504040204" pitchFamily="34" charset="0"/>
                          <a:ea typeface="宋体" pitchFamily="2" charset="-122"/>
                        </a:rPr>
                        <a:t>性别</a:t>
                      </a:r>
                      <a:endParaRPr kumimoji="1" lang="zh-CN" altLang="en-US"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000" b="0" i="0" u="none" strike="noStrike" cap="none" normalizeH="0" baseline="0">
                          <a:ln>
                            <a:noFill/>
                          </a:ln>
                          <a:solidFill>
                            <a:schemeClr val="tx1"/>
                          </a:solidFill>
                          <a:effectLst/>
                          <a:latin typeface="Verdana" panose="020B0804030504040204" pitchFamily="34" charset="0"/>
                          <a:ea typeface="宋体" pitchFamily="2" charset="-122"/>
                        </a:rPr>
                        <a:t>年龄</a:t>
                      </a:r>
                      <a:endParaRPr kumimoji="1" lang="zh-CN" altLang="en-US"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000" b="0" i="0" u="none" strike="noStrike" cap="none" normalizeH="0" baseline="0">
                          <a:ln>
                            <a:noFill/>
                          </a:ln>
                          <a:solidFill>
                            <a:schemeClr val="tx1"/>
                          </a:solidFill>
                          <a:effectLst/>
                          <a:latin typeface="Verdana" panose="020B0804030504040204" pitchFamily="34" charset="0"/>
                          <a:ea typeface="宋体" pitchFamily="2" charset="-122"/>
                        </a:rPr>
                        <a:t>工龄</a:t>
                      </a:r>
                      <a:endParaRPr kumimoji="1" lang="zh-CN" altLang="en-US"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rPr>
                        <a:t>职称</a:t>
                      </a:r>
                      <a:endPar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graphicFrame>
        <p:nvGraphicFramePr>
          <p:cNvPr id="36989" name="Group 125"/>
          <p:cNvGraphicFramePr>
            <a:graphicFrameLocks noGrp="1"/>
          </p:cNvGraphicFramePr>
          <p:nvPr/>
        </p:nvGraphicFramePr>
        <p:xfrm>
          <a:off x="1905000" y="4964113"/>
          <a:ext cx="6096000" cy="431800"/>
        </p:xfrm>
        <a:graphic>
          <a:graphicData uri="http://schemas.openxmlformats.org/drawingml/2006/table">
            <a:tbl>
              <a:tblPr/>
              <a:tblGrid>
                <a:gridCol w="1219200"/>
                <a:gridCol w="1219200"/>
                <a:gridCol w="1219200"/>
                <a:gridCol w="1219200"/>
                <a:gridCol w="1219200"/>
              </a:tblGrid>
              <a:tr h="4318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rPr>
                        <a:t>职工号</a:t>
                      </a:r>
                      <a:endPar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rPr>
                        <a:t>工龄</a:t>
                      </a:r>
                      <a:endPar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rPr>
                        <a:t>工资</a:t>
                      </a:r>
                      <a:endPar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rPr>
                        <a:t>房租</a:t>
                      </a:r>
                      <a:endPar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rPr>
                        <a:t>水电</a:t>
                      </a:r>
                      <a:endPar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graphicFrame>
        <p:nvGraphicFramePr>
          <p:cNvPr id="37000" name="Group 136"/>
          <p:cNvGraphicFramePr>
            <a:graphicFrameLocks noGrp="1"/>
          </p:cNvGraphicFramePr>
          <p:nvPr/>
        </p:nvGraphicFramePr>
        <p:xfrm>
          <a:off x="1905000" y="5497513"/>
          <a:ext cx="6096000" cy="431800"/>
        </p:xfrm>
        <a:graphic>
          <a:graphicData uri="http://schemas.openxmlformats.org/drawingml/2006/table">
            <a:tbl>
              <a:tblPr/>
              <a:tblGrid>
                <a:gridCol w="2032000"/>
                <a:gridCol w="2032000"/>
                <a:gridCol w="2032000"/>
              </a:tblGrid>
              <a:tr h="4318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rPr>
                        <a:t>职工号</a:t>
                      </a:r>
                      <a:endPar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rPr>
                        <a:t>课程名</a:t>
                      </a:r>
                      <a:endPar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rPr>
                        <a:t>学时</a:t>
                      </a:r>
                      <a:endPar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
        <p:nvSpPr>
          <p:cNvPr id="9" name="圆角矩形标注 5"/>
          <p:cNvSpPr/>
          <p:nvPr/>
        </p:nvSpPr>
        <p:spPr>
          <a:xfrm>
            <a:off x="6264276" y="2415797"/>
            <a:ext cx="2303462" cy="612775"/>
          </a:xfrm>
          <a:prstGeom prst="wedgeRoundRectCallout">
            <a:avLst>
              <a:gd name="adj1" fmla="val -66663"/>
              <a:gd name="adj2" fmla="val 43421"/>
              <a:gd name="adj3" fmla="val 16667"/>
            </a:avLst>
          </a:prstGeom>
          <a:noFill/>
        </p:spPr>
        <p:style>
          <a:lnRef idx="2">
            <a:schemeClr val="accent1"/>
          </a:lnRef>
          <a:fillRef idx="1">
            <a:schemeClr val="lt1"/>
          </a:fillRef>
          <a:effectRef idx="0">
            <a:schemeClr val="accent1"/>
          </a:effectRef>
          <a:fontRef idx="minor">
            <a:schemeClr val="dk1"/>
          </a:fontRef>
        </p:style>
        <p:txBody>
          <a:bodyPr anchor="ctr"/>
          <a:lstStyle/>
          <a:p>
            <a:pPr algn="ctr">
              <a:defRPr/>
            </a:pPr>
            <a:r>
              <a:rPr lang="zh-CN" altLang="en-US" dirty="0">
                <a:solidFill>
                  <a:schemeClr val="tx1"/>
                </a:solidFill>
              </a:rPr>
              <a:t>泛关系假设</a:t>
            </a:r>
            <a:endParaRPr lang="zh-CN" altLang="en-US" dirty="0">
              <a:solidFill>
                <a:schemeClr val="tx1"/>
              </a:solidFill>
            </a:endParaRP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a:xfrm>
            <a:off x="323850" y="543946"/>
            <a:ext cx="8162925" cy="2957062"/>
          </a:xfrm>
        </p:spPr>
        <p:txBody>
          <a:bodyPr>
            <a:noAutofit/>
          </a:bodyPr>
          <a:lstStyle/>
          <a:p>
            <a:pPr eaLnBrk="1" fontAlgn="auto" hangingPunct="1">
              <a:spcAft>
                <a:spcPts val="0"/>
              </a:spcAft>
              <a:defRPr/>
            </a:pPr>
            <a:r>
              <a:rPr lang="en-US" altLang="zh-CN" sz="4000" dirty="0"/>
              <a:t>    </a:t>
            </a:r>
            <a:r>
              <a:rPr lang="zh-CN" altLang="en-US" sz="4000" dirty="0"/>
              <a:t>数据库对数据的</a:t>
            </a:r>
            <a:r>
              <a:rPr lang="zh-CN" altLang="en-US" sz="4000" dirty="0">
                <a:solidFill>
                  <a:srgbClr val="FF0000"/>
                </a:solidFill>
              </a:rPr>
              <a:t>全局性整合</a:t>
            </a:r>
            <a:r>
              <a:rPr lang="zh-CN" altLang="en-US" sz="4000" dirty="0"/>
              <a:t>使数据的</a:t>
            </a:r>
            <a:r>
              <a:rPr lang="zh-CN" altLang="en-US" sz="4000" dirty="0">
                <a:solidFill>
                  <a:srgbClr val="FF0000"/>
                </a:solidFill>
              </a:rPr>
              <a:t>管理全局整体化</a:t>
            </a:r>
            <a:r>
              <a:rPr lang="zh-CN" altLang="en-US" sz="4000" dirty="0"/>
              <a:t>、数据</a:t>
            </a:r>
            <a:r>
              <a:rPr lang="zh-CN" altLang="en-US" sz="4000" dirty="0">
                <a:solidFill>
                  <a:srgbClr val="FF0000"/>
                </a:solidFill>
              </a:rPr>
              <a:t>组织整体结构化</a:t>
            </a:r>
            <a:r>
              <a:rPr lang="zh-CN" altLang="en-US" sz="4000" dirty="0"/>
              <a:t>，而整体结构化的特定风格有助于将</a:t>
            </a:r>
            <a:r>
              <a:rPr lang="zh-CN" altLang="en-US" sz="4000" dirty="0">
                <a:solidFill>
                  <a:srgbClr val="FF0000"/>
                </a:solidFill>
              </a:rPr>
              <a:t>数据管理的底层实现</a:t>
            </a:r>
            <a:r>
              <a:rPr lang="zh-CN" altLang="en-US" sz="4000" dirty="0"/>
              <a:t>从应用程序中</a:t>
            </a:r>
            <a:r>
              <a:rPr lang="zh-CN" altLang="en-US" sz="4000" dirty="0">
                <a:solidFill>
                  <a:srgbClr val="FF0000"/>
                </a:solidFill>
              </a:rPr>
              <a:t>抽取出来</a:t>
            </a:r>
            <a:r>
              <a:rPr lang="zh-CN" altLang="en-US" sz="4000" dirty="0"/>
              <a:t>。</a:t>
            </a:r>
            <a:endParaRPr lang="zh-CN" altLang="en-US" sz="4000" dirty="0"/>
          </a:p>
        </p:txBody>
      </p:sp>
      <p:sp>
        <p:nvSpPr>
          <p:cNvPr id="7" name="灯片编号占位符 5"/>
          <p:cNvSpPr>
            <a:spLocks noGrp="1"/>
          </p:cNvSpPr>
          <p:nvPr>
            <p:ph type="sldNum" sz="quarter" idx="12"/>
          </p:nvPr>
        </p:nvSpPr>
        <p:spPr/>
        <p:txBody>
          <a:bodyPr>
            <a:normAutofit/>
          </a:bodyPr>
          <a:lstStyle/>
          <a:p>
            <a:pPr>
              <a:defRPr/>
            </a:pPr>
            <a:fld id="{18EEC079-D6EA-49B5-868C-E70F33F289A3}" type="slidenum">
              <a:rPr lang="en-US" altLang="zh-CN"/>
            </a:fld>
            <a:endParaRPr lang="en-US" altLang="zh-CN"/>
          </a:p>
        </p:txBody>
      </p:sp>
      <p:sp>
        <p:nvSpPr>
          <p:cNvPr id="109572" name="Text Box 4"/>
          <p:cNvSpPr txBox="1">
            <a:spLocks noChangeArrowheads="1"/>
          </p:cNvSpPr>
          <p:nvPr/>
        </p:nvSpPr>
        <p:spPr bwMode="auto">
          <a:xfrm>
            <a:off x="299272" y="4929059"/>
            <a:ext cx="8136904" cy="1384995"/>
          </a:xfrm>
          <a:prstGeom prst="rect">
            <a:avLst/>
          </a:prstGeom>
          <a:noFill/>
          <a:ln w="9525">
            <a:noFill/>
            <a:miter lim="800000"/>
          </a:ln>
        </p:spPr>
        <p:txBody>
          <a:bodyPr wrap="square">
            <a:spAutoFit/>
          </a:bodyPr>
          <a:lstStyle/>
          <a:p>
            <a:r>
              <a:rPr lang="zh-CN" altLang="en-US" sz="2800" dirty="0"/>
              <a:t>统一的思考和描述风格，定义共性的规则和方法。</a:t>
            </a:r>
            <a:endParaRPr lang="en-US" altLang="zh-CN" sz="2800" dirty="0"/>
          </a:p>
          <a:p>
            <a:r>
              <a:rPr lang="en-US" altLang="zh-CN" sz="2800" dirty="0">
                <a:latin typeface="宋体" pitchFamily="2" charset="-122"/>
                <a:ea typeface="宋体" pitchFamily="2" charset="-122"/>
              </a:rPr>
              <a:t>   </a:t>
            </a:r>
            <a:r>
              <a:rPr lang="zh-CN" altLang="zh-CN" sz="2800" dirty="0">
                <a:latin typeface="宋体" pitchFamily="2" charset="-122"/>
                <a:ea typeface="宋体" pitchFamily="2" charset="-122"/>
              </a:rPr>
              <a:t>↓</a:t>
            </a:r>
            <a:endParaRPr lang="en-US" altLang="zh-CN" sz="2800" dirty="0"/>
          </a:p>
          <a:p>
            <a:r>
              <a:rPr lang="zh-CN" altLang="en-US" sz="2800" dirty="0"/>
              <a:t>建立描述、解决问题的</a:t>
            </a:r>
            <a:r>
              <a:rPr lang="zh-CN" altLang="en-US" sz="2800" dirty="0">
                <a:solidFill>
                  <a:srgbClr val="FF0000"/>
                </a:solidFill>
              </a:rPr>
              <a:t>模型。</a:t>
            </a:r>
            <a:endParaRPr lang="zh-CN" altLang="en-US" sz="2800" dirty="0">
              <a:solidFill>
                <a:srgbClr val="FF0000"/>
              </a:solidFill>
            </a:endParaRPr>
          </a:p>
        </p:txBody>
      </p:sp>
      <p:sp>
        <p:nvSpPr>
          <p:cNvPr id="68613" name="AutoShape 5"/>
          <p:cNvSpPr>
            <a:spLocks noChangeArrowheads="1"/>
          </p:cNvSpPr>
          <p:nvPr/>
        </p:nvSpPr>
        <p:spPr bwMode="auto">
          <a:xfrm>
            <a:off x="8388350" y="1628775"/>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sp>
        <p:nvSpPr>
          <p:cNvPr id="6" name="圆角矩形标注 5"/>
          <p:cNvSpPr/>
          <p:nvPr/>
        </p:nvSpPr>
        <p:spPr>
          <a:xfrm>
            <a:off x="400050" y="3589859"/>
            <a:ext cx="8286750" cy="1224136"/>
          </a:xfrm>
          <a:prstGeom prst="wedgeRoundRectCallout">
            <a:avLst>
              <a:gd name="adj1" fmla="val -13518"/>
              <a:gd name="adj2" fmla="val -64445"/>
              <a:gd name="adj3" fmla="val 16667"/>
            </a:avLst>
          </a:prstGeom>
        </p:spPr>
        <p:style>
          <a:lnRef idx="2">
            <a:schemeClr val="accent2"/>
          </a:lnRef>
          <a:fillRef idx="1">
            <a:schemeClr val="lt1"/>
          </a:fillRef>
          <a:effectRef idx="0">
            <a:schemeClr val="accent2"/>
          </a:effectRef>
          <a:fontRef idx="minor">
            <a:schemeClr val="dk1"/>
          </a:fontRef>
        </p:style>
        <p:txBody>
          <a:bodyPr anchor="ctr"/>
          <a:lstStyle/>
          <a:p>
            <a:pPr>
              <a:lnSpc>
                <a:spcPct val="150000"/>
              </a:lnSpc>
              <a:defRPr/>
            </a:pPr>
            <a:r>
              <a:rPr lang="zh-CN" altLang="en-US" sz="2800" dirty="0">
                <a:latin typeface="微软雅黑" panose="020B0503020204020204" pitchFamily="34" charset="-122"/>
                <a:ea typeface="微软雅黑" panose="020B0503020204020204" pitchFamily="34" charset="-122"/>
              </a:rPr>
              <a:t>    要相对超脱于应用程序的业务范畴，做好全局数据的</a:t>
            </a:r>
            <a:r>
              <a:rPr lang="zh-CN" altLang="en-US" sz="2800" dirty="0">
                <a:solidFill>
                  <a:srgbClr val="FF0000"/>
                </a:solidFill>
                <a:latin typeface="微软雅黑" panose="020B0503020204020204" pitchFamily="34" charset="-122"/>
                <a:ea typeface="微软雅黑" panose="020B0503020204020204" pitchFamily="34" charset="-122"/>
              </a:rPr>
              <a:t>整体结构化，</a:t>
            </a:r>
            <a:r>
              <a:rPr lang="zh-CN" altLang="en-US" sz="2800" dirty="0">
                <a:solidFill>
                  <a:schemeClr val="tx1"/>
                </a:solidFill>
                <a:latin typeface="微软雅黑" panose="020B0503020204020204" pitchFamily="34" charset="-122"/>
                <a:ea typeface="微软雅黑" panose="020B0503020204020204" pitchFamily="34" charset="-122"/>
              </a:rPr>
              <a:t>抽象出来</a:t>
            </a:r>
            <a:r>
              <a:rPr lang="zh-CN" altLang="en-US" sz="2800" dirty="0">
                <a:latin typeface="微软雅黑" panose="020B0503020204020204" pitchFamily="34" charset="-122"/>
                <a:ea typeface="微软雅黑" panose="020B0503020204020204" pitchFamily="34" charset="-122"/>
              </a:rPr>
              <a:t>是什么基本问题？</a:t>
            </a:r>
            <a:endParaRPr lang="zh-CN" altLang="en-US" sz="2800"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3"/>
          <p:cNvSpPr>
            <a:spLocks noGrp="1" noChangeArrowheads="1"/>
          </p:cNvSpPr>
          <p:nvPr>
            <p:ph idx="1"/>
          </p:nvPr>
        </p:nvSpPr>
        <p:spPr>
          <a:xfrm>
            <a:off x="304800" y="576263"/>
            <a:ext cx="8305800" cy="5638800"/>
          </a:xfrm>
        </p:spPr>
        <p:txBody>
          <a:bodyPr/>
          <a:lstStyle/>
          <a:p>
            <a:pPr algn="just" eaLnBrk="1" hangingPunct="1">
              <a:lnSpc>
                <a:spcPct val="90000"/>
              </a:lnSpc>
              <a:buFont typeface="Wingdings" panose="05000000000000000000" pitchFamily="2" charset="2"/>
              <a:buNone/>
            </a:pPr>
            <a:r>
              <a:rPr lang="en-US" altLang="zh-CN" sz="3600" b="1" dirty="0">
                <a:latin typeface="Arial" panose="020B0604020202090204" pitchFamily="34" charset="0"/>
                <a:cs typeface="Arial" panose="020B0604020202090204" pitchFamily="34" charset="0"/>
              </a:rPr>
              <a:t>1.2  </a:t>
            </a:r>
            <a:r>
              <a:rPr lang="zh-CN" altLang="en-US" sz="3600" b="1" dirty="0">
                <a:latin typeface="Arial" panose="020B0604020202090204" pitchFamily="34" charset="0"/>
                <a:ea typeface="黑体" panose="02010609060101010101" pitchFamily="49" charset="-122"/>
              </a:rPr>
              <a:t>数据模型</a:t>
            </a:r>
            <a:r>
              <a:rPr lang="en-US" altLang="zh-CN" sz="3600" b="1" dirty="0">
                <a:latin typeface="Arial" panose="020B0604020202090204" pitchFamily="34" charset="0"/>
                <a:cs typeface="Arial" panose="020B0604020202090204" pitchFamily="34" charset="0"/>
              </a:rPr>
              <a:t>(Data Model)</a:t>
            </a:r>
            <a:endParaRPr lang="en-US" altLang="zh-CN" sz="3600" b="1" dirty="0">
              <a:latin typeface="Arial" panose="020B0604020202090204" pitchFamily="34" charset="0"/>
              <a:cs typeface="Arial" panose="020B0604020202090204" pitchFamily="34" charset="0"/>
            </a:endParaRPr>
          </a:p>
          <a:p>
            <a:pPr algn="just" eaLnBrk="1" hangingPunct="1">
              <a:lnSpc>
                <a:spcPct val="90000"/>
              </a:lnSpc>
              <a:buFont typeface="Wingdings" panose="05000000000000000000" pitchFamily="2" charset="2"/>
              <a:buNone/>
            </a:pPr>
            <a:r>
              <a:rPr lang="en-US" altLang="zh-CN" sz="3100" b="1" dirty="0">
                <a:latin typeface="Arial" panose="020B0604020202090204" pitchFamily="34" charset="0"/>
                <a:cs typeface="Arial" panose="020B0604020202090204" pitchFamily="34" charset="0"/>
              </a:rPr>
              <a:t>1.2.1  </a:t>
            </a:r>
            <a:r>
              <a:rPr lang="zh-CN" altLang="en-US" sz="3100" b="1" dirty="0">
                <a:ea typeface="黑体" panose="02010609060101010101" pitchFamily="49" charset="-122"/>
              </a:rPr>
              <a:t>概述</a:t>
            </a:r>
            <a:endParaRPr lang="zh-CN" altLang="en-US" sz="3100" b="1" dirty="0">
              <a:ea typeface="黑体" panose="02010609060101010101" pitchFamily="49" charset="-122"/>
            </a:endParaRPr>
          </a:p>
          <a:p>
            <a:pPr algn="just" eaLnBrk="1" hangingPunct="1">
              <a:lnSpc>
                <a:spcPct val="90000"/>
              </a:lnSpc>
              <a:buFont typeface="Wingdings" panose="05000000000000000000" pitchFamily="2" charset="2"/>
              <a:buNone/>
            </a:pPr>
            <a:r>
              <a:rPr lang="en-US" altLang="zh-CN" sz="3100" b="1" dirty="0">
                <a:latin typeface="Arial" panose="020B0604020202090204" pitchFamily="34" charset="0"/>
                <a:cs typeface="Arial" panose="020B0604020202090204" pitchFamily="34" charset="0"/>
              </a:rPr>
              <a:t>1. </a:t>
            </a:r>
            <a:r>
              <a:rPr lang="zh-CN" altLang="en-US" sz="3100" b="1" dirty="0">
                <a:latin typeface="Arial" panose="020B0604020202090204" pitchFamily="34" charset="0"/>
                <a:ea typeface="黑体" panose="02010609060101010101" pitchFamily="49" charset="-122"/>
              </a:rPr>
              <a:t>功能</a:t>
            </a:r>
            <a:endParaRPr lang="zh-CN" altLang="en-US" sz="3100" b="1" dirty="0">
              <a:latin typeface="Arial" panose="020B0604020202090204" pitchFamily="34" charset="0"/>
              <a:cs typeface="Arial" panose="020B0604020202090204" pitchFamily="34" charset="0"/>
            </a:endParaRPr>
          </a:p>
          <a:p>
            <a:pPr algn="just" eaLnBrk="1" hangingPunct="1">
              <a:lnSpc>
                <a:spcPct val="90000"/>
              </a:lnSpc>
              <a:buFont typeface="Wingdings" panose="05000000000000000000" pitchFamily="2" charset="2"/>
              <a:buNone/>
            </a:pPr>
            <a:r>
              <a:rPr lang="zh-CN" altLang="en-US" sz="3100" dirty="0">
                <a:latin typeface="Times New Roman" panose="02020503050405090304" pitchFamily="18" charset="0"/>
              </a:rPr>
              <a:t>现实世界的表示方法。</a:t>
            </a:r>
            <a:endParaRPr lang="zh-CN" altLang="en-US" sz="3100" dirty="0"/>
          </a:p>
          <a:p>
            <a:pPr algn="just" eaLnBrk="1" hangingPunct="1">
              <a:lnSpc>
                <a:spcPct val="90000"/>
              </a:lnSpc>
              <a:buFont typeface="Wingdings" panose="05000000000000000000" pitchFamily="2" charset="2"/>
              <a:buNone/>
            </a:pPr>
            <a:r>
              <a:rPr lang="zh-CN" altLang="en-US" sz="3100" dirty="0">
                <a:latin typeface="Times New Roman" panose="02020503050405090304" pitchFamily="18" charset="0"/>
              </a:rPr>
              <a:t>认识</a:t>
            </a:r>
            <a:r>
              <a:rPr lang="zh-CN" altLang="en-US" sz="3100" dirty="0">
                <a:latin typeface="Times New Roman" panose="02020503050405090304" pitchFamily="18" charset="0"/>
                <a:sym typeface="Symbol" pitchFamily="18" charset="2"/>
              </a:rPr>
              <a:t></a:t>
            </a:r>
            <a:r>
              <a:rPr lang="zh-CN" altLang="en-US" sz="3100" dirty="0">
                <a:latin typeface="Times New Roman" panose="02020503050405090304" pitchFamily="18" charset="0"/>
              </a:rPr>
              <a:t>表示</a:t>
            </a:r>
            <a:r>
              <a:rPr lang="zh-CN" altLang="en-US" sz="3100" dirty="0">
                <a:latin typeface="Times New Roman" panose="02020503050405090304" pitchFamily="18" charset="0"/>
                <a:sym typeface="Symbol" pitchFamily="18" charset="2"/>
              </a:rPr>
              <a:t></a:t>
            </a:r>
            <a:r>
              <a:rPr lang="zh-CN" altLang="en-US" sz="3100" dirty="0">
                <a:latin typeface="Times New Roman" panose="02020503050405090304" pitchFamily="18" charset="0"/>
              </a:rPr>
              <a:t>处理</a:t>
            </a:r>
            <a:endParaRPr lang="zh-CN" altLang="en-US" sz="3100" dirty="0">
              <a:latin typeface="Times New Roman" panose="02020503050405090304" pitchFamily="18" charset="0"/>
            </a:endParaRPr>
          </a:p>
          <a:p>
            <a:pPr algn="just" eaLnBrk="1" hangingPunct="1">
              <a:lnSpc>
                <a:spcPct val="90000"/>
              </a:lnSpc>
              <a:buFont typeface="Wingdings" panose="05000000000000000000" pitchFamily="2" charset="2"/>
              <a:buNone/>
            </a:pPr>
            <a:endParaRPr lang="zh-CN" altLang="en-US" sz="3100" dirty="0">
              <a:latin typeface="Times New Roman" panose="02020503050405090304" pitchFamily="18" charset="0"/>
            </a:endParaRPr>
          </a:p>
          <a:p>
            <a:pPr algn="just" eaLnBrk="1" hangingPunct="1">
              <a:lnSpc>
                <a:spcPct val="90000"/>
              </a:lnSpc>
              <a:buFont typeface="Wingdings" panose="05000000000000000000" pitchFamily="2" charset="2"/>
              <a:buNone/>
            </a:pPr>
            <a:r>
              <a:rPr lang="zh-CN" altLang="en-US" sz="3100" dirty="0">
                <a:latin typeface="Times New Roman" panose="02020503050405090304" pitchFamily="18" charset="0"/>
              </a:rPr>
              <a:t>模型是对现实世界</a:t>
            </a:r>
            <a:r>
              <a:rPr lang="zh-CN" altLang="en-US" sz="3100" dirty="0">
                <a:latin typeface="Times New Roman" panose="02020503050405090304" pitchFamily="18" charset="0"/>
                <a:ea typeface="黑体" panose="02010609060101010101" pitchFamily="49" charset="-122"/>
              </a:rPr>
              <a:t>特征</a:t>
            </a:r>
            <a:r>
              <a:rPr lang="zh-CN" altLang="en-US" sz="3100" dirty="0">
                <a:latin typeface="Times New Roman" panose="02020503050405090304" pitchFamily="18" charset="0"/>
              </a:rPr>
              <a:t>的模拟和抽象</a:t>
            </a:r>
            <a:endParaRPr lang="zh-CN" altLang="en-US" sz="3100" dirty="0">
              <a:latin typeface="Times New Roman" panose="02020503050405090304" pitchFamily="18" charset="0"/>
            </a:endParaRPr>
          </a:p>
        </p:txBody>
      </p:sp>
      <p:sp>
        <p:nvSpPr>
          <p:cNvPr id="7" name="灯片编号占位符 5"/>
          <p:cNvSpPr>
            <a:spLocks noGrp="1"/>
          </p:cNvSpPr>
          <p:nvPr>
            <p:ph type="sldNum" sz="quarter" idx="12"/>
          </p:nvPr>
        </p:nvSpPr>
        <p:spPr/>
        <p:txBody>
          <a:bodyPr>
            <a:normAutofit/>
          </a:bodyPr>
          <a:lstStyle/>
          <a:p>
            <a:pPr>
              <a:defRPr/>
            </a:pPr>
            <a:fld id="{40274958-C0D1-404B-BBC5-CEA609BC7E44}" type="slidenum">
              <a:rPr lang="en-US" altLang="zh-CN"/>
            </a:fld>
            <a:endParaRPr lang="en-US" altLang="zh-CN"/>
          </a:p>
        </p:txBody>
      </p:sp>
      <p:sp>
        <p:nvSpPr>
          <p:cNvPr id="69636" name="AutoShape 2"/>
          <p:cNvSpPr>
            <a:spLocks noChangeArrowheads="1"/>
          </p:cNvSpPr>
          <p:nvPr/>
        </p:nvSpPr>
        <p:spPr bwMode="auto">
          <a:xfrm>
            <a:off x="8101013" y="3786188"/>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sp>
        <p:nvSpPr>
          <p:cNvPr id="69637" name="AutoShape 3"/>
          <p:cNvSpPr>
            <a:spLocks noChangeArrowheads="1"/>
          </p:cNvSpPr>
          <p:nvPr/>
        </p:nvSpPr>
        <p:spPr bwMode="auto">
          <a:xfrm>
            <a:off x="8101013" y="2570163"/>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标题 1"/>
          <p:cNvSpPr>
            <a:spLocks noGrp="1"/>
          </p:cNvSpPr>
          <p:nvPr>
            <p:ph type="title"/>
          </p:nvPr>
        </p:nvSpPr>
        <p:spPr/>
        <p:txBody>
          <a:bodyPr/>
          <a:lstStyle/>
          <a:p>
            <a:endParaRPr lang="zh-CN" altLang="en-US"/>
          </a:p>
        </p:txBody>
      </p:sp>
      <p:pic>
        <p:nvPicPr>
          <p:cNvPr id="70659" name="内容占位符 4" descr="汽车模型.jpg"/>
          <p:cNvPicPr>
            <a:picLocks noGrp="1" noChangeAspect="1"/>
          </p:cNvPicPr>
          <p:nvPr>
            <p:ph idx="1"/>
          </p:nvPr>
        </p:nvPicPr>
        <p:blipFill>
          <a:blip r:embed="rId1" cstate="print"/>
          <a:srcRect/>
          <a:stretch>
            <a:fillRect/>
          </a:stretch>
        </p:blipFill>
        <p:spPr>
          <a:xfrm>
            <a:off x="323850" y="620713"/>
            <a:ext cx="3848100" cy="2879725"/>
          </a:xfrm>
        </p:spPr>
      </p:pic>
      <p:sp>
        <p:nvSpPr>
          <p:cNvPr id="4" name="灯片编号占位符 3"/>
          <p:cNvSpPr>
            <a:spLocks noGrp="1"/>
          </p:cNvSpPr>
          <p:nvPr>
            <p:ph type="sldNum" sz="quarter" idx="12"/>
          </p:nvPr>
        </p:nvSpPr>
        <p:spPr/>
        <p:txBody>
          <a:bodyPr/>
          <a:lstStyle/>
          <a:p>
            <a:pPr>
              <a:defRPr/>
            </a:pPr>
            <a:fld id="{97D8E6FF-8016-442A-9E73-B5143B285594}" type="slidenum">
              <a:rPr lang="en-US" altLang="zh-CN" smtClean="0"/>
            </a:fld>
            <a:endParaRPr lang="en-US" altLang="zh-CN"/>
          </a:p>
        </p:txBody>
      </p:sp>
      <p:pic>
        <p:nvPicPr>
          <p:cNvPr id="70661" name="图片 5" descr="人脸识别过程.jpg"/>
          <p:cNvPicPr>
            <a:picLocks noChangeAspect="1"/>
          </p:cNvPicPr>
          <p:nvPr/>
        </p:nvPicPr>
        <p:blipFill>
          <a:blip r:embed="rId2" cstate="print"/>
          <a:srcRect/>
          <a:stretch>
            <a:fillRect/>
          </a:stretch>
        </p:blipFill>
        <p:spPr bwMode="auto">
          <a:xfrm>
            <a:off x="3779838" y="404813"/>
            <a:ext cx="5057775" cy="2376487"/>
          </a:xfrm>
          <a:prstGeom prst="rect">
            <a:avLst/>
          </a:prstGeom>
          <a:noFill/>
          <a:ln w="9525">
            <a:noFill/>
            <a:miter lim="800000"/>
            <a:headEnd/>
            <a:tailEnd/>
          </a:ln>
        </p:spPr>
      </p:pic>
      <p:pic>
        <p:nvPicPr>
          <p:cNvPr id="70662" name="图片 6" descr="人脸识别示例.jpg"/>
          <p:cNvPicPr>
            <a:picLocks noChangeAspect="1"/>
          </p:cNvPicPr>
          <p:nvPr/>
        </p:nvPicPr>
        <p:blipFill>
          <a:blip r:embed="rId3" cstate="print"/>
          <a:srcRect/>
          <a:stretch>
            <a:fillRect/>
          </a:stretch>
        </p:blipFill>
        <p:spPr bwMode="auto">
          <a:xfrm>
            <a:off x="2700338" y="3284538"/>
            <a:ext cx="6024562" cy="2520950"/>
          </a:xfrm>
          <a:prstGeom prst="rect">
            <a:avLst/>
          </a:prstGeom>
          <a:noFill/>
          <a:ln w="9525">
            <a:noFill/>
            <a:miter lim="800000"/>
            <a:headEnd/>
            <a:tailEnd/>
          </a:ln>
        </p:spPr>
      </p:pic>
      <p:sp>
        <p:nvSpPr>
          <p:cNvPr id="70663" name="TextBox 7"/>
          <p:cNvSpPr txBox="1">
            <a:spLocks noChangeArrowheads="1"/>
          </p:cNvSpPr>
          <p:nvPr/>
        </p:nvSpPr>
        <p:spPr bwMode="auto">
          <a:xfrm>
            <a:off x="714375" y="3857625"/>
            <a:ext cx="1312863" cy="1446213"/>
          </a:xfrm>
          <a:prstGeom prst="rect">
            <a:avLst/>
          </a:prstGeom>
          <a:noFill/>
          <a:ln w="9525">
            <a:noFill/>
            <a:miter lim="800000"/>
          </a:ln>
        </p:spPr>
        <p:txBody>
          <a:bodyPr wrap="none">
            <a:spAutoFit/>
          </a:bodyPr>
          <a:lstStyle/>
          <a:p>
            <a:r>
              <a:rPr lang="zh-CN" altLang="en-US" sz="4400" i="1">
                <a:latin typeface="微软雅黑" panose="020B0503020204020204" pitchFamily="34" charset="-122"/>
                <a:ea typeface="微软雅黑" panose="020B0503020204020204" pitchFamily="34" charset="-122"/>
              </a:rPr>
              <a:t>数据</a:t>
            </a:r>
            <a:endParaRPr lang="en-US" altLang="zh-CN" sz="4400" i="1">
              <a:latin typeface="微软雅黑" panose="020B0503020204020204" pitchFamily="34" charset="-122"/>
              <a:ea typeface="微软雅黑" panose="020B0503020204020204" pitchFamily="34" charset="-122"/>
            </a:endParaRPr>
          </a:p>
          <a:p>
            <a:r>
              <a:rPr lang="zh-CN" altLang="en-US" sz="4400" i="1">
                <a:latin typeface="微软雅黑" panose="020B0503020204020204" pitchFamily="34" charset="-122"/>
                <a:ea typeface="微软雅黑" panose="020B0503020204020204" pitchFamily="34" charset="-122"/>
              </a:rPr>
              <a:t>特征</a:t>
            </a:r>
            <a:endParaRPr lang="zh-CN" altLang="en-US" sz="4400" i="1">
              <a:latin typeface="微软雅黑" panose="020B0503020204020204" pitchFamily="34" charset="-122"/>
              <a:ea typeface="微软雅黑" panose="020B0503020204020204" pitchFamily="34" charset="-122"/>
            </a:endParaRPr>
          </a:p>
        </p:txBody>
      </p:sp>
      <p:sp>
        <p:nvSpPr>
          <p:cNvPr id="2" name="圆角矩形标注 1"/>
          <p:cNvSpPr/>
          <p:nvPr/>
        </p:nvSpPr>
        <p:spPr>
          <a:xfrm>
            <a:off x="179512" y="5949279"/>
            <a:ext cx="6552728" cy="720081"/>
          </a:xfrm>
          <a:prstGeom prst="wedgeRoundRectCallout">
            <a:avLst>
              <a:gd name="adj1" fmla="val -21544"/>
              <a:gd name="adj2" fmla="val -131701"/>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东湖绿道的故事，张学友“逃犯克星”的故事</a:t>
            </a:r>
            <a:endParaRPr lang="zh-CN"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EBB05428-3C4E-449A-9153-6BDAE6F14A7B}" type="slidenum">
              <a:rPr lang="en-US" altLang="zh-CN" smtClean="0"/>
            </a:fld>
            <a:endParaRPr lang="en-US" altLang="zh-CN"/>
          </a:p>
        </p:txBody>
      </p:sp>
      <p:pic>
        <p:nvPicPr>
          <p:cNvPr id="6" name="图片 5" descr="三维地形仿真.jpg"/>
          <p:cNvPicPr>
            <a:picLocks noChangeAspect="1"/>
          </p:cNvPicPr>
          <p:nvPr/>
        </p:nvPicPr>
        <p:blipFill>
          <a:blip r:embed="rId1" cstate="print"/>
          <a:srcRect/>
          <a:stretch>
            <a:fillRect/>
          </a:stretch>
        </p:blipFill>
        <p:spPr bwMode="auto">
          <a:xfrm>
            <a:off x="683568" y="633413"/>
            <a:ext cx="5715000" cy="4295775"/>
          </a:xfrm>
          <a:prstGeom prst="rect">
            <a:avLst/>
          </a:prstGeom>
          <a:noFill/>
          <a:ln w="9525">
            <a:noFill/>
            <a:miter lim="800000"/>
            <a:headEnd/>
            <a:tailEnd/>
          </a:ln>
        </p:spPr>
      </p:pic>
      <p:sp>
        <p:nvSpPr>
          <p:cNvPr id="71685" name="TextBox 6"/>
          <p:cNvSpPr txBox="1">
            <a:spLocks noChangeArrowheads="1"/>
          </p:cNvSpPr>
          <p:nvPr/>
        </p:nvSpPr>
        <p:spPr bwMode="auto">
          <a:xfrm>
            <a:off x="683568" y="5157192"/>
            <a:ext cx="4864025" cy="769441"/>
          </a:xfrm>
          <a:prstGeom prst="rect">
            <a:avLst/>
          </a:prstGeom>
          <a:noFill/>
          <a:ln w="9525">
            <a:noFill/>
            <a:miter lim="800000"/>
          </a:ln>
        </p:spPr>
        <p:txBody>
          <a:bodyPr wrap="square">
            <a:spAutoFit/>
          </a:bodyPr>
          <a:lstStyle/>
          <a:p>
            <a:r>
              <a:rPr lang="zh-CN" altLang="en-US" sz="4400" i="1" dirty="0">
                <a:latin typeface="微软雅黑" panose="020B0503020204020204" pitchFamily="34" charset="-122"/>
                <a:ea typeface="微软雅黑" panose="020B0503020204020204" pitchFamily="34" charset="-122"/>
              </a:rPr>
              <a:t>抓主要特征</a:t>
            </a:r>
            <a:endParaRPr lang="zh-CN" altLang="en-US" sz="4400" i="1"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p:cNvSpPr>
            <a:spLocks noGrp="1"/>
          </p:cNvSpPr>
          <p:nvPr>
            <p:ph type="title"/>
          </p:nvPr>
        </p:nvSpPr>
        <p:spPr/>
        <p:txBody>
          <a:bodyPr/>
          <a:lstStyle/>
          <a:p>
            <a:endParaRPr lang="zh-CN" altLang="en-US"/>
          </a:p>
        </p:txBody>
      </p:sp>
      <p:pic>
        <p:nvPicPr>
          <p:cNvPr id="72707" name="内容占位符 4" descr="逃生仿真模型.jpg"/>
          <p:cNvPicPr>
            <a:picLocks noGrp="1" noChangeAspect="1"/>
          </p:cNvPicPr>
          <p:nvPr>
            <p:ph idx="1"/>
          </p:nvPr>
        </p:nvPicPr>
        <p:blipFill>
          <a:blip r:embed="rId1" cstate="print"/>
          <a:srcRect/>
          <a:stretch>
            <a:fillRect/>
          </a:stretch>
        </p:blipFill>
        <p:spPr>
          <a:xfrm>
            <a:off x="395288" y="500063"/>
            <a:ext cx="8280400" cy="5627687"/>
          </a:xfrm>
        </p:spPr>
      </p:pic>
      <p:sp>
        <p:nvSpPr>
          <p:cNvPr id="4" name="灯片编号占位符 3"/>
          <p:cNvSpPr>
            <a:spLocks noGrp="1"/>
          </p:cNvSpPr>
          <p:nvPr>
            <p:ph type="sldNum" sz="quarter" idx="12"/>
          </p:nvPr>
        </p:nvSpPr>
        <p:spPr/>
        <p:txBody>
          <a:bodyPr/>
          <a:lstStyle/>
          <a:p>
            <a:pPr>
              <a:defRPr/>
            </a:pPr>
            <a:fld id="{B1784F86-B8EA-479C-8CDB-43AC3F5406AA}" type="slidenum">
              <a:rPr lang="en-US" altLang="zh-CN" smtClean="0"/>
            </a:fld>
            <a:endParaRPr lang="en-US" altLang="zh-CN"/>
          </a:p>
        </p:txBody>
      </p:sp>
      <p:sp>
        <p:nvSpPr>
          <p:cNvPr id="72709" name="TextBox 5"/>
          <p:cNvSpPr txBox="1">
            <a:spLocks noChangeArrowheads="1"/>
          </p:cNvSpPr>
          <p:nvPr/>
        </p:nvSpPr>
        <p:spPr bwMode="auto">
          <a:xfrm>
            <a:off x="1000125" y="6215063"/>
            <a:ext cx="3416300" cy="523875"/>
          </a:xfrm>
          <a:prstGeom prst="rect">
            <a:avLst/>
          </a:prstGeom>
          <a:noFill/>
          <a:ln w="9525">
            <a:noFill/>
            <a:miter lim="800000"/>
          </a:ln>
        </p:spPr>
        <p:txBody>
          <a:bodyPr wrap="none">
            <a:spAutoFit/>
          </a:bodyPr>
          <a:lstStyle/>
          <a:p>
            <a:r>
              <a:rPr lang="zh-CN" altLang="en-US" sz="2800" i="1" dirty="0">
                <a:latin typeface="微软雅黑" panose="020B0503020204020204" pitchFamily="34" charset="-122"/>
                <a:ea typeface="微软雅黑" panose="020B0503020204020204" pitchFamily="34" charset="-122"/>
              </a:rPr>
              <a:t>静态特征和动态特征</a:t>
            </a:r>
            <a:endParaRPr lang="zh-CN" altLang="en-US" sz="2800" i="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1"/>
          <p:cNvSpPr>
            <a:spLocks noGrp="1"/>
          </p:cNvSpPr>
          <p:nvPr>
            <p:ph type="title"/>
          </p:nvPr>
        </p:nvSpPr>
        <p:spPr>
          <a:xfrm>
            <a:off x="395288" y="692150"/>
            <a:ext cx="8507412" cy="927100"/>
          </a:xfrm>
        </p:spPr>
        <p:txBody>
          <a:bodyPr/>
          <a:lstStyle/>
          <a:p>
            <a:r>
              <a:rPr lang="zh-CN" altLang="en-US"/>
              <a:t>特征往往伴随相应的分析方法</a:t>
            </a:r>
            <a:endParaRPr lang="zh-CN" altLang="en-US"/>
          </a:p>
        </p:txBody>
      </p:sp>
      <p:pic>
        <p:nvPicPr>
          <p:cNvPr id="73731" name="内容占位符 4" descr="力学模型十字交叉法.gif"/>
          <p:cNvPicPr>
            <a:picLocks noGrp="1" noChangeAspect="1"/>
          </p:cNvPicPr>
          <p:nvPr>
            <p:ph idx="1"/>
          </p:nvPr>
        </p:nvPicPr>
        <p:blipFill>
          <a:blip r:embed="rId1" cstate="print"/>
          <a:srcRect/>
          <a:stretch>
            <a:fillRect/>
          </a:stretch>
        </p:blipFill>
        <p:spPr>
          <a:xfrm>
            <a:off x="1042988" y="1916113"/>
            <a:ext cx="6999287" cy="2665412"/>
          </a:xfrm>
        </p:spPr>
      </p:pic>
      <p:sp>
        <p:nvSpPr>
          <p:cNvPr id="4" name="灯片编号占位符 3"/>
          <p:cNvSpPr>
            <a:spLocks noGrp="1"/>
          </p:cNvSpPr>
          <p:nvPr>
            <p:ph type="sldNum" sz="quarter" idx="12"/>
          </p:nvPr>
        </p:nvSpPr>
        <p:spPr/>
        <p:txBody>
          <a:bodyPr/>
          <a:lstStyle/>
          <a:p>
            <a:pPr>
              <a:defRPr/>
            </a:pPr>
            <a:fld id="{AB361525-74F4-4BED-9888-48011670BF19}" type="slidenum">
              <a:rPr lang="en-US" altLang="zh-CN" smtClean="0"/>
            </a:fld>
            <a:endParaRPr lang="en-US" altLang="zh-CN"/>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标题 1"/>
          <p:cNvSpPr>
            <a:spLocks noGrp="1"/>
          </p:cNvSpPr>
          <p:nvPr>
            <p:ph type="title"/>
          </p:nvPr>
        </p:nvSpPr>
        <p:spPr>
          <a:xfrm>
            <a:off x="479430" y="836712"/>
            <a:ext cx="8413049" cy="1440160"/>
          </a:xfrm>
        </p:spPr>
        <p:txBody>
          <a:bodyPr/>
          <a:lstStyle/>
          <a:p>
            <a:r>
              <a:rPr lang="zh-CN" altLang="en-US" dirty="0"/>
              <a:t>模型对问题抽象，描述特征，设计方法</a:t>
            </a:r>
            <a:endParaRPr lang="zh-CN" altLang="en-US" dirty="0"/>
          </a:p>
        </p:txBody>
      </p:sp>
      <p:sp>
        <p:nvSpPr>
          <p:cNvPr id="74755" name="内容占位符 2"/>
          <p:cNvSpPr>
            <a:spLocks noGrp="1"/>
          </p:cNvSpPr>
          <p:nvPr>
            <p:ph idx="1"/>
          </p:nvPr>
        </p:nvSpPr>
        <p:spPr>
          <a:xfrm>
            <a:off x="457200" y="2420887"/>
            <a:ext cx="8229600" cy="4300587"/>
          </a:xfrm>
        </p:spPr>
        <p:txBody>
          <a:bodyPr/>
          <a:lstStyle/>
          <a:p>
            <a:pPr algn="just" eaLnBrk="1" hangingPunct="1">
              <a:lnSpc>
                <a:spcPct val="90000"/>
              </a:lnSpc>
              <a:buFont typeface="Wingdings" panose="05000000000000000000" pitchFamily="2" charset="2"/>
              <a:buNone/>
            </a:pPr>
            <a:r>
              <a:rPr lang="zh-CN" altLang="en-US" sz="2800" dirty="0">
                <a:latin typeface="Times New Roman" panose="02020503050405090304" pitchFamily="18" charset="0"/>
              </a:rPr>
              <a:t>汽车模型、航模、</a:t>
            </a:r>
            <a:endParaRPr lang="en-US" altLang="zh-CN" sz="2800" dirty="0">
              <a:latin typeface="Times New Roman" panose="02020503050405090304" pitchFamily="18" charset="0"/>
            </a:endParaRPr>
          </a:p>
          <a:p>
            <a:pPr algn="just" eaLnBrk="1" hangingPunct="1">
              <a:lnSpc>
                <a:spcPct val="90000"/>
              </a:lnSpc>
              <a:buFont typeface="Wingdings" panose="05000000000000000000" pitchFamily="2" charset="2"/>
              <a:buNone/>
            </a:pPr>
            <a:r>
              <a:rPr lang="zh-CN" altLang="en-US" sz="2800" dirty="0">
                <a:latin typeface="Times New Roman" panose="02020503050405090304" pitchFamily="18" charset="0"/>
              </a:rPr>
              <a:t>人脸五官、</a:t>
            </a:r>
            <a:endParaRPr lang="en-US" altLang="zh-CN" sz="2800" dirty="0">
              <a:latin typeface="Times New Roman" panose="02020503050405090304" pitchFamily="18" charset="0"/>
            </a:endParaRPr>
          </a:p>
          <a:p>
            <a:pPr algn="just" eaLnBrk="1" hangingPunct="1">
              <a:lnSpc>
                <a:spcPct val="90000"/>
              </a:lnSpc>
              <a:buFont typeface="Wingdings" panose="05000000000000000000" pitchFamily="2" charset="2"/>
              <a:buNone/>
            </a:pPr>
            <a:r>
              <a:rPr lang="zh-CN" altLang="en-US" sz="2800" dirty="0">
                <a:latin typeface="Times New Roman" panose="02020503050405090304" pitchFamily="18" charset="0"/>
              </a:rPr>
              <a:t>环境模拟、虚拟现实</a:t>
            </a:r>
            <a:endParaRPr lang="en-US" altLang="zh-CN" sz="2800" dirty="0">
              <a:latin typeface="Times New Roman" panose="02020503050405090304" pitchFamily="18" charset="0"/>
            </a:endParaRPr>
          </a:p>
          <a:p>
            <a:pPr algn="just" eaLnBrk="1" hangingPunct="1">
              <a:lnSpc>
                <a:spcPct val="90000"/>
              </a:lnSpc>
              <a:buFont typeface="Wingdings" panose="05000000000000000000" pitchFamily="2" charset="2"/>
              <a:buNone/>
            </a:pPr>
            <a:r>
              <a:rPr lang="zh-CN" altLang="en-US" sz="2800" dirty="0">
                <a:latin typeface="Times New Roman" panose="02020503050405090304" pitchFamily="18" charset="0"/>
              </a:rPr>
              <a:t>。。。</a:t>
            </a:r>
            <a:endParaRPr lang="zh-CN" altLang="en-US" sz="2800" dirty="0">
              <a:latin typeface="Times New Roman" panose="02020503050405090304" pitchFamily="18" charset="0"/>
            </a:endParaRPr>
          </a:p>
          <a:p>
            <a:pPr algn="just" eaLnBrk="1" hangingPunct="1">
              <a:lnSpc>
                <a:spcPct val="90000"/>
              </a:lnSpc>
              <a:buFont typeface="Wingdings" panose="05000000000000000000" pitchFamily="2" charset="2"/>
              <a:buNone/>
            </a:pPr>
            <a:endParaRPr lang="zh-CN" altLang="en-US" sz="2800" dirty="0">
              <a:latin typeface="Times New Roman" panose="02020503050405090304" pitchFamily="18" charset="0"/>
            </a:endParaRPr>
          </a:p>
          <a:p>
            <a:pPr algn="just" eaLnBrk="1" hangingPunct="1">
              <a:lnSpc>
                <a:spcPct val="90000"/>
              </a:lnSpc>
              <a:buFont typeface="Wingdings" panose="05000000000000000000" pitchFamily="2" charset="2"/>
              <a:buNone/>
            </a:pPr>
            <a:r>
              <a:rPr lang="zh-CN" altLang="en-US" sz="2800" dirty="0">
                <a:latin typeface="Times New Roman" panose="02020503050405090304" pitchFamily="18" charset="0"/>
              </a:rPr>
              <a:t>物理学模型、数学模型（例如</a:t>
            </a:r>
            <a:r>
              <a:rPr lang="en-US" altLang="zh-CN" sz="2800" dirty="0">
                <a:latin typeface="Times New Roman" panose="02020503050405090304" pitchFamily="18" charset="0"/>
              </a:rPr>
              <a:t>SVM</a:t>
            </a:r>
            <a:r>
              <a:rPr lang="zh-CN" altLang="en-US" sz="2800" dirty="0">
                <a:latin typeface="Times New Roman" panose="02020503050405090304" pitchFamily="18" charset="0"/>
              </a:rPr>
              <a:t>）</a:t>
            </a:r>
            <a:endParaRPr lang="en-US" altLang="zh-CN" sz="2800" dirty="0">
              <a:latin typeface="Times New Roman" panose="02020503050405090304" pitchFamily="18" charset="0"/>
            </a:endParaRPr>
          </a:p>
          <a:p>
            <a:pPr algn="just" eaLnBrk="1" hangingPunct="1">
              <a:lnSpc>
                <a:spcPct val="90000"/>
              </a:lnSpc>
              <a:buFont typeface="Wingdings" panose="05000000000000000000" pitchFamily="2" charset="2"/>
              <a:buNone/>
            </a:pPr>
            <a:endParaRPr lang="en-US" altLang="zh-CN" sz="2800" dirty="0">
              <a:latin typeface="Times New Roman" panose="02020503050405090304" pitchFamily="18" charset="0"/>
            </a:endParaRPr>
          </a:p>
          <a:p>
            <a:pPr algn="just" eaLnBrk="1" hangingPunct="1">
              <a:lnSpc>
                <a:spcPct val="90000"/>
              </a:lnSpc>
              <a:buFont typeface="Wingdings" panose="05000000000000000000" pitchFamily="2" charset="2"/>
              <a:buNone/>
            </a:pPr>
            <a:r>
              <a:rPr lang="zh-CN" altLang="en-US" sz="2800" dirty="0">
                <a:solidFill>
                  <a:srgbClr val="FF0000"/>
                </a:solidFill>
                <a:latin typeface="Times New Roman" panose="02020503050405090304" pitchFamily="18" charset="0"/>
              </a:rPr>
              <a:t>数据模型（</a:t>
            </a:r>
            <a:r>
              <a:rPr lang="en-US" altLang="zh-CN" sz="2800" dirty="0">
                <a:solidFill>
                  <a:srgbClr val="FF0000"/>
                </a:solidFill>
                <a:latin typeface="Times New Roman" panose="02020503050405090304" pitchFamily="18" charset="0"/>
              </a:rPr>
              <a:t>——</a:t>
            </a:r>
            <a:r>
              <a:rPr lang="zh-CN" altLang="en-US" sz="2800" dirty="0">
                <a:solidFill>
                  <a:srgbClr val="FF0000"/>
                </a:solidFill>
                <a:latin typeface="Times New Roman" panose="02020503050405090304" pitchFamily="18" charset="0"/>
              </a:rPr>
              <a:t>数学方法）</a:t>
            </a:r>
            <a:endParaRPr lang="zh-CN" altLang="en-US" sz="2800" dirty="0">
              <a:solidFill>
                <a:srgbClr val="FF0000"/>
              </a:solidFill>
            </a:endParaRPr>
          </a:p>
        </p:txBody>
      </p:sp>
      <p:sp>
        <p:nvSpPr>
          <p:cNvPr id="4" name="灯片编号占位符 3"/>
          <p:cNvSpPr>
            <a:spLocks noGrp="1"/>
          </p:cNvSpPr>
          <p:nvPr>
            <p:ph type="sldNum" sz="quarter" idx="12"/>
          </p:nvPr>
        </p:nvSpPr>
        <p:spPr/>
        <p:txBody>
          <a:bodyPr/>
          <a:lstStyle/>
          <a:p>
            <a:pPr>
              <a:defRPr/>
            </a:pPr>
            <a:fld id="{39C7714B-538B-48CF-B02E-9A0E506468DD}" type="slidenum">
              <a:rPr lang="en-US" altLang="zh-CN" smtClean="0"/>
            </a:fld>
            <a:endParaRPr lang="en-US" altLang="zh-CN"/>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3"/>
          <p:cNvSpPr>
            <a:spLocks noGrp="1" noChangeArrowheads="1"/>
          </p:cNvSpPr>
          <p:nvPr>
            <p:ph idx="1"/>
          </p:nvPr>
        </p:nvSpPr>
        <p:spPr>
          <a:xfrm>
            <a:off x="395288" y="815975"/>
            <a:ext cx="8110537" cy="5256213"/>
          </a:xfrm>
        </p:spPr>
        <p:txBody>
          <a:bodyPr/>
          <a:lstStyle/>
          <a:p>
            <a:pPr marL="0" indent="0" algn="just" eaLnBrk="1" hangingPunct="1">
              <a:lnSpc>
                <a:spcPct val="90000"/>
              </a:lnSpc>
              <a:buFont typeface="Wingdings" panose="05000000000000000000" pitchFamily="2" charset="2"/>
              <a:buNone/>
            </a:pPr>
            <a:r>
              <a:rPr lang="en-US" altLang="zh-CN" sz="3600" b="1" dirty="0">
                <a:latin typeface="宋体" pitchFamily="2" charset="-122"/>
                <a:cs typeface="Arial" panose="020B0604020202090204" pitchFamily="34" charset="0"/>
              </a:rPr>
              <a:t>1.2  </a:t>
            </a:r>
            <a:r>
              <a:rPr lang="zh-CN" altLang="en-US" sz="3600" b="1" dirty="0">
                <a:latin typeface="宋体" pitchFamily="2" charset="-122"/>
              </a:rPr>
              <a:t>数据模型</a:t>
            </a:r>
            <a:r>
              <a:rPr lang="en-US" altLang="zh-CN" sz="3600" b="1" dirty="0">
                <a:latin typeface="宋体" pitchFamily="2" charset="-122"/>
                <a:cs typeface="Arial" panose="020B0604020202090204" pitchFamily="34" charset="0"/>
              </a:rPr>
              <a:t>(Data Model)</a:t>
            </a:r>
            <a:endParaRPr lang="en-US" altLang="zh-CN" sz="3600" b="1" dirty="0">
              <a:latin typeface="宋体" pitchFamily="2" charset="-122"/>
              <a:cs typeface="Arial" panose="020B0604020202090204" pitchFamily="34" charset="0"/>
            </a:endParaRPr>
          </a:p>
          <a:p>
            <a:pPr marL="0" indent="0" algn="just" eaLnBrk="1" hangingPunct="1">
              <a:lnSpc>
                <a:spcPct val="90000"/>
              </a:lnSpc>
              <a:buFont typeface="Wingdings" panose="05000000000000000000" pitchFamily="2" charset="2"/>
              <a:buNone/>
            </a:pPr>
            <a:r>
              <a:rPr lang="en-US" altLang="zh-CN" sz="3100" b="1" dirty="0">
                <a:latin typeface="宋体" pitchFamily="2" charset="-122"/>
              </a:rPr>
              <a:t>1.2.1  </a:t>
            </a:r>
            <a:r>
              <a:rPr lang="zh-CN" altLang="en-US" sz="3100" b="1" dirty="0">
                <a:latin typeface="宋体" pitchFamily="2" charset="-122"/>
              </a:rPr>
              <a:t>概述</a:t>
            </a:r>
            <a:endParaRPr lang="zh-CN" altLang="en-US" sz="3100" b="1" dirty="0">
              <a:latin typeface="宋体" pitchFamily="2" charset="-122"/>
            </a:endParaRPr>
          </a:p>
          <a:p>
            <a:pPr marL="0" indent="0" algn="just" eaLnBrk="1" hangingPunct="1">
              <a:lnSpc>
                <a:spcPct val="90000"/>
              </a:lnSpc>
              <a:buFont typeface="Wingdings" panose="05000000000000000000" pitchFamily="2" charset="2"/>
              <a:buNone/>
            </a:pPr>
            <a:r>
              <a:rPr lang="en-US" altLang="zh-CN" sz="3100" b="1" dirty="0">
                <a:latin typeface="宋体" pitchFamily="2" charset="-122"/>
                <a:cs typeface="Arial" panose="020B0604020202090204" pitchFamily="34" charset="0"/>
              </a:rPr>
              <a:t>2. </a:t>
            </a:r>
            <a:r>
              <a:rPr lang="zh-CN" altLang="en-US" sz="3100" b="1" dirty="0">
                <a:latin typeface="宋体" pitchFamily="2" charset="-122"/>
              </a:rPr>
              <a:t>概念</a:t>
            </a:r>
            <a:endParaRPr lang="zh-CN" altLang="en-US" sz="3100" b="1" dirty="0">
              <a:latin typeface="宋体" pitchFamily="2" charset="-122"/>
              <a:cs typeface="Arial" panose="020B0604020202090204" pitchFamily="34" charset="0"/>
            </a:endParaRPr>
          </a:p>
          <a:p>
            <a:pPr marL="0" indent="0" algn="just" eaLnBrk="1" hangingPunct="1">
              <a:lnSpc>
                <a:spcPct val="90000"/>
              </a:lnSpc>
              <a:buFont typeface="Wingdings" panose="05000000000000000000" pitchFamily="2" charset="2"/>
              <a:buNone/>
            </a:pPr>
            <a:r>
              <a:rPr lang="zh-CN" altLang="en-US" sz="3100" dirty="0">
                <a:latin typeface="宋体" pitchFamily="2" charset="-122"/>
              </a:rPr>
              <a:t>数据及数据间联系的表示形式</a:t>
            </a:r>
            <a:r>
              <a:rPr lang="en-US" altLang="zh-CN" sz="3100" dirty="0">
                <a:latin typeface="宋体" pitchFamily="2" charset="-122"/>
              </a:rPr>
              <a:t>(</a:t>
            </a:r>
            <a:r>
              <a:rPr lang="zh-CN" altLang="en-US" sz="3100" dirty="0">
                <a:latin typeface="宋体" pitchFamily="2" charset="-122"/>
              </a:rPr>
              <a:t>现实世界的模拟</a:t>
            </a:r>
            <a:r>
              <a:rPr lang="en-US" altLang="zh-CN" sz="3100" dirty="0">
                <a:latin typeface="宋体" pitchFamily="2" charset="-122"/>
              </a:rPr>
              <a:t>)</a:t>
            </a:r>
            <a:endParaRPr lang="en-US" altLang="zh-CN" sz="3100" dirty="0">
              <a:latin typeface="宋体" pitchFamily="2" charset="-122"/>
            </a:endParaRPr>
          </a:p>
          <a:p>
            <a:pPr marL="0" indent="0" algn="just" eaLnBrk="1" hangingPunct="1">
              <a:lnSpc>
                <a:spcPct val="90000"/>
              </a:lnSpc>
              <a:buFont typeface="Wingdings" panose="05000000000000000000" pitchFamily="2" charset="2"/>
              <a:buNone/>
            </a:pPr>
            <a:r>
              <a:rPr lang="zh-CN" altLang="en-US" sz="3100" dirty="0">
                <a:solidFill>
                  <a:srgbClr val="0000FF"/>
                </a:solidFill>
                <a:latin typeface="宋体" pitchFamily="2" charset="-122"/>
              </a:rPr>
              <a:t>数据模型分为概念模型、逻辑模型和物理模型</a:t>
            </a:r>
            <a:endParaRPr lang="zh-CN" altLang="en-US" sz="3100" dirty="0">
              <a:solidFill>
                <a:srgbClr val="0000FF"/>
              </a:solidFill>
              <a:latin typeface="宋体" pitchFamily="2" charset="-122"/>
            </a:endParaRPr>
          </a:p>
          <a:p>
            <a:pPr marL="0" indent="0" algn="just" eaLnBrk="1" hangingPunct="1">
              <a:lnSpc>
                <a:spcPct val="90000"/>
              </a:lnSpc>
              <a:buFont typeface="Wingdings" panose="05000000000000000000" pitchFamily="2" charset="2"/>
              <a:buNone/>
            </a:pPr>
            <a:r>
              <a:rPr lang="en-US" altLang="zh-CN" sz="3100" b="1" dirty="0">
                <a:latin typeface="宋体" pitchFamily="2" charset="-122"/>
                <a:cs typeface="Arial" panose="020B0604020202090204" pitchFamily="34" charset="0"/>
              </a:rPr>
              <a:t>3. </a:t>
            </a:r>
            <a:r>
              <a:rPr lang="zh-CN" altLang="en-US" sz="3100" b="1" dirty="0">
                <a:latin typeface="宋体" pitchFamily="2" charset="-122"/>
              </a:rPr>
              <a:t>要求</a:t>
            </a:r>
            <a:endParaRPr lang="zh-CN" altLang="en-US" sz="3100" b="1" dirty="0">
              <a:latin typeface="宋体" pitchFamily="2" charset="-122"/>
              <a:cs typeface="Arial" panose="020B0604020202090204" pitchFamily="34" charset="0"/>
            </a:endParaRPr>
          </a:p>
          <a:p>
            <a:pPr marL="0" indent="0" algn="just" eaLnBrk="1" hangingPunct="1">
              <a:lnSpc>
                <a:spcPct val="90000"/>
              </a:lnSpc>
              <a:buFont typeface="Wingdings" panose="05000000000000000000" pitchFamily="2" charset="2"/>
              <a:buNone/>
            </a:pPr>
            <a:r>
              <a:rPr lang="en-US" altLang="zh-CN" sz="3100" dirty="0">
                <a:latin typeface="宋体" pitchFamily="2" charset="-122"/>
              </a:rPr>
              <a:t>1</a:t>
            </a:r>
            <a:r>
              <a:rPr lang="zh-CN" altLang="en-US" sz="3100" dirty="0">
                <a:latin typeface="宋体" pitchFamily="2" charset="-122"/>
              </a:rPr>
              <a:t>）较真实地表示现实世界；</a:t>
            </a:r>
            <a:endParaRPr lang="zh-CN" altLang="en-US" sz="3100" dirty="0">
              <a:latin typeface="宋体" pitchFamily="2" charset="-122"/>
            </a:endParaRPr>
          </a:p>
          <a:p>
            <a:pPr marL="0" indent="0" algn="just" eaLnBrk="1" hangingPunct="1">
              <a:lnSpc>
                <a:spcPct val="90000"/>
              </a:lnSpc>
              <a:buFont typeface="Wingdings" panose="05000000000000000000" pitchFamily="2" charset="2"/>
              <a:buNone/>
            </a:pPr>
            <a:r>
              <a:rPr lang="en-US" altLang="zh-CN" sz="3100" dirty="0">
                <a:latin typeface="宋体" pitchFamily="2" charset="-122"/>
              </a:rPr>
              <a:t>2</a:t>
            </a:r>
            <a:r>
              <a:rPr lang="zh-CN" altLang="en-US" sz="3100" dirty="0">
                <a:latin typeface="宋体" pitchFamily="2" charset="-122"/>
              </a:rPr>
              <a:t>）易于理解；</a:t>
            </a:r>
            <a:endParaRPr lang="zh-CN" altLang="en-US" sz="3100" dirty="0">
              <a:latin typeface="宋体" pitchFamily="2" charset="-122"/>
            </a:endParaRPr>
          </a:p>
          <a:p>
            <a:pPr marL="0" indent="0" algn="just" eaLnBrk="1" hangingPunct="1">
              <a:lnSpc>
                <a:spcPct val="90000"/>
              </a:lnSpc>
              <a:buFont typeface="Wingdings" panose="05000000000000000000" pitchFamily="2" charset="2"/>
              <a:buNone/>
            </a:pPr>
            <a:r>
              <a:rPr lang="en-US" altLang="zh-CN" sz="3100" dirty="0">
                <a:latin typeface="宋体" pitchFamily="2" charset="-122"/>
              </a:rPr>
              <a:t>3</a:t>
            </a:r>
            <a:r>
              <a:rPr lang="zh-CN" altLang="en-US" sz="3100" dirty="0">
                <a:latin typeface="宋体" pitchFamily="2" charset="-122"/>
              </a:rPr>
              <a:t>）易于实现。</a:t>
            </a:r>
            <a:endParaRPr lang="zh-CN" altLang="en-US" sz="2800" dirty="0">
              <a:latin typeface="宋体" pitchFamily="2" charset="-122"/>
            </a:endParaRPr>
          </a:p>
        </p:txBody>
      </p:sp>
      <p:sp>
        <p:nvSpPr>
          <p:cNvPr id="5" name="灯片编号占位符 5"/>
          <p:cNvSpPr>
            <a:spLocks noGrp="1"/>
          </p:cNvSpPr>
          <p:nvPr>
            <p:ph type="sldNum" sz="quarter" idx="12"/>
          </p:nvPr>
        </p:nvSpPr>
        <p:spPr/>
        <p:txBody>
          <a:bodyPr>
            <a:normAutofit/>
          </a:bodyPr>
          <a:lstStyle/>
          <a:p>
            <a:pPr>
              <a:defRPr/>
            </a:pPr>
            <a:fld id="{1341C7D4-6491-4EFB-B2EB-4D81DD7C26C4}" type="slidenum">
              <a:rPr lang="en-US" altLang="zh-CN"/>
            </a:fld>
            <a:endParaRPr lang="en-US" altLang="zh-CN"/>
          </a:p>
        </p:txBody>
      </p:sp>
      <p:sp>
        <p:nvSpPr>
          <p:cNvPr id="3" name="圆角矩形标注 2"/>
          <p:cNvSpPr/>
          <p:nvPr/>
        </p:nvSpPr>
        <p:spPr>
          <a:xfrm>
            <a:off x="6084168" y="4725144"/>
            <a:ext cx="1840632" cy="1152128"/>
          </a:xfrm>
          <a:prstGeom prst="wedgeRoundRectCallout">
            <a:avLst>
              <a:gd name="adj1" fmla="val 33915"/>
              <a:gd name="adj2" fmla="val -12619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数据在系统内部的表示和存取方法</a:t>
            </a:r>
            <a:endParaRPr lang="zh-CN" altLang="en-US" dirty="0"/>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3"/>
          <p:cNvSpPr>
            <a:spLocks noGrp="1" noChangeArrowheads="1"/>
          </p:cNvSpPr>
          <p:nvPr>
            <p:ph idx="1"/>
          </p:nvPr>
        </p:nvSpPr>
        <p:spPr>
          <a:xfrm>
            <a:off x="609600" y="428625"/>
            <a:ext cx="8110538" cy="4191000"/>
          </a:xfrm>
        </p:spPr>
        <p:txBody>
          <a:bodyPr/>
          <a:lstStyle/>
          <a:p>
            <a:pPr algn="just" eaLnBrk="1" hangingPunct="1">
              <a:buFont typeface="Wingdings" panose="05000000000000000000" pitchFamily="2" charset="2"/>
              <a:buNone/>
            </a:pPr>
            <a:r>
              <a:rPr lang="en-US" altLang="zh-CN" sz="3000" b="1" dirty="0">
                <a:latin typeface="宋体" pitchFamily="2" charset="-122"/>
                <a:cs typeface="Arial" panose="020B0604020202090204" pitchFamily="34" charset="0"/>
              </a:rPr>
              <a:t>4.</a:t>
            </a:r>
            <a:r>
              <a:rPr lang="zh-CN" altLang="en-US" sz="3000" b="1" dirty="0">
                <a:latin typeface="宋体" pitchFamily="2" charset="-122"/>
                <a:cs typeface="Arial" panose="020B0604020202090204" pitchFamily="34" charset="0"/>
              </a:rPr>
              <a:t>数据模型的</a:t>
            </a:r>
            <a:r>
              <a:rPr lang="zh-CN" altLang="en-US" sz="3000" b="1" dirty="0">
                <a:latin typeface="宋体" pitchFamily="2" charset="-122"/>
              </a:rPr>
              <a:t>构成要素（三要素）</a:t>
            </a:r>
            <a:endParaRPr lang="zh-CN" altLang="en-US" sz="3000" b="1" dirty="0">
              <a:latin typeface="宋体" pitchFamily="2" charset="-122"/>
              <a:cs typeface="Arial" panose="020B0604020202090204" pitchFamily="34" charset="0"/>
            </a:endParaRPr>
          </a:p>
          <a:p>
            <a:pPr algn="just" eaLnBrk="1" hangingPunct="1">
              <a:buFont typeface="Wingdings" panose="05000000000000000000" pitchFamily="2" charset="2"/>
              <a:buNone/>
            </a:pPr>
            <a:r>
              <a:rPr lang="en-US" altLang="zh-CN" sz="2400" dirty="0">
                <a:solidFill>
                  <a:srgbClr val="FF0000"/>
                </a:solidFill>
                <a:latin typeface="宋体" pitchFamily="2" charset="-122"/>
              </a:rPr>
              <a:t>1</a:t>
            </a:r>
            <a:r>
              <a:rPr lang="zh-CN" altLang="en-US" sz="2400" dirty="0">
                <a:solidFill>
                  <a:srgbClr val="FF0000"/>
                </a:solidFill>
                <a:latin typeface="宋体" pitchFamily="2" charset="-122"/>
              </a:rPr>
              <a:t>）数据结构</a:t>
            </a:r>
            <a:endParaRPr lang="zh-CN" altLang="en-US" sz="2400" dirty="0">
              <a:solidFill>
                <a:srgbClr val="FF0000"/>
              </a:solidFill>
              <a:latin typeface="宋体" pitchFamily="2" charset="-122"/>
            </a:endParaRPr>
          </a:p>
          <a:p>
            <a:pPr eaLnBrk="1" hangingPunct="1">
              <a:buFont typeface="Wingdings" panose="05000000000000000000" pitchFamily="2" charset="2"/>
              <a:buNone/>
            </a:pPr>
            <a:r>
              <a:rPr lang="zh-CN" altLang="en-US" sz="2400" dirty="0">
                <a:latin typeface="宋体" pitchFamily="2" charset="-122"/>
              </a:rPr>
              <a:t>说明系统静态特征的，描述数据及其联系的构成方式。</a:t>
            </a:r>
            <a:endParaRPr lang="zh-CN" altLang="en-US" sz="2400" dirty="0">
              <a:latin typeface="宋体" pitchFamily="2" charset="-122"/>
            </a:endParaRPr>
          </a:p>
          <a:p>
            <a:pPr eaLnBrk="1" hangingPunct="1">
              <a:buFont typeface="Wingdings" panose="05000000000000000000" pitchFamily="2" charset="2"/>
              <a:buNone/>
            </a:pPr>
            <a:r>
              <a:rPr lang="zh-CN" altLang="en-US" sz="2400" dirty="0">
                <a:latin typeface="宋体" pitchFamily="2" charset="-122"/>
              </a:rPr>
              <a:t>例</a:t>
            </a:r>
            <a:r>
              <a:rPr lang="en-US" altLang="zh-CN" sz="2400" dirty="0">
                <a:latin typeface="宋体" pitchFamily="2" charset="-122"/>
              </a:rPr>
              <a:t>1</a:t>
            </a:r>
            <a:r>
              <a:rPr lang="zh-CN" altLang="en-US" sz="2400" dirty="0">
                <a:latin typeface="宋体" pitchFamily="2" charset="-122"/>
              </a:rPr>
              <a:t>：</a:t>
            </a:r>
            <a:r>
              <a:rPr lang="en-US" altLang="zh-CN" sz="2400" dirty="0">
                <a:latin typeface="宋体" pitchFamily="2" charset="-122"/>
              </a:rPr>
              <a:t>Student (XH</a:t>
            </a:r>
            <a:r>
              <a:rPr lang="zh-CN" altLang="en-US" sz="2400" dirty="0">
                <a:latin typeface="宋体" pitchFamily="2" charset="-122"/>
              </a:rPr>
              <a:t>，</a:t>
            </a:r>
            <a:r>
              <a:rPr lang="en-US" altLang="zh-CN" sz="2400" dirty="0">
                <a:latin typeface="宋体" pitchFamily="2" charset="-122"/>
              </a:rPr>
              <a:t>XM</a:t>
            </a:r>
            <a:r>
              <a:rPr lang="zh-CN" altLang="en-US" sz="2400" dirty="0">
                <a:latin typeface="宋体" pitchFamily="2" charset="-122"/>
              </a:rPr>
              <a:t>，</a:t>
            </a:r>
            <a:r>
              <a:rPr lang="en-US" altLang="zh-CN" sz="2400" dirty="0">
                <a:latin typeface="宋体" pitchFamily="2" charset="-122"/>
              </a:rPr>
              <a:t>YL</a:t>
            </a:r>
            <a:r>
              <a:rPr lang="zh-CN" altLang="en-US" sz="2400" dirty="0">
                <a:latin typeface="宋体" pitchFamily="2" charset="-122"/>
              </a:rPr>
              <a:t>，</a:t>
            </a:r>
            <a:r>
              <a:rPr lang="en-US" altLang="zh-CN" sz="2400" dirty="0">
                <a:latin typeface="宋体" pitchFamily="2" charset="-122"/>
              </a:rPr>
              <a:t>XB)</a:t>
            </a:r>
            <a:endParaRPr lang="en-US" altLang="zh-CN" sz="2400" dirty="0">
              <a:latin typeface="宋体" pitchFamily="2" charset="-122"/>
            </a:endParaRPr>
          </a:p>
          <a:p>
            <a:pPr eaLnBrk="1" hangingPunct="1">
              <a:buFont typeface="Wingdings" panose="05000000000000000000" pitchFamily="2" charset="2"/>
              <a:buNone/>
            </a:pPr>
            <a:r>
              <a:rPr lang="zh-CN" altLang="en-US" sz="2400" dirty="0">
                <a:latin typeface="宋体" pitchFamily="2" charset="-122"/>
              </a:rPr>
              <a:t>例</a:t>
            </a:r>
            <a:r>
              <a:rPr lang="en-US" altLang="zh-CN" sz="2400" dirty="0">
                <a:latin typeface="宋体" pitchFamily="2" charset="-122"/>
              </a:rPr>
              <a:t>2</a:t>
            </a:r>
            <a:r>
              <a:rPr lang="zh-CN" altLang="en-US" sz="2400" dirty="0">
                <a:latin typeface="宋体" pitchFamily="2" charset="-122"/>
              </a:rPr>
              <a:t>： </a:t>
            </a:r>
            <a:endParaRPr lang="zh-CN" altLang="en-US" sz="2400" dirty="0">
              <a:latin typeface="宋体" pitchFamily="2" charset="-122"/>
            </a:endParaRPr>
          </a:p>
          <a:p>
            <a:pPr eaLnBrk="1" hangingPunct="1">
              <a:buFont typeface="Wingdings" panose="05000000000000000000" pitchFamily="2" charset="2"/>
              <a:buNone/>
            </a:pPr>
            <a:endParaRPr lang="en-US" altLang="zh-CN" dirty="0">
              <a:latin typeface="宋体" pitchFamily="2" charset="-122"/>
            </a:endParaRPr>
          </a:p>
        </p:txBody>
      </p:sp>
      <p:sp>
        <p:nvSpPr>
          <p:cNvPr id="7" name="灯片编号占位符 5"/>
          <p:cNvSpPr>
            <a:spLocks noGrp="1"/>
          </p:cNvSpPr>
          <p:nvPr>
            <p:ph type="sldNum" sz="quarter" idx="12"/>
          </p:nvPr>
        </p:nvSpPr>
        <p:spPr/>
        <p:txBody>
          <a:bodyPr>
            <a:normAutofit/>
          </a:bodyPr>
          <a:lstStyle/>
          <a:p>
            <a:pPr>
              <a:defRPr/>
            </a:pPr>
            <a:fld id="{EDE919E7-6D18-4945-B5BB-684D96075736}" type="slidenum">
              <a:rPr lang="en-US" altLang="zh-CN"/>
            </a:fld>
            <a:endParaRPr lang="en-US" altLang="zh-CN"/>
          </a:p>
        </p:txBody>
      </p:sp>
      <p:graphicFrame>
        <p:nvGraphicFramePr>
          <p:cNvPr id="3074" name="Object 7"/>
          <p:cNvGraphicFramePr>
            <a:graphicFrameLocks noChangeAspect="1"/>
          </p:cNvGraphicFramePr>
          <p:nvPr/>
        </p:nvGraphicFramePr>
        <p:xfrm>
          <a:off x="1828800" y="2486025"/>
          <a:ext cx="3529013" cy="1600200"/>
        </p:xfrm>
        <a:graphic>
          <a:graphicData uri="http://schemas.openxmlformats.org/presentationml/2006/ole">
            <mc:AlternateContent xmlns:mc="http://schemas.openxmlformats.org/markup-compatibility/2006">
              <mc:Choice xmlns:v="urn:schemas-microsoft-com:vml" Requires="v">
                <p:oleObj spid="_x0000_s3451" name="Picture2" r:id="rId1" imgW="2057400" imgH="1019810" progId="Word.Picture.8">
                  <p:embed/>
                </p:oleObj>
              </mc:Choice>
              <mc:Fallback>
                <p:oleObj name="Picture2" r:id="rId1" imgW="2057400" imgH="1019810" progId="Word.Picture.8">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2486025"/>
                        <a:ext cx="3529013" cy="1600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7" name="Text Box 9"/>
          <p:cNvSpPr txBox="1">
            <a:spLocks noChangeArrowheads="1"/>
          </p:cNvSpPr>
          <p:nvPr/>
        </p:nvSpPr>
        <p:spPr bwMode="auto">
          <a:xfrm>
            <a:off x="606425" y="4165600"/>
            <a:ext cx="8465779" cy="2308324"/>
          </a:xfrm>
          <a:prstGeom prst="rect">
            <a:avLst/>
          </a:prstGeom>
          <a:noFill/>
          <a:ln w="9525">
            <a:noFill/>
            <a:miter lim="800000"/>
          </a:ln>
        </p:spPr>
        <p:txBody>
          <a:bodyPr wrap="none">
            <a:spAutoFit/>
          </a:bodyPr>
          <a:lstStyle/>
          <a:p>
            <a:r>
              <a:rPr lang="en-US" altLang="zh-CN" dirty="0">
                <a:solidFill>
                  <a:srgbClr val="FF0000"/>
                </a:solidFill>
              </a:rPr>
              <a:t>2</a:t>
            </a:r>
            <a:r>
              <a:rPr lang="zh-CN" altLang="en-US" dirty="0">
                <a:solidFill>
                  <a:srgbClr val="FF0000"/>
                </a:solidFill>
                <a:latin typeface="Times New Roman" panose="02020503050405090304" pitchFamily="18" charset="0"/>
              </a:rPr>
              <a:t>）数据操作</a:t>
            </a:r>
            <a:endParaRPr lang="zh-CN" altLang="en-US" dirty="0">
              <a:solidFill>
                <a:srgbClr val="FF0000"/>
              </a:solidFill>
            </a:endParaRPr>
          </a:p>
          <a:p>
            <a:r>
              <a:rPr lang="zh-CN" altLang="en-US" dirty="0">
                <a:latin typeface="Times New Roman" panose="02020503050405090304" pitchFamily="18" charset="0"/>
              </a:rPr>
              <a:t>说明系统动态特征的，对数据进行的操作集合</a:t>
            </a:r>
            <a:r>
              <a:rPr lang="en-US" altLang="zh-CN" dirty="0"/>
              <a:t>(</a:t>
            </a:r>
            <a:r>
              <a:rPr lang="zh-CN" altLang="en-US" dirty="0">
                <a:latin typeface="Times New Roman" panose="02020503050405090304" pitchFamily="18" charset="0"/>
              </a:rPr>
              <a:t>含操作规则</a:t>
            </a:r>
            <a:r>
              <a:rPr lang="en-US" altLang="zh-CN" dirty="0"/>
              <a:t>)</a:t>
            </a:r>
            <a:r>
              <a:rPr lang="zh-CN" altLang="en-US" dirty="0">
                <a:latin typeface="Times New Roman" panose="02020503050405090304" pitchFamily="18" charset="0"/>
              </a:rPr>
              <a:t>，</a:t>
            </a:r>
            <a:endParaRPr lang="zh-CN" altLang="en-US" dirty="0">
              <a:latin typeface="Times New Roman" panose="02020503050405090304" pitchFamily="18" charset="0"/>
            </a:endParaRPr>
          </a:p>
          <a:p>
            <a:r>
              <a:rPr lang="zh-CN" altLang="en-US" dirty="0">
                <a:latin typeface="Times New Roman" panose="02020503050405090304" pitchFamily="18" charset="0"/>
              </a:rPr>
              <a:t>如： </a:t>
            </a:r>
            <a:r>
              <a:rPr lang="en-US" altLang="zh-CN" dirty="0"/>
              <a:t>insert</a:t>
            </a:r>
            <a:r>
              <a:rPr lang="en-US" altLang="zh-CN" dirty="0">
                <a:latin typeface="Times New Roman" panose="02020503050405090304" pitchFamily="18" charset="0"/>
              </a:rPr>
              <a:t> </a:t>
            </a:r>
            <a:r>
              <a:rPr lang="zh-CN" altLang="en-US" dirty="0">
                <a:latin typeface="Times New Roman" panose="02020503050405090304" pitchFamily="18" charset="0"/>
              </a:rPr>
              <a:t>，</a:t>
            </a:r>
            <a:r>
              <a:rPr lang="en-US" altLang="zh-CN" dirty="0"/>
              <a:t>delete</a:t>
            </a:r>
            <a:r>
              <a:rPr lang="zh-CN" altLang="en-US" dirty="0"/>
              <a:t>，</a:t>
            </a:r>
            <a:r>
              <a:rPr lang="en-US" altLang="zh-CN" dirty="0"/>
              <a:t>update</a:t>
            </a:r>
            <a:r>
              <a:rPr lang="zh-CN" altLang="en-US" dirty="0"/>
              <a:t>，</a:t>
            </a:r>
            <a:r>
              <a:rPr lang="en-US" altLang="zh-CN" dirty="0"/>
              <a:t>select </a:t>
            </a:r>
            <a:r>
              <a:rPr lang="zh-CN" altLang="en-US" dirty="0">
                <a:latin typeface="Times New Roman" panose="02020503050405090304" pitchFamily="18" charset="0"/>
              </a:rPr>
              <a:t>。</a:t>
            </a:r>
            <a:endParaRPr lang="zh-CN" altLang="en-US" dirty="0"/>
          </a:p>
          <a:p>
            <a:r>
              <a:rPr lang="en-US" altLang="zh-CN" dirty="0">
                <a:solidFill>
                  <a:srgbClr val="FF0000"/>
                </a:solidFill>
              </a:rPr>
              <a:t>3</a:t>
            </a:r>
            <a:r>
              <a:rPr lang="zh-CN" altLang="en-US" dirty="0">
                <a:solidFill>
                  <a:srgbClr val="FF0000"/>
                </a:solidFill>
                <a:latin typeface="Times New Roman" panose="02020503050405090304" pitchFamily="18" charset="0"/>
              </a:rPr>
              <a:t>）数据约束</a:t>
            </a:r>
            <a:endParaRPr lang="zh-CN" altLang="en-US" dirty="0">
              <a:solidFill>
                <a:srgbClr val="FF0000"/>
              </a:solidFill>
            </a:endParaRPr>
          </a:p>
          <a:p>
            <a:r>
              <a:rPr lang="zh-CN" altLang="en-US" dirty="0">
                <a:latin typeface="Times New Roman" panose="02020503050405090304" pitchFamily="18" charset="0"/>
              </a:rPr>
              <a:t>说明给定数据模型中数据及其联系的组织规则。</a:t>
            </a:r>
            <a:endParaRPr lang="zh-CN" altLang="en-US" dirty="0"/>
          </a:p>
          <a:p>
            <a:r>
              <a:rPr lang="zh-CN" altLang="en-US" dirty="0">
                <a:latin typeface="宋体" pitchFamily="2" charset="-122"/>
              </a:rPr>
              <a:t>例如：工龄</a:t>
            </a:r>
            <a:r>
              <a:rPr lang="en-US" altLang="zh-CN" dirty="0"/>
              <a:t>&lt;</a:t>
            </a:r>
            <a:r>
              <a:rPr lang="zh-CN" altLang="en-US" dirty="0">
                <a:latin typeface="宋体" pitchFamily="2" charset="-122"/>
              </a:rPr>
              <a:t>年龄，出生年份</a:t>
            </a:r>
            <a:r>
              <a:rPr lang="en-US" altLang="zh-CN" dirty="0">
                <a:latin typeface="宋体" pitchFamily="2" charset="-122"/>
              </a:rPr>
              <a:t>&gt;1962</a:t>
            </a:r>
            <a:r>
              <a:rPr lang="zh-CN" altLang="en-US" dirty="0"/>
              <a:t> </a:t>
            </a:r>
            <a:endParaRPr lang="zh-CN" altLang="en-US" dirty="0"/>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3"/>
          <p:cNvSpPr>
            <a:spLocks noGrp="1" noChangeArrowheads="1"/>
          </p:cNvSpPr>
          <p:nvPr>
            <p:ph idx="1"/>
          </p:nvPr>
        </p:nvSpPr>
        <p:spPr>
          <a:xfrm>
            <a:off x="457200" y="881063"/>
            <a:ext cx="8110538" cy="4191000"/>
          </a:xfrm>
        </p:spPr>
        <p:txBody>
          <a:bodyPr/>
          <a:lstStyle/>
          <a:p>
            <a:pPr algn="just" eaLnBrk="1" hangingPunct="1">
              <a:buFont typeface="Wingdings" panose="05000000000000000000" pitchFamily="2" charset="2"/>
              <a:buNone/>
            </a:pPr>
            <a:r>
              <a:rPr lang="en-US" altLang="zh-CN" sz="2800" b="1" dirty="0">
                <a:latin typeface="Arial" panose="020B0604020202090204" pitchFamily="34" charset="0"/>
                <a:cs typeface="Arial" panose="020B0604020202090204" pitchFamily="34" charset="0"/>
              </a:rPr>
              <a:t>5. </a:t>
            </a:r>
            <a:r>
              <a:rPr lang="zh-CN" altLang="en-US" sz="2800" b="1" dirty="0">
                <a:latin typeface="Arial" panose="020B0604020202090204" pitchFamily="34" charset="0"/>
                <a:ea typeface="黑体" panose="02010609060101010101" pitchFamily="49" charset="-122"/>
              </a:rPr>
              <a:t>典型的逻辑模型</a:t>
            </a:r>
            <a:endParaRPr lang="zh-CN" altLang="en-US" sz="2800" b="1" dirty="0">
              <a:latin typeface="Arial" panose="020B0604020202090204" pitchFamily="34" charset="0"/>
              <a:cs typeface="Arial" panose="020B0604020202090204" pitchFamily="34" charset="0"/>
            </a:endParaRPr>
          </a:p>
          <a:p>
            <a:pPr algn="just" eaLnBrk="1" hangingPunct="1">
              <a:buFont typeface="Wingdings" panose="05000000000000000000" pitchFamily="2" charset="2"/>
              <a:buNone/>
            </a:pPr>
            <a:r>
              <a:rPr lang="zh-CN" altLang="en-US" sz="2800" dirty="0">
                <a:latin typeface="Times New Roman" panose="02020503050405090304" pitchFamily="18" charset="0"/>
              </a:rPr>
              <a:t>①</a:t>
            </a:r>
            <a:r>
              <a:rPr lang="zh-CN" altLang="en-US" sz="2800" dirty="0"/>
              <a:t> </a:t>
            </a:r>
            <a:r>
              <a:rPr lang="zh-CN" altLang="en-US" sz="2800" dirty="0">
                <a:latin typeface="Times New Roman" panose="02020503050405090304" pitchFamily="18" charset="0"/>
              </a:rPr>
              <a:t>层次模型</a:t>
            </a:r>
            <a:r>
              <a:rPr lang="en-US" altLang="zh-CN" sz="2800" dirty="0"/>
              <a:t>(Hierarchical Model)</a:t>
            </a:r>
            <a:endParaRPr lang="en-US" altLang="zh-CN" sz="2800" dirty="0"/>
          </a:p>
          <a:p>
            <a:pPr algn="just" eaLnBrk="1" hangingPunct="1">
              <a:buFont typeface="Wingdings" panose="05000000000000000000" pitchFamily="2" charset="2"/>
              <a:buNone/>
            </a:pPr>
            <a:r>
              <a:rPr lang="en-US" altLang="zh-CN" sz="2800" dirty="0">
                <a:latin typeface="Times New Roman" panose="02020503050405090304" pitchFamily="18" charset="0"/>
              </a:rPr>
              <a:t>②</a:t>
            </a:r>
            <a:r>
              <a:rPr lang="en-US" altLang="zh-CN" sz="2800" dirty="0"/>
              <a:t> </a:t>
            </a:r>
            <a:r>
              <a:rPr lang="zh-CN" altLang="en-US" sz="2800" dirty="0">
                <a:latin typeface="Times New Roman" panose="02020503050405090304" pitchFamily="18" charset="0"/>
              </a:rPr>
              <a:t>网状模型</a:t>
            </a:r>
            <a:r>
              <a:rPr lang="en-US" altLang="zh-CN" sz="2800" dirty="0"/>
              <a:t>(Network Model)</a:t>
            </a:r>
            <a:endParaRPr lang="en-US" altLang="zh-CN" sz="2800" dirty="0"/>
          </a:p>
          <a:p>
            <a:pPr algn="just" eaLnBrk="1" hangingPunct="1">
              <a:buFont typeface="Wingdings" panose="05000000000000000000" pitchFamily="2" charset="2"/>
              <a:buNone/>
            </a:pPr>
            <a:r>
              <a:rPr lang="en-US" altLang="zh-CN" sz="2800" dirty="0">
                <a:latin typeface="Times New Roman" panose="02020503050405090304" pitchFamily="18" charset="0"/>
              </a:rPr>
              <a:t>③</a:t>
            </a:r>
            <a:r>
              <a:rPr lang="en-US" altLang="zh-CN" sz="2800" dirty="0"/>
              <a:t> </a:t>
            </a:r>
            <a:r>
              <a:rPr lang="zh-CN" altLang="en-US" sz="2800" dirty="0">
                <a:latin typeface="Times New Roman" panose="02020503050405090304" pitchFamily="18" charset="0"/>
              </a:rPr>
              <a:t>关系模型</a:t>
            </a:r>
            <a:r>
              <a:rPr lang="en-US" altLang="zh-CN" sz="2800" dirty="0"/>
              <a:t>(Relational Model)</a:t>
            </a:r>
            <a:endParaRPr lang="en-US" altLang="zh-CN" sz="2800" dirty="0"/>
          </a:p>
          <a:p>
            <a:pPr eaLnBrk="1" hangingPunct="1"/>
            <a:endParaRPr lang="en-US" altLang="zh-CN" sz="2800" dirty="0"/>
          </a:p>
        </p:txBody>
      </p:sp>
      <p:sp>
        <p:nvSpPr>
          <p:cNvPr id="6" name="灯片编号占位符 5"/>
          <p:cNvSpPr>
            <a:spLocks noGrp="1"/>
          </p:cNvSpPr>
          <p:nvPr>
            <p:ph type="sldNum" sz="quarter" idx="12"/>
          </p:nvPr>
        </p:nvSpPr>
        <p:spPr/>
        <p:txBody>
          <a:bodyPr/>
          <a:lstStyle/>
          <a:p>
            <a:pPr>
              <a:defRPr/>
            </a:pPr>
            <a:fld id="{BDF9AEEC-CE80-4B0E-A4D6-EB5BAA2A9CA6}" type="slidenum">
              <a:rPr lang="en-US" altLang="zh-CN"/>
            </a:fld>
            <a:endParaRPr lang="en-US" altLang="zh-CN"/>
          </a:p>
        </p:txBody>
      </p:sp>
      <p:sp>
        <p:nvSpPr>
          <p:cNvPr id="76804" name="AutoShape 4"/>
          <p:cNvSpPr>
            <a:spLocks noChangeArrowheads="1"/>
          </p:cNvSpPr>
          <p:nvPr/>
        </p:nvSpPr>
        <p:spPr bwMode="auto">
          <a:xfrm>
            <a:off x="8243888" y="1052513"/>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灯片编号占位符 3"/>
          <p:cNvSpPr>
            <a:spLocks noGrp="1"/>
          </p:cNvSpPr>
          <p:nvPr>
            <p:ph type="sldNum" sz="quarter" idx="12"/>
          </p:nvPr>
        </p:nvSpPr>
        <p:spPr/>
        <p:txBody>
          <a:bodyPr/>
          <a:lstStyle/>
          <a:p>
            <a:pPr>
              <a:defRPr/>
            </a:pPr>
            <a:fld id="{AB111716-ADFF-43B7-AC2E-1339DD4E9711}" type="slidenum">
              <a:rPr lang="en-US" altLang="zh-CN"/>
            </a:fld>
            <a:endParaRPr lang="en-US" altLang="zh-CN"/>
          </a:p>
        </p:txBody>
      </p:sp>
      <p:sp>
        <p:nvSpPr>
          <p:cNvPr id="77827" name="Text Box 2"/>
          <p:cNvSpPr txBox="1">
            <a:spLocks noChangeArrowheads="1"/>
          </p:cNvSpPr>
          <p:nvPr/>
        </p:nvSpPr>
        <p:spPr bwMode="auto">
          <a:xfrm>
            <a:off x="228600" y="500063"/>
            <a:ext cx="8066952" cy="1569660"/>
          </a:xfrm>
          <a:prstGeom prst="rect">
            <a:avLst/>
          </a:prstGeom>
          <a:noFill/>
          <a:ln w="9525">
            <a:noFill/>
            <a:miter lim="800000"/>
          </a:ln>
        </p:spPr>
        <p:txBody>
          <a:bodyPr wrap="none">
            <a:spAutoFit/>
          </a:bodyPr>
          <a:lstStyle/>
          <a:p>
            <a:r>
              <a:rPr lang="en-US" altLang="zh-CN" b="1" dirty="0">
                <a:ea typeface="黑体" panose="02010609060101010101" pitchFamily="49" charset="-122"/>
              </a:rPr>
              <a:t>1.2.2  </a:t>
            </a:r>
            <a:r>
              <a:rPr lang="zh-CN" altLang="en-US" b="1" dirty="0">
                <a:ea typeface="黑体" panose="02010609060101010101" pitchFamily="49" charset="-122"/>
              </a:rPr>
              <a:t>概念模型</a:t>
            </a:r>
            <a:endParaRPr lang="zh-CN" altLang="en-US" b="1" dirty="0">
              <a:ea typeface="黑体" panose="02010609060101010101" pitchFamily="49" charset="-122"/>
            </a:endParaRPr>
          </a:p>
          <a:p>
            <a:r>
              <a:rPr lang="en-US" altLang="zh-CN" b="1" dirty="0">
                <a:latin typeface="Arial" panose="020B0604020202090204" pitchFamily="34" charset="0"/>
                <a:cs typeface="Arial" panose="020B0604020202090204" pitchFamily="34" charset="0"/>
              </a:rPr>
              <a:t>1. </a:t>
            </a:r>
            <a:r>
              <a:rPr lang="zh-CN" altLang="en-US" b="1" dirty="0">
                <a:latin typeface="Arial" panose="020B0604020202090204" pitchFamily="34" charset="0"/>
                <a:ea typeface="黑体" panose="02010609060101010101" pitchFamily="49" charset="-122"/>
              </a:rPr>
              <a:t>定义</a:t>
            </a:r>
            <a:endParaRPr lang="zh-CN" altLang="en-US" b="1" dirty="0">
              <a:latin typeface="Arial" panose="020B0604020202090204" pitchFamily="34" charset="0"/>
              <a:cs typeface="Arial" panose="020B0604020202090204" pitchFamily="34" charset="0"/>
            </a:endParaRPr>
          </a:p>
          <a:p>
            <a:pPr indent="357505"/>
            <a:r>
              <a:rPr lang="zh-CN" altLang="en-US" dirty="0">
                <a:latin typeface="Times New Roman" panose="02020503050405090304" pitchFamily="18" charset="0"/>
              </a:rPr>
              <a:t>独立于特定</a:t>
            </a:r>
            <a:r>
              <a:rPr lang="en-US" altLang="zh-CN" dirty="0"/>
              <a:t>DBMS</a:t>
            </a:r>
            <a:r>
              <a:rPr lang="zh-CN" altLang="en-US" dirty="0">
                <a:latin typeface="Times New Roman" panose="02020503050405090304" pitchFamily="18" charset="0"/>
              </a:rPr>
              <a:t>的现实世界的抽象模型</a:t>
            </a:r>
            <a:r>
              <a:rPr lang="en-US" altLang="zh-CN" dirty="0"/>
              <a:t>(</a:t>
            </a:r>
            <a:r>
              <a:rPr lang="zh-CN" altLang="en-US" dirty="0">
                <a:latin typeface="Times New Roman" panose="02020503050405090304" pitchFamily="18" charset="0"/>
              </a:rPr>
              <a:t>用户与数据库</a:t>
            </a:r>
            <a:endParaRPr lang="en-US" altLang="zh-CN" dirty="0"/>
          </a:p>
          <a:p>
            <a:r>
              <a:rPr lang="zh-CN" altLang="en-US" dirty="0">
                <a:latin typeface="Times New Roman" panose="02020503050405090304" pitchFamily="18" charset="0"/>
              </a:rPr>
              <a:t>设计人员进行交流的语言</a:t>
            </a:r>
            <a:r>
              <a:rPr lang="en-US" altLang="zh-CN" dirty="0"/>
              <a:t>)</a:t>
            </a:r>
            <a:r>
              <a:rPr lang="zh-CN" altLang="en-US" dirty="0">
                <a:latin typeface="Times New Roman" panose="02020503050405090304" pitchFamily="18" charset="0"/>
              </a:rPr>
              <a:t>。</a:t>
            </a:r>
            <a:endParaRPr lang="zh-CN" altLang="en-US" dirty="0"/>
          </a:p>
        </p:txBody>
      </p:sp>
      <p:pic>
        <p:nvPicPr>
          <p:cNvPr id="77828" name="Picture 4" descr="MP00640_"/>
          <p:cNvPicPr>
            <a:picLocks noChangeAspect="1" noChangeArrowheads="1"/>
          </p:cNvPicPr>
          <p:nvPr/>
        </p:nvPicPr>
        <p:blipFill>
          <a:blip r:embed="rId1" cstate="print"/>
          <a:srcRect/>
          <a:stretch>
            <a:fillRect/>
          </a:stretch>
        </p:blipFill>
        <p:spPr bwMode="auto">
          <a:xfrm>
            <a:off x="2362200" y="1947863"/>
            <a:ext cx="1970088" cy="1295400"/>
          </a:xfrm>
          <a:prstGeom prst="rect">
            <a:avLst/>
          </a:prstGeom>
          <a:noFill/>
          <a:ln w="9525">
            <a:noFill/>
            <a:miter lim="800000"/>
            <a:headEnd/>
            <a:tailEnd/>
          </a:ln>
        </p:spPr>
      </p:pic>
      <p:sp>
        <p:nvSpPr>
          <p:cNvPr id="77829" name="Text Box 5"/>
          <p:cNvSpPr txBox="1">
            <a:spLocks noChangeArrowheads="1"/>
          </p:cNvSpPr>
          <p:nvPr/>
        </p:nvSpPr>
        <p:spPr bwMode="auto">
          <a:xfrm>
            <a:off x="685800" y="2252663"/>
            <a:ext cx="1403350" cy="457200"/>
          </a:xfrm>
          <a:prstGeom prst="rect">
            <a:avLst/>
          </a:prstGeom>
          <a:noFill/>
          <a:ln w="9525">
            <a:noFill/>
            <a:miter lim="800000"/>
          </a:ln>
        </p:spPr>
        <p:txBody>
          <a:bodyPr wrap="none">
            <a:spAutoFit/>
          </a:bodyPr>
          <a:lstStyle/>
          <a:p>
            <a:r>
              <a:rPr lang="zh-CN" altLang="en-US" dirty="0"/>
              <a:t>现实世界</a:t>
            </a:r>
            <a:endParaRPr lang="zh-CN" altLang="en-US" dirty="0"/>
          </a:p>
        </p:txBody>
      </p:sp>
      <p:sp>
        <p:nvSpPr>
          <p:cNvPr id="77830" name="Line 6"/>
          <p:cNvSpPr>
            <a:spLocks noChangeShapeType="1"/>
          </p:cNvSpPr>
          <p:nvPr/>
        </p:nvSpPr>
        <p:spPr bwMode="auto">
          <a:xfrm>
            <a:off x="3429000" y="3090863"/>
            <a:ext cx="0" cy="304800"/>
          </a:xfrm>
          <a:prstGeom prst="line">
            <a:avLst/>
          </a:prstGeom>
          <a:noFill/>
          <a:ln w="9525">
            <a:solidFill>
              <a:schemeClr val="tx1"/>
            </a:solidFill>
            <a:miter lim="800000"/>
            <a:tailEnd type="triangle" w="med" len="med"/>
          </a:ln>
        </p:spPr>
        <p:txBody>
          <a:bodyPr wrap="none"/>
          <a:lstStyle/>
          <a:p>
            <a:endParaRPr lang="zh-CN" altLang="en-US"/>
          </a:p>
        </p:txBody>
      </p:sp>
      <p:pic>
        <p:nvPicPr>
          <p:cNvPr id="77831" name="Picture 7" descr="MP00640_"/>
          <p:cNvPicPr>
            <a:picLocks noChangeAspect="1" noChangeArrowheads="1"/>
          </p:cNvPicPr>
          <p:nvPr/>
        </p:nvPicPr>
        <p:blipFill>
          <a:blip r:embed="rId1" cstate="print"/>
          <a:srcRect/>
          <a:stretch>
            <a:fillRect/>
          </a:stretch>
        </p:blipFill>
        <p:spPr bwMode="auto">
          <a:xfrm>
            <a:off x="2971800" y="3395663"/>
            <a:ext cx="914400" cy="750887"/>
          </a:xfrm>
          <a:prstGeom prst="rect">
            <a:avLst/>
          </a:prstGeom>
          <a:noFill/>
          <a:ln w="9525">
            <a:noFill/>
            <a:miter lim="800000"/>
            <a:headEnd/>
            <a:tailEnd/>
          </a:ln>
        </p:spPr>
      </p:pic>
      <p:sp>
        <p:nvSpPr>
          <p:cNvPr id="77832" name="Text Box 8"/>
          <p:cNvSpPr txBox="1">
            <a:spLocks noChangeArrowheads="1"/>
          </p:cNvSpPr>
          <p:nvPr/>
        </p:nvSpPr>
        <p:spPr bwMode="auto">
          <a:xfrm>
            <a:off x="1203325" y="3493634"/>
            <a:ext cx="1708150" cy="457200"/>
          </a:xfrm>
          <a:prstGeom prst="rect">
            <a:avLst/>
          </a:prstGeom>
          <a:noFill/>
          <a:ln w="9525">
            <a:noFill/>
            <a:miter lim="800000"/>
          </a:ln>
        </p:spPr>
        <p:txBody>
          <a:bodyPr wrap="none">
            <a:spAutoFit/>
          </a:bodyPr>
          <a:lstStyle/>
          <a:p>
            <a:r>
              <a:rPr lang="zh-CN" altLang="en-US" dirty="0"/>
              <a:t>认识、抽象</a:t>
            </a:r>
            <a:endParaRPr lang="zh-CN" altLang="en-US" dirty="0"/>
          </a:p>
        </p:txBody>
      </p:sp>
      <p:pic>
        <p:nvPicPr>
          <p:cNvPr id="77833" name="Picture 9" descr="BS00580_"/>
          <p:cNvPicPr>
            <a:picLocks noChangeAspect="1" noChangeArrowheads="1"/>
          </p:cNvPicPr>
          <p:nvPr/>
        </p:nvPicPr>
        <p:blipFill>
          <a:blip r:embed="rId2" cstate="print"/>
          <a:srcRect/>
          <a:stretch>
            <a:fillRect/>
          </a:stretch>
        </p:blipFill>
        <p:spPr bwMode="auto">
          <a:xfrm>
            <a:off x="2590800" y="5681663"/>
            <a:ext cx="1752600" cy="1066800"/>
          </a:xfrm>
          <a:prstGeom prst="rect">
            <a:avLst/>
          </a:prstGeom>
          <a:noFill/>
          <a:ln w="9525">
            <a:noFill/>
            <a:miter lim="800000"/>
            <a:headEnd/>
            <a:tailEnd/>
          </a:ln>
        </p:spPr>
      </p:pic>
      <p:pic>
        <p:nvPicPr>
          <p:cNvPr id="77834" name="Picture 10" descr="PE01561_"/>
          <p:cNvPicPr>
            <a:picLocks noChangeAspect="1" noChangeArrowheads="1"/>
          </p:cNvPicPr>
          <p:nvPr/>
        </p:nvPicPr>
        <p:blipFill>
          <a:blip r:embed="rId3" cstate="print"/>
          <a:srcRect/>
          <a:stretch>
            <a:fillRect/>
          </a:stretch>
        </p:blipFill>
        <p:spPr bwMode="auto">
          <a:xfrm>
            <a:off x="2209800" y="4310063"/>
            <a:ext cx="2590800" cy="1066800"/>
          </a:xfrm>
          <a:prstGeom prst="rect">
            <a:avLst/>
          </a:prstGeom>
          <a:noFill/>
          <a:ln w="9525">
            <a:noFill/>
            <a:miter lim="800000"/>
            <a:headEnd/>
            <a:tailEnd/>
          </a:ln>
        </p:spPr>
      </p:pic>
      <p:sp>
        <p:nvSpPr>
          <p:cNvPr id="77835" name="Line 11"/>
          <p:cNvSpPr>
            <a:spLocks noChangeShapeType="1"/>
          </p:cNvSpPr>
          <p:nvPr/>
        </p:nvSpPr>
        <p:spPr bwMode="auto">
          <a:xfrm>
            <a:off x="3429000" y="4005263"/>
            <a:ext cx="0" cy="304800"/>
          </a:xfrm>
          <a:prstGeom prst="line">
            <a:avLst/>
          </a:prstGeom>
          <a:noFill/>
          <a:ln w="9525">
            <a:solidFill>
              <a:schemeClr val="tx1"/>
            </a:solidFill>
            <a:miter lim="800000"/>
            <a:tailEnd type="triangle" w="med" len="med"/>
          </a:ln>
        </p:spPr>
        <p:txBody>
          <a:bodyPr wrap="none"/>
          <a:lstStyle/>
          <a:p>
            <a:endParaRPr lang="zh-CN" altLang="en-US"/>
          </a:p>
        </p:txBody>
      </p:sp>
      <p:sp>
        <p:nvSpPr>
          <p:cNvPr id="77836" name="Line 12"/>
          <p:cNvSpPr>
            <a:spLocks noChangeShapeType="1"/>
          </p:cNvSpPr>
          <p:nvPr/>
        </p:nvSpPr>
        <p:spPr bwMode="auto">
          <a:xfrm>
            <a:off x="3429000" y="5376863"/>
            <a:ext cx="0" cy="304800"/>
          </a:xfrm>
          <a:prstGeom prst="line">
            <a:avLst/>
          </a:prstGeom>
          <a:noFill/>
          <a:ln w="9525">
            <a:solidFill>
              <a:schemeClr val="tx1"/>
            </a:solidFill>
            <a:miter lim="800000"/>
            <a:tailEnd type="triangle" w="med" len="med"/>
          </a:ln>
        </p:spPr>
        <p:txBody>
          <a:bodyPr wrap="none"/>
          <a:lstStyle/>
          <a:p>
            <a:endParaRPr lang="zh-CN" altLang="en-US"/>
          </a:p>
        </p:txBody>
      </p:sp>
      <p:sp>
        <p:nvSpPr>
          <p:cNvPr id="77837" name="Text Box 13"/>
          <p:cNvSpPr txBox="1">
            <a:spLocks noChangeArrowheads="1"/>
          </p:cNvSpPr>
          <p:nvPr/>
        </p:nvSpPr>
        <p:spPr bwMode="auto">
          <a:xfrm>
            <a:off x="5715000" y="4691063"/>
            <a:ext cx="1403350" cy="457200"/>
          </a:xfrm>
          <a:prstGeom prst="rect">
            <a:avLst/>
          </a:prstGeom>
          <a:solidFill>
            <a:srgbClr val="339966"/>
          </a:solidFill>
          <a:ln w="9525">
            <a:noFill/>
            <a:miter lim="800000"/>
          </a:ln>
        </p:spPr>
        <p:txBody>
          <a:bodyPr wrap="none">
            <a:spAutoFit/>
          </a:bodyPr>
          <a:lstStyle/>
          <a:p>
            <a:r>
              <a:rPr lang="zh-CN" altLang="en-US" dirty="0">
                <a:solidFill>
                  <a:srgbClr val="FF0000"/>
                </a:solidFill>
              </a:rPr>
              <a:t>概念模型</a:t>
            </a:r>
            <a:endParaRPr lang="zh-CN" altLang="en-US" dirty="0">
              <a:solidFill>
                <a:srgbClr val="FF0000"/>
              </a:solidFill>
            </a:endParaRPr>
          </a:p>
        </p:txBody>
      </p:sp>
      <p:sp>
        <p:nvSpPr>
          <p:cNvPr id="77838" name="Text Box 14"/>
          <p:cNvSpPr txBox="1">
            <a:spLocks noChangeArrowheads="1"/>
          </p:cNvSpPr>
          <p:nvPr/>
        </p:nvSpPr>
        <p:spPr bwMode="auto">
          <a:xfrm>
            <a:off x="654050" y="4691063"/>
            <a:ext cx="1403350" cy="457200"/>
          </a:xfrm>
          <a:prstGeom prst="rect">
            <a:avLst/>
          </a:prstGeom>
          <a:noFill/>
          <a:ln w="9525">
            <a:noFill/>
            <a:miter lim="800000"/>
          </a:ln>
        </p:spPr>
        <p:txBody>
          <a:bodyPr wrap="none">
            <a:spAutoFit/>
          </a:bodyPr>
          <a:lstStyle/>
          <a:p>
            <a:r>
              <a:rPr lang="zh-CN" altLang="en-US" dirty="0">
                <a:solidFill>
                  <a:srgbClr val="FF0000"/>
                </a:solidFill>
              </a:rPr>
              <a:t>信息世界</a:t>
            </a:r>
            <a:endParaRPr lang="zh-CN" altLang="en-US" dirty="0">
              <a:solidFill>
                <a:srgbClr val="FF0000"/>
              </a:solidFill>
            </a:endParaRPr>
          </a:p>
        </p:txBody>
      </p:sp>
      <p:sp>
        <p:nvSpPr>
          <p:cNvPr id="77839" name="Text Box 15"/>
          <p:cNvSpPr txBox="1">
            <a:spLocks noChangeArrowheads="1"/>
          </p:cNvSpPr>
          <p:nvPr/>
        </p:nvSpPr>
        <p:spPr bwMode="auto">
          <a:xfrm>
            <a:off x="685800" y="5910263"/>
            <a:ext cx="1403350" cy="457200"/>
          </a:xfrm>
          <a:prstGeom prst="rect">
            <a:avLst/>
          </a:prstGeom>
          <a:noFill/>
          <a:ln w="9525">
            <a:noFill/>
            <a:miter lim="800000"/>
          </a:ln>
        </p:spPr>
        <p:txBody>
          <a:bodyPr wrap="none">
            <a:spAutoFit/>
          </a:bodyPr>
          <a:lstStyle/>
          <a:p>
            <a:r>
              <a:rPr lang="zh-CN" altLang="en-US" dirty="0"/>
              <a:t>机器世界</a:t>
            </a:r>
            <a:endParaRPr lang="zh-CN" altLang="en-US" dirty="0"/>
          </a:p>
        </p:txBody>
      </p:sp>
      <p:sp>
        <p:nvSpPr>
          <p:cNvPr id="77840" name="Text Box 16"/>
          <p:cNvSpPr txBox="1">
            <a:spLocks noChangeArrowheads="1"/>
          </p:cNvSpPr>
          <p:nvPr/>
        </p:nvSpPr>
        <p:spPr bwMode="auto">
          <a:xfrm>
            <a:off x="4800600" y="5997575"/>
            <a:ext cx="3227388" cy="457200"/>
          </a:xfrm>
          <a:prstGeom prst="rect">
            <a:avLst/>
          </a:prstGeom>
          <a:solidFill>
            <a:srgbClr val="00CCFF"/>
          </a:solidFill>
          <a:ln w="9525">
            <a:noFill/>
            <a:miter lim="800000"/>
          </a:ln>
        </p:spPr>
        <p:txBody>
          <a:bodyPr wrap="none">
            <a:spAutoFit/>
          </a:bodyPr>
          <a:lstStyle/>
          <a:p>
            <a:r>
              <a:rPr lang="en-US" altLang="zh-CN" dirty="0"/>
              <a:t>DBMS</a:t>
            </a:r>
            <a:r>
              <a:rPr lang="zh-CN" altLang="en-US" dirty="0"/>
              <a:t>支持的数据模型</a:t>
            </a:r>
            <a:endParaRPr lang="zh-CN" altLang="en-US" dirty="0"/>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3"/>
          <p:cNvSpPr>
            <a:spLocks noGrp="1" noChangeArrowheads="1"/>
          </p:cNvSpPr>
          <p:nvPr>
            <p:ph idx="1"/>
          </p:nvPr>
        </p:nvSpPr>
        <p:spPr>
          <a:xfrm>
            <a:off x="381000" y="847725"/>
            <a:ext cx="8110538" cy="5867400"/>
          </a:xfrm>
        </p:spPr>
        <p:txBody>
          <a:bodyPr/>
          <a:lstStyle/>
          <a:p>
            <a:pPr algn="just" eaLnBrk="1" hangingPunct="1">
              <a:lnSpc>
                <a:spcPct val="80000"/>
              </a:lnSpc>
              <a:buFont typeface="Wingdings" panose="05000000000000000000" pitchFamily="2" charset="2"/>
              <a:buNone/>
            </a:pPr>
            <a:r>
              <a:rPr lang="en-US" altLang="zh-CN" sz="2400" b="1" dirty="0">
                <a:latin typeface="宋体" pitchFamily="2" charset="-122"/>
                <a:cs typeface="Arial" panose="020B0604020202090204" pitchFamily="34" charset="0"/>
              </a:rPr>
              <a:t>2. </a:t>
            </a:r>
            <a:r>
              <a:rPr lang="zh-CN" altLang="en-US" sz="2400" b="1" dirty="0">
                <a:latin typeface="宋体" pitchFamily="2" charset="-122"/>
                <a:cs typeface="Arial" panose="020B0604020202090204" pitchFamily="34" charset="0"/>
              </a:rPr>
              <a:t>概念模型的</a:t>
            </a:r>
            <a:r>
              <a:rPr lang="zh-CN" altLang="en-US" sz="2400" b="1" dirty="0">
                <a:latin typeface="宋体" pitchFamily="2" charset="-122"/>
              </a:rPr>
              <a:t>特点</a:t>
            </a:r>
            <a:endParaRPr lang="zh-CN" altLang="en-US" sz="2400" b="1" dirty="0">
              <a:latin typeface="宋体" pitchFamily="2" charset="-122"/>
              <a:cs typeface="Arial" panose="020B0604020202090204" pitchFamily="34" charset="0"/>
            </a:endParaRPr>
          </a:p>
          <a:p>
            <a:pPr algn="just" eaLnBrk="1" hangingPunct="1">
              <a:lnSpc>
                <a:spcPct val="80000"/>
              </a:lnSpc>
              <a:buFont typeface="Wingdings" panose="05000000000000000000" pitchFamily="2" charset="2"/>
              <a:buNone/>
            </a:pPr>
            <a:r>
              <a:rPr lang="en-US" altLang="zh-CN" sz="2400" dirty="0">
                <a:latin typeface="宋体" pitchFamily="2" charset="-122"/>
              </a:rPr>
              <a:t>1</a:t>
            </a:r>
            <a:r>
              <a:rPr lang="zh-CN" altLang="en-US" sz="2400" dirty="0">
                <a:latin typeface="宋体" pitchFamily="2" charset="-122"/>
              </a:rPr>
              <a:t>）较强语义表达能力；</a:t>
            </a:r>
            <a:endParaRPr lang="zh-CN" altLang="en-US" sz="2400" dirty="0">
              <a:latin typeface="宋体" pitchFamily="2" charset="-122"/>
            </a:endParaRPr>
          </a:p>
          <a:p>
            <a:pPr algn="just" eaLnBrk="1" hangingPunct="1">
              <a:lnSpc>
                <a:spcPct val="80000"/>
              </a:lnSpc>
              <a:buFont typeface="Wingdings" panose="05000000000000000000" pitchFamily="2" charset="2"/>
              <a:buNone/>
            </a:pPr>
            <a:r>
              <a:rPr lang="en-US" altLang="zh-CN" sz="2400" dirty="0">
                <a:latin typeface="宋体" pitchFamily="2" charset="-122"/>
              </a:rPr>
              <a:t>2</a:t>
            </a:r>
            <a:r>
              <a:rPr lang="zh-CN" altLang="en-US" sz="2400" dirty="0">
                <a:latin typeface="宋体" pitchFamily="2" charset="-122"/>
              </a:rPr>
              <a:t>）便于直接表示应用语义；</a:t>
            </a:r>
            <a:endParaRPr lang="zh-CN" altLang="en-US" sz="2400" dirty="0">
              <a:latin typeface="宋体" pitchFamily="2" charset="-122"/>
            </a:endParaRPr>
          </a:p>
          <a:p>
            <a:pPr algn="just" eaLnBrk="1" hangingPunct="1">
              <a:lnSpc>
                <a:spcPct val="80000"/>
              </a:lnSpc>
              <a:buFont typeface="Wingdings" panose="05000000000000000000" pitchFamily="2" charset="2"/>
              <a:buNone/>
            </a:pPr>
            <a:r>
              <a:rPr lang="en-US" altLang="zh-CN" sz="2400" dirty="0">
                <a:latin typeface="宋体" pitchFamily="2" charset="-122"/>
              </a:rPr>
              <a:t>3</a:t>
            </a:r>
            <a:r>
              <a:rPr lang="zh-CN" altLang="en-US" sz="2400" dirty="0">
                <a:latin typeface="宋体" pitchFamily="2" charset="-122"/>
              </a:rPr>
              <a:t>）简单、清晰，易于理解。</a:t>
            </a:r>
            <a:r>
              <a:rPr lang="en-US" altLang="zh-CN" sz="2400" dirty="0">
                <a:latin typeface="宋体" pitchFamily="2" charset="-122"/>
              </a:rPr>
              <a:t> </a:t>
            </a:r>
            <a:endParaRPr lang="zh-CN" altLang="en-US" sz="2400" dirty="0">
              <a:latin typeface="宋体" pitchFamily="2" charset="-122"/>
            </a:endParaRPr>
          </a:p>
          <a:p>
            <a:pPr algn="just" eaLnBrk="1" hangingPunct="1">
              <a:lnSpc>
                <a:spcPct val="80000"/>
              </a:lnSpc>
              <a:buFont typeface="Wingdings" panose="05000000000000000000" pitchFamily="2" charset="2"/>
              <a:buNone/>
            </a:pPr>
            <a:r>
              <a:rPr lang="en-US" altLang="zh-CN" sz="2400" b="1" dirty="0">
                <a:latin typeface="宋体" pitchFamily="2" charset="-122"/>
                <a:cs typeface="Arial" panose="020B0604020202090204" pitchFamily="34" charset="0"/>
              </a:rPr>
              <a:t>3. </a:t>
            </a:r>
            <a:r>
              <a:rPr lang="zh-CN" altLang="en-US" sz="2400" b="1" dirty="0">
                <a:latin typeface="宋体" pitchFamily="2" charset="-122"/>
              </a:rPr>
              <a:t>信息世界概念</a:t>
            </a:r>
            <a:endParaRPr lang="zh-CN" altLang="en-US" sz="2400" b="1" dirty="0">
              <a:latin typeface="宋体" pitchFamily="2" charset="-122"/>
              <a:cs typeface="Arial" panose="020B0604020202090204" pitchFamily="34" charset="0"/>
            </a:endParaRPr>
          </a:p>
          <a:p>
            <a:pPr algn="just" eaLnBrk="1" hangingPunct="1">
              <a:lnSpc>
                <a:spcPct val="80000"/>
              </a:lnSpc>
              <a:buFont typeface="Wingdings" panose="05000000000000000000" pitchFamily="2" charset="2"/>
              <a:buNone/>
            </a:pPr>
            <a:r>
              <a:rPr lang="en-US" altLang="zh-CN" sz="2400" dirty="0">
                <a:latin typeface="宋体" pitchFamily="2" charset="-122"/>
              </a:rPr>
              <a:t>1</a:t>
            </a:r>
            <a:r>
              <a:rPr lang="zh-CN" altLang="en-US" sz="2400" dirty="0">
                <a:latin typeface="宋体" pitchFamily="2" charset="-122"/>
              </a:rPr>
              <a:t>）</a:t>
            </a:r>
            <a:r>
              <a:rPr lang="zh-CN" altLang="en-US" sz="2400" dirty="0">
                <a:solidFill>
                  <a:srgbClr val="FF0000"/>
                </a:solidFill>
                <a:latin typeface="宋体" pitchFamily="2" charset="-122"/>
              </a:rPr>
              <a:t>实体</a:t>
            </a:r>
            <a:r>
              <a:rPr lang="en-US" altLang="zh-CN" sz="2400" dirty="0">
                <a:latin typeface="宋体" pitchFamily="2" charset="-122"/>
              </a:rPr>
              <a:t>(entity)</a:t>
            </a:r>
            <a:endParaRPr lang="en-US" altLang="zh-CN" sz="2400" dirty="0">
              <a:latin typeface="宋体" pitchFamily="2" charset="-122"/>
            </a:endParaRPr>
          </a:p>
          <a:p>
            <a:pPr algn="just" eaLnBrk="1" hangingPunct="1">
              <a:lnSpc>
                <a:spcPct val="80000"/>
              </a:lnSpc>
              <a:buFont typeface="Wingdings" panose="05000000000000000000" pitchFamily="2" charset="2"/>
              <a:buNone/>
            </a:pPr>
            <a:r>
              <a:rPr lang="en-US" altLang="zh-CN" sz="2400" dirty="0">
                <a:latin typeface="宋体" pitchFamily="2" charset="-122"/>
              </a:rPr>
              <a:t>——</a:t>
            </a:r>
            <a:r>
              <a:rPr lang="zh-CN" altLang="en-US" sz="2400" dirty="0">
                <a:latin typeface="宋体" pitchFamily="2" charset="-122"/>
              </a:rPr>
              <a:t>客观存在可相互区别的事物和概念 </a:t>
            </a:r>
            <a:r>
              <a:rPr lang="en-US" altLang="zh-CN" sz="2400" dirty="0">
                <a:latin typeface="宋体" pitchFamily="2" charset="-122"/>
              </a:rPr>
              <a:t>(</a:t>
            </a:r>
            <a:r>
              <a:rPr lang="zh-CN" altLang="en-US" sz="2400" dirty="0">
                <a:latin typeface="宋体" pitchFamily="2" charset="-122"/>
              </a:rPr>
              <a:t>具体的人、物，抽象的概念</a:t>
            </a:r>
            <a:r>
              <a:rPr lang="en-US" altLang="zh-CN" sz="2400" dirty="0">
                <a:latin typeface="宋体" pitchFamily="2" charset="-122"/>
              </a:rPr>
              <a:t>)</a:t>
            </a:r>
            <a:r>
              <a:rPr lang="zh-CN" altLang="en-US" sz="2400" dirty="0">
                <a:latin typeface="宋体" pitchFamily="2" charset="-122"/>
              </a:rPr>
              <a:t> 。</a:t>
            </a:r>
            <a:endParaRPr lang="en-US" altLang="zh-CN" sz="2400" dirty="0">
              <a:latin typeface="宋体" pitchFamily="2" charset="-122"/>
            </a:endParaRPr>
          </a:p>
          <a:p>
            <a:pPr algn="just" eaLnBrk="1" hangingPunct="1">
              <a:lnSpc>
                <a:spcPct val="80000"/>
              </a:lnSpc>
              <a:buFont typeface="Wingdings" panose="05000000000000000000" pitchFamily="2" charset="2"/>
              <a:buNone/>
            </a:pPr>
            <a:r>
              <a:rPr lang="zh-CN" altLang="en-US" sz="2400" dirty="0">
                <a:latin typeface="宋体" pitchFamily="2" charset="-122"/>
              </a:rPr>
              <a:t>例如：职工、学生、部门、课程、电影、音乐</a:t>
            </a:r>
            <a:endParaRPr lang="zh-CN" altLang="en-US" sz="2400" dirty="0">
              <a:latin typeface="宋体" pitchFamily="2" charset="-122"/>
            </a:endParaRPr>
          </a:p>
          <a:p>
            <a:pPr algn="just" eaLnBrk="1" hangingPunct="1">
              <a:lnSpc>
                <a:spcPct val="80000"/>
              </a:lnSpc>
              <a:buFont typeface="Wingdings" panose="05000000000000000000" pitchFamily="2" charset="2"/>
              <a:buNone/>
            </a:pPr>
            <a:r>
              <a:rPr lang="en-US" altLang="zh-CN" sz="2400" dirty="0">
                <a:latin typeface="宋体" pitchFamily="2" charset="-122"/>
              </a:rPr>
              <a:t>2</a:t>
            </a:r>
            <a:r>
              <a:rPr lang="zh-CN" altLang="en-US" sz="2400" dirty="0">
                <a:latin typeface="宋体" pitchFamily="2" charset="-122"/>
              </a:rPr>
              <a:t>）</a:t>
            </a:r>
            <a:r>
              <a:rPr lang="zh-CN" altLang="en-US" sz="2400" dirty="0">
                <a:solidFill>
                  <a:srgbClr val="FF0000"/>
                </a:solidFill>
                <a:latin typeface="宋体" pitchFamily="2" charset="-122"/>
              </a:rPr>
              <a:t>属性</a:t>
            </a:r>
            <a:r>
              <a:rPr lang="en-US" altLang="zh-CN" sz="2400" dirty="0">
                <a:latin typeface="宋体" pitchFamily="2" charset="-122"/>
              </a:rPr>
              <a:t>(Attribute)</a:t>
            </a:r>
            <a:endParaRPr lang="en-US" altLang="zh-CN" sz="2400" dirty="0">
              <a:latin typeface="宋体" pitchFamily="2" charset="-122"/>
            </a:endParaRPr>
          </a:p>
          <a:p>
            <a:pPr algn="just" eaLnBrk="1" hangingPunct="1">
              <a:lnSpc>
                <a:spcPct val="80000"/>
              </a:lnSpc>
              <a:buFont typeface="Wingdings" panose="05000000000000000000" pitchFamily="2" charset="2"/>
              <a:buNone/>
            </a:pPr>
            <a:r>
              <a:rPr lang="en-US" altLang="zh-CN" sz="2400" dirty="0">
                <a:latin typeface="宋体" pitchFamily="2" charset="-122"/>
              </a:rPr>
              <a:t>——</a:t>
            </a:r>
            <a:r>
              <a:rPr lang="zh-CN" altLang="en-US" sz="2400" dirty="0">
                <a:latin typeface="宋体" pitchFamily="2" charset="-122"/>
              </a:rPr>
              <a:t>实体具有的特性。</a:t>
            </a:r>
            <a:endParaRPr lang="zh-CN" altLang="en-US" sz="2400" dirty="0">
              <a:latin typeface="宋体" pitchFamily="2" charset="-122"/>
            </a:endParaRPr>
          </a:p>
          <a:p>
            <a:pPr algn="just" eaLnBrk="1" hangingPunct="1">
              <a:lnSpc>
                <a:spcPct val="80000"/>
              </a:lnSpc>
              <a:buFont typeface="Wingdings" panose="05000000000000000000" pitchFamily="2" charset="2"/>
              <a:buNone/>
            </a:pPr>
            <a:r>
              <a:rPr lang="en-US" altLang="zh-CN" sz="2400" dirty="0">
                <a:latin typeface="宋体" pitchFamily="2" charset="-122"/>
              </a:rPr>
              <a:t>Student (XH</a:t>
            </a:r>
            <a:r>
              <a:rPr lang="zh-CN" altLang="en-US" sz="2400" dirty="0">
                <a:latin typeface="宋体" pitchFamily="2" charset="-122"/>
              </a:rPr>
              <a:t>，</a:t>
            </a:r>
            <a:r>
              <a:rPr lang="en-US" altLang="zh-CN" sz="2400" dirty="0">
                <a:latin typeface="宋体" pitchFamily="2" charset="-122"/>
              </a:rPr>
              <a:t>XM</a:t>
            </a:r>
            <a:r>
              <a:rPr lang="zh-CN" altLang="en-US" sz="2400" dirty="0">
                <a:latin typeface="宋体" pitchFamily="2" charset="-122"/>
              </a:rPr>
              <a:t>，</a:t>
            </a:r>
            <a:r>
              <a:rPr lang="en-US" altLang="zh-CN" sz="2400" dirty="0">
                <a:latin typeface="宋体" pitchFamily="2" charset="-122"/>
              </a:rPr>
              <a:t>XB</a:t>
            </a:r>
            <a:r>
              <a:rPr lang="zh-CN" altLang="en-US" sz="2400" dirty="0">
                <a:latin typeface="宋体" pitchFamily="2" charset="-122"/>
              </a:rPr>
              <a:t>，</a:t>
            </a:r>
            <a:r>
              <a:rPr lang="en-US" altLang="zh-CN" sz="2400" dirty="0">
                <a:latin typeface="宋体" pitchFamily="2" charset="-122"/>
              </a:rPr>
              <a:t>NL)</a:t>
            </a:r>
            <a:endParaRPr lang="en-US" altLang="zh-CN" sz="2400" dirty="0">
              <a:latin typeface="宋体" pitchFamily="2" charset="-122"/>
            </a:endParaRPr>
          </a:p>
          <a:p>
            <a:pPr algn="just" eaLnBrk="1" hangingPunct="1">
              <a:lnSpc>
                <a:spcPct val="80000"/>
              </a:lnSpc>
              <a:buFont typeface="Wingdings" panose="05000000000000000000" pitchFamily="2" charset="2"/>
              <a:buNone/>
            </a:pPr>
            <a:r>
              <a:rPr lang="en-US" altLang="zh-CN" sz="2400" dirty="0">
                <a:latin typeface="宋体" pitchFamily="2" charset="-122"/>
              </a:rPr>
              <a:t>3</a:t>
            </a:r>
            <a:r>
              <a:rPr lang="zh-CN" altLang="en-US" sz="2400" dirty="0">
                <a:latin typeface="宋体" pitchFamily="2" charset="-122"/>
              </a:rPr>
              <a:t>）</a:t>
            </a:r>
            <a:r>
              <a:rPr lang="zh-CN" altLang="en-US" sz="2400" dirty="0">
                <a:solidFill>
                  <a:srgbClr val="FF0000"/>
                </a:solidFill>
                <a:latin typeface="宋体" pitchFamily="2" charset="-122"/>
              </a:rPr>
              <a:t>实体型</a:t>
            </a:r>
            <a:r>
              <a:rPr lang="zh-CN" altLang="en-US" sz="2400" dirty="0">
                <a:latin typeface="宋体" pitchFamily="2" charset="-122"/>
              </a:rPr>
              <a:t>（</a:t>
            </a:r>
            <a:r>
              <a:rPr lang="en-US" altLang="zh-CN" sz="2400" dirty="0">
                <a:latin typeface="宋体" pitchFamily="2" charset="-122"/>
              </a:rPr>
              <a:t>entity type</a:t>
            </a:r>
            <a:r>
              <a:rPr lang="zh-CN" altLang="en-US" sz="2400" dirty="0">
                <a:latin typeface="宋体" pitchFamily="2" charset="-122"/>
              </a:rPr>
              <a:t>）</a:t>
            </a:r>
            <a:endParaRPr lang="zh-CN" altLang="en-US" sz="2400" dirty="0">
              <a:latin typeface="宋体" pitchFamily="2" charset="-122"/>
            </a:endParaRPr>
          </a:p>
          <a:p>
            <a:pPr eaLnBrk="1" hangingPunct="1">
              <a:lnSpc>
                <a:spcPct val="80000"/>
              </a:lnSpc>
              <a:buFont typeface="Wingdings" panose="05000000000000000000" pitchFamily="2" charset="2"/>
              <a:buNone/>
            </a:pPr>
            <a:r>
              <a:rPr lang="en-US" altLang="zh-CN" sz="2400" dirty="0">
                <a:latin typeface="宋体" pitchFamily="2" charset="-122"/>
              </a:rPr>
              <a:t>——</a:t>
            </a:r>
            <a:r>
              <a:rPr lang="zh-CN" altLang="en-US" sz="2400" dirty="0">
                <a:latin typeface="宋体" pitchFamily="2" charset="-122"/>
              </a:rPr>
              <a:t>具有相同特征和性质的实体与属性命名序列。 </a:t>
            </a:r>
            <a:endParaRPr lang="zh-CN" altLang="en-US" sz="2400" dirty="0">
              <a:latin typeface="宋体" pitchFamily="2" charset="-122"/>
            </a:endParaRPr>
          </a:p>
        </p:txBody>
      </p:sp>
      <p:sp>
        <p:nvSpPr>
          <p:cNvPr id="5" name="灯片编号占位符 5"/>
          <p:cNvSpPr>
            <a:spLocks noGrp="1"/>
          </p:cNvSpPr>
          <p:nvPr>
            <p:ph type="sldNum" sz="quarter" idx="12"/>
          </p:nvPr>
        </p:nvSpPr>
        <p:spPr/>
        <p:txBody>
          <a:bodyPr/>
          <a:lstStyle/>
          <a:p>
            <a:pPr>
              <a:defRPr/>
            </a:pPr>
            <a:fld id="{BE578842-138A-45AD-81F0-DE3A0F0F1DAE}" type="slidenum">
              <a:rPr lang="en-US" altLang="zh-CN"/>
            </a:fld>
            <a:endParaRPr lang="en-US" altLang="zh-CN"/>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灯片编号占位符 3"/>
          <p:cNvSpPr>
            <a:spLocks noGrp="1"/>
          </p:cNvSpPr>
          <p:nvPr>
            <p:ph type="sldNum" sz="quarter" idx="12"/>
          </p:nvPr>
        </p:nvSpPr>
        <p:spPr/>
        <p:txBody>
          <a:bodyPr/>
          <a:lstStyle/>
          <a:p>
            <a:pPr>
              <a:defRPr/>
            </a:pPr>
            <a:fld id="{8B0D7E33-1BD0-44D2-8578-DED044E080A5}" type="slidenum">
              <a:rPr lang="en-US" altLang="zh-CN"/>
            </a:fld>
            <a:endParaRPr lang="en-US" altLang="zh-CN"/>
          </a:p>
        </p:txBody>
      </p:sp>
      <p:graphicFrame>
        <p:nvGraphicFramePr>
          <p:cNvPr id="4098" name="Object 7"/>
          <p:cNvGraphicFramePr>
            <a:graphicFrameLocks noChangeAspect="1"/>
          </p:cNvGraphicFramePr>
          <p:nvPr/>
        </p:nvGraphicFramePr>
        <p:xfrm>
          <a:off x="2546027" y="166361"/>
          <a:ext cx="3352800" cy="2417763"/>
        </p:xfrm>
        <a:graphic>
          <a:graphicData uri="http://schemas.openxmlformats.org/presentationml/2006/ole">
            <mc:AlternateContent xmlns:mc="http://schemas.openxmlformats.org/markup-compatibility/2006">
              <mc:Choice xmlns:v="urn:schemas-microsoft-com:vml" Requires="v">
                <p:oleObj spid="_x0000_s4475" name="图片" r:id="rId1" imgW="2054860" imgH="1479550" progId="Word.Picture.8">
                  <p:embed/>
                </p:oleObj>
              </mc:Choice>
              <mc:Fallback>
                <p:oleObj name="图片" r:id="rId1" imgW="2054860" imgH="1479550" progId="Word.Picture.8">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6027" y="166361"/>
                        <a:ext cx="3352800" cy="24177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00" name="Text Box 4"/>
          <p:cNvSpPr txBox="1">
            <a:spLocks noChangeArrowheads="1"/>
          </p:cNvSpPr>
          <p:nvPr/>
        </p:nvSpPr>
        <p:spPr bwMode="auto">
          <a:xfrm>
            <a:off x="381000" y="2667000"/>
            <a:ext cx="8153400" cy="1200329"/>
          </a:xfrm>
          <a:prstGeom prst="rect">
            <a:avLst/>
          </a:prstGeom>
          <a:noFill/>
          <a:ln w="9525">
            <a:noFill/>
            <a:miter lim="800000"/>
          </a:ln>
        </p:spPr>
        <p:txBody>
          <a:bodyPr>
            <a:spAutoFit/>
          </a:bodyPr>
          <a:lstStyle/>
          <a:p>
            <a:r>
              <a:rPr lang="en-US" altLang="zh-CN" dirty="0"/>
              <a:t>4</a:t>
            </a:r>
            <a:r>
              <a:rPr lang="zh-CN" altLang="en-US" dirty="0">
                <a:latin typeface="Times New Roman" panose="02020503050405090304" pitchFamily="18" charset="0"/>
              </a:rPr>
              <a:t>）</a:t>
            </a:r>
            <a:r>
              <a:rPr lang="zh-CN" altLang="en-US" dirty="0">
                <a:solidFill>
                  <a:srgbClr val="FF0000"/>
                </a:solidFill>
                <a:latin typeface="Times New Roman" panose="02020503050405090304" pitchFamily="18" charset="0"/>
              </a:rPr>
              <a:t>实体值</a:t>
            </a:r>
            <a:r>
              <a:rPr lang="zh-CN" altLang="en-US" dirty="0">
                <a:latin typeface="Times New Roman" panose="02020503050405090304" pitchFamily="18" charset="0"/>
              </a:rPr>
              <a:t>（</a:t>
            </a:r>
            <a:r>
              <a:rPr lang="en-US" altLang="zh-CN" dirty="0"/>
              <a:t>entity value</a:t>
            </a:r>
            <a:r>
              <a:rPr lang="zh-CN" altLang="en-US" dirty="0">
                <a:latin typeface="Times New Roman" panose="02020503050405090304" pitchFamily="18" charset="0"/>
              </a:rPr>
              <a:t>）</a:t>
            </a:r>
            <a:endParaRPr lang="zh-CN" altLang="en-US" dirty="0"/>
          </a:p>
          <a:p>
            <a:r>
              <a:rPr lang="en-US" altLang="zh-CN" dirty="0">
                <a:latin typeface="Times New Roman" panose="02020503050405090304" pitchFamily="18" charset="0"/>
              </a:rPr>
              <a:t>——</a:t>
            </a:r>
            <a:r>
              <a:rPr lang="zh-CN" altLang="en-US" dirty="0">
                <a:latin typeface="宋体" pitchFamily="2" charset="-122"/>
              </a:rPr>
              <a:t>实体型的具体实例。</a:t>
            </a:r>
            <a:r>
              <a:rPr lang="zh-CN" altLang="en-US" dirty="0"/>
              <a:t> </a:t>
            </a:r>
            <a:endParaRPr lang="zh-CN" altLang="en-US" dirty="0"/>
          </a:p>
          <a:p>
            <a:pPr algn="ctr"/>
            <a:r>
              <a:rPr lang="en-US" altLang="zh-CN" dirty="0"/>
              <a:t>student</a:t>
            </a:r>
            <a:endParaRPr lang="en-US" altLang="zh-CN" dirty="0"/>
          </a:p>
        </p:txBody>
      </p:sp>
      <p:graphicFrame>
        <p:nvGraphicFramePr>
          <p:cNvPr id="43049" name="Group 41"/>
          <p:cNvGraphicFramePr>
            <a:graphicFrameLocks noGrp="1"/>
          </p:cNvGraphicFramePr>
          <p:nvPr/>
        </p:nvGraphicFramePr>
        <p:xfrm>
          <a:off x="1371600" y="3809999"/>
          <a:ext cx="6096000" cy="2557969"/>
        </p:xfrm>
        <a:graphic>
          <a:graphicData uri="http://schemas.openxmlformats.org/drawingml/2006/table">
            <a:tbl>
              <a:tblPr/>
              <a:tblGrid>
                <a:gridCol w="1524000"/>
                <a:gridCol w="1524000"/>
                <a:gridCol w="1524000"/>
                <a:gridCol w="1524000"/>
              </a:tblGrid>
              <a:tr h="384622">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dirty="0">
                          <a:ln>
                            <a:noFill/>
                          </a:ln>
                          <a:solidFill>
                            <a:schemeClr val="tx1"/>
                          </a:solidFill>
                          <a:effectLst/>
                          <a:latin typeface="Verdana" panose="020B0804030504040204" pitchFamily="34" charset="0"/>
                          <a:ea typeface="宋体" pitchFamily="2" charset="-122"/>
                        </a:rPr>
                        <a:t>XH</a:t>
                      </a:r>
                      <a:endParaRPr kumimoji="1" lang="en-US" altLang="zh-CN"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XM</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XB</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NL</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04231">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dirty="0">
                          <a:ln>
                            <a:noFill/>
                          </a:ln>
                          <a:solidFill>
                            <a:schemeClr val="tx1"/>
                          </a:solidFill>
                          <a:effectLst/>
                          <a:latin typeface="Verdana" panose="020B0804030504040204" pitchFamily="34" charset="0"/>
                          <a:ea typeface="宋体" pitchFamily="2" charset="-122"/>
                        </a:rPr>
                        <a:t>0011</a:t>
                      </a:r>
                      <a:endParaRPr kumimoji="1" lang="en-US" altLang="zh-CN"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rPr>
                        <a:t>张自成</a:t>
                      </a:r>
                      <a:endPar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000" b="0" i="0" u="none" strike="noStrike" cap="none" normalizeH="0" baseline="0">
                          <a:ln>
                            <a:noFill/>
                          </a:ln>
                          <a:solidFill>
                            <a:schemeClr val="tx1"/>
                          </a:solidFill>
                          <a:effectLst/>
                          <a:latin typeface="Verdana" panose="020B0804030504040204" pitchFamily="34" charset="0"/>
                          <a:ea typeface="宋体" pitchFamily="2" charset="-122"/>
                        </a:rPr>
                        <a:t>男</a:t>
                      </a:r>
                      <a:endParaRPr kumimoji="1" lang="zh-CN" altLang="en-US"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21</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04231">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dirty="0">
                          <a:ln>
                            <a:noFill/>
                          </a:ln>
                          <a:solidFill>
                            <a:schemeClr val="tx1"/>
                          </a:solidFill>
                          <a:effectLst/>
                          <a:latin typeface="Verdana" panose="020B0804030504040204" pitchFamily="34" charset="0"/>
                          <a:ea typeface="宋体" pitchFamily="2" charset="-122"/>
                        </a:rPr>
                        <a:t>0012</a:t>
                      </a:r>
                      <a:endParaRPr kumimoji="1" lang="en-US" altLang="zh-CN"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rPr>
                        <a:t>刘自淑</a:t>
                      </a:r>
                      <a:endPar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000" b="0" i="0" u="none" strike="noStrike" cap="none" normalizeH="0" baseline="0">
                          <a:ln>
                            <a:noFill/>
                          </a:ln>
                          <a:solidFill>
                            <a:schemeClr val="tx1"/>
                          </a:solidFill>
                          <a:effectLst/>
                          <a:latin typeface="Verdana" panose="020B0804030504040204" pitchFamily="34" charset="0"/>
                          <a:ea typeface="宋体" pitchFamily="2" charset="-122"/>
                        </a:rPr>
                        <a:t>女</a:t>
                      </a:r>
                      <a:endParaRPr kumimoji="1" lang="zh-CN" altLang="en-US"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18</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04231">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dirty="0">
                          <a:ln>
                            <a:noFill/>
                          </a:ln>
                          <a:solidFill>
                            <a:schemeClr val="tx1"/>
                          </a:solidFill>
                          <a:effectLst/>
                          <a:latin typeface="Verdana" panose="020B0804030504040204" pitchFamily="34" charset="0"/>
                          <a:ea typeface="宋体" pitchFamily="2" charset="-122"/>
                        </a:rPr>
                        <a:t>0013</a:t>
                      </a:r>
                      <a:endParaRPr kumimoji="1" lang="en-US" altLang="zh-CN"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rPr>
                        <a:t>李自威</a:t>
                      </a:r>
                      <a:endPar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000" b="0" i="0" u="none" strike="noStrike" cap="none" normalizeH="0" baseline="0">
                          <a:ln>
                            <a:noFill/>
                          </a:ln>
                          <a:solidFill>
                            <a:schemeClr val="tx1"/>
                          </a:solidFill>
                          <a:effectLst/>
                          <a:latin typeface="Verdana" panose="020B0804030504040204" pitchFamily="34" charset="0"/>
                          <a:ea typeface="宋体" pitchFamily="2" charset="-122"/>
                        </a:rPr>
                        <a:t>男</a:t>
                      </a:r>
                      <a:endParaRPr kumimoji="1" lang="zh-CN" altLang="en-US"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20</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04231">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dirty="0">
                          <a:ln>
                            <a:noFill/>
                          </a:ln>
                          <a:solidFill>
                            <a:schemeClr val="tx1"/>
                          </a:solidFill>
                          <a:effectLst/>
                          <a:latin typeface="Verdana" panose="020B0804030504040204" pitchFamily="34" charset="0"/>
                          <a:ea typeface="宋体" pitchFamily="2" charset="-122"/>
                        </a:rPr>
                        <a:t>0014</a:t>
                      </a:r>
                      <a:endParaRPr kumimoji="1" lang="en-US" altLang="zh-CN"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rPr>
                        <a:t>马自得</a:t>
                      </a:r>
                      <a:endPar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rPr>
                        <a:t>男</a:t>
                      </a:r>
                      <a:endPar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dirty="0">
                          <a:ln>
                            <a:noFill/>
                          </a:ln>
                          <a:solidFill>
                            <a:schemeClr val="tx1"/>
                          </a:solidFill>
                          <a:effectLst/>
                          <a:latin typeface="Verdana" panose="020B0804030504040204" pitchFamily="34" charset="0"/>
                          <a:ea typeface="宋体" pitchFamily="2" charset="-122"/>
                        </a:rPr>
                        <a:t>20</a:t>
                      </a:r>
                      <a:endParaRPr kumimoji="1" lang="en-US" altLang="zh-CN"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54480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503050405090304"/>
                          <a:ea typeface="宋体" pitchFamily="2" charset="-122"/>
                        </a:rPr>
                        <a:t>…</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dirty="0">
                          <a:ln>
                            <a:noFill/>
                          </a:ln>
                          <a:solidFill>
                            <a:schemeClr val="tx1"/>
                          </a:solidFill>
                          <a:effectLst/>
                          <a:latin typeface="Times New Roman" panose="02020503050405090304"/>
                          <a:ea typeface="宋体" pitchFamily="2" charset="-122"/>
                        </a:rPr>
                        <a:t>…</a:t>
                      </a:r>
                      <a:endParaRPr kumimoji="1" lang="en-US" altLang="zh-CN"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dirty="0">
                          <a:ln>
                            <a:noFill/>
                          </a:ln>
                          <a:solidFill>
                            <a:schemeClr val="tx1"/>
                          </a:solidFill>
                          <a:effectLst/>
                          <a:latin typeface="Times New Roman" panose="02020503050405090304"/>
                          <a:ea typeface="宋体" pitchFamily="2" charset="-122"/>
                        </a:rPr>
                        <a:t>…</a:t>
                      </a:r>
                      <a:endParaRPr kumimoji="1" lang="en-US" altLang="zh-CN"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dirty="0">
                          <a:ln>
                            <a:noFill/>
                          </a:ln>
                          <a:solidFill>
                            <a:schemeClr val="tx1"/>
                          </a:solidFill>
                          <a:effectLst/>
                          <a:latin typeface="Times New Roman" panose="02020503050405090304"/>
                          <a:ea typeface="宋体" pitchFamily="2" charset="-122"/>
                        </a:rPr>
                        <a:t>…</a:t>
                      </a:r>
                      <a:endParaRPr kumimoji="1" lang="en-US" altLang="zh-CN"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
        <p:nvSpPr>
          <p:cNvPr id="3" name="对话气泡: 圆角矩形 2"/>
          <p:cNvSpPr/>
          <p:nvPr/>
        </p:nvSpPr>
        <p:spPr>
          <a:xfrm>
            <a:off x="6444208" y="1879477"/>
            <a:ext cx="1023392" cy="432048"/>
          </a:xfrm>
          <a:prstGeom prst="wedgeRoundRectCallout">
            <a:avLst>
              <a:gd name="adj1" fmla="val -107355"/>
              <a:gd name="adj2" fmla="val 40502"/>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b="1" dirty="0">
                <a:effectLst>
                  <a:outerShdw blurRad="38100" dist="38100" dir="2700000" algn="tl">
                    <a:srgbClr val="000000">
                      <a:alpha val="43137"/>
                    </a:srgbClr>
                  </a:outerShdw>
                </a:effectLst>
                <a:latin typeface="宋体" pitchFamily="2" charset="-122"/>
                <a:ea typeface="宋体" pitchFamily="2" charset="-122"/>
              </a:rPr>
              <a:t>实体？</a:t>
            </a:r>
            <a:endParaRPr lang="zh-CN" altLang="en-US" b="1" dirty="0">
              <a:effectLst>
                <a:outerShdw blurRad="38100" dist="38100" dir="2700000" algn="tl">
                  <a:srgbClr val="000000">
                    <a:alpha val="43137"/>
                  </a:srgbClr>
                </a:outerShdw>
              </a:effectLst>
              <a:latin typeface="宋体" pitchFamily="2" charset="-122"/>
              <a:ea typeface="宋体" pitchFamily="2" charset="-122"/>
            </a:endParaRP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3"/>
          <p:cNvSpPr>
            <a:spLocks noGrp="1" noChangeArrowheads="1"/>
          </p:cNvSpPr>
          <p:nvPr>
            <p:ph idx="1"/>
          </p:nvPr>
        </p:nvSpPr>
        <p:spPr>
          <a:xfrm>
            <a:off x="457200" y="719138"/>
            <a:ext cx="8110538" cy="5638800"/>
          </a:xfrm>
        </p:spPr>
        <p:txBody>
          <a:bodyPr/>
          <a:lstStyle/>
          <a:p>
            <a:pPr algn="just" eaLnBrk="1" hangingPunct="1">
              <a:lnSpc>
                <a:spcPct val="90000"/>
              </a:lnSpc>
              <a:buFont typeface="Wingdings" panose="05000000000000000000" pitchFamily="2" charset="2"/>
              <a:buNone/>
            </a:pPr>
            <a:r>
              <a:rPr lang="en-US" altLang="zh-CN" sz="2400" dirty="0">
                <a:latin typeface="宋体" pitchFamily="2" charset="-122"/>
              </a:rPr>
              <a:t>5</a:t>
            </a:r>
            <a:r>
              <a:rPr lang="zh-CN" altLang="en-US" sz="2400" dirty="0">
                <a:latin typeface="宋体" pitchFamily="2" charset="-122"/>
              </a:rPr>
              <a:t>）</a:t>
            </a:r>
            <a:r>
              <a:rPr lang="zh-CN" altLang="en-US" sz="2400" dirty="0">
                <a:solidFill>
                  <a:srgbClr val="FF0000"/>
                </a:solidFill>
                <a:latin typeface="宋体" pitchFamily="2" charset="-122"/>
              </a:rPr>
              <a:t>实体集</a:t>
            </a:r>
            <a:r>
              <a:rPr lang="zh-CN" altLang="en-US" sz="2400" dirty="0">
                <a:latin typeface="宋体" pitchFamily="2" charset="-122"/>
              </a:rPr>
              <a:t>（</a:t>
            </a:r>
            <a:r>
              <a:rPr lang="en-US" altLang="zh-CN" sz="2400" dirty="0">
                <a:latin typeface="宋体" pitchFamily="2" charset="-122"/>
              </a:rPr>
              <a:t>entity set</a:t>
            </a:r>
            <a:r>
              <a:rPr lang="zh-CN" altLang="en-US" sz="2400" dirty="0">
                <a:latin typeface="宋体" pitchFamily="2" charset="-122"/>
              </a:rPr>
              <a:t>）</a:t>
            </a:r>
            <a:endParaRPr lang="zh-CN" altLang="en-US" sz="2400" dirty="0">
              <a:latin typeface="宋体" pitchFamily="2" charset="-122"/>
            </a:endParaRPr>
          </a:p>
          <a:p>
            <a:pPr algn="just" eaLnBrk="1" hangingPunct="1">
              <a:lnSpc>
                <a:spcPct val="90000"/>
              </a:lnSpc>
              <a:buFont typeface="Wingdings" panose="05000000000000000000" pitchFamily="2" charset="2"/>
              <a:buNone/>
            </a:pPr>
            <a:r>
              <a:rPr lang="en-US" altLang="zh-CN" sz="2400" dirty="0">
                <a:latin typeface="宋体" pitchFamily="2" charset="-122"/>
              </a:rPr>
              <a:t>——</a:t>
            </a:r>
            <a:r>
              <a:rPr lang="zh-CN" altLang="en-US" sz="2400" dirty="0">
                <a:latin typeface="宋体" pitchFamily="2" charset="-122"/>
              </a:rPr>
              <a:t>同型实体值的</a:t>
            </a:r>
            <a:r>
              <a:rPr lang="zh-CN" altLang="en-US" sz="2400" dirty="0">
                <a:solidFill>
                  <a:srgbClr val="FF0000"/>
                </a:solidFill>
                <a:latin typeface="宋体" pitchFamily="2" charset="-122"/>
              </a:rPr>
              <a:t>集合</a:t>
            </a:r>
            <a:r>
              <a:rPr lang="zh-CN" altLang="en-US" sz="2400" dirty="0">
                <a:latin typeface="宋体" pitchFamily="2" charset="-122"/>
              </a:rPr>
              <a:t>。</a:t>
            </a:r>
            <a:endParaRPr lang="zh-CN" altLang="en-US" sz="2400" dirty="0">
              <a:latin typeface="宋体" pitchFamily="2" charset="-122"/>
            </a:endParaRPr>
          </a:p>
          <a:p>
            <a:pPr algn="just" eaLnBrk="1" hangingPunct="1">
              <a:lnSpc>
                <a:spcPct val="90000"/>
              </a:lnSpc>
              <a:buFont typeface="Wingdings" panose="05000000000000000000" pitchFamily="2" charset="2"/>
              <a:buNone/>
            </a:pPr>
            <a:r>
              <a:rPr lang="en-US" altLang="zh-CN" sz="2400" dirty="0">
                <a:latin typeface="宋体" pitchFamily="2" charset="-122"/>
              </a:rPr>
              <a:t>6</a:t>
            </a:r>
            <a:r>
              <a:rPr lang="zh-CN" altLang="en-US" sz="2400" dirty="0">
                <a:latin typeface="宋体" pitchFamily="2" charset="-122"/>
              </a:rPr>
              <a:t>）</a:t>
            </a:r>
            <a:r>
              <a:rPr lang="zh-CN" altLang="en-US" sz="2400" dirty="0">
                <a:solidFill>
                  <a:srgbClr val="FF0000"/>
                </a:solidFill>
                <a:latin typeface="宋体" pitchFamily="2" charset="-122"/>
              </a:rPr>
              <a:t>域</a:t>
            </a:r>
            <a:r>
              <a:rPr lang="zh-CN" altLang="en-US" sz="2400" dirty="0">
                <a:latin typeface="宋体" pitchFamily="2" charset="-122"/>
              </a:rPr>
              <a:t>（</a:t>
            </a:r>
            <a:r>
              <a:rPr lang="en-US" altLang="zh-CN" sz="2400" dirty="0">
                <a:latin typeface="宋体" pitchFamily="2" charset="-122"/>
              </a:rPr>
              <a:t>domain</a:t>
            </a:r>
            <a:r>
              <a:rPr lang="zh-CN" altLang="en-US" sz="2400" dirty="0">
                <a:latin typeface="宋体" pitchFamily="2" charset="-122"/>
              </a:rPr>
              <a:t>）</a:t>
            </a:r>
            <a:endParaRPr lang="zh-CN" altLang="en-US" sz="2400" dirty="0">
              <a:latin typeface="宋体" pitchFamily="2" charset="-122"/>
            </a:endParaRPr>
          </a:p>
          <a:p>
            <a:pPr algn="just" eaLnBrk="1" hangingPunct="1">
              <a:lnSpc>
                <a:spcPct val="90000"/>
              </a:lnSpc>
              <a:buFont typeface="Wingdings" panose="05000000000000000000" pitchFamily="2" charset="2"/>
              <a:buNone/>
            </a:pPr>
            <a:r>
              <a:rPr lang="en-US" altLang="zh-CN" sz="2400" dirty="0">
                <a:latin typeface="宋体" pitchFamily="2" charset="-122"/>
              </a:rPr>
              <a:t>——</a:t>
            </a:r>
            <a:r>
              <a:rPr lang="zh-CN" altLang="en-US" sz="2400" dirty="0">
                <a:latin typeface="宋体" pitchFamily="2" charset="-122"/>
              </a:rPr>
              <a:t>属性的取值范围。</a:t>
            </a:r>
            <a:endParaRPr lang="zh-CN" altLang="en-US" sz="2400" dirty="0">
              <a:latin typeface="宋体" pitchFamily="2" charset="-122"/>
            </a:endParaRPr>
          </a:p>
          <a:p>
            <a:pPr algn="just" eaLnBrk="1" hangingPunct="1">
              <a:lnSpc>
                <a:spcPct val="90000"/>
              </a:lnSpc>
              <a:buFont typeface="Wingdings" panose="05000000000000000000" pitchFamily="2" charset="2"/>
              <a:buNone/>
            </a:pPr>
            <a:r>
              <a:rPr lang="zh-CN" altLang="en-US" sz="2400" dirty="0">
                <a:latin typeface="宋体" pitchFamily="2" charset="-122"/>
              </a:rPr>
              <a:t>例：</a:t>
            </a:r>
            <a:r>
              <a:rPr lang="en-US" altLang="zh-CN" sz="2400" dirty="0">
                <a:latin typeface="宋体" pitchFamily="2" charset="-122"/>
              </a:rPr>
              <a:t>NL</a:t>
            </a:r>
            <a:r>
              <a:rPr lang="zh-CN" altLang="en-US" sz="2400" dirty="0">
                <a:latin typeface="宋体" pitchFamily="2" charset="-122"/>
              </a:rPr>
              <a:t>为小于</a:t>
            </a:r>
            <a:r>
              <a:rPr lang="en-US" altLang="zh-CN" sz="2400" dirty="0">
                <a:latin typeface="宋体" pitchFamily="2" charset="-122"/>
              </a:rPr>
              <a:t>150</a:t>
            </a:r>
            <a:r>
              <a:rPr lang="zh-CN" altLang="en-US" sz="2400" dirty="0">
                <a:latin typeface="宋体" pitchFamily="2" charset="-122"/>
              </a:rPr>
              <a:t>的三位整数，</a:t>
            </a:r>
            <a:r>
              <a:rPr lang="en-US" altLang="zh-CN" sz="2400" dirty="0">
                <a:latin typeface="宋体" pitchFamily="2" charset="-122"/>
              </a:rPr>
              <a:t>XB</a:t>
            </a:r>
            <a:r>
              <a:rPr lang="zh-CN" altLang="en-US" sz="2400" dirty="0">
                <a:latin typeface="宋体" pitchFamily="2" charset="-122"/>
              </a:rPr>
              <a:t>为（男，女）</a:t>
            </a:r>
            <a:endParaRPr lang="zh-CN" altLang="en-US" sz="2400" dirty="0">
              <a:latin typeface="宋体" pitchFamily="2" charset="-122"/>
            </a:endParaRPr>
          </a:p>
          <a:p>
            <a:pPr algn="just" eaLnBrk="1" hangingPunct="1">
              <a:lnSpc>
                <a:spcPct val="90000"/>
              </a:lnSpc>
              <a:buFont typeface="Wingdings" panose="05000000000000000000" pitchFamily="2" charset="2"/>
              <a:buNone/>
            </a:pPr>
            <a:r>
              <a:rPr lang="en-US" altLang="zh-CN" sz="2400" dirty="0">
                <a:latin typeface="宋体" pitchFamily="2" charset="-122"/>
              </a:rPr>
              <a:t>7</a:t>
            </a:r>
            <a:r>
              <a:rPr lang="zh-CN" altLang="en-US" sz="2400" dirty="0">
                <a:latin typeface="宋体" pitchFamily="2" charset="-122"/>
              </a:rPr>
              <a:t>）</a:t>
            </a:r>
            <a:r>
              <a:rPr lang="zh-CN" altLang="en-US" sz="2400" dirty="0">
                <a:solidFill>
                  <a:srgbClr val="FF0000"/>
                </a:solidFill>
                <a:latin typeface="宋体" pitchFamily="2" charset="-122"/>
              </a:rPr>
              <a:t>码</a:t>
            </a:r>
            <a:r>
              <a:rPr lang="zh-CN" altLang="en-US" sz="2400" dirty="0">
                <a:latin typeface="宋体" pitchFamily="2" charset="-122"/>
              </a:rPr>
              <a:t>（</a:t>
            </a:r>
            <a:r>
              <a:rPr lang="en-US" altLang="zh-CN" sz="2400" dirty="0">
                <a:latin typeface="宋体" pitchFamily="2" charset="-122"/>
              </a:rPr>
              <a:t>KEY</a:t>
            </a:r>
            <a:r>
              <a:rPr lang="zh-CN" altLang="en-US" sz="2400" dirty="0">
                <a:latin typeface="宋体" pitchFamily="2" charset="-122"/>
              </a:rPr>
              <a:t>）</a:t>
            </a:r>
            <a:endParaRPr lang="zh-CN" altLang="en-US" sz="2400" dirty="0">
              <a:latin typeface="宋体" pitchFamily="2" charset="-122"/>
            </a:endParaRPr>
          </a:p>
          <a:p>
            <a:pPr algn="just" eaLnBrk="1" hangingPunct="1">
              <a:lnSpc>
                <a:spcPct val="90000"/>
              </a:lnSpc>
              <a:buFont typeface="Wingdings" panose="05000000000000000000" pitchFamily="2" charset="2"/>
              <a:buNone/>
            </a:pPr>
            <a:r>
              <a:rPr lang="en-US" altLang="zh-CN" sz="2400" dirty="0">
                <a:latin typeface="宋体" pitchFamily="2" charset="-122"/>
              </a:rPr>
              <a:t>——</a:t>
            </a:r>
            <a:r>
              <a:rPr lang="zh-CN" altLang="en-US" sz="2400" dirty="0">
                <a:solidFill>
                  <a:srgbClr val="FF0000"/>
                </a:solidFill>
                <a:latin typeface="宋体" pitchFamily="2" charset="-122"/>
              </a:rPr>
              <a:t>唯一标识</a:t>
            </a:r>
            <a:r>
              <a:rPr lang="zh-CN" altLang="en-US" sz="2400" dirty="0">
                <a:latin typeface="宋体" pitchFamily="2" charset="-122"/>
              </a:rPr>
              <a:t>一个实体集中任何实体值又</a:t>
            </a:r>
            <a:r>
              <a:rPr lang="zh-CN" altLang="en-US" sz="2400" dirty="0">
                <a:solidFill>
                  <a:srgbClr val="FF0000"/>
                </a:solidFill>
                <a:latin typeface="宋体" pitchFamily="2" charset="-122"/>
              </a:rPr>
              <a:t>不含多余属性</a:t>
            </a:r>
            <a:r>
              <a:rPr lang="zh-CN" altLang="en-US" sz="2400" dirty="0">
                <a:latin typeface="宋体" pitchFamily="2" charset="-122"/>
              </a:rPr>
              <a:t>的属性集。</a:t>
            </a:r>
            <a:endParaRPr lang="zh-CN" altLang="en-US" sz="2400" dirty="0">
              <a:latin typeface="宋体" pitchFamily="2" charset="-122"/>
            </a:endParaRPr>
          </a:p>
          <a:p>
            <a:pPr algn="just" eaLnBrk="1" hangingPunct="1">
              <a:lnSpc>
                <a:spcPct val="90000"/>
              </a:lnSpc>
              <a:buFont typeface="Wingdings" panose="05000000000000000000" pitchFamily="2" charset="2"/>
              <a:buNone/>
            </a:pPr>
            <a:r>
              <a:rPr lang="en-US" altLang="zh-CN" sz="2400" dirty="0">
                <a:latin typeface="宋体" pitchFamily="2" charset="-122"/>
              </a:rPr>
              <a:t>Student (KEY)</a:t>
            </a:r>
            <a:r>
              <a:rPr lang="zh-CN" altLang="en-US" sz="2400" dirty="0">
                <a:latin typeface="宋体" pitchFamily="2" charset="-122"/>
              </a:rPr>
              <a:t>：</a:t>
            </a:r>
            <a:r>
              <a:rPr lang="en-US" altLang="zh-CN" sz="2400" dirty="0">
                <a:latin typeface="宋体" pitchFamily="2" charset="-122"/>
              </a:rPr>
              <a:t>XH</a:t>
            </a:r>
            <a:endParaRPr lang="en-US" altLang="zh-CN" sz="2400" dirty="0">
              <a:latin typeface="宋体" pitchFamily="2" charset="-122"/>
            </a:endParaRPr>
          </a:p>
          <a:p>
            <a:pPr algn="just" eaLnBrk="1" hangingPunct="1">
              <a:lnSpc>
                <a:spcPct val="90000"/>
              </a:lnSpc>
              <a:buFont typeface="Wingdings" panose="05000000000000000000" pitchFamily="2" charset="2"/>
              <a:buNone/>
            </a:pPr>
            <a:r>
              <a:rPr lang="en-US" altLang="zh-CN" sz="2400" i="1" dirty="0">
                <a:solidFill>
                  <a:srgbClr val="FF0000"/>
                </a:solidFill>
                <a:latin typeface="宋体" pitchFamily="2" charset="-122"/>
              </a:rPr>
              <a:t>SC</a:t>
            </a:r>
            <a:r>
              <a:rPr lang="zh-CN" altLang="en-US" sz="2400" i="1" dirty="0">
                <a:solidFill>
                  <a:srgbClr val="FF0000"/>
                </a:solidFill>
                <a:latin typeface="宋体" pitchFamily="2" charset="-122"/>
              </a:rPr>
              <a:t>（</a:t>
            </a:r>
            <a:r>
              <a:rPr lang="en-US" altLang="zh-CN" sz="2400" i="1" dirty="0">
                <a:solidFill>
                  <a:srgbClr val="FF0000"/>
                </a:solidFill>
                <a:latin typeface="宋体" pitchFamily="2" charset="-122"/>
              </a:rPr>
              <a:t>KEY</a:t>
            </a:r>
            <a:r>
              <a:rPr lang="zh-CN" altLang="en-US" sz="2400" i="1" dirty="0">
                <a:solidFill>
                  <a:srgbClr val="FF0000"/>
                </a:solidFill>
                <a:latin typeface="宋体" pitchFamily="2" charset="-122"/>
              </a:rPr>
              <a:t>）：（</a:t>
            </a:r>
            <a:r>
              <a:rPr lang="en-US" altLang="zh-CN" sz="2400" i="1" dirty="0">
                <a:solidFill>
                  <a:srgbClr val="FF0000"/>
                </a:solidFill>
                <a:latin typeface="宋体" pitchFamily="2" charset="-122"/>
              </a:rPr>
              <a:t>XH</a:t>
            </a:r>
            <a:r>
              <a:rPr lang="zh-CN" altLang="en-US" sz="2400" i="1" dirty="0">
                <a:solidFill>
                  <a:srgbClr val="FF0000"/>
                </a:solidFill>
                <a:latin typeface="宋体" pitchFamily="2" charset="-122"/>
              </a:rPr>
              <a:t>，</a:t>
            </a:r>
            <a:r>
              <a:rPr lang="en-US" altLang="zh-CN" sz="2400" i="1" dirty="0">
                <a:solidFill>
                  <a:srgbClr val="FF0000"/>
                </a:solidFill>
                <a:latin typeface="宋体" pitchFamily="2" charset="-122"/>
              </a:rPr>
              <a:t>KH</a:t>
            </a:r>
            <a:r>
              <a:rPr lang="zh-CN" altLang="en-US" sz="2400" i="1" dirty="0">
                <a:solidFill>
                  <a:srgbClr val="FF0000"/>
                </a:solidFill>
                <a:latin typeface="宋体" pitchFamily="2" charset="-122"/>
              </a:rPr>
              <a:t>）</a:t>
            </a:r>
            <a:endParaRPr lang="zh-CN" altLang="en-US" sz="2400" i="1" dirty="0">
              <a:solidFill>
                <a:srgbClr val="FF0000"/>
              </a:solidFill>
              <a:latin typeface="宋体" pitchFamily="2" charset="-122"/>
            </a:endParaRPr>
          </a:p>
          <a:p>
            <a:pPr algn="just" eaLnBrk="1" hangingPunct="1">
              <a:lnSpc>
                <a:spcPct val="90000"/>
              </a:lnSpc>
              <a:buFont typeface="Wingdings" panose="05000000000000000000" pitchFamily="2" charset="2"/>
              <a:buNone/>
            </a:pPr>
            <a:r>
              <a:rPr lang="en-US" altLang="zh-CN" sz="2400" dirty="0">
                <a:latin typeface="宋体" pitchFamily="2" charset="-122"/>
              </a:rPr>
              <a:t>·</a:t>
            </a:r>
            <a:r>
              <a:rPr lang="zh-CN" altLang="en-US" sz="2400" dirty="0">
                <a:latin typeface="宋体" pitchFamily="2" charset="-122"/>
              </a:rPr>
              <a:t>至少一个属性</a:t>
            </a:r>
            <a:endParaRPr lang="zh-CN" altLang="en-US" sz="2400" dirty="0">
              <a:latin typeface="宋体" pitchFamily="2" charset="-122"/>
            </a:endParaRPr>
          </a:p>
          <a:p>
            <a:pPr algn="just" eaLnBrk="1" hangingPunct="1">
              <a:lnSpc>
                <a:spcPct val="90000"/>
              </a:lnSpc>
              <a:buFont typeface="Wingdings" panose="05000000000000000000" pitchFamily="2" charset="2"/>
              <a:buNone/>
            </a:pPr>
            <a:r>
              <a:rPr lang="en-US" altLang="zh-CN" sz="2400" dirty="0">
                <a:latin typeface="宋体" pitchFamily="2" charset="-122"/>
              </a:rPr>
              <a:t>·</a:t>
            </a:r>
            <a:r>
              <a:rPr lang="zh-CN" altLang="en-US" sz="2400" dirty="0">
                <a:latin typeface="宋体" pitchFamily="2" charset="-122"/>
              </a:rPr>
              <a:t>至多</a:t>
            </a:r>
            <a:r>
              <a:rPr lang="en-US" altLang="zh-CN" sz="2400" dirty="0">
                <a:latin typeface="宋体" pitchFamily="2" charset="-122"/>
              </a:rPr>
              <a:t>n</a:t>
            </a:r>
            <a:r>
              <a:rPr lang="zh-CN" altLang="en-US" sz="2400" dirty="0">
                <a:latin typeface="宋体" pitchFamily="2" charset="-122"/>
              </a:rPr>
              <a:t>个属性</a:t>
            </a:r>
            <a:endParaRPr lang="zh-CN" altLang="en-US" sz="2400" dirty="0">
              <a:latin typeface="宋体" pitchFamily="2" charset="-122"/>
            </a:endParaRPr>
          </a:p>
          <a:p>
            <a:pPr algn="just" eaLnBrk="1" hangingPunct="1">
              <a:lnSpc>
                <a:spcPct val="90000"/>
              </a:lnSpc>
              <a:buFont typeface="Wingdings" panose="05000000000000000000" pitchFamily="2" charset="2"/>
              <a:buNone/>
            </a:pPr>
            <a:r>
              <a:rPr lang="en-US" altLang="zh-CN" sz="2400" dirty="0">
                <a:latin typeface="宋体" pitchFamily="2" charset="-122"/>
              </a:rPr>
              <a:t>·</a:t>
            </a:r>
            <a:r>
              <a:rPr lang="zh-CN" altLang="en-US" sz="2400" dirty="0">
                <a:latin typeface="宋体" pitchFamily="2" charset="-122"/>
              </a:rPr>
              <a:t>不含多余属性</a:t>
            </a:r>
            <a:endParaRPr lang="zh-CN" altLang="en-US" sz="2400" dirty="0">
              <a:latin typeface="宋体" pitchFamily="2" charset="-122"/>
            </a:endParaRPr>
          </a:p>
          <a:p>
            <a:pPr algn="just" eaLnBrk="1" hangingPunct="1">
              <a:lnSpc>
                <a:spcPct val="90000"/>
              </a:lnSpc>
              <a:buFont typeface="Wingdings" panose="05000000000000000000" pitchFamily="2" charset="2"/>
              <a:buNone/>
            </a:pPr>
            <a:r>
              <a:rPr lang="zh-CN" altLang="en-US" sz="2400" dirty="0">
                <a:latin typeface="宋体" pitchFamily="2" charset="-122"/>
              </a:rPr>
              <a:t>（</a:t>
            </a:r>
            <a:r>
              <a:rPr lang="en-US" altLang="zh-CN" sz="2400" dirty="0">
                <a:latin typeface="宋体" pitchFamily="2" charset="-122"/>
              </a:rPr>
              <a:t>XH</a:t>
            </a:r>
            <a:r>
              <a:rPr lang="zh-CN" altLang="en-US" sz="2400" dirty="0">
                <a:latin typeface="宋体" pitchFamily="2" charset="-122"/>
              </a:rPr>
              <a:t>，</a:t>
            </a:r>
            <a:r>
              <a:rPr lang="en-US" altLang="zh-CN" sz="2400" dirty="0">
                <a:latin typeface="宋体" pitchFamily="2" charset="-122"/>
              </a:rPr>
              <a:t>XM</a:t>
            </a:r>
            <a:r>
              <a:rPr lang="zh-CN" altLang="en-US" sz="2400" dirty="0">
                <a:latin typeface="宋体" pitchFamily="2" charset="-122"/>
              </a:rPr>
              <a:t>）</a:t>
            </a:r>
            <a:r>
              <a:rPr lang="en-US" altLang="zh-CN" sz="2400" dirty="0">
                <a:latin typeface="宋体" pitchFamily="2" charset="-122"/>
              </a:rPr>
              <a:t>——KEY</a:t>
            </a:r>
            <a:r>
              <a:rPr lang="zh-CN" altLang="en-US" sz="2400" dirty="0">
                <a:latin typeface="宋体" pitchFamily="2" charset="-122"/>
              </a:rPr>
              <a:t>？</a:t>
            </a:r>
            <a:endParaRPr lang="zh-CN" altLang="en-US" sz="2400" dirty="0">
              <a:latin typeface="宋体" pitchFamily="2" charset="-122"/>
            </a:endParaRPr>
          </a:p>
        </p:txBody>
      </p:sp>
      <p:sp>
        <p:nvSpPr>
          <p:cNvPr id="6" name="灯片编号占位符 5"/>
          <p:cNvSpPr>
            <a:spLocks noGrp="1"/>
          </p:cNvSpPr>
          <p:nvPr>
            <p:ph type="sldNum" sz="quarter" idx="12"/>
          </p:nvPr>
        </p:nvSpPr>
        <p:spPr/>
        <p:txBody>
          <a:bodyPr/>
          <a:lstStyle/>
          <a:p>
            <a:pPr>
              <a:defRPr/>
            </a:pPr>
            <a:fld id="{AADCE445-FA1F-4E16-9B0C-30121020EF5C}" type="slidenum">
              <a:rPr lang="en-US" altLang="zh-CN"/>
            </a:fld>
            <a:endParaRPr lang="en-US" altLang="zh-CN"/>
          </a:p>
        </p:txBody>
      </p:sp>
      <p:sp>
        <p:nvSpPr>
          <p:cNvPr id="79876" name="AutoShape 4"/>
          <p:cNvSpPr>
            <a:spLocks noChangeArrowheads="1"/>
          </p:cNvSpPr>
          <p:nvPr/>
        </p:nvSpPr>
        <p:spPr bwMode="auto">
          <a:xfrm>
            <a:off x="8172450" y="3635375"/>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sp>
        <p:nvSpPr>
          <p:cNvPr id="5" name="对话气泡: 圆角矩形 4"/>
          <p:cNvSpPr/>
          <p:nvPr/>
        </p:nvSpPr>
        <p:spPr>
          <a:xfrm>
            <a:off x="4427984" y="4077072"/>
            <a:ext cx="1080120" cy="432048"/>
          </a:xfrm>
          <a:prstGeom prst="wedgeRoundRectCallout">
            <a:avLst>
              <a:gd name="adj1" fmla="val -82218"/>
              <a:gd name="adj2" fmla="val 48565"/>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b="1" dirty="0">
                <a:effectLst>
                  <a:outerShdw blurRad="38100" dist="38100" dir="2700000" algn="tl">
                    <a:srgbClr val="000000">
                      <a:alpha val="43137"/>
                    </a:srgbClr>
                  </a:outerShdw>
                </a:effectLst>
                <a:latin typeface="宋体" pitchFamily="2" charset="-122"/>
                <a:ea typeface="宋体" pitchFamily="2" charset="-122"/>
              </a:rPr>
              <a:t>实体？</a:t>
            </a:r>
            <a:endParaRPr lang="zh-CN" altLang="en-US" b="1" dirty="0">
              <a:effectLst>
                <a:outerShdw blurRad="38100" dist="38100" dir="2700000" algn="tl">
                  <a:srgbClr val="000000">
                    <a:alpha val="43137"/>
                  </a:srgbClr>
                </a:outerShdw>
              </a:effectLst>
              <a:latin typeface="宋体" pitchFamily="2" charset="-122"/>
              <a:ea typeface="宋体" pitchFamily="2" charset="-122"/>
            </a:endParaRP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3"/>
          <p:cNvSpPr>
            <a:spLocks noGrp="1"/>
          </p:cNvSpPr>
          <p:nvPr>
            <p:ph type="sldNum" sz="quarter" idx="12"/>
          </p:nvPr>
        </p:nvSpPr>
        <p:spPr/>
        <p:txBody>
          <a:bodyPr/>
          <a:lstStyle/>
          <a:p>
            <a:pPr>
              <a:defRPr/>
            </a:pPr>
            <a:fld id="{9500D575-CBD5-4A8C-B2D8-83F18E26F4D9}" type="slidenum">
              <a:rPr lang="en-US" altLang="zh-CN"/>
            </a:fld>
            <a:endParaRPr lang="en-US" altLang="zh-CN"/>
          </a:p>
        </p:txBody>
      </p:sp>
      <p:sp>
        <p:nvSpPr>
          <p:cNvPr id="5125" name="Text Box 1026"/>
          <p:cNvSpPr txBox="1">
            <a:spLocks noChangeArrowheads="1"/>
          </p:cNvSpPr>
          <p:nvPr/>
        </p:nvSpPr>
        <p:spPr bwMode="auto">
          <a:xfrm>
            <a:off x="198438" y="841375"/>
            <a:ext cx="8221662" cy="2049463"/>
          </a:xfrm>
          <a:prstGeom prst="rect">
            <a:avLst/>
          </a:prstGeom>
          <a:noFill/>
          <a:ln w="9525">
            <a:noFill/>
            <a:miter lim="800000"/>
          </a:ln>
        </p:spPr>
        <p:txBody>
          <a:bodyPr>
            <a:spAutoFit/>
          </a:bodyPr>
          <a:lstStyle/>
          <a:p>
            <a:pPr>
              <a:lnSpc>
                <a:spcPct val="90000"/>
              </a:lnSpc>
              <a:spcBef>
                <a:spcPct val="20000"/>
              </a:spcBef>
              <a:buClr>
                <a:schemeClr val="folHlink"/>
              </a:buClr>
              <a:buSzPct val="75000"/>
              <a:buFont typeface="Wingdings" panose="05000000000000000000" pitchFamily="2" charset="2"/>
              <a:buNone/>
            </a:pPr>
            <a:r>
              <a:rPr lang="en-US" altLang="zh-CN" dirty="0"/>
              <a:t>8</a:t>
            </a:r>
            <a:r>
              <a:rPr lang="zh-CN" altLang="en-US" dirty="0">
                <a:latin typeface="Times New Roman" panose="02020503050405090304" pitchFamily="18" charset="0"/>
              </a:rPr>
              <a:t>）</a:t>
            </a:r>
            <a:r>
              <a:rPr lang="zh-CN" altLang="en-US" dirty="0">
                <a:solidFill>
                  <a:srgbClr val="FF0000"/>
                </a:solidFill>
                <a:latin typeface="Times New Roman" panose="02020503050405090304" pitchFamily="18" charset="0"/>
              </a:rPr>
              <a:t>联系</a:t>
            </a:r>
            <a:r>
              <a:rPr lang="zh-CN" altLang="en-US" dirty="0">
                <a:latin typeface="Times New Roman" panose="02020503050405090304" pitchFamily="18" charset="0"/>
              </a:rPr>
              <a:t>（</a:t>
            </a:r>
            <a:r>
              <a:rPr lang="en-US" altLang="zh-CN" dirty="0"/>
              <a:t>relationship</a:t>
            </a:r>
            <a:r>
              <a:rPr lang="zh-CN" altLang="en-US" dirty="0">
                <a:latin typeface="Times New Roman" panose="02020503050405090304" pitchFamily="18" charset="0"/>
              </a:rPr>
              <a:t>）（实体集之间的联系）</a:t>
            </a:r>
            <a:endParaRPr lang="zh-CN" altLang="en-US" dirty="0"/>
          </a:p>
          <a:p>
            <a:pPr>
              <a:lnSpc>
                <a:spcPct val="90000"/>
              </a:lnSpc>
              <a:spcBef>
                <a:spcPct val="20000"/>
              </a:spcBef>
              <a:buClr>
                <a:schemeClr val="folHlink"/>
              </a:buClr>
              <a:buSzPct val="75000"/>
              <a:buFont typeface="Wingdings" panose="05000000000000000000" pitchFamily="2" charset="2"/>
              <a:buNone/>
            </a:pPr>
            <a:r>
              <a:rPr lang="zh-CN" altLang="en-US" dirty="0">
                <a:latin typeface="Times New Roman" panose="02020503050405090304" pitchFamily="18" charset="0"/>
              </a:rPr>
              <a:t>①一对一联系（</a:t>
            </a:r>
            <a:r>
              <a:rPr lang="en-US" altLang="zh-CN" dirty="0"/>
              <a:t> 1</a:t>
            </a:r>
            <a:r>
              <a:rPr lang="zh-CN" altLang="en-US" dirty="0">
                <a:latin typeface="Times New Roman" panose="02020503050405090304" pitchFamily="18" charset="0"/>
              </a:rPr>
              <a:t>：</a:t>
            </a:r>
            <a:r>
              <a:rPr lang="en-US" altLang="zh-CN" dirty="0"/>
              <a:t>1 </a:t>
            </a:r>
            <a:r>
              <a:rPr lang="zh-CN" altLang="en-US" dirty="0">
                <a:latin typeface="Times New Roman" panose="02020503050405090304" pitchFamily="18" charset="0"/>
              </a:rPr>
              <a:t>）</a:t>
            </a:r>
            <a:endParaRPr lang="zh-CN" altLang="en-US" dirty="0"/>
          </a:p>
          <a:p>
            <a:pPr>
              <a:lnSpc>
                <a:spcPct val="90000"/>
              </a:lnSpc>
              <a:spcBef>
                <a:spcPct val="20000"/>
              </a:spcBef>
              <a:buClr>
                <a:schemeClr val="folHlink"/>
              </a:buClr>
              <a:buSzPct val="75000"/>
              <a:buFont typeface="Wingdings" panose="05000000000000000000" pitchFamily="2" charset="2"/>
              <a:buNone/>
            </a:pPr>
            <a:r>
              <a:rPr lang="zh-CN" altLang="en-US" dirty="0">
                <a:latin typeface="宋体" pitchFamily="2" charset="-122"/>
              </a:rPr>
              <a:t>定义：设有实体集</a:t>
            </a:r>
            <a:r>
              <a:rPr lang="en-US" altLang="zh-CN" dirty="0"/>
              <a:t>A</a:t>
            </a:r>
            <a:r>
              <a:rPr lang="zh-CN" altLang="en-US" dirty="0">
                <a:latin typeface="宋体" pitchFamily="2" charset="-122"/>
              </a:rPr>
              <a:t>、</a:t>
            </a:r>
            <a:r>
              <a:rPr lang="en-US" altLang="zh-CN" dirty="0"/>
              <a:t>B</a:t>
            </a:r>
            <a:r>
              <a:rPr lang="zh-CN" altLang="en-US" dirty="0">
                <a:latin typeface="宋体" pitchFamily="2" charset="-122"/>
              </a:rPr>
              <a:t>，若其中任何一个实体集中每一实体</a:t>
            </a:r>
            <a:endParaRPr lang="zh-CN" altLang="en-US" dirty="0">
              <a:latin typeface="宋体" pitchFamily="2" charset="-122"/>
            </a:endParaRPr>
          </a:p>
          <a:p>
            <a:pPr>
              <a:lnSpc>
                <a:spcPct val="90000"/>
              </a:lnSpc>
              <a:spcBef>
                <a:spcPct val="20000"/>
              </a:spcBef>
              <a:buClr>
                <a:schemeClr val="folHlink"/>
              </a:buClr>
              <a:buSzPct val="75000"/>
              <a:buFont typeface="Wingdings" panose="05000000000000000000" pitchFamily="2" charset="2"/>
              <a:buNone/>
            </a:pPr>
            <a:r>
              <a:rPr lang="zh-CN" altLang="en-US" dirty="0">
                <a:latin typeface="宋体" pitchFamily="2" charset="-122"/>
              </a:rPr>
              <a:t>至多与另一实体集中的一个实体有联系，则称</a:t>
            </a:r>
            <a:r>
              <a:rPr lang="en-US" altLang="zh-CN" dirty="0"/>
              <a:t>A</a:t>
            </a:r>
            <a:r>
              <a:rPr lang="zh-CN" altLang="en-US" dirty="0">
                <a:latin typeface="宋体" pitchFamily="2" charset="-122"/>
              </a:rPr>
              <a:t>、</a:t>
            </a:r>
            <a:r>
              <a:rPr lang="en-US" altLang="zh-CN" dirty="0"/>
              <a:t>B</a:t>
            </a:r>
            <a:r>
              <a:rPr lang="zh-CN" altLang="en-US" dirty="0">
                <a:latin typeface="宋体" pitchFamily="2" charset="-122"/>
              </a:rPr>
              <a:t>间存在一</a:t>
            </a:r>
            <a:endParaRPr lang="zh-CN" altLang="en-US" dirty="0">
              <a:latin typeface="宋体" pitchFamily="2" charset="-122"/>
            </a:endParaRPr>
          </a:p>
          <a:p>
            <a:pPr>
              <a:lnSpc>
                <a:spcPct val="90000"/>
              </a:lnSpc>
              <a:spcBef>
                <a:spcPct val="20000"/>
              </a:spcBef>
              <a:buClr>
                <a:schemeClr val="folHlink"/>
              </a:buClr>
              <a:buSzPct val="75000"/>
              <a:buFont typeface="Wingdings" panose="05000000000000000000" pitchFamily="2" charset="2"/>
              <a:buNone/>
            </a:pPr>
            <a:r>
              <a:rPr lang="zh-CN" altLang="en-US" dirty="0">
                <a:latin typeface="宋体" pitchFamily="2" charset="-122"/>
              </a:rPr>
              <a:t>对一联系。</a:t>
            </a:r>
            <a:r>
              <a:rPr lang="zh-CN" altLang="en-US" dirty="0"/>
              <a:t> </a:t>
            </a:r>
            <a:endParaRPr lang="zh-CN" altLang="en-US" dirty="0"/>
          </a:p>
        </p:txBody>
      </p:sp>
      <p:graphicFrame>
        <p:nvGraphicFramePr>
          <p:cNvPr id="5122" name="Object 12"/>
          <p:cNvGraphicFramePr>
            <a:graphicFrameLocks noChangeAspect="1"/>
          </p:cNvGraphicFramePr>
          <p:nvPr/>
        </p:nvGraphicFramePr>
        <p:xfrm>
          <a:off x="2057400" y="2898775"/>
          <a:ext cx="3886200" cy="779463"/>
        </p:xfrm>
        <a:graphic>
          <a:graphicData uri="http://schemas.openxmlformats.org/presentationml/2006/ole">
            <mc:AlternateContent xmlns:mc="http://schemas.openxmlformats.org/markup-compatibility/2006">
              <mc:Choice xmlns:v="urn:schemas-microsoft-com:vml" Requires="v">
                <p:oleObj spid="_x0000_s5876" name="" r:id="rId1" imgW="2391410" imgH="476885" progId="Word.Picture.8">
                  <p:embed/>
                </p:oleObj>
              </mc:Choice>
              <mc:Fallback>
                <p:oleObj name="" r:id="rId1" imgW="2391410" imgH="476885" progId="Word.Picture.8">
                  <p:embed/>
                  <p:pic>
                    <p:nvPicPr>
                      <p:cNvPr id="0" name="Object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2898775"/>
                        <a:ext cx="3886200" cy="779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26" name="Text Box 1029"/>
          <p:cNvSpPr txBox="1">
            <a:spLocks noChangeArrowheads="1"/>
          </p:cNvSpPr>
          <p:nvPr/>
        </p:nvSpPr>
        <p:spPr bwMode="auto">
          <a:xfrm>
            <a:off x="288925" y="3844925"/>
            <a:ext cx="8302273" cy="1569660"/>
          </a:xfrm>
          <a:prstGeom prst="rect">
            <a:avLst/>
          </a:prstGeom>
          <a:noFill/>
          <a:ln w="9525">
            <a:noFill/>
            <a:miter lim="800000"/>
          </a:ln>
        </p:spPr>
        <p:txBody>
          <a:bodyPr wrap="none">
            <a:spAutoFit/>
          </a:bodyPr>
          <a:lstStyle/>
          <a:p>
            <a:r>
              <a:rPr lang="en-US" altLang="zh-CN" dirty="0">
                <a:latin typeface="Times New Roman" panose="02020503050405090304" pitchFamily="18" charset="0"/>
              </a:rPr>
              <a:t>②</a:t>
            </a:r>
            <a:r>
              <a:rPr lang="en-US" altLang="zh-CN" dirty="0"/>
              <a:t> </a:t>
            </a:r>
            <a:r>
              <a:rPr lang="zh-CN" altLang="en-US" dirty="0"/>
              <a:t>一对多联系（</a:t>
            </a:r>
            <a:r>
              <a:rPr lang="en-US" altLang="zh-CN" dirty="0"/>
              <a:t>1</a:t>
            </a:r>
            <a:r>
              <a:rPr lang="zh-CN" altLang="en-US" dirty="0">
                <a:latin typeface="Times New Roman" panose="02020503050405090304" pitchFamily="18" charset="0"/>
              </a:rPr>
              <a:t>：</a:t>
            </a:r>
            <a:r>
              <a:rPr lang="en-US" altLang="zh-CN" dirty="0"/>
              <a:t>n</a:t>
            </a:r>
            <a:r>
              <a:rPr lang="zh-CN" altLang="en-US" dirty="0"/>
              <a:t>、   </a:t>
            </a:r>
            <a:r>
              <a:rPr lang="en-US" altLang="zh-CN" dirty="0"/>
              <a:t>1</a:t>
            </a:r>
            <a:r>
              <a:rPr lang="zh-CN" altLang="en-US" dirty="0"/>
              <a:t>：</a:t>
            </a:r>
            <a:r>
              <a:rPr lang="en-US" altLang="zh-CN" dirty="0"/>
              <a:t>m</a:t>
            </a:r>
            <a:r>
              <a:rPr lang="zh-CN" altLang="en-US" dirty="0"/>
              <a:t>）</a:t>
            </a:r>
            <a:endParaRPr lang="en-US" altLang="zh-CN" dirty="0"/>
          </a:p>
          <a:p>
            <a:r>
              <a:rPr lang="zh-CN" altLang="en-US" dirty="0">
                <a:latin typeface="宋体" pitchFamily="2" charset="-122"/>
              </a:rPr>
              <a:t>定义：设有实体集</a:t>
            </a:r>
            <a:r>
              <a:rPr lang="en-US" altLang="zh-CN" dirty="0"/>
              <a:t>A</a:t>
            </a:r>
            <a:r>
              <a:rPr lang="zh-CN" altLang="en-US" dirty="0">
                <a:latin typeface="宋体" pitchFamily="2" charset="-122"/>
              </a:rPr>
              <a:t>、</a:t>
            </a:r>
            <a:r>
              <a:rPr lang="en-US" altLang="zh-CN" dirty="0"/>
              <a:t>B</a:t>
            </a:r>
            <a:r>
              <a:rPr lang="zh-CN" altLang="en-US" dirty="0">
                <a:latin typeface="宋体" pitchFamily="2" charset="-122"/>
              </a:rPr>
              <a:t>，若</a:t>
            </a:r>
            <a:r>
              <a:rPr lang="en-US" altLang="zh-CN" dirty="0"/>
              <a:t>A</a:t>
            </a:r>
            <a:r>
              <a:rPr lang="zh-CN" altLang="en-US" dirty="0">
                <a:latin typeface="宋体" pitchFamily="2" charset="-122"/>
              </a:rPr>
              <a:t>中的每一个实体，与</a:t>
            </a:r>
            <a:r>
              <a:rPr lang="en-US" altLang="zh-CN" dirty="0"/>
              <a:t>B</a:t>
            </a:r>
            <a:r>
              <a:rPr lang="zh-CN" altLang="en-US" dirty="0">
                <a:latin typeface="宋体" pitchFamily="2" charset="-122"/>
              </a:rPr>
              <a:t>中的</a:t>
            </a:r>
            <a:r>
              <a:rPr lang="en-US" altLang="zh-CN" dirty="0"/>
              <a:t>n</a:t>
            </a:r>
            <a:r>
              <a:rPr lang="zh-CN" altLang="en-US" dirty="0">
                <a:latin typeface="宋体" pitchFamily="2" charset="-122"/>
              </a:rPr>
              <a:t>个</a:t>
            </a:r>
            <a:endParaRPr lang="zh-CN" altLang="en-US" dirty="0">
              <a:latin typeface="宋体" pitchFamily="2" charset="-122"/>
            </a:endParaRPr>
          </a:p>
          <a:p>
            <a:r>
              <a:rPr lang="zh-CN" altLang="en-US" dirty="0">
                <a:latin typeface="宋体" pitchFamily="2" charset="-122"/>
              </a:rPr>
              <a:t>实体（</a:t>
            </a:r>
            <a:r>
              <a:rPr lang="en-US" altLang="zh-CN" dirty="0"/>
              <a:t>n</a:t>
            </a:r>
            <a:r>
              <a:rPr lang="en-US" altLang="zh-CN" dirty="0">
                <a:latin typeface="宋体" pitchFamily="2" charset="-122"/>
              </a:rPr>
              <a:t>≥</a:t>
            </a:r>
            <a:r>
              <a:rPr lang="en-US" altLang="zh-CN" dirty="0"/>
              <a:t>0</a:t>
            </a:r>
            <a:r>
              <a:rPr lang="zh-CN" altLang="en-US" dirty="0">
                <a:latin typeface="宋体" pitchFamily="2" charset="-122"/>
              </a:rPr>
              <a:t>）有联系，反之，对于</a:t>
            </a:r>
            <a:r>
              <a:rPr lang="en-US" altLang="zh-CN" dirty="0"/>
              <a:t>B</a:t>
            </a:r>
            <a:r>
              <a:rPr lang="zh-CN" altLang="en-US" dirty="0">
                <a:latin typeface="宋体" pitchFamily="2" charset="-122"/>
              </a:rPr>
              <a:t>中的每一个实体，至多</a:t>
            </a:r>
            <a:endParaRPr lang="zh-CN" altLang="en-US" dirty="0">
              <a:latin typeface="宋体" pitchFamily="2" charset="-122"/>
            </a:endParaRPr>
          </a:p>
          <a:p>
            <a:r>
              <a:rPr lang="zh-CN" altLang="en-US" dirty="0">
                <a:latin typeface="宋体" pitchFamily="2" charset="-122"/>
              </a:rPr>
              <a:t>与</a:t>
            </a:r>
            <a:r>
              <a:rPr lang="en-US" altLang="zh-CN" dirty="0"/>
              <a:t>A</a:t>
            </a:r>
            <a:r>
              <a:rPr lang="zh-CN" altLang="en-US" dirty="0">
                <a:latin typeface="宋体" pitchFamily="2" charset="-122"/>
              </a:rPr>
              <a:t>中的一个实体有联系，则称</a:t>
            </a:r>
            <a:r>
              <a:rPr lang="en-US" altLang="zh-CN" dirty="0"/>
              <a:t>A</a:t>
            </a:r>
            <a:r>
              <a:rPr lang="zh-CN" altLang="en-US" dirty="0">
                <a:latin typeface="宋体" pitchFamily="2" charset="-122"/>
              </a:rPr>
              <a:t>、</a:t>
            </a:r>
            <a:r>
              <a:rPr lang="en-US" altLang="zh-CN" dirty="0"/>
              <a:t>B</a:t>
            </a:r>
            <a:r>
              <a:rPr lang="zh-CN" altLang="en-US" dirty="0">
                <a:latin typeface="宋体" pitchFamily="2" charset="-122"/>
              </a:rPr>
              <a:t>间存在一对多联系。</a:t>
            </a:r>
            <a:r>
              <a:rPr lang="zh-CN" altLang="en-US" dirty="0"/>
              <a:t> </a:t>
            </a:r>
            <a:endParaRPr lang="zh-CN" altLang="en-US" dirty="0"/>
          </a:p>
        </p:txBody>
      </p:sp>
      <p:graphicFrame>
        <p:nvGraphicFramePr>
          <p:cNvPr id="5123" name="Object 13"/>
          <p:cNvGraphicFramePr>
            <a:graphicFrameLocks noChangeAspect="1"/>
          </p:cNvGraphicFramePr>
          <p:nvPr/>
        </p:nvGraphicFramePr>
        <p:xfrm>
          <a:off x="1981200" y="5565775"/>
          <a:ext cx="4114800" cy="720725"/>
        </p:xfrm>
        <a:graphic>
          <a:graphicData uri="http://schemas.openxmlformats.org/presentationml/2006/ole">
            <mc:AlternateContent xmlns:mc="http://schemas.openxmlformats.org/markup-compatibility/2006">
              <mc:Choice xmlns:v="urn:schemas-microsoft-com:vml" Requires="v">
                <p:oleObj spid="_x0000_s5877" name="" r:id="rId3" imgW="2391410" imgH="476885" progId="Word.Picture.8">
                  <p:embed/>
                </p:oleObj>
              </mc:Choice>
              <mc:Fallback>
                <p:oleObj name="" r:id="rId3" imgW="2391410" imgH="476885" progId="Word.Picture.8">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t="12000"/>
                      <a:stretch>
                        <a:fillRect/>
                      </a:stretch>
                    </p:blipFill>
                    <p:spPr bwMode="auto">
                      <a:xfrm>
                        <a:off x="1981200" y="5565775"/>
                        <a:ext cx="4114800" cy="720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87F37E3A-8AC2-42E4-B774-D5DECC2C04B6}" type="slidenum">
              <a:rPr lang="en-US" altLang="zh-CN"/>
            </a:fld>
            <a:endParaRPr lang="en-US" altLang="zh-CN"/>
          </a:p>
        </p:txBody>
      </p:sp>
      <p:sp>
        <p:nvSpPr>
          <p:cNvPr id="6148" name="Text Box 2"/>
          <p:cNvSpPr txBox="1">
            <a:spLocks noChangeArrowheads="1"/>
          </p:cNvSpPr>
          <p:nvPr/>
        </p:nvSpPr>
        <p:spPr bwMode="auto">
          <a:xfrm>
            <a:off x="381000" y="723900"/>
            <a:ext cx="8300670" cy="1569660"/>
          </a:xfrm>
          <a:prstGeom prst="rect">
            <a:avLst/>
          </a:prstGeom>
          <a:noFill/>
          <a:ln w="9525">
            <a:noFill/>
            <a:miter lim="800000"/>
          </a:ln>
        </p:spPr>
        <p:txBody>
          <a:bodyPr wrap="none">
            <a:spAutoFit/>
          </a:bodyPr>
          <a:lstStyle/>
          <a:p>
            <a:r>
              <a:rPr lang="en-US" altLang="zh-CN" dirty="0">
                <a:latin typeface="Times New Roman" panose="02020503050405090304" pitchFamily="18" charset="0"/>
              </a:rPr>
              <a:t>③</a:t>
            </a:r>
            <a:r>
              <a:rPr lang="en-US" altLang="zh-CN" dirty="0"/>
              <a:t> </a:t>
            </a:r>
            <a:r>
              <a:rPr lang="zh-CN" altLang="en-US" dirty="0"/>
              <a:t>多对多</a:t>
            </a:r>
            <a:r>
              <a:rPr lang="zh-CN" altLang="en-US" dirty="0">
                <a:latin typeface="Times New Roman" panose="02020503050405090304" pitchFamily="18" charset="0"/>
              </a:rPr>
              <a:t>联系（</a:t>
            </a:r>
            <a:r>
              <a:rPr lang="en-US" altLang="zh-CN" dirty="0"/>
              <a:t>m:n</a:t>
            </a:r>
            <a:r>
              <a:rPr lang="zh-CN" altLang="en-US" dirty="0">
                <a:latin typeface="Times New Roman" panose="02020503050405090304" pitchFamily="18" charset="0"/>
              </a:rPr>
              <a:t>）</a:t>
            </a:r>
            <a:endParaRPr lang="zh-CN" altLang="en-US" dirty="0"/>
          </a:p>
          <a:p>
            <a:r>
              <a:rPr lang="zh-CN" altLang="en-US" dirty="0">
                <a:latin typeface="宋体" pitchFamily="2" charset="-122"/>
              </a:rPr>
              <a:t>定义：设有实体集</a:t>
            </a:r>
            <a:r>
              <a:rPr lang="en-US" altLang="zh-CN" dirty="0"/>
              <a:t>A</a:t>
            </a:r>
            <a:r>
              <a:rPr lang="zh-CN" altLang="en-US" dirty="0">
                <a:latin typeface="宋体" pitchFamily="2" charset="-122"/>
              </a:rPr>
              <a:t>、</a:t>
            </a:r>
            <a:r>
              <a:rPr lang="en-US" altLang="zh-CN" dirty="0"/>
              <a:t>B</a:t>
            </a:r>
            <a:r>
              <a:rPr lang="zh-CN" altLang="en-US" dirty="0">
                <a:latin typeface="宋体" pitchFamily="2" charset="-122"/>
              </a:rPr>
              <a:t>，若其中任何一个实体集中的每一个</a:t>
            </a:r>
            <a:endParaRPr lang="zh-CN" altLang="en-US" dirty="0">
              <a:latin typeface="宋体" pitchFamily="2" charset="-122"/>
            </a:endParaRPr>
          </a:p>
          <a:p>
            <a:r>
              <a:rPr lang="zh-CN" altLang="en-US" dirty="0">
                <a:latin typeface="宋体" pitchFamily="2" charset="-122"/>
              </a:rPr>
              <a:t>实体均与另一个实体集中的</a:t>
            </a:r>
            <a:r>
              <a:rPr lang="en-US" altLang="zh-CN" dirty="0"/>
              <a:t>n</a:t>
            </a:r>
            <a:r>
              <a:rPr lang="zh-CN" altLang="en-US" dirty="0">
                <a:latin typeface="宋体" pitchFamily="2" charset="-122"/>
              </a:rPr>
              <a:t>个实体（</a:t>
            </a:r>
            <a:r>
              <a:rPr lang="en-US" altLang="zh-CN" dirty="0"/>
              <a:t>n</a:t>
            </a:r>
            <a:r>
              <a:rPr lang="en-US" altLang="zh-CN" dirty="0">
                <a:latin typeface="宋体" pitchFamily="2" charset="-122"/>
              </a:rPr>
              <a:t>≥</a:t>
            </a:r>
            <a:r>
              <a:rPr lang="en-US" altLang="zh-CN" dirty="0"/>
              <a:t>0</a:t>
            </a:r>
            <a:r>
              <a:rPr lang="zh-CN" altLang="en-US" dirty="0">
                <a:latin typeface="宋体" pitchFamily="2" charset="-122"/>
              </a:rPr>
              <a:t>）有联系，则称</a:t>
            </a:r>
            <a:endParaRPr lang="zh-CN" altLang="en-US" dirty="0">
              <a:latin typeface="宋体" pitchFamily="2" charset="-122"/>
            </a:endParaRPr>
          </a:p>
          <a:p>
            <a:r>
              <a:rPr lang="en-US" altLang="zh-CN" dirty="0"/>
              <a:t>A</a:t>
            </a:r>
            <a:r>
              <a:rPr lang="zh-CN" altLang="en-US" dirty="0">
                <a:latin typeface="宋体" pitchFamily="2" charset="-122"/>
              </a:rPr>
              <a:t>、</a:t>
            </a:r>
            <a:r>
              <a:rPr lang="en-US" altLang="zh-CN" dirty="0"/>
              <a:t>B</a:t>
            </a:r>
            <a:r>
              <a:rPr lang="zh-CN" altLang="en-US" dirty="0">
                <a:latin typeface="宋体" pitchFamily="2" charset="-122"/>
              </a:rPr>
              <a:t>间存在多对多联系。</a:t>
            </a:r>
            <a:r>
              <a:rPr lang="zh-CN" altLang="en-US" dirty="0"/>
              <a:t> </a:t>
            </a:r>
            <a:endParaRPr lang="zh-CN" altLang="en-US" dirty="0"/>
          </a:p>
        </p:txBody>
      </p:sp>
      <p:graphicFrame>
        <p:nvGraphicFramePr>
          <p:cNvPr id="6146" name="Object 7"/>
          <p:cNvGraphicFramePr>
            <a:graphicFrameLocks noChangeAspect="1"/>
          </p:cNvGraphicFramePr>
          <p:nvPr/>
        </p:nvGraphicFramePr>
        <p:xfrm>
          <a:off x="1981200" y="2324100"/>
          <a:ext cx="4343400" cy="731838"/>
        </p:xfrm>
        <a:graphic>
          <a:graphicData uri="http://schemas.openxmlformats.org/presentationml/2006/ole">
            <mc:AlternateContent xmlns:mc="http://schemas.openxmlformats.org/markup-compatibility/2006">
              <mc:Choice xmlns:v="urn:schemas-microsoft-com:vml" Requires="v">
                <p:oleObj spid="_x0000_s6523" name="" r:id="rId1" imgW="2391410" imgH="476885" progId="Word.Picture.8">
                  <p:embed/>
                </p:oleObj>
              </mc:Choice>
              <mc:Fallback>
                <p:oleObj name="" r:id="rId1" imgW="2391410" imgH="476885" progId="Word.Picture.8">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t="16000"/>
                      <a:stretch>
                        <a:fillRect/>
                      </a:stretch>
                    </p:blipFill>
                    <p:spPr bwMode="auto">
                      <a:xfrm>
                        <a:off x="1981200" y="2324100"/>
                        <a:ext cx="4343400" cy="731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49" name="Text Box 5"/>
          <p:cNvSpPr txBox="1">
            <a:spLocks noChangeArrowheads="1"/>
          </p:cNvSpPr>
          <p:nvPr/>
        </p:nvSpPr>
        <p:spPr bwMode="auto">
          <a:xfrm>
            <a:off x="304800" y="3448050"/>
            <a:ext cx="6991016" cy="1569660"/>
          </a:xfrm>
          <a:prstGeom prst="rect">
            <a:avLst/>
          </a:prstGeom>
          <a:noFill/>
          <a:ln w="9525">
            <a:noFill/>
            <a:miter lim="800000"/>
          </a:ln>
        </p:spPr>
        <p:txBody>
          <a:bodyPr wrap="none">
            <a:spAutoFit/>
          </a:bodyPr>
          <a:lstStyle/>
          <a:p>
            <a:r>
              <a:rPr lang="zh-CN" altLang="en-US" b="1" dirty="0">
                <a:latin typeface="Arial" panose="020B0604020202090204" pitchFamily="34" charset="0"/>
                <a:cs typeface="Arial" panose="020B0604020202090204" pitchFamily="34" charset="0"/>
              </a:rPr>
              <a:t>思考问题：如何描述、区分多个相同类型的联系？</a:t>
            </a:r>
            <a:endParaRPr lang="zh-CN" altLang="en-US" b="1" dirty="0">
              <a:latin typeface="Arial" panose="020B0604020202090204" pitchFamily="34" charset="0"/>
              <a:cs typeface="Arial" panose="020B0604020202090204" pitchFamily="34" charset="0"/>
            </a:endParaRPr>
          </a:p>
          <a:p>
            <a:endParaRPr lang="zh-CN" altLang="en-US" b="1" dirty="0">
              <a:latin typeface="Arial" panose="020B0604020202090204" pitchFamily="34" charset="0"/>
              <a:cs typeface="Arial" panose="020B0604020202090204" pitchFamily="34" charset="0"/>
            </a:endParaRPr>
          </a:p>
          <a:p>
            <a:r>
              <a:rPr lang="en-US" altLang="zh-CN" b="1" dirty="0">
                <a:latin typeface="Arial" panose="020B0604020202090204" pitchFamily="34" charset="0"/>
                <a:cs typeface="Arial" panose="020B0604020202090204" pitchFamily="34" charset="0"/>
              </a:rPr>
              <a:t>4. </a:t>
            </a:r>
            <a:r>
              <a:rPr lang="zh-CN" altLang="en-US" b="1" dirty="0">
                <a:latin typeface="Arial" panose="020B0604020202090204" pitchFamily="34" charset="0"/>
                <a:ea typeface="黑体" panose="02010609060101010101" pitchFamily="49" charset="-122"/>
              </a:rPr>
              <a:t>概念模型表法方法</a:t>
            </a:r>
            <a:endParaRPr lang="zh-CN" altLang="en-US" b="1" dirty="0">
              <a:latin typeface="Arial" panose="020B0604020202090204" pitchFamily="34" charset="0"/>
              <a:cs typeface="Arial" panose="020B0604020202090204" pitchFamily="34" charset="0"/>
            </a:endParaRPr>
          </a:p>
          <a:p>
            <a:r>
              <a:rPr lang="en-US" altLang="zh-CN" dirty="0"/>
              <a:t>E-R</a:t>
            </a:r>
            <a:r>
              <a:rPr lang="zh-CN" altLang="en-US" dirty="0">
                <a:latin typeface="Times New Roman" panose="02020503050405090304" pitchFamily="18" charset="0"/>
              </a:rPr>
              <a:t>方法（</a:t>
            </a:r>
            <a:r>
              <a:rPr lang="en-US" altLang="zh-CN" dirty="0"/>
              <a:t>Entity Relationship Approach</a:t>
            </a:r>
            <a:r>
              <a:rPr lang="zh-CN" altLang="en-US" dirty="0">
                <a:latin typeface="Times New Roman" panose="02020503050405090304" pitchFamily="18" charset="0"/>
              </a:rPr>
              <a:t>）</a:t>
            </a:r>
            <a:endParaRPr lang="zh-CN" altLang="en-US" dirty="0"/>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3"/>
          <p:cNvSpPr>
            <a:spLocks noGrp="1"/>
          </p:cNvSpPr>
          <p:nvPr>
            <p:ph type="sldNum" sz="quarter" idx="12"/>
          </p:nvPr>
        </p:nvSpPr>
        <p:spPr/>
        <p:txBody>
          <a:bodyPr/>
          <a:lstStyle/>
          <a:p>
            <a:pPr>
              <a:defRPr/>
            </a:pPr>
            <a:fld id="{019AD514-7119-41F4-B398-33183153D378}" type="slidenum">
              <a:rPr lang="en-US" altLang="zh-CN"/>
            </a:fld>
            <a:endParaRPr lang="en-US" altLang="zh-CN"/>
          </a:p>
        </p:txBody>
      </p:sp>
      <p:sp>
        <p:nvSpPr>
          <p:cNvPr id="7174" name="Text Box 2"/>
          <p:cNvSpPr txBox="1">
            <a:spLocks noChangeArrowheads="1"/>
          </p:cNvSpPr>
          <p:nvPr/>
        </p:nvSpPr>
        <p:spPr bwMode="auto">
          <a:xfrm>
            <a:off x="533400" y="717550"/>
            <a:ext cx="1901825" cy="457200"/>
          </a:xfrm>
          <a:prstGeom prst="rect">
            <a:avLst/>
          </a:prstGeom>
          <a:noFill/>
          <a:ln w="9525">
            <a:noFill/>
            <a:miter lim="800000"/>
          </a:ln>
        </p:spPr>
        <p:txBody>
          <a:bodyPr wrap="none">
            <a:spAutoFit/>
          </a:bodyPr>
          <a:lstStyle/>
          <a:p>
            <a:r>
              <a:rPr lang="en-US" altLang="zh-CN"/>
              <a:t>1</a:t>
            </a:r>
            <a:r>
              <a:rPr lang="zh-CN" altLang="en-US">
                <a:latin typeface="宋体" pitchFamily="2" charset="-122"/>
              </a:rPr>
              <a:t>）构成形式</a:t>
            </a:r>
            <a:endParaRPr lang="zh-CN" altLang="en-US">
              <a:latin typeface="宋体" pitchFamily="2" charset="-122"/>
            </a:endParaRPr>
          </a:p>
        </p:txBody>
      </p:sp>
      <p:graphicFrame>
        <p:nvGraphicFramePr>
          <p:cNvPr id="7170" name="Object 17"/>
          <p:cNvGraphicFramePr>
            <a:graphicFrameLocks noChangeAspect="1"/>
          </p:cNvGraphicFramePr>
          <p:nvPr/>
        </p:nvGraphicFramePr>
        <p:xfrm>
          <a:off x="457200" y="1327150"/>
          <a:ext cx="2068513" cy="2971800"/>
        </p:xfrm>
        <a:graphic>
          <a:graphicData uri="http://schemas.openxmlformats.org/presentationml/2006/ole">
            <mc:AlternateContent xmlns:mc="http://schemas.openxmlformats.org/markup-compatibility/2006">
              <mc:Choice xmlns:v="urn:schemas-microsoft-com:vml" Requires="v">
                <p:oleObj spid="_x0000_s24685" name="" r:id="rId1" imgW="1696085" imgH="2429510" progId="Word.Picture.8">
                  <p:embed/>
                </p:oleObj>
              </mc:Choice>
              <mc:Fallback>
                <p:oleObj name="" r:id="rId1" imgW="1696085" imgH="2429510" progId="Word.Picture.8">
                  <p:embed/>
                  <p:pic>
                    <p:nvPicPr>
                      <p:cNvPr id="0" name="Object 1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327150"/>
                        <a:ext cx="2068513" cy="297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71" name="Object 18"/>
          <p:cNvGraphicFramePr>
            <a:graphicFrameLocks noChangeAspect="1"/>
          </p:cNvGraphicFramePr>
          <p:nvPr/>
        </p:nvGraphicFramePr>
        <p:xfrm>
          <a:off x="2819400" y="1327150"/>
          <a:ext cx="2343150" cy="2895600"/>
        </p:xfrm>
        <a:graphic>
          <a:graphicData uri="http://schemas.openxmlformats.org/presentationml/2006/ole">
            <mc:AlternateContent xmlns:mc="http://schemas.openxmlformats.org/markup-compatibility/2006">
              <mc:Choice xmlns:v="urn:schemas-microsoft-com:vml" Requires="v">
                <p:oleObj spid="_x0000_s24686" name="Picture" r:id="rId3" imgW="1943100" imgH="2400300" progId="Word.Picture.8">
                  <p:embed/>
                </p:oleObj>
              </mc:Choice>
              <mc:Fallback>
                <p:oleObj name="Picture" r:id="rId3" imgW="1943100" imgH="2400300" progId="Word.Picture.8">
                  <p:embed/>
                  <p:pic>
                    <p:nvPicPr>
                      <p:cNvPr id="0" name="Object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19400" y="1327150"/>
                        <a:ext cx="2343150" cy="2895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72" name="Object 19"/>
          <p:cNvGraphicFramePr>
            <a:graphicFrameLocks noChangeAspect="1"/>
          </p:cNvGraphicFramePr>
          <p:nvPr/>
        </p:nvGraphicFramePr>
        <p:xfrm>
          <a:off x="5410200" y="1327150"/>
          <a:ext cx="2130425" cy="2895600"/>
        </p:xfrm>
        <a:graphic>
          <a:graphicData uri="http://schemas.openxmlformats.org/presentationml/2006/ole">
            <mc:AlternateContent xmlns:mc="http://schemas.openxmlformats.org/markup-compatibility/2006">
              <mc:Choice xmlns:v="urn:schemas-microsoft-com:vml" Requires="v">
                <p:oleObj spid="_x0000_s24687" name="" r:id="rId5" imgW="1685290" imgH="2400300" progId="Word.Picture.8">
                  <p:embed/>
                </p:oleObj>
              </mc:Choice>
              <mc:Fallback>
                <p:oleObj name="" r:id="rId5" imgW="1685290" imgH="2400300" progId="Word.Picture.8">
                  <p:embed/>
                  <p:pic>
                    <p:nvPicPr>
                      <p:cNvPr id="0" name="Object 1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10200" y="1327150"/>
                        <a:ext cx="2130425" cy="2895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75" name="Text Box 9"/>
          <p:cNvSpPr txBox="1">
            <a:spLocks noChangeArrowheads="1"/>
          </p:cNvSpPr>
          <p:nvPr/>
        </p:nvSpPr>
        <p:spPr bwMode="auto">
          <a:xfrm>
            <a:off x="152400" y="4451350"/>
            <a:ext cx="8991600" cy="1938992"/>
          </a:xfrm>
          <a:prstGeom prst="rect">
            <a:avLst/>
          </a:prstGeom>
          <a:noFill/>
          <a:ln w="9525">
            <a:noFill/>
            <a:miter lim="800000"/>
          </a:ln>
        </p:spPr>
        <p:txBody>
          <a:bodyPr>
            <a:spAutoFit/>
          </a:bodyPr>
          <a:lstStyle/>
          <a:p>
            <a:r>
              <a:rPr lang="zh-CN" altLang="en-US" dirty="0">
                <a:latin typeface="Times New Roman" panose="02020503050405090304" pitchFamily="18" charset="0"/>
              </a:rPr>
              <a:t>（</a:t>
            </a:r>
            <a:r>
              <a:rPr lang="en-US" altLang="zh-CN" dirty="0"/>
              <a:t>1</a:t>
            </a:r>
            <a:r>
              <a:rPr lang="zh-CN" altLang="en-US" dirty="0">
                <a:latin typeface="Times New Roman" panose="02020503050405090304" pitchFamily="18" charset="0"/>
              </a:rPr>
              <a:t>）矩形表示</a:t>
            </a:r>
            <a:r>
              <a:rPr lang="zh-CN" altLang="en-US" dirty="0">
                <a:solidFill>
                  <a:srgbClr val="FF0000"/>
                </a:solidFill>
                <a:latin typeface="Times New Roman" panose="02020503050405090304" pitchFamily="18" charset="0"/>
              </a:rPr>
              <a:t>实体型</a:t>
            </a:r>
            <a:r>
              <a:rPr lang="zh-CN" altLang="en-US" dirty="0">
                <a:latin typeface="Times New Roman" panose="02020503050405090304" pitchFamily="18" charset="0"/>
              </a:rPr>
              <a:t>，框内标明实体名；</a:t>
            </a:r>
            <a:endParaRPr lang="zh-CN" altLang="en-US" dirty="0"/>
          </a:p>
          <a:p>
            <a:r>
              <a:rPr lang="zh-CN" altLang="en-US" dirty="0">
                <a:latin typeface="Times New Roman" panose="02020503050405090304" pitchFamily="18" charset="0"/>
              </a:rPr>
              <a:t>（</a:t>
            </a:r>
            <a:r>
              <a:rPr lang="en-US" altLang="zh-CN" dirty="0"/>
              <a:t>2</a:t>
            </a:r>
            <a:r>
              <a:rPr lang="zh-CN" altLang="en-US" dirty="0">
                <a:latin typeface="Times New Roman" panose="02020503050405090304" pitchFamily="18" charset="0"/>
              </a:rPr>
              <a:t>）椭园表示</a:t>
            </a:r>
            <a:r>
              <a:rPr lang="zh-CN" altLang="en-US" dirty="0">
                <a:solidFill>
                  <a:srgbClr val="FF0000"/>
                </a:solidFill>
                <a:latin typeface="Times New Roman" panose="02020503050405090304" pitchFamily="18" charset="0"/>
              </a:rPr>
              <a:t>属性，</a:t>
            </a:r>
            <a:r>
              <a:rPr lang="zh-CN" altLang="en-US" dirty="0">
                <a:latin typeface="Times New Roman" panose="02020503050405090304" pitchFamily="18" charset="0"/>
              </a:rPr>
              <a:t>用</a:t>
            </a:r>
            <a:r>
              <a:rPr lang="zh-CN" altLang="en-US" b="1" dirty="0">
                <a:latin typeface="Times New Roman" panose="02020503050405090304" pitchFamily="18" charset="0"/>
              </a:rPr>
              <a:t>无向边</a:t>
            </a:r>
            <a:r>
              <a:rPr lang="zh-CN" altLang="en-US" dirty="0">
                <a:latin typeface="Times New Roman" panose="02020503050405090304" pitchFamily="18" charset="0"/>
              </a:rPr>
              <a:t>与其相应实体连接；</a:t>
            </a:r>
            <a:endParaRPr lang="zh-CN" altLang="en-US" dirty="0"/>
          </a:p>
          <a:p>
            <a:r>
              <a:rPr lang="zh-CN" altLang="en-US" dirty="0">
                <a:latin typeface="Times New Roman" panose="02020503050405090304" pitchFamily="18" charset="0"/>
              </a:rPr>
              <a:t>（</a:t>
            </a:r>
            <a:r>
              <a:rPr lang="en-US" altLang="zh-CN" dirty="0"/>
              <a:t>3</a:t>
            </a:r>
            <a:r>
              <a:rPr lang="zh-CN" altLang="en-US" dirty="0">
                <a:latin typeface="Times New Roman" panose="02020503050405090304" pitchFamily="18" charset="0"/>
              </a:rPr>
              <a:t>）菱形表示</a:t>
            </a:r>
            <a:r>
              <a:rPr lang="zh-CN" altLang="en-US" dirty="0">
                <a:solidFill>
                  <a:srgbClr val="FF0000"/>
                </a:solidFill>
                <a:latin typeface="Times New Roman" panose="02020503050405090304" pitchFamily="18" charset="0"/>
              </a:rPr>
              <a:t>联系</a:t>
            </a:r>
            <a:r>
              <a:rPr lang="zh-CN" altLang="en-US" dirty="0">
                <a:latin typeface="Times New Roman" panose="02020503050405090304" pitchFamily="18" charset="0"/>
              </a:rPr>
              <a:t>，内标明联系名，用</a:t>
            </a:r>
            <a:r>
              <a:rPr lang="zh-CN" altLang="en-US" b="1" dirty="0">
                <a:latin typeface="Times New Roman" panose="02020503050405090304" pitchFamily="18" charset="0"/>
              </a:rPr>
              <a:t>无向边</a:t>
            </a:r>
            <a:r>
              <a:rPr lang="zh-CN" altLang="en-US" dirty="0">
                <a:latin typeface="Times New Roman" panose="02020503050405090304" pitchFamily="18" charset="0"/>
              </a:rPr>
              <a:t>与相关实体连接；</a:t>
            </a:r>
            <a:endParaRPr lang="zh-CN" altLang="en-US" dirty="0"/>
          </a:p>
          <a:p>
            <a:r>
              <a:rPr lang="zh-CN" altLang="en-US" dirty="0">
                <a:latin typeface="Times New Roman" panose="02020503050405090304" pitchFamily="18" charset="0"/>
              </a:rPr>
              <a:t>（</a:t>
            </a:r>
            <a:r>
              <a:rPr lang="en-US" altLang="zh-CN" dirty="0"/>
              <a:t>4</a:t>
            </a:r>
            <a:r>
              <a:rPr lang="zh-CN" altLang="en-US" dirty="0">
                <a:latin typeface="Times New Roman" panose="02020503050405090304" pitchFamily="18" charset="0"/>
              </a:rPr>
              <a:t>）无向边上标明</a:t>
            </a:r>
            <a:r>
              <a:rPr lang="zh-CN" altLang="en-US" dirty="0">
                <a:solidFill>
                  <a:srgbClr val="FF0000"/>
                </a:solidFill>
                <a:latin typeface="Times New Roman" panose="02020503050405090304" pitchFamily="18" charset="0"/>
              </a:rPr>
              <a:t>联系的类型</a:t>
            </a:r>
            <a:r>
              <a:rPr lang="zh-CN" altLang="en-US" dirty="0">
                <a:latin typeface="Times New Roman" panose="02020503050405090304" pitchFamily="18" charset="0"/>
              </a:rPr>
              <a:t>（</a:t>
            </a:r>
            <a:r>
              <a:rPr lang="en-US" altLang="zh-CN" dirty="0"/>
              <a:t>1</a:t>
            </a:r>
            <a:r>
              <a:rPr lang="zh-CN" altLang="en-US" dirty="0">
                <a:latin typeface="Times New Roman" panose="02020503050405090304" pitchFamily="18" charset="0"/>
              </a:rPr>
              <a:t>：</a:t>
            </a:r>
            <a:r>
              <a:rPr lang="en-US" altLang="zh-CN" dirty="0"/>
              <a:t>1</a:t>
            </a:r>
            <a:r>
              <a:rPr lang="zh-CN" altLang="en-US" dirty="0">
                <a:latin typeface="Times New Roman" panose="02020503050405090304" pitchFamily="18" charset="0"/>
              </a:rPr>
              <a:t>，</a:t>
            </a:r>
            <a:r>
              <a:rPr lang="en-US" altLang="zh-CN" dirty="0"/>
              <a:t>1</a:t>
            </a:r>
            <a:r>
              <a:rPr lang="zh-CN" altLang="en-US" dirty="0">
                <a:latin typeface="Times New Roman" panose="02020503050405090304" pitchFamily="18" charset="0"/>
              </a:rPr>
              <a:t>：</a:t>
            </a:r>
            <a:r>
              <a:rPr lang="en-US" altLang="zh-CN" dirty="0"/>
              <a:t>m</a:t>
            </a:r>
            <a:r>
              <a:rPr lang="zh-CN" altLang="en-US" dirty="0">
                <a:latin typeface="Times New Roman" panose="02020503050405090304" pitchFamily="18" charset="0"/>
              </a:rPr>
              <a:t>，</a:t>
            </a:r>
            <a:r>
              <a:rPr lang="en-US" altLang="zh-CN" dirty="0"/>
              <a:t>m</a:t>
            </a:r>
            <a:r>
              <a:rPr lang="zh-CN" altLang="en-US" dirty="0">
                <a:latin typeface="Times New Roman" panose="02020503050405090304" pitchFamily="18" charset="0"/>
              </a:rPr>
              <a:t>：</a:t>
            </a:r>
            <a:r>
              <a:rPr lang="en-US" altLang="zh-CN" dirty="0"/>
              <a:t>n</a:t>
            </a:r>
            <a:r>
              <a:rPr lang="zh-CN" altLang="en-US" dirty="0">
                <a:latin typeface="Times New Roman" panose="02020503050405090304" pitchFamily="18" charset="0"/>
              </a:rPr>
              <a:t>）；</a:t>
            </a:r>
            <a:endParaRPr lang="zh-CN" altLang="en-US" dirty="0"/>
          </a:p>
          <a:p>
            <a:r>
              <a:rPr lang="zh-CN" altLang="en-US" dirty="0">
                <a:latin typeface="宋体" pitchFamily="2" charset="-122"/>
              </a:rPr>
              <a:t>（</a:t>
            </a:r>
            <a:r>
              <a:rPr lang="en-US" altLang="zh-CN" dirty="0"/>
              <a:t>5</a:t>
            </a:r>
            <a:r>
              <a:rPr lang="zh-CN" altLang="en-US" dirty="0">
                <a:latin typeface="宋体" pitchFamily="2" charset="-122"/>
              </a:rPr>
              <a:t>）可据需要任意展开。</a:t>
            </a:r>
            <a:r>
              <a:rPr lang="zh-CN" altLang="en-US" dirty="0"/>
              <a:t> </a:t>
            </a:r>
            <a:endParaRPr lang="zh-CN" altLang="en-US" dirty="0"/>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A8775843-3F8D-4024-B10F-F564877C7A5B}" type="slidenum">
              <a:rPr lang="en-US" altLang="zh-CN"/>
            </a:fld>
            <a:endParaRPr lang="en-US" altLang="zh-CN"/>
          </a:p>
        </p:txBody>
      </p:sp>
      <p:graphicFrame>
        <p:nvGraphicFramePr>
          <p:cNvPr id="8194" name="Object 7"/>
          <p:cNvGraphicFramePr>
            <a:graphicFrameLocks noChangeAspect="1"/>
          </p:cNvGraphicFramePr>
          <p:nvPr/>
        </p:nvGraphicFramePr>
        <p:xfrm>
          <a:off x="2743200" y="730250"/>
          <a:ext cx="3048000" cy="2312988"/>
        </p:xfrm>
        <a:graphic>
          <a:graphicData uri="http://schemas.openxmlformats.org/presentationml/2006/ole">
            <mc:AlternateContent xmlns:mc="http://schemas.openxmlformats.org/markup-compatibility/2006">
              <mc:Choice xmlns:v="urn:schemas-microsoft-com:vml" Requires="v">
                <p:oleObj spid="_x0000_s8571" name="Picture2" r:id="rId1" imgW="2171700" imgH="1520825" progId="Word.Picture.8">
                  <p:embed/>
                </p:oleObj>
              </mc:Choice>
              <mc:Fallback>
                <p:oleObj name="Picture2" r:id="rId1" imgW="2171700" imgH="1520825" progId="Word.Picture.8">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730250"/>
                        <a:ext cx="3048000" cy="23129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196" name="Text Box 4"/>
          <p:cNvSpPr txBox="1">
            <a:spLocks noChangeArrowheads="1"/>
          </p:cNvSpPr>
          <p:nvPr/>
        </p:nvSpPr>
        <p:spPr bwMode="auto">
          <a:xfrm>
            <a:off x="457200" y="3067050"/>
            <a:ext cx="6223178" cy="1938992"/>
          </a:xfrm>
          <a:prstGeom prst="rect">
            <a:avLst/>
          </a:prstGeom>
          <a:noFill/>
          <a:ln w="9525">
            <a:noFill/>
            <a:miter lim="800000"/>
          </a:ln>
        </p:spPr>
        <p:txBody>
          <a:bodyPr wrap="none">
            <a:spAutoFit/>
          </a:bodyPr>
          <a:lstStyle/>
          <a:p>
            <a:r>
              <a:rPr lang="en-US" altLang="zh-CN" dirty="0"/>
              <a:t>2</a:t>
            </a:r>
            <a:r>
              <a:rPr lang="zh-CN" altLang="en-US" dirty="0">
                <a:latin typeface="Times New Roman" panose="02020503050405090304" pitchFamily="18" charset="0"/>
              </a:rPr>
              <a:t>）特征</a:t>
            </a:r>
            <a:endParaRPr lang="zh-CN" altLang="en-US" dirty="0"/>
          </a:p>
          <a:p>
            <a:r>
              <a:rPr lang="zh-CN" altLang="en-US" dirty="0">
                <a:latin typeface="Times New Roman" panose="02020503050405090304" pitchFamily="18" charset="0"/>
              </a:rPr>
              <a:t>（</a:t>
            </a:r>
            <a:r>
              <a:rPr lang="en-US" altLang="zh-CN" dirty="0"/>
              <a:t>1</a:t>
            </a:r>
            <a:r>
              <a:rPr lang="zh-CN" altLang="en-US" dirty="0">
                <a:latin typeface="Times New Roman" panose="02020503050405090304" pitchFamily="18" charset="0"/>
              </a:rPr>
              <a:t>）直接表示</a:t>
            </a:r>
            <a:r>
              <a:rPr lang="en-US" altLang="zh-CN" dirty="0"/>
              <a:t>m</a:t>
            </a:r>
            <a:r>
              <a:rPr lang="zh-CN" altLang="en-US" dirty="0">
                <a:latin typeface="Times New Roman" panose="02020503050405090304" pitchFamily="18" charset="0"/>
              </a:rPr>
              <a:t>：</a:t>
            </a:r>
            <a:r>
              <a:rPr lang="en-US" altLang="zh-CN" dirty="0"/>
              <a:t>n</a:t>
            </a:r>
            <a:r>
              <a:rPr lang="zh-CN" altLang="en-US" dirty="0">
                <a:latin typeface="Times New Roman" panose="02020503050405090304" pitchFamily="18" charset="0"/>
              </a:rPr>
              <a:t>联系</a:t>
            </a:r>
            <a:endParaRPr lang="zh-CN" altLang="en-US" dirty="0"/>
          </a:p>
          <a:p>
            <a:r>
              <a:rPr lang="zh-CN" altLang="en-US" dirty="0">
                <a:latin typeface="Times New Roman" panose="02020503050405090304" pitchFamily="18" charset="0"/>
              </a:rPr>
              <a:t>（</a:t>
            </a:r>
            <a:r>
              <a:rPr lang="en-US" altLang="zh-CN" dirty="0"/>
              <a:t>2</a:t>
            </a:r>
            <a:r>
              <a:rPr lang="zh-CN" altLang="en-US" dirty="0">
                <a:latin typeface="Times New Roman" panose="02020503050405090304" pitchFamily="18" charset="0"/>
              </a:rPr>
              <a:t>）与特定</a:t>
            </a:r>
            <a:r>
              <a:rPr lang="en-US" altLang="zh-CN" dirty="0"/>
              <a:t>DBMS</a:t>
            </a:r>
            <a:r>
              <a:rPr lang="zh-CN" altLang="en-US" dirty="0">
                <a:latin typeface="Times New Roman" panose="02020503050405090304" pitchFamily="18" charset="0"/>
              </a:rPr>
              <a:t>无关</a:t>
            </a:r>
            <a:endParaRPr lang="zh-CN" altLang="en-US" dirty="0"/>
          </a:p>
          <a:p>
            <a:r>
              <a:rPr lang="zh-CN" altLang="en-US" dirty="0"/>
              <a:t>     </a:t>
            </a:r>
            <a:r>
              <a:rPr lang="zh-CN" altLang="en-US" dirty="0">
                <a:latin typeface="Times New Roman" panose="02020503050405090304" pitchFamily="18" charset="0"/>
              </a:rPr>
              <a:t>可应用性广、抽象、接近现实</a:t>
            </a:r>
            <a:endParaRPr lang="zh-CN" altLang="en-US" dirty="0"/>
          </a:p>
          <a:p>
            <a:r>
              <a:rPr lang="zh-CN" altLang="en-US" dirty="0">
                <a:latin typeface="Times New Roman" panose="02020503050405090304" pitchFamily="18" charset="0"/>
              </a:rPr>
              <a:t>（</a:t>
            </a:r>
            <a:r>
              <a:rPr lang="en-US" altLang="zh-CN" dirty="0"/>
              <a:t>3</a:t>
            </a:r>
            <a:r>
              <a:rPr lang="zh-CN" altLang="en-US" dirty="0">
                <a:latin typeface="Times New Roman" panose="02020503050405090304" pitchFamily="18" charset="0"/>
              </a:rPr>
              <a:t>）易于向特定</a:t>
            </a:r>
            <a:r>
              <a:rPr lang="en-US" altLang="zh-CN" dirty="0"/>
              <a:t>DBMS</a:t>
            </a:r>
            <a:r>
              <a:rPr lang="zh-CN" altLang="en-US" dirty="0">
                <a:latin typeface="Times New Roman" panose="02020503050405090304" pitchFamily="18" charset="0"/>
              </a:rPr>
              <a:t>支持的数据模型转换</a:t>
            </a:r>
            <a:endParaRPr lang="zh-CN" altLang="en-US" dirty="0"/>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a:xfrm>
            <a:off x="539750" y="587375"/>
            <a:ext cx="8162925" cy="762000"/>
          </a:xfrm>
        </p:spPr>
        <p:txBody>
          <a:bodyPr>
            <a:normAutofit fontScale="90000"/>
          </a:bodyPr>
          <a:lstStyle/>
          <a:p>
            <a:pPr eaLnBrk="1" fontAlgn="auto" hangingPunct="1">
              <a:spcAft>
                <a:spcPts val="0"/>
              </a:spcAft>
              <a:defRPr/>
            </a:pPr>
            <a:r>
              <a:rPr lang="zh-CN" altLang="en-US"/>
              <a:t>实体联系举例</a:t>
            </a:r>
            <a:endParaRPr lang="zh-CN" altLang="en-US"/>
          </a:p>
        </p:txBody>
      </p:sp>
      <p:sp>
        <p:nvSpPr>
          <p:cNvPr id="80899" name="Rectangle 3"/>
          <p:cNvSpPr>
            <a:spLocks noGrp="1" noChangeArrowheads="1"/>
          </p:cNvSpPr>
          <p:nvPr>
            <p:ph idx="1"/>
          </p:nvPr>
        </p:nvSpPr>
        <p:spPr>
          <a:xfrm>
            <a:off x="539750" y="1452563"/>
            <a:ext cx="8110538" cy="4191000"/>
          </a:xfrm>
        </p:spPr>
        <p:txBody>
          <a:bodyPr/>
          <a:lstStyle/>
          <a:p>
            <a:pPr eaLnBrk="1" hangingPunct="1"/>
            <a:r>
              <a:rPr lang="zh-CN" altLang="en-US" dirty="0">
                <a:latin typeface="宋体" pitchFamily="2" charset="-122"/>
              </a:rPr>
              <a:t>课程、教师、参考书</a:t>
            </a:r>
            <a:endParaRPr lang="zh-CN" altLang="en-US" dirty="0">
              <a:latin typeface="宋体" pitchFamily="2" charset="-122"/>
            </a:endParaRPr>
          </a:p>
        </p:txBody>
      </p:sp>
      <p:sp>
        <p:nvSpPr>
          <p:cNvPr id="6" name="灯片编号占位符 5"/>
          <p:cNvSpPr>
            <a:spLocks noGrp="1"/>
          </p:cNvSpPr>
          <p:nvPr>
            <p:ph type="sldNum" sz="quarter" idx="12"/>
          </p:nvPr>
        </p:nvSpPr>
        <p:spPr/>
        <p:txBody>
          <a:bodyPr/>
          <a:lstStyle/>
          <a:p>
            <a:pPr>
              <a:defRPr/>
            </a:pPr>
            <a:fld id="{44699DE1-A70E-44A5-92CA-F3826DEDF7BA}" type="slidenum">
              <a:rPr lang="en-US" altLang="zh-CN"/>
            </a:fld>
            <a:endParaRPr lang="en-US" altLang="zh-CN"/>
          </a:p>
        </p:txBody>
      </p:sp>
      <p:pic>
        <p:nvPicPr>
          <p:cNvPr id="80901" name="图片 4" descr="课程教师参考书ER.emf"/>
          <p:cNvPicPr>
            <a:picLocks noChangeAspect="1"/>
          </p:cNvPicPr>
          <p:nvPr/>
        </p:nvPicPr>
        <p:blipFill>
          <a:blip r:embed="rId1" cstate="print"/>
          <a:srcRect/>
          <a:stretch>
            <a:fillRect/>
          </a:stretch>
        </p:blipFill>
        <p:spPr bwMode="auto">
          <a:xfrm>
            <a:off x="2051050" y="2205038"/>
            <a:ext cx="4786313" cy="3168650"/>
          </a:xfrm>
          <a:prstGeom prst="rect">
            <a:avLst/>
          </a:prstGeom>
          <a:noFill/>
          <a:ln w="9525">
            <a:noFill/>
            <a:miter lim="800000"/>
            <a:headEnd/>
            <a:tailEnd/>
          </a:ln>
        </p:spPr>
      </p:pic>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内容占位符 2"/>
          <p:cNvSpPr>
            <a:spLocks noGrp="1"/>
          </p:cNvSpPr>
          <p:nvPr>
            <p:ph idx="1"/>
          </p:nvPr>
        </p:nvSpPr>
        <p:spPr>
          <a:xfrm>
            <a:off x="755650" y="620713"/>
            <a:ext cx="5761038" cy="720725"/>
          </a:xfrm>
        </p:spPr>
        <p:txBody>
          <a:bodyPr/>
          <a:lstStyle/>
          <a:p>
            <a:pPr eaLnBrk="1" hangingPunct="1"/>
            <a:r>
              <a:rPr lang="zh-CN" altLang="en-US">
                <a:latin typeface="宋体" pitchFamily="2" charset="-122"/>
              </a:rPr>
              <a:t>供应商、项目、零件</a:t>
            </a:r>
            <a:endParaRPr lang="zh-CN" altLang="en-US">
              <a:latin typeface="宋体" pitchFamily="2" charset="-122"/>
            </a:endParaRPr>
          </a:p>
        </p:txBody>
      </p:sp>
      <p:sp>
        <p:nvSpPr>
          <p:cNvPr id="4" name="灯片编号占位符 3"/>
          <p:cNvSpPr>
            <a:spLocks noGrp="1"/>
          </p:cNvSpPr>
          <p:nvPr>
            <p:ph type="sldNum" sz="quarter" idx="12"/>
          </p:nvPr>
        </p:nvSpPr>
        <p:spPr/>
        <p:txBody>
          <a:bodyPr/>
          <a:lstStyle/>
          <a:p>
            <a:pPr>
              <a:defRPr/>
            </a:pPr>
            <a:fld id="{E7F06953-1464-41B9-93BF-9BD3B1D4A626}" type="slidenum">
              <a:rPr lang="en-US" altLang="zh-CN" smtClean="0"/>
            </a:fld>
            <a:endParaRPr lang="en-US" altLang="zh-CN"/>
          </a:p>
        </p:txBody>
      </p:sp>
      <p:sp>
        <p:nvSpPr>
          <p:cNvPr id="7" name="矩形 6"/>
          <p:cNvSpPr/>
          <p:nvPr/>
        </p:nvSpPr>
        <p:spPr>
          <a:xfrm>
            <a:off x="900113" y="5084763"/>
            <a:ext cx="2100262" cy="492125"/>
          </a:xfrm>
          <a:prstGeom prst="rect">
            <a:avLst/>
          </a:prstGeom>
        </p:spPr>
        <p:txBody>
          <a:bodyPr wrap="none">
            <a:spAutoFit/>
          </a:bodyPr>
          <a:lstStyle/>
          <a:p>
            <a:pPr>
              <a:buClr>
                <a:schemeClr val="accent3"/>
              </a:buClr>
              <a:buSzPct val="80000"/>
              <a:buFont typeface="Wingdings" panose="05000000000000000000" pitchFamily="2" charset="2"/>
              <a:buChar char="l"/>
              <a:defRPr/>
            </a:pPr>
            <a:r>
              <a:rPr lang="zh-CN" altLang="en-US" sz="2600" dirty="0">
                <a:latin typeface="宋体" pitchFamily="2" charset="-122"/>
                <a:ea typeface="+mn-ea"/>
              </a:rPr>
              <a:t>职工、领导</a:t>
            </a:r>
            <a:endParaRPr lang="zh-CN" altLang="en-US" sz="2600" dirty="0">
              <a:latin typeface="宋体" pitchFamily="2" charset="-122"/>
              <a:ea typeface="+mn-ea"/>
            </a:endParaRPr>
          </a:p>
        </p:txBody>
      </p:sp>
      <p:pic>
        <p:nvPicPr>
          <p:cNvPr id="81926" name="图片 8" descr="职工ER.emf"/>
          <p:cNvPicPr>
            <a:picLocks noChangeAspect="1"/>
          </p:cNvPicPr>
          <p:nvPr/>
        </p:nvPicPr>
        <p:blipFill>
          <a:blip r:embed="rId1" cstate="print"/>
          <a:srcRect/>
          <a:stretch>
            <a:fillRect/>
          </a:stretch>
        </p:blipFill>
        <p:spPr bwMode="auto">
          <a:xfrm>
            <a:off x="3203575" y="4796556"/>
            <a:ext cx="4270375" cy="1728788"/>
          </a:xfrm>
          <a:prstGeom prst="rect">
            <a:avLst/>
          </a:prstGeom>
          <a:noFill/>
          <a:ln w="9525">
            <a:noFill/>
            <a:miter lim="800000"/>
            <a:headEnd/>
            <a:tailEnd/>
          </a:ln>
        </p:spPr>
      </p:pic>
      <p:pic>
        <p:nvPicPr>
          <p:cNvPr id="24" name="图片 23"/>
          <p:cNvPicPr>
            <a:picLocks noChangeAspect="1"/>
          </p:cNvPicPr>
          <p:nvPr/>
        </p:nvPicPr>
        <p:blipFill>
          <a:blip r:embed="rId2"/>
          <a:stretch>
            <a:fillRect/>
          </a:stretch>
        </p:blipFill>
        <p:spPr>
          <a:xfrm>
            <a:off x="2555776" y="1196752"/>
            <a:ext cx="3817010" cy="3187025"/>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内容占位符 2"/>
          <p:cNvSpPr>
            <a:spLocks noGrp="1"/>
          </p:cNvSpPr>
          <p:nvPr>
            <p:ph idx="1"/>
          </p:nvPr>
        </p:nvSpPr>
        <p:spPr>
          <a:xfrm>
            <a:off x="457200" y="692150"/>
            <a:ext cx="8229600" cy="1728788"/>
          </a:xfrm>
        </p:spPr>
        <p:txBody>
          <a:bodyPr/>
          <a:lstStyle/>
          <a:p>
            <a:pPr eaLnBrk="1" hangingPunct="1"/>
            <a:r>
              <a:rPr lang="zh-CN" altLang="en-US" sz="2800" dirty="0">
                <a:latin typeface="宋体" pitchFamily="2" charset="-122"/>
              </a:rPr>
              <a:t>供应商、项目、零件、仓库、职工、领导</a:t>
            </a:r>
            <a:endParaRPr lang="zh-CN" altLang="en-US" sz="2800" dirty="0">
              <a:latin typeface="宋体" pitchFamily="2" charset="-122"/>
            </a:endParaRPr>
          </a:p>
          <a:p>
            <a:pPr eaLnBrk="1" hangingPunct="1">
              <a:buFont typeface="Wingdings" panose="05000000000000000000" pitchFamily="2" charset="2"/>
              <a:buNone/>
            </a:pPr>
            <a:endParaRPr lang="en-US" altLang="zh-CN" sz="2800" dirty="0">
              <a:latin typeface="宋体" pitchFamily="2" charset="-122"/>
            </a:endParaRPr>
          </a:p>
          <a:p>
            <a:pPr eaLnBrk="1" hangingPunct="1">
              <a:buFont typeface="Wingdings" panose="05000000000000000000" pitchFamily="2" charset="2"/>
              <a:buNone/>
            </a:pPr>
            <a:r>
              <a:rPr lang="zh-CN" altLang="en-US" sz="2800" dirty="0">
                <a:latin typeface="宋体" pitchFamily="2" charset="-122"/>
              </a:rPr>
              <a:t>体会：</a:t>
            </a:r>
            <a:r>
              <a:rPr lang="en-US" altLang="zh-CN" sz="2800" dirty="0">
                <a:latin typeface="宋体" pitchFamily="2" charset="-122"/>
              </a:rPr>
              <a:t>ER</a:t>
            </a:r>
            <a:r>
              <a:rPr lang="zh-CN" altLang="en-US" sz="2800" dirty="0">
                <a:latin typeface="宋体" pitchFamily="2" charset="-122"/>
              </a:rPr>
              <a:t>图的表示能力、可读性。</a:t>
            </a:r>
            <a:endParaRPr lang="zh-CN" altLang="en-US" sz="2800" dirty="0">
              <a:latin typeface="宋体" pitchFamily="2" charset="-122"/>
            </a:endParaRPr>
          </a:p>
        </p:txBody>
      </p:sp>
      <p:sp>
        <p:nvSpPr>
          <p:cNvPr id="4" name="灯片编号占位符 3"/>
          <p:cNvSpPr>
            <a:spLocks noGrp="1"/>
          </p:cNvSpPr>
          <p:nvPr>
            <p:ph type="sldNum" sz="quarter" idx="12"/>
          </p:nvPr>
        </p:nvSpPr>
        <p:spPr/>
        <p:txBody>
          <a:bodyPr/>
          <a:lstStyle/>
          <a:p>
            <a:pPr>
              <a:defRPr/>
            </a:pPr>
            <a:fld id="{E3A41AD9-6A25-4681-A7EA-75D6D8F2CFC9}" type="slidenum">
              <a:rPr lang="en-US" altLang="zh-CN" smtClean="0"/>
            </a:fld>
            <a:endParaRPr lang="en-US" altLang="zh-CN"/>
          </a:p>
        </p:txBody>
      </p:sp>
      <p:pic>
        <p:nvPicPr>
          <p:cNvPr id="82948" name="图片 4" descr="全局ER图.emf"/>
          <p:cNvPicPr>
            <a:picLocks noChangeAspect="1"/>
          </p:cNvPicPr>
          <p:nvPr/>
        </p:nvPicPr>
        <p:blipFill>
          <a:blip r:embed="rId1" cstate="print"/>
          <a:srcRect/>
          <a:stretch>
            <a:fillRect/>
          </a:stretch>
        </p:blipFill>
        <p:spPr bwMode="auto">
          <a:xfrm>
            <a:off x="468313" y="2636838"/>
            <a:ext cx="8502650" cy="3168650"/>
          </a:xfrm>
          <a:prstGeom prst="rect">
            <a:avLst/>
          </a:prstGeom>
          <a:noFill/>
          <a:ln w="9525">
            <a:noFill/>
            <a:miter lim="800000"/>
            <a:headEnd/>
            <a:tailEnd/>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72B8C795-B3D1-4D46-B235-097BB4F13D71}" type="slidenum">
              <a:rPr lang="en-US" altLang="zh-CN"/>
            </a:fld>
            <a:endParaRPr lang="en-US" altLang="zh-CN"/>
          </a:p>
        </p:txBody>
      </p:sp>
      <p:sp>
        <p:nvSpPr>
          <p:cNvPr id="9220" name="Text Box 2"/>
          <p:cNvSpPr txBox="1">
            <a:spLocks noChangeArrowheads="1"/>
          </p:cNvSpPr>
          <p:nvPr/>
        </p:nvSpPr>
        <p:spPr bwMode="auto">
          <a:xfrm>
            <a:off x="228600" y="661988"/>
            <a:ext cx="8610600" cy="2246312"/>
          </a:xfrm>
          <a:prstGeom prst="rect">
            <a:avLst/>
          </a:prstGeom>
          <a:noFill/>
          <a:ln w="9525">
            <a:noFill/>
            <a:miter lim="800000"/>
          </a:ln>
        </p:spPr>
        <p:txBody>
          <a:bodyPr>
            <a:spAutoFit/>
          </a:bodyPr>
          <a:lstStyle/>
          <a:p>
            <a:r>
              <a:rPr lang="zh-CN" altLang="en-US" sz="2800" dirty="0">
                <a:solidFill>
                  <a:srgbClr val="000000"/>
                </a:solidFill>
                <a:latin typeface="宋体" pitchFamily="2" charset="-122"/>
              </a:rPr>
              <a:t>课堂练习：</a:t>
            </a:r>
            <a:r>
              <a:rPr lang="zh-CN" altLang="en-US" sz="2800" dirty="0"/>
              <a:t>第二课堂活动：学生、课题、任务</a:t>
            </a:r>
            <a:endParaRPr lang="zh-CN" altLang="en-US" sz="2800" dirty="0"/>
          </a:p>
          <a:p>
            <a:endParaRPr lang="zh-CN" altLang="en-US" sz="2800" dirty="0"/>
          </a:p>
          <a:p>
            <a:r>
              <a:rPr lang="zh-CN" altLang="en-US" sz="2800" dirty="0"/>
              <a:t>课题可以有多项任务，每项任务属于一个课题，一个学生可以参加一个课题，一个课题可有多名学生参加，学生参加课题后分得一项任务，画出</a:t>
            </a:r>
            <a:r>
              <a:rPr lang="en-US" altLang="zh-CN" sz="2800" dirty="0"/>
              <a:t>E-R</a:t>
            </a:r>
            <a:r>
              <a:rPr lang="zh-CN" altLang="en-US" sz="2800" dirty="0"/>
              <a:t>图。</a:t>
            </a:r>
            <a:endParaRPr lang="zh-CN" altLang="en-US" sz="2800" dirty="0"/>
          </a:p>
        </p:txBody>
      </p:sp>
      <p:graphicFrame>
        <p:nvGraphicFramePr>
          <p:cNvPr id="88068" name="Object 7"/>
          <p:cNvGraphicFramePr>
            <a:graphicFrameLocks noChangeAspect="1"/>
          </p:cNvGraphicFramePr>
          <p:nvPr/>
        </p:nvGraphicFramePr>
        <p:xfrm>
          <a:off x="1295400" y="2308225"/>
          <a:ext cx="5257800" cy="4262438"/>
        </p:xfrm>
        <a:graphic>
          <a:graphicData uri="http://schemas.openxmlformats.org/presentationml/2006/ole">
            <mc:AlternateContent xmlns:mc="http://schemas.openxmlformats.org/markup-compatibility/2006">
              <mc:Choice xmlns:v="urn:schemas-microsoft-com:vml" Requires="v">
                <p:oleObj spid="_x0000_s9595" name="Picture" r:id="rId1" imgW="3657600" imgH="2959100" progId="Word.Picture.8">
                  <p:embed/>
                </p:oleObj>
              </mc:Choice>
              <mc:Fallback>
                <p:oleObj name="Picture" r:id="rId1" imgW="3657600" imgH="2959100" progId="Word.Picture.8">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2308225"/>
                        <a:ext cx="5257800" cy="4262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8068"/>
                                        </p:tgtEl>
                                        <p:attrNameLst>
                                          <p:attrName>style.visibility</p:attrName>
                                        </p:attrNameLst>
                                      </p:cBhvr>
                                      <p:to>
                                        <p:strVal val="visible"/>
                                      </p:to>
                                    </p:set>
                                    <p:animEffect transition="in" filter="dissolve">
                                      <p:cBhvr>
                                        <p:cTn id="7" dur="500"/>
                                        <p:tgtEl>
                                          <p:spTgt spid="880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12B2469A-09C0-4B0E-A933-FA762EB14D47}" type="slidenum">
              <a:rPr lang="en-US" altLang="zh-CN"/>
            </a:fld>
            <a:endParaRPr lang="en-US" altLang="zh-CN"/>
          </a:p>
        </p:txBody>
      </p:sp>
      <p:sp>
        <p:nvSpPr>
          <p:cNvPr id="10244" name="Text Box 2"/>
          <p:cNvSpPr txBox="1">
            <a:spLocks noChangeArrowheads="1"/>
          </p:cNvSpPr>
          <p:nvPr/>
        </p:nvSpPr>
        <p:spPr bwMode="auto">
          <a:xfrm>
            <a:off x="228600" y="755650"/>
            <a:ext cx="8591550" cy="1384995"/>
          </a:xfrm>
          <a:prstGeom prst="rect">
            <a:avLst/>
          </a:prstGeom>
          <a:noFill/>
          <a:ln w="9525">
            <a:noFill/>
            <a:miter lim="800000"/>
          </a:ln>
        </p:spPr>
        <p:txBody>
          <a:bodyPr>
            <a:spAutoFit/>
          </a:bodyPr>
          <a:lstStyle/>
          <a:p>
            <a:r>
              <a:rPr lang="zh-CN" altLang="en-US" sz="2800" dirty="0">
                <a:solidFill>
                  <a:srgbClr val="000000"/>
                </a:solidFill>
                <a:latin typeface="宋体" pitchFamily="2" charset="-122"/>
              </a:rPr>
              <a:t>练习：一项技能有多种学习方案，不同技能可能有相同的学习方案，一个学员可学习多项技能，但学生学习每项技能只能选择一种学习方案，</a:t>
            </a:r>
            <a:r>
              <a:rPr lang="zh-CN" altLang="en-US" sz="2800" dirty="0">
                <a:latin typeface="宋体" pitchFamily="2" charset="-122"/>
              </a:rPr>
              <a:t>画出</a:t>
            </a:r>
            <a:r>
              <a:rPr lang="en-US" altLang="zh-CN" sz="2800" dirty="0"/>
              <a:t>E-R</a:t>
            </a:r>
            <a:r>
              <a:rPr lang="zh-CN" altLang="en-US" sz="2800" dirty="0">
                <a:latin typeface="宋体" pitchFamily="2" charset="-122"/>
              </a:rPr>
              <a:t>图。</a:t>
            </a:r>
            <a:r>
              <a:rPr lang="zh-CN" altLang="en-US" sz="2800" dirty="0"/>
              <a:t> </a:t>
            </a:r>
            <a:endParaRPr lang="zh-CN" altLang="en-US" sz="2800" dirty="0"/>
          </a:p>
        </p:txBody>
      </p:sp>
      <p:sp>
        <p:nvSpPr>
          <p:cNvPr id="49155" name="Text Box 3"/>
          <p:cNvSpPr txBox="1">
            <a:spLocks noChangeArrowheads="1"/>
          </p:cNvSpPr>
          <p:nvPr/>
        </p:nvSpPr>
        <p:spPr bwMode="auto">
          <a:xfrm>
            <a:off x="481806" y="5244914"/>
            <a:ext cx="8085138" cy="1200329"/>
          </a:xfrm>
          <a:prstGeom prst="rect">
            <a:avLst/>
          </a:prstGeom>
          <a:noFill/>
          <a:ln w="9525">
            <a:noFill/>
            <a:miter lim="800000"/>
          </a:ln>
        </p:spPr>
        <p:txBody>
          <a:bodyPr>
            <a:spAutoFit/>
          </a:bodyPr>
          <a:lstStyle/>
          <a:p>
            <a:r>
              <a:rPr lang="zh-CN" altLang="en-US" dirty="0"/>
              <a:t>实体</a:t>
            </a:r>
            <a:r>
              <a:rPr lang="en-US" altLang="zh-CN" dirty="0"/>
              <a:t>(entity)</a:t>
            </a:r>
            <a:endParaRPr lang="en-US" altLang="zh-CN" dirty="0"/>
          </a:p>
          <a:p>
            <a:r>
              <a:rPr lang="en-US" altLang="zh-CN" dirty="0">
                <a:latin typeface="Times New Roman" panose="02020503050405090304" pitchFamily="18" charset="0"/>
              </a:rPr>
              <a:t>——</a:t>
            </a:r>
            <a:r>
              <a:rPr lang="zh-CN" altLang="en-US" dirty="0">
                <a:latin typeface="宋体" pitchFamily="2" charset="-122"/>
              </a:rPr>
              <a:t>客观存在可相互区别的事物和概念 </a:t>
            </a:r>
            <a:r>
              <a:rPr lang="en-US" altLang="zh-CN" dirty="0"/>
              <a:t>(</a:t>
            </a:r>
            <a:r>
              <a:rPr lang="zh-CN" altLang="en-US" dirty="0"/>
              <a:t>静态、动态、物质、精神等</a:t>
            </a:r>
            <a:r>
              <a:rPr lang="en-US" altLang="zh-CN" dirty="0"/>
              <a:t>)</a:t>
            </a:r>
            <a:endParaRPr lang="en-US" altLang="zh-CN" dirty="0"/>
          </a:p>
        </p:txBody>
      </p:sp>
      <p:graphicFrame>
        <p:nvGraphicFramePr>
          <p:cNvPr id="126978" name="Object 7"/>
          <p:cNvGraphicFramePr>
            <a:graphicFrameLocks noChangeAspect="1"/>
          </p:cNvGraphicFramePr>
          <p:nvPr/>
        </p:nvGraphicFramePr>
        <p:xfrm>
          <a:off x="2195736" y="1701800"/>
          <a:ext cx="4343400" cy="3524250"/>
        </p:xfrm>
        <a:graphic>
          <a:graphicData uri="http://schemas.openxmlformats.org/presentationml/2006/ole">
            <mc:AlternateContent xmlns:mc="http://schemas.openxmlformats.org/markup-compatibility/2006">
              <mc:Choice xmlns:v="urn:schemas-microsoft-com:vml" Requires="v">
                <p:oleObj spid="_x0000_s10620" name="Picture" r:id="rId1" imgW="3657600" imgH="2959100" progId="Word.Picture.8">
                  <p:embed/>
                </p:oleObj>
              </mc:Choice>
              <mc:Fallback>
                <p:oleObj name="Picture" r:id="rId1" imgW="3657600" imgH="2959100" progId="Word.Picture.8">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736" y="1701800"/>
                        <a:ext cx="4343400" cy="3524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6978"/>
                                        </p:tgtEl>
                                        <p:attrNameLst>
                                          <p:attrName>style.visibility</p:attrName>
                                        </p:attrNameLst>
                                      </p:cBhvr>
                                      <p:to>
                                        <p:strVal val="visible"/>
                                      </p:to>
                                    </p:set>
                                    <p:anim calcmode="lin" valueType="num">
                                      <p:cBhvr additive="base">
                                        <p:cTn id="7" dur="500" fill="hold"/>
                                        <p:tgtEl>
                                          <p:spTgt spid="126978"/>
                                        </p:tgtEl>
                                        <p:attrNameLst>
                                          <p:attrName>ppt_x</p:attrName>
                                        </p:attrNameLst>
                                      </p:cBhvr>
                                      <p:tavLst>
                                        <p:tav tm="0">
                                          <p:val>
                                            <p:strVal val="#ppt_x"/>
                                          </p:val>
                                        </p:tav>
                                        <p:tav tm="100000">
                                          <p:val>
                                            <p:strVal val="#ppt_x"/>
                                          </p:val>
                                        </p:tav>
                                      </p:tavLst>
                                    </p:anim>
                                    <p:anim calcmode="lin" valueType="num">
                                      <p:cBhvr additive="base">
                                        <p:cTn id="8" dur="500" fill="hold"/>
                                        <p:tgtEl>
                                          <p:spTgt spid="12697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9155"/>
                                        </p:tgtEl>
                                        <p:attrNameLst>
                                          <p:attrName>style.visibility</p:attrName>
                                        </p:attrNameLst>
                                      </p:cBhvr>
                                      <p:to>
                                        <p:strVal val="visible"/>
                                      </p:to>
                                    </p:set>
                                    <p:anim calcmode="lin" valueType="num">
                                      <p:cBhvr additive="base">
                                        <p:cTn id="13" dur="500" fill="hold"/>
                                        <p:tgtEl>
                                          <p:spTgt spid="49155"/>
                                        </p:tgtEl>
                                        <p:attrNameLst>
                                          <p:attrName>ppt_x</p:attrName>
                                        </p:attrNameLst>
                                      </p:cBhvr>
                                      <p:tavLst>
                                        <p:tav tm="0">
                                          <p:val>
                                            <p:strVal val="#ppt_x"/>
                                          </p:val>
                                        </p:tav>
                                        <p:tav tm="100000">
                                          <p:val>
                                            <p:strVal val="#ppt_x"/>
                                          </p:val>
                                        </p:tav>
                                      </p:tavLst>
                                    </p:anim>
                                    <p:anim calcmode="lin" valueType="num">
                                      <p:cBhvr additive="base">
                                        <p:cTn id="14" dur="500" fill="hold"/>
                                        <p:tgtEl>
                                          <p:spTgt spid="4915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3"/>
          <p:cNvSpPr>
            <a:spLocks noGrp="1"/>
          </p:cNvSpPr>
          <p:nvPr>
            <p:ph type="sldNum" sz="quarter" idx="12"/>
          </p:nvPr>
        </p:nvSpPr>
        <p:spPr/>
        <p:txBody>
          <a:bodyPr/>
          <a:lstStyle/>
          <a:p>
            <a:pPr>
              <a:defRPr/>
            </a:pPr>
            <a:fld id="{01AE90D7-2CD2-43CF-BE2F-1C1E49493171}" type="slidenum">
              <a:rPr lang="en-US" altLang="zh-CN"/>
            </a:fld>
            <a:endParaRPr lang="en-US" altLang="zh-CN"/>
          </a:p>
        </p:txBody>
      </p:sp>
      <p:sp>
        <p:nvSpPr>
          <p:cNvPr id="11268" name="Text Box 2"/>
          <p:cNvSpPr txBox="1">
            <a:spLocks noChangeArrowheads="1"/>
          </p:cNvSpPr>
          <p:nvPr/>
        </p:nvSpPr>
        <p:spPr bwMode="auto">
          <a:xfrm>
            <a:off x="228600" y="220663"/>
            <a:ext cx="7263527" cy="1200329"/>
          </a:xfrm>
          <a:prstGeom prst="rect">
            <a:avLst/>
          </a:prstGeom>
          <a:noFill/>
          <a:ln w="9525">
            <a:noFill/>
            <a:miter lim="800000"/>
          </a:ln>
        </p:spPr>
        <p:txBody>
          <a:bodyPr wrap="none">
            <a:spAutoFit/>
          </a:bodyPr>
          <a:lstStyle/>
          <a:p>
            <a:r>
              <a:rPr lang="en-US" altLang="zh-CN" b="1" dirty="0">
                <a:ea typeface="黑体" panose="02010609060101010101" pitchFamily="49" charset="-122"/>
              </a:rPr>
              <a:t>1.2.3  </a:t>
            </a:r>
            <a:r>
              <a:rPr lang="zh-CN" altLang="en-US" b="1" dirty="0">
                <a:ea typeface="黑体" panose="02010609060101010101" pitchFamily="49" charset="-122"/>
              </a:rPr>
              <a:t>层次模型</a:t>
            </a:r>
            <a:endParaRPr lang="zh-CN" altLang="en-US" b="1" dirty="0">
              <a:ea typeface="黑体" panose="02010609060101010101" pitchFamily="49" charset="-122"/>
            </a:endParaRPr>
          </a:p>
          <a:p>
            <a:r>
              <a:rPr lang="en-US" altLang="zh-CN" dirty="0">
                <a:latin typeface="Times New Roman" panose="02020503050405090304" pitchFamily="18" charset="0"/>
              </a:rPr>
              <a:t>——</a:t>
            </a:r>
            <a:r>
              <a:rPr lang="zh-CN" altLang="en-US" dirty="0">
                <a:latin typeface="Times New Roman" panose="02020503050405090304" pitchFamily="18" charset="0"/>
              </a:rPr>
              <a:t>用</a:t>
            </a:r>
            <a:r>
              <a:rPr lang="zh-CN" altLang="en-US" dirty="0">
                <a:solidFill>
                  <a:srgbClr val="FF0000"/>
                </a:solidFill>
                <a:latin typeface="Times New Roman" panose="02020503050405090304" pitchFamily="18" charset="0"/>
              </a:rPr>
              <a:t>树形结构</a:t>
            </a:r>
            <a:r>
              <a:rPr lang="zh-CN" altLang="en-US" dirty="0">
                <a:latin typeface="Times New Roman" panose="02020503050405090304" pitchFamily="18" charset="0"/>
              </a:rPr>
              <a:t>表示实体及实体间联系的数据模型。</a:t>
            </a:r>
            <a:endParaRPr lang="zh-CN" altLang="en-US" dirty="0"/>
          </a:p>
          <a:p>
            <a:r>
              <a:rPr lang="en-US" altLang="zh-CN" dirty="0"/>
              <a:t>1. </a:t>
            </a:r>
            <a:r>
              <a:rPr lang="zh-CN" altLang="en-US" dirty="0">
                <a:latin typeface="宋体" pitchFamily="2" charset="-122"/>
              </a:rPr>
              <a:t>数据结构</a:t>
            </a:r>
            <a:r>
              <a:rPr lang="zh-CN" altLang="en-US" dirty="0"/>
              <a:t> </a:t>
            </a:r>
            <a:endParaRPr lang="zh-CN" altLang="en-US" dirty="0"/>
          </a:p>
        </p:txBody>
      </p:sp>
      <p:graphicFrame>
        <p:nvGraphicFramePr>
          <p:cNvPr id="11266" name="Object 7"/>
          <p:cNvGraphicFramePr>
            <a:graphicFrameLocks noChangeAspect="1"/>
          </p:cNvGraphicFramePr>
          <p:nvPr/>
        </p:nvGraphicFramePr>
        <p:xfrm>
          <a:off x="1906588" y="1143000"/>
          <a:ext cx="4338637" cy="2316163"/>
        </p:xfrm>
        <a:graphic>
          <a:graphicData uri="http://schemas.openxmlformats.org/presentationml/2006/ole">
            <mc:AlternateContent xmlns:mc="http://schemas.openxmlformats.org/markup-compatibility/2006">
              <mc:Choice xmlns:v="urn:schemas-microsoft-com:vml" Requires="v">
                <p:oleObj spid="_x0000_s11644" name="Picture" r:id="rId1" imgW="21659850" imgH="11553825" progId="Word.Picture.8">
                  <p:embed/>
                </p:oleObj>
              </mc:Choice>
              <mc:Fallback>
                <p:oleObj name="Picture" r:id="rId1" imgW="21659850" imgH="11553825" progId="Word.Picture.8">
                  <p:embed/>
                  <p:pic>
                    <p:nvPicPr>
                      <p:cNvPr id="0" name="Object 7"/>
                      <p:cNvPicPr>
                        <a:picLocks noChangeAspect="1" noChangeArrowheads="1"/>
                      </p:cNvPicPr>
                      <p:nvPr/>
                    </p:nvPicPr>
                    <p:blipFill>
                      <a:blip r:embed="rId2"/>
                      <a:srcRect/>
                      <a:stretch>
                        <a:fillRect/>
                      </a:stretch>
                    </p:blipFill>
                    <p:spPr bwMode="auto">
                      <a:xfrm>
                        <a:off x="1906588" y="1143000"/>
                        <a:ext cx="4338637" cy="2316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69" name="Rectangle 5"/>
          <p:cNvSpPr>
            <a:spLocks noChangeArrowheads="1"/>
          </p:cNvSpPr>
          <p:nvPr/>
        </p:nvSpPr>
        <p:spPr bwMode="auto">
          <a:xfrm>
            <a:off x="457200" y="3505200"/>
            <a:ext cx="7543800" cy="457200"/>
          </a:xfrm>
          <a:prstGeom prst="rect">
            <a:avLst/>
          </a:prstGeom>
          <a:noFill/>
          <a:ln w="9525">
            <a:noFill/>
            <a:miter lim="800000"/>
          </a:ln>
        </p:spPr>
        <p:txBody>
          <a:bodyPr>
            <a:spAutoFit/>
          </a:bodyPr>
          <a:lstStyle/>
          <a:p>
            <a:pPr algn="ctr"/>
            <a:r>
              <a:rPr lang="zh-CN" altLang="en-US">
                <a:latin typeface="Times New Roman" panose="02020503050405090304" pitchFamily="18" charset="0"/>
              </a:rPr>
              <a:t>图</a:t>
            </a:r>
            <a:r>
              <a:rPr lang="en-US" altLang="zh-CN"/>
              <a:t>1-4</a:t>
            </a:r>
            <a:r>
              <a:rPr lang="en-US" altLang="zh-CN">
                <a:latin typeface="Times New Roman" panose="02020503050405090304" pitchFamily="18" charset="0"/>
              </a:rPr>
              <a:t>  </a:t>
            </a:r>
            <a:r>
              <a:rPr lang="zh-CN" altLang="en-US">
                <a:latin typeface="Times New Roman" panose="02020503050405090304" pitchFamily="18" charset="0"/>
              </a:rPr>
              <a:t>层次模型简例</a:t>
            </a:r>
            <a:endParaRPr lang="zh-CN" altLang="en-US">
              <a:latin typeface="Times New Roman" panose="02020503050405090304" pitchFamily="18" charset="0"/>
            </a:endParaRPr>
          </a:p>
        </p:txBody>
      </p:sp>
      <p:sp>
        <p:nvSpPr>
          <p:cNvPr id="11270" name="Text Box 6"/>
          <p:cNvSpPr txBox="1">
            <a:spLocks noChangeArrowheads="1"/>
          </p:cNvSpPr>
          <p:nvPr/>
        </p:nvSpPr>
        <p:spPr bwMode="auto">
          <a:xfrm>
            <a:off x="381000" y="3962400"/>
            <a:ext cx="8199681" cy="2677656"/>
          </a:xfrm>
          <a:prstGeom prst="rect">
            <a:avLst/>
          </a:prstGeom>
          <a:noFill/>
          <a:ln w="9525">
            <a:noFill/>
            <a:miter lim="800000"/>
          </a:ln>
        </p:spPr>
        <p:txBody>
          <a:bodyPr wrap="none">
            <a:spAutoFit/>
          </a:bodyPr>
          <a:lstStyle/>
          <a:p>
            <a:r>
              <a:rPr lang="en-US" altLang="zh-CN" dirty="0"/>
              <a:t>1</a:t>
            </a:r>
            <a:r>
              <a:rPr lang="zh-CN" altLang="en-US" dirty="0">
                <a:latin typeface="Times New Roman" panose="02020503050405090304" pitchFamily="18" charset="0"/>
              </a:rPr>
              <a:t>）一个结点表示一个</a:t>
            </a:r>
            <a:r>
              <a:rPr lang="zh-CN" altLang="en-US" dirty="0">
                <a:solidFill>
                  <a:srgbClr val="FF0000"/>
                </a:solidFill>
                <a:latin typeface="Times New Roman" panose="02020503050405090304" pitchFamily="18" charset="0"/>
              </a:rPr>
              <a:t>实体</a:t>
            </a:r>
            <a:r>
              <a:rPr lang="zh-CN" altLang="en-US" dirty="0">
                <a:latin typeface="Times New Roman" panose="02020503050405090304" pitchFamily="18" charset="0"/>
              </a:rPr>
              <a:t>（一个</a:t>
            </a:r>
            <a:r>
              <a:rPr lang="zh-CN" altLang="en-US" dirty="0">
                <a:solidFill>
                  <a:srgbClr val="FF0000"/>
                </a:solidFill>
                <a:latin typeface="Times New Roman" panose="02020503050405090304" pitchFamily="18" charset="0"/>
              </a:rPr>
              <a:t>片段</a:t>
            </a:r>
            <a:r>
              <a:rPr lang="zh-CN" altLang="en-US" dirty="0">
                <a:latin typeface="Times New Roman" panose="02020503050405090304" pitchFamily="18" charset="0"/>
              </a:rPr>
              <a:t>：</a:t>
            </a:r>
            <a:r>
              <a:rPr lang="en-US" altLang="zh-CN" dirty="0"/>
              <a:t>fragment</a:t>
            </a:r>
            <a:r>
              <a:rPr lang="zh-CN" altLang="en-US" dirty="0">
                <a:latin typeface="Times New Roman" panose="02020503050405090304" pitchFamily="18" charset="0"/>
              </a:rPr>
              <a:t>）；</a:t>
            </a:r>
            <a:endParaRPr lang="zh-CN" altLang="en-US" dirty="0"/>
          </a:p>
          <a:p>
            <a:r>
              <a:rPr lang="en-US" altLang="zh-CN" dirty="0"/>
              <a:t>2</a:t>
            </a:r>
            <a:r>
              <a:rPr lang="zh-CN" altLang="en-US" dirty="0">
                <a:latin typeface="Times New Roman" panose="02020503050405090304" pitchFamily="18" charset="0"/>
              </a:rPr>
              <a:t>）有向连线表示实体间</a:t>
            </a:r>
            <a:r>
              <a:rPr lang="zh-CN" altLang="en-US" dirty="0">
                <a:solidFill>
                  <a:srgbClr val="FF0000"/>
                </a:solidFill>
                <a:latin typeface="Times New Roman" panose="02020503050405090304" pitchFamily="18" charset="0"/>
              </a:rPr>
              <a:t>联系</a:t>
            </a:r>
            <a:r>
              <a:rPr lang="zh-CN" altLang="en-US" dirty="0">
                <a:latin typeface="Times New Roman" panose="02020503050405090304" pitchFamily="18" charset="0"/>
              </a:rPr>
              <a:t>；</a:t>
            </a:r>
            <a:endParaRPr lang="zh-CN" altLang="en-US" dirty="0"/>
          </a:p>
          <a:p>
            <a:r>
              <a:rPr lang="en-US" altLang="zh-CN" dirty="0"/>
              <a:t>3</a:t>
            </a:r>
            <a:r>
              <a:rPr lang="zh-CN" altLang="en-US" dirty="0">
                <a:latin typeface="Times New Roman" panose="02020503050405090304" pitchFamily="18" charset="0"/>
              </a:rPr>
              <a:t>）结点内含</a:t>
            </a:r>
            <a:r>
              <a:rPr lang="zh-CN" altLang="en-US" dirty="0">
                <a:solidFill>
                  <a:srgbClr val="FF0000"/>
                </a:solidFill>
                <a:latin typeface="Times New Roman" panose="02020503050405090304" pitchFamily="18" charset="0"/>
              </a:rPr>
              <a:t>字段</a:t>
            </a:r>
            <a:r>
              <a:rPr lang="zh-CN" altLang="en-US" dirty="0">
                <a:latin typeface="Times New Roman" panose="02020503050405090304" pitchFamily="18" charset="0"/>
              </a:rPr>
              <a:t>，表示</a:t>
            </a:r>
            <a:r>
              <a:rPr lang="zh-CN" altLang="en-US" dirty="0">
                <a:solidFill>
                  <a:srgbClr val="FF0000"/>
                </a:solidFill>
                <a:latin typeface="Times New Roman" panose="02020503050405090304" pitchFamily="18" charset="0"/>
              </a:rPr>
              <a:t>属性</a:t>
            </a:r>
            <a:r>
              <a:rPr lang="zh-CN" altLang="en-US" dirty="0">
                <a:latin typeface="Times New Roman" panose="02020503050405090304" pitchFamily="18" charset="0"/>
              </a:rPr>
              <a:t>；</a:t>
            </a:r>
            <a:endParaRPr lang="zh-CN" altLang="en-US" dirty="0"/>
          </a:p>
          <a:p>
            <a:r>
              <a:rPr lang="en-US" altLang="zh-CN" dirty="0"/>
              <a:t>4</a:t>
            </a:r>
            <a:r>
              <a:rPr lang="zh-CN" altLang="en-US" dirty="0">
                <a:latin typeface="Times New Roman" panose="02020503050405090304" pitchFamily="18" charset="0"/>
              </a:rPr>
              <a:t>）片段、字段须命名；</a:t>
            </a:r>
            <a:endParaRPr lang="zh-CN" altLang="en-US" dirty="0">
              <a:latin typeface="Times New Roman" panose="02020503050405090304" pitchFamily="18" charset="0"/>
            </a:endParaRPr>
          </a:p>
          <a:p>
            <a:r>
              <a:rPr lang="en-US" altLang="zh-CN" dirty="0"/>
              <a:t>5</a:t>
            </a:r>
            <a:r>
              <a:rPr lang="zh-CN" altLang="en-US" dirty="0">
                <a:latin typeface="Times New Roman" panose="02020503050405090304" pitchFamily="18" charset="0"/>
              </a:rPr>
              <a:t>）特征</a:t>
            </a:r>
            <a:endParaRPr lang="zh-CN" altLang="en-US" dirty="0"/>
          </a:p>
          <a:p>
            <a:r>
              <a:rPr lang="zh-CN" altLang="en-US" dirty="0">
                <a:latin typeface="Times New Roman" panose="02020503050405090304" pitchFamily="18" charset="0"/>
              </a:rPr>
              <a:t>①有且仅有一个结点无双亲结点，称之为根结点（</a:t>
            </a:r>
            <a:r>
              <a:rPr lang="en-US" altLang="zh-CN" dirty="0"/>
              <a:t>root</a:t>
            </a:r>
            <a:r>
              <a:rPr lang="zh-CN" altLang="en-US" dirty="0">
                <a:latin typeface="Times New Roman" panose="02020503050405090304" pitchFamily="18" charset="0"/>
              </a:rPr>
              <a:t>）；</a:t>
            </a:r>
            <a:endParaRPr lang="zh-CN" altLang="en-US" dirty="0"/>
          </a:p>
          <a:p>
            <a:r>
              <a:rPr lang="zh-CN" altLang="en-US" dirty="0">
                <a:latin typeface="宋体" pitchFamily="2" charset="-122"/>
              </a:rPr>
              <a:t>②余下子女结点有仅有一个双亲结点。</a:t>
            </a:r>
            <a:endParaRPr lang="zh-CN" altLang="en-US" dirty="0">
              <a:latin typeface="宋体" pitchFamily="2" charset="-122"/>
            </a:endParaRPr>
          </a:p>
        </p:txBody>
      </p:sp>
      <p:sp>
        <p:nvSpPr>
          <p:cNvPr id="11271" name="Text Box 7"/>
          <p:cNvSpPr txBox="1">
            <a:spLocks noChangeArrowheads="1"/>
          </p:cNvSpPr>
          <p:nvPr/>
        </p:nvSpPr>
        <p:spPr bwMode="auto">
          <a:xfrm>
            <a:off x="6324600" y="2057400"/>
            <a:ext cx="2012950" cy="457200"/>
          </a:xfrm>
          <a:prstGeom prst="rect">
            <a:avLst/>
          </a:prstGeom>
          <a:noFill/>
          <a:ln w="9525">
            <a:noFill/>
            <a:miter lim="800000"/>
          </a:ln>
        </p:spPr>
        <p:txBody>
          <a:bodyPr wrap="none">
            <a:spAutoFit/>
          </a:bodyPr>
          <a:lstStyle/>
          <a:p>
            <a:r>
              <a:rPr lang="zh-CN" altLang="en-US" dirty="0">
                <a:solidFill>
                  <a:srgbClr val="FF0000"/>
                </a:solidFill>
              </a:rPr>
              <a:t>基本层次联系</a:t>
            </a:r>
            <a:endParaRPr lang="zh-CN" altLang="en-US" dirty="0">
              <a:solidFill>
                <a:srgbClr val="FF0000"/>
              </a:solidFill>
            </a:endParaRPr>
          </a:p>
        </p:txBody>
      </p:sp>
      <p:sp>
        <p:nvSpPr>
          <p:cNvPr id="2" name="椭圆 1"/>
          <p:cNvSpPr/>
          <p:nvPr/>
        </p:nvSpPr>
        <p:spPr>
          <a:xfrm rot="1113087">
            <a:off x="3317134" y="1206094"/>
            <a:ext cx="3042547" cy="143994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1907704" y="2295128"/>
            <a:ext cx="2088232" cy="112865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10687685" y="1119505"/>
            <a:ext cx="3048000" cy="460375"/>
          </a:xfrm>
          <a:prstGeom prst="rect">
            <a:avLst/>
          </a:prstGeom>
          <a:noFill/>
        </p:spPr>
        <p:txBody>
          <a:bodyPr wrap="square" rtlCol="0">
            <a:spAutoFit/>
          </a:bodyPr>
          <a:p>
            <a:endParaRPr lang="zh-CN" altLang="en-US">
              <a:ln>
                <a:solidFill>
                  <a:sysClr val="windowText" lastClr="000000"/>
                </a:solidFill>
              </a:ln>
            </a:endParaRP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3"/>
          <p:cNvSpPr>
            <a:spLocks noGrp="1" noChangeArrowheads="1"/>
          </p:cNvSpPr>
          <p:nvPr>
            <p:ph idx="1"/>
          </p:nvPr>
        </p:nvSpPr>
        <p:spPr>
          <a:xfrm>
            <a:off x="457200" y="1023938"/>
            <a:ext cx="8110538" cy="4191000"/>
          </a:xfrm>
        </p:spPr>
        <p:txBody>
          <a:bodyPr/>
          <a:lstStyle/>
          <a:p>
            <a:pPr marL="0" indent="0" eaLnBrk="1" hangingPunct="1"/>
            <a:r>
              <a:rPr lang="zh-CN" altLang="en-US" sz="2800" b="1" i="1" dirty="0">
                <a:solidFill>
                  <a:srgbClr val="66CCFF"/>
                </a:solidFill>
              </a:rPr>
              <a:t>层次模型的存储结构</a:t>
            </a:r>
            <a:endParaRPr lang="zh-CN" altLang="en-US" sz="2800" b="1" i="1" dirty="0">
              <a:solidFill>
                <a:srgbClr val="66CCFF"/>
              </a:solidFill>
            </a:endParaRPr>
          </a:p>
          <a:p>
            <a:pPr marL="0" indent="0" eaLnBrk="1" hangingPunct="1">
              <a:buFont typeface="Wingdings" panose="05000000000000000000" pitchFamily="2" charset="2"/>
              <a:buNone/>
            </a:pPr>
            <a:r>
              <a:rPr lang="zh-CN" altLang="en-US" sz="2800" i="1" dirty="0">
                <a:solidFill>
                  <a:srgbClr val="66CCFF"/>
                </a:solidFill>
              </a:rPr>
              <a:t>邻接法</a:t>
            </a:r>
            <a:r>
              <a:rPr lang="en-US" altLang="zh-CN" sz="2800" i="1" dirty="0">
                <a:solidFill>
                  <a:srgbClr val="66CCFF"/>
                </a:solidFill>
                <a:latin typeface="Times New Roman" panose="02020503050405090304" pitchFamily="18" charset="0"/>
              </a:rPr>
              <a:t>——</a:t>
            </a:r>
            <a:r>
              <a:rPr lang="zh-CN" altLang="en-US" sz="2800" i="1" dirty="0">
                <a:solidFill>
                  <a:srgbClr val="66CCFF"/>
                </a:solidFill>
              </a:rPr>
              <a:t>前序遍历树的方式，通过物理地址的相邻体现层次顺序。</a:t>
            </a:r>
            <a:endParaRPr lang="zh-CN" altLang="en-US" sz="2800" i="1" dirty="0">
              <a:solidFill>
                <a:srgbClr val="66CCFF"/>
              </a:solidFill>
            </a:endParaRPr>
          </a:p>
          <a:p>
            <a:pPr marL="0" indent="0" eaLnBrk="1" hangingPunct="1">
              <a:buFont typeface="Wingdings" panose="05000000000000000000" pitchFamily="2" charset="2"/>
              <a:buNone/>
            </a:pPr>
            <a:r>
              <a:rPr lang="zh-CN" altLang="en-US" sz="2800" i="1" dirty="0">
                <a:solidFill>
                  <a:srgbClr val="66CCFF"/>
                </a:solidFill>
              </a:rPr>
              <a:t>链接法</a:t>
            </a:r>
            <a:r>
              <a:rPr lang="en-US" altLang="zh-CN" sz="2800" i="1" dirty="0">
                <a:solidFill>
                  <a:srgbClr val="66CCFF"/>
                </a:solidFill>
                <a:latin typeface="Times New Roman" panose="02020503050405090304" pitchFamily="18" charset="0"/>
              </a:rPr>
              <a:t>——</a:t>
            </a:r>
            <a:r>
              <a:rPr lang="zh-CN" altLang="en-US" sz="2800" i="1" dirty="0">
                <a:solidFill>
                  <a:srgbClr val="66CCFF"/>
                </a:solidFill>
              </a:rPr>
              <a:t>（子女－兄弟链接法）用指针来反映数据之间的层次关系，每个记录包含两类指针，分别指向最左边的子女和最近的兄弟。</a:t>
            </a:r>
            <a:endParaRPr lang="zh-CN" altLang="en-US" sz="2800" i="1" dirty="0">
              <a:solidFill>
                <a:srgbClr val="66CCFF"/>
              </a:solidFill>
            </a:endParaRPr>
          </a:p>
        </p:txBody>
      </p:sp>
      <p:sp>
        <p:nvSpPr>
          <p:cNvPr id="5" name="灯片编号占位符 5"/>
          <p:cNvSpPr>
            <a:spLocks noGrp="1"/>
          </p:cNvSpPr>
          <p:nvPr>
            <p:ph type="sldNum" sz="quarter" idx="12"/>
          </p:nvPr>
        </p:nvSpPr>
        <p:spPr/>
        <p:txBody>
          <a:bodyPr/>
          <a:lstStyle/>
          <a:p>
            <a:pPr>
              <a:defRPr/>
            </a:pPr>
            <a:fld id="{4593BC84-BC2A-4939-ABA6-2CC65F809B59}" type="slidenum">
              <a:rPr lang="en-US" altLang="zh-CN"/>
            </a:fld>
            <a:endParaRPr lang="en-US" altLang="zh-CN"/>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F07A9AAC-C8D7-4FC9-8FE0-56ADBFE303CE}" type="slidenum">
              <a:rPr lang="en-US" altLang="zh-CN"/>
            </a:fld>
            <a:endParaRPr lang="en-US" altLang="zh-CN"/>
          </a:p>
        </p:txBody>
      </p:sp>
      <p:sp>
        <p:nvSpPr>
          <p:cNvPr id="12292" name="Text Box 1026"/>
          <p:cNvSpPr txBox="1">
            <a:spLocks noChangeArrowheads="1"/>
          </p:cNvSpPr>
          <p:nvPr/>
        </p:nvSpPr>
        <p:spPr bwMode="auto">
          <a:xfrm>
            <a:off x="441325" y="598488"/>
            <a:ext cx="6651625" cy="4524315"/>
          </a:xfrm>
          <a:prstGeom prst="rect">
            <a:avLst/>
          </a:prstGeom>
          <a:noFill/>
          <a:ln w="9525">
            <a:noFill/>
            <a:miter lim="800000"/>
          </a:ln>
        </p:spPr>
        <p:txBody>
          <a:bodyPr>
            <a:spAutoFit/>
          </a:bodyPr>
          <a:lstStyle/>
          <a:p>
            <a:r>
              <a:rPr lang="en-US" altLang="zh-CN" b="1" dirty="0">
                <a:latin typeface="Arial" panose="020B0604020202090204" pitchFamily="34" charset="0"/>
                <a:cs typeface="Arial" panose="020B0604020202090204" pitchFamily="34" charset="0"/>
              </a:rPr>
              <a:t>2. </a:t>
            </a:r>
            <a:r>
              <a:rPr lang="zh-CN" altLang="en-US" b="1" dirty="0">
                <a:latin typeface="Arial" panose="020B0604020202090204" pitchFamily="34" charset="0"/>
                <a:ea typeface="黑体" panose="02010609060101010101" pitchFamily="49" charset="-122"/>
              </a:rPr>
              <a:t>操作</a:t>
            </a:r>
            <a:endParaRPr lang="zh-CN" altLang="en-US" b="1" dirty="0">
              <a:latin typeface="Arial" panose="020B0604020202090204" pitchFamily="34" charset="0"/>
              <a:cs typeface="Arial" panose="020B0604020202090204" pitchFamily="34" charset="0"/>
            </a:endParaRPr>
          </a:p>
          <a:p>
            <a:r>
              <a:rPr lang="zh-CN" altLang="en-US" dirty="0"/>
              <a:t>增加、删除、修改、查询（ </a:t>
            </a:r>
            <a:r>
              <a:rPr lang="en-US" altLang="zh-CN" dirty="0"/>
              <a:t>I</a:t>
            </a:r>
            <a:r>
              <a:rPr lang="zh-CN" altLang="en-US" dirty="0"/>
              <a:t>、</a:t>
            </a:r>
            <a:r>
              <a:rPr lang="en-US" altLang="zh-CN" dirty="0"/>
              <a:t>D</a:t>
            </a:r>
            <a:r>
              <a:rPr lang="zh-CN" altLang="en-US" dirty="0"/>
              <a:t>、</a:t>
            </a:r>
            <a:r>
              <a:rPr lang="en-US" altLang="zh-CN" dirty="0"/>
              <a:t>U</a:t>
            </a:r>
            <a:r>
              <a:rPr lang="zh-CN" altLang="en-US" dirty="0"/>
              <a:t>、</a:t>
            </a:r>
            <a:r>
              <a:rPr lang="en-US" altLang="zh-CN" dirty="0"/>
              <a:t>Q </a:t>
            </a:r>
            <a:r>
              <a:rPr lang="zh-CN" altLang="en-US" dirty="0"/>
              <a:t>）</a:t>
            </a:r>
            <a:endParaRPr lang="zh-CN" altLang="en-US" dirty="0"/>
          </a:p>
          <a:p>
            <a:r>
              <a:rPr lang="en-US" altLang="zh-CN" b="1" dirty="0">
                <a:latin typeface="Arial" panose="020B0604020202090204" pitchFamily="34" charset="0"/>
                <a:cs typeface="Arial" panose="020B0604020202090204" pitchFamily="34" charset="0"/>
              </a:rPr>
              <a:t>3. </a:t>
            </a:r>
            <a:r>
              <a:rPr lang="zh-CN" altLang="en-US" b="1" dirty="0">
                <a:latin typeface="Arial" panose="020B0604020202090204" pitchFamily="34" charset="0"/>
                <a:ea typeface="黑体" panose="02010609060101010101" pitchFamily="49" charset="-122"/>
              </a:rPr>
              <a:t>约束</a:t>
            </a:r>
            <a:endParaRPr lang="zh-CN" altLang="en-US" b="1" dirty="0">
              <a:latin typeface="Arial" panose="020B0604020202090204" pitchFamily="34" charset="0"/>
              <a:cs typeface="Arial" panose="020B0604020202090204" pitchFamily="34" charset="0"/>
            </a:endParaRPr>
          </a:p>
          <a:p>
            <a:r>
              <a:rPr lang="en-US" altLang="zh-CN" dirty="0"/>
              <a:t>1</a:t>
            </a:r>
            <a:r>
              <a:rPr lang="zh-CN" altLang="en-US" dirty="0">
                <a:latin typeface="Times New Roman" panose="02020503050405090304" pitchFamily="18" charset="0"/>
              </a:rPr>
              <a:t>）无双亲不能插入子女结点值；</a:t>
            </a:r>
            <a:endParaRPr lang="zh-CN" altLang="en-US" dirty="0"/>
          </a:p>
          <a:p>
            <a:r>
              <a:rPr lang="en-US" altLang="zh-CN" dirty="0"/>
              <a:t>2</a:t>
            </a:r>
            <a:r>
              <a:rPr lang="zh-CN" altLang="en-US" dirty="0">
                <a:latin typeface="Times New Roman" panose="02020503050405090304" pitchFamily="18" charset="0"/>
              </a:rPr>
              <a:t>）删去双亲结点值，则子女结点值同时删去。</a:t>
            </a:r>
            <a:endParaRPr lang="zh-CN" altLang="en-US" dirty="0"/>
          </a:p>
          <a:p>
            <a:r>
              <a:rPr lang="en-US" altLang="zh-CN" b="1" dirty="0">
                <a:latin typeface="Arial" panose="020B0604020202090204" pitchFamily="34" charset="0"/>
                <a:cs typeface="Arial" panose="020B0604020202090204" pitchFamily="34" charset="0"/>
              </a:rPr>
              <a:t>4. </a:t>
            </a:r>
            <a:r>
              <a:rPr lang="zh-CN" altLang="en-US" b="1" dirty="0">
                <a:latin typeface="Arial" panose="020B0604020202090204" pitchFamily="34" charset="0"/>
                <a:ea typeface="黑体" panose="02010609060101010101" pitchFamily="49" charset="-122"/>
              </a:rPr>
              <a:t>优点</a:t>
            </a:r>
            <a:endParaRPr lang="zh-CN" altLang="en-US" b="1" dirty="0">
              <a:latin typeface="Arial" panose="020B0604020202090204" pitchFamily="34" charset="0"/>
              <a:cs typeface="Arial" panose="020B0604020202090204" pitchFamily="34" charset="0"/>
            </a:endParaRPr>
          </a:p>
          <a:p>
            <a:r>
              <a:rPr lang="en-US" altLang="zh-CN" dirty="0"/>
              <a:t>1</a:t>
            </a:r>
            <a:r>
              <a:rPr lang="zh-CN" altLang="en-US" dirty="0">
                <a:latin typeface="Times New Roman" panose="02020503050405090304" pitchFamily="18" charset="0"/>
              </a:rPr>
              <a:t>）简单易用（几条操作命令）；</a:t>
            </a:r>
            <a:endParaRPr lang="zh-CN" altLang="en-US" dirty="0"/>
          </a:p>
          <a:p>
            <a:r>
              <a:rPr lang="en-US" altLang="zh-CN" dirty="0"/>
              <a:t>2</a:t>
            </a:r>
            <a:r>
              <a:rPr lang="zh-CN" altLang="en-US" dirty="0">
                <a:latin typeface="Times New Roman" panose="02020503050405090304" pitchFamily="18" charset="0"/>
              </a:rPr>
              <a:t>）自然表示</a:t>
            </a:r>
            <a:r>
              <a:rPr lang="en-US" altLang="zh-CN" dirty="0"/>
              <a:t>1</a:t>
            </a:r>
            <a:r>
              <a:rPr lang="zh-CN" altLang="en-US" dirty="0">
                <a:latin typeface="Times New Roman" panose="02020503050405090304" pitchFamily="18" charset="0"/>
              </a:rPr>
              <a:t>：</a:t>
            </a:r>
            <a:r>
              <a:rPr lang="en-US" altLang="zh-CN" dirty="0">
                <a:latin typeface="Times New Roman" panose="02020503050405090304" pitchFamily="18" charset="0"/>
              </a:rPr>
              <a:t>n</a:t>
            </a:r>
            <a:r>
              <a:rPr lang="zh-CN" altLang="en-US" dirty="0">
                <a:latin typeface="Times New Roman" panose="02020503050405090304" pitchFamily="18" charset="0"/>
              </a:rPr>
              <a:t>联系；</a:t>
            </a:r>
            <a:endParaRPr lang="zh-CN" altLang="en-US" dirty="0"/>
          </a:p>
          <a:p>
            <a:r>
              <a:rPr lang="en-US" altLang="zh-CN" dirty="0"/>
              <a:t>3</a:t>
            </a:r>
            <a:r>
              <a:rPr lang="zh-CN" altLang="en-US" dirty="0">
                <a:latin typeface="Times New Roman" panose="02020503050405090304" pitchFamily="18" charset="0"/>
              </a:rPr>
              <a:t>）</a:t>
            </a:r>
            <a:r>
              <a:rPr lang="zh-CN" altLang="en-US" dirty="0">
                <a:solidFill>
                  <a:srgbClr val="FF0000"/>
                </a:solidFill>
                <a:latin typeface="Times New Roman" panose="02020503050405090304" pitchFamily="18" charset="0"/>
              </a:rPr>
              <a:t>速度较快</a:t>
            </a:r>
            <a:r>
              <a:rPr lang="zh-CN" altLang="en-US" dirty="0">
                <a:latin typeface="Times New Roman" panose="02020503050405090304" pitchFamily="18" charset="0"/>
              </a:rPr>
              <a:t>。</a:t>
            </a:r>
            <a:endParaRPr lang="zh-CN" altLang="en-US" dirty="0"/>
          </a:p>
          <a:p>
            <a:r>
              <a:rPr lang="en-US" altLang="zh-CN" b="1" dirty="0">
                <a:latin typeface="Arial" panose="020B0604020202090204" pitchFamily="34" charset="0"/>
                <a:cs typeface="Arial" panose="020B0604020202090204" pitchFamily="34" charset="0"/>
              </a:rPr>
              <a:t>5. </a:t>
            </a:r>
            <a:r>
              <a:rPr lang="zh-CN" altLang="en-US" b="1" dirty="0">
                <a:latin typeface="Arial" panose="020B0604020202090204" pitchFamily="34" charset="0"/>
                <a:ea typeface="黑体" panose="02010609060101010101" pitchFamily="49" charset="-122"/>
              </a:rPr>
              <a:t>缺点</a:t>
            </a:r>
            <a:endParaRPr lang="zh-CN" altLang="en-US" b="1" dirty="0">
              <a:latin typeface="Arial" panose="020B0604020202090204" pitchFamily="34" charset="0"/>
              <a:cs typeface="Arial" panose="020B0604020202090204" pitchFamily="34" charset="0"/>
            </a:endParaRPr>
          </a:p>
          <a:p>
            <a:r>
              <a:rPr lang="en-US" altLang="zh-CN" dirty="0"/>
              <a:t>1</a:t>
            </a:r>
            <a:r>
              <a:rPr lang="zh-CN" altLang="en-US" dirty="0">
                <a:latin typeface="Times New Roman" panose="02020503050405090304" pitchFamily="18" charset="0"/>
              </a:rPr>
              <a:t>）不能直接表示</a:t>
            </a:r>
            <a:r>
              <a:rPr lang="en-US" altLang="zh-CN" dirty="0"/>
              <a:t>m</a:t>
            </a:r>
            <a:r>
              <a:rPr lang="zh-CN" altLang="en-US" dirty="0">
                <a:latin typeface="Times New Roman" panose="02020503050405090304" pitchFamily="18" charset="0"/>
              </a:rPr>
              <a:t>：</a:t>
            </a:r>
            <a:r>
              <a:rPr lang="en-US" altLang="zh-CN" dirty="0"/>
              <a:t>n</a:t>
            </a:r>
            <a:r>
              <a:rPr lang="zh-CN" altLang="en-US" dirty="0">
                <a:latin typeface="Times New Roman" panose="02020503050405090304" pitchFamily="18" charset="0"/>
              </a:rPr>
              <a:t>联系；</a:t>
            </a:r>
            <a:endParaRPr lang="zh-CN" altLang="en-US" dirty="0"/>
          </a:p>
          <a:p>
            <a:r>
              <a:rPr lang="zh-CN" altLang="en-US" dirty="0">
                <a:latin typeface="宋体" pitchFamily="2" charset="-122"/>
              </a:rPr>
              <a:t>（须引进冗余或者虚拟结点）</a:t>
            </a:r>
            <a:r>
              <a:rPr lang="zh-CN" altLang="en-US" dirty="0"/>
              <a:t> </a:t>
            </a:r>
            <a:endParaRPr lang="zh-CN" altLang="en-US" dirty="0"/>
          </a:p>
        </p:txBody>
      </p:sp>
      <p:graphicFrame>
        <p:nvGraphicFramePr>
          <p:cNvPr id="12290" name="Object 7"/>
          <p:cNvGraphicFramePr>
            <a:graphicFrameLocks noChangeAspect="1"/>
          </p:cNvGraphicFramePr>
          <p:nvPr/>
        </p:nvGraphicFramePr>
        <p:xfrm>
          <a:off x="187325" y="5235575"/>
          <a:ext cx="8237538" cy="1693863"/>
        </p:xfrm>
        <a:graphic>
          <a:graphicData uri="http://schemas.openxmlformats.org/presentationml/2006/ole">
            <mc:AlternateContent xmlns:mc="http://schemas.openxmlformats.org/markup-compatibility/2006">
              <mc:Choice xmlns:v="urn:schemas-microsoft-com:vml" Requires="v">
                <p:oleObj spid="_x0000_s12667" name="Picture" r:id="rId1" imgW="5892800" imgH="1181100" progId="Word.Picture.8">
                  <p:embed/>
                </p:oleObj>
              </mc:Choice>
              <mc:Fallback>
                <p:oleObj name="Picture" r:id="rId1" imgW="5892800" imgH="1181100" progId="Word.Picture.8">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325" y="5235575"/>
                        <a:ext cx="8237538" cy="1693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394B2A7E-E298-48D3-B9BE-79FFA3F28A68}" type="slidenum">
              <a:rPr lang="en-US" altLang="zh-CN"/>
            </a:fld>
            <a:endParaRPr lang="en-US" altLang="zh-CN"/>
          </a:p>
        </p:txBody>
      </p:sp>
      <p:sp>
        <p:nvSpPr>
          <p:cNvPr id="84995" name="Text Box 3"/>
          <p:cNvSpPr txBox="1">
            <a:spLocks noChangeArrowheads="1"/>
          </p:cNvSpPr>
          <p:nvPr/>
        </p:nvSpPr>
        <p:spPr bwMode="auto">
          <a:xfrm>
            <a:off x="533400" y="741363"/>
            <a:ext cx="8153400" cy="5694362"/>
          </a:xfrm>
          <a:prstGeom prst="rect">
            <a:avLst/>
          </a:prstGeom>
          <a:noFill/>
          <a:ln w="9525">
            <a:noFill/>
            <a:miter lim="800000"/>
          </a:ln>
        </p:spPr>
        <p:txBody>
          <a:bodyPr>
            <a:spAutoFit/>
          </a:bodyPr>
          <a:lstStyle/>
          <a:p>
            <a:r>
              <a:rPr lang="en-US" altLang="zh-CN" sz="2800" dirty="0"/>
              <a:t>2</a:t>
            </a:r>
            <a:r>
              <a:rPr lang="zh-CN" altLang="en-US" sz="2800" dirty="0">
                <a:latin typeface="Times New Roman" panose="02020503050405090304" pitchFamily="18" charset="0"/>
              </a:rPr>
              <a:t>）插入，删除操作限制多；</a:t>
            </a:r>
            <a:endParaRPr lang="zh-CN" altLang="en-US" sz="2800" dirty="0"/>
          </a:p>
          <a:p>
            <a:r>
              <a:rPr lang="en-US" altLang="zh-CN" sz="2800" dirty="0"/>
              <a:t>3</a:t>
            </a:r>
            <a:r>
              <a:rPr lang="zh-CN" altLang="en-US" sz="2800" dirty="0">
                <a:latin typeface="Times New Roman" panose="02020503050405090304" pitchFamily="18" charset="0"/>
              </a:rPr>
              <a:t>）查子女须经过双亲。</a:t>
            </a:r>
            <a:endParaRPr lang="zh-CN" altLang="en-US" sz="2800" dirty="0"/>
          </a:p>
          <a:p>
            <a:r>
              <a:rPr lang="zh-CN" altLang="en-US" sz="2800" dirty="0">
                <a:latin typeface="宋体" pitchFamily="2" charset="-122"/>
              </a:rPr>
              <a:t>（从上到下，从左到右）</a:t>
            </a:r>
            <a:r>
              <a:rPr lang="zh-CN" altLang="en-US" sz="2800" dirty="0"/>
              <a:t> </a:t>
            </a:r>
            <a:endParaRPr lang="zh-CN" altLang="en-US" sz="2800" dirty="0"/>
          </a:p>
          <a:p>
            <a:endParaRPr lang="zh-CN" altLang="en-US" sz="2800" b="1" dirty="0">
              <a:ea typeface="黑体" panose="02010609060101010101" pitchFamily="49" charset="-122"/>
            </a:endParaRPr>
          </a:p>
          <a:p>
            <a:r>
              <a:rPr lang="en-US" altLang="zh-CN" sz="2800" b="1" dirty="0">
                <a:ea typeface="黑体" panose="02010609060101010101" pitchFamily="49" charset="-122"/>
              </a:rPr>
              <a:t>1.2.4  </a:t>
            </a:r>
            <a:r>
              <a:rPr lang="zh-CN" altLang="en-US" sz="2800" b="1" dirty="0">
                <a:ea typeface="黑体" panose="02010609060101010101" pitchFamily="49" charset="-122"/>
              </a:rPr>
              <a:t>网状模型</a:t>
            </a:r>
            <a:endParaRPr lang="zh-CN" altLang="en-US" sz="2800" b="1" dirty="0">
              <a:ea typeface="黑体" panose="02010609060101010101" pitchFamily="49" charset="-122"/>
            </a:endParaRPr>
          </a:p>
          <a:p>
            <a:r>
              <a:rPr lang="en-US" altLang="zh-CN" sz="2800" dirty="0">
                <a:latin typeface="Times New Roman" panose="02020503050405090304" pitchFamily="18" charset="0"/>
              </a:rPr>
              <a:t>——</a:t>
            </a:r>
            <a:r>
              <a:rPr lang="zh-CN" altLang="en-US" sz="2800" dirty="0">
                <a:latin typeface="Times New Roman" panose="02020503050405090304" pitchFamily="18" charset="0"/>
              </a:rPr>
              <a:t>用</a:t>
            </a:r>
            <a:r>
              <a:rPr lang="zh-CN" altLang="en-US" sz="2800" dirty="0">
                <a:solidFill>
                  <a:srgbClr val="FF0000"/>
                </a:solidFill>
                <a:latin typeface="Times New Roman" panose="02020503050405090304" pitchFamily="18" charset="0"/>
              </a:rPr>
              <a:t>网状结构</a:t>
            </a:r>
            <a:r>
              <a:rPr lang="zh-CN" altLang="en-US" sz="2800" dirty="0">
                <a:latin typeface="Times New Roman" panose="02020503050405090304" pitchFamily="18" charset="0"/>
              </a:rPr>
              <a:t>表示实体及实体间联系的数据模型</a:t>
            </a:r>
            <a:endParaRPr lang="zh-CN" altLang="en-US" sz="2800" dirty="0">
              <a:latin typeface="Times New Roman" panose="02020503050405090304" pitchFamily="18" charset="0"/>
            </a:endParaRPr>
          </a:p>
          <a:p>
            <a:r>
              <a:rPr lang="en-US" altLang="zh-CN" sz="2800" dirty="0"/>
              <a:t>    DBTG</a:t>
            </a:r>
            <a:r>
              <a:rPr lang="zh-CN" altLang="en-US" sz="2800" dirty="0"/>
              <a:t>（</a:t>
            </a:r>
            <a:r>
              <a:rPr lang="en-US" altLang="zh-CN" sz="2800" dirty="0"/>
              <a:t>Database Task Group</a:t>
            </a:r>
            <a:r>
              <a:rPr lang="zh-CN" altLang="en-US" sz="2800" dirty="0">
                <a:latin typeface="Times New Roman" panose="02020503050405090304" pitchFamily="18" charset="0"/>
              </a:rPr>
              <a:t>）提出的一个系统方案。</a:t>
            </a:r>
            <a:endParaRPr lang="zh-CN" altLang="en-US" sz="2800" dirty="0">
              <a:latin typeface="Times New Roman" panose="02020503050405090304" pitchFamily="18" charset="0"/>
            </a:endParaRPr>
          </a:p>
          <a:p>
            <a:r>
              <a:rPr lang="zh-CN" altLang="en-US" sz="2800" dirty="0"/>
              <a:t>    </a:t>
            </a:r>
            <a:endParaRPr lang="zh-CN" altLang="en-US" sz="2800" dirty="0"/>
          </a:p>
          <a:p>
            <a:r>
              <a:rPr lang="zh-CN" altLang="en-US" sz="2800" dirty="0"/>
              <a:t>    去掉了层次模型的两个限制（根结点、多个双亲结点），引入了复合联系。</a:t>
            </a:r>
            <a:endParaRPr lang="zh-CN" altLang="en-US" sz="2800" dirty="0"/>
          </a:p>
          <a:p>
            <a:r>
              <a:rPr lang="zh-CN" altLang="en-US" sz="2800" dirty="0"/>
              <a:t>    </a:t>
            </a:r>
            <a:endParaRPr lang="zh-CN" altLang="en-US" sz="2800" dirty="0"/>
          </a:p>
          <a:p>
            <a:r>
              <a:rPr lang="zh-CN" altLang="en-US" sz="2800" dirty="0"/>
              <a:t>    层次模型可看作网状模型的一个特例。</a:t>
            </a:r>
            <a:endParaRPr lang="zh-CN" altLang="en-US" sz="2800" dirty="0"/>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ABA54A9D-1487-4EC1-9347-321A995A393E}" type="slidenum">
              <a:rPr lang="en-US" altLang="zh-CN"/>
            </a:fld>
            <a:endParaRPr lang="en-US" altLang="zh-CN"/>
          </a:p>
        </p:txBody>
      </p:sp>
      <p:graphicFrame>
        <p:nvGraphicFramePr>
          <p:cNvPr id="13314" name="Object 7"/>
          <p:cNvGraphicFramePr>
            <a:graphicFrameLocks noChangeAspect="1"/>
          </p:cNvGraphicFramePr>
          <p:nvPr/>
        </p:nvGraphicFramePr>
        <p:xfrm>
          <a:off x="1357313" y="2000250"/>
          <a:ext cx="5857875" cy="4435475"/>
        </p:xfrm>
        <a:graphic>
          <a:graphicData uri="http://schemas.openxmlformats.org/presentationml/2006/ole">
            <mc:AlternateContent xmlns:mc="http://schemas.openxmlformats.org/markup-compatibility/2006">
              <mc:Choice xmlns:v="urn:schemas-microsoft-com:vml" Requires="v">
                <p:oleObj spid="_x0000_s13691" name="Picture2" r:id="rId1" imgW="2324100" imgH="1752600" progId="Word.Picture.8">
                  <p:embed/>
                </p:oleObj>
              </mc:Choice>
              <mc:Fallback>
                <p:oleObj name="Picture2" r:id="rId1" imgW="2324100" imgH="1752600" progId="Word.Picture.8">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7313" y="2000250"/>
                        <a:ext cx="5857875" cy="4435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16" name="Rectangle 3"/>
          <p:cNvSpPr>
            <a:spLocks noChangeArrowheads="1"/>
          </p:cNvSpPr>
          <p:nvPr/>
        </p:nvSpPr>
        <p:spPr bwMode="auto">
          <a:xfrm>
            <a:off x="609600" y="758825"/>
            <a:ext cx="8077200" cy="1169988"/>
          </a:xfrm>
          <a:prstGeom prst="rect">
            <a:avLst/>
          </a:prstGeom>
          <a:noFill/>
          <a:ln w="9525">
            <a:noFill/>
            <a:miter lim="800000"/>
          </a:ln>
        </p:spPr>
        <p:txBody>
          <a:bodyPr>
            <a:spAutoFit/>
          </a:bodyPr>
          <a:lstStyle/>
          <a:p>
            <a:pPr>
              <a:spcBef>
                <a:spcPct val="50000"/>
              </a:spcBef>
            </a:pPr>
            <a:r>
              <a:rPr lang="en-US" altLang="zh-CN" sz="2800" b="1" dirty="0">
                <a:latin typeface="Arial" panose="020B0604020202090204" pitchFamily="34" charset="0"/>
                <a:cs typeface="Arial" panose="020B0604020202090204" pitchFamily="34" charset="0"/>
              </a:rPr>
              <a:t>1. </a:t>
            </a:r>
            <a:r>
              <a:rPr lang="zh-CN" altLang="en-US" sz="2800" b="1" dirty="0">
                <a:latin typeface="Arial" panose="020B0604020202090204" pitchFamily="34" charset="0"/>
                <a:ea typeface="黑体" panose="02010609060101010101" pitchFamily="49" charset="-122"/>
              </a:rPr>
              <a:t>数据结构</a:t>
            </a:r>
            <a:endParaRPr lang="zh-CN" altLang="en-US" sz="2800" b="1" dirty="0">
              <a:latin typeface="Arial" panose="020B0604020202090204" pitchFamily="34" charset="0"/>
              <a:cs typeface="Arial" panose="020B0604020202090204" pitchFamily="34" charset="0"/>
            </a:endParaRPr>
          </a:p>
          <a:p>
            <a:pPr>
              <a:spcBef>
                <a:spcPct val="50000"/>
              </a:spcBef>
            </a:pPr>
            <a:r>
              <a:rPr lang="en-US" altLang="zh-CN" sz="2800" dirty="0"/>
              <a:t>a</a:t>
            </a:r>
            <a:r>
              <a:rPr lang="zh-CN" altLang="en-US" sz="2800" dirty="0">
                <a:latin typeface="宋体" pitchFamily="2" charset="-122"/>
              </a:rPr>
              <a:t>：简单网</a:t>
            </a:r>
            <a:r>
              <a:rPr lang="zh-CN" altLang="en-US" sz="2800" dirty="0"/>
              <a:t> </a:t>
            </a:r>
            <a:endParaRPr lang="zh-CN" altLang="en-US" sz="2800" dirty="0"/>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3"/>
          <p:cNvSpPr>
            <a:spLocks noGrp="1"/>
          </p:cNvSpPr>
          <p:nvPr>
            <p:ph type="sldNum" sz="quarter" idx="12"/>
          </p:nvPr>
        </p:nvSpPr>
        <p:spPr/>
        <p:txBody>
          <a:bodyPr/>
          <a:lstStyle/>
          <a:p>
            <a:pPr>
              <a:defRPr/>
            </a:pPr>
            <a:fld id="{F600DA99-3DE9-4E5B-8385-A3F2728EAF81}" type="slidenum">
              <a:rPr lang="en-US" altLang="zh-CN"/>
            </a:fld>
            <a:endParaRPr lang="en-US" altLang="zh-CN"/>
          </a:p>
        </p:txBody>
      </p:sp>
      <p:sp>
        <p:nvSpPr>
          <p:cNvPr id="14341" name="Rectangle 2"/>
          <p:cNvSpPr>
            <a:spLocks noChangeArrowheads="1"/>
          </p:cNvSpPr>
          <p:nvPr/>
        </p:nvSpPr>
        <p:spPr bwMode="auto">
          <a:xfrm>
            <a:off x="304800" y="1000125"/>
            <a:ext cx="4191000" cy="523875"/>
          </a:xfrm>
          <a:prstGeom prst="rect">
            <a:avLst/>
          </a:prstGeom>
          <a:noFill/>
          <a:ln w="9525">
            <a:noFill/>
            <a:miter lim="800000"/>
          </a:ln>
        </p:spPr>
        <p:txBody>
          <a:bodyPr>
            <a:spAutoFit/>
          </a:bodyPr>
          <a:lstStyle/>
          <a:p>
            <a:pPr algn="just"/>
            <a:r>
              <a:rPr lang="en-US" altLang="zh-CN" sz="2800" dirty="0">
                <a:latin typeface="Times New Roman" panose="02020503050405090304" pitchFamily="18" charset="0"/>
              </a:rPr>
              <a:t>b</a:t>
            </a:r>
            <a:r>
              <a:rPr lang="zh-CN" altLang="en-US" sz="2800" dirty="0">
                <a:latin typeface="Times New Roman" panose="02020503050405090304" pitchFamily="18" charset="0"/>
              </a:rPr>
              <a:t>：</a:t>
            </a:r>
            <a:r>
              <a:rPr lang="zh-CN" altLang="en-US" sz="2800" dirty="0">
                <a:solidFill>
                  <a:srgbClr val="FF0000"/>
                </a:solidFill>
                <a:latin typeface="Times New Roman" panose="02020503050405090304" pitchFamily="18" charset="0"/>
              </a:rPr>
              <a:t>复杂</a:t>
            </a:r>
            <a:r>
              <a:rPr lang="zh-CN" altLang="en-US" sz="2800" dirty="0">
                <a:latin typeface="Times New Roman" panose="02020503050405090304" pitchFamily="18" charset="0"/>
              </a:rPr>
              <a:t>网</a:t>
            </a:r>
            <a:endParaRPr lang="zh-CN" altLang="en-US" sz="2800" dirty="0">
              <a:latin typeface="Times New Roman" panose="02020503050405090304" pitchFamily="18" charset="0"/>
            </a:endParaRPr>
          </a:p>
        </p:txBody>
      </p:sp>
      <p:graphicFrame>
        <p:nvGraphicFramePr>
          <p:cNvPr id="14338" name="Object 12"/>
          <p:cNvGraphicFramePr>
            <a:graphicFrameLocks noChangeAspect="1"/>
          </p:cNvGraphicFramePr>
          <p:nvPr/>
        </p:nvGraphicFramePr>
        <p:xfrm>
          <a:off x="2286000" y="1000125"/>
          <a:ext cx="4429125" cy="2214563"/>
        </p:xfrm>
        <a:graphic>
          <a:graphicData uri="http://schemas.openxmlformats.org/presentationml/2006/ole">
            <mc:AlternateContent xmlns:mc="http://schemas.openxmlformats.org/markup-compatibility/2006">
              <mc:Choice xmlns:v="urn:schemas-microsoft-com:vml" Requires="v">
                <p:oleObj spid="_x0000_s15094" name="" r:id="rId1" imgW="2133600" imgH="1066800" progId="Word.Picture.8">
                  <p:embed/>
                </p:oleObj>
              </mc:Choice>
              <mc:Fallback>
                <p:oleObj name="" r:id="rId1" imgW="2133600" imgH="1066800" progId="Word.Picture.8">
                  <p:embed/>
                  <p:pic>
                    <p:nvPicPr>
                      <p:cNvPr id="0" name="Object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1000125"/>
                        <a:ext cx="4429125" cy="2214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342" name="Rectangle 5"/>
          <p:cNvSpPr>
            <a:spLocks noChangeArrowheads="1"/>
          </p:cNvSpPr>
          <p:nvPr/>
        </p:nvSpPr>
        <p:spPr bwMode="auto">
          <a:xfrm>
            <a:off x="304800" y="3133725"/>
            <a:ext cx="5257800" cy="523875"/>
          </a:xfrm>
          <a:prstGeom prst="rect">
            <a:avLst/>
          </a:prstGeom>
          <a:noFill/>
          <a:ln w="9525">
            <a:noFill/>
            <a:miter lim="800000"/>
          </a:ln>
        </p:spPr>
        <p:txBody>
          <a:bodyPr>
            <a:spAutoFit/>
          </a:bodyPr>
          <a:lstStyle/>
          <a:p>
            <a:pPr algn="just"/>
            <a:r>
              <a:rPr lang="en-US" altLang="zh-CN" sz="2800" dirty="0">
                <a:latin typeface="Times New Roman" panose="02020503050405090304" pitchFamily="18" charset="0"/>
              </a:rPr>
              <a:t>c</a:t>
            </a:r>
            <a:r>
              <a:rPr lang="zh-CN" altLang="en-US" sz="2800" dirty="0">
                <a:latin typeface="Times New Roman" panose="02020503050405090304" pitchFamily="18" charset="0"/>
              </a:rPr>
              <a:t>：简单环网</a:t>
            </a:r>
            <a:endParaRPr lang="zh-CN" altLang="en-US" sz="2800" dirty="0">
              <a:latin typeface="Times New Roman" panose="02020503050405090304" pitchFamily="18" charset="0"/>
            </a:endParaRPr>
          </a:p>
        </p:txBody>
      </p:sp>
      <p:graphicFrame>
        <p:nvGraphicFramePr>
          <p:cNvPr id="14339" name="Object 13"/>
          <p:cNvGraphicFramePr>
            <a:graphicFrameLocks noChangeAspect="1"/>
          </p:cNvGraphicFramePr>
          <p:nvPr/>
        </p:nvGraphicFramePr>
        <p:xfrm>
          <a:off x="1643063" y="3786188"/>
          <a:ext cx="6599237" cy="2119312"/>
        </p:xfrm>
        <a:graphic>
          <a:graphicData uri="http://schemas.openxmlformats.org/presentationml/2006/ole">
            <mc:AlternateContent xmlns:mc="http://schemas.openxmlformats.org/markup-compatibility/2006">
              <mc:Choice xmlns:v="urn:schemas-microsoft-com:vml" Requires="v">
                <p:oleObj spid="_x0000_s15095" name="Picture" r:id="rId3" imgW="22145625" imgH="7096125" progId="Word.Picture.8">
                  <p:embed/>
                </p:oleObj>
              </mc:Choice>
              <mc:Fallback>
                <p:oleObj name="Picture" r:id="rId3" imgW="22145625" imgH="7096125" progId="Word.Picture.8">
                  <p:embed/>
                  <p:pic>
                    <p:nvPicPr>
                      <p:cNvPr id="0" name="Object 13"/>
                      <p:cNvPicPr>
                        <a:picLocks noChangeAspect="1" noChangeArrowheads="1"/>
                      </p:cNvPicPr>
                      <p:nvPr/>
                    </p:nvPicPr>
                    <p:blipFill>
                      <a:blip r:embed="rId4"/>
                      <a:srcRect/>
                      <a:stretch>
                        <a:fillRect/>
                      </a:stretch>
                    </p:blipFill>
                    <p:spPr bwMode="auto">
                      <a:xfrm>
                        <a:off x="1643063" y="3786188"/>
                        <a:ext cx="6599237" cy="2119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3"/>
          <p:cNvSpPr>
            <a:spLocks noGrp="1"/>
          </p:cNvSpPr>
          <p:nvPr>
            <p:ph type="sldNum" sz="quarter" idx="12"/>
          </p:nvPr>
        </p:nvSpPr>
        <p:spPr/>
        <p:txBody>
          <a:bodyPr/>
          <a:lstStyle/>
          <a:p>
            <a:pPr>
              <a:defRPr/>
            </a:pPr>
            <a:fld id="{AA9D9DED-D261-4B46-865A-945643100BB1}" type="slidenum">
              <a:rPr lang="en-US" altLang="zh-CN"/>
            </a:fld>
            <a:endParaRPr lang="en-US" altLang="zh-CN"/>
          </a:p>
        </p:txBody>
      </p:sp>
      <p:sp>
        <p:nvSpPr>
          <p:cNvPr id="15365" name="Rectangle 2"/>
          <p:cNvSpPr>
            <a:spLocks noChangeArrowheads="1"/>
          </p:cNvSpPr>
          <p:nvPr/>
        </p:nvSpPr>
        <p:spPr bwMode="auto">
          <a:xfrm>
            <a:off x="304800" y="806450"/>
            <a:ext cx="2590800" cy="523875"/>
          </a:xfrm>
          <a:prstGeom prst="rect">
            <a:avLst/>
          </a:prstGeom>
          <a:noFill/>
          <a:ln w="9525">
            <a:noFill/>
            <a:miter lim="800000"/>
          </a:ln>
        </p:spPr>
        <p:txBody>
          <a:bodyPr>
            <a:spAutoFit/>
          </a:bodyPr>
          <a:lstStyle/>
          <a:p>
            <a:r>
              <a:rPr lang="en-US" altLang="zh-CN" sz="2800" dirty="0">
                <a:latin typeface="Times New Roman" panose="02020503050405090304" pitchFamily="18" charset="0"/>
              </a:rPr>
              <a:t>d</a:t>
            </a:r>
            <a:r>
              <a:rPr lang="zh-CN" altLang="en-US" sz="2800" dirty="0">
                <a:latin typeface="宋体" pitchFamily="2" charset="-122"/>
              </a:rPr>
              <a:t>：</a:t>
            </a:r>
            <a:r>
              <a:rPr lang="zh-CN" altLang="en-US" sz="2800" dirty="0">
                <a:solidFill>
                  <a:srgbClr val="FF0000"/>
                </a:solidFill>
                <a:latin typeface="宋体" pitchFamily="2" charset="-122"/>
              </a:rPr>
              <a:t>复杂</a:t>
            </a:r>
            <a:r>
              <a:rPr lang="zh-CN" altLang="en-US" sz="2800" dirty="0">
                <a:latin typeface="宋体" pitchFamily="2" charset="-122"/>
              </a:rPr>
              <a:t>环网</a:t>
            </a:r>
            <a:r>
              <a:rPr lang="zh-CN" altLang="en-US" sz="2800" dirty="0"/>
              <a:t> </a:t>
            </a:r>
            <a:endParaRPr lang="zh-CN" altLang="en-US" sz="2800" dirty="0">
              <a:latin typeface="Times New Roman" panose="02020503050405090304" pitchFamily="18" charset="0"/>
            </a:endParaRPr>
          </a:p>
        </p:txBody>
      </p:sp>
      <p:graphicFrame>
        <p:nvGraphicFramePr>
          <p:cNvPr id="15362" name="Object 12"/>
          <p:cNvGraphicFramePr>
            <a:graphicFrameLocks noChangeAspect="1"/>
          </p:cNvGraphicFramePr>
          <p:nvPr/>
        </p:nvGraphicFramePr>
        <p:xfrm>
          <a:off x="1752600" y="1339850"/>
          <a:ext cx="5410200" cy="1906588"/>
        </p:xfrm>
        <a:graphic>
          <a:graphicData uri="http://schemas.openxmlformats.org/presentationml/2006/ole">
            <mc:AlternateContent xmlns:mc="http://schemas.openxmlformats.org/markup-compatibility/2006">
              <mc:Choice xmlns:v="urn:schemas-microsoft-com:vml" Requires="v">
                <p:oleObj spid="_x0000_s16118" name="Picture" r:id="rId1" imgW="21012150" imgH="7391400" progId="Word.Picture.8">
                  <p:embed/>
                </p:oleObj>
              </mc:Choice>
              <mc:Fallback>
                <p:oleObj name="Picture" r:id="rId1" imgW="21012150" imgH="7391400" progId="Word.Picture.8">
                  <p:embed/>
                  <p:pic>
                    <p:nvPicPr>
                      <p:cNvPr id="0" name="Object 12"/>
                      <p:cNvPicPr>
                        <a:picLocks noChangeAspect="1" noChangeArrowheads="1"/>
                      </p:cNvPicPr>
                      <p:nvPr/>
                    </p:nvPicPr>
                    <p:blipFill>
                      <a:blip r:embed="rId2"/>
                      <a:srcRect/>
                      <a:stretch>
                        <a:fillRect/>
                      </a:stretch>
                    </p:blipFill>
                    <p:spPr bwMode="auto">
                      <a:xfrm>
                        <a:off x="1752600" y="1339850"/>
                        <a:ext cx="5410200" cy="1906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66" name="Rectangle 5"/>
          <p:cNvSpPr>
            <a:spLocks noChangeArrowheads="1"/>
          </p:cNvSpPr>
          <p:nvPr/>
        </p:nvSpPr>
        <p:spPr bwMode="auto">
          <a:xfrm>
            <a:off x="304800" y="3778250"/>
            <a:ext cx="2590800" cy="523875"/>
          </a:xfrm>
          <a:prstGeom prst="rect">
            <a:avLst/>
          </a:prstGeom>
          <a:noFill/>
          <a:ln w="9525">
            <a:noFill/>
            <a:miter lim="800000"/>
          </a:ln>
        </p:spPr>
        <p:txBody>
          <a:bodyPr>
            <a:spAutoFit/>
          </a:bodyPr>
          <a:lstStyle/>
          <a:p>
            <a:r>
              <a:rPr lang="en-US" altLang="zh-CN" sz="2800" dirty="0">
                <a:latin typeface="Times New Roman" panose="02020503050405090304" pitchFamily="18" charset="0"/>
              </a:rPr>
              <a:t>e</a:t>
            </a:r>
            <a:r>
              <a:rPr lang="zh-CN" altLang="en-US" sz="2800" dirty="0">
                <a:latin typeface="宋体" pitchFamily="2" charset="-122"/>
              </a:rPr>
              <a:t>：复合联系</a:t>
            </a:r>
            <a:r>
              <a:rPr lang="zh-CN" altLang="en-US" sz="2800" dirty="0"/>
              <a:t> </a:t>
            </a:r>
            <a:endParaRPr lang="zh-CN" altLang="en-US" sz="2800" dirty="0">
              <a:latin typeface="Times New Roman" panose="02020503050405090304" pitchFamily="18" charset="0"/>
            </a:endParaRPr>
          </a:p>
        </p:txBody>
      </p:sp>
      <p:graphicFrame>
        <p:nvGraphicFramePr>
          <p:cNvPr id="15363" name="Object 13"/>
          <p:cNvGraphicFramePr>
            <a:graphicFrameLocks noChangeAspect="1"/>
          </p:cNvGraphicFramePr>
          <p:nvPr/>
        </p:nvGraphicFramePr>
        <p:xfrm>
          <a:off x="1676400" y="4540250"/>
          <a:ext cx="4419600" cy="2103438"/>
        </p:xfrm>
        <a:graphic>
          <a:graphicData uri="http://schemas.openxmlformats.org/presentationml/2006/ole">
            <mc:AlternateContent xmlns:mc="http://schemas.openxmlformats.org/markup-compatibility/2006">
              <mc:Choice xmlns:v="urn:schemas-microsoft-com:vml" Requires="v">
                <p:oleObj spid="_x0000_s16119" name="" r:id="rId3" imgW="1781810" imgH="847090" progId="Word.Picture.8">
                  <p:embed/>
                </p:oleObj>
              </mc:Choice>
              <mc:Fallback>
                <p:oleObj name="" r:id="rId3" imgW="1781810" imgH="847090" progId="Word.Picture.8">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400" y="4540250"/>
                        <a:ext cx="4419600" cy="2103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灯片编号占位符 3"/>
          <p:cNvSpPr>
            <a:spLocks noGrp="1"/>
          </p:cNvSpPr>
          <p:nvPr>
            <p:ph type="sldNum" sz="quarter" idx="12"/>
          </p:nvPr>
        </p:nvSpPr>
        <p:spPr/>
        <p:txBody>
          <a:bodyPr/>
          <a:lstStyle/>
          <a:p>
            <a:pPr>
              <a:defRPr/>
            </a:pPr>
            <a:fld id="{8D10FE5B-B7EF-40C4-8EFC-8161D51EE5B1}" type="slidenum">
              <a:rPr lang="en-US" altLang="zh-CN"/>
            </a:fld>
            <a:endParaRPr lang="en-US" altLang="zh-CN"/>
          </a:p>
        </p:txBody>
      </p:sp>
      <p:sp>
        <p:nvSpPr>
          <p:cNvPr id="86019" name="Rectangle 1026"/>
          <p:cNvSpPr>
            <a:spLocks noChangeArrowheads="1"/>
          </p:cNvSpPr>
          <p:nvPr/>
        </p:nvSpPr>
        <p:spPr bwMode="auto">
          <a:xfrm>
            <a:off x="609600" y="571500"/>
            <a:ext cx="5334000" cy="1569660"/>
          </a:xfrm>
          <a:prstGeom prst="rect">
            <a:avLst/>
          </a:prstGeom>
          <a:noFill/>
          <a:ln w="9525">
            <a:noFill/>
            <a:miter lim="800000"/>
          </a:ln>
        </p:spPr>
        <p:txBody>
          <a:bodyPr>
            <a:spAutoFit/>
          </a:bodyPr>
          <a:lstStyle/>
          <a:p>
            <a:pPr algn="just"/>
            <a:r>
              <a:rPr lang="en-US" altLang="zh-CN" dirty="0">
                <a:latin typeface="Times New Roman" panose="02020503050405090304" pitchFamily="18" charset="0"/>
              </a:rPr>
              <a:t>1</a:t>
            </a:r>
            <a:r>
              <a:rPr lang="zh-CN" altLang="en-US" dirty="0">
                <a:latin typeface="Times New Roman" panose="02020503050405090304" pitchFamily="18" charset="0"/>
              </a:rPr>
              <a:t>）结点表示实体，称为记录类型；</a:t>
            </a:r>
            <a:endParaRPr lang="zh-CN" altLang="en-US" dirty="0"/>
          </a:p>
          <a:p>
            <a:pPr algn="just" eaLnBrk="0" hangingPunct="0"/>
            <a:r>
              <a:rPr lang="en-US" altLang="zh-CN" dirty="0">
                <a:latin typeface="Times New Roman" panose="02020503050405090304" pitchFamily="18" charset="0"/>
              </a:rPr>
              <a:t>2</a:t>
            </a:r>
            <a:r>
              <a:rPr lang="zh-CN" altLang="en-US" dirty="0">
                <a:latin typeface="Times New Roman" panose="02020503050405090304" pitchFamily="18" charset="0"/>
              </a:rPr>
              <a:t>）结点内含数据项，表示属性；</a:t>
            </a:r>
            <a:endParaRPr lang="zh-CN" altLang="en-US" dirty="0"/>
          </a:p>
          <a:p>
            <a:pPr algn="just" eaLnBrk="0" hangingPunct="0"/>
            <a:r>
              <a:rPr lang="en-US" altLang="zh-CN" dirty="0">
                <a:latin typeface="Times New Roman" panose="02020503050405090304" pitchFamily="18" charset="0"/>
              </a:rPr>
              <a:t>3</a:t>
            </a:r>
            <a:r>
              <a:rPr lang="zh-CN" altLang="en-US" dirty="0">
                <a:latin typeface="Times New Roman" panose="02020503050405090304" pitchFamily="18" charset="0"/>
              </a:rPr>
              <a:t>）有向连线表示实体间联系；</a:t>
            </a:r>
            <a:endParaRPr lang="zh-CN" altLang="en-US" dirty="0"/>
          </a:p>
          <a:p>
            <a:pPr eaLnBrk="0" hangingPunct="0"/>
            <a:r>
              <a:rPr lang="en-US" altLang="zh-CN" dirty="0">
                <a:latin typeface="Times New Roman" panose="02020503050405090304" pitchFamily="18" charset="0"/>
              </a:rPr>
              <a:t>4</a:t>
            </a:r>
            <a:r>
              <a:rPr lang="zh-CN" altLang="en-US" dirty="0">
                <a:latin typeface="宋体" pitchFamily="2" charset="-122"/>
              </a:rPr>
              <a:t>）</a:t>
            </a:r>
            <a:r>
              <a:rPr lang="zh-CN" altLang="en-US" dirty="0">
                <a:solidFill>
                  <a:srgbClr val="FF0000"/>
                </a:solidFill>
                <a:latin typeface="宋体" pitchFamily="2" charset="-122"/>
              </a:rPr>
              <a:t>属性可嵌套</a:t>
            </a:r>
            <a:r>
              <a:rPr lang="zh-CN" altLang="en-US" dirty="0">
                <a:latin typeface="宋体" pitchFamily="2" charset="-122"/>
              </a:rPr>
              <a:t>。</a:t>
            </a:r>
            <a:r>
              <a:rPr lang="zh-CN" altLang="en-US" dirty="0"/>
              <a:t> </a:t>
            </a:r>
            <a:endParaRPr lang="zh-CN" altLang="en-US" dirty="0">
              <a:latin typeface="Times New Roman" panose="02020503050405090304" pitchFamily="18" charset="0"/>
            </a:endParaRPr>
          </a:p>
        </p:txBody>
      </p:sp>
      <p:graphicFrame>
        <p:nvGraphicFramePr>
          <p:cNvPr id="55386" name="Group 1114"/>
          <p:cNvGraphicFramePr>
            <a:graphicFrameLocks noGrp="1"/>
          </p:cNvGraphicFramePr>
          <p:nvPr/>
        </p:nvGraphicFramePr>
        <p:xfrm>
          <a:off x="1600200" y="2143125"/>
          <a:ext cx="6096000" cy="2286000"/>
        </p:xfrm>
        <a:graphic>
          <a:graphicData uri="http://schemas.openxmlformats.org/drawingml/2006/table">
            <a:tbl>
              <a:tblPr/>
              <a:tblGrid>
                <a:gridCol w="1219200"/>
                <a:gridCol w="1219200"/>
                <a:gridCol w="1219200"/>
                <a:gridCol w="1219200"/>
                <a:gridCol w="1219200"/>
              </a:tblGrid>
              <a:tr h="571500">
                <a:tc row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dirty="0">
                          <a:ln>
                            <a:noFill/>
                          </a:ln>
                          <a:solidFill>
                            <a:schemeClr val="tx1"/>
                          </a:solidFill>
                          <a:effectLst/>
                          <a:latin typeface="Verdana" panose="020B0804030504040204" pitchFamily="34" charset="0"/>
                          <a:ea typeface="宋体" pitchFamily="2" charset="-122"/>
                        </a:rPr>
                        <a:t>XH</a:t>
                      </a:r>
                      <a:endParaRPr kumimoji="1" lang="en-US" altLang="zh-CN"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XM</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gridSpan="3">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CJ</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hMerge="1">
                  <a:tcPr/>
                </a:tc>
                <a:tc hMerge="1">
                  <a:tcPr/>
                </a:tc>
              </a:tr>
              <a:tr h="571500">
                <a:tc vMerge="1">
                  <a:tcPr/>
                </a:tc>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CJ1</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CJ2</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CJ3</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5715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901</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rPr>
                        <a:t> 刘亦易</a:t>
                      </a:r>
                      <a:endPar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59</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73</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66</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5715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902</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rPr>
                        <a:t>刘亦难</a:t>
                      </a:r>
                      <a:endParaRPr kumimoji="1" lang="zh-CN" altLang="en-US"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81</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82</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dirty="0">
                          <a:ln>
                            <a:noFill/>
                          </a:ln>
                          <a:solidFill>
                            <a:schemeClr val="tx1"/>
                          </a:solidFill>
                          <a:effectLst/>
                          <a:latin typeface="Verdana" panose="020B0804030504040204" pitchFamily="34" charset="0"/>
                          <a:ea typeface="宋体" pitchFamily="2" charset="-122"/>
                        </a:rPr>
                        <a:t>83</a:t>
                      </a:r>
                      <a:endParaRPr kumimoji="1" lang="en-US" altLang="zh-CN"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
        <p:nvSpPr>
          <p:cNvPr id="86048" name="Rectangle 1115"/>
          <p:cNvSpPr>
            <a:spLocks noChangeArrowheads="1"/>
          </p:cNvSpPr>
          <p:nvPr/>
        </p:nvSpPr>
        <p:spPr bwMode="auto">
          <a:xfrm>
            <a:off x="609600" y="4400550"/>
            <a:ext cx="7772400" cy="2123658"/>
          </a:xfrm>
          <a:prstGeom prst="rect">
            <a:avLst/>
          </a:prstGeom>
          <a:noFill/>
          <a:ln w="9525">
            <a:noFill/>
            <a:miter lim="800000"/>
          </a:ln>
        </p:spPr>
        <p:txBody>
          <a:bodyPr>
            <a:spAutoFit/>
          </a:bodyPr>
          <a:lstStyle/>
          <a:p>
            <a:pPr>
              <a:spcBef>
                <a:spcPct val="50000"/>
              </a:spcBef>
            </a:pPr>
            <a:r>
              <a:rPr lang="en-US" altLang="zh-CN" dirty="0">
                <a:latin typeface="Times New Roman" panose="02020503050405090304" pitchFamily="18" charset="0"/>
              </a:rPr>
              <a:t>5</a:t>
            </a:r>
            <a:r>
              <a:rPr lang="zh-CN" altLang="en-US" dirty="0">
                <a:latin typeface="Times New Roman" panose="02020503050405090304" pitchFamily="18" charset="0"/>
              </a:rPr>
              <a:t>）特征</a:t>
            </a:r>
            <a:endParaRPr lang="zh-CN" altLang="en-US" dirty="0"/>
          </a:p>
          <a:p>
            <a:pPr eaLnBrk="0" hangingPunct="0">
              <a:spcBef>
                <a:spcPct val="50000"/>
              </a:spcBef>
            </a:pPr>
            <a:r>
              <a:rPr lang="zh-CN" altLang="en-US" dirty="0">
                <a:latin typeface="Times New Roman" panose="02020503050405090304" pitchFamily="18" charset="0"/>
              </a:rPr>
              <a:t>（</a:t>
            </a:r>
            <a:r>
              <a:rPr lang="en-US" altLang="zh-CN" dirty="0"/>
              <a:t>1</a:t>
            </a:r>
            <a:r>
              <a:rPr lang="zh-CN" altLang="en-US" dirty="0">
                <a:latin typeface="Times New Roman" panose="02020503050405090304" pitchFamily="18" charset="0"/>
              </a:rPr>
              <a:t>）可多个结点无双亲结点；</a:t>
            </a:r>
            <a:endParaRPr lang="zh-CN" altLang="en-US" dirty="0"/>
          </a:p>
          <a:p>
            <a:pPr eaLnBrk="0" hangingPunct="0">
              <a:spcBef>
                <a:spcPct val="50000"/>
              </a:spcBef>
            </a:pPr>
            <a:r>
              <a:rPr lang="zh-CN" altLang="en-US" dirty="0">
                <a:latin typeface="Times New Roman" panose="02020503050405090304" pitchFamily="18" charset="0"/>
              </a:rPr>
              <a:t>（</a:t>
            </a:r>
            <a:r>
              <a:rPr lang="en-US" altLang="zh-CN" dirty="0"/>
              <a:t>2</a:t>
            </a:r>
            <a:r>
              <a:rPr lang="zh-CN" altLang="en-US" dirty="0">
                <a:latin typeface="Times New Roman" panose="02020503050405090304" pitchFamily="18" charset="0"/>
              </a:rPr>
              <a:t>）子女结点可多个双亲结点；</a:t>
            </a:r>
            <a:endParaRPr lang="zh-CN" altLang="en-US" dirty="0"/>
          </a:p>
          <a:p>
            <a:pPr eaLnBrk="0" hangingPunct="0">
              <a:spcBef>
                <a:spcPct val="50000"/>
              </a:spcBef>
            </a:pPr>
            <a:r>
              <a:rPr lang="zh-CN" altLang="en-US" dirty="0">
                <a:latin typeface="宋体" pitchFamily="2" charset="-122"/>
              </a:rPr>
              <a:t>（</a:t>
            </a:r>
            <a:r>
              <a:rPr lang="en-US" altLang="zh-CN" dirty="0"/>
              <a:t>3</a:t>
            </a:r>
            <a:r>
              <a:rPr lang="zh-CN" altLang="en-US" dirty="0">
                <a:latin typeface="宋体" pitchFamily="2" charset="-122"/>
              </a:rPr>
              <a:t>）两记录间可多种联系。</a:t>
            </a:r>
            <a:endParaRPr lang="zh-CN" altLang="en-US" dirty="0">
              <a:latin typeface="宋体" pitchFamily="2" charset="-122"/>
            </a:endParaRPr>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0DF771BE-6EE0-4DCA-9D16-DFE3F3BC2FEF}" type="slidenum">
              <a:rPr lang="en-US" altLang="zh-CN"/>
            </a:fld>
            <a:endParaRPr lang="en-US" altLang="zh-CN"/>
          </a:p>
        </p:txBody>
      </p:sp>
      <p:sp>
        <p:nvSpPr>
          <p:cNvPr id="87043" name="Rectangle 2"/>
          <p:cNvSpPr>
            <a:spLocks noChangeArrowheads="1"/>
          </p:cNvSpPr>
          <p:nvPr/>
        </p:nvSpPr>
        <p:spPr bwMode="auto">
          <a:xfrm>
            <a:off x="228600" y="796925"/>
            <a:ext cx="8534400" cy="5262979"/>
          </a:xfrm>
          <a:prstGeom prst="rect">
            <a:avLst/>
          </a:prstGeom>
          <a:noFill/>
          <a:ln w="9525">
            <a:noFill/>
            <a:miter lim="800000"/>
          </a:ln>
        </p:spPr>
        <p:txBody>
          <a:bodyPr>
            <a:spAutoFit/>
          </a:bodyPr>
          <a:lstStyle/>
          <a:p>
            <a:pPr algn="just" eaLnBrk="0" hangingPunct="0"/>
            <a:r>
              <a:rPr lang="en-US" altLang="zh-CN" b="1" dirty="0">
                <a:latin typeface="Arial" panose="020B0604020202090204" pitchFamily="34" charset="0"/>
                <a:cs typeface="Arial" panose="020B0604020202090204" pitchFamily="34" charset="0"/>
              </a:rPr>
              <a:t>2. </a:t>
            </a:r>
            <a:r>
              <a:rPr lang="zh-CN" altLang="en-US" b="1" dirty="0">
                <a:latin typeface="Arial" panose="020B0604020202090204" pitchFamily="34" charset="0"/>
                <a:ea typeface="黑体" panose="02010609060101010101" pitchFamily="49" charset="-122"/>
              </a:rPr>
              <a:t>操作</a:t>
            </a:r>
            <a:endParaRPr lang="zh-CN" altLang="en-US" b="1" dirty="0">
              <a:latin typeface="Arial" panose="020B0604020202090204" pitchFamily="34" charset="0"/>
              <a:cs typeface="Arial" panose="020B0604020202090204" pitchFamily="34" charset="0"/>
            </a:endParaRPr>
          </a:p>
          <a:p>
            <a:pPr algn="just" eaLnBrk="0" hangingPunct="0"/>
            <a:r>
              <a:rPr lang="en-US" altLang="zh-CN" dirty="0"/>
              <a:t>I</a:t>
            </a:r>
            <a:r>
              <a:rPr lang="zh-CN" altLang="en-US" dirty="0"/>
              <a:t>、</a:t>
            </a:r>
            <a:r>
              <a:rPr lang="en-US" altLang="zh-CN" dirty="0"/>
              <a:t>D</a:t>
            </a:r>
            <a:r>
              <a:rPr lang="zh-CN" altLang="en-US" dirty="0"/>
              <a:t>、</a:t>
            </a:r>
            <a:r>
              <a:rPr lang="en-US" altLang="zh-CN" dirty="0"/>
              <a:t>U</a:t>
            </a:r>
            <a:r>
              <a:rPr lang="zh-CN" altLang="en-US" dirty="0"/>
              <a:t>、</a:t>
            </a:r>
            <a:r>
              <a:rPr lang="en-US" altLang="zh-CN" dirty="0"/>
              <a:t>Q</a:t>
            </a:r>
            <a:endParaRPr lang="en-US" altLang="zh-CN" dirty="0">
              <a:latin typeface="宋体" pitchFamily="2" charset="-122"/>
            </a:endParaRPr>
          </a:p>
          <a:p>
            <a:pPr algn="just" eaLnBrk="0" hangingPunct="0"/>
            <a:r>
              <a:rPr lang="en-US" altLang="zh-CN" b="1" dirty="0">
                <a:latin typeface="Arial" panose="020B0604020202090204" pitchFamily="34" charset="0"/>
                <a:cs typeface="Arial" panose="020B0604020202090204" pitchFamily="34" charset="0"/>
              </a:rPr>
              <a:t>3. </a:t>
            </a:r>
            <a:r>
              <a:rPr lang="zh-CN" altLang="en-US" b="1" dirty="0">
                <a:latin typeface="Arial" panose="020B0604020202090204" pitchFamily="34" charset="0"/>
                <a:ea typeface="黑体" panose="02010609060101010101" pitchFamily="49" charset="-122"/>
              </a:rPr>
              <a:t>约束</a:t>
            </a:r>
            <a:endParaRPr lang="zh-CN" altLang="en-US" b="1" dirty="0">
              <a:latin typeface="Arial" panose="020B0604020202090204" pitchFamily="34" charset="0"/>
              <a:cs typeface="Arial" panose="020B0604020202090204" pitchFamily="34" charset="0"/>
            </a:endParaRPr>
          </a:p>
          <a:p>
            <a:pPr algn="just" eaLnBrk="0" hangingPunct="0"/>
            <a:r>
              <a:rPr lang="en-US" altLang="zh-CN" dirty="0">
                <a:latin typeface="宋体" pitchFamily="2" charset="-122"/>
              </a:rPr>
              <a:t>1</a:t>
            </a:r>
            <a:r>
              <a:rPr lang="zh-CN" altLang="en-US" dirty="0">
                <a:latin typeface="Times New Roman" panose="02020503050405090304" pitchFamily="18" charset="0"/>
              </a:rPr>
              <a:t>）插入不受限制；</a:t>
            </a:r>
            <a:endParaRPr lang="zh-CN" altLang="en-US" dirty="0">
              <a:latin typeface="宋体" pitchFamily="2" charset="-122"/>
            </a:endParaRPr>
          </a:p>
          <a:p>
            <a:pPr algn="just" eaLnBrk="0" hangingPunct="0"/>
            <a:r>
              <a:rPr lang="en-US" altLang="zh-CN" dirty="0">
                <a:latin typeface="宋体" pitchFamily="2" charset="-122"/>
              </a:rPr>
              <a:t>2</a:t>
            </a:r>
            <a:r>
              <a:rPr lang="zh-CN" altLang="en-US" dirty="0">
                <a:latin typeface="Times New Roman" panose="02020503050405090304" pitchFamily="18" charset="0"/>
              </a:rPr>
              <a:t>）删去双亲，子女不受影响。</a:t>
            </a:r>
            <a:endParaRPr lang="zh-CN" altLang="en-US" dirty="0">
              <a:latin typeface="宋体" pitchFamily="2" charset="-122"/>
            </a:endParaRPr>
          </a:p>
          <a:p>
            <a:pPr algn="just" eaLnBrk="0" hangingPunct="0"/>
            <a:r>
              <a:rPr lang="en-US" altLang="zh-CN" b="1" dirty="0">
                <a:latin typeface="Arial" panose="020B0604020202090204" pitchFamily="34" charset="0"/>
                <a:cs typeface="Arial" panose="020B0604020202090204" pitchFamily="34" charset="0"/>
              </a:rPr>
              <a:t>4. </a:t>
            </a:r>
            <a:r>
              <a:rPr lang="zh-CN" altLang="en-US" b="1" dirty="0">
                <a:latin typeface="Arial" panose="020B0604020202090204" pitchFamily="34" charset="0"/>
                <a:ea typeface="黑体" panose="02010609060101010101" pitchFamily="49" charset="-122"/>
              </a:rPr>
              <a:t>优点</a:t>
            </a:r>
            <a:endParaRPr lang="zh-CN" altLang="en-US" b="1" dirty="0">
              <a:latin typeface="Arial" panose="020B0604020202090204" pitchFamily="34" charset="0"/>
              <a:cs typeface="Arial" panose="020B0604020202090204" pitchFamily="34" charset="0"/>
            </a:endParaRPr>
          </a:p>
          <a:p>
            <a:pPr algn="just" eaLnBrk="0" hangingPunct="0"/>
            <a:r>
              <a:rPr lang="en-US" altLang="zh-CN" dirty="0">
                <a:latin typeface="宋体" pitchFamily="2" charset="-122"/>
              </a:rPr>
              <a:t>1</a:t>
            </a:r>
            <a:r>
              <a:rPr lang="zh-CN" altLang="en-US" dirty="0">
                <a:latin typeface="Times New Roman" panose="02020503050405090304" pitchFamily="18" charset="0"/>
              </a:rPr>
              <a:t>）直接表示的</a:t>
            </a:r>
            <a:r>
              <a:rPr lang="en-US" altLang="zh-CN" dirty="0">
                <a:latin typeface="宋体" pitchFamily="2" charset="-122"/>
              </a:rPr>
              <a:t>m</a:t>
            </a:r>
            <a:r>
              <a:rPr lang="zh-CN" altLang="en-US" dirty="0">
                <a:latin typeface="Times New Roman" panose="02020503050405090304" pitchFamily="18" charset="0"/>
              </a:rPr>
              <a:t>：</a:t>
            </a:r>
            <a:r>
              <a:rPr lang="en-US" altLang="zh-CN" dirty="0">
                <a:latin typeface="宋体" pitchFamily="2" charset="-122"/>
              </a:rPr>
              <a:t>n</a:t>
            </a:r>
            <a:r>
              <a:rPr lang="zh-CN" altLang="en-US" dirty="0">
                <a:latin typeface="Times New Roman" panose="02020503050405090304" pitchFamily="18" charset="0"/>
              </a:rPr>
              <a:t>联系；</a:t>
            </a:r>
            <a:endParaRPr lang="zh-CN" altLang="en-US" dirty="0">
              <a:latin typeface="宋体" pitchFamily="2" charset="-122"/>
            </a:endParaRPr>
          </a:p>
          <a:p>
            <a:pPr algn="just" eaLnBrk="0" hangingPunct="0"/>
            <a:r>
              <a:rPr lang="en-US" altLang="zh-CN" dirty="0">
                <a:latin typeface="宋体" pitchFamily="2" charset="-122"/>
              </a:rPr>
              <a:t>2</a:t>
            </a:r>
            <a:r>
              <a:rPr lang="zh-CN" altLang="en-US" dirty="0">
                <a:latin typeface="Times New Roman" panose="02020503050405090304" pitchFamily="18" charset="0"/>
              </a:rPr>
              <a:t>）</a:t>
            </a:r>
            <a:r>
              <a:rPr lang="zh-CN" altLang="en-US" dirty="0">
                <a:solidFill>
                  <a:srgbClr val="FF0000"/>
                </a:solidFill>
                <a:latin typeface="Times New Roman" panose="02020503050405090304" pitchFamily="18" charset="0"/>
              </a:rPr>
              <a:t>存取效率高</a:t>
            </a:r>
            <a:r>
              <a:rPr lang="zh-CN" altLang="en-US" dirty="0">
                <a:latin typeface="Times New Roman" panose="02020503050405090304" pitchFamily="18" charset="0"/>
              </a:rPr>
              <a:t>。</a:t>
            </a:r>
            <a:endParaRPr lang="zh-CN" altLang="en-US" dirty="0">
              <a:latin typeface="Times New Roman" panose="02020503050405090304" pitchFamily="18" charset="0"/>
            </a:endParaRPr>
          </a:p>
          <a:p>
            <a:r>
              <a:rPr lang="en-US" altLang="zh-CN" b="1" dirty="0"/>
              <a:t>5. </a:t>
            </a:r>
            <a:r>
              <a:rPr lang="zh-CN" altLang="en-US" b="1" dirty="0"/>
              <a:t>缺点</a:t>
            </a:r>
            <a:endParaRPr lang="zh-CN" altLang="en-US" b="1" dirty="0"/>
          </a:p>
          <a:p>
            <a:r>
              <a:rPr lang="en-US" altLang="zh-CN" dirty="0"/>
              <a:t>1</a:t>
            </a:r>
            <a:r>
              <a:rPr lang="zh-CN" altLang="en-US" dirty="0"/>
              <a:t>）结构复杂；</a:t>
            </a:r>
            <a:endParaRPr lang="zh-CN" altLang="en-US" dirty="0"/>
          </a:p>
          <a:p>
            <a:r>
              <a:rPr lang="en-US" altLang="zh-CN" dirty="0"/>
              <a:t>2</a:t>
            </a:r>
            <a:r>
              <a:rPr lang="zh-CN" altLang="en-US" dirty="0"/>
              <a:t>）数据描述语言复杂；</a:t>
            </a:r>
            <a:endParaRPr lang="zh-CN" altLang="en-US" dirty="0"/>
          </a:p>
          <a:p>
            <a:r>
              <a:rPr lang="en-US" altLang="zh-CN" dirty="0"/>
              <a:t>3</a:t>
            </a:r>
            <a:r>
              <a:rPr lang="zh-CN" altLang="en-US" dirty="0"/>
              <a:t>）一次存取一个记录值；</a:t>
            </a:r>
            <a:endParaRPr lang="zh-CN" altLang="en-US" dirty="0"/>
          </a:p>
          <a:p>
            <a:r>
              <a:rPr lang="en-US" altLang="zh-CN" dirty="0"/>
              <a:t>4</a:t>
            </a:r>
            <a:r>
              <a:rPr lang="zh-CN" altLang="en-US" dirty="0"/>
              <a:t>）应用程序与数据结构相互依赖；</a:t>
            </a:r>
            <a:endParaRPr lang="zh-CN" altLang="en-US" dirty="0"/>
          </a:p>
          <a:p>
            <a:r>
              <a:rPr lang="en-US" altLang="zh-CN" dirty="0"/>
              <a:t>5</a:t>
            </a:r>
            <a:r>
              <a:rPr lang="zh-CN" altLang="en-US" dirty="0"/>
              <a:t>）过程化语言。  </a:t>
            </a:r>
            <a:endParaRPr lang="zh-CN" altLang="en-US" dirty="0"/>
          </a:p>
        </p:txBody>
      </p:sp>
      <p:sp>
        <p:nvSpPr>
          <p:cNvPr id="87044" name="AutoShape 39"/>
          <p:cNvSpPr>
            <a:spLocks noChangeArrowheads="1"/>
          </p:cNvSpPr>
          <p:nvPr/>
        </p:nvSpPr>
        <p:spPr bwMode="auto">
          <a:xfrm>
            <a:off x="8243888" y="5713413"/>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2"/>
          </p:nvPr>
        </p:nvSpPr>
        <p:spPr/>
        <p:txBody>
          <a:bodyPr/>
          <a:lstStyle/>
          <a:p>
            <a:pPr>
              <a:defRPr/>
            </a:pPr>
            <a:fld id="{B1D5212F-F67B-4CD2-BCA1-D0FDAC868CD3}" type="slidenum">
              <a:rPr lang="en-US" altLang="zh-CN"/>
            </a:fld>
            <a:endParaRPr lang="en-US" altLang="zh-CN"/>
          </a:p>
        </p:txBody>
      </p:sp>
      <p:sp>
        <p:nvSpPr>
          <p:cNvPr id="16388" name="Rectangle 1026"/>
          <p:cNvSpPr>
            <a:spLocks noChangeArrowheads="1"/>
          </p:cNvSpPr>
          <p:nvPr/>
        </p:nvSpPr>
        <p:spPr bwMode="auto">
          <a:xfrm>
            <a:off x="381000" y="571500"/>
            <a:ext cx="8382000" cy="1246188"/>
          </a:xfrm>
          <a:prstGeom prst="rect">
            <a:avLst/>
          </a:prstGeom>
          <a:noFill/>
          <a:ln w="9525">
            <a:noFill/>
            <a:miter lim="800000"/>
          </a:ln>
        </p:spPr>
        <p:txBody>
          <a:bodyPr tIns="38088" bIns="38088">
            <a:spAutoFit/>
          </a:bodyPr>
          <a:lstStyle/>
          <a:p>
            <a:pPr algn="just"/>
            <a:r>
              <a:rPr lang="en-US" altLang="zh-CN" sz="2800" b="1">
                <a:latin typeface="Times New Roman" panose="02020503050405090304" pitchFamily="18" charset="0"/>
                <a:ea typeface="黑体" panose="02010609060101010101" pitchFamily="49" charset="-122"/>
              </a:rPr>
              <a:t>1.2.5  </a:t>
            </a:r>
            <a:r>
              <a:rPr lang="zh-CN" altLang="en-US" sz="2800" b="1">
                <a:latin typeface="Times New Roman" panose="02020503050405090304" pitchFamily="18" charset="0"/>
                <a:ea typeface="黑体" panose="02010609060101010101" pitchFamily="49" charset="-122"/>
              </a:rPr>
              <a:t>关系模型</a:t>
            </a:r>
            <a:r>
              <a:rPr lang="en-US" altLang="zh-CN" sz="2800" b="1">
                <a:latin typeface="Times New Roman" panose="02020503050405090304" pitchFamily="18" charset="0"/>
                <a:ea typeface="黑体" panose="02010609060101010101" pitchFamily="49" charset="-122"/>
              </a:rPr>
              <a:t>(Relational Model)</a:t>
            </a:r>
            <a:endParaRPr lang="en-US" altLang="zh-CN" sz="2800" b="1">
              <a:latin typeface="Times New Roman" panose="02020503050405090304" pitchFamily="18" charset="0"/>
              <a:ea typeface="黑体" panose="02010609060101010101" pitchFamily="49" charset="-122"/>
            </a:endParaRPr>
          </a:p>
          <a:p>
            <a:pPr algn="just" eaLnBrk="0" hangingPunct="0"/>
            <a:r>
              <a:rPr lang="en-US" altLang="zh-CN">
                <a:latin typeface="Times New Roman" panose="02020503050405090304" pitchFamily="18" charset="0"/>
              </a:rPr>
              <a:t>——</a:t>
            </a:r>
            <a:r>
              <a:rPr lang="zh-CN" altLang="en-US">
                <a:latin typeface="Times New Roman" panose="02020503050405090304" pitchFamily="18" charset="0"/>
              </a:rPr>
              <a:t>用二维表格表示实体及其间联系的数据模型。</a:t>
            </a:r>
            <a:endParaRPr lang="zh-CN" altLang="en-US"/>
          </a:p>
          <a:p>
            <a:pPr eaLnBrk="0" hangingPunct="0"/>
            <a:r>
              <a:rPr lang="en-US" altLang="zh-CN">
                <a:latin typeface="Times New Roman" panose="02020503050405090304" pitchFamily="18" charset="0"/>
              </a:rPr>
              <a:t>1. </a:t>
            </a:r>
            <a:r>
              <a:rPr lang="zh-CN" altLang="en-US">
                <a:latin typeface="宋体" pitchFamily="2" charset="-122"/>
              </a:rPr>
              <a:t>数据结构</a:t>
            </a:r>
            <a:r>
              <a:rPr lang="zh-CN" altLang="en-US"/>
              <a:t> </a:t>
            </a:r>
            <a:endParaRPr lang="zh-CN" altLang="en-US">
              <a:latin typeface="Times New Roman" panose="02020503050405090304" pitchFamily="18" charset="0"/>
            </a:endParaRPr>
          </a:p>
        </p:txBody>
      </p:sp>
      <p:sp>
        <p:nvSpPr>
          <p:cNvPr id="16389" name="Rectangle 1027"/>
          <p:cNvSpPr>
            <a:spLocks noChangeArrowheads="1"/>
          </p:cNvSpPr>
          <p:nvPr/>
        </p:nvSpPr>
        <p:spPr bwMode="auto">
          <a:xfrm>
            <a:off x="5956300" y="796925"/>
            <a:ext cx="530225" cy="457200"/>
          </a:xfrm>
          <a:prstGeom prst="rect">
            <a:avLst/>
          </a:prstGeom>
          <a:noFill/>
          <a:ln w="9525">
            <a:noFill/>
            <a:miter lim="800000"/>
          </a:ln>
        </p:spPr>
        <p:txBody>
          <a:bodyPr>
            <a:spAutoFit/>
          </a:bodyPr>
          <a:lstStyle/>
          <a:p>
            <a:endParaRPr lang="zh-CN" altLang="zh-CN"/>
          </a:p>
        </p:txBody>
      </p:sp>
      <p:graphicFrame>
        <p:nvGraphicFramePr>
          <p:cNvPr id="16386" name="Object 7"/>
          <p:cNvGraphicFramePr>
            <a:graphicFrameLocks noChangeAspect="1"/>
          </p:cNvGraphicFramePr>
          <p:nvPr/>
        </p:nvGraphicFramePr>
        <p:xfrm>
          <a:off x="566738" y="1917700"/>
          <a:ext cx="7729537" cy="5011738"/>
        </p:xfrm>
        <a:graphic>
          <a:graphicData uri="http://schemas.openxmlformats.org/presentationml/2006/ole">
            <mc:AlternateContent xmlns:mc="http://schemas.openxmlformats.org/markup-compatibility/2006">
              <mc:Choice xmlns:v="urn:schemas-microsoft-com:vml" Requires="v">
                <p:oleObj spid="_x0000_s16763" name="Document" r:id="rId1" imgW="8215630" imgH="5330825" progId="Word.Document.8">
                  <p:embed/>
                </p:oleObj>
              </mc:Choice>
              <mc:Fallback>
                <p:oleObj name="Document" r:id="rId1" imgW="8215630" imgH="5330825" progId="Word.Document.8">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6738" y="1917700"/>
                        <a:ext cx="7729537" cy="5011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90" name="Rectangle 1029"/>
          <p:cNvSpPr>
            <a:spLocks noChangeArrowheads="1"/>
          </p:cNvSpPr>
          <p:nvPr/>
        </p:nvSpPr>
        <p:spPr bwMode="auto">
          <a:xfrm>
            <a:off x="6156325" y="2886075"/>
            <a:ext cx="2808288" cy="3785652"/>
          </a:xfrm>
          <a:prstGeom prst="rect">
            <a:avLst/>
          </a:prstGeom>
          <a:noFill/>
          <a:ln w="9525">
            <a:noFill/>
            <a:miter lim="800000"/>
          </a:ln>
        </p:spPr>
        <p:txBody>
          <a:bodyPr anchor="ctr">
            <a:spAutoFit/>
          </a:bodyPr>
          <a:lstStyle/>
          <a:p>
            <a:r>
              <a:rPr lang="zh-CN" altLang="en-US" dirty="0"/>
              <a:t>    </a:t>
            </a:r>
            <a:r>
              <a:rPr lang="zh-CN" altLang="en-US" dirty="0">
                <a:solidFill>
                  <a:srgbClr val="FF0000"/>
                </a:solidFill>
              </a:rPr>
              <a:t>属性和域</a:t>
            </a:r>
            <a:r>
              <a:rPr lang="zh-CN" altLang="en-US" dirty="0"/>
              <a:t>在概念上有区别。</a:t>
            </a:r>
            <a:endParaRPr lang="en-US" altLang="zh-CN" dirty="0"/>
          </a:p>
          <a:p>
            <a:r>
              <a:rPr lang="zh-CN" altLang="en-US" dirty="0"/>
              <a:t>    一般，域关联于一定的数据结构和值的集合，而</a:t>
            </a:r>
            <a:r>
              <a:rPr lang="zh-CN" altLang="en-US" dirty="0">
                <a:solidFill>
                  <a:srgbClr val="FF0000"/>
                </a:solidFill>
              </a:rPr>
              <a:t>属性则与关系的语义相关联</a:t>
            </a:r>
            <a:r>
              <a:rPr lang="zh-CN" altLang="en-US" dirty="0"/>
              <a:t>。 </a:t>
            </a:r>
            <a:endParaRPr lang="en-US" altLang="zh-CN" dirty="0"/>
          </a:p>
          <a:p>
            <a:r>
              <a:rPr lang="en-US" altLang="zh-CN" dirty="0"/>
              <a:t>    </a:t>
            </a:r>
            <a:r>
              <a:rPr lang="zh-CN" altLang="en-US" dirty="0"/>
              <a:t>属性从属于一定的域，反映该</a:t>
            </a:r>
            <a:r>
              <a:rPr lang="zh-CN" altLang="en-US" dirty="0">
                <a:solidFill>
                  <a:srgbClr val="FF0000"/>
                </a:solidFill>
              </a:rPr>
              <a:t>域在描述关系时的应用</a:t>
            </a:r>
            <a:r>
              <a:rPr lang="zh-CN" altLang="en-US" dirty="0"/>
              <a:t>。</a:t>
            </a:r>
            <a:endParaRPr lang="zh-CN" altLang="en-US" dirty="0"/>
          </a:p>
        </p:txBody>
      </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灯片编号占位符 3"/>
          <p:cNvSpPr>
            <a:spLocks noGrp="1"/>
          </p:cNvSpPr>
          <p:nvPr>
            <p:ph type="sldNum" sz="quarter" idx="12"/>
          </p:nvPr>
        </p:nvSpPr>
        <p:spPr/>
        <p:txBody>
          <a:bodyPr/>
          <a:lstStyle/>
          <a:p>
            <a:pPr>
              <a:defRPr/>
            </a:pPr>
            <a:fld id="{287C8659-2D07-4ED7-BC8E-1BE4B840D256}" type="slidenum">
              <a:rPr lang="en-US" altLang="zh-CN"/>
            </a:fld>
            <a:endParaRPr lang="en-US" altLang="zh-CN"/>
          </a:p>
        </p:txBody>
      </p:sp>
      <p:sp>
        <p:nvSpPr>
          <p:cNvPr id="88067" name="Rectangle 2"/>
          <p:cNvSpPr>
            <a:spLocks noChangeArrowheads="1"/>
          </p:cNvSpPr>
          <p:nvPr/>
        </p:nvSpPr>
        <p:spPr bwMode="auto">
          <a:xfrm>
            <a:off x="381000" y="700088"/>
            <a:ext cx="8151440" cy="1938992"/>
          </a:xfrm>
          <a:prstGeom prst="rect">
            <a:avLst/>
          </a:prstGeom>
          <a:noFill/>
          <a:ln w="9525">
            <a:noFill/>
            <a:miter lim="800000"/>
          </a:ln>
        </p:spPr>
        <p:txBody>
          <a:bodyPr wrap="square">
            <a:spAutoFit/>
          </a:bodyPr>
          <a:lstStyle/>
          <a:p>
            <a:pPr indent="250825" algn="just"/>
            <a:r>
              <a:rPr lang="en-US" altLang="zh-CN" dirty="0">
                <a:latin typeface="Times New Roman" panose="02020503050405090304" pitchFamily="18" charset="0"/>
              </a:rPr>
              <a:t>1</a:t>
            </a:r>
            <a:r>
              <a:rPr lang="zh-CN" altLang="en-US" dirty="0">
                <a:latin typeface="Times New Roman" panose="02020503050405090304" pitchFamily="18" charset="0"/>
              </a:rPr>
              <a:t>）表格表示实体，内含属性；</a:t>
            </a:r>
            <a:endParaRPr lang="zh-CN" altLang="en-US" dirty="0"/>
          </a:p>
          <a:p>
            <a:pPr indent="250825" algn="just" eaLnBrk="0" hangingPunct="0"/>
            <a:r>
              <a:rPr lang="en-US" altLang="zh-CN" dirty="0">
                <a:latin typeface="Times New Roman" panose="02020503050405090304" pitchFamily="18" charset="0"/>
              </a:rPr>
              <a:t>2</a:t>
            </a:r>
            <a:r>
              <a:rPr lang="zh-CN" altLang="en-US" dirty="0">
                <a:latin typeface="Times New Roman" panose="02020503050405090304" pitchFamily="18" charset="0"/>
              </a:rPr>
              <a:t>）表格也可用于表示实体间联系；</a:t>
            </a:r>
            <a:endParaRPr lang="zh-CN" altLang="en-US" dirty="0"/>
          </a:p>
          <a:p>
            <a:pPr indent="250825" algn="just" eaLnBrk="0" hangingPunct="0"/>
            <a:r>
              <a:rPr lang="en-US" altLang="zh-CN" b="1" dirty="0">
                <a:latin typeface="Times New Roman" panose="02020503050405090304" pitchFamily="18" charset="0"/>
              </a:rPr>
              <a:t>STUDENT</a:t>
            </a:r>
            <a:r>
              <a:rPr lang="en-US" altLang="zh-CN" dirty="0">
                <a:latin typeface="Times New Roman" panose="02020503050405090304" pitchFamily="18" charset="0"/>
              </a:rPr>
              <a:t>(XH,XM)  </a:t>
            </a:r>
            <a:r>
              <a:rPr lang="en-US" altLang="zh-CN" b="1" dirty="0">
                <a:latin typeface="Times New Roman" panose="02020503050405090304" pitchFamily="18" charset="0"/>
              </a:rPr>
              <a:t>COURSE</a:t>
            </a:r>
            <a:r>
              <a:rPr lang="en-US" altLang="zh-CN" dirty="0">
                <a:latin typeface="Times New Roman" panose="02020503050405090304" pitchFamily="18" charset="0"/>
              </a:rPr>
              <a:t>(KH,KM)  </a:t>
            </a:r>
            <a:r>
              <a:rPr lang="en-US" altLang="zh-CN" b="1" dirty="0">
                <a:solidFill>
                  <a:srgbClr val="FF0000"/>
                </a:solidFill>
                <a:latin typeface="Times New Roman" panose="02020503050405090304" pitchFamily="18" charset="0"/>
              </a:rPr>
              <a:t>SC</a:t>
            </a:r>
            <a:r>
              <a:rPr lang="en-US" altLang="zh-CN" dirty="0">
                <a:latin typeface="Times New Roman" panose="02020503050405090304" pitchFamily="18" charset="0"/>
              </a:rPr>
              <a:t>(XH,KH,CJ)</a:t>
            </a:r>
            <a:endParaRPr lang="en-US" altLang="zh-CN" dirty="0">
              <a:latin typeface="Times New Roman" panose="02020503050405090304" pitchFamily="18" charset="0"/>
            </a:endParaRPr>
          </a:p>
          <a:p>
            <a:pPr indent="250825" algn="just" eaLnBrk="0" hangingPunct="0"/>
            <a:r>
              <a:rPr lang="en-US" altLang="zh-CN" dirty="0">
                <a:latin typeface="Times New Roman" panose="02020503050405090304" pitchFamily="18" charset="0"/>
              </a:rPr>
              <a:t>3)   </a:t>
            </a:r>
            <a:r>
              <a:rPr lang="zh-CN" altLang="en-US" dirty="0">
                <a:latin typeface="Times New Roman" panose="02020503050405090304" pitchFamily="18" charset="0"/>
              </a:rPr>
              <a:t>行、列次序无关。</a:t>
            </a:r>
            <a:endParaRPr lang="zh-CN" altLang="en-US" dirty="0"/>
          </a:p>
          <a:p>
            <a:pPr indent="250825" eaLnBrk="0" hangingPunct="0"/>
            <a:r>
              <a:rPr lang="en-US" altLang="zh-CN" dirty="0">
                <a:latin typeface="Times New Roman" panose="02020503050405090304" pitchFamily="18" charset="0"/>
              </a:rPr>
              <a:t>4</a:t>
            </a:r>
            <a:r>
              <a:rPr lang="zh-CN" altLang="en-US" dirty="0">
                <a:latin typeface="宋体" pitchFamily="2" charset="-122"/>
              </a:rPr>
              <a:t>）每一个分量均不可再分。</a:t>
            </a:r>
            <a:r>
              <a:rPr lang="zh-CN" altLang="en-US" dirty="0"/>
              <a:t> </a:t>
            </a:r>
            <a:endParaRPr lang="zh-CN" altLang="en-US" dirty="0">
              <a:latin typeface="Times New Roman" panose="02020503050405090304" pitchFamily="18" charset="0"/>
            </a:endParaRPr>
          </a:p>
        </p:txBody>
      </p:sp>
      <p:graphicFrame>
        <p:nvGraphicFramePr>
          <p:cNvPr id="59428" name="Group 36"/>
          <p:cNvGraphicFramePr>
            <a:graphicFrameLocks noGrp="1"/>
          </p:cNvGraphicFramePr>
          <p:nvPr/>
        </p:nvGraphicFramePr>
        <p:xfrm>
          <a:off x="2339752" y="2840831"/>
          <a:ext cx="6096000" cy="2413000"/>
        </p:xfrm>
        <a:graphic>
          <a:graphicData uri="http://schemas.openxmlformats.org/drawingml/2006/table">
            <a:tbl>
              <a:tblPr/>
              <a:tblGrid>
                <a:gridCol w="1219200"/>
                <a:gridCol w="1219200"/>
                <a:gridCol w="1219200"/>
                <a:gridCol w="1219200"/>
                <a:gridCol w="1219200"/>
              </a:tblGrid>
              <a:tr h="803275">
                <a:tc row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dirty="0">
                          <a:ln>
                            <a:noFill/>
                          </a:ln>
                          <a:solidFill>
                            <a:schemeClr val="tx1"/>
                          </a:solidFill>
                          <a:effectLst/>
                          <a:latin typeface="Verdana" panose="020B0804030504040204" pitchFamily="34" charset="0"/>
                          <a:ea typeface="宋体" pitchFamily="2" charset="-122"/>
                        </a:rPr>
                        <a:t>XH</a:t>
                      </a:r>
                      <a:endParaRPr kumimoji="1" lang="en-US" altLang="zh-CN"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KH</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gridSpan="3">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dirty="0">
                          <a:ln>
                            <a:noFill/>
                          </a:ln>
                          <a:solidFill>
                            <a:schemeClr val="tx1"/>
                          </a:solidFill>
                          <a:effectLst/>
                          <a:latin typeface="Verdana" panose="020B0804030504040204" pitchFamily="34" charset="0"/>
                          <a:ea typeface="宋体" pitchFamily="2" charset="-122"/>
                        </a:rPr>
                        <a:t>CJ</a:t>
                      </a:r>
                      <a:endParaRPr kumimoji="1" lang="en-US" altLang="zh-CN"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hMerge="1">
                  <a:tcPr/>
                </a:tc>
                <a:tc hMerge="1">
                  <a:tcPr/>
                </a:tc>
              </a:tr>
              <a:tr h="806450">
                <a:tc vMerge="1">
                  <a:tcPr/>
                </a:tc>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CJ1</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CJ2</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CJ3</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80327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503050405090304"/>
                          <a:ea typeface="宋体" pitchFamily="2" charset="-122"/>
                        </a:rPr>
                        <a:t>…</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503050405090304"/>
                          <a:ea typeface="宋体" pitchFamily="2" charset="-122"/>
                        </a:rPr>
                        <a:t>…</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503050405090304"/>
                          <a:ea typeface="宋体" pitchFamily="2" charset="-122"/>
                        </a:rPr>
                        <a:t>…</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503050405090304"/>
                          <a:ea typeface="宋体" pitchFamily="2" charset="-122"/>
                        </a:rPr>
                        <a:t>…</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dirty="0">
                          <a:ln>
                            <a:noFill/>
                          </a:ln>
                          <a:solidFill>
                            <a:schemeClr val="tx1"/>
                          </a:solidFill>
                          <a:effectLst/>
                          <a:latin typeface="Times New Roman" panose="02020503050405090304"/>
                          <a:ea typeface="宋体" pitchFamily="2" charset="-122"/>
                        </a:rPr>
                        <a:t>…</a:t>
                      </a:r>
                      <a:endParaRPr kumimoji="1" lang="en-US" altLang="zh-CN"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
        <p:nvSpPr>
          <p:cNvPr id="88090" name="Text Box 37"/>
          <p:cNvSpPr txBox="1">
            <a:spLocks noChangeArrowheads="1"/>
          </p:cNvSpPr>
          <p:nvPr/>
        </p:nvSpPr>
        <p:spPr bwMode="auto">
          <a:xfrm>
            <a:off x="669925" y="5456238"/>
            <a:ext cx="7573963" cy="1187450"/>
          </a:xfrm>
          <a:prstGeom prst="rect">
            <a:avLst/>
          </a:prstGeom>
          <a:noFill/>
          <a:ln w="9525">
            <a:noFill/>
            <a:miter lim="800000"/>
          </a:ln>
        </p:spPr>
        <p:txBody>
          <a:bodyPr>
            <a:spAutoFit/>
          </a:bodyPr>
          <a:lstStyle/>
          <a:p>
            <a:r>
              <a:rPr lang="en-US" altLang="zh-CN"/>
              <a:t>5</a:t>
            </a:r>
            <a:r>
              <a:rPr lang="zh-CN" altLang="en-US">
                <a:latin typeface="宋体" pitchFamily="2" charset="-122"/>
              </a:rPr>
              <a:t>）至少一个</a:t>
            </a:r>
            <a:r>
              <a:rPr lang="zh-CN" altLang="en-US"/>
              <a:t>码</a:t>
            </a:r>
            <a:r>
              <a:rPr lang="zh-CN" altLang="en-US">
                <a:latin typeface="宋体" pitchFamily="2" charset="-122"/>
              </a:rPr>
              <a:t>（主码）。</a:t>
            </a:r>
            <a:endParaRPr lang="zh-CN" altLang="en-US">
              <a:latin typeface="宋体" pitchFamily="2" charset="-122"/>
            </a:endParaRPr>
          </a:p>
          <a:p>
            <a:r>
              <a:rPr lang="zh-CN" altLang="en-US"/>
              <a:t> </a:t>
            </a:r>
            <a:endParaRPr lang="zh-CN" altLang="en-US"/>
          </a:p>
          <a:p>
            <a:r>
              <a:rPr lang="zh-CN" altLang="en-US"/>
              <a:t>存储结构：类似于数组的形式在页面内存储。</a:t>
            </a:r>
            <a:endParaRPr lang="zh-CN" altLang="en-US"/>
          </a:p>
        </p:txBody>
      </p:sp>
      <p:sp>
        <p:nvSpPr>
          <p:cNvPr id="88091" name="AutoShape 38"/>
          <p:cNvSpPr>
            <a:spLocks noChangeArrowheads="1"/>
          </p:cNvSpPr>
          <p:nvPr/>
        </p:nvSpPr>
        <p:spPr bwMode="auto">
          <a:xfrm>
            <a:off x="5148064" y="1844824"/>
            <a:ext cx="3895328" cy="918220"/>
          </a:xfrm>
          <a:prstGeom prst="wedgeRoundRectCallout">
            <a:avLst>
              <a:gd name="adj1" fmla="val -12940"/>
              <a:gd name="adj2" fmla="val 68911"/>
              <a:gd name="adj3" fmla="val 16667"/>
            </a:avLst>
          </a:prstGeom>
        </p:spPr>
        <p:style>
          <a:lnRef idx="2">
            <a:schemeClr val="accent1"/>
          </a:lnRef>
          <a:fillRef idx="1">
            <a:schemeClr val="lt1"/>
          </a:fillRef>
          <a:effectRef idx="0">
            <a:schemeClr val="accent1"/>
          </a:effectRef>
          <a:fontRef idx="minor">
            <a:schemeClr val="dk1"/>
          </a:fontRef>
        </p:style>
        <p:txBody>
          <a:bodyPr/>
          <a:lstStyle/>
          <a:p>
            <a:pPr algn="ctr"/>
            <a:r>
              <a:rPr lang="zh-CN" altLang="en-US" sz="2800" dirty="0">
                <a:solidFill>
                  <a:srgbClr val="FF0000"/>
                </a:solidFill>
              </a:rPr>
              <a:t>注意：此处有嵌套属性，不是关系模型</a:t>
            </a:r>
            <a:endParaRPr lang="zh-CN" altLang="en-US" sz="2800" dirty="0">
              <a:solidFill>
                <a:srgbClr val="FF0000"/>
              </a:solidFill>
            </a:endParaRPr>
          </a:p>
        </p:txBody>
      </p:sp>
      <p:sp>
        <p:nvSpPr>
          <p:cNvPr id="88092" name="TextBox 6"/>
          <p:cNvSpPr txBox="1">
            <a:spLocks noChangeArrowheads="1"/>
          </p:cNvSpPr>
          <p:nvPr/>
        </p:nvSpPr>
        <p:spPr bwMode="auto">
          <a:xfrm>
            <a:off x="827584" y="2911416"/>
            <a:ext cx="1406500" cy="1200329"/>
          </a:xfrm>
          <a:prstGeom prst="rect">
            <a:avLst/>
          </a:prstGeom>
          <a:noFill/>
          <a:ln w="9525">
            <a:noFill/>
            <a:miter lim="800000"/>
          </a:ln>
        </p:spPr>
        <p:txBody>
          <a:bodyPr wrap="square">
            <a:spAutoFit/>
          </a:bodyPr>
          <a:lstStyle/>
          <a:p>
            <a:r>
              <a:rPr lang="zh-CN" altLang="en-US" dirty="0">
                <a:solidFill>
                  <a:srgbClr val="FF0000"/>
                </a:solidFill>
              </a:rPr>
              <a:t>关系模型的错误示例</a:t>
            </a:r>
            <a:endParaRPr lang="zh-CN" altLang="en-US" dirty="0">
              <a:solidFill>
                <a:srgbClr val="FF0000"/>
              </a:solidFill>
            </a:endParaRPr>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3"/>
          <p:cNvSpPr>
            <a:spLocks noGrp="1" noChangeArrowheads="1"/>
          </p:cNvSpPr>
          <p:nvPr>
            <p:ph idx="1"/>
          </p:nvPr>
        </p:nvSpPr>
        <p:spPr>
          <a:xfrm>
            <a:off x="468313" y="881063"/>
            <a:ext cx="8110537" cy="4191000"/>
          </a:xfrm>
        </p:spPr>
        <p:txBody>
          <a:bodyPr/>
          <a:lstStyle/>
          <a:p>
            <a:pPr eaLnBrk="1" hangingPunct="1"/>
            <a:r>
              <a:rPr lang="zh-CN" altLang="en-US" sz="2800"/>
              <a:t>关系模型的术语：</a:t>
            </a:r>
            <a:endParaRPr lang="zh-CN" altLang="en-US" sz="2800"/>
          </a:p>
          <a:p>
            <a:pPr eaLnBrk="1" hangingPunct="1">
              <a:buFont typeface="Wingdings" panose="05000000000000000000" pitchFamily="2" charset="2"/>
              <a:buNone/>
            </a:pPr>
            <a:r>
              <a:rPr lang="zh-CN" altLang="en-US" sz="2800"/>
              <a:t>关系（</a:t>
            </a:r>
            <a:r>
              <a:rPr lang="en-US" altLang="zh-CN" sz="2800"/>
              <a:t>Relation</a:t>
            </a:r>
            <a:r>
              <a:rPr lang="zh-CN" altLang="en-US" sz="2800"/>
              <a:t>）</a:t>
            </a:r>
            <a:endParaRPr lang="zh-CN" altLang="en-US" sz="2800"/>
          </a:p>
          <a:p>
            <a:pPr eaLnBrk="1" hangingPunct="1">
              <a:buFont typeface="Wingdings" panose="05000000000000000000" pitchFamily="2" charset="2"/>
              <a:buNone/>
            </a:pPr>
            <a:r>
              <a:rPr lang="zh-CN" altLang="en-US" sz="2800"/>
              <a:t>元组（</a:t>
            </a:r>
            <a:r>
              <a:rPr lang="en-US" altLang="zh-CN" sz="2800"/>
              <a:t>Tuple</a:t>
            </a:r>
            <a:r>
              <a:rPr lang="zh-CN" altLang="en-US" sz="2800"/>
              <a:t>）</a:t>
            </a:r>
            <a:endParaRPr lang="zh-CN" altLang="en-US" sz="2800"/>
          </a:p>
          <a:p>
            <a:pPr eaLnBrk="1" hangingPunct="1">
              <a:buFont typeface="Wingdings" panose="05000000000000000000" pitchFamily="2" charset="2"/>
              <a:buNone/>
            </a:pPr>
            <a:r>
              <a:rPr lang="zh-CN" altLang="en-US" sz="2800"/>
              <a:t>属性（</a:t>
            </a:r>
            <a:r>
              <a:rPr lang="en-US" altLang="zh-CN" sz="2800"/>
              <a:t>Attribute</a:t>
            </a:r>
            <a:r>
              <a:rPr lang="zh-CN" altLang="en-US" sz="2800"/>
              <a:t>）</a:t>
            </a:r>
            <a:endParaRPr lang="zh-CN" altLang="en-US" sz="2800"/>
          </a:p>
          <a:p>
            <a:pPr eaLnBrk="1" hangingPunct="1">
              <a:buFont typeface="Wingdings" panose="05000000000000000000" pitchFamily="2" charset="2"/>
              <a:buNone/>
            </a:pPr>
            <a:r>
              <a:rPr lang="zh-CN" altLang="en-US" sz="2800"/>
              <a:t>码（</a:t>
            </a:r>
            <a:r>
              <a:rPr lang="en-US" altLang="zh-CN" sz="2800"/>
              <a:t>Key</a:t>
            </a:r>
            <a:r>
              <a:rPr lang="zh-CN" altLang="en-US" sz="2800"/>
              <a:t>）</a:t>
            </a:r>
            <a:endParaRPr lang="zh-CN" altLang="en-US" sz="2800"/>
          </a:p>
          <a:p>
            <a:pPr eaLnBrk="1" hangingPunct="1">
              <a:buFont typeface="Wingdings" panose="05000000000000000000" pitchFamily="2" charset="2"/>
              <a:buNone/>
            </a:pPr>
            <a:r>
              <a:rPr lang="zh-CN" altLang="en-US" sz="2800"/>
              <a:t>域（</a:t>
            </a:r>
            <a:r>
              <a:rPr lang="en-US" altLang="zh-CN" sz="2800"/>
              <a:t>Domain</a:t>
            </a:r>
            <a:r>
              <a:rPr lang="zh-CN" altLang="en-US" sz="2800"/>
              <a:t>）</a:t>
            </a:r>
            <a:endParaRPr lang="zh-CN" altLang="en-US" sz="2800"/>
          </a:p>
          <a:p>
            <a:pPr eaLnBrk="1" hangingPunct="1">
              <a:buFont typeface="Wingdings" panose="05000000000000000000" pitchFamily="2" charset="2"/>
              <a:buNone/>
            </a:pPr>
            <a:r>
              <a:rPr lang="zh-CN" altLang="en-US" sz="2800"/>
              <a:t>关系模式</a:t>
            </a:r>
            <a:r>
              <a:rPr lang="en-US" altLang="zh-CN" sz="2800">
                <a:latin typeface="Times New Roman" panose="02020503050405090304" pitchFamily="18" charset="0"/>
              </a:rPr>
              <a:t>——</a:t>
            </a:r>
            <a:r>
              <a:rPr lang="zh-CN" altLang="en-US" sz="2800"/>
              <a:t>关系名加上属性名列表</a:t>
            </a:r>
            <a:endParaRPr lang="zh-CN" altLang="en-US" sz="2800"/>
          </a:p>
        </p:txBody>
      </p:sp>
      <p:sp>
        <p:nvSpPr>
          <p:cNvPr id="5" name="灯片编号占位符 5"/>
          <p:cNvSpPr>
            <a:spLocks noGrp="1"/>
          </p:cNvSpPr>
          <p:nvPr>
            <p:ph type="sldNum" sz="quarter" idx="12"/>
          </p:nvPr>
        </p:nvSpPr>
        <p:spPr/>
        <p:txBody>
          <a:bodyPr/>
          <a:lstStyle/>
          <a:p>
            <a:pPr>
              <a:defRPr/>
            </a:pPr>
            <a:fld id="{5C50FD8C-2793-41CA-98D1-DCBA336D3ABC}" type="slidenum">
              <a:rPr lang="en-US" altLang="zh-CN"/>
            </a:fld>
            <a:endParaRPr lang="en-US" altLang="zh-CN"/>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CE7D7FBE-40C6-4673-A768-1D1ECC0A74E2}" type="slidenum">
              <a:rPr lang="en-US" altLang="zh-CN"/>
            </a:fld>
            <a:endParaRPr lang="en-US" altLang="zh-CN"/>
          </a:p>
        </p:txBody>
      </p:sp>
      <p:sp>
        <p:nvSpPr>
          <p:cNvPr id="90115" name="Text Box 2"/>
          <p:cNvSpPr txBox="1">
            <a:spLocks noChangeArrowheads="1"/>
          </p:cNvSpPr>
          <p:nvPr/>
        </p:nvSpPr>
        <p:spPr bwMode="auto">
          <a:xfrm>
            <a:off x="441325" y="344488"/>
            <a:ext cx="8162925" cy="6002337"/>
          </a:xfrm>
          <a:prstGeom prst="rect">
            <a:avLst/>
          </a:prstGeom>
          <a:noFill/>
          <a:ln w="9525">
            <a:noFill/>
            <a:miter lim="800000"/>
          </a:ln>
        </p:spPr>
        <p:txBody>
          <a:bodyPr>
            <a:spAutoFit/>
          </a:bodyPr>
          <a:lstStyle/>
          <a:p>
            <a:r>
              <a:rPr lang="en-US" altLang="zh-CN" b="1" dirty="0">
                <a:latin typeface="Arial" panose="020B0604020202090204" pitchFamily="34" charset="0"/>
                <a:cs typeface="Arial" panose="020B0604020202090204" pitchFamily="34" charset="0"/>
              </a:rPr>
              <a:t>2. </a:t>
            </a:r>
            <a:r>
              <a:rPr lang="zh-CN" altLang="en-US" b="1" dirty="0">
                <a:latin typeface="Arial" panose="020B0604020202090204" pitchFamily="34" charset="0"/>
                <a:ea typeface="黑体" panose="02010609060101010101" pitchFamily="49" charset="-122"/>
              </a:rPr>
              <a:t>操作</a:t>
            </a:r>
            <a:endParaRPr lang="zh-CN" altLang="en-US" b="1" dirty="0">
              <a:latin typeface="Arial" panose="020B0604020202090204" pitchFamily="34" charset="0"/>
              <a:cs typeface="Arial" panose="020B0604020202090204" pitchFamily="34" charset="0"/>
            </a:endParaRPr>
          </a:p>
          <a:p>
            <a:r>
              <a:rPr lang="en-US" altLang="zh-CN" dirty="0"/>
              <a:t>I</a:t>
            </a:r>
            <a:r>
              <a:rPr lang="zh-CN" altLang="en-US" dirty="0"/>
              <a:t>、</a:t>
            </a:r>
            <a:r>
              <a:rPr lang="en-US" altLang="zh-CN" dirty="0"/>
              <a:t>D</a:t>
            </a:r>
            <a:r>
              <a:rPr lang="zh-CN" altLang="en-US" dirty="0"/>
              <a:t>、</a:t>
            </a:r>
            <a:r>
              <a:rPr lang="en-US" altLang="zh-CN" dirty="0"/>
              <a:t>U</a:t>
            </a:r>
            <a:r>
              <a:rPr lang="zh-CN" altLang="en-US" dirty="0"/>
              <a:t>、</a:t>
            </a:r>
            <a:r>
              <a:rPr lang="en-US" altLang="zh-CN" dirty="0"/>
              <a:t>Q</a:t>
            </a:r>
            <a:endParaRPr lang="en-US" altLang="zh-CN" dirty="0"/>
          </a:p>
          <a:p>
            <a:r>
              <a:rPr lang="en-US" altLang="zh-CN" b="1" dirty="0">
                <a:latin typeface="Arial" panose="020B0604020202090204" pitchFamily="34" charset="0"/>
                <a:cs typeface="Arial" panose="020B0604020202090204" pitchFamily="34" charset="0"/>
              </a:rPr>
              <a:t>3. </a:t>
            </a:r>
            <a:r>
              <a:rPr lang="zh-CN" altLang="en-US" b="1" dirty="0">
                <a:latin typeface="Arial" panose="020B0604020202090204" pitchFamily="34" charset="0"/>
                <a:ea typeface="黑体" panose="02010609060101010101" pitchFamily="49" charset="-122"/>
              </a:rPr>
              <a:t>约束</a:t>
            </a:r>
            <a:endParaRPr lang="zh-CN" altLang="en-US" b="1" dirty="0">
              <a:latin typeface="Arial" panose="020B0604020202090204" pitchFamily="34" charset="0"/>
              <a:cs typeface="Arial" panose="020B0604020202090204" pitchFamily="34" charset="0"/>
            </a:endParaRPr>
          </a:p>
          <a:p>
            <a:r>
              <a:rPr lang="en-US" altLang="zh-CN" dirty="0">
                <a:latin typeface="Times New Roman" panose="02020503050405090304" pitchFamily="18" charset="0"/>
              </a:rPr>
              <a:t>——</a:t>
            </a:r>
            <a:r>
              <a:rPr lang="zh-CN" altLang="en-US" dirty="0">
                <a:latin typeface="Times New Roman" panose="02020503050405090304" pitchFamily="18" charset="0"/>
              </a:rPr>
              <a:t>完整性约束（</a:t>
            </a:r>
            <a:r>
              <a:rPr lang="en-US" altLang="zh-CN" dirty="0"/>
              <a:t>integrity</a:t>
            </a:r>
            <a:r>
              <a:rPr lang="zh-CN" altLang="en-US" dirty="0">
                <a:latin typeface="Times New Roman" panose="02020503050405090304" pitchFamily="18" charset="0"/>
              </a:rPr>
              <a:t>）</a:t>
            </a:r>
            <a:endParaRPr lang="zh-CN" altLang="en-US" dirty="0"/>
          </a:p>
          <a:p>
            <a:r>
              <a:rPr lang="en-US" altLang="zh-CN" dirty="0"/>
              <a:t>1</a:t>
            </a:r>
            <a:r>
              <a:rPr lang="zh-CN" altLang="en-US" dirty="0"/>
              <a:t>）</a:t>
            </a:r>
            <a:r>
              <a:rPr lang="zh-CN" altLang="en-US" dirty="0">
                <a:solidFill>
                  <a:srgbClr val="FF0000"/>
                </a:solidFill>
                <a:latin typeface="Times New Roman" panose="02020503050405090304" pitchFamily="18" charset="0"/>
              </a:rPr>
              <a:t>实体</a:t>
            </a:r>
            <a:r>
              <a:rPr lang="zh-CN" altLang="en-US" dirty="0">
                <a:latin typeface="Times New Roman" panose="02020503050405090304" pitchFamily="18" charset="0"/>
              </a:rPr>
              <a:t>完整性；</a:t>
            </a:r>
            <a:endParaRPr lang="zh-CN" altLang="en-US" dirty="0"/>
          </a:p>
          <a:p>
            <a:r>
              <a:rPr lang="en-US" altLang="zh-CN" dirty="0"/>
              <a:t>2</a:t>
            </a:r>
            <a:r>
              <a:rPr lang="zh-CN" altLang="en-US" dirty="0">
                <a:latin typeface="Times New Roman" panose="02020503050405090304" pitchFamily="18" charset="0"/>
              </a:rPr>
              <a:t>）</a:t>
            </a:r>
            <a:r>
              <a:rPr lang="zh-CN" altLang="en-US" dirty="0">
                <a:solidFill>
                  <a:srgbClr val="FF0000"/>
                </a:solidFill>
                <a:latin typeface="Times New Roman" panose="02020503050405090304" pitchFamily="18" charset="0"/>
              </a:rPr>
              <a:t>参照</a:t>
            </a:r>
            <a:r>
              <a:rPr lang="zh-CN" altLang="en-US" dirty="0">
                <a:latin typeface="Times New Roman" panose="02020503050405090304" pitchFamily="18" charset="0"/>
              </a:rPr>
              <a:t>完整性；</a:t>
            </a:r>
            <a:endParaRPr lang="zh-CN" altLang="en-US" dirty="0"/>
          </a:p>
          <a:p>
            <a:r>
              <a:rPr lang="en-US" altLang="zh-CN" dirty="0"/>
              <a:t>3</a:t>
            </a:r>
            <a:r>
              <a:rPr lang="zh-CN" altLang="en-US" dirty="0">
                <a:latin typeface="Times New Roman" panose="02020503050405090304" pitchFamily="18" charset="0"/>
              </a:rPr>
              <a:t>）</a:t>
            </a:r>
            <a:r>
              <a:rPr lang="zh-CN" altLang="en-US" dirty="0">
                <a:solidFill>
                  <a:srgbClr val="FF0000"/>
                </a:solidFill>
                <a:latin typeface="Times New Roman" panose="02020503050405090304" pitchFamily="18" charset="0"/>
              </a:rPr>
              <a:t>用户定义</a:t>
            </a:r>
            <a:r>
              <a:rPr lang="zh-CN" altLang="en-US" dirty="0">
                <a:latin typeface="Times New Roman" panose="02020503050405090304" pitchFamily="18" charset="0"/>
              </a:rPr>
              <a:t>完整性。</a:t>
            </a:r>
            <a:endParaRPr lang="zh-CN" altLang="en-US" dirty="0"/>
          </a:p>
          <a:p>
            <a:r>
              <a:rPr lang="en-US" altLang="zh-CN" b="1" dirty="0">
                <a:latin typeface="Arial" panose="020B0604020202090204" pitchFamily="34" charset="0"/>
                <a:cs typeface="Arial" panose="020B0604020202090204" pitchFamily="34" charset="0"/>
              </a:rPr>
              <a:t>4. </a:t>
            </a:r>
            <a:r>
              <a:rPr lang="zh-CN" altLang="en-US" b="1" dirty="0">
                <a:latin typeface="Arial" panose="020B0604020202090204" pitchFamily="34" charset="0"/>
                <a:ea typeface="黑体" panose="02010609060101010101" pitchFamily="49" charset="-122"/>
              </a:rPr>
              <a:t>优点</a:t>
            </a:r>
            <a:endParaRPr lang="zh-CN" altLang="en-US" b="1" dirty="0">
              <a:latin typeface="Arial" panose="020B0604020202090204" pitchFamily="34" charset="0"/>
              <a:cs typeface="Arial" panose="020B0604020202090204" pitchFamily="34" charset="0"/>
            </a:endParaRPr>
          </a:p>
          <a:p>
            <a:r>
              <a:rPr lang="en-US" altLang="zh-CN" dirty="0"/>
              <a:t>1</a:t>
            </a:r>
            <a:r>
              <a:rPr lang="zh-CN" altLang="en-US" dirty="0">
                <a:latin typeface="Times New Roman" panose="02020503050405090304" pitchFamily="18" charset="0"/>
              </a:rPr>
              <a:t>）建立在严格的数学概念的基础之上</a:t>
            </a:r>
            <a:endParaRPr lang="zh-CN" altLang="en-US" dirty="0">
              <a:latin typeface="Times New Roman" panose="02020503050405090304" pitchFamily="18" charset="0"/>
            </a:endParaRPr>
          </a:p>
          <a:p>
            <a:r>
              <a:rPr lang="zh-CN" altLang="en-US" dirty="0"/>
              <a:t>    以</a:t>
            </a:r>
            <a:r>
              <a:rPr lang="zh-CN" altLang="en-US" dirty="0">
                <a:solidFill>
                  <a:srgbClr val="FF0000"/>
                </a:solidFill>
              </a:rPr>
              <a:t>集合论、关系代数</a:t>
            </a:r>
            <a:r>
              <a:rPr lang="zh-CN" altLang="en-US" dirty="0"/>
              <a:t>为基础，在数据建模和操作方面具有严格的</a:t>
            </a:r>
            <a:r>
              <a:rPr lang="zh-CN" altLang="en-US" dirty="0">
                <a:solidFill>
                  <a:srgbClr val="FF0000"/>
                </a:solidFill>
              </a:rPr>
              <a:t>数学基础</a:t>
            </a:r>
            <a:r>
              <a:rPr lang="zh-CN" altLang="en-US" dirty="0"/>
              <a:t>。关系数据库理论为一自成体系的形式化理论。</a:t>
            </a:r>
            <a:endParaRPr lang="zh-CN" altLang="en-US" dirty="0"/>
          </a:p>
          <a:p>
            <a:r>
              <a:rPr lang="en-US" altLang="zh-CN" dirty="0"/>
              <a:t>2</a:t>
            </a:r>
            <a:r>
              <a:rPr lang="zh-CN" altLang="en-US" dirty="0">
                <a:latin typeface="Times New Roman" panose="02020503050405090304" pitchFamily="18" charset="0"/>
              </a:rPr>
              <a:t>）结构简单易用</a:t>
            </a:r>
            <a:endParaRPr lang="zh-CN" altLang="en-US" dirty="0">
              <a:latin typeface="Times New Roman" panose="02020503050405090304" pitchFamily="18" charset="0"/>
            </a:endParaRPr>
          </a:p>
          <a:p>
            <a:r>
              <a:rPr lang="zh-CN" altLang="en-US" dirty="0"/>
              <a:t>    相对于层次模型和网状模型，关系模型</a:t>
            </a:r>
            <a:r>
              <a:rPr lang="zh-CN" altLang="en-US" dirty="0">
                <a:solidFill>
                  <a:srgbClr val="FF0000"/>
                </a:solidFill>
              </a:rPr>
              <a:t>将系统划分为较小的单元</a:t>
            </a:r>
            <a:r>
              <a:rPr lang="zh-CN" altLang="en-US" dirty="0"/>
              <a:t>，具有较少的结构约束和较大的灵活性，对数据共享的支持也较强。</a:t>
            </a:r>
            <a:endParaRPr lang="zh-CN" altLang="en-US" dirty="0"/>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3"/>
          <p:cNvSpPr>
            <a:spLocks noGrp="1" noChangeArrowheads="1"/>
          </p:cNvSpPr>
          <p:nvPr>
            <p:ph idx="1"/>
          </p:nvPr>
        </p:nvSpPr>
        <p:spPr>
          <a:xfrm>
            <a:off x="323528" y="764704"/>
            <a:ext cx="8569325" cy="4191000"/>
          </a:xfrm>
        </p:spPr>
        <p:txBody>
          <a:bodyPr/>
          <a:lstStyle/>
          <a:p>
            <a:pPr eaLnBrk="1" hangingPunct="1">
              <a:buFont typeface="Wingdings" panose="05000000000000000000" pitchFamily="2" charset="2"/>
              <a:buNone/>
            </a:pPr>
            <a:r>
              <a:rPr lang="en-US" altLang="zh-CN" sz="2800" dirty="0">
                <a:latin typeface="宋体" pitchFamily="2" charset="-122"/>
              </a:rPr>
              <a:t>3</a:t>
            </a:r>
            <a:r>
              <a:rPr lang="zh-CN" altLang="en-US" sz="2800" dirty="0">
                <a:latin typeface="宋体" pitchFamily="2" charset="-122"/>
              </a:rPr>
              <a:t>）应用程序与数据说明独立：</a:t>
            </a:r>
            <a:endParaRPr lang="zh-CN" altLang="en-US" sz="2800" dirty="0">
              <a:latin typeface="宋体" pitchFamily="2" charset="-122"/>
            </a:endParaRPr>
          </a:p>
          <a:p>
            <a:pPr eaLnBrk="1" hangingPunct="1">
              <a:buFont typeface="Wingdings" panose="05000000000000000000" pitchFamily="2" charset="2"/>
              <a:buChar char="Ø"/>
            </a:pPr>
            <a:r>
              <a:rPr lang="zh-CN" altLang="en-US" sz="2800" dirty="0">
                <a:latin typeface="宋体" pitchFamily="2" charset="-122"/>
              </a:rPr>
              <a:t>存取路径透明；</a:t>
            </a:r>
            <a:endParaRPr lang="zh-CN" altLang="en-US" sz="2800" dirty="0">
              <a:latin typeface="宋体" pitchFamily="2" charset="-122"/>
            </a:endParaRPr>
          </a:p>
          <a:p>
            <a:pPr eaLnBrk="1" hangingPunct="1">
              <a:buFont typeface="Wingdings" panose="05000000000000000000" pitchFamily="2" charset="2"/>
              <a:buChar char="Ø"/>
            </a:pPr>
            <a:r>
              <a:rPr lang="zh-CN" altLang="en-US" sz="2800" dirty="0">
                <a:latin typeface="宋体" pitchFamily="2" charset="-122"/>
              </a:rPr>
              <a:t>非过程化语言。</a:t>
            </a:r>
            <a:endParaRPr lang="zh-CN" altLang="en-US" sz="2800" dirty="0">
              <a:latin typeface="宋体" pitchFamily="2" charset="-122"/>
            </a:endParaRPr>
          </a:p>
          <a:p>
            <a:pPr eaLnBrk="1" hangingPunct="1">
              <a:buFont typeface="Wingdings" panose="05000000000000000000" pitchFamily="2" charset="2"/>
              <a:buNone/>
            </a:pPr>
            <a:r>
              <a:rPr lang="en-US" altLang="zh-CN" sz="2800" dirty="0">
                <a:latin typeface="宋体" pitchFamily="2" charset="-122"/>
              </a:rPr>
              <a:t>4</a:t>
            </a:r>
            <a:r>
              <a:rPr lang="zh-CN" altLang="en-US" sz="2800" dirty="0">
                <a:latin typeface="宋体" pitchFamily="2" charset="-122"/>
              </a:rPr>
              <a:t>）集合操作。</a:t>
            </a:r>
            <a:endParaRPr lang="zh-CN" altLang="en-US" sz="2800" dirty="0">
              <a:latin typeface="宋体" pitchFamily="2" charset="-122"/>
            </a:endParaRPr>
          </a:p>
          <a:p>
            <a:pPr eaLnBrk="1" hangingPunct="1">
              <a:buFont typeface="Wingdings" panose="05000000000000000000" pitchFamily="2" charset="2"/>
              <a:buNone/>
            </a:pPr>
            <a:r>
              <a:rPr lang="en-US" altLang="zh-CN" sz="2800" b="1" dirty="0">
                <a:latin typeface="宋体" pitchFamily="2" charset="-122"/>
              </a:rPr>
              <a:t>5. </a:t>
            </a:r>
            <a:r>
              <a:rPr lang="zh-CN" altLang="en-US" sz="2800" b="1" dirty="0">
                <a:latin typeface="宋体" pitchFamily="2" charset="-122"/>
              </a:rPr>
              <a:t>缺点</a:t>
            </a:r>
            <a:endParaRPr lang="zh-CN" altLang="en-US" sz="2800" b="1" dirty="0">
              <a:latin typeface="宋体" pitchFamily="2" charset="-122"/>
            </a:endParaRPr>
          </a:p>
          <a:p>
            <a:pPr eaLnBrk="1" hangingPunct="1">
              <a:buFont typeface="Wingdings" panose="05000000000000000000" pitchFamily="2" charset="2"/>
              <a:buNone/>
            </a:pPr>
            <a:r>
              <a:rPr lang="en-US" altLang="zh-CN" sz="2800" dirty="0">
                <a:latin typeface="宋体" pitchFamily="2" charset="-122"/>
              </a:rPr>
              <a:t>1</a:t>
            </a:r>
            <a:r>
              <a:rPr lang="zh-CN" altLang="en-US" sz="2800" dirty="0">
                <a:latin typeface="宋体" pitchFamily="2" charset="-122"/>
              </a:rPr>
              <a:t>）</a:t>
            </a:r>
            <a:r>
              <a:rPr lang="zh-CN" altLang="en-US" sz="2800" dirty="0">
                <a:solidFill>
                  <a:srgbClr val="FF0000"/>
                </a:solidFill>
                <a:latin typeface="宋体" pitchFamily="2" charset="-122"/>
              </a:rPr>
              <a:t>查询效率慢</a:t>
            </a:r>
            <a:r>
              <a:rPr lang="zh-CN" altLang="en-US" sz="2800" dirty="0">
                <a:latin typeface="宋体" pitchFamily="2" charset="-122"/>
              </a:rPr>
              <a:t>。</a:t>
            </a:r>
            <a:endParaRPr lang="zh-CN" altLang="en-US" sz="2800" dirty="0">
              <a:latin typeface="宋体" pitchFamily="2" charset="-122"/>
            </a:endParaRPr>
          </a:p>
          <a:p>
            <a:pPr eaLnBrk="1" hangingPunct="1">
              <a:buFont typeface="Wingdings" panose="05000000000000000000" pitchFamily="2" charset="2"/>
              <a:buNone/>
            </a:pPr>
            <a:r>
              <a:rPr lang="en-US" altLang="zh-CN" sz="2800" dirty="0">
                <a:latin typeface="宋体" pitchFamily="2" charset="-122"/>
              </a:rPr>
              <a:t>2</a:t>
            </a:r>
            <a:r>
              <a:rPr lang="zh-CN" altLang="en-US" sz="2800" dirty="0">
                <a:latin typeface="宋体" pitchFamily="2" charset="-122"/>
              </a:rPr>
              <a:t>）复杂数据类型表示能力弱。 </a:t>
            </a:r>
            <a:endParaRPr lang="zh-CN" altLang="en-US" sz="2800" dirty="0">
              <a:latin typeface="宋体" pitchFamily="2" charset="-122"/>
            </a:endParaRPr>
          </a:p>
        </p:txBody>
      </p:sp>
      <p:sp>
        <p:nvSpPr>
          <p:cNvPr id="6" name="灯片编号占位符 5"/>
          <p:cNvSpPr>
            <a:spLocks noGrp="1"/>
          </p:cNvSpPr>
          <p:nvPr>
            <p:ph type="sldNum" sz="quarter" idx="12"/>
          </p:nvPr>
        </p:nvSpPr>
        <p:spPr/>
        <p:txBody>
          <a:bodyPr/>
          <a:lstStyle/>
          <a:p>
            <a:pPr>
              <a:defRPr/>
            </a:pPr>
            <a:fld id="{33020A1C-D7A1-4AE4-9668-09566EE57A63}" type="slidenum">
              <a:rPr lang="en-US" altLang="zh-CN"/>
            </a:fld>
            <a:endParaRPr lang="en-US" altLang="zh-CN"/>
          </a:p>
        </p:txBody>
      </p:sp>
      <p:sp>
        <p:nvSpPr>
          <p:cNvPr id="91140" name="AutoShape 4"/>
          <p:cNvSpPr>
            <a:spLocks noChangeArrowheads="1"/>
          </p:cNvSpPr>
          <p:nvPr/>
        </p:nvSpPr>
        <p:spPr bwMode="auto">
          <a:xfrm>
            <a:off x="8101013" y="1889125"/>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latin typeface="宋体" pitchFamily="2" charset="-122"/>
            </a:endParaRPr>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a:xfrm>
            <a:off x="323850" y="571500"/>
            <a:ext cx="8710613" cy="762000"/>
          </a:xfrm>
        </p:spPr>
        <p:txBody>
          <a:bodyPr>
            <a:normAutofit fontScale="90000"/>
          </a:bodyPr>
          <a:lstStyle/>
          <a:p>
            <a:pPr eaLnBrk="1" fontAlgn="auto" hangingPunct="1">
              <a:spcAft>
                <a:spcPts val="0"/>
              </a:spcAft>
              <a:defRPr/>
            </a:pPr>
            <a:r>
              <a:rPr lang="zh-CN" altLang="en-US" dirty="0"/>
              <a:t>数据模型在数据库系统中的重要性</a:t>
            </a:r>
            <a:endParaRPr lang="zh-CN" altLang="en-US" dirty="0"/>
          </a:p>
        </p:txBody>
      </p:sp>
      <p:sp>
        <p:nvSpPr>
          <p:cNvPr id="92163" name="Rectangle 3"/>
          <p:cNvSpPr>
            <a:spLocks noGrp="1" noChangeArrowheads="1"/>
          </p:cNvSpPr>
          <p:nvPr>
            <p:ph idx="1"/>
          </p:nvPr>
        </p:nvSpPr>
        <p:spPr>
          <a:xfrm>
            <a:off x="493713" y="1463675"/>
            <a:ext cx="8110537" cy="4191000"/>
          </a:xfrm>
        </p:spPr>
        <p:txBody>
          <a:bodyPr/>
          <a:lstStyle/>
          <a:p>
            <a:pPr eaLnBrk="1" hangingPunct="1"/>
            <a:r>
              <a:rPr lang="zh-CN" altLang="en-US" sz="2800" dirty="0"/>
              <a:t>核心、基础</a:t>
            </a:r>
            <a:endParaRPr lang="zh-CN" altLang="en-US" sz="2800" dirty="0"/>
          </a:p>
          <a:p>
            <a:pPr eaLnBrk="1" hangingPunct="1"/>
            <a:r>
              <a:rPr lang="zh-CN" altLang="en-US" sz="2800" dirty="0"/>
              <a:t>命名的依据</a:t>
            </a:r>
            <a:endParaRPr lang="zh-CN" altLang="en-US" sz="2800" dirty="0"/>
          </a:p>
          <a:p>
            <a:pPr eaLnBrk="1" hangingPunct="1"/>
            <a:r>
              <a:rPr lang="zh-CN" altLang="en-US" sz="2800" dirty="0"/>
              <a:t>对应着</a:t>
            </a:r>
            <a:r>
              <a:rPr lang="en-US" altLang="zh-CN" sz="2800" dirty="0"/>
              <a:t>DBMS</a:t>
            </a:r>
            <a:r>
              <a:rPr lang="zh-CN" altLang="en-US" sz="2800" dirty="0"/>
              <a:t>的发展</a:t>
            </a:r>
            <a:endParaRPr lang="zh-CN" altLang="en-US" sz="2800" dirty="0"/>
          </a:p>
          <a:p>
            <a:pPr eaLnBrk="1" hangingPunct="1"/>
            <a:r>
              <a:rPr lang="zh-CN" altLang="en-US" sz="2800" dirty="0"/>
              <a:t>目前关系模型占主导地位</a:t>
            </a:r>
            <a:endParaRPr lang="zh-CN" altLang="en-US" sz="2800" dirty="0"/>
          </a:p>
          <a:p>
            <a:pPr eaLnBrk="1" hangingPunct="1"/>
            <a:r>
              <a:rPr lang="zh-CN" altLang="en-US" sz="2800" dirty="0"/>
              <a:t>持续发展（时态模型、时空模型、</a:t>
            </a:r>
            <a:r>
              <a:rPr lang="en-US" altLang="zh-CN" sz="2800" dirty="0"/>
              <a:t>XML</a:t>
            </a:r>
            <a:r>
              <a:rPr lang="zh-CN" altLang="en-US" sz="2800" dirty="0"/>
              <a:t>、</a:t>
            </a:r>
            <a:r>
              <a:rPr lang="en-US" altLang="zh-CN" sz="2800" dirty="0"/>
              <a:t>OO</a:t>
            </a:r>
            <a:r>
              <a:rPr lang="zh-CN" altLang="en-US" sz="2800" dirty="0"/>
              <a:t>、</a:t>
            </a:r>
            <a:r>
              <a:rPr lang="en-US" altLang="zh-CN" sz="2800" dirty="0"/>
              <a:t>OR</a:t>
            </a:r>
            <a:r>
              <a:rPr lang="zh-CN" altLang="en-US" sz="2800" dirty="0"/>
              <a:t>）</a:t>
            </a:r>
            <a:endParaRPr lang="en-US" altLang="zh-CN" sz="2800" dirty="0"/>
          </a:p>
          <a:p>
            <a:pPr eaLnBrk="1" hangingPunct="1"/>
            <a:r>
              <a:rPr lang="zh-CN" altLang="en-US" sz="2800" dirty="0"/>
              <a:t>大数据：</a:t>
            </a:r>
            <a:r>
              <a:rPr lang="en-US" altLang="zh-CN" sz="2800" dirty="0"/>
              <a:t>K-V</a:t>
            </a:r>
            <a:r>
              <a:rPr lang="zh-CN" altLang="en-US" sz="2800" dirty="0"/>
              <a:t>、文档、图、流数据。。。</a:t>
            </a:r>
            <a:endParaRPr lang="zh-CN" altLang="en-US" sz="2800" dirty="0"/>
          </a:p>
        </p:txBody>
      </p:sp>
      <p:sp>
        <p:nvSpPr>
          <p:cNvPr id="7" name="灯片编号占位符 5"/>
          <p:cNvSpPr>
            <a:spLocks noGrp="1"/>
          </p:cNvSpPr>
          <p:nvPr>
            <p:ph type="sldNum" sz="quarter" idx="12"/>
          </p:nvPr>
        </p:nvSpPr>
        <p:spPr/>
        <p:txBody>
          <a:bodyPr/>
          <a:lstStyle/>
          <a:p>
            <a:pPr>
              <a:defRPr/>
            </a:pPr>
            <a:fld id="{752FFA19-F603-4D6E-88C7-5474848CC5ED}" type="slidenum">
              <a:rPr lang="en-US" altLang="zh-CN"/>
            </a:fld>
            <a:endParaRPr lang="en-US" altLang="zh-CN"/>
          </a:p>
        </p:txBody>
      </p:sp>
      <p:sp>
        <p:nvSpPr>
          <p:cNvPr id="92165" name="AutoShape 4"/>
          <p:cNvSpPr>
            <a:spLocks noChangeArrowheads="1"/>
          </p:cNvSpPr>
          <p:nvPr/>
        </p:nvSpPr>
        <p:spPr bwMode="auto">
          <a:xfrm>
            <a:off x="8172450" y="3379788"/>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sp>
        <p:nvSpPr>
          <p:cNvPr id="6" name="AutoShape 4"/>
          <p:cNvSpPr>
            <a:spLocks noChangeArrowheads="1"/>
          </p:cNvSpPr>
          <p:nvPr/>
        </p:nvSpPr>
        <p:spPr bwMode="auto">
          <a:xfrm>
            <a:off x="899592" y="5605462"/>
            <a:ext cx="417934"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sp>
        <p:nvSpPr>
          <p:cNvPr id="2" name="圆角矩形标注 1"/>
          <p:cNvSpPr/>
          <p:nvPr/>
        </p:nvSpPr>
        <p:spPr>
          <a:xfrm>
            <a:off x="1475656" y="5784849"/>
            <a:ext cx="1152128" cy="380455"/>
          </a:xfrm>
          <a:prstGeom prst="wedgeRoundRectCallout">
            <a:avLst>
              <a:gd name="adj1" fmla="val -67772"/>
              <a:gd name="adj2" fmla="val -4258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a:t>里程碑</a:t>
            </a:r>
            <a:endParaRPr lang="zh-CN" altLang="en-US" sz="1800" dirty="0"/>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a:xfrm>
            <a:off x="395288" y="571500"/>
            <a:ext cx="8162925" cy="762000"/>
          </a:xfrm>
        </p:spPr>
        <p:txBody>
          <a:bodyPr>
            <a:normAutofit fontScale="90000"/>
          </a:bodyPr>
          <a:lstStyle/>
          <a:p>
            <a:pPr eaLnBrk="1" fontAlgn="auto" hangingPunct="1">
              <a:spcAft>
                <a:spcPts val="0"/>
              </a:spcAft>
              <a:defRPr/>
            </a:pPr>
            <a:r>
              <a:rPr lang="zh-CN" altLang="en-US" dirty="0"/>
              <a:t>数据库领域的标志性人物</a:t>
            </a:r>
            <a:r>
              <a:rPr lang="en-US" altLang="zh-CN" dirty="0"/>
              <a:t>1</a:t>
            </a:r>
            <a:endParaRPr lang="en-US" altLang="zh-CN" dirty="0"/>
          </a:p>
        </p:txBody>
      </p:sp>
      <p:sp>
        <p:nvSpPr>
          <p:cNvPr id="93187" name="Rectangle 3"/>
          <p:cNvSpPr>
            <a:spLocks noGrp="1" noChangeArrowheads="1"/>
          </p:cNvSpPr>
          <p:nvPr>
            <p:ph idx="1"/>
          </p:nvPr>
        </p:nvSpPr>
        <p:spPr>
          <a:xfrm>
            <a:off x="323850" y="1508125"/>
            <a:ext cx="8496300" cy="4191000"/>
          </a:xfrm>
        </p:spPr>
        <p:txBody>
          <a:bodyPr/>
          <a:lstStyle/>
          <a:p>
            <a:pPr marL="0" indent="0" eaLnBrk="1" hangingPunct="1"/>
            <a:r>
              <a:rPr lang="en-US" altLang="zh-CN" sz="2800" dirty="0">
                <a:latin typeface="宋体" pitchFamily="2" charset="-122"/>
              </a:rPr>
              <a:t>C.W. Bachman</a:t>
            </a:r>
            <a:endParaRPr lang="en-US" altLang="zh-CN" sz="2800" dirty="0">
              <a:latin typeface="宋体" pitchFamily="2" charset="-122"/>
            </a:endParaRPr>
          </a:p>
          <a:p>
            <a:pPr marL="0" indent="0" eaLnBrk="1" hangingPunct="1">
              <a:buFont typeface="Wingdings" panose="05000000000000000000" pitchFamily="2" charset="2"/>
              <a:buNone/>
            </a:pPr>
            <a:r>
              <a:rPr lang="en-US" altLang="zh-CN" sz="2800" dirty="0">
                <a:latin typeface="宋体" pitchFamily="2" charset="-122"/>
              </a:rPr>
              <a:t>    </a:t>
            </a:r>
            <a:r>
              <a:rPr lang="zh-CN" altLang="en-US" sz="2800" dirty="0">
                <a:latin typeface="宋体" pitchFamily="2" charset="-122"/>
              </a:rPr>
              <a:t>网络</a:t>
            </a:r>
            <a:r>
              <a:rPr lang="en-US" altLang="zh-CN" sz="2800" dirty="0">
                <a:latin typeface="宋体" pitchFamily="2" charset="-122"/>
              </a:rPr>
              <a:t>DB</a:t>
            </a:r>
            <a:r>
              <a:rPr lang="zh-CN" altLang="en-US" sz="2800" dirty="0">
                <a:latin typeface="宋体" pitchFamily="2" charset="-122"/>
              </a:rPr>
              <a:t>之父，</a:t>
            </a:r>
            <a:r>
              <a:rPr lang="en-US" altLang="zh-CN" sz="2800" dirty="0">
                <a:latin typeface="宋体" pitchFamily="2" charset="-122"/>
              </a:rPr>
              <a:t>1964</a:t>
            </a:r>
            <a:r>
              <a:rPr lang="zh-CN" altLang="en-US" sz="2800" dirty="0">
                <a:latin typeface="宋体" pitchFamily="2" charset="-122"/>
              </a:rPr>
              <a:t>年研制网状数据库</a:t>
            </a:r>
            <a:r>
              <a:rPr lang="en-US" altLang="zh-CN" sz="2800" dirty="0">
                <a:latin typeface="宋体" pitchFamily="2" charset="-122"/>
              </a:rPr>
              <a:t>IDS (Integrated Data System)</a:t>
            </a:r>
            <a:r>
              <a:rPr lang="zh-CN" altLang="en-US" sz="2800" dirty="0">
                <a:latin typeface="宋体" pitchFamily="2" charset="-122"/>
              </a:rPr>
              <a:t>，推动了</a:t>
            </a:r>
            <a:r>
              <a:rPr lang="en-US" altLang="zh-CN" sz="2800" dirty="0">
                <a:latin typeface="宋体" pitchFamily="2" charset="-122"/>
              </a:rPr>
              <a:t>DBTG</a:t>
            </a:r>
            <a:r>
              <a:rPr lang="zh-CN" altLang="en-US" sz="2800" dirty="0">
                <a:latin typeface="宋体" pitchFamily="2" charset="-122"/>
              </a:rPr>
              <a:t>报告的制定，形成了</a:t>
            </a:r>
            <a:r>
              <a:rPr lang="zh-CN" altLang="en-US" sz="2800" dirty="0">
                <a:solidFill>
                  <a:srgbClr val="FF0000"/>
                </a:solidFill>
                <a:latin typeface="宋体" pitchFamily="2" charset="-122"/>
              </a:rPr>
              <a:t>网状数据库的标准</a:t>
            </a:r>
            <a:r>
              <a:rPr lang="zh-CN" altLang="en-US" sz="2800" dirty="0">
                <a:latin typeface="宋体" pitchFamily="2" charset="-122"/>
              </a:rPr>
              <a:t>，</a:t>
            </a:r>
            <a:r>
              <a:rPr lang="en-US" altLang="zh-CN" sz="2800" dirty="0">
                <a:latin typeface="宋体" pitchFamily="2" charset="-122"/>
              </a:rPr>
              <a:t>1973</a:t>
            </a:r>
            <a:r>
              <a:rPr lang="zh-CN" altLang="en-US" sz="2800" dirty="0">
                <a:latin typeface="宋体" pitchFamily="2" charset="-122"/>
              </a:rPr>
              <a:t>年获得图灵奖（</a:t>
            </a:r>
            <a:r>
              <a:rPr lang="en-US" altLang="zh-CN" sz="2800" dirty="0">
                <a:latin typeface="宋体" pitchFamily="2" charset="-122"/>
              </a:rPr>
              <a:t>ACM</a:t>
            </a:r>
            <a:r>
              <a:rPr lang="zh-CN" altLang="en-US" sz="2800" dirty="0">
                <a:latin typeface="宋体" pitchFamily="2" charset="-122"/>
              </a:rPr>
              <a:t>的最高奖）。</a:t>
            </a:r>
            <a:endParaRPr lang="zh-CN" altLang="en-US" sz="2800" dirty="0">
              <a:latin typeface="宋体" pitchFamily="2" charset="-122"/>
            </a:endParaRPr>
          </a:p>
        </p:txBody>
      </p:sp>
      <p:sp>
        <p:nvSpPr>
          <p:cNvPr id="6" name="灯片编号占位符 5"/>
          <p:cNvSpPr>
            <a:spLocks noGrp="1"/>
          </p:cNvSpPr>
          <p:nvPr>
            <p:ph type="sldNum" sz="quarter" idx="12"/>
          </p:nvPr>
        </p:nvSpPr>
        <p:spPr/>
        <p:txBody>
          <a:bodyPr/>
          <a:lstStyle/>
          <a:p>
            <a:pPr>
              <a:defRPr/>
            </a:pPr>
            <a:fld id="{803F00FD-B528-41E3-A572-290D3C0E0214}" type="slidenum">
              <a:rPr lang="en-US" altLang="zh-CN"/>
            </a:fld>
            <a:endParaRPr lang="en-US" altLang="zh-CN"/>
          </a:p>
        </p:txBody>
      </p:sp>
      <p:sp>
        <p:nvSpPr>
          <p:cNvPr id="5" name="对话气泡: 椭圆形 4"/>
          <p:cNvSpPr/>
          <p:nvPr/>
        </p:nvSpPr>
        <p:spPr>
          <a:xfrm>
            <a:off x="2987824" y="4221088"/>
            <a:ext cx="2160240" cy="432048"/>
          </a:xfrm>
          <a:prstGeom prst="wedgeEllipseCallout">
            <a:avLst>
              <a:gd name="adj1" fmla="val -31718"/>
              <a:gd name="adj2" fmla="val -120924"/>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描述能力</a:t>
            </a:r>
            <a:endParaRPr lang="zh-CN" altLang="en-US" dirty="0"/>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4" name="Rectangle 4"/>
          <p:cNvSpPr>
            <a:spLocks noGrp="1" noChangeArrowheads="1"/>
          </p:cNvSpPr>
          <p:nvPr>
            <p:ph type="title"/>
          </p:nvPr>
        </p:nvSpPr>
        <p:spPr>
          <a:xfrm>
            <a:off x="468313" y="515938"/>
            <a:ext cx="8162925" cy="762000"/>
          </a:xfrm>
        </p:spPr>
        <p:txBody>
          <a:bodyPr>
            <a:normAutofit fontScale="90000"/>
          </a:bodyPr>
          <a:lstStyle/>
          <a:p>
            <a:pPr eaLnBrk="1" fontAlgn="auto" hangingPunct="1">
              <a:spcAft>
                <a:spcPts val="0"/>
              </a:spcAft>
              <a:defRPr/>
            </a:pPr>
            <a:r>
              <a:rPr lang="zh-CN" altLang="en-US"/>
              <a:t>数据库领域的标志性人物</a:t>
            </a:r>
            <a:r>
              <a:rPr lang="en-US" altLang="zh-CN"/>
              <a:t>2</a:t>
            </a:r>
            <a:endParaRPr lang="en-US" altLang="zh-CN"/>
          </a:p>
        </p:txBody>
      </p:sp>
      <p:sp>
        <p:nvSpPr>
          <p:cNvPr id="94211" name="Rectangle 3"/>
          <p:cNvSpPr>
            <a:spLocks noGrp="1" noChangeArrowheads="1"/>
          </p:cNvSpPr>
          <p:nvPr>
            <p:ph idx="1"/>
          </p:nvPr>
        </p:nvSpPr>
        <p:spPr>
          <a:xfrm>
            <a:off x="395288" y="1524000"/>
            <a:ext cx="8110537" cy="4191000"/>
          </a:xfrm>
        </p:spPr>
        <p:txBody>
          <a:bodyPr/>
          <a:lstStyle/>
          <a:p>
            <a:pPr marL="0" indent="0" eaLnBrk="1" hangingPunct="1"/>
            <a:r>
              <a:rPr lang="en-US" altLang="zh-CN" sz="2800" dirty="0">
                <a:latin typeface="宋体" pitchFamily="2" charset="-122"/>
              </a:rPr>
              <a:t>E.F. codd</a:t>
            </a:r>
            <a:endParaRPr lang="en-US" altLang="zh-CN" sz="2800" dirty="0">
              <a:latin typeface="宋体" pitchFamily="2" charset="-122"/>
            </a:endParaRPr>
          </a:p>
          <a:p>
            <a:pPr marL="0" indent="0" eaLnBrk="1" hangingPunct="1">
              <a:buFont typeface="Wingdings" panose="05000000000000000000" pitchFamily="2" charset="2"/>
              <a:buNone/>
            </a:pPr>
            <a:r>
              <a:rPr lang="zh-CN" altLang="en-US" sz="2800" dirty="0">
                <a:latin typeface="宋体" pitchFamily="2" charset="-122"/>
              </a:rPr>
              <a:t>    关系数据库之父，</a:t>
            </a:r>
            <a:r>
              <a:rPr lang="en-US" altLang="zh-CN" sz="2800" dirty="0">
                <a:latin typeface="宋体" pitchFamily="2" charset="-122"/>
              </a:rPr>
              <a:t>1970</a:t>
            </a:r>
            <a:r>
              <a:rPr lang="zh-CN" altLang="en-US" sz="2800" dirty="0">
                <a:latin typeface="宋体" pitchFamily="2" charset="-122"/>
              </a:rPr>
              <a:t>年发表了一系列关系</a:t>
            </a:r>
            <a:r>
              <a:rPr lang="en-US" altLang="zh-CN" sz="2800" dirty="0">
                <a:latin typeface="宋体" pitchFamily="2" charset="-122"/>
              </a:rPr>
              <a:t>DB</a:t>
            </a:r>
            <a:r>
              <a:rPr lang="zh-CN" altLang="en-US" sz="2800" dirty="0">
                <a:latin typeface="宋体" pitchFamily="2" charset="-122"/>
              </a:rPr>
              <a:t>的论文，以此撰写了博士论文，是</a:t>
            </a:r>
            <a:r>
              <a:rPr lang="zh-CN" altLang="en-US" sz="2800" dirty="0">
                <a:solidFill>
                  <a:srgbClr val="FF0000"/>
                </a:solidFill>
                <a:latin typeface="宋体" pitchFamily="2" charset="-122"/>
              </a:rPr>
              <a:t>关系数据库的数学理论</a:t>
            </a:r>
            <a:r>
              <a:rPr lang="zh-CN" altLang="en-US" sz="2800" dirty="0">
                <a:latin typeface="宋体" pitchFamily="2" charset="-122"/>
              </a:rPr>
              <a:t>的奠基人，</a:t>
            </a:r>
            <a:r>
              <a:rPr lang="en-US" altLang="zh-CN" sz="2800" dirty="0">
                <a:latin typeface="宋体" pitchFamily="2" charset="-122"/>
              </a:rPr>
              <a:t>1981</a:t>
            </a:r>
            <a:r>
              <a:rPr lang="zh-CN" altLang="en-US" sz="2800" dirty="0">
                <a:latin typeface="宋体" pitchFamily="2" charset="-122"/>
              </a:rPr>
              <a:t>年获得图灵奖。</a:t>
            </a:r>
            <a:endParaRPr lang="zh-CN" altLang="en-US" sz="2800" dirty="0">
              <a:latin typeface="宋体" pitchFamily="2" charset="-122"/>
            </a:endParaRPr>
          </a:p>
        </p:txBody>
      </p:sp>
      <p:sp>
        <p:nvSpPr>
          <p:cNvPr id="6" name="灯片编号占位符 5"/>
          <p:cNvSpPr>
            <a:spLocks noGrp="1"/>
          </p:cNvSpPr>
          <p:nvPr>
            <p:ph type="sldNum" sz="quarter" idx="12"/>
          </p:nvPr>
        </p:nvSpPr>
        <p:spPr/>
        <p:txBody>
          <a:bodyPr/>
          <a:lstStyle/>
          <a:p>
            <a:pPr>
              <a:defRPr/>
            </a:pPr>
            <a:fld id="{538D2D17-5D23-43E8-92A5-C3ED409E5775}" type="slidenum">
              <a:rPr lang="en-US" altLang="zh-CN"/>
            </a:fld>
            <a:endParaRPr lang="en-US" altLang="zh-CN"/>
          </a:p>
        </p:txBody>
      </p:sp>
      <p:sp>
        <p:nvSpPr>
          <p:cNvPr id="2" name="对话气泡: 椭圆形 1"/>
          <p:cNvSpPr/>
          <p:nvPr/>
        </p:nvSpPr>
        <p:spPr>
          <a:xfrm>
            <a:off x="2987824" y="4221088"/>
            <a:ext cx="2160240" cy="432048"/>
          </a:xfrm>
          <a:prstGeom prst="wedgeEllipseCallout">
            <a:avLst>
              <a:gd name="adj1" fmla="val -31718"/>
              <a:gd name="adj2" fmla="val -120924"/>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生产效率</a:t>
            </a:r>
            <a:endParaRPr lang="zh-CN" altLang="en-US" dirty="0"/>
          </a:p>
        </p:txBody>
      </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a:xfrm>
            <a:off x="539750" y="587375"/>
            <a:ext cx="8162925" cy="762000"/>
          </a:xfrm>
        </p:spPr>
        <p:txBody>
          <a:bodyPr>
            <a:normAutofit fontScale="90000"/>
          </a:bodyPr>
          <a:lstStyle/>
          <a:p>
            <a:pPr eaLnBrk="1" fontAlgn="auto" hangingPunct="1">
              <a:spcAft>
                <a:spcPts val="0"/>
              </a:spcAft>
              <a:defRPr/>
            </a:pPr>
            <a:r>
              <a:rPr lang="zh-CN" altLang="en-US"/>
              <a:t>数据库领域的标志性人物</a:t>
            </a:r>
            <a:r>
              <a:rPr lang="en-US" altLang="zh-CN"/>
              <a:t>3</a:t>
            </a:r>
            <a:endParaRPr lang="en-US" altLang="zh-CN"/>
          </a:p>
        </p:txBody>
      </p:sp>
      <p:sp>
        <p:nvSpPr>
          <p:cNvPr id="95235" name="Rectangle 3"/>
          <p:cNvSpPr>
            <a:spLocks noGrp="1" noChangeArrowheads="1"/>
          </p:cNvSpPr>
          <p:nvPr>
            <p:ph idx="1"/>
          </p:nvPr>
        </p:nvSpPr>
        <p:spPr>
          <a:xfrm>
            <a:off x="468313" y="1524000"/>
            <a:ext cx="8110537" cy="4191000"/>
          </a:xfrm>
        </p:spPr>
        <p:txBody>
          <a:bodyPr/>
          <a:lstStyle/>
          <a:p>
            <a:pPr marL="0" indent="0" eaLnBrk="1" hangingPunct="1"/>
            <a:r>
              <a:rPr lang="en-US" altLang="zh-CN" sz="2800" dirty="0">
                <a:latin typeface="宋体" pitchFamily="2" charset="-122"/>
              </a:rPr>
              <a:t>James Gray</a:t>
            </a:r>
            <a:endParaRPr lang="en-US" altLang="zh-CN" sz="2800" dirty="0">
              <a:latin typeface="宋体" pitchFamily="2" charset="-122"/>
            </a:endParaRPr>
          </a:p>
          <a:p>
            <a:pPr marL="0" indent="0" eaLnBrk="1" hangingPunct="1">
              <a:buFont typeface="Wingdings" panose="05000000000000000000" pitchFamily="2" charset="2"/>
              <a:buNone/>
            </a:pPr>
            <a:r>
              <a:rPr lang="zh-CN" altLang="en-US" sz="2800" dirty="0">
                <a:latin typeface="宋体" pitchFamily="2" charset="-122"/>
              </a:rPr>
              <a:t>    关系数据库的基本理论逐渐成熟的情况下，针对如何保障数据的</a:t>
            </a:r>
            <a:r>
              <a:rPr lang="zh-CN" altLang="en-US" sz="2800" dirty="0">
                <a:solidFill>
                  <a:srgbClr val="FF0000"/>
                </a:solidFill>
                <a:latin typeface="宋体" pitchFamily="2" charset="-122"/>
              </a:rPr>
              <a:t>完整性、安全性、并发性以及故障恢复的能力</a:t>
            </a:r>
            <a:r>
              <a:rPr lang="zh-CN" altLang="en-US" sz="2800" dirty="0">
                <a:latin typeface="宋体" pitchFamily="2" charset="-122"/>
              </a:rPr>
              <a:t>等技术问题给出了</a:t>
            </a:r>
            <a:r>
              <a:rPr lang="zh-CN" altLang="en-US" sz="2800" dirty="0">
                <a:solidFill>
                  <a:srgbClr val="FF0000"/>
                </a:solidFill>
                <a:latin typeface="宋体" pitchFamily="2" charset="-122"/>
              </a:rPr>
              <a:t>系统的解决方案</a:t>
            </a:r>
            <a:r>
              <a:rPr lang="zh-CN" altLang="en-US" sz="2800" dirty="0">
                <a:latin typeface="宋体" pitchFamily="2" charset="-122"/>
              </a:rPr>
              <a:t>，开拓了</a:t>
            </a:r>
            <a:r>
              <a:rPr lang="zh-CN" altLang="en-US" sz="2800" dirty="0">
                <a:solidFill>
                  <a:srgbClr val="FF0000"/>
                </a:solidFill>
                <a:latin typeface="宋体" pitchFamily="2" charset="-122"/>
              </a:rPr>
              <a:t>事务处理的研究领域</a:t>
            </a:r>
            <a:r>
              <a:rPr lang="zh-CN" altLang="en-US" sz="2800" dirty="0">
                <a:latin typeface="宋体" pitchFamily="2" charset="-122"/>
              </a:rPr>
              <a:t>，</a:t>
            </a:r>
            <a:r>
              <a:rPr lang="en-US" altLang="zh-CN" sz="2800" dirty="0">
                <a:latin typeface="宋体" pitchFamily="2" charset="-122"/>
              </a:rPr>
              <a:t>1998</a:t>
            </a:r>
            <a:r>
              <a:rPr lang="zh-CN" altLang="en-US" sz="2800" dirty="0">
                <a:latin typeface="宋体" pitchFamily="2" charset="-122"/>
              </a:rPr>
              <a:t>年获得图灵奖。</a:t>
            </a:r>
            <a:endParaRPr lang="zh-CN" altLang="en-US" sz="2800" dirty="0">
              <a:latin typeface="宋体" pitchFamily="2" charset="-122"/>
            </a:endParaRPr>
          </a:p>
        </p:txBody>
      </p:sp>
      <p:sp>
        <p:nvSpPr>
          <p:cNvPr id="6" name="灯片编号占位符 5"/>
          <p:cNvSpPr>
            <a:spLocks noGrp="1"/>
          </p:cNvSpPr>
          <p:nvPr>
            <p:ph type="sldNum" sz="quarter" idx="12"/>
          </p:nvPr>
        </p:nvSpPr>
        <p:spPr/>
        <p:txBody>
          <a:bodyPr/>
          <a:lstStyle/>
          <a:p>
            <a:pPr>
              <a:defRPr/>
            </a:pPr>
            <a:fld id="{3AD631F6-44A4-42EB-95A2-EF58ECA87B9C}" type="slidenum">
              <a:rPr lang="en-US" altLang="zh-CN"/>
            </a:fld>
            <a:endParaRPr lang="en-US" altLang="zh-CN"/>
          </a:p>
        </p:txBody>
      </p:sp>
      <p:sp>
        <p:nvSpPr>
          <p:cNvPr id="5" name="对话气泡: 椭圆形 4"/>
          <p:cNvSpPr/>
          <p:nvPr/>
        </p:nvSpPr>
        <p:spPr>
          <a:xfrm>
            <a:off x="3059832" y="4653136"/>
            <a:ext cx="2664296" cy="432048"/>
          </a:xfrm>
          <a:prstGeom prst="wedgeEllipseCallout">
            <a:avLst>
              <a:gd name="adj1" fmla="val -31718"/>
              <a:gd name="adj2" fmla="val -120924"/>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Transaction</a:t>
            </a:r>
            <a:endParaRPr lang="zh-CN" altLang="en-US" dirty="0"/>
          </a:p>
        </p:txBody>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2"/>
          </p:nvPr>
        </p:nvSpPr>
        <p:spPr/>
        <p:txBody>
          <a:bodyPr/>
          <a:lstStyle/>
          <a:p>
            <a:pPr>
              <a:defRPr/>
            </a:pPr>
            <a:fld id="{21C13673-BA40-4FD6-83B1-AF3E4F9A7D97}" type="slidenum">
              <a:rPr lang="en-US" altLang="zh-CN"/>
            </a:fld>
            <a:endParaRPr lang="en-US" altLang="zh-CN"/>
          </a:p>
        </p:txBody>
      </p:sp>
      <p:sp>
        <p:nvSpPr>
          <p:cNvPr id="96259" name="Text Box 2"/>
          <p:cNvSpPr txBox="1">
            <a:spLocks noChangeArrowheads="1"/>
          </p:cNvSpPr>
          <p:nvPr/>
        </p:nvSpPr>
        <p:spPr bwMode="auto">
          <a:xfrm>
            <a:off x="381000" y="465138"/>
            <a:ext cx="4911725" cy="1249362"/>
          </a:xfrm>
          <a:prstGeom prst="rect">
            <a:avLst/>
          </a:prstGeom>
          <a:noFill/>
          <a:ln w="9525">
            <a:noFill/>
            <a:miter lim="800000"/>
          </a:ln>
        </p:spPr>
        <p:txBody>
          <a:bodyPr>
            <a:spAutoFit/>
          </a:bodyPr>
          <a:lstStyle/>
          <a:p>
            <a:r>
              <a:rPr lang="en-US" altLang="zh-CN" sz="2800" b="1">
                <a:latin typeface="Arial" panose="020B0604020202090204" pitchFamily="34" charset="0"/>
                <a:cs typeface="Arial" panose="020B0604020202090204" pitchFamily="34" charset="0"/>
              </a:rPr>
              <a:t>1.3  DBS</a:t>
            </a:r>
            <a:r>
              <a:rPr lang="zh-CN" altLang="en-US" sz="2800" b="1">
                <a:latin typeface="Arial" panose="020B0604020202090204" pitchFamily="34" charset="0"/>
                <a:ea typeface="黑体" panose="02010609060101010101" pitchFamily="49" charset="-122"/>
              </a:rPr>
              <a:t>结构</a:t>
            </a:r>
            <a:endParaRPr lang="zh-CN" altLang="en-US" sz="2800" b="1">
              <a:latin typeface="Arial" panose="020B0604020202090204" pitchFamily="34" charset="0"/>
              <a:cs typeface="Arial" panose="020B0604020202090204" pitchFamily="34" charset="0"/>
            </a:endParaRPr>
          </a:p>
          <a:p>
            <a:r>
              <a:rPr lang="en-US" altLang="zh-CN" b="1">
                <a:ea typeface="黑体" panose="02010609060101010101" pitchFamily="49" charset="-122"/>
              </a:rPr>
              <a:t>1.3.1 </a:t>
            </a:r>
            <a:r>
              <a:rPr lang="zh-CN" altLang="en-US" b="1">
                <a:ea typeface="黑体" panose="02010609060101010101" pitchFamily="49" charset="-122"/>
              </a:rPr>
              <a:t>三层模式结构</a:t>
            </a:r>
            <a:endParaRPr lang="zh-CN" altLang="en-US" b="1">
              <a:ea typeface="黑体" panose="02010609060101010101" pitchFamily="49" charset="-122"/>
            </a:endParaRPr>
          </a:p>
          <a:p>
            <a:endParaRPr lang="en-US" altLang="zh-CN"/>
          </a:p>
        </p:txBody>
      </p:sp>
      <p:sp>
        <p:nvSpPr>
          <p:cNvPr id="96260" name="AutoShape 5"/>
          <p:cNvSpPr>
            <a:spLocks noChangeArrowheads="1"/>
          </p:cNvSpPr>
          <p:nvPr/>
        </p:nvSpPr>
        <p:spPr bwMode="auto">
          <a:xfrm>
            <a:off x="8101013" y="620713"/>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pic>
        <p:nvPicPr>
          <p:cNvPr id="96261" name="Picture 6" descr="三层模式两级映像"/>
          <p:cNvPicPr>
            <a:picLocks noChangeAspect="1" noChangeArrowheads="1"/>
          </p:cNvPicPr>
          <p:nvPr/>
        </p:nvPicPr>
        <p:blipFill>
          <a:blip r:embed="rId1" cstate="print"/>
          <a:srcRect/>
          <a:stretch>
            <a:fillRect/>
          </a:stretch>
        </p:blipFill>
        <p:spPr bwMode="auto">
          <a:xfrm>
            <a:off x="1042988" y="1316038"/>
            <a:ext cx="6696075" cy="5470525"/>
          </a:xfrm>
          <a:prstGeom prst="rect">
            <a:avLst/>
          </a:prstGeom>
          <a:noFill/>
          <a:ln w="9525">
            <a:noFill/>
            <a:miter lim="800000"/>
            <a:headEnd/>
            <a:tailEnd/>
          </a:ln>
        </p:spPr>
      </p:pic>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E32DE433-23F1-45CB-BBBE-58AADB1B63D9}" type="slidenum">
              <a:rPr lang="en-US" altLang="zh-CN"/>
            </a:fld>
            <a:endParaRPr lang="en-US" altLang="zh-CN"/>
          </a:p>
        </p:txBody>
      </p:sp>
      <p:sp>
        <p:nvSpPr>
          <p:cNvPr id="97283" name="Text Box 2"/>
          <p:cNvSpPr txBox="1">
            <a:spLocks noChangeArrowheads="1"/>
          </p:cNvSpPr>
          <p:nvPr/>
        </p:nvSpPr>
        <p:spPr bwMode="auto">
          <a:xfrm>
            <a:off x="365125" y="717550"/>
            <a:ext cx="9110186" cy="5262979"/>
          </a:xfrm>
          <a:prstGeom prst="rect">
            <a:avLst/>
          </a:prstGeom>
          <a:noFill/>
          <a:ln w="9525">
            <a:noFill/>
            <a:miter lim="800000"/>
          </a:ln>
        </p:spPr>
        <p:txBody>
          <a:bodyPr wrap="none">
            <a:spAutoFit/>
          </a:bodyPr>
          <a:lstStyle/>
          <a:p>
            <a:r>
              <a:rPr lang="en-US" altLang="zh-CN" b="1" dirty="0">
                <a:ea typeface="黑体" panose="02010609060101010101" pitchFamily="49" charset="-122"/>
              </a:rPr>
              <a:t>1.3.1.1</a:t>
            </a:r>
            <a:r>
              <a:rPr lang="zh-CN" altLang="en-US" b="1" dirty="0">
                <a:ea typeface="黑体" panose="02010609060101010101" pitchFamily="49" charset="-122"/>
              </a:rPr>
              <a:t>有关概念</a:t>
            </a:r>
            <a:endParaRPr lang="zh-CN" altLang="en-US" b="1" dirty="0">
              <a:ea typeface="黑体" panose="02010609060101010101" pitchFamily="49" charset="-122"/>
            </a:endParaRPr>
          </a:p>
          <a:p>
            <a:r>
              <a:rPr lang="en-US" altLang="zh-CN" dirty="0">
                <a:latin typeface="Arial" panose="020B0604020202090204" pitchFamily="34" charset="0"/>
                <a:ea typeface="黑体" panose="02010609060101010101" pitchFamily="49" charset="-122"/>
              </a:rPr>
              <a:t>1.</a:t>
            </a:r>
            <a:r>
              <a:rPr lang="zh-CN" altLang="en-US" dirty="0">
                <a:latin typeface="Arial" panose="020B0604020202090204" pitchFamily="34" charset="0"/>
                <a:ea typeface="黑体" panose="02010609060101010101" pitchFamily="49" charset="-122"/>
              </a:rPr>
              <a:t>模式（</a:t>
            </a:r>
            <a:r>
              <a:rPr lang="en-US" altLang="zh-CN" dirty="0">
                <a:latin typeface="Arial" panose="020B0604020202090204" pitchFamily="34" charset="0"/>
                <a:ea typeface="黑体" panose="02010609060101010101" pitchFamily="49" charset="-122"/>
              </a:rPr>
              <a:t>schema</a:t>
            </a:r>
            <a:r>
              <a:rPr lang="zh-CN" altLang="en-US" dirty="0">
                <a:latin typeface="Arial" panose="020B0604020202090204" pitchFamily="34" charset="0"/>
                <a:ea typeface="黑体" panose="02010609060101010101" pitchFamily="49" charset="-122"/>
              </a:rPr>
              <a:t>）</a:t>
            </a:r>
            <a:endParaRPr lang="zh-CN" altLang="en-US" dirty="0">
              <a:latin typeface="Arial" panose="020B0604020202090204" pitchFamily="34" charset="0"/>
              <a:ea typeface="黑体" panose="02010609060101010101" pitchFamily="49" charset="-122"/>
            </a:endParaRPr>
          </a:p>
          <a:p>
            <a:r>
              <a:rPr lang="en-US" altLang="zh-CN" dirty="0">
                <a:latin typeface="Times New Roman" panose="02020503050405090304" pitchFamily="18" charset="0"/>
              </a:rPr>
              <a:t>——</a:t>
            </a:r>
            <a:r>
              <a:rPr lang="zh-CN" altLang="en-US" dirty="0">
                <a:solidFill>
                  <a:srgbClr val="FF0000"/>
                </a:solidFill>
              </a:rPr>
              <a:t>数据库</a:t>
            </a:r>
            <a:r>
              <a:rPr lang="zh-CN" altLang="en-US" dirty="0">
                <a:solidFill>
                  <a:srgbClr val="FF0000"/>
                </a:solidFill>
                <a:latin typeface="Times New Roman" panose="02020503050405090304" pitchFamily="18" charset="0"/>
              </a:rPr>
              <a:t>中全体数据的逻辑结构及其特征的说明。</a:t>
            </a:r>
            <a:endParaRPr lang="zh-CN" altLang="en-US" dirty="0">
              <a:solidFill>
                <a:srgbClr val="FF0000"/>
              </a:solidFill>
            </a:endParaRPr>
          </a:p>
          <a:p>
            <a:pPr marL="342900" indent="-342900">
              <a:buClr>
                <a:schemeClr val="accent3"/>
              </a:buClr>
              <a:buFont typeface="Wingdings" panose="05000000000000000000" pitchFamily="2" charset="2"/>
              <a:buChar char="Ø"/>
            </a:pPr>
            <a:r>
              <a:rPr lang="zh-CN" altLang="en-US" dirty="0">
                <a:latin typeface="Times New Roman" panose="02020503050405090304" pitchFamily="18" charset="0"/>
              </a:rPr>
              <a:t>全体性</a:t>
            </a:r>
            <a:endParaRPr lang="zh-CN" altLang="en-US" dirty="0"/>
          </a:p>
          <a:p>
            <a:pPr marL="342900" indent="-342900">
              <a:buClr>
                <a:schemeClr val="accent3"/>
              </a:buClr>
              <a:buFont typeface="Wingdings" panose="05000000000000000000" pitchFamily="2" charset="2"/>
              <a:buChar char="Ø"/>
            </a:pPr>
            <a:r>
              <a:rPr lang="zh-CN" altLang="en-US" dirty="0">
                <a:latin typeface="Times New Roman" panose="02020503050405090304" pitchFamily="18" charset="0"/>
              </a:rPr>
              <a:t>逻辑性：</a:t>
            </a:r>
            <a:r>
              <a:rPr lang="en-US" altLang="zh-CN" dirty="0"/>
              <a:t>student(XH, XM, NL)</a:t>
            </a:r>
            <a:endParaRPr lang="en-US" altLang="zh-CN" dirty="0"/>
          </a:p>
          <a:p>
            <a:pPr marL="342900" indent="-342900">
              <a:buClr>
                <a:schemeClr val="accent3"/>
              </a:buClr>
              <a:buFont typeface="Wingdings" panose="05000000000000000000" pitchFamily="2" charset="2"/>
              <a:buChar char="Ø"/>
            </a:pPr>
            <a:r>
              <a:rPr lang="zh-CN" altLang="en-US" dirty="0">
                <a:latin typeface="Times New Roman" panose="02020503050405090304" pitchFamily="18" charset="0"/>
              </a:rPr>
              <a:t>特征描述：名称、数据、类型、长度、约束</a:t>
            </a:r>
            <a:endParaRPr lang="zh-CN" altLang="en-US" dirty="0"/>
          </a:p>
          <a:p>
            <a:pPr marL="342900" indent="-342900">
              <a:buClr>
                <a:schemeClr val="accent3"/>
              </a:buClr>
              <a:buFont typeface="Wingdings" panose="05000000000000000000" pitchFamily="2" charset="2"/>
              <a:buChar char="Ø"/>
            </a:pPr>
            <a:r>
              <a:rPr lang="zh-CN" altLang="en-US" dirty="0">
                <a:latin typeface="Times New Roman" panose="02020503050405090304" pitchFamily="18" charset="0"/>
              </a:rPr>
              <a:t>说明性：上述结构及特征的表示程序。</a:t>
            </a:r>
            <a:endParaRPr lang="zh-CN" altLang="en-US" dirty="0"/>
          </a:p>
          <a:p>
            <a:r>
              <a:rPr lang="zh-CN" altLang="en-US" dirty="0"/>
              <a:t>  </a:t>
            </a:r>
            <a:r>
              <a:rPr lang="zh-CN" altLang="en-US" dirty="0">
                <a:latin typeface="Times New Roman" panose="02020503050405090304" pitchFamily="18" charset="0"/>
              </a:rPr>
              <a:t>用特定语言写的表达上述结构及特征的程序。</a:t>
            </a:r>
            <a:endParaRPr lang="zh-CN" altLang="en-US" dirty="0"/>
          </a:p>
          <a:p>
            <a:r>
              <a:rPr lang="en-US" altLang="zh-CN" b="1" dirty="0">
                <a:latin typeface="Arial" panose="020B0604020202090204" pitchFamily="34" charset="0"/>
                <a:cs typeface="Arial" panose="020B0604020202090204" pitchFamily="34" charset="0"/>
              </a:rPr>
              <a:t>2.</a:t>
            </a:r>
            <a:r>
              <a:rPr lang="zh-CN" altLang="en-US" b="1" dirty="0">
                <a:latin typeface="Arial" panose="020B0604020202090204" pitchFamily="34" charset="0"/>
                <a:ea typeface="黑体" panose="02010609060101010101" pitchFamily="49" charset="-122"/>
              </a:rPr>
              <a:t>外模式（</a:t>
            </a:r>
            <a:r>
              <a:rPr lang="en-US" altLang="zh-CN" b="1" dirty="0">
                <a:latin typeface="Arial" panose="020B0604020202090204" pitchFamily="34" charset="0"/>
                <a:cs typeface="Arial" panose="020B0604020202090204" pitchFamily="34" charset="0"/>
              </a:rPr>
              <a:t>External schema</a:t>
            </a:r>
            <a:r>
              <a:rPr lang="zh-CN" altLang="en-US" b="1" dirty="0">
                <a:latin typeface="Arial" panose="020B0604020202090204" pitchFamily="34" charset="0"/>
                <a:ea typeface="黑体" panose="02010609060101010101" pitchFamily="49" charset="-122"/>
              </a:rPr>
              <a:t>）</a:t>
            </a:r>
            <a:r>
              <a:rPr lang="zh-CN" altLang="en-US" dirty="0">
                <a:latin typeface="Times New Roman" panose="02020503050405090304" pitchFamily="18" charset="0"/>
              </a:rPr>
              <a:t>（</a:t>
            </a:r>
            <a:r>
              <a:rPr lang="en-US" altLang="zh-CN" dirty="0"/>
              <a:t>subschema</a:t>
            </a:r>
            <a:r>
              <a:rPr lang="zh-CN" altLang="en-US" dirty="0">
                <a:latin typeface="Times New Roman" panose="02020503050405090304" pitchFamily="18" charset="0"/>
              </a:rPr>
              <a:t>）</a:t>
            </a:r>
            <a:endParaRPr lang="zh-CN" altLang="en-US" dirty="0"/>
          </a:p>
          <a:p>
            <a:r>
              <a:rPr lang="en-US" altLang="zh-CN" dirty="0">
                <a:latin typeface="Times New Roman" panose="02020503050405090304" pitchFamily="18" charset="0"/>
              </a:rPr>
              <a:t>——</a:t>
            </a:r>
            <a:r>
              <a:rPr lang="zh-CN" altLang="en-US" dirty="0">
                <a:solidFill>
                  <a:srgbClr val="FF0000"/>
                </a:solidFill>
              </a:rPr>
              <a:t>数据库</a:t>
            </a:r>
            <a:r>
              <a:rPr lang="zh-CN" altLang="en-US" dirty="0">
                <a:solidFill>
                  <a:srgbClr val="FF0000"/>
                </a:solidFill>
                <a:latin typeface="Times New Roman" panose="02020503050405090304" pitchFamily="18" charset="0"/>
              </a:rPr>
              <a:t>中局部（局部用户）数据的逻辑结构及其特征的说明。</a:t>
            </a:r>
            <a:endParaRPr lang="zh-CN" altLang="en-US" dirty="0">
              <a:solidFill>
                <a:srgbClr val="FF0000"/>
              </a:solidFill>
            </a:endParaRPr>
          </a:p>
          <a:p>
            <a:r>
              <a:rPr lang="en-US" altLang="zh-CN" dirty="0"/>
              <a:t>1</a:t>
            </a:r>
            <a:r>
              <a:rPr lang="zh-CN" altLang="en-US" dirty="0">
                <a:latin typeface="Times New Roman" panose="02020503050405090304" pitchFamily="18" charset="0"/>
              </a:rPr>
              <a:t>）外模式是模式的“子集”</a:t>
            </a:r>
            <a:endParaRPr lang="zh-CN" altLang="en-US" dirty="0"/>
          </a:p>
          <a:p>
            <a:r>
              <a:rPr lang="en-US" altLang="zh-CN" dirty="0"/>
              <a:t>Student (XH, XM, XB, YL)</a:t>
            </a:r>
            <a:endParaRPr lang="en-US" altLang="zh-CN" dirty="0"/>
          </a:p>
          <a:p>
            <a:r>
              <a:rPr lang="en-US" altLang="zh-CN" dirty="0"/>
              <a:t>Course (KH,KM)</a:t>
            </a:r>
            <a:endParaRPr lang="en-US" altLang="zh-CN" dirty="0"/>
          </a:p>
          <a:p>
            <a:r>
              <a:rPr lang="en-US" altLang="zh-CN" dirty="0"/>
              <a:t>SC(XH,KH,CJ)</a:t>
            </a:r>
            <a:endParaRPr lang="en-US" altLang="zh-CN" dirty="0"/>
          </a:p>
        </p:txBody>
      </p:sp>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BCE39FAC-BF8A-491D-B437-9AFE29AC5FEB}" type="slidenum">
              <a:rPr lang="en-US" altLang="zh-CN"/>
            </a:fld>
            <a:endParaRPr lang="en-US" altLang="zh-CN"/>
          </a:p>
        </p:txBody>
      </p:sp>
      <p:sp>
        <p:nvSpPr>
          <p:cNvPr id="98307" name="Text Box 2"/>
          <p:cNvSpPr txBox="1">
            <a:spLocks noChangeArrowheads="1"/>
          </p:cNvSpPr>
          <p:nvPr/>
        </p:nvSpPr>
        <p:spPr bwMode="auto">
          <a:xfrm>
            <a:off x="461107" y="429291"/>
            <a:ext cx="8225693" cy="6109621"/>
          </a:xfrm>
          <a:prstGeom prst="rect">
            <a:avLst/>
          </a:prstGeom>
          <a:noFill/>
          <a:ln w="9525">
            <a:noFill/>
            <a:miter lim="800000"/>
          </a:ln>
        </p:spPr>
        <p:txBody>
          <a:bodyPr wrap="square">
            <a:spAutoFit/>
          </a:bodyPr>
          <a:lstStyle/>
          <a:p>
            <a:pPr>
              <a:lnSpc>
                <a:spcPct val="150000"/>
              </a:lnSpc>
            </a:pPr>
            <a:r>
              <a:rPr lang="en-US" altLang="zh-CN" dirty="0">
                <a:latin typeface="Times New Roman" panose="02020503050405090304" pitchFamily="18" charset="0"/>
              </a:rPr>
              <a:t>①</a:t>
            </a:r>
            <a:r>
              <a:rPr lang="zh-CN" altLang="en-US" dirty="0">
                <a:latin typeface="Times New Roman" panose="02020503050405090304" pitchFamily="18" charset="0"/>
              </a:rPr>
              <a:t>单关系子集</a:t>
            </a:r>
            <a:endParaRPr lang="zh-CN" altLang="en-US" dirty="0"/>
          </a:p>
          <a:p>
            <a:pPr>
              <a:lnSpc>
                <a:spcPct val="150000"/>
              </a:lnSpc>
            </a:pPr>
            <a:r>
              <a:rPr lang="en-US" altLang="zh-CN" dirty="0"/>
              <a:t>student (XH,XM)</a:t>
            </a:r>
            <a:endParaRPr lang="en-US" altLang="zh-CN" dirty="0"/>
          </a:p>
          <a:p>
            <a:pPr>
              <a:lnSpc>
                <a:spcPct val="150000"/>
              </a:lnSpc>
            </a:pPr>
            <a:r>
              <a:rPr lang="en-US" altLang="zh-CN" dirty="0">
                <a:latin typeface="Times New Roman" panose="02020503050405090304" pitchFamily="18" charset="0"/>
              </a:rPr>
              <a:t>②</a:t>
            </a:r>
            <a:r>
              <a:rPr lang="zh-CN" altLang="en-US" dirty="0">
                <a:latin typeface="Times New Roman" panose="02020503050405090304" pitchFamily="18" charset="0"/>
              </a:rPr>
              <a:t>多关系子集</a:t>
            </a:r>
            <a:endParaRPr lang="zh-CN" altLang="en-US" dirty="0"/>
          </a:p>
          <a:p>
            <a:pPr>
              <a:lnSpc>
                <a:spcPct val="150000"/>
              </a:lnSpc>
            </a:pPr>
            <a:r>
              <a:rPr lang="en-US" altLang="zh-CN" dirty="0"/>
              <a:t>SCE(XH,KH,XM,CJ)</a:t>
            </a:r>
            <a:endParaRPr lang="en-US" altLang="zh-CN" dirty="0"/>
          </a:p>
          <a:p>
            <a:pPr>
              <a:lnSpc>
                <a:spcPct val="150000"/>
              </a:lnSpc>
            </a:pPr>
            <a:r>
              <a:rPr lang="en-US" altLang="zh-CN" dirty="0"/>
              <a:t>2)</a:t>
            </a:r>
            <a:r>
              <a:rPr lang="zh-CN" altLang="en-US" dirty="0">
                <a:latin typeface="Times New Roman" panose="02020503050405090304" pitchFamily="18" charset="0"/>
              </a:rPr>
              <a:t>外模式间可相互重叠</a:t>
            </a:r>
            <a:endParaRPr lang="zh-CN" altLang="en-US" dirty="0"/>
          </a:p>
          <a:p>
            <a:pPr>
              <a:lnSpc>
                <a:spcPct val="150000"/>
              </a:lnSpc>
            </a:pPr>
            <a:r>
              <a:rPr lang="en-US" altLang="zh-CN" dirty="0"/>
              <a:t>3)</a:t>
            </a:r>
            <a:r>
              <a:rPr lang="zh-CN" altLang="en-US" dirty="0">
                <a:latin typeface="Times New Roman" panose="02020503050405090304" pitchFamily="18" charset="0"/>
              </a:rPr>
              <a:t>可不同于模式</a:t>
            </a:r>
            <a:endParaRPr lang="zh-CN" altLang="en-US" dirty="0"/>
          </a:p>
          <a:p>
            <a:pPr>
              <a:lnSpc>
                <a:spcPct val="150000"/>
              </a:lnSpc>
            </a:pPr>
            <a:r>
              <a:rPr lang="zh-CN" altLang="en-US" dirty="0">
                <a:latin typeface="Times New Roman" panose="02020503050405090304" pitchFamily="18" charset="0"/>
              </a:rPr>
              <a:t>	命名、数据类型、安全约束、结构</a:t>
            </a:r>
            <a:endParaRPr lang="zh-CN" altLang="en-US" dirty="0"/>
          </a:p>
          <a:p>
            <a:pPr>
              <a:lnSpc>
                <a:spcPct val="150000"/>
              </a:lnSpc>
            </a:pPr>
            <a:r>
              <a:rPr lang="en-US" altLang="zh-CN" dirty="0"/>
              <a:t>4</a:t>
            </a:r>
            <a:r>
              <a:rPr lang="zh-CN" altLang="en-US" dirty="0">
                <a:latin typeface="Times New Roman" panose="02020503050405090304" pitchFamily="18" charset="0"/>
              </a:rPr>
              <a:t>）虚结构：数据仍按原关系模式存储。</a:t>
            </a:r>
            <a:endParaRPr lang="zh-CN" altLang="en-US" dirty="0"/>
          </a:p>
          <a:p>
            <a:pPr>
              <a:lnSpc>
                <a:spcPct val="150000"/>
              </a:lnSpc>
            </a:pPr>
            <a:r>
              <a:rPr lang="en-US" altLang="zh-CN" dirty="0"/>
              <a:t>5</a:t>
            </a:r>
            <a:r>
              <a:rPr lang="zh-CN" altLang="en-US" dirty="0">
                <a:latin typeface="Times New Roman" panose="02020503050405090304" pitchFamily="18" charset="0"/>
              </a:rPr>
              <a:t>）一个模式可多个外模式</a:t>
            </a:r>
            <a:endParaRPr lang="zh-CN" altLang="en-US" dirty="0"/>
          </a:p>
          <a:p>
            <a:pPr>
              <a:lnSpc>
                <a:spcPct val="150000"/>
              </a:lnSpc>
            </a:pPr>
            <a:r>
              <a:rPr lang="en-US" altLang="zh-CN" dirty="0"/>
              <a:t>6</a:t>
            </a:r>
            <a:r>
              <a:rPr lang="zh-CN" altLang="en-US" dirty="0">
                <a:latin typeface="Times New Roman" panose="02020503050405090304" pitchFamily="18" charset="0"/>
              </a:rPr>
              <a:t>）一个应用程序只能使用一个外模式，多个应用程序可共用一个外模式。</a:t>
            </a:r>
            <a:endParaRPr lang="zh-CN" altLang="en-US" dirty="0"/>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BCE39FAC-BF8A-491D-B437-9AFE29AC5FEB}" type="slidenum">
              <a:rPr lang="en-US" altLang="zh-CN"/>
            </a:fld>
            <a:endParaRPr lang="en-US" altLang="zh-CN"/>
          </a:p>
        </p:txBody>
      </p:sp>
      <p:sp>
        <p:nvSpPr>
          <p:cNvPr id="98307" name="Text Box 2"/>
          <p:cNvSpPr txBox="1">
            <a:spLocks noChangeArrowheads="1"/>
          </p:cNvSpPr>
          <p:nvPr/>
        </p:nvSpPr>
        <p:spPr bwMode="auto">
          <a:xfrm>
            <a:off x="381000" y="868363"/>
            <a:ext cx="7879080" cy="4154984"/>
          </a:xfrm>
          <a:prstGeom prst="rect">
            <a:avLst/>
          </a:prstGeom>
          <a:noFill/>
          <a:ln w="9525">
            <a:noFill/>
            <a:miter lim="800000"/>
          </a:ln>
        </p:spPr>
        <p:txBody>
          <a:bodyPr wrap="none">
            <a:spAutoFit/>
          </a:bodyPr>
          <a:lstStyle/>
          <a:p>
            <a:r>
              <a:rPr lang="en-US" altLang="zh-CN" b="1" dirty="0">
                <a:latin typeface="Arial" panose="020B0604020202090204" pitchFamily="34" charset="0"/>
                <a:cs typeface="Arial" panose="020B0604020202090204" pitchFamily="34" charset="0"/>
              </a:rPr>
              <a:t>3.</a:t>
            </a:r>
            <a:r>
              <a:rPr lang="zh-CN" altLang="en-US" b="1" dirty="0">
                <a:latin typeface="Arial" panose="020B0604020202090204" pitchFamily="34" charset="0"/>
                <a:ea typeface="黑体" panose="02010609060101010101" pitchFamily="49" charset="-122"/>
              </a:rPr>
              <a:t>内模式（</a:t>
            </a:r>
            <a:r>
              <a:rPr lang="en-US" altLang="zh-CN" b="1" dirty="0">
                <a:latin typeface="Arial" panose="020B0604020202090204" pitchFamily="34" charset="0"/>
                <a:cs typeface="Arial" panose="020B0604020202090204" pitchFamily="34" charset="0"/>
              </a:rPr>
              <a:t>Internal Schema</a:t>
            </a:r>
            <a:r>
              <a:rPr lang="zh-CN" altLang="en-US" b="1" dirty="0">
                <a:latin typeface="Arial" panose="020B0604020202090204" pitchFamily="34" charset="0"/>
                <a:ea typeface="黑体" panose="02010609060101010101" pitchFamily="49" charset="-122"/>
              </a:rPr>
              <a:t>）</a:t>
            </a:r>
            <a:r>
              <a:rPr lang="en-US" altLang="zh-CN" b="1" dirty="0">
                <a:latin typeface="Arial" panose="020B0604020202090204" pitchFamily="34" charset="0"/>
                <a:cs typeface="Arial" panose="020B0604020202090204" pitchFamily="34" charset="0"/>
              </a:rPr>
              <a:t>(storage-schema)</a:t>
            </a:r>
            <a:endParaRPr lang="en-US" altLang="zh-CN" b="1" dirty="0">
              <a:latin typeface="Arial" panose="020B0604020202090204" pitchFamily="34" charset="0"/>
              <a:cs typeface="Arial" panose="020B0604020202090204" pitchFamily="34" charset="0"/>
            </a:endParaRPr>
          </a:p>
          <a:p>
            <a:r>
              <a:rPr lang="en-US" altLang="zh-CN" dirty="0">
                <a:latin typeface="Times New Roman" panose="02020503050405090304" pitchFamily="18" charset="0"/>
              </a:rPr>
              <a:t>——</a:t>
            </a:r>
            <a:r>
              <a:rPr lang="zh-CN" altLang="en-US" dirty="0">
                <a:solidFill>
                  <a:srgbClr val="FF0000"/>
                </a:solidFill>
              </a:rPr>
              <a:t>数据库</a:t>
            </a:r>
            <a:r>
              <a:rPr lang="zh-CN" altLang="en-US" dirty="0">
                <a:solidFill>
                  <a:srgbClr val="FF0000"/>
                </a:solidFill>
                <a:latin typeface="Times New Roman" panose="02020503050405090304" pitchFamily="18" charset="0"/>
              </a:rPr>
              <a:t>物理结构、存取路径及存取方法的说明</a:t>
            </a:r>
            <a:endParaRPr lang="zh-CN" altLang="en-US" dirty="0">
              <a:solidFill>
                <a:srgbClr val="FF0000"/>
              </a:solidFill>
            </a:endParaRPr>
          </a:p>
          <a:p>
            <a:r>
              <a:rPr lang="en-US" altLang="zh-CN" dirty="0">
                <a:latin typeface="Times New Roman" panose="02020503050405090304" pitchFamily="18" charset="0"/>
              </a:rPr>
              <a:t>      </a:t>
            </a:r>
            <a:r>
              <a:rPr lang="zh-CN" altLang="en-US" dirty="0">
                <a:latin typeface="Times New Roman" panose="02020503050405090304" pitchFamily="18" charset="0"/>
              </a:rPr>
              <a:t>一个</a:t>
            </a:r>
            <a:r>
              <a:rPr lang="zh-CN" altLang="en-US" dirty="0"/>
              <a:t>数据库</a:t>
            </a:r>
            <a:r>
              <a:rPr lang="zh-CN" altLang="en-US" dirty="0">
                <a:latin typeface="Times New Roman" panose="02020503050405090304" pitchFamily="18" charset="0"/>
              </a:rPr>
              <a:t>中一个内模式。</a:t>
            </a:r>
            <a:endParaRPr lang="en-US" altLang="zh-CN" dirty="0">
              <a:latin typeface="Times New Roman" panose="02020503050405090304" pitchFamily="18" charset="0"/>
            </a:endParaRPr>
          </a:p>
          <a:p>
            <a:endParaRPr lang="en-US" altLang="zh-CN" b="1" dirty="0">
              <a:ea typeface="黑体" panose="02010609060101010101" pitchFamily="49" charset="-122"/>
            </a:endParaRPr>
          </a:p>
          <a:p>
            <a:r>
              <a:rPr lang="en-US" altLang="zh-CN" b="1" dirty="0">
                <a:ea typeface="黑体" panose="02010609060101010101" pitchFamily="49" charset="-122"/>
              </a:rPr>
              <a:t>1.3.1.2 </a:t>
            </a:r>
            <a:r>
              <a:rPr lang="zh-CN" altLang="en-US" b="1" dirty="0">
                <a:ea typeface="黑体" panose="02010609060101010101" pitchFamily="49" charset="-122"/>
              </a:rPr>
              <a:t>映像</a:t>
            </a:r>
            <a:endParaRPr lang="zh-CN" altLang="en-US" b="1" dirty="0">
              <a:ea typeface="黑体" panose="02010609060101010101" pitchFamily="49" charset="-122"/>
            </a:endParaRPr>
          </a:p>
          <a:p>
            <a:r>
              <a:rPr lang="en-US" altLang="zh-CN" dirty="0"/>
              <a:t>1.</a:t>
            </a:r>
            <a:r>
              <a:rPr lang="zh-CN" altLang="en-US" dirty="0">
                <a:latin typeface="Times New Roman" panose="02020503050405090304" pitchFamily="18" charset="0"/>
              </a:rPr>
              <a:t>外模式</a:t>
            </a:r>
            <a:r>
              <a:rPr lang="en-US" altLang="zh-CN" dirty="0"/>
              <a:t>/</a:t>
            </a:r>
            <a:r>
              <a:rPr lang="zh-CN" altLang="en-US" dirty="0">
                <a:latin typeface="Times New Roman" panose="02020503050405090304" pitchFamily="18" charset="0"/>
              </a:rPr>
              <a:t>模式映像</a:t>
            </a:r>
            <a:endParaRPr lang="zh-CN" altLang="en-US" dirty="0"/>
          </a:p>
          <a:p>
            <a:r>
              <a:rPr lang="en-US" altLang="zh-CN" dirty="0">
                <a:latin typeface="Times New Roman" panose="02020503050405090304" pitchFamily="18" charset="0"/>
              </a:rPr>
              <a:t>——</a:t>
            </a:r>
            <a:r>
              <a:rPr lang="zh-CN" altLang="en-US" dirty="0">
                <a:latin typeface="Times New Roman" panose="02020503050405090304" pitchFamily="18" charset="0"/>
              </a:rPr>
              <a:t>说明外模式与模式间的对应联系（外模式中说明）。</a:t>
            </a:r>
            <a:endParaRPr lang="zh-CN" altLang="en-US" dirty="0"/>
          </a:p>
          <a:p>
            <a:r>
              <a:rPr lang="en-US" altLang="zh-CN" dirty="0"/>
              <a:t>2.</a:t>
            </a:r>
            <a:r>
              <a:rPr lang="zh-CN" altLang="en-US" dirty="0">
                <a:latin typeface="Times New Roman" panose="02020503050405090304" pitchFamily="18" charset="0"/>
              </a:rPr>
              <a:t>模式</a:t>
            </a:r>
            <a:r>
              <a:rPr lang="en-US" altLang="zh-CN" dirty="0"/>
              <a:t>/</a:t>
            </a:r>
            <a:r>
              <a:rPr lang="zh-CN" altLang="en-US" dirty="0">
                <a:latin typeface="Times New Roman" panose="02020503050405090304" pitchFamily="18" charset="0"/>
              </a:rPr>
              <a:t>内模式映像</a:t>
            </a:r>
            <a:endParaRPr lang="zh-CN" altLang="en-US" dirty="0"/>
          </a:p>
          <a:p>
            <a:r>
              <a:rPr lang="en-US" altLang="zh-CN" dirty="0">
                <a:latin typeface="Times New Roman" panose="02020503050405090304" pitchFamily="18" charset="0"/>
              </a:rPr>
              <a:t>——</a:t>
            </a:r>
            <a:r>
              <a:rPr lang="zh-CN" altLang="en-US" dirty="0">
                <a:latin typeface="Times New Roman" panose="02020503050405090304" pitchFamily="18" charset="0"/>
              </a:rPr>
              <a:t>说明模式与内模式的对应关系（模式中说明）。</a:t>
            </a:r>
            <a:endParaRPr lang="zh-CN" altLang="en-US" dirty="0"/>
          </a:p>
          <a:p>
            <a:r>
              <a:rPr lang="zh-CN" altLang="en-US" dirty="0">
                <a:latin typeface="宋体" pitchFamily="2" charset="-122"/>
              </a:rPr>
              <a:t>（逻辑结构在内部如何组织）</a:t>
            </a:r>
            <a:endParaRPr lang="zh-CN" altLang="en-US" dirty="0">
              <a:latin typeface="宋体" pitchFamily="2" charset="-122"/>
            </a:endParaRPr>
          </a:p>
          <a:p>
            <a:endParaRPr lang="zh-CN" altLang="en-US" dirty="0"/>
          </a:p>
        </p:txBody>
      </p:sp>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4AD77132-9838-4E1F-B1E1-4C86A5C9885F}" type="slidenum">
              <a:rPr lang="en-US" altLang="zh-CN"/>
            </a:fld>
            <a:endParaRPr lang="en-US" altLang="zh-CN"/>
          </a:p>
        </p:txBody>
      </p:sp>
      <p:sp>
        <p:nvSpPr>
          <p:cNvPr id="99331" name="Text Box 2"/>
          <p:cNvSpPr txBox="1">
            <a:spLocks noChangeArrowheads="1"/>
          </p:cNvSpPr>
          <p:nvPr/>
        </p:nvSpPr>
        <p:spPr bwMode="auto">
          <a:xfrm>
            <a:off x="381000" y="709613"/>
            <a:ext cx="8408071" cy="5008230"/>
          </a:xfrm>
          <a:prstGeom prst="rect">
            <a:avLst/>
          </a:prstGeom>
          <a:noFill/>
          <a:ln w="9525">
            <a:noFill/>
            <a:miter lim="800000"/>
          </a:ln>
        </p:spPr>
        <p:txBody>
          <a:bodyPr wrap="none">
            <a:spAutoFit/>
          </a:bodyPr>
          <a:lstStyle/>
          <a:p>
            <a:pPr>
              <a:lnSpc>
                <a:spcPct val="150000"/>
              </a:lnSpc>
            </a:pPr>
            <a:r>
              <a:rPr lang="en-US" altLang="zh-CN" b="1" dirty="0">
                <a:ea typeface="黑体" panose="02010609060101010101" pitchFamily="49" charset="-122"/>
              </a:rPr>
              <a:t>1.3.1.3 </a:t>
            </a:r>
            <a:r>
              <a:rPr lang="zh-CN" altLang="en-US" b="1" dirty="0">
                <a:ea typeface="黑体" panose="02010609060101010101" pitchFamily="49" charset="-122"/>
              </a:rPr>
              <a:t>三层模式的作用</a:t>
            </a:r>
            <a:endParaRPr lang="zh-CN" altLang="en-US" b="1" dirty="0">
              <a:ea typeface="黑体" panose="02010609060101010101" pitchFamily="49" charset="-122"/>
            </a:endParaRPr>
          </a:p>
          <a:p>
            <a:pPr>
              <a:lnSpc>
                <a:spcPct val="150000"/>
              </a:lnSpc>
            </a:pPr>
            <a:r>
              <a:rPr lang="en-US" altLang="zh-CN" dirty="0"/>
              <a:t>1. </a:t>
            </a:r>
            <a:r>
              <a:rPr lang="zh-CN" altLang="en-US" dirty="0">
                <a:latin typeface="Times New Roman" panose="02020503050405090304" pitchFamily="18" charset="0"/>
              </a:rPr>
              <a:t>子模式作用</a:t>
            </a:r>
            <a:endParaRPr lang="zh-CN" altLang="en-US" dirty="0"/>
          </a:p>
          <a:p>
            <a:pPr>
              <a:lnSpc>
                <a:spcPct val="150000"/>
              </a:lnSpc>
            </a:pPr>
            <a:r>
              <a:rPr lang="en-US" altLang="zh-CN" dirty="0"/>
              <a:t>1</a:t>
            </a:r>
            <a:r>
              <a:rPr lang="zh-CN" altLang="en-US" dirty="0">
                <a:latin typeface="Times New Roman" panose="02020503050405090304" pitchFamily="18" charset="0"/>
              </a:rPr>
              <a:t>）支持不同用户建立适应局部应用特征的结构；</a:t>
            </a:r>
            <a:endParaRPr lang="zh-CN" altLang="en-US" dirty="0"/>
          </a:p>
          <a:p>
            <a:pPr>
              <a:lnSpc>
                <a:spcPct val="150000"/>
              </a:lnSpc>
            </a:pPr>
            <a:r>
              <a:rPr lang="en-US" altLang="zh-CN" dirty="0"/>
              <a:t>2</a:t>
            </a:r>
            <a:r>
              <a:rPr lang="zh-CN" altLang="en-US" dirty="0">
                <a:latin typeface="Times New Roman" panose="02020503050405090304" pitchFamily="18" charset="0"/>
              </a:rPr>
              <a:t>）简化应用处理；</a:t>
            </a:r>
            <a:endParaRPr lang="zh-CN" altLang="en-US" dirty="0"/>
          </a:p>
          <a:p>
            <a:pPr>
              <a:lnSpc>
                <a:spcPct val="150000"/>
              </a:lnSpc>
            </a:pPr>
            <a:r>
              <a:rPr lang="en-US" altLang="zh-CN" dirty="0"/>
              <a:t>3</a:t>
            </a:r>
            <a:r>
              <a:rPr lang="zh-CN" altLang="en-US" dirty="0">
                <a:latin typeface="Times New Roman" panose="02020503050405090304" pitchFamily="18" charset="0"/>
              </a:rPr>
              <a:t>）提高安全性；</a:t>
            </a:r>
            <a:endParaRPr lang="zh-CN" altLang="en-US" dirty="0"/>
          </a:p>
          <a:p>
            <a:pPr>
              <a:lnSpc>
                <a:spcPct val="150000"/>
              </a:lnSpc>
            </a:pPr>
            <a:r>
              <a:rPr lang="en-US" altLang="zh-CN" dirty="0"/>
              <a:t>4</a:t>
            </a:r>
            <a:r>
              <a:rPr lang="zh-CN" altLang="en-US" dirty="0">
                <a:latin typeface="Times New Roman" panose="02020503050405090304" pitchFamily="18" charset="0"/>
              </a:rPr>
              <a:t>）实现数据</a:t>
            </a:r>
            <a:r>
              <a:rPr lang="zh-CN" altLang="en-US" dirty="0">
                <a:solidFill>
                  <a:srgbClr val="FF3300"/>
                </a:solidFill>
                <a:latin typeface="Times New Roman" panose="02020503050405090304" pitchFamily="18" charset="0"/>
              </a:rPr>
              <a:t>逻辑独立性</a:t>
            </a:r>
            <a:r>
              <a:rPr lang="zh-CN" altLang="en-US" dirty="0">
                <a:latin typeface="Times New Roman" panose="02020503050405090304" pitchFamily="18" charset="0"/>
              </a:rPr>
              <a:t>：</a:t>
            </a:r>
            <a:endParaRPr lang="zh-CN" altLang="en-US" dirty="0"/>
          </a:p>
          <a:p>
            <a:pPr marL="342900" indent="-342900">
              <a:lnSpc>
                <a:spcPct val="150000"/>
              </a:lnSpc>
              <a:buClr>
                <a:schemeClr val="accent3"/>
              </a:buClr>
              <a:buFont typeface="Wingdings" panose="05000000000000000000" pitchFamily="2" charset="2"/>
              <a:buChar char="Ø"/>
            </a:pPr>
            <a:r>
              <a:rPr lang="zh-CN" altLang="en-US" dirty="0">
                <a:latin typeface="Times New Roman" panose="02020503050405090304" pitchFamily="18" charset="0"/>
              </a:rPr>
              <a:t>分隔应用程序与模式</a:t>
            </a:r>
            <a:endParaRPr lang="zh-CN" altLang="en-US" dirty="0"/>
          </a:p>
          <a:p>
            <a:pPr marL="342900" indent="-342900">
              <a:lnSpc>
                <a:spcPct val="150000"/>
              </a:lnSpc>
              <a:buClr>
                <a:schemeClr val="accent3"/>
              </a:buClr>
              <a:buFont typeface="Wingdings" panose="05000000000000000000" pitchFamily="2" charset="2"/>
              <a:buChar char="Ø"/>
            </a:pPr>
            <a:r>
              <a:rPr lang="zh-CN" altLang="en-US" dirty="0">
                <a:latin typeface="Times New Roman" panose="02020503050405090304" pitchFamily="18" charset="0"/>
              </a:rPr>
              <a:t>模式变，由</a:t>
            </a:r>
            <a:r>
              <a:rPr lang="en-US" altLang="zh-CN" dirty="0"/>
              <a:t>DBA</a:t>
            </a:r>
            <a:r>
              <a:rPr lang="zh-CN" altLang="en-US" dirty="0">
                <a:latin typeface="Times New Roman" panose="02020503050405090304" pitchFamily="18" charset="0"/>
              </a:rPr>
              <a:t>改变外模式</a:t>
            </a:r>
            <a:r>
              <a:rPr lang="en-US" altLang="zh-CN" dirty="0"/>
              <a:t>/</a:t>
            </a:r>
            <a:r>
              <a:rPr lang="zh-CN" altLang="en-US" dirty="0">
                <a:latin typeface="Times New Roman" panose="02020503050405090304" pitchFamily="18" charset="0"/>
              </a:rPr>
              <a:t>模式映像，外模式不变，应用</a:t>
            </a:r>
            <a:endParaRPr lang="zh-CN" altLang="en-US" dirty="0">
              <a:latin typeface="Times New Roman" panose="02020503050405090304" pitchFamily="18" charset="0"/>
            </a:endParaRPr>
          </a:p>
          <a:p>
            <a:pPr>
              <a:lnSpc>
                <a:spcPct val="150000"/>
              </a:lnSpc>
              <a:buClr>
                <a:schemeClr val="accent3"/>
              </a:buClr>
            </a:pPr>
            <a:r>
              <a:rPr lang="zh-CN" altLang="en-US" dirty="0">
                <a:latin typeface="Times New Roman" panose="02020503050405090304" pitchFamily="18" charset="0"/>
              </a:rPr>
              <a:t>     程序不变。</a:t>
            </a:r>
            <a:endParaRPr lang="zh-CN" altLang="en-US" dirty="0"/>
          </a:p>
        </p:txBody>
      </p:sp>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E46D96B2-7C33-499A-ADCE-750575BA9524}" type="slidenum">
              <a:rPr lang="en-US" altLang="zh-CN"/>
            </a:fld>
            <a:endParaRPr lang="en-US" altLang="zh-CN"/>
          </a:p>
        </p:txBody>
      </p:sp>
      <p:sp>
        <p:nvSpPr>
          <p:cNvPr id="100355" name="Text Box 1026"/>
          <p:cNvSpPr txBox="1">
            <a:spLocks noChangeArrowheads="1"/>
          </p:cNvSpPr>
          <p:nvPr/>
        </p:nvSpPr>
        <p:spPr bwMode="auto">
          <a:xfrm>
            <a:off x="228600" y="860425"/>
            <a:ext cx="8884163" cy="5262979"/>
          </a:xfrm>
          <a:prstGeom prst="rect">
            <a:avLst/>
          </a:prstGeom>
          <a:noFill/>
          <a:ln w="9525">
            <a:noFill/>
            <a:miter lim="800000"/>
          </a:ln>
        </p:spPr>
        <p:txBody>
          <a:bodyPr wrap="none">
            <a:spAutoFit/>
          </a:bodyPr>
          <a:lstStyle/>
          <a:p>
            <a:r>
              <a:rPr lang="en-US" altLang="zh-CN" b="1" dirty="0">
                <a:latin typeface="Arial" panose="020B0604020202090204" pitchFamily="34" charset="0"/>
                <a:cs typeface="Arial" panose="020B0604020202090204" pitchFamily="34" charset="0"/>
              </a:rPr>
              <a:t>2. </a:t>
            </a:r>
            <a:r>
              <a:rPr lang="zh-CN" altLang="en-US" b="1" dirty="0">
                <a:latin typeface="Arial" panose="020B0604020202090204" pitchFamily="34" charset="0"/>
                <a:ea typeface="黑体" panose="02010609060101010101" pitchFamily="49" charset="-122"/>
              </a:rPr>
              <a:t>模式作用</a:t>
            </a:r>
            <a:endParaRPr lang="zh-CN" altLang="en-US" b="1" dirty="0">
              <a:latin typeface="Arial" panose="020B0604020202090204" pitchFamily="34" charset="0"/>
              <a:cs typeface="Arial" panose="020B0604020202090204" pitchFamily="34" charset="0"/>
            </a:endParaRPr>
          </a:p>
          <a:p>
            <a:r>
              <a:rPr lang="en-US" altLang="zh-CN" dirty="0"/>
              <a:t>1</a:t>
            </a:r>
            <a:r>
              <a:rPr lang="zh-CN" altLang="en-US" dirty="0">
                <a:latin typeface="Times New Roman" panose="02020503050405090304" pitchFamily="18" charset="0"/>
              </a:rPr>
              <a:t>）支持数据少冗余共享；</a:t>
            </a:r>
            <a:endParaRPr lang="zh-CN" altLang="en-US" dirty="0"/>
          </a:p>
          <a:p>
            <a:r>
              <a:rPr lang="en-US" altLang="zh-CN" dirty="0"/>
              <a:t>student (XH,XM)</a:t>
            </a:r>
            <a:endParaRPr lang="en-US" altLang="zh-CN" dirty="0"/>
          </a:p>
          <a:p>
            <a:r>
              <a:rPr lang="en-US" altLang="zh-CN" dirty="0"/>
              <a:t>2</a:t>
            </a:r>
            <a:r>
              <a:rPr lang="zh-CN" altLang="en-US" dirty="0">
                <a:latin typeface="Times New Roman" panose="02020503050405090304" pitchFamily="18" charset="0"/>
              </a:rPr>
              <a:t>）支持数据逻辑独立性；</a:t>
            </a:r>
            <a:endParaRPr lang="zh-CN" altLang="en-US" dirty="0"/>
          </a:p>
          <a:p>
            <a:r>
              <a:rPr lang="en-US" altLang="zh-CN" dirty="0"/>
              <a:t>3</a:t>
            </a:r>
            <a:r>
              <a:rPr lang="zh-CN" altLang="en-US" dirty="0">
                <a:latin typeface="Times New Roman" panose="02020503050405090304" pitchFamily="18" charset="0"/>
              </a:rPr>
              <a:t>）支持数据物理独立性。</a:t>
            </a:r>
            <a:endParaRPr lang="zh-CN" altLang="en-US" dirty="0"/>
          </a:p>
          <a:p>
            <a:pPr marL="342900" indent="-342900">
              <a:buClr>
                <a:schemeClr val="accent3"/>
              </a:buClr>
              <a:buFont typeface="Wingdings" panose="05000000000000000000" pitchFamily="2" charset="2"/>
              <a:buChar char="Ø"/>
            </a:pPr>
            <a:r>
              <a:rPr lang="zh-CN" altLang="en-US" dirty="0">
                <a:latin typeface="Times New Roman" panose="02020503050405090304" pitchFamily="18" charset="0"/>
              </a:rPr>
              <a:t>分隔子模式与内模式</a:t>
            </a:r>
            <a:endParaRPr lang="zh-CN" altLang="en-US" dirty="0"/>
          </a:p>
          <a:p>
            <a:pPr marL="342900" indent="-342900">
              <a:buClr>
                <a:schemeClr val="accent3"/>
              </a:buClr>
              <a:buFont typeface="Wingdings" panose="05000000000000000000" pitchFamily="2" charset="2"/>
              <a:buChar char="Ø"/>
            </a:pPr>
            <a:r>
              <a:rPr lang="zh-CN" altLang="en-US" dirty="0">
                <a:latin typeface="Times New Roman" panose="02020503050405090304" pitchFamily="18" charset="0"/>
              </a:rPr>
              <a:t>模式变，由</a:t>
            </a:r>
            <a:r>
              <a:rPr lang="en-US" altLang="zh-CN" dirty="0"/>
              <a:t>DBA</a:t>
            </a:r>
            <a:r>
              <a:rPr lang="zh-CN" altLang="en-US" dirty="0">
                <a:latin typeface="Times New Roman" panose="02020503050405090304" pitchFamily="18" charset="0"/>
              </a:rPr>
              <a:t>改变模式</a:t>
            </a:r>
            <a:r>
              <a:rPr lang="en-US" altLang="zh-CN" dirty="0"/>
              <a:t>/</a:t>
            </a:r>
            <a:r>
              <a:rPr lang="zh-CN" altLang="en-US" dirty="0">
                <a:latin typeface="Times New Roman" panose="02020503050405090304" pitchFamily="18" charset="0"/>
              </a:rPr>
              <a:t>内模式映射，模式不变，子模式</a:t>
            </a:r>
            <a:endParaRPr lang="zh-CN" altLang="en-US" dirty="0">
              <a:latin typeface="Times New Roman" panose="02020503050405090304" pitchFamily="18" charset="0"/>
            </a:endParaRPr>
          </a:p>
          <a:p>
            <a:r>
              <a:rPr lang="zh-CN" altLang="en-US" dirty="0">
                <a:latin typeface="Times New Roman" panose="02020503050405090304" pitchFamily="18" charset="0"/>
              </a:rPr>
              <a:t>不变，应用程序不变。</a:t>
            </a:r>
            <a:endParaRPr lang="zh-CN" altLang="en-US" dirty="0"/>
          </a:p>
          <a:p>
            <a:r>
              <a:rPr lang="en-US" altLang="zh-CN" b="1" dirty="0">
                <a:latin typeface="Arial" panose="020B0604020202090204" pitchFamily="34" charset="0"/>
                <a:cs typeface="Arial" panose="020B0604020202090204" pitchFamily="34" charset="0"/>
              </a:rPr>
              <a:t>3. </a:t>
            </a:r>
            <a:r>
              <a:rPr lang="zh-CN" altLang="en-US" b="1" dirty="0">
                <a:latin typeface="Arial" panose="020B0604020202090204" pitchFamily="34" charset="0"/>
                <a:ea typeface="黑体" panose="02010609060101010101" pitchFamily="49" charset="-122"/>
              </a:rPr>
              <a:t>内模式作用</a:t>
            </a:r>
            <a:endParaRPr lang="zh-CN" altLang="en-US" b="1" dirty="0">
              <a:latin typeface="Arial" panose="020B0604020202090204" pitchFamily="34" charset="0"/>
              <a:cs typeface="Arial" panose="020B0604020202090204" pitchFamily="34" charset="0"/>
            </a:endParaRPr>
          </a:p>
          <a:p>
            <a:r>
              <a:rPr lang="en-US" altLang="zh-CN" dirty="0"/>
              <a:t>1</a:t>
            </a:r>
            <a:r>
              <a:rPr lang="zh-CN" altLang="en-US" dirty="0">
                <a:latin typeface="Times New Roman" panose="02020503050405090304" pitchFamily="18" charset="0"/>
              </a:rPr>
              <a:t>）支持用户建立适应需求的物理结构等；</a:t>
            </a:r>
            <a:endParaRPr lang="zh-CN" altLang="en-US" dirty="0"/>
          </a:p>
          <a:p>
            <a:r>
              <a:rPr lang="en-US" altLang="zh-CN" dirty="0"/>
              <a:t>2</a:t>
            </a:r>
            <a:r>
              <a:rPr lang="zh-CN" altLang="en-US" dirty="0">
                <a:latin typeface="Times New Roman" panose="02020503050405090304" pitchFamily="18" charset="0"/>
              </a:rPr>
              <a:t>）实现数据</a:t>
            </a:r>
            <a:r>
              <a:rPr lang="zh-CN" altLang="en-US" dirty="0">
                <a:solidFill>
                  <a:srgbClr val="FF3300"/>
                </a:solidFill>
                <a:latin typeface="Times New Roman" panose="02020503050405090304" pitchFamily="18" charset="0"/>
              </a:rPr>
              <a:t>物理独立性</a:t>
            </a:r>
            <a:r>
              <a:rPr lang="zh-CN" altLang="en-US" dirty="0">
                <a:latin typeface="Times New Roman" panose="02020503050405090304" pitchFamily="18" charset="0"/>
              </a:rPr>
              <a:t>。</a:t>
            </a:r>
            <a:endParaRPr lang="zh-CN" altLang="en-US" dirty="0"/>
          </a:p>
          <a:p>
            <a:pPr marL="342900" indent="-342900">
              <a:buClr>
                <a:schemeClr val="accent3"/>
              </a:buClr>
              <a:buFont typeface="Wingdings" panose="05000000000000000000" pitchFamily="2" charset="2"/>
              <a:buChar char="Ø"/>
            </a:pPr>
            <a:r>
              <a:rPr lang="zh-CN" altLang="en-US" dirty="0">
                <a:latin typeface="Times New Roman" panose="02020503050405090304" pitchFamily="18" charset="0"/>
              </a:rPr>
              <a:t>程序中屏蔽物理细节。</a:t>
            </a:r>
            <a:endParaRPr lang="zh-CN" altLang="en-US" dirty="0"/>
          </a:p>
          <a:p>
            <a:pPr marL="342900" indent="-342900">
              <a:buClr>
                <a:schemeClr val="accent3"/>
              </a:buClr>
              <a:buFont typeface="Wingdings" panose="05000000000000000000" pitchFamily="2" charset="2"/>
              <a:buChar char="Ø"/>
            </a:pPr>
            <a:r>
              <a:rPr lang="zh-CN" altLang="en-US" dirty="0">
                <a:latin typeface="宋体" pitchFamily="2" charset="-122"/>
              </a:rPr>
              <a:t>内模式变，</a:t>
            </a:r>
            <a:r>
              <a:rPr lang="en-US" altLang="zh-CN" dirty="0"/>
              <a:t>DBA</a:t>
            </a:r>
            <a:r>
              <a:rPr lang="zh-CN" altLang="en-US" dirty="0">
                <a:latin typeface="宋体" pitchFamily="2" charset="-122"/>
              </a:rPr>
              <a:t>改变映像，模式不变，外模式不变，应用程序</a:t>
            </a:r>
            <a:endParaRPr lang="zh-CN" altLang="en-US" dirty="0">
              <a:latin typeface="宋体" pitchFamily="2" charset="-122"/>
            </a:endParaRPr>
          </a:p>
          <a:p>
            <a:r>
              <a:rPr lang="zh-CN" altLang="en-US" dirty="0">
                <a:latin typeface="宋体" pitchFamily="2" charset="-122"/>
              </a:rPr>
              <a:t>不变。</a:t>
            </a:r>
            <a:r>
              <a:rPr lang="zh-CN" altLang="en-US" dirty="0"/>
              <a:t> </a:t>
            </a:r>
            <a:endParaRPr lang="en-US" altLang="zh-CN" dirty="0"/>
          </a:p>
        </p:txBody>
      </p:sp>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type="title"/>
          </p:nvPr>
        </p:nvSpPr>
        <p:spPr>
          <a:xfrm>
            <a:off x="323850" y="730250"/>
            <a:ext cx="8162925" cy="762000"/>
          </a:xfrm>
        </p:spPr>
        <p:txBody>
          <a:bodyPr>
            <a:normAutofit fontScale="90000"/>
          </a:bodyPr>
          <a:lstStyle/>
          <a:p>
            <a:pPr eaLnBrk="1" fontAlgn="auto" hangingPunct="1">
              <a:spcAft>
                <a:spcPts val="0"/>
              </a:spcAft>
              <a:defRPr/>
            </a:pPr>
            <a:r>
              <a:rPr lang="zh-CN" altLang="en-US" dirty="0"/>
              <a:t>关于三层模式两级映像</a:t>
            </a:r>
            <a:endParaRPr lang="zh-CN" altLang="en-US" dirty="0"/>
          </a:p>
        </p:txBody>
      </p:sp>
      <p:sp>
        <p:nvSpPr>
          <p:cNvPr id="101379" name="Rectangle 3"/>
          <p:cNvSpPr>
            <a:spLocks noGrp="1" noChangeArrowheads="1"/>
          </p:cNvSpPr>
          <p:nvPr>
            <p:ph idx="1"/>
          </p:nvPr>
        </p:nvSpPr>
        <p:spPr>
          <a:xfrm>
            <a:off x="376238" y="1700808"/>
            <a:ext cx="8110537" cy="4191000"/>
          </a:xfrm>
        </p:spPr>
        <p:txBody>
          <a:bodyPr/>
          <a:lstStyle/>
          <a:p>
            <a:pPr eaLnBrk="1" hangingPunct="1"/>
            <a:r>
              <a:rPr lang="zh-CN" altLang="en-US" sz="2800" dirty="0"/>
              <a:t>结合后续章节的内容进一步体会</a:t>
            </a:r>
            <a:endParaRPr lang="zh-CN" altLang="en-US" sz="2800" dirty="0"/>
          </a:p>
          <a:p>
            <a:pPr eaLnBrk="1" hangingPunct="1"/>
            <a:r>
              <a:rPr lang="zh-CN" altLang="en-US" sz="2800" dirty="0"/>
              <a:t>结合</a:t>
            </a:r>
            <a:r>
              <a:rPr lang="en-US" altLang="zh-CN" sz="2800" dirty="0"/>
              <a:t>ORACLE</a:t>
            </a:r>
            <a:r>
              <a:rPr lang="zh-CN" altLang="en-US" sz="2800" dirty="0"/>
              <a:t>、</a:t>
            </a:r>
            <a:r>
              <a:rPr lang="en-US" altLang="zh-CN" sz="2800" dirty="0"/>
              <a:t>Sql Server</a:t>
            </a:r>
            <a:r>
              <a:rPr lang="zh-CN" altLang="en-US" sz="2800" dirty="0"/>
              <a:t>等实际系统进一步体会</a:t>
            </a:r>
            <a:endParaRPr lang="zh-CN" altLang="en-US" sz="2800" dirty="0"/>
          </a:p>
        </p:txBody>
      </p:sp>
      <p:sp>
        <p:nvSpPr>
          <p:cNvPr id="6" name="灯片编号占位符 5"/>
          <p:cNvSpPr>
            <a:spLocks noGrp="1"/>
          </p:cNvSpPr>
          <p:nvPr>
            <p:ph type="sldNum" sz="quarter" idx="12"/>
          </p:nvPr>
        </p:nvSpPr>
        <p:spPr/>
        <p:txBody>
          <a:bodyPr/>
          <a:lstStyle/>
          <a:p>
            <a:pPr>
              <a:defRPr/>
            </a:pPr>
            <a:fld id="{AE251B38-C776-4A73-B42C-78C8AB523D3B}" type="slidenum">
              <a:rPr lang="en-US" altLang="zh-CN"/>
            </a:fld>
            <a:endParaRPr lang="en-US" altLang="zh-CN"/>
          </a:p>
        </p:txBody>
      </p:sp>
    </p:spTree>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p:nvPr>
        </p:nvSpPr>
        <p:spPr>
          <a:xfrm>
            <a:off x="323850" y="523875"/>
            <a:ext cx="8162925" cy="762000"/>
          </a:xfrm>
        </p:spPr>
        <p:txBody>
          <a:bodyPr>
            <a:normAutofit fontScale="90000"/>
          </a:bodyPr>
          <a:lstStyle/>
          <a:p>
            <a:pPr eaLnBrk="1" fontAlgn="auto" hangingPunct="1">
              <a:spcAft>
                <a:spcPts val="0"/>
              </a:spcAft>
              <a:defRPr/>
            </a:pPr>
            <a:r>
              <a:rPr lang="zh-CN" altLang="en-US" dirty="0"/>
              <a:t>关于模型和模式的思考</a:t>
            </a:r>
            <a:endParaRPr lang="zh-CN" altLang="en-US" dirty="0"/>
          </a:p>
        </p:txBody>
      </p:sp>
      <p:sp>
        <p:nvSpPr>
          <p:cNvPr id="94211" name="Rectangle 3"/>
          <p:cNvSpPr>
            <a:spLocks noGrp="1" noChangeArrowheads="1"/>
          </p:cNvSpPr>
          <p:nvPr>
            <p:ph idx="1"/>
          </p:nvPr>
        </p:nvSpPr>
        <p:spPr>
          <a:xfrm>
            <a:off x="395288" y="1143000"/>
            <a:ext cx="8110537" cy="2805113"/>
          </a:xfrm>
        </p:spPr>
        <p:txBody>
          <a:bodyPr/>
          <a:lstStyle/>
          <a:p>
            <a:pPr marL="0" indent="0" eaLnBrk="1" hangingPunct="1">
              <a:buFont typeface="Wingdings 2" panose="05020102010507070707" pitchFamily="18" charset="2"/>
              <a:buNone/>
              <a:defRPr/>
            </a:pPr>
            <a:r>
              <a:rPr lang="zh-CN" altLang="en-US" sz="2400" dirty="0"/>
              <a:t>目前的</a:t>
            </a:r>
            <a:r>
              <a:rPr lang="en-US" altLang="zh-CN" sz="2400" dirty="0"/>
              <a:t>DBMS</a:t>
            </a:r>
            <a:r>
              <a:rPr lang="zh-CN" altLang="en-US" sz="2400" dirty="0"/>
              <a:t>以关系模型为主流，使用表数据结构，导致了大多数</a:t>
            </a:r>
            <a:r>
              <a:rPr lang="en-US" altLang="zh-CN" sz="2400" dirty="0"/>
              <a:t>DBS</a:t>
            </a:r>
            <a:r>
              <a:rPr lang="zh-CN" altLang="en-US" sz="2400" dirty="0"/>
              <a:t>中均涉及到了</a:t>
            </a:r>
            <a:r>
              <a:rPr lang="zh-CN" altLang="en-US" sz="2400" dirty="0">
                <a:latin typeface="Times New Roman" panose="02020503050405090304" pitchFamily="18" charset="0"/>
              </a:rPr>
              <a:t>“</a:t>
            </a:r>
            <a:r>
              <a:rPr lang="zh-CN" altLang="en-US" sz="2400" dirty="0"/>
              <a:t>表</a:t>
            </a:r>
            <a:r>
              <a:rPr lang="zh-CN" altLang="en-US" sz="2400" dirty="0">
                <a:latin typeface="Times New Roman" panose="02020503050405090304" pitchFamily="18" charset="0"/>
              </a:rPr>
              <a:t>”</a:t>
            </a:r>
            <a:r>
              <a:rPr lang="zh-CN" altLang="en-US" sz="2400" dirty="0"/>
              <a:t>的概念：</a:t>
            </a:r>
            <a:endParaRPr lang="zh-CN" altLang="en-US" sz="2400" dirty="0"/>
          </a:p>
          <a:p>
            <a:pPr eaLnBrk="1" hangingPunct="1">
              <a:buFont typeface="Wingdings" panose="05000000000000000000" pitchFamily="2" charset="2"/>
              <a:buNone/>
              <a:defRPr/>
            </a:pPr>
            <a:r>
              <a:rPr lang="zh-CN" altLang="en-US" sz="2400" dirty="0"/>
              <a:t>        数据库</a:t>
            </a:r>
            <a:r>
              <a:rPr lang="en-US" altLang="zh-CN" sz="2400" dirty="0">
                <a:latin typeface="Times New Roman" panose="02020503050405090304" pitchFamily="18" charset="0"/>
              </a:rPr>
              <a:t>——</a:t>
            </a:r>
            <a:r>
              <a:rPr lang="zh-CN" altLang="en-US" sz="2400" dirty="0"/>
              <a:t>表</a:t>
            </a:r>
            <a:r>
              <a:rPr lang="en-US" altLang="zh-CN" sz="2400" dirty="0">
                <a:latin typeface="Times New Roman" panose="02020503050405090304" pitchFamily="18" charset="0"/>
              </a:rPr>
              <a:t>——</a:t>
            </a:r>
            <a:r>
              <a:rPr lang="en-US" altLang="zh-CN" sz="2400" dirty="0"/>
              <a:t>table</a:t>
            </a:r>
            <a:endParaRPr lang="en-US" altLang="zh-CN" sz="2400" dirty="0"/>
          </a:p>
          <a:p>
            <a:pPr eaLnBrk="1" hangingPunct="1">
              <a:buFont typeface="Wingdings" panose="05000000000000000000" pitchFamily="2" charset="2"/>
              <a:buNone/>
              <a:defRPr/>
            </a:pPr>
            <a:r>
              <a:rPr lang="en-US" altLang="zh-CN" sz="2400" dirty="0"/>
              <a:t>        ADO</a:t>
            </a:r>
            <a:r>
              <a:rPr lang="zh-CN" altLang="en-US" sz="2400" dirty="0"/>
              <a:t>对象</a:t>
            </a:r>
            <a:r>
              <a:rPr lang="en-US" altLang="zh-CN" sz="2400" dirty="0">
                <a:latin typeface="Times New Roman" panose="02020503050405090304" pitchFamily="18" charset="0"/>
              </a:rPr>
              <a:t>——</a:t>
            </a:r>
            <a:r>
              <a:rPr lang="en-US" altLang="zh-CN" sz="2400" dirty="0" err="1"/>
              <a:t>RecordSet</a:t>
            </a:r>
            <a:r>
              <a:rPr lang="en-US" altLang="zh-CN" sz="2400" dirty="0">
                <a:latin typeface="Times New Roman" panose="02020503050405090304" pitchFamily="18" charset="0"/>
              </a:rPr>
              <a:t>——</a:t>
            </a:r>
            <a:r>
              <a:rPr lang="en-US" altLang="zh-CN" sz="2400" dirty="0"/>
              <a:t>table</a:t>
            </a:r>
            <a:endParaRPr lang="en-US" altLang="zh-CN" sz="2400" dirty="0"/>
          </a:p>
          <a:p>
            <a:pPr eaLnBrk="1" hangingPunct="1">
              <a:buFont typeface="Wingdings" panose="05000000000000000000" pitchFamily="2" charset="2"/>
              <a:buNone/>
              <a:defRPr/>
            </a:pPr>
            <a:r>
              <a:rPr lang="en-US" altLang="zh-CN" sz="2400" dirty="0"/>
              <a:t>        </a:t>
            </a:r>
            <a:r>
              <a:rPr lang="zh-CN" altLang="en-US" sz="2400" dirty="0"/>
              <a:t>应用程序界面或者网页</a:t>
            </a:r>
            <a:r>
              <a:rPr lang="en-US" altLang="zh-CN" sz="2400" dirty="0">
                <a:latin typeface="Times New Roman" panose="02020503050405090304" pitchFamily="18" charset="0"/>
              </a:rPr>
              <a:t>——</a:t>
            </a:r>
            <a:r>
              <a:rPr lang="zh-CN" altLang="en-US" sz="2400" dirty="0"/>
              <a:t>报表</a:t>
            </a:r>
            <a:endParaRPr lang="zh-CN" altLang="en-US" sz="2400" dirty="0"/>
          </a:p>
        </p:txBody>
      </p:sp>
      <p:sp>
        <p:nvSpPr>
          <p:cNvPr id="14" name="灯片编号占位符 5"/>
          <p:cNvSpPr>
            <a:spLocks noGrp="1"/>
          </p:cNvSpPr>
          <p:nvPr>
            <p:ph type="sldNum" sz="quarter" idx="12"/>
          </p:nvPr>
        </p:nvSpPr>
        <p:spPr>
          <a:xfrm>
            <a:off x="8167688" y="6350000"/>
            <a:ext cx="762000" cy="365125"/>
          </a:xfrm>
        </p:spPr>
        <p:txBody>
          <a:bodyPr/>
          <a:lstStyle/>
          <a:p>
            <a:pPr>
              <a:defRPr/>
            </a:pPr>
            <a:fld id="{FFB8DAF7-8E0F-46DC-BF8F-EFF28BA26893}" type="slidenum">
              <a:rPr lang="en-US" altLang="zh-CN"/>
            </a:fld>
            <a:endParaRPr lang="en-US" altLang="zh-CN"/>
          </a:p>
        </p:txBody>
      </p:sp>
      <p:sp>
        <p:nvSpPr>
          <p:cNvPr id="137220" name="Text Box 4"/>
          <p:cNvSpPr txBox="1">
            <a:spLocks noChangeArrowheads="1"/>
          </p:cNvSpPr>
          <p:nvPr/>
        </p:nvSpPr>
        <p:spPr bwMode="auto">
          <a:xfrm>
            <a:off x="642938" y="5072063"/>
            <a:ext cx="7212231" cy="461665"/>
          </a:xfrm>
          <a:prstGeom prst="rect">
            <a:avLst/>
          </a:prstGeom>
          <a:noFill/>
          <a:ln w="9525">
            <a:noFill/>
            <a:miter lim="800000"/>
          </a:ln>
        </p:spPr>
        <p:txBody>
          <a:bodyPr wrap="none">
            <a:spAutoFit/>
          </a:bodyPr>
          <a:lstStyle/>
          <a:p>
            <a:r>
              <a:rPr lang="zh-CN" altLang="en-US" b="1" dirty="0">
                <a:solidFill>
                  <a:srgbClr val="0070C0"/>
                </a:solidFill>
              </a:rPr>
              <a:t>数据库设计</a:t>
            </a:r>
            <a:r>
              <a:rPr lang="en-US" altLang="zh-CN" dirty="0"/>
              <a:t>: </a:t>
            </a:r>
            <a:r>
              <a:rPr lang="zh-CN" altLang="en-US" dirty="0"/>
              <a:t>面向系统的数据管理，底层方法和理论</a:t>
            </a:r>
            <a:endParaRPr lang="zh-CN" altLang="en-US" dirty="0"/>
          </a:p>
        </p:txBody>
      </p:sp>
      <p:sp>
        <p:nvSpPr>
          <p:cNvPr id="137228" name="Text Box 12"/>
          <p:cNvSpPr txBox="1">
            <a:spLocks noChangeArrowheads="1"/>
          </p:cNvSpPr>
          <p:nvPr/>
        </p:nvSpPr>
        <p:spPr bwMode="auto">
          <a:xfrm>
            <a:off x="642938" y="4143375"/>
            <a:ext cx="6654386" cy="461665"/>
          </a:xfrm>
          <a:prstGeom prst="rect">
            <a:avLst/>
          </a:prstGeom>
          <a:noFill/>
          <a:ln w="9525">
            <a:noFill/>
            <a:miter lim="800000"/>
          </a:ln>
        </p:spPr>
        <p:txBody>
          <a:bodyPr wrap="none">
            <a:spAutoFit/>
          </a:bodyPr>
          <a:lstStyle/>
          <a:p>
            <a:r>
              <a:rPr lang="zh-CN" altLang="en-US" b="1" dirty="0">
                <a:solidFill>
                  <a:srgbClr val="0070C0"/>
                </a:solidFill>
              </a:rPr>
              <a:t>应用需求</a:t>
            </a:r>
            <a:r>
              <a:rPr lang="zh-CN" altLang="en-US" dirty="0"/>
              <a:t>：面向应用程序的语义背景，客户所见</a:t>
            </a:r>
            <a:endParaRPr lang="zh-CN" altLang="en-US" dirty="0"/>
          </a:p>
        </p:txBody>
      </p:sp>
      <p:sp>
        <p:nvSpPr>
          <p:cNvPr id="13" name="矩形 12"/>
          <p:cNvSpPr>
            <a:spLocks noChangeArrowheads="1"/>
          </p:cNvSpPr>
          <p:nvPr/>
        </p:nvSpPr>
        <p:spPr bwMode="auto">
          <a:xfrm>
            <a:off x="642938" y="3714750"/>
            <a:ext cx="4185761" cy="461665"/>
          </a:xfrm>
          <a:prstGeom prst="rect">
            <a:avLst/>
          </a:prstGeom>
          <a:noFill/>
          <a:ln w="9525">
            <a:noFill/>
            <a:miter lim="800000"/>
          </a:ln>
        </p:spPr>
        <p:txBody>
          <a:bodyPr wrap="none">
            <a:spAutoFit/>
          </a:bodyPr>
          <a:lstStyle/>
          <a:p>
            <a:r>
              <a:rPr lang="zh-CN" altLang="en-US" dirty="0">
                <a:solidFill>
                  <a:schemeClr val="accent1"/>
                </a:solidFill>
              </a:rPr>
              <a:t>背景不同，“表”的意义不同</a:t>
            </a:r>
            <a:endParaRPr lang="zh-CN" altLang="en-US" dirty="0">
              <a:solidFill>
                <a:schemeClr val="accent1"/>
              </a:solidFill>
            </a:endParaRPr>
          </a:p>
        </p:txBody>
      </p:sp>
      <p:sp>
        <p:nvSpPr>
          <p:cNvPr id="15" name="Text Box 12"/>
          <p:cNvSpPr txBox="1">
            <a:spLocks noChangeArrowheads="1"/>
          </p:cNvSpPr>
          <p:nvPr/>
        </p:nvSpPr>
        <p:spPr bwMode="auto">
          <a:xfrm>
            <a:off x="611560" y="4643438"/>
            <a:ext cx="6954837" cy="461962"/>
          </a:xfrm>
          <a:prstGeom prst="rect">
            <a:avLst/>
          </a:prstGeom>
          <a:noFill/>
          <a:ln w="9525">
            <a:noFill/>
            <a:miter lim="800000"/>
          </a:ln>
        </p:spPr>
        <p:txBody>
          <a:bodyPr wrap="none">
            <a:spAutoFit/>
          </a:bodyPr>
          <a:lstStyle/>
          <a:p>
            <a:r>
              <a:rPr lang="zh-CN" altLang="en-US" b="1" dirty="0">
                <a:solidFill>
                  <a:srgbClr val="0070C0"/>
                </a:solidFill>
              </a:rPr>
              <a:t>程序设计</a:t>
            </a:r>
            <a:r>
              <a:rPr lang="zh-CN" altLang="en-US" dirty="0"/>
              <a:t>：面向业务逻辑处理、代码的封装和优化</a:t>
            </a:r>
            <a:endParaRPr lang="zh-CN" altLang="en-US" dirty="0"/>
          </a:p>
        </p:txBody>
      </p:sp>
      <p:sp>
        <p:nvSpPr>
          <p:cNvPr id="16" name="Text Box 6"/>
          <p:cNvSpPr txBox="1">
            <a:spLocks noChangeArrowheads="1"/>
          </p:cNvSpPr>
          <p:nvPr/>
        </p:nvSpPr>
        <p:spPr bwMode="auto">
          <a:xfrm>
            <a:off x="642938" y="5564188"/>
            <a:ext cx="7458075" cy="1200329"/>
          </a:xfrm>
          <a:prstGeom prst="rect">
            <a:avLst/>
          </a:prstGeom>
          <a:noFill/>
          <a:ln w="9525">
            <a:noFill/>
            <a:miter lim="800000"/>
          </a:ln>
        </p:spPr>
        <p:txBody>
          <a:bodyPr wrap="square">
            <a:spAutoFit/>
          </a:bodyPr>
          <a:lstStyle/>
          <a:p>
            <a:pPr>
              <a:defRPr/>
            </a:pPr>
            <a:r>
              <a:rPr lang="zh-CN" altLang="en-US" dirty="0">
                <a:solidFill>
                  <a:srgbClr val="0070C0"/>
                </a:solidFill>
              </a:rPr>
              <a:t>     关系模型是表的集合，而如何将表的集合转换为向特定用户展示的数据的子集（依然是表的形式）则是关系数据库三层模式首先考虑的问题</a:t>
            </a:r>
            <a:endParaRPr lang="zh-CN" altLang="en-US" dirty="0">
              <a:solidFill>
                <a:srgbClr val="0070C0"/>
              </a:solidFill>
            </a:endParaRPr>
          </a:p>
        </p:txBody>
      </p:sp>
    </p:spTree>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a:xfrm>
            <a:off x="381000" y="766763"/>
            <a:ext cx="8162925" cy="519112"/>
          </a:xfrm>
        </p:spPr>
        <p:txBody>
          <a:bodyPr/>
          <a:lstStyle/>
          <a:p>
            <a:pPr eaLnBrk="1" hangingPunct="1"/>
            <a:r>
              <a:rPr lang="en-US" altLang="zh-CN" sz="2800" b="1">
                <a:solidFill>
                  <a:schemeClr val="tx1"/>
                </a:solidFill>
                <a:latin typeface="宋体" pitchFamily="2" charset="-122"/>
                <a:ea typeface="宋体" pitchFamily="2" charset="-122"/>
              </a:rPr>
              <a:t>1.3.2  </a:t>
            </a:r>
            <a:r>
              <a:rPr lang="zh-CN" altLang="en-US" sz="2800" b="1">
                <a:solidFill>
                  <a:schemeClr val="tx1"/>
                </a:solidFill>
                <a:latin typeface="宋体" pitchFamily="2" charset="-122"/>
                <a:ea typeface="宋体" pitchFamily="2" charset="-122"/>
              </a:rPr>
              <a:t>主从式结构 </a:t>
            </a:r>
            <a:endParaRPr lang="zh-CN" altLang="en-US" sz="2800" b="1">
              <a:solidFill>
                <a:schemeClr val="tx1"/>
              </a:solidFill>
              <a:latin typeface="宋体" pitchFamily="2" charset="-122"/>
              <a:ea typeface="宋体" pitchFamily="2" charset="-122"/>
            </a:endParaRPr>
          </a:p>
        </p:txBody>
      </p:sp>
      <p:sp>
        <p:nvSpPr>
          <p:cNvPr id="8" name="灯片编号占位符 5"/>
          <p:cNvSpPr>
            <a:spLocks noGrp="1"/>
          </p:cNvSpPr>
          <p:nvPr>
            <p:ph type="sldNum" sz="quarter" idx="12"/>
          </p:nvPr>
        </p:nvSpPr>
        <p:spPr/>
        <p:txBody>
          <a:bodyPr/>
          <a:lstStyle/>
          <a:p>
            <a:pPr>
              <a:defRPr/>
            </a:pPr>
            <a:fld id="{DA1E18C9-82C1-40AC-B0A5-E37DC8AF8263}" type="slidenum">
              <a:rPr lang="en-US" altLang="zh-CN"/>
            </a:fld>
            <a:endParaRPr lang="en-US" altLang="zh-CN"/>
          </a:p>
        </p:txBody>
      </p:sp>
      <p:graphicFrame>
        <p:nvGraphicFramePr>
          <p:cNvPr id="17410" name="Object 7"/>
          <p:cNvGraphicFramePr>
            <a:graphicFrameLocks noChangeAspect="1"/>
          </p:cNvGraphicFramePr>
          <p:nvPr/>
        </p:nvGraphicFramePr>
        <p:xfrm>
          <a:off x="3929063" y="1214438"/>
          <a:ext cx="4267200" cy="2471737"/>
        </p:xfrm>
        <a:graphic>
          <a:graphicData uri="http://schemas.openxmlformats.org/presentationml/2006/ole">
            <mc:AlternateContent xmlns:mc="http://schemas.openxmlformats.org/markup-compatibility/2006">
              <mc:Choice xmlns:v="urn:schemas-microsoft-com:vml" Requires="v">
                <p:oleObj spid="_x0000_s17787" name="" r:id="rId1" imgW="2315210" imgH="1342390" progId="Word.Picture.8">
                  <p:embed/>
                </p:oleObj>
              </mc:Choice>
              <mc:Fallback>
                <p:oleObj name="" r:id="rId1" imgW="2315210" imgH="1342390" progId="Word.Picture.8">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9063" y="1214438"/>
                        <a:ext cx="4267200" cy="2471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413" name="Text Box 6"/>
          <p:cNvSpPr txBox="1">
            <a:spLocks noChangeArrowheads="1"/>
          </p:cNvSpPr>
          <p:nvPr/>
        </p:nvSpPr>
        <p:spPr bwMode="auto">
          <a:xfrm>
            <a:off x="457200" y="3276600"/>
            <a:ext cx="6843540" cy="3046988"/>
          </a:xfrm>
          <a:prstGeom prst="rect">
            <a:avLst/>
          </a:prstGeom>
          <a:noFill/>
          <a:ln w="9525">
            <a:noFill/>
            <a:miter lim="800000"/>
          </a:ln>
        </p:spPr>
        <p:txBody>
          <a:bodyPr wrap="none">
            <a:spAutoFit/>
          </a:bodyPr>
          <a:lstStyle/>
          <a:p>
            <a:r>
              <a:rPr lang="en-US" altLang="zh-CN" dirty="0"/>
              <a:t>1</a:t>
            </a:r>
            <a:r>
              <a:rPr lang="zh-CN" altLang="en-US" dirty="0">
                <a:latin typeface="Times New Roman" panose="02020503050405090304" pitchFamily="18" charset="0"/>
              </a:rPr>
              <a:t>、优点</a:t>
            </a:r>
            <a:endParaRPr lang="zh-CN" altLang="en-US" dirty="0"/>
          </a:p>
          <a:p>
            <a:r>
              <a:rPr lang="en-US" altLang="zh-CN" dirty="0"/>
              <a:t>1</a:t>
            </a:r>
            <a:r>
              <a:rPr lang="zh-CN" altLang="en-US" dirty="0">
                <a:latin typeface="Times New Roman" panose="02020503050405090304" pitchFamily="18" charset="0"/>
              </a:rPr>
              <a:t>）结构简单；</a:t>
            </a:r>
            <a:endParaRPr lang="zh-CN" altLang="en-US" dirty="0"/>
          </a:p>
          <a:p>
            <a:r>
              <a:rPr lang="en-US" altLang="zh-CN" dirty="0"/>
              <a:t>2</a:t>
            </a:r>
            <a:r>
              <a:rPr lang="zh-CN" altLang="en-US" dirty="0">
                <a:latin typeface="Times New Roman" panose="02020503050405090304" pitchFamily="18" charset="0"/>
              </a:rPr>
              <a:t>）资源共享性高（外理及数据均由主机完成）；</a:t>
            </a:r>
            <a:endParaRPr lang="zh-CN" altLang="en-US" dirty="0"/>
          </a:p>
          <a:p>
            <a:r>
              <a:rPr lang="en-US" altLang="zh-CN" dirty="0"/>
              <a:t>3</a:t>
            </a:r>
            <a:r>
              <a:rPr lang="zh-CN" altLang="en-US" dirty="0">
                <a:latin typeface="Times New Roman" panose="02020503050405090304" pitchFamily="18" charset="0"/>
              </a:rPr>
              <a:t>）数据易于管理与维护。</a:t>
            </a:r>
            <a:endParaRPr lang="zh-CN" altLang="en-US" dirty="0"/>
          </a:p>
          <a:p>
            <a:r>
              <a:rPr lang="en-US" altLang="zh-CN" dirty="0"/>
              <a:t>2</a:t>
            </a:r>
            <a:r>
              <a:rPr lang="zh-CN" altLang="en-US" dirty="0">
                <a:latin typeface="Times New Roman" panose="02020503050405090304" pitchFamily="18" charset="0"/>
              </a:rPr>
              <a:t>、缺点</a:t>
            </a:r>
            <a:endParaRPr lang="zh-CN" altLang="en-US" dirty="0"/>
          </a:p>
          <a:p>
            <a:r>
              <a:rPr lang="en-US" altLang="zh-CN" dirty="0"/>
              <a:t>1</a:t>
            </a:r>
            <a:r>
              <a:rPr lang="zh-CN" altLang="en-US" dirty="0">
                <a:latin typeface="Times New Roman" panose="02020503050405090304" pitchFamily="18" charset="0"/>
              </a:rPr>
              <a:t>）</a:t>
            </a:r>
            <a:r>
              <a:rPr lang="zh-CN" altLang="en-US" dirty="0">
                <a:solidFill>
                  <a:srgbClr val="FF0000"/>
                </a:solidFill>
                <a:latin typeface="Times New Roman" panose="02020503050405090304" pitchFamily="18" charset="0"/>
              </a:rPr>
              <a:t>主机负担重</a:t>
            </a:r>
            <a:endParaRPr lang="zh-CN" altLang="en-US" dirty="0">
              <a:solidFill>
                <a:srgbClr val="FF0000"/>
              </a:solidFill>
            </a:endParaRPr>
          </a:p>
          <a:p>
            <a:r>
              <a:rPr lang="zh-CN" altLang="en-US" dirty="0">
                <a:latin typeface="Times New Roman" panose="02020503050405090304" pitchFamily="18" charset="0"/>
              </a:rPr>
              <a:t>       用户数增多</a:t>
            </a:r>
            <a:r>
              <a:rPr lang="zh-CN" altLang="en-US" dirty="0">
                <a:latin typeface="微软雅黑" panose="020B0503020204020204" pitchFamily="34" charset="-122"/>
                <a:ea typeface="微软雅黑" panose="020B0503020204020204" pitchFamily="34" charset="-122"/>
              </a:rPr>
              <a:t>→</a:t>
            </a:r>
            <a:r>
              <a:rPr lang="en-US" altLang="zh-CN" dirty="0"/>
              <a:t>I/0</a:t>
            </a:r>
            <a:r>
              <a:rPr lang="zh-CN" altLang="en-US" dirty="0">
                <a:latin typeface="Times New Roman" panose="02020503050405090304" pitchFamily="18" charset="0"/>
              </a:rPr>
              <a:t>瓶领</a:t>
            </a:r>
            <a:endParaRPr lang="zh-CN" altLang="en-US" dirty="0"/>
          </a:p>
          <a:p>
            <a:r>
              <a:rPr lang="en-US" altLang="zh-CN" dirty="0"/>
              <a:t>2</a:t>
            </a:r>
            <a:r>
              <a:rPr lang="zh-CN" altLang="en-US" dirty="0">
                <a:latin typeface="宋体" pitchFamily="2" charset="-122"/>
              </a:rPr>
              <a:t>）可靠性弱（主机故障）</a:t>
            </a:r>
            <a:r>
              <a:rPr lang="zh-CN" altLang="en-US" dirty="0"/>
              <a:t> </a:t>
            </a:r>
            <a:endParaRPr lang="zh-CN" altLang="en-US" dirty="0"/>
          </a:p>
        </p:txBody>
      </p:sp>
    </p:spTree>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28674DB8-42FC-46E6-8583-C3DF121AE0E7}" type="slidenum">
              <a:rPr lang="en-US" altLang="zh-CN"/>
            </a:fld>
            <a:endParaRPr lang="en-US" altLang="zh-CN"/>
          </a:p>
        </p:txBody>
      </p:sp>
      <p:sp>
        <p:nvSpPr>
          <p:cNvPr id="18436" name="Rectangle 2"/>
          <p:cNvSpPr>
            <a:spLocks noChangeArrowheads="1"/>
          </p:cNvSpPr>
          <p:nvPr/>
        </p:nvSpPr>
        <p:spPr bwMode="auto">
          <a:xfrm>
            <a:off x="304800" y="754063"/>
            <a:ext cx="8458200" cy="503237"/>
          </a:xfrm>
          <a:prstGeom prst="rect">
            <a:avLst/>
          </a:prstGeom>
          <a:noFill/>
          <a:ln w="9525">
            <a:noFill/>
            <a:miter lim="800000"/>
          </a:ln>
        </p:spPr>
        <p:txBody>
          <a:bodyPr tIns="38088" bIns="38088">
            <a:spAutoFit/>
          </a:bodyPr>
          <a:lstStyle/>
          <a:p>
            <a:pPr algn="just"/>
            <a:r>
              <a:rPr lang="en-US" altLang="zh-CN" sz="2800" b="1">
                <a:latin typeface="Times New Roman" panose="02020503050405090304" pitchFamily="18" charset="0"/>
                <a:ea typeface="黑体" panose="02010609060101010101" pitchFamily="49" charset="-122"/>
              </a:rPr>
              <a:t>1.3.3  </a:t>
            </a:r>
            <a:r>
              <a:rPr lang="zh-CN" altLang="en-US" sz="2800" b="1">
                <a:latin typeface="Times New Roman" panose="02020503050405090304" pitchFamily="18" charset="0"/>
                <a:ea typeface="黑体" panose="02010609060101010101" pitchFamily="49" charset="-122"/>
              </a:rPr>
              <a:t>分布式结构（</a:t>
            </a:r>
            <a:r>
              <a:rPr lang="en-US" altLang="zh-CN" sz="2800" b="1">
                <a:latin typeface="Times New Roman" panose="02020503050405090304" pitchFamily="18" charset="0"/>
                <a:ea typeface="黑体" panose="02010609060101010101" pitchFamily="49" charset="-122"/>
              </a:rPr>
              <a:t>distrubution</a:t>
            </a:r>
            <a:r>
              <a:rPr lang="zh-CN" altLang="en-US" sz="2800" b="1">
                <a:latin typeface="Times New Roman" panose="02020503050405090304" pitchFamily="18" charset="0"/>
                <a:ea typeface="黑体" panose="02010609060101010101" pitchFamily="49" charset="-122"/>
              </a:rPr>
              <a:t>）</a:t>
            </a:r>
            <a:endParaRPr lang="zh-CN" altLang="en-US" sz="2800">
              <a:latin typeface="Times New Roman" panose="02020503050405090304" pitchFamily="18" charset="0"/>
            </a:endParaRPr>
          </a:p>
        </p:txBody>
      </p:sp>
      <p:graphicFrame>
        <p:nvGraphicFramePr>
          <p:cNvPr id="18434" name="Object 7"/>
          <p:cNvGraphicFramePr>
            <a:graphicFrameLocks noChangeAspect="1"/>
          </p:cNvGraphicFramePr>
          <p:nvPr/>
        </p:nvGraphicFramePr>
        <p:xfrm>
          <a:off x="1295400" y="1516063"/>
          <a:ext cx="5867400" cy="3841750"/>
        </p:xfrm>
        <a:graphic>
          <a:graphicData uri="http://schemas.openxmlformats.org/presentationml/2006/ole">
            <mc:AlternateContent xmlns:mc="http://schemas.openxmlformats.org/markup-compatibility/2006">
              <mc:Choice xmlns:v="urn:schemas-microsoft-com:vml" Requires="v">
                <p:oleObj spid="_x0000_s18811" name="" r:id="rId1" imgW="3514090" imgH="2294890" progId="Word.Picture.8">
                  <p:embed/>
                </p:oleObj>
              </mc:Choice>
              <mc:Fallback>
                <p:oleObj name="" r:id="rId1" imgW="3514090" imgH="2294890" progId="Word.Picture.8">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516063"/>
                        <a:ext cx="5867400" cy="3841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E0872677-38EE-47BF-8D94-8170F0F7F48A}" type="slidenum">
              <a:rPr lang="en-US" altLang="zh-CN"/>
            </a:fld>
            <a:endParaRPr lang="en-US" altLang="zh-CN"/>
          </a:p>
        </p:txBody>
      </p:sp>
      <p:sp>
        <p:nvSpPr>
          <p:cNvPr id="103427" name="Rectangle 2"/>
          <p:cNvSpPr>
            <a:spLocks noChangeArrowheads="1"/>
          </p:cNvSpPr>
          <p:nvPr/>
        </p:nvSpPr>
        <p:spPr bwMode="auto">
          <a:xfrm>
            <a:off x="457200" y="1050925"/>
            <a:ext cx="8153400" cy="4746625"/>
          </a:xfrm>
          <a:prstGeom prst="rect">
            <a:avLst/>
          </a:prstGeom>
          <a:noFill/>
          <a:ln w="9525">
            <a:noFill/>
            <a:miter lim="800000"/>
          </a:ln>
        </p:spPr>
        <p:txBody>
          <a:bodyPr>
            <a:spAutoFit/>
          </a:bodyPr>
          <a:lstStyle/>
          <a:p>
            <a:pPr algn="just">
              <a:lnSpc>
                <a:spcPct val="120000"/>
              </a:lnSpc>
            </a:pPr>
            <a:r>
              <a:rPr lang="en-US" altLang="zh-CN" sz="2800" dirty="0">
                <a:latin typeface="Times New Roman" panose="02020503050405090304" pitchFamily="18" charset="0"/>
              </a:rPr>
              <a:t>1. </a:t>
            </a:r>
            <a:r>
              <a:rPr lang="zh-CN" altLang="en-US" sz="2800" dirty="0">
                <a:latin typeface="Times New Roman" panose="02020503050405090304" pitchFamily="18" charset="0"/>
              </a:rPr>
              <a:t>优点</a:t>
            </a:r>
            <a:endParaRPr lang="zh-CN" altLang="en-US" sz="2800" dirty="0"/>
          </a:p>
          <a:p>
            <a:pPr algn="just" eaLnBrk="0" hangingPunct="0">
              <a:lnSpc>
                <a:spcPct val="120000"/>
              </a:lnSpc>
            </a:pPr>
            <a:r>
              <a:rPr lang="en-US" altLang="zh-CN" sz="2800" dirty="0">
                <a:latin typeface="Times New Roman" panose="02020503050405090304" pitchFamily="18" charset="0"/>
              </a:rPr>
              <a:t>1</a:t>
            </a:r>
            <a:r>
              <a:rPr lang="zh-CN" altLang="en-US" sz="2800" dirty="0">
                <a:latin typeface="Times New Roman" panose="02020503050405090304" pitchFamily="18" charset="0"/>
              </a:rPr>
              <a:t>）自治与协调</a:t>
            </a:r>
            <a:endParaRPr lang="zh-CN" altLang="en-US" sz="2800" dirty="0"/>
          </a:p>
          <a:p>
            <a:pPr algn="just" eaLnBrk="0" hangingPunct="0">
              <a:lnSpc>
                <a:spcPct val="120000"/>
              </a:lnSpc>
            </a:pPr>
            <a:r>
              <a:rPr lang="en-US" altLang="zh-CN" sz="2800" dirty="0">
                <a:solidFill>
                  <a:srgbClr val="FF0000"/>
                </a:solidFill>
                <a:latin typeface="Times New Roman" panose="02020503050405090304" pitchFamily="18" charset="0"/>
              </a:rPr>
              <a:t>       a. </a:t>
            </a:r>
            <a:r>
              <a:rPr lang="zh-CN" altLang="en-US" sz="2800" dirty="0">
                <a:solidFill>
                  <a:srgbClr val="FF0000"/>
                </a:solidFill>
                <a:latin typeface="Times New Roman" panose="02020503050405090304" pitchFamily="18" charset="0"/>
              </a:rPr>
              <a:t>独立能力；</a:t>
            </a:r>
            <a:endParaRPr lang="zh-CN" altLang="en-US" sz="2800" dirty="0">
              <a:solidFill>
                <a:srgbClr val="FF0000"/>
              </a:solidFill>
            </a:endParaRPr>
          </a:p>
          <a:p>
            <a:pPr algn="just" eaLnBrk="0" hangingPunct="0">
              <a:lnSpc>
                <a:spcPct val="120000"/>
              </a:lnSpc>
            </a:pPr>
            <a:r>
              <a:rPr lang="en-US" altLang="zh-CN" sz="2800" dirty="0">
                <a:solidFill>
                  <a:srgbClr val="FF0000"/>
                </a:solidFill>
                <a:latin typeface="Times New Roman" panose="02020503050405090304" pitchFamily="18" charset="0"/>
              </a:rPr>
              <a:t>       b. </a:t>
            </a:r>
            <a:r>
              <a:rPr lang="zh-CN" altLang="en-US" sz="2800" dirty="0">
                <a:solidFill>
                  <a:srgbClr val="FF0000"/>
                </a:solidFill>
                <a:latin typeface="Times New Roman" panose="02020503050405090304" pitchFamily="18" charset="0"/>
              </a:rPr>
              <a:t>异地数据访问。</a:t>
            </a:r>
            <a:endParaRPr lang="zh-CN" altLang="en-US" sz="2800" dirty="0">
              <a:solidFill>
                <a:srgbClr val="FF0000"/>
              </a:solidFill>
            </a:endParaRPr>
          </a:p>
          <a:p>
            <a:pPr algn="just" eaLnBrk="0" hangingPunct="0">
              <a:lnSpc>
                <a:spcPct val="120000"/>
              </a:lnSpc>
            </a:pPr>
            <a:r>
              <a:rPr lang="en-US" altLang="zh-CN" sz="2800" dirty="0">
                <a:latin typeface="Times New Roman" panose="02020503050405090304" pitchFamily="18" charset="0"/>
              </a:rPr>
              <a:t>2</a:t>
            </a:r>
            <a:r>
              <a:rPr lang="zh-CN" altLang="en-US" sz="2800" dirty="0">
                <a:latin typeface="Times New Roman" panose="02020503050405090304" pitchFamily="18" charset="0"/>
              </a:rPr>
              <a:t>）可靠性高</a:t>
            </a:r>
            <a:endParaRPr lang="zh-CN" altLang="en-US" sz="2800" dirty="0"/>
          </a:p>
          <a:p>
            <a:pPr algn="just" eaLnBrk="0" hangingPunct="0">
              <a:lnSpc>
                <a:spcPct val="120000"/>
              </a:lnSpc>
            </a:pPr>
            <a:r>
              <a:rPr lang="en-US" altLang="zh-CN" sz="2800" dirty="0">
                <a:latin typeface="Times New Roman" panose="02020503050405090304" pitchFamily="18" charset="0"/>
              </a:rPr>
              <a:t>3</a:t>
            </a:r>
            <a:r>
              <a:rPr lang="zh-CN" altLang="en-US" sz="2800" dirty="0">
                <a:latin typeface="Times New Roman" panose="02020503050405090304" pitchFamily="18" charset="0"/>
              </a:rPr>
              <a:t>）可用性好</a:t>
            </a:r>
            <a:endParaRPr lang="zh-CN" altLang="en-US" sz="2800" dirty="0"/>
          </a:p>
          <a:p>
            <a:pPr algn="just" eaLnBrk="0" hangingPunct="0">
              <a:lnSpc>
                <a:spcPct val="120000"/>
              </a:lnSpc>
            </a:pPr>
            <a:r>
              <a:rPr lang="en-US" altLang="zh-CN" sz="2800" dirty="0">
                <a:latin typeface="Times New Roman" panose="02020503050405090304" pitchFamily="18" charset="0"/>
              </a:rPr>
              <a:t>2. </a:t>
            </a:r>
            <a:r>
              <a:rPr lang="zh-CN" altLang="en-US" sz="2800" dirty="0">
                <a:latin typeface="Times New Roman" panose="02020503050405090304" pitchFamily="18" charset="0"/>
              </a:rPr>
              <a:t>缺点</a:t>
            </a:r>
            <a:endParaRPr lang="zh-CN" altLang="en-US" sz="2800" dirty="0"/>
          </a:p>
          <a:p>
            <a:pPr algn="just" eaLnBrk="0" hangingPunct="0">
              <a:lnSpc>
                <a:spcPct val="120000"/>
              </a:lnSpc>
            </a:pPr>
            <a:r>
              <a:rPr lang="en-US" altLang="zh-CN" sz="2800" dirty="0">
                <a:latin typeface="Times New Roman" panose="02020503050405090304" pitchFamily="18" charset="0"/>
              </a:rPr>
              <a:t>1</a:t>
            </a:r>
            <a:r>
              <a:rPr lang="zh-CN" altLang="en-US" sz="2800" dirty="0">
                <a:latin typeface="Times New Roman" panose="02020503050405090304" pitchFamily="18" charset="0"/>
              </a:rPr>
              <a:t>）结构与管理复杂；</a:t>
            </a:r>
            <a:endParaRPr lang="zh-CN" altLang="en-US" sz="2800" dirty="0"/>
          </a:p>
          <a:p>
            <a:pPr eaLnBrk="0" hangingPunct="0">
              <a:lnSpc>
                <a:spcPct val="120000"/>
              </a:lnSpc>
            </a:pPr>
            <a:r>
              <a:rPr lang="en-US" altLang="zh-CN" sz="2800" dirty="0">
                <a:latin typeface="Times New Roman" panose="02020503050405090304" pitchFamily="18" charset="0"/>
              </a:rPr>
              <a:t>2</a:t>
            </a:r>
            <a:r>
              <a:rPr lang="zh-CN" altLang="en-US" sz="2800" dirty="0">
                <a:latin typeface="宋体" pitchFamily="2" charset="-122"/>
              </a:rPr>
              <a:t>）效率受网速影响（数据同步、事务处理）。</a:t>
            </a:r>
            <a:r>
              <a:rPr lang="zh-CN" altLang="en-US" sz="2800" dirty="0"/>
              <a:t> </a:t>
            </a:r>
            <a:endParaRPr lang="zh-CN" altLang="en-US" sz="2800" dirty="0">
              <a:latin typeface="Times New Roman" panose="02020503050405090304" pitchFamily="18" charset="0"/>
            </a:endParaRPr>
          </a:p>
        </p:txBody>
      </p:sp>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945DCA88-8234-48BD-A25C-8D63D63850DD}" type="slidenum">
              <a:rPr lang="en-US" altLang="zh-CN"/>
            </a:fld>
            <a:endParaRPr lang="en-US" altLang="zh-CN"/>
          </a:p>
        </p:txBody>
      </p:sp>
      <p:sp>
        <p:nvSpPr>
          <p:cNvPr id="19460" name="Rectangle 2"/>
          <p:cNvSpPr>
            <a:spLocks noChangeArrowheads="1"/>
          </p:cNvSpPr>
          <p:nvPr/>
        </p:nvSpPr>
        <p:spPr bwMode="auto">
          <a:xfrm>
            <a:off x="381000" y="731838"/>
            <a:ext cx="8367713" cy="503237"/>
          </a:xfrm>
          <a:prstGeom prst="rect">
            <a:avLst/>
          </a:prstGeom>
          <a:noFill/>
          <a:ln w="9525">
            <a:noFill/>
            <a:miter lim="800000"/>
          </a:ln>
        </p:spPr>
        <p:txBody>
          <a:bodyPr tIns="38088" bIns="38088">
            <a:spAutoFit/>
          </a:bodyPr>
          <a:lstStyle/>
          <a:p>
            <a:pPr algn="just"/>
            <a:r>
              <a:rPr lang="en-US" altLang="zh-CN" sz="2800" b="1">
                <a:latin typeface="Times New Roman" panose="02020503050405090304" pitchFamily="18" charset="0"/>
                <a:ea typeface="黑体" panose="02010609060101010101" pitchFamily="49" charset="-122"/>
              </a:rPr>
              <a:t>1.3.4  </a:t>
            </a:r>
            <a:r>
              <a:rPr lang="zh-CN" altLang="en-US" sz="2800" b="1">
                <a:latin typeface="Times New Roman" panose="02020503050405090304" pitchFamily="18" charset="0"/>
                <a:ea typeface="黑体" panose="02010609060101010101" pitchFamily="49" charset="-122"/>
              </a:rPr>
              <a:t>客户</a:t>
            </a:r>
            <a:r>
              <a:rPr lang="en-US" altLang="zh-CN" sz="2800" b="1">
                <a:latin typeface="Times New Roman" panose="02020503050405090304" pitchFamily="18" charset="0"/>
                <a:ea typeface="黑体" panose="02010609060101010101" pitchFamily="49" charset="-122"/>
              </a:rPr>
              <a:t>/</a:t>
            </a:r>
            <a:r>
              <a:rPr lang="zh-CN" altLang="en-US" sz="2800" b="1">
                <a:latin typeface="Times New Roman" panose="02020503050405090304" pitchFamily="18" charset="0"/>
                <a:ea typeface="黑体" panose="02010609060101010101" pitchFamily="49" charset="-122"/>
              </a:rPr>
              <a:t>服务器结构（</a:t>
            </a:r>
            <a:r>
              <a:rPr lang="en-US" altLang="zh-CN" sz="2800" b="1">
                <a:latin typeface="Times New Roman" panose="02020503050405090304" pitchFamily="18" charset="0"/>
                <a:ea typeface="黑体" panose="02010609060101010101" pitchFamily="49" charset="-122"/>
              </a:rPr>
              <a:t>Client/Server, C/S</a:t>
            </a:r>
            <a:r>
              <a:rPr lang="zh-CN" altLang="en-US" sz="2800" b="1">
                <a:latin typeface="Times New Roman" panose="02020503050405090304" pitchFamily="18" charset="0"/>
                <a:ea typeface="黑体" panose="02010609060101010101" pitchFamily="49" charset="-122"/>
              </a:rPr>
              <a:t>）</a:t>
            </a:r>
            <a:endParaRPr lang="zh-CN" altLang="en-US" sz="2800">
              <a:latin typeface="Times New Roman" panose="02020503050405090304" pitchFamily="18" charset="0"/>
            </a:endParaRPr>
          </a:p>
        </p:txBody>
      </p:sp>
      <p:graphicFrame>
        <p:nvGraphicFramePr>
          <p:cNvPr id="19458" name="Object 7"/>
          <p:cNvGraphicFramePr>
            <a:graphicFrameLocks noChangeAspect="1"/>
          </p:cNvGraphicFramePr>
          <p:nvPr/>
        </p:nvGraphicFramePr>
        <p:xfrm>
          <a:off x="2362200" y="1341438"/>
          <a:ext cx="4876800" cy="4587875"/>
        </p:xfrm>
        <a:graphic>
          <a:graphicData uri="http://schemas.openxmlformats.org/presentationml/2006/ole">
            <mc:AlternateContent xmlns:mc="http://schemas.openxmlformats.org/markup-compatibility/2006">
              <mc:Choice xmlns:v="urn:schemas-microsoft-com:vml" Requires="v">
                <p:oleObj spid="_x0000_s19835" name="Picture" r:id="rId1" imgW="3022600" imgH="2832100" progId="Word.Picture.8">
                  <p:embed/>
                </p:oleObj>
              </mc:Choice>
              <mc:Fallback>
                <p:oleObj name="Picture" r:id="rId1" imgW="3022600" imgH="2832100" progId="Word.Picture.8">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1341438"/>
                        <a:ext cx="4876800" cy="4587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8F93977C-4A7C-4B66-B550-2DE237616D15}" type="slidenum">
              <a:rPr lang="en-US" altLang="zh-CN"/>
            </a:fld>
            <a:endParaRPr lang="en-US" altLang="zh-CN"/>
          </a:p>
        </p:txBody>
      </p:sp>
      <p:sp>
        <p:nvSpPr>
          <p:cNvPr id="104451" name="Rectangle 2"/>
          <p:cNvSpPr>
            <a:spLocks noChangeArrowheads="1"/>
          </p:cNvSpPr>
          <p:nvPr/>
        </p:nvSpPr>
        <p:spPr bwMode="auto">
          <a:xfrm>
            <a:off x="381000" y="987425"/>
            <a:ext cx="8382000" cy="4229100"/>
          </a:xfrm>
          <a:prstGeom prst="rect">
            <a:avLst/>
          </a:prstGeom>
          <a:noFill/>
          <a:ln w="9525">
            <a:noFill/>
            <a:miter lim="800000"/>
          </a:ln>
        </p:spPr>
        <p:txBody>
          <a:bodyPr>
            <a:spAutoFit/>
          </a:bodyPr>
          <a:lstStyle/>
          <a:p>
            <a:pPr algn="just">
              <a:lnSpc>
                <a:spcPct val="120000"/>
              </a:lnSpc>
            </a:pPr>
            <a:r>
              <a:rPr lang="zh-CN" altLang="en-US" sz="2800" dirty="0">
                <a:latin typeface="Times New Roman" panose="02020503050405090304" pitchFamily="18" charset="0"/>
              </a:rPr>
              <a:t>客户发请求到</a:t>
            </a:r>
            <a:r>
              <a:rPr lang="en-US" altLang="zh-CN" sz="2800" dirty="0"/>
              <a:t>S</a:t>
            </a:r>
            <a:r>
              <a:rPr lang="zh-CN" altLang="en-US" sz="2800" dirty="0">
                <a:latin typeface="Times New Roman" panose="02020503050405090304" pitchFamily="18" charset="0"/>
              </a:rPr>
              <a:t>端，结果返回到</a:t>
            </a:r>
            <a:r>
              <a:rPr lang="en-US" altLang="zh-CN" sz="2800" dirty="0"/>
              <a:t>C</a:t>
            </a:r>
            <a:r>
              <a:rPr lang="zh-CN" altLang="en-US" sz="2800" dirty="0">
                <a:latin typeface="Times New Roman" panose="02020503050405090304" pitchFamily="18" charset="0"/>
              </a:rPr>
              <a:t>端。</a:t>
            </a:r>
            <a:endParaRPr lang="zh-CN" altLang="en-US" sz="2800" dirty="0"/>
          </a:p>
          <a:p>
            <a:pPr algn="just" eaLnBrk="0" hangingPunct="0">
              <a:lnSpc>
                <a:spcPct val="120000"/>
              </a:lnSpc>
            </a:pPr>
            <a:r>
              <a:rPr lang="en-US" altLang="zh-CN" sz="2800" dirty="0">
                <a:latin typeface="Times New Roman" panose="02020503050405090304" pitchFamily="18" charset="0"/>
              </a:rPr>
              <a:t>1. </a:t>
            </a:r>
            <a:r>
              <a:rPr lang="zh-CN" altLang="en-US" sz="2800" dirty="0">
                <a:latin typeface="Times New Roman" panose="02020503050405090304" pitchFamily="18" charset="0"/>
              </a:rPr>
              <a:t>优点</a:t>
            </a:r>
            <a:endParaRPr lang="zh-CN" altLang="en-US" sz="2800" dirty="0"/>
          </a:p>
          <a:p>
            <a:pPr algn="just" eaLnBrk="0" hangingPunct="0">
              <a:lnSpc>
                <a:spcPct val="120000"/>
              </a:lnSpc>
            </a:pPr>
            <a:r>
              <a:rPr lang="en-US" altLang="zh-CN" sz="2800" dirty="0">
                <a:latin typeface="Times New Roman" panose="02020503050405090304" pitchFamily="18" charset="0"/>
              </a:rPr>
              <a:t>1</a:t>
            </a:r>
            <a:r>
              <a:rPr lang="zh-CN" altLang="en-US" sz="2800" dirty="0">
                <a:latin typeface="Times New Roman" panose="02020503050405090304" pitchFamily="18" charset="0"/>
              </a:rPr>
              <a:t>）</a:t>
            </a:r>
            <a:r>
              <a:rPr lang="zh-CN" altLang="en-US" sz="2800" dirty="0">
                <a:solidFill>
                  <a:srgbClr val="FF0000"/>
                </a:solidFill>
                <a:latin typeface="Times New Roman" panose="02020503050405090304" pitchFamily="18" charset="0"/>
              </a:rPr>
              <a:t>负载均衡，</a:t>
            </a:r>
            <a:r>
              <a:rPr lang="zh-CN" altLang="en-US" sz="2800" dirty="0">
                <a:latin typeface="Times New Roman" panose="02020503050405090304" pitchFamily="18" charset="0"/>
              </a:rPr>
              <a:t>效率提高；</a:t>
            </a:r>
            <a:endParaRPr lang="zh-CN" altLang="en-US" sz="2800" dirty="0"/>
          </a:p>
          <a:p>
            <a:pPr algn="just" eaLnBrk="0" hangingPunct="0">
              <a:lnSpc>
                <a:spcPct val="120000"/>
              </a:lnSpc>
            </a:pPr>
            <a:r>
              <a:rPr lang="en-US" altLang="zh-CN" sz="2800" dirty="0">
                <a:latin typeface="Times New Roman" panose="02020503050405090304" pitchFamily="18" charset="0"/>
              </a:rPr>
              <a:t>2</a:t>
            </a:r>
            <a:r>
              <a:rPr lang="zh-CN" altLang="en-US" sz="2800" dirty="0">
                <a:latin typeface="Times New Roman" panose="02020503050405090304" pitchFamily="18" charset="0"/>
              </a:rPr>
              <a:t>）减少网络传输量；</a:t>
            </a:r>
            <a:endParaRPr lang="zh-CN" altLang="en-US" sz="2800" dirty="0"/>
          </a:p>
          <a:p>
            <a:pPr algn="just" eaLnBrk="0" hangingPunct="0">
              <a:lnSpc>
                <a:spcPct val="120000"/>
              </a:lnSpc>
            </a:pPr>
            <a:r>
              <a:rPr lang="en-US" altLang="zh-CN" sz="2800" dirty="0">
                <a:latin typeface="Times New Roman" panose="02020503050405090304" pitchFamily="18" charset="0"/>
              </a:rPr>
              <a:t>3</a:t>
            </a:r>
            <a:r>
              <a:rPr lang="zh-CN" altLang="en-US" sz="2800" dirty="0">
                <a:latin typeface="Times New Roman" panose="02020503050405090304" pitchFamily="18" charset="0"/>
              </a:rPr>
              <a:t>）提高吞吐率；</a:t>
            </a:r>
            <a:endParaRPr lang="zh-CN" altLang="en-US" sz="2800" dirty="0"/>
          </a:p>
          <a:p>
            <a:pPr algn="just" eaLnBrk="0" hangingPunct="0">
              <a:lnSpc>
                <a:spcPct val="120000"/>
              </a:lnSpc>
            </a:pPr>
            <a:r>
              <a:rPr lang="en-US" altLang="zh-CN" sz="2800" dirty="0">
                <a:latin typeface="Times New Roman" panose="02020503050405090304" pitchFamily="18" charset="0"/>
              </a:rPr>
              <a:t>4</a:t>
            </a:r>
            <a:r>
              <a:rPr lang="zh-CN" altLang="en-US" sz="2800" dirty="0">
                <a:latin typeface="Times New Roman" panose="02020503050405090304" pitchFamily="18" charset="0"/>
              </a:rPr>
              <a:t>）</a:t>
            </a:r>
            <a:r>
              <a:rPr lang="zh-CN" altLang="en-US" sz="2800" dirty="0">
                <a:solidFill>
                  <a:srgbClr val="FF0000"/>
                </a:solidFill>
                <a:latin typeface="Times New Roman" panose="02020503050405090304" pitchFamily="18" charset="0"/>
              </a:rPr>
              <a:t>开放性好。</a:t>
            </a:r>
            <a:endParaRPr lang="zh-CN" altLang="en-US" sz="2800" dirty="0">
              <a:solidFill>
                <a:srgbClr val="FF0000"/>
              </a:solidFill>
            </a:endParaRPr>
          </a:p>
          <a:p>
            <a:pPr algn="just" eaLnBrk="0" hangingPunct="0">
              <a:lnSpc>
                <a:spcPct val="120000"/>
              </a:lnSpc>
            </a:pPr>
            <a:r>
              <a:rPr lang="en-US" altLang="zh-CN" sz="2800" dirty="0">
                <a:latin typeface="Times New Roman" panose="02020503050405090304" pitchFamily="18" charset="0"/>
              </a:rPr>
              <a:t>2. </a:t>
            </a:r>
            <a:r>
              <a:rPr lang="zh-CN" altLang="en-US" sz="2800" dirty="0">
                <a:latin typeface="Times New Roman" panose="02020503050405090304" pitchFamily="18" charset="0"/>
              </a:rPr>
              <a:t>缺点</a:t>
            </a:r>
            <a:endParaRPr lang="zh-CN" altLang="en-US" sz="2800" dirty="0"/>
          </a:p>
          <a:p>
            <a:pPr eaLnBrk="0" hangingPunct="0">
              <a:lnSpc>
                <a:spcPct val="120000"/>
              </a:lnSpc>
            </a:pPr>
            <a:r>
              <a:rPr lang="zh-CN" altLang="en-US" sz="2800" dirty="0">
                <a:latin typeface="Times New Roman" panose="02020503050405090304" pitchFamily="18" charset="0"/>
              </a:rPr>
              <a:t>数据库</a:t>
            </a:r>
            <a:r>
              <a:rPr lang="zh-CN" altLang="en-US" sz="2800" dirty="0">
                <a:latin typeface="宋体" pitchFamily="2" charset="-122"/>
              </a:rPr>
              <a:t>访问瓶颈。</a:t>
            </a:r>
            <a:r>
              <a:rPr lang="zh-CN" altLang="en-US" sz="2800" dirty="0"/>
              <a:t> </a:t>
            </a:r>
            <a:endParaRPr lang="zh-CN" altLang="en-US" sz="2800" dirty="0">
              <a:latin typeface="Times New Roman" panose="02020503050405090304" pitchFamily="18" charset="0"/>
            </a:endParaRPr>
          </a:p>
        </p:txBody>
      </p:sp>
    </p:spTree>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a:xfrm>
            <a:off x="395288" y="595313"/>
            <a:ext cx="8162925" cy="762000"/>
          </a:xfrm>
        </p:spPr>
        <p:txBody>
          <a:bodyPr>
            <a:normAutofit fontScale="90000"/>
          </a:bodyPr>
          <a:lstStyle/>
          <a:p>
            <a:pPr eaLnBrk="1" fontAlgn="auto" hangingPunct="1">
              <a:spcAft>
                <a:spcPts val="0"/>
              </a:spcAft>
              <a:defRPr/>
            </a:pPr>
            <a:r>
              <a:rPr lang="zh-CN" altLang="en-US" dirty="0"/>
              <a:t>数据库系统的</a:t>
            </a:r>
            <a:r>
              <a:rPr lang="en-US" altLang="zh-CN" dirty="0"/>
              <a:t>B/S</a:t>
            </a:r>
            <a:r>
              <a:rPr lang="zh-CN" altLang="en-US" dirty="0"/>
              <a:t>结构</a:t>
            </a:r>
            <a:endParaRPr lang="zh-CN" altLang="en-US" dirty="0"/>
          </a:p>
        </p:txBody>
      </p:sp>
      <p:sp>
        <p:nvSpPr>
          <p:cNvPr id="8" name="灯片编号占位符 5"/>
          <p:cNvSpPr>
            <a:spLocks noGrp="1"/>
          </p:cNvSpPr>
          <p:nvPr>
            <p:ph type="sldNum" sz="quarter" idx="12"/>
          </p:nvPr>
        </p:nvSpPr>
        <p:spPr/>
        <p:txBody>
          <a:bodyPr/>
          <a:lstStyle/>
          <a:p>
            <a:pPr>
              <a:defRPr/>
            </a:pPr>
            <a:fld id="{D7BFF1BC-E76A-4EA8-9725-0DCCFF0CB4FB}" type="slidenum">
              <a:rPr lang="en-US" altLang="zh-CN"/>
            </a:fld>
            <a:endParaRPr lang="en-US" altLang="zh-CN"/>
          </a:p>
        </p:txBody>
      </p:sp>
      <p:graphicFrame>
        <p:nvGraphicFramePr>
          <p:cNvPr id="20482" name="Object 7"/>
          <p:cNvGraphicFramePr>
            <a:graphicFrameLocks noChangeAspect="1"/>
          </p:cNvGraphicFramePr>
          <p:nvPr/>
        </p:nvGraphicFramePr>
        <p:xfrm>
          <a:off x="1187450" y="1268413"/>
          <a:ext cx="6057900" cy="3754437"/>
        </p:xfrm>
        <a:graphic>
          <a:graphicData uri="http://schemas.openxmlformats.org/presentationml/2006/ole">
            <mc:AlternateContent xmlns:mc="http://schemas.openxmlformats.org/markup-compatibility/2006">
              <mc:Choice xmlns:v="urn:schemas-microsoft-com:vml" Requires="v">
                <p:oleObj spid="_x0000_s20859" name="图片" r:id="rId1" imgW="6057900" imgH="3752850" progId="Word.Picture.8">
                  <p:embed/>
                </p:oleObj>
              </mc:Choice>
              <mc:Fallback>
                <p:oleObj name="图片" r:id="rId1" imgW="6057900" imgH="3752850" progId="Word.Picture.8">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450" y="1268413"/>
                        <a:ext cx="6057900" cy="37544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a:xfrm>
            <a:off x="395288" y="487363"/>
            <a:ext cx="8162925" cy="762000"/>
          </a:xfrm>
        </p:spPr>
        <p:txBody>
          <a:bodyPr>
            <a:normAutofit fontScale="90000"/>
          </a:bodyPr>
          <a:lstStyle/>
          <a:p>
            <a:pPr eaLnBrk="1" fontAlgn="auto" hangingPunct="1">
              <a:spcAft>
                <a:spcPts val="0"/>
              </a:spcAft>
              <a:defRPr/>
            </a:pPr>
            <a:r>
              <a:rPr lang="zh-CN" altLang="en-US"/>
              <a:t>数据库系统的</a:t>
            </a:r>
            <a:r>
              <a:rPr lang="en-US" altLang="zh-CN"/>
              <a:t>B/S</a:t>
            </a:r>
            <a:r>
              <a:rPr lang="zh-CN" altLang="en-US"/>
              <a:t>结构（续）</a:t>
            </a:r>
            <a:endParaRPr lang="zh-CN" altLang="en-US"/>
          </a:p>
        </p:txBody>
      </p:sp>
      <p:sp>
        <p:nvSpPr>
          <p:cNvPr id="13" name="灯片编号占位符 5"/>
          <p:cNvSpPr>
            <a:spLocks noGrp="1"/>
          </p:cNvSpPr>
          <p:nvPr>
            <p:ph type="sldNum" sz="quarter" idx="12"/>
          </p:nvPr>
        </p:nvSpPr>
        <p:spPr/>
        <p:txBody>
          <a:bodyPr/>
          <a:lstStyle/>
          <a:p>
            <a:pPr>
              <a:defRPr/>
            </a:pPr>
            <a:fld id="{0C67C5D7-541A-4D19-A6C3-BC5B955E28FE}" type="slidenum">
              <a:rPr lang="en-US" altLang="zh-CN"/>
            </a:fld>
            <a:endParaRPr lang="en-US" altLang="zh-CN"/>
          </a:p>
        </p:txBody>
      </p:sp>
      <p:graphicFrame>
        <p:nvGraphicFramePr>
          <p:cNvPr id="21506" name="Object 7"/>
          <p:cNvGraphicFramePr>
            <a:graphicFrameLocks noChangeAspect="1"/>
          </p:cNvGraphicFramePr>
          <p:nvPr/>
        </p:nvGraphicFramePr>
        <p:xfrm>
          <a:off x="395288" y="1208088"/>
          <a:ext cx="8353425" cy="4895850"/>
        </p:xfrm>
        <a:graphic>
          <a:graphicData uri="http://schemas.openxmlformats.org/presentationml/2006/ole">
            <mc:AlternateContent xmlns:mc="http://schemas.openxmlformats.org/markup-compatibility/2006">
              <mc:Choice xmlns:v="urn:schemas-microsoft-com:vml" Requires="v">
                <p:oleObj spid="_x0000_s21883" name="图片" r:id="rId1" imgW="8458200" imgH="5381625" progId="Word.Picture.8">
                  <p:embed/>
                </p:oleObj>
              </mc:Choice>
              <mc:Fallback>
                <p:oleObj name="图片" r:id="rId1" imgW="8458200" imgH="5381625" progId="Word.Picture.8">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1208088"/>
                        <a:ext cx="8353425" cy="4895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1078" name="Text Box 6"/>
          <p:cNvSpPr txBox="1">
            <a:spLocks noChangeArrowheads="1"/>
          </p:cNvSpPr>
          <p:nvPr/>
        </p:nvSpPr>
        <p:spPr bwMode="auto">
          <a:xfrm>
            <a:off x="376238" y="6115050"/>
            <a:ext cx="1316037" cy="457200"/>
          </a:xfrm>
          <a:prstGeom prst="rect">
            <a:avLst/>
          </a:prstGeom>
          <a:noFill/>
          <a:ln w="9525">
            <a:noFill/>
            <a:miter lim="800000"/>
          </a:ln>
        </p:spPr>
        <p:txBody>
          <a:bodyPr>
            <a:spAutoFit/>
          </a:bodyPr>
          <a:lstStyle/>
          <a:p>
            <a:r>
              <a:rPr lang="en-US" altLang="zh-CN" dirty="0"/>
              <a:t>DBMS?   </a:t>
            </a:r>
            <a:endParaRPr lang="en-US" altLang="zh-CN" dirty="0"/>
          </a:p>
        </p:txBody>
      </p:sp>
      <p:sp>
        <p:nvSpPr>
          <p:cNvPr id="131079" name="Rectangle 7"/>
          <p:cNvSpPr>
            <a:spLocks noChangeArrowheads="1"/>
          </p:cNvSpPr>
          <p:nvPr/>
        </p:nvSpPr>
        <p:spPr bwMode="auto">
          <a:xfrm>
            <a:off x="1808163" y="6103938"/>
            <a:ext cx="1967718" cy="461665"/>
          </a:xfrm>
          <a:prstGeom prst="rect">
            <a:avLst/>
          </a:prstGeom>
          <a:noFill/>
          <a:ln w="9525">
            <a:noFill/>
            <a:miter lim="800000"/>
          </a:ln>
        </p:spPr>
        <p:txBody>
          <a:bodyPr wrap="none">
            <a:spAutoFit/>
          </a:bodyPr>
          <a:lstStyle/>
          <a:p>
            <a:r>
              <a:rPr lang="en-US" altLang="zh-CN" dirty="0"/>
              <a:t>Sql Server?</a:t>
            </a:r>
            <a:endParaRPr lang="en-US" altLang="zh-CN" dirty="0"/>
          </a:p>
        </p:txBody>
      </p:sp>
      <p:sp>
        <p:nvSpPr>
          <p:cNvPr id="131081" name="Rectangle 9"/>
          <p:cNvSpPr>
            <a:spLocks noChangeArrowheads="1"/>
          </p:cNvSpPr>
          <p:nvPr/>
        </p:nvSpPr>
        <p:spPr bwMode="auto">
          <a:xfrm>
            <a:off x="3837533" y="6092825"/>
            <a:ext cx="1098550" cy="457200"/>
          </a:xfrm>
          <a:prstGeom prst="rect">
            <a:avLst/>
          </a:prstGeom>
          <a:noFill/>
          <a:ln w="9525">
            <a:noFill/>
            <a:miter lim="800000"/>
          </a:ln>
        </p:spPr>
        <p:txBody>
          <a:bodyPr wrap="none">
            <a:spAutoFit/>
          </a:bodyPr>
          <a:lstStyle/>
          <a:p>
            <a:r>
              <a:rPr lang="zh-CN" altLang="en-US" dirty="0"/>
              <a:t>组件化</a:t>
            </a:r>
            <a:endParaRPr lang="zh-CN" altLang="en-US" dirty="0"/>
          </a:p>
        </p:txBody>
      </p:sp>
      <p:sp>
        <p:nvSpPr>
          <p:cNvPr id="131082" name="Rectangle 10"/>
          <p:cNvSpPr>
            <a:spLocks noChangeArrowheads="1"/>
          </p:cNvSpPr>
          <p:nvPr/>
        </p:nvSpPr>
        <p:spPr bwMode="auto">
          <a:xfrm>
            <a:off x="5040858" y="6078538"/>
            <a:ext cx="1403350" cy="457200"/>
          </a:xfrm>
          <a:prstGeom prst="rect">
            <a:avLst/>
          </a:prstGeom>
          <a:noFill/>
          <a:ln w="9525">
            <a:noFill/>
            <a:miter lim="800000"/>
          </a:ln>
        </p:spPr>
        <p:txBody>
          <a:bodyPr wrap="none">
            <a:spAutoFit/>
          </a:bodyPr>
          <a:lstStyle/>
          <a:p>
            <a:r>
              <a:rPr lang="zh-CN" altLang="en-US"/>
              <a:t>一种尝试</a:t>
            </a:r>
            <a:endParaRPr lang="zh-CN" altLang="en-US"/>
          </a:p>
        </p:txBody>
      </p:sp>
    </p:spTree>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p:cNvSpPr>
            <a:spLocks noGrp="1"/>
          </p:cNvSpPr>
          <p:nvPr>
            <p:ph type="sldNum" sz="quarter" idx="12"/>
          </p:nvPr>
        </p:nvSpPr>
        <p:spPr/>
        <p:txBody>
          <a:bodyPr/>
          <a:lstStyle/>
          <a:p>
            <a:pPr>
              <a:defRPr/>
            </a:pPr>
            <a:fld id="{9B09E91A-D57F-48D7-A279-A3CAAD80374E}" type="slidenum">
              <a:rPr lang="en-US" altLang="zh-CN"/>
            </a:fld>
            <a:endParaRPr lang="en-US" altLang="zh-CN"/>
          </a:p>
        </p:txBody>
      </p:sp>
      <p:sp>
        <p:nvSpPr>
          <p:cNvPr id="22532" name="Rectangle 5"/>
          <p:cNvSpPr>
            <a:spLocks noChangeArrowheads="1"/>
          </p:cNvSpPr>
          <p:nvPr/>
        </p:nvSpPr>
        <p:spPr bwMode="auto">
          <a:xfrm>
            <a:off x="381000" y="655638"/>
            <a:ext cx="9144000" cy="1006475"/>
          </a:xfrm>
          <a:prstGeom prst="rect">
            <a:avLst/>
          </a:prstGeom>
          <a:noFill/>
          <a:ln w="9525">
            <a:noFill/>
            <a:miter lim="800000"/>
          </a:ln>
        </p:spPr>
        <p:txBody>
          <a:bodyPr tIns="76176" bIns="76176">
            <a:spAutoFit/>
          </a:bodyPr>
          <a:lstStyle/>
          <a:p>
            <a:pPr algn="just"/>
            <a:r>
              <a:rPr lang="en-US" altLang="zh-CN" sz="2800" b="1">
                <a:latin typeface="Arial" panose="020B0604020202090204" pitchFamily="34" charset="0"/>
                <a:cs typeface="Arial" panose="020B0604020202090204" pitchFamily="34" charset="0"/>
              </a:rPr>
              <a:t>1.4  DBS</a:t>
            </a:r>
            <a:r>
              <a:rPr lang="zh-CN" altLang="en-US" sz="2800" b="1">
                <a:latin typeface="Arial" panose="020B0604020202090204" pitchFamily="34" charset="0"/>
                <a:ea typeface="黑体" panose="02010609060101010101" pitchFamily="49" charset="-122"/>
              </a:rPr>
              <a:t>组成</a:t>
            </a:r>
            <a:endParaRPr lang="zh-CN" altLang="en-US" sz="2800" b="1">
              <a:latin typeface="Arial" panose="020B0604020202090204" pitchFamily="34" charset="0"/>
              <a:cs typeface="Arial" panose="020B0604020202090204" pitchFamily="34" charset="0"/>
            </a:endParaRPr>
          </a:p>
          <a:p>
            <a:pPr eaLnBrk="0" hangingPunct="0"/>
            <a:r>
              <a:rPr lang="en-US" altLang="zh-CN" sz="2800"/>
              <a:t>1.4.1 </a:t>
            </a:r>
            <a:r>
              <a:rPr lang="zh-CN" altLang="en-US" sz="2800">
                <a:latin typeface="宋体" pitchFamily="2" charset="-122"/>
              </a:rPr>
              <a:t>概述</a:t>
            </a:r>
            <a:r>
              <a:rPr lang="zh-CN" altLang="en-US" sz="2800"/>
              <a:t> </a:t>
            </a:r>
            <a:endParaRPr lang="zh-CN" altLang="en-US" sz="2800">
              <a:latin typeface="Times New Roman" panose="02020503050405090304" pitchFamily="18" charset="0"/>
            </a:endParaRPr>
          </a:p>
        </p:txBody>
      </p:sp>
      <p:graphicFrame>
        <p:nvGraphicFramePr>
          <p:cNvPr id="22530" name="Object 7"/>
          <p:cNvGraphicFramePr>
            <a:graphicFrameLocks noChangeAspect="1"/>
          </p:cNvGraphicFramePr>
          <p:nvPr/>
        </p:nvGraphicFramePr>
        <p:xfrm>
          <a:off x="1295400" y="1722438"/>
          <a:ext cx="3810000" cy="2154237"/>
        </p:xfrm>
        <a:graphic>
          <a:graphicData uri="http://schemas.openxmlformats.org/presentationml/2006/ole">
            <mc:AlternateContent xmlns:mc="http://schemas.openxmlformats.org/markup-compatibility/2006">
              <mc:Choice xmlns:v="urn:schemas-microsoft-com:vml" Requires="v">
                <p:oleObj spid="_x0000_s22907" name="" r:id="rId1" imgW="1751330" imgH="991870" progId="Word.Picture.8">
                  <p:embed/>
                </p:oleObj>
              </mc:Choice>
              <mc:Fallback>
                <p:oleObj name="" r:id="rId1" imgW="1751330" imgH="991870" progId="Word.Picture.8">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722438"/>
                        <a:ext cx="3810000" cy="2154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533" name="Rectangle 10"/>
          <p:cNvSpPr>
            <a:spLocks noChangeArrowheads="1"/>
          </p:cNvSpPr>
          <p:nvPr/>
        </p:nvSpPr>
        <p:spPr bwMode="auto">
          <a:xfrm>
            <a:off x="457200" y="3932238"/>
            <a:ext cx="8001000" cy="2308225"/>
          </a:xfrm>
          <a:prstGeom prst="rect">
            <a:avLst/>
          </a:prstGeom>
          <a:noFill/>
          <a:ln w="9525">
            <a:noFill/>
            <a:miter lim="800000"/>
          </a:ln>
        </p:spPr>
        <p:txBody>
          <a:bodyPr>
            <a:spAutoFit/>
          </a:bodyPr>
          <a:lstStyle/>
          <a:p>
            <a:pPr algn="just"/>
            <a:r>
              <a:rPr lang="en-US" altLang="zh-CN">
                <a:latin typeface="Times New Roman" panose="02020503050405090304" pitchFamily="18" charset="0"/>
              </a:rPr>
              <a:t>1</a:t>
            </a:r>
            <a:r>
              <a:rPr lang="zh-CN" altLang="en-US">
                <a:latin typeface="Times New Roman" panose="02020503050405090304" pitchFamily="18" charset="0"/>
              </a:rPr>
              <a:t>、定义：支持定义、使用和维护</a:t>
            </a:r>
            <a:r>
              <a:rPr lang="en-US" altLang="zh-CN"/>
              <a:t>DB</a:t>
            </a:r>
            <a:r>
              <a:rPr lang="zh-CN" altLang="en-US">
                <a:latin typeface="Times New Roman" panose="02020503050405090304" pitchFamily="18" charset="0"/>
              </a:rPr>
              <a:t>的系统软件。</a:t>
            </a:r>
            <a:endParaRPr lang="zh-CN" altLang="en-US"/>
          </a:p>
          <a:p>
            <a:pPr algn="just" eaLnBrk="0" hangingPunct="0"/>
            <a:r>
              <a:rPr lang="en-US" altLang="zh-CN">
                <a:latin typeface="Times New Roman" panose="02020503050405090304" pitchFamily="18" charset="0"/>
              </a:rPr>
              <a:t>2</a:t>
            </a:r>
            <a:r>
              <a:rPr lang="zh-CN" altLang="en-US">
                <a:latin typeface="Times New Roman" panose="02020503050405090304" pitchFamily="18" charset="0"/>
              </a:rPr>
              <a:t>、功能</a:t>
            </a:r>
            <a:endParaRPr lang="zh-CN" altLang="en-US"/>
          </a:p>
          <a:p>
            <a:pPr algn="just" eaLnBrk="0" hangingPunct="0"/>
            <a:r>
              <a:rPr lang="en-US" altLang="zh-CN">
                <a:latin typeface="Times New Roman" panose="02020503050405090304" pitchFamily="18" charset="0"/>
              </a:rPr>
              <a:t>1</a:t>
            </a:r>
            <a:r>
              <a:rPr lang="zh-CN" altLang="en-US">
                <a:latin typeface="Times New Roman" panose="02020503050405090304" pitchFamily="18" charset="0"/>
              </a:rPr>
              <a:t>）</a:t>
            </a:r>
            <a:r>
              <a:rPr lang="en-US" altLang="zh-CN"/>
              <a:t>DB</a:t>
            </a:r>
            <a:r>
              <a:rPr lang="zh-CN" altLang="en-US">
                <a:latin typeface="Times New Roman" panose="02020503050405090304" pitchFamily="18" charset="0"/>
              </a:rPr>
              <a:t>定义</a:t>
            </a:r>
            <a:endParaRPr lang="zh-CN" altLang="en-US"/>
          </a:p>
          <a:p>
            <a:pPr algn="just" eaLnBrk="0" hangingPunct="0"/>
            <a:r>
              <a:rPr lang="zh-CN" altLang="en-US">
                <a:latin typeface="Times New Roman" panose="02020503050405090304" pitchFamily="18" charset="0"/>
              </a:rPr>
              <a:t>模式、子模式、内模式、映射、约束</a:t>
            </a:r>
            <a:endParaRPr lang="zh-CN" altLang="en-US"/>
          </a:p>
          <a:p>
            <a:pPr algn="just" eaLnBrk="0" hangingPunct="0"/>
            <a:r>
              <a:rPr lang="en-US" altLang="zh-CN">
                <a:latin typeface="Times New Roman" panose="02020503050405090304" pitchFamily="18" charset="0"/>
              </a:rPr>
              <a:t>2</a:t>
            </a:r>
            <a:r>
              <a:rPr lang="zh-CN" altLang="en-US">
                <a:latin typeface="Times New Roman" panose="02020503050405090304" pitchFamily="18" charset="0"/>
              </a:rPr>
              <a:t>）</a:t>
            </a:r>
            <a:r>
              <a:rPr lang="en-US" altLang="zh-CN"/>
              <a:t>DB</a:t>
            </a:r>
            <a:r>
              <a:rPr lang="zh-CN" altLang="en-US">
                <a:latin typeface="Times New Roman" panose="02020503050405090304" pitchFamily="18" charset="0"/>
              </a:rPr>
              <a:t>操纵（</a:t>
            </a:r>
            <a:r>
              <a:rPr lang="en-US" altLang="zh-CN"/>
              <a:t>Manipulation</a:t>
            </a:r>
            <a:r>
              <a:rPr lang="zh-CN" altLang="en-US">
                <a:latin typeface="Times New Roman" panose="02020503050405090304" pitchFamily="18" charset="0"/>
              </a:rPr>
              <a:t>）</a:t>
            </a:r>
            <a:endParaRPr lang="zh-CN" altLang="en-US"/>
          </a:p>
          <a:p>
            <a:r>
              <a:rPr lang="zh-CN" altLang="en-US"/>
              <a:t>增、删、改、查</a:t>
            </a:r>
            <a:endParaRPr lang="en-US" altLang="zh-CN"/>
          </a:p>
        </p:txBody>
      </p:sp>
    </p:spTree>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E5558F12-69B5-46D7-B668-B463B2FBF9A1}" type="slidenum">
              <a:rPr lang="en-US" altLang="zh-CN"/>
            </a:fld>
            <a:endParaRPr lang="en-US" altLang="zh-CN"/>
          </a:p>
        </p:txBody>
      </p:sp>
      <p:sp>
        <p:nvSpPr>
          <p:cNvPr id="105475" name="Rectangle 2"/>
          <p:cNvSpPr>
            <a:spLocks noChangeArrowheads="1"/>
          </p:cNvSpPr>
          <p:nvPr/>
        </p:nvSpPr>
        <p:spPr bwMode="auto">
          <a:xfrm>
            <a:off x="304800" y="304800"/>
            <a:ext cx="8229600" cy="6063198"/>
          </a:xfrm>
          <a:prstGeom prst="rect">
            <a:avLst/>
          </a:prstGeom>
          <a:noFill/>
          <a:ln w="9525">
            <a:noFill/>
            <a:miter lim="800000"/>
          </a:ln>
        </p:spPr>
        <p:txBody>
          <a:bodyPr>
            <a:spAutoFit/>
          </a:bodyPr>
          <a:lstStyle/>
          <a:p>
            <a:pPr eaLnBrk="0" hangingPunct="0">
              <a:spcBef>
                <a:spcPct val="50000"/>
              </a:spcBef>
            </a:pPr>
            <a:r>
              <a:rPr lang="en-US" altLang="zh-CN" sz="2800" b="1" dirty="0">
                <a:latin typeface="Times New Roman" panose="02020503050405090304" pitchFamily="18" charset="0"/>
              </a:rPr>
              <a:t>2</a:t>
            </a:r>
            <a:r>
              <a:rPr lang="zh-CN" altLang="en-US" sz="2800" b="1" dirty="0">
                <a:latin typeface="Times New Roman" panose="02020503050405090304" pitchFamily="18" charset="0"/>
              </a:rPr>
              <a:t>、功能</a:t>
            </a:r>
            <a:r>
              <a:rPr lang="en-US" altLang="zh-CN" sz="2800" b="1" dirty="0">
                <a:latin typeface="Times New Roman" panose="02020503050405090304" pitchFamily="18" charset="0"/>
              </a:rPr>
              <a:t>(</a:t>
            </a:r>
            <a:r>
              <a:rPr lang="zh-CN" altLang="en-US" sz="2800" b="1" dirty="0">
                <a:latin typeface="Times New Roman" panose="02020503050405090304" pitchFamily="18" charset="0"/>
              </a:rPr>
              <a:t>续</a:t>
            </a:r>
            <a:r>
              <a:rPr lang="en-US" altLang="zh-CN" sz="2800" b="1" dirty="0">
                <a:latin typeface="Times New Roman" panose="02020503050405090304" pitchFamily="18" charset="0"/>
              </a:rPr>
              <a:t>)</a:t>
            </a:r>
            <a:endParaRPr lang="en-US" altLang="zh-CN" sz="2800" b="1" dirty="0">
              <a:latin typeface="Times New Roman" panose="02020503050405090304" pitchFamily="18" charset="0"/>
            </a:endParaRPr>
          </a:p>
          <a:p>
            <a:pPr eaLnBrk="0" hangingPunct="0">
              <a:spcBef>
                <a:spcPct val="50000"/>
              </a:spcBef>
            </a:pPr>
            <a:r>
              <a:rPr lang="en-US" altLang="zh-CN" dirty="0">
                <a:latin typeface="Times New Roman" panose="02020503050405090304" pitchFamily="18" charset="0"/>
              </a:rPr>
              <a:t>3</a:t>
            </a:r>
            <a:r>
              <a:rPr lang="zh-CN" altLang="en-US" dirty="0">
                <a:latin typeface="Times New Roman" panose="02020503050405090304" pitchFamily="18" charset="0"/>
              </a:rPr>
              <a:t>）</a:t>
            </a:r>
            <a:r>
              <a:rPr lang="en-US" altLang="zh-CN" dirty="0"/>
              <a:t>DB</a:t>
            </a:r>
            <a:r>
              <a:rPr lang="zh-CN" altLang="en-US" dirty="0">
                <a:latin typeface="Times New Roman" panose="02020503050405090304" pitchFamily="18" charset="0"/>
              </a:rPr>
              <a:t>存储</a:t>
            </a:r>
            <a:endParaRPr lang="zh-CN" altLang="en-US" dirty="0"/>
          </a:p>
          <a:p>
            <a:pPr eaLnBrk="0" hangingPunct="0">
              <a:spcBef>
                <a:spcPct val="50000"/>
              </a:spcBef>
            </a:pPr>
            <a:r>
              <a:rPr lang="zh-CN" altLang="en-US" dirty="0">
                <a:latin typeface="Times New Roman" panose="02020503050405090304" pitchFamily="18" charset="0"/>
              </a:rPr>
              <a:t>存储结构、存取路径、</a:t>
            </a:r>
            <a:r>
              <a:rPr lang="en-US" altLang="zh-CN" dirty="0"/>
              <a:t>I/0</a:t>
            </a:r>
            <a:r>
              <a:rPr lang="zh-CN" altLang="en-US" dirty="0"/>
              <a:t>方法</a:t>
            </a:r>
            <a:endParaRPr lang="en-US" altLang="zh-CN" dirty="0">
              <a:latin typeface="Times New Roman" panose="02020503050405090304" pitchFamily="18" charset="0"/>
            </a:endParaRPr>
          </a:p>
          <a:p>
            <a:pPr eaLnBrk="0" hangingPunct="0">
              <a:spcBef>
                <a:spcPct val="50000"/>
              </a:spcBef>
            </a:pPr>
            <a:r>
              <a:rPr lang="en-US" altLang="zh-CN" dirty="0">
                <a:latin typeface="Times New Roman" panose="02020503050405090304" pitchFamily="18" charset="0"/>
              </a:rPr>
              <a:t>4</a:t>
            </a:r>
            <a:r>
              <a:rPr lang="zh-CN" altLang="en-US" dirty="0">
                <a:latin typeface="Times New Roman" panose="02020503050405090304" pitchFamily="18" charset="0"/>
              </a:rPr>
              <a:t>）</a:t>
            </a:r>
            <a:r>
              <a:rPr lang="en-US" altLang="zh-CN" dirty="0"/>
              <a:t>DB</a:t>
            </a:r>
            <a:r>
              <a:rPr lang="zh-CN" altLang="en-US" dirty="0">
                <a:latin typeface="Times New Roman" panose="02020503050405090304" pitchFamily="18" charset="0"/>
              </a:rPr>
              <a:t>运行管理</a:t>
            </a:r>
            <a:endParaRPr lang="zh-CN" altLang="en-US" dirty="0"/>
          </a:p>
          <a:p>
            <a:pPr eaLnBrk="0" hangingPunct="0">
              <a:spcBef>
                <a:spcPct val="50000"/>
              </a:spcBef>
            </a:pPr>
            <a:r>
              <a:rPr lang="zh-CN" altLang="en-US" dirty="0">
                <a:latin typeface="Times New Roman" panose="02020503050405090304" pitchFamily="18" charset="0"/>
              </a:rPr>
              <a:t>安全性、完整性检查，数据字典</a:t>
            </a:r>
            <a:r>
              <a:rPr lang="en-US" altLang="zh-CN" dirty="0">
                <a:latin typeface="Times New Roman" panose="02020503050405090304" pitchFamily="18" charset="0"/>
              </a:rPr>
              <a:t>(</a:t>
            </a:r>
            <a:r>
              <a:rPr lang="en-US" altLang="zh-CN" dirty="0"/>
              <a:t>DD</a:t>
            </a:r>
            <a:r>
              <a:rPr lang="en-US" altLang="zh-CN" dirty="0">
                <a:latin typeface="Times New Roman" panose="02020503050405090304" pitchFamily="18" charset="0"/>
              </a:rPr>
              <a:t>)</a:t>
            </a:r>
            <a:r>
              <a:rPr lang="zh-CN" altLang="en-US" dirty="0">
                <a:latin typeface="Times New Roman" panose="02020503050405090304" pitchFamily="18" charset="0"/>
              </a:rPr>
              <a:t>、索引维护、并发控制</a:t>
            </a:r>
            <a:endParaRPr lang="zh-CN" altLang="en-US" dirty="0"/>
          </a:p>
          <a:p>
            <a:pPr eaLnBrk="0" hangingPunct="0">
              <a:spcBef>
                <a:spcPct val="50000"/>
              </a:spcBef>
            </a:pPr>
            <a:r>
              <a:rPr lang="en-US" altLang="zh-CN" dirty="0">
                <a:latin typeface="Times New Roman" panose="02020503050405090304" pitchFamily="18" charset="0"/>
              </a:rPr>
              <a:t>5</a:t>
            </a:r>
            <a:r>
              <a:rPr lang="zh-CN" altLang="en-US" dirty="0">
                <a:latin typeface="Times New Roman" panose="02020503050405090304" pitchFamily="18" charset="0"/>
              </a:rPr>
              <a:t>）</a:t>
            </a:r>
            <a:r>
              <a:rPr lang="en-US" altLang="zh-CN" dirty="0"/>
              <a:t>DB</a:t>
            </a:r>
            <a:r>
              <a:rPr lang="zh-CN" altLang="en-US" dirty="0">
                <a:latin typeface="Times New Roman" panose="02020503050405090304" pitchFamily="18" charset="0"/>
              </a:rPr>
              <a:t>建立</a:t>
            </a:r>
            <a:endParaRPr lang="zh-CN" altLang="en-US" dirty="0"/>
          </a:p>
          <a:p>
            <a:pPr eaLnBrk="0" hangingPunct="0">
              <a:spcBef>
                <a:spcPct val="50000"/>
              </a:spcBef>
            </a:pPr>
            <a:r>
              <a:rPr lang="zh-CN" altLang="en-US" dirty="0">
                <a:latin typeface="Times New Roman" panose="02020503050405090304" pitchFamily="18" charset="0"/>
              </a:rPr>
              <a:t>初始数据输入，数据转换。</a:t>
            </a:r>
            <a:endParaRPr lang="zh-CN" altLang="en-US" dirty="0"/>
          </a:p>
          <a:p>
            <a:pPr eaLnBrk="0" hangingPunct="0">
              <a:spcBef>
                <a:spcPct val="50000"/>
              </a:spcBef>
            </a:pPr>
            <a:r>
              <a:rPr lang="en-US" altLang="zh-CN" dirty="0">
                <a:latin typeface="Times New Roman" panose="02020503050405090304" pitchFamily="18" charset="0"/>
              </a:rPr>
              <a:t>6</a:t>
            </a:r>
            <a:r>
              <a:rPr lang="zh-CN" altLang="en-US" dirty="0">
                <a:latin typeface="Times New Roman" panose="02020503050405090304" pitchFamily="18" charset="0"/>
              </a:rPr>
              <a:t>）</a:t>
            </a:r>
            <a:r>
              <a:rPr lang="en-US" altLang="zh-CN" dirty="0"/>
              <a:t>DB</a:t>
            </a:r>
            <a:r>
              <a:rPr lang="zh-CN" altLang="en-US" dirty="0">
                <a:latin typeface="Times New Roman" panose="02020503050405090304" pitchFamily="18" charset="0"/>
              </a:rPr>
              <a:t>维护</a:t>
            </a:r>
            <a:endParaRPr lang="zh-CN" altLang="en-US" dirty="0"/>
          </a:p>
          <a:p>
            <a:pPr eaLnBrk="0" hangingPunct="0">
              <a:spcBef>
                <a:spcPct val="50000"/>
              </a:spcBef>
            </a:pPr>
            <a:r>
              <a:rPr lang="zh-CN" altLang="en-US" dirty="0">
                <a:latin typeface="Times New Roman" panose="02020503050405090304" pitchFamily="18" charset="0"/>
              </a:rPr>
              <a:t>转储与恢复、重组、重构、性能监视与分析。</a:t>
            </a:r>
            <a:endParaRPr lang="zh-CN" altLang="en-US" dirty="0"/>
          </a:p>
          <a:p>
            <a:pPr eaLnBrk="0" hangingPunct="0">
              <a:spcBef>
                <a:spcPct val="50000"/>
              </a:spcBef>
            </a:pPr>
            <a:r>
              <a:rPr lang="en-US" altLang="zh-CN" dirty="0">
                <a:latin typeface="Times New Roman" panose="02020503050405090304" pitchFamily="18" charset="0"/>
              </a:rPr>
              <a:t>7</a:t>
            </a:r>
            <a:r>
              <a:rPr lang="zh-CN" altLang="en-US" dirty="0">
                <a:latin typeface="Times New Roman" panose="02020503050405090304" pitchFamily="18" charset="0"/>
              </a:rPr>
              <a:t>）</a:t>
            </a:r>
            <a:r>
              <a:rPr lang="en-US" altLang="zh-CN" dirty="0"/>
              <a:t>DB</a:t>
            </a:r>
            <a:r>
              <a:rPr lang="zh-CN" altLang="en-US" dirty="0">
                <a:latin typeface="Times New Roman" panose="02020503050405090304" pitchFamily="18" charset="0"/>
              </a:rPr>
              <a:t>通信</a:t>
            </a:r>
            <a:endParaRPr lang="zh-CN" altLang="en-US" dirty="0"/>
          </a:p>
          <a:p>
            <a:pPr eaLnBrk="0" hangingPunct="0">
              <a:spcBef>
                <a:spcPct val="50000"/>
              </a:spcBef>
            </a:pPr>
            <a:r>
              <a:rPr lang="en-US" altLang="zh-CN" dirty="0"/>
              <a:t>OS</a:t>
            </a:r>
            <a:r>
              <a:rPr lang="zh-CN" altLang="en-US" dirty="0"/>
              <a:t>、</a:t>
            </a:r>
            <a:r>
              <a:rPr lang="en-US" altLang="zh-CN" dirty="0"/>
              <a:t>Netware</a:t>
            </a:r>
            <a:r>
              <a:rPr lang="zh-CN" altLang="en-US" dirty="0">
                <a:latin typeface="Times New Roman" panose="02020503050405090304" pitchFamily="18" charset="0"/>
              </a:rPr>
              <a:t>、其它</a:t>
            </a:r>
            <a:r>
              <a:rPr lang="en-US" altLang="zh-CN" dirty="0"/>
              <a:t>DBMS</a:t>
            </a:r>
            <a:r>
              <a:rPr lang="zh-CN" altLang="en-US" dirty="0">
                <a:latin typeface="Times New Roman" panose="02020503050405090304" pitchFamily="18" charset="0"/>
              </a:rPr>
              <a:t>。</a:t>
            </a:r>
            <a:endParaRPr lang="zh-CN" altLang="en-US" dirty="0">
              <a:latin typeface="Times New Roman" panose="02020503050405090304" pitchFamily="18" charset="0"/>
            </a:endParaRPr>
          </a:p>
        </p:txBody>
      </p:sp>
      <p:sp>
        <p:nvSpPr>
          <p:cNvPr id="4" name="圆角矩形标注 3"/>
          <p:cNvSpPr/>
          <p:nvPr/>
        </p:nvSpPr>
        <p:spPr>
          <a:xfrm>
            <a:off x="5076056" y="3284984"/>
            <a:ext cx="3816424" cy="1440160"/>
          </a:xfrm>
          <a:prstGeom prst="wedgeRoundRectCallout">
            <a:avLst>
              <a:gd name="adj1" fmla="val -74496"/>
              <a:gd name="adj2" fmla="val -72377"/>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字典：需求分析中体现为</a:t>
            </a:r>
            <a:endParaRPr lang="en-US" altLang="zh-CN" dirty="0"/>
          </a:p>
          <a:p>
            <a:pPr algn="ctr"/>
            <a:r>
              <a:rPr lang="zh-CN" altLang="en-US" dirty="0">
                <a:solidFill>
                  <a:srgbClr val="FF0000"/>
                </a:solidFill>
              </a:rPr>
              <a:t>有关说明文档</a:t>
            </a:r>
            <a:r>
              <a:rPr lang="zh-CN" altLang="en-US" dirty="0"/>
              <a:t>，</a:t>
            </a:r>
            <a:endParaRPr lang="en-US" altLang="zh-CN" dirty="0"/>
          </a:p>
          <a:p>
            <a:pPr algn="ctr"/>
            <a:r>
              <a:rPr lang="zh-CN" altLang="en-US" dirty="0"/>
              <a:t>关系数据库中体现为</a:t>
            </a:r>
            <a:endParaRPr lang="en-US" altLang="zh-CN" dirty="0"/>
          </a:p>
          <a:p>
            <a:pPr algn="ctr"/>
            <a:r>
              <a:rPr lang="zh-CN" altLang="en-US" dirty="0">
                <a:solidFill>
                  <a:srgbClr val="FF0000"/>
                </a:solidFill>
              </a:rPr>
              <a:t>系统表</a:t>
            </a:r>
            <a:endParaRPr lang="zh-CN" altLang="en-US" dirty="0">
              <a:solidFill>
                <a:srgbClr val="FF0000"/>
              </a:solidFill>
            </a:endParaRPr>
          </a:p>
        </p:txBody>
      </p:sp>
    </p:spTree>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55C05EC2-8CD7-4E68-A5F7-C427DE4B2F4F}" type="slidenum">
              <a:rPr lang="en-US" altLang="zh-CN"/>
            </a:fld>
            <a:endParaRPr lang="en-US" altLang="zh-CN"/>
          </a:p>
        </p:txBody>
      </p:sp>
      <p:sp>
        <p:nvSpPr>
          <p:cNvPr id="106499" name="Rectangle 2"/>
          <p:cNvSpPr>
            <a:spLocks noChangeArrowheads="1"/>
          </p:cNvSpPr>
          <p:nvPr/>
        </p:nvSpPr>
        <p:spPr bwMode="auto">
          <a:xfrm>
            <a:off x="304800" y="785813"/>
            <a:ext cx="8229600" cy="3560762"/>
          </a:xfrm>
          <a:prstGeom prst="rect">
            <a:avLst/>
          </a:prstGeom>
          <a:noFill/>
          <a:ln w="9525">
            <a:noFill/>
            <a:miter lim="800000"/>
          </a:ln>
        </p:spPr>
        <p:txBody>
          <a:bodyPr>
            <a:spAutoFit/>
          </a:bodyPr>
          <a:lstStyle/>
          <a:p>
            <a:pPr eaLnBrk="0" hangingPunct="0">
              <a:spcBef>
                <a:spcPct val="50000"/>
              </a:spcBef>
            </a:pPr>
            <a:r>
              <a:rPr lang="en-US" altLang="zh-CN" dirty="0">
                <a:latin typeface="Times New Roman" panose="02020503050405090304" pitchFamily="18" charset="0"/>
              </a:rPr>
              <a:t>3</a:t>
            </a:r>
            <a:r>
              <a:rPr lang="zh-CN" altLang="en-US" dirty="0">
                <a:latin typeface="Times New Roman" panose="02020503050405090304" pitchFamily="18" charset="0"/>
              </a:rPr>
              <a:t>、组成</a:t>
            </a:r>
            <a:endParaRPr lang="zh-CN" altLang="en-US" dirty="0"/>
          </a:p>
          <a:p>
            <a:pPr eaLnBrk="0" hangingPunct="0">
              <a:spcBef>
                <a:spcPct val="50000"/>
              </a:spcBef>
            </a:pPr>
            <a:r>
              <a:rPr lang="en-US" altLang="zh-CN" dirty="0">
                <a:latin typeface="Times New Roman" panose="02020503050405090304" pitchFamily="18" charset="0"/>
              </a:rPr>
              <a:t>1</a:t>
            </a:r>
            <a:r>
              <a:rPr lang="zh-CN" altLang="en-US" dirty="0">
                <a:latin typeface="Times New Roman" panose="02020503050405090304" pitchFamily="18" charset="0"/>
              </a:rPr>
              <a:t>）</a:t>
            </a:r>
            <a:r>
              <a:rPr lang="en-US" altLang="zh-CN" dirty="0"/>
              <a:t>DB</a:t>
            </a:r>
            <a:r>
              <a:rPr lang="zh-CN" altLang="en-US" dirty="0">
                <a:latin typeface="Times New Roman" panose="02020503050405090304" pitchFamily="18" charset="0"/>
              </a:rPr>
              <a:t>定义、操纵语言及编译程序（含预处理及解释）</a:t>
            </a:r>
            <a:endParaRPr lang="zh-CN" altLang="en-US" dirty="0"/>
          </a:p>
          <a:p>
            <a:pPr eaLnBrk="0" hangingPunct="0">
              <a:spcBef>
                <a:spcPct val="50000"/>
              </a:spcBef>
            </a:pPr>
            <a:r>
              <a:rPr lang="en-US" altLang="zh-CN" dirty="0">
                <a:latin typeface="Times New Roman" panose="02020503050405090304" pitchFamily="18" charset="0"/>
              </a:rPr>
              <a:t>2</a:t>
            </a:r>
            <a:r>
              <a:rPr lang="zh-CN" altLang="en-US" dirty="0">
                <a:latin typeface="Times New Roman" panose="02020503050405090304" pitchFamily="18" charset="0"/>
              </a:rPr>
              <a:t>）</a:t>
            </a:r>
            <a:r>
              <a:rPr lang="en-US" altLang="zh-CN" dirty="0"/>
              <a:t>DB</a:t>
            </a:r>
            <a:r>
              <a:rPr lang="zh-CN" altLang="en-US" dirty="0">
                <a:latin typeface="Times New Roman" panose="02020503050405090304" pitchFamily="18" charset="0"/>
              </a:rPr>
              <a:t>运行控制程序</a:t>
            </a:r>
            <a:endParaRPr lang="zh-CN" altLang="en-US" dirty="0"/>
          </a:p>
          <a:p>
            <a:pPr eaLnBrk="0" hangingPunct="0">
              <a:spcBef>
                <a:spcPct val="50000"/>
              </a:spcBef>
            </a:pPr>
            <a:r>
              <a:rPr lang="zh-CN" altLang="en-US" dirty="0">
                <a:latin typeface="Times New Roman" panose="02020503050405090304" pitchFamily="18" charset="0"/>
              </a:rPr>
              <a:t>初启程序、</a:t>
            </a:r>
            <a:r>
              <a:rPr lang="en-US" altLang="zh-CN" dirty="0"/>
              <a:t>I/O</a:t>
            </a:r>
            <a:r>
              <a:rPr lang="zh-CN" altLang="en-US" dirty="0">
                <a:latin typeface="Times New Roman" panose="02020503050405090304" pitchFamily="18" charset="0"/>
              </a:rPr>
              <a:t>，存取路径管理、缓冲区管理、安全控制、完整性控制、并发控制、事务管理、日志管理。</a:t>
            </a:r>
            <a:endParaRPr lang="zh-CN" altLang="en-US" dirty="0"/>
          </a:p>
          <a:p>
            <a:pPr eaLnBrk="0" hangingPunct="0">
              <a:spcBef>
                <a:spcPct val="50000"/>
              </a:spcBef>
            </a:pPr>
            <a:r>
              <a:rPr lang="en-US" altLang="zh-CN" dirty="0">
                <a:latin typeface="Times New Roman" panose="02020503050405090304" pitchFamily="18" charset="0"/>
              </a:rPr>
              <a:t>3</a:t>
            </a:r>
            <a:r>
              <a:rPr lang="zh-CN" altLang="en-US" dirty="0">
                <a:latin typeface="Times New Roman" panose="02020503050405090304" pitchFamily="18" charset="0"/>
              </a:rPr>
              <a:t>）实用程序（</a:t>
            </a:r>
            <a:r>
              <a:rPr lang="en-US" altLang="zh-CN" dirty="0"/>
              <a:t>utility</a:t>
            </a:r>
            <a:r>
              <a:rPr lang="zh-CN" altLang="en-US" dirty="0">
                <a:latin typeface="Times New Roman" panose="02020503050405090304" pitchFamily="18" charset="0"/>
              </a:rPr>
              <a:t>）</a:t>
            </a:r>
            <a:endParaRPr lang="zh-CN" altLang="en-US" dirty="0"/>
          </a:p>
          <a:p>
            <a:pPr eaLnBrk="0" hangingPunct="0">
              <a:spcBef>
                <a:spcPct val="50000"/>
              </a:spcBef>
            </a:pPr>
            <a:r>
              <a:rPr lang="zh-CN" altLang="en-US" dirty="0">
                <a:latin typeface="宋体" pitchFamily="2" charset="-122"/>
              </a:rPr>
              <a:t>初装、转储、恢复、监测、转换、重组、重构、通讯。</a:t>
            </a:r>
            <a:r>
              <a:rPr lang="zh-CN" altLang="en-US" dirty="0"/>
              <a:t> </a:t>
            </a:r>
            <a:endParaRPr lang="zh-CN" altLang="en-US" dirty="0"/>
          </a:p>
        </p:txBody>
      </p:sp>
    </p:spTree>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410E9977-629A-46D0-BC2E-9EB6242C8252}" type="slidenum">
              <a:rPr lang="en-US" altLang="zh-CN"/>
            </a:fld>
            <a:endParaRPr lang="en-US" altLang="zh-CN"/>
          </a:p>
        </p:txBody>
      </p:sp>
      <p:sp>
        <p:nvSpPr>
          <p:cNvPr id="107523" name="Rectangle 2"/>
          <p:cNvSpPr>
            <a:spLocks noChangeArrowheads="1"/>
          </p:cNvSpPr>
          <p:nvPr/>
        </p:nvSpPr>
        <p:spPr bwMode="auto">
          <a:xfrm>
            <a:off x="381000" y="752475"/>
            <a:ext cx="8382000" cy="5001345"/>
          </a:xfrm>
          <a:prstGeom prst="rect">
            <a:avLst/>
          </a:prstGeom>
          <a:noFill/>
          <a:ln w="9525">
            <a:noFill/>
            <a:miter lim="800000"/>
          </a:ln>
        </p:spPr>
        <p:txBody>
          <a:bodyPr tIns="38088" bIns="38088">
            <a:spAutoFit/>
          </a:bodyPr>
          <a:lstStyle/>
          <a:p>
            <a:pPr algn="just"/>
            <a:r>
              <a:rPr lang="en-US" altLang="zh-CN" sz="2800" b="1" dirty="0">
                <a:latin typeface="Times New Roman" panose="02020503050405090304" pitchFamily="18" charset="0"/>
                <a:ea typeface="黑体" panose="02010609060101010101" pitchFamily="49" charset="-122"/>
              </a:rPr>
              <a:t>1.4.2  </a:t>
            </a:r>
            <a:r>
              <a:rPr lang="zh-CN" altLang="en-US" sz="2800" b="1" dirty="0">
                <a:latin typeface="Times New Roman" panose="02020503050405090304" pitchFamily="18" charset="0"/>
                <a:ea typeface="黑体" panose="02010609060101010101" pitchFamily="49" charset="-122"/>
              </a:rPr>
              <a:t>应用程序</a:t>
            </a:r>
            <a:endParaRPr lang="zh-CN" altLang="en-US" sz="2800" b="1" dirty="0">
              <a:latin typeface="Times New Roman" panose="02020503050405090304" pitchFamily="18" charset="0"/>
              <a:ea typeface="黑体" panose="02010609060101010101" pitchFamily="49" charset="-122"/>
            </a:endParaRPr>
          </a:p>
          <a:p>
            <a:pPr algn="just" eaLnBrk="0" hangingPunct="0"/>
            <a:r>
              <a:rPr lang="zh-CN" altLang="en-US" dirty="0">
                <a:latin typeface="Times New Roman" panose="02020503050405090304" pitchFamily="18" charset="0"/>
              </a:rPr>
              <a:t>主语言</a:t>
            </a:r>
            <a:r>
              <a:rPr lang="en-US" altLang="zh-CN" dirty="0"/>
              <a:t>+DML</a:t>
            </a:r>
            <a:endParaRPr lang="en-US" altLang="zh-CN" dirty="0">
              <a:latin typeface="Times New Roman" panose="02020503050405090304" pitchFamily="18" charset="0"/>
            </a:endParaRPr>
          </a:p>
          <a:p>
            <a:pPr algn="just"/>
            <a:endParaRPr lang="en-US" altLang="zh-CN" b="1" dirty="0">
              <a:latin typeface="Times New Roman" panose="02020503050405090304" pitchFamily="18" charset="0"/>
              <a:ea typeface="黑体" panose="02010609060101010101" pitchFamily="49" charset="-122"/>
            </a:endParaRPr>
          </a:p>
          <a:p>
            <a:pPr algn="just" eaLnBrk="0" hangingPunct="0"/>
            <a:r>
              <a:rPr lang="en-US" altLang="zh-CN" sz="2800" b="1" dirty="0">
                <a:latin typeface="Times New Roman" panose="02020503050405090304" pitchFamily="18" charset="0"/>
                <a:ea typeface="黑体" panose="02010609060101010101" pitchFamily="49" charset="-122"/>
              </a:rPr>
              <a:t>1.4.3  </a:t>
            </a:r>
            <a:r>
              <a:rPr lang="zh-CN" altLang="en-US" sz="2800" b="1" dirty="0">
                <a:latin typeface="Times New Roman" panose="02020503050405090304" pitchFamily="18" charset="0"/>
                <a:ea typeface="黑体" panose="02010609060101010101" pitchFamily="49" charset="-122"/>
              </a:rPr>
              <a:t>用户</a:t>
            </a:r>
            <a:endParaRPr lang="zh-CN" altLang="en-US" sz="2800" b="1" dirty="0">
              <a:latin typeface="Times New Roman" panose="02020503050405090304" pitchFamily="18" charset="0"/>
              <a:ea typeface="黑体" panose="02010609060101010101" pitchFamily="49" charset="-122"/>
            </a:endParaRPr>
          </a:p>
          <a:p>
            <a:pPr algn="just" eaLnBrk="0" hangingPunct="0"/>
            <a:r>
              <a:rPr lang="en-US" altLang="zh-CN" dirty="0">
                <a:latin typeface="Times New Roman" panose="02020503050405090304" pitchFamily="18" charset="0"/>
              </a:rPr>
              <a:t>1</a:t>
            </a:r>
            <a:r>
              <a:rPr lang="zh-CN" altLang="en-US" dirty="0">
                <a:latin typeface="Times New Roman" panose="02020503050405090304" pitchFamily="18" charset="0"/>
              </a:rPr>
              <a:t>、</a:t>
            </a:r>
            <a:r>
              <a:rPr lang="en-US" altLang="zh-CN" dirty="0"/>
              <a:t>DBA (Database Administrator)</a:t>
            </a:r>
            <a:endParaRPr lang="en-US" altLang="zh-CN" dirty="0">
              <a:latin typeface="Times New Roman" panose="02020503050405090304" pitchFamily="18" charset="0"/>
            </a:endParaRPr>
          </a:p>
          <a:p>
            <a:pPr algn="just" eaLnBrk="0" hangingPunct="0"/>
            <a:r>
              <a:rPr lang="en-US" altLang="zh-CN" dirty="0">
                <a:latin typeface="Times New Roman" panose="02020503050405090304" pitchFamily="18" charset="0"/>
              </a:rPr>
              <a:t>DBMS</a:t>
            </a:r>
            <a:r>
              <a:rPr lang="zh-CN" altLang="en-US" dirty="0">
                <a:latin typeface="Times New Roman" panose="02020503050405090304" pitchFamily="18" charset="0"/>
              </a:rPr>
              <a:t>、数据库其它软件管理与维护</a:t>
            </a:r>
            <a:endParaRPr lang="zh-CN" altLang="en-US" dirty="0">
              <a:latin typeface="Times New Roman" panose="02020503050405090304" pitchFamily="18" charset="0"/>
            </a:endParaRPr>
          </a:p>
          <a:p>
            <a:pPr algn="just" eaLnBrk="0" hangingPunct="0"/>
            <a:r>
              <a:rPr lang="zh-CN" altLang="en-US" dirty="0">
                <a:latin typeface="Times New Roman" panose="02020503050405090304" pitchFamily="18" charset="0"/>
              </a:rPr>
              <a:t>（安全授权、监测和改进性能）</a:t>
            </a:r>
            <a:endParaRPr lang="zh-CN" altLang="en-US" dirty="0"/>
          </a:p>
          <a:p>
            <a:pPr algn="just" eaLnBrk="0" hangingPunct="0"/>
            <a:r>
              <a:rPr lang="en-US" altLang="zh-CN" dirty="0">
                <a:latin typeface="Times New Roman" panose="02020503050405090304" pitchFamily="18" charset="0"/>
              </a:rPr>
              <a:t>2</a:t>
            </a:r>
            <a:r>
              <a:rPr lang="zh-CN" altLang="en-US" dirty="0">
                <a:latin typeface="Times New Roman" panose="02020503050405090304" pitchFamily="18" charset="0"/>
              </a:rPr>
              <a:t>、系统分析员</a:t>
            </a:r>
            <a:endParaRPr lang="zh-CN" altLang="en-US" dirty="0"/>
          </a:p>
          <a:p>
            <a:pPr algn="just" eaLnBrk="0" hangingPunct="0"/>
            <a:r>
              <a:rPr lang="zh-CN" altLang="en-US" dirty="0">
                <a:latin typeface="Times New Roman" panose="02020503050405090304" pitchFamily="18" charset="0"/>
              </a:rPr>
              <a:t>分析用户需求，确定数据库事务</a:t>
            </a:r>
            <a:endParaRPr lang="zh-CN" altLang="en-US" dirty="0"/>
          </a:p>
          <a:p>
            <a:pPr algn="just" eaLnBrk="0" hangingPunct="0"/>
            <a:r>
              <a:rPr lang="en-US" altLang="zh-CN" dirty="0">
                <a:latin typeface="Times New Roman" panose="02020503050405090304" pitchFamily="18" charset="0"/>
              </a:rPr>
              <a:t>3</a:t>
            </a:r>
            <a:r>
              <a:rPr lang="zh-CN" altLang="en-US" dirty="0">
                <a:latin typeface="Times New Roman" panose="02020503050405090304" pitchFamily="18" charset="0"/>
              </a:rPr>
              <a:t>、应用程序员</a:t>
            </a:r>
            <a:endParaRPr lang="zh-CN" altLang="en-US" dirty="0"/>
          </a:p>
          <a:p>
            <a:pPr algn="just" eaLnBrk="0" hangingPunct="0"/>
            <a:r>
              <a:rPr lang="zh-CN" altLang="en-US" dirty="0">
                <a:latin typeface="Times New Roman" panose="02020503050405090304" pitchFamily="18" charset="0"/>
              </a:rPr>
              <a:t>应用软件编码、调试和维护</a:t>
            </a:r>
            <a:endParaRPr lang="zh-CN" altLang="en-US" dirty="0"/>
          </a:p>
          <a:p>
            <a:pPr algn="just" eaLnBrk="0" hangingPunct="0"/>
            <a:r>
              <a:rPr lang="en-US" altLang="zh-CN" dirty="0">
                <a:latin typeface="Times New Roman" panose="02020503050405090304" pitchFamily="18" charset="0"/>
              </a:rPr>
              <a:t>4</a:t>
            </a:r>
            <a:r>
              <a:rPr lang="zh-CN" altLang="en-US" dirty="0">
                <a:latin typeface="Times New Roman" panose="02020503050405090304" pitchFamily="18" charset="0"/>
              </a:rPr>
              <a:t>、终端用户</a:t>
            </a:r>
            <a:endParaRPr lang="zh-CN" altLang="en-US" dirty="0"/>
          </a:p>
          <a:p>
            <a:pPr algn="just" eaLnBrk="0" hangingPunct="0"/>
            <a:r>
              <a:rPr lang="zh-CN" altLang="en-US" dirty="0">
                <a:latin typeface="Times New Roman" panose="02020503050405090304" pitchFamily="18" charset="0"/>
              </a:rPr>
              <a:t>使用数据库</a:t>
            </a:r>
            <a:endParaRPr lang="en-US" altLang="zh-CN" dirty="0">
              <a:latin typeface="Times New Roman" panose="02020503050405090304" pitchFamily="18" charset="0"/>
            </a:endParaRPr>
          </a:p>
        </p:txBody>
      </p:sp>
    </p:spTree>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灯片编号占位符 3"/>
          <p:cNvSpPr>
            <a:spLocks noGrp="1"/>
          </p:cNvSpPr>
          <p:nvPr>
            <p:ph type="sldNum" sz="quarter" idx="12"/>
          </p:nvPr>
        </p:nvSpPr>
        <p:spPr/>
        <p:txBody>
          <a:bodyPr/>
          <a:lstStyle/>
          <a:p>
            <a:pPr>
              <a:defRPr/>
            </a:pPr>
            <a:fld id="{92A24A73-3646-4499-846E-C390E2247FDF}" type="slidenum">
              <a:rPr lang="en-US" altLang="zh-CN"/>
            </a:fld>
            <a:endParaRPr lang="en-US" altLang="zh-CN"/>
          </a:p>
        </p:txBody>
      </p:sp>
      <p:sp>
        <p:nvSpPr>
          <p:cNvPr id="108547" name="Rectangle 1026"/>
          <p:cNvSpPr>
            <a:spLocks noChangeArrowheads="1"/>
          </p:cNvSpPr>
          <p:nvPr/>
        </p:nvSpPr>
        <p:spPr bwMode="auto">
          <a:xfrm>
            <a:off x="381000" y="538163"/>
            <a:ext cx="8458200" cy="944562"/>
          </a:xfrm>
          <a:prstGeom prst="rect">
            <a:avLst/>
          </a:prstGeom>
          <a:noFill/>
          <a:ln w="9525">
            <a:noFill/>
            <a:miter lim="800000"/>
          </a:ln>
        </p:spPr>
        <p:txBody>
          <a:bodyPr tIns="76176" bIns="76176">
            <a:spAutoFit/>
          </a:bodyPr>
          <a:lstStyle/>
          <a:p>
            <a:pPr algn="just"/>
            <a:r>
              <a:rPr lang="en-US" altLang="zh-CN" sz="2800">
                <a:latin typeface="Arial" panose="020B0604020202090204" pitchFamily="34" charset="0"/>
                <a:ea typeface="黑体" panose="02010609060101010101" pitchFamily="49" charset="-122"/>
              </a:rPr>
              <a:t>1.5  DBS</a:t>
            </a:r>
            <a:r>
              <a:rPr lang="zh-CN" altLang="en-US" sz="2800">
                <a:latin typeface="Arial" panose="020B0604020202090204" pitchFamily="34" charset="0"/>
                <a:ea typeface="黑体" panose="02010609060101010101" pitchFamily="49" charset="-122"/>
              </a:rPr>
              <a:t>工作过程</a:t>
            </a:r>
            <a:endParaRPr lang="zh-CN" altLang="en-US" sz="2800">
              <a:latin typeface="Arial" panose="020B0604020202090204" pitchFamily="34" charset="0"/>
              <a:ea typeface="黑体" panose="02010609060101010101" pitchFamily="49" charset="-122"/>
            </a:endParaRPr>
          </a:p>
          <a:p>
            <a:pPr eaLnBrk="0" hangingPunct="0"/>
            <a:r>
              <a:rPr lang="en-US" altLang="zh-CN"/>
              <a:t>1.5.1</a:t>
            </a:r>
            <a:r>
              <a:rPr lang="zh-CN" altLang="en-US">
                <a:latin typeface="Times New Roman" panose="02020503050405090304" pitchFamily="18" charset="0"/>
              </a:rPr>
              <a:t>从数据库中读取记录的过程</a:t>
            </a:r>
            <a:r>
              <a:rPr lang="zh-CN" altLang="en-US"/>
              <a:t> </a:t>
            </a:r>
            <a:endParaRPr lang="zh-CN" altLang="en-US">
              <a:latin typeface="Times New Roman" panose="02020503050405090304" pitchFamily="18" charset="0"/>
            </a:endParaRPr>
          </a:p>
        </p:txBody>
      </p:sp>
      <p:grpSp>
        <p:nvGrpSpPr>
          <p:cNvPr id="108548" name="Group 1027"/>
          <p:cNvGrpSpPr/>
          <p:nvPr/>
        </p:nvGrpSpPr>
        <p:grpSpPr bwMode="auto">
          <a:xfrm>
            <a:off x="381000" y="1452563"/>
            <a:ext cx="8077200" cy="5334000"/>
            <a:chOff x="48" y="144"/>
            <a:chExt cx="5568" cy="4032"/>
          </a:xfrm>
        </p:grpSpPr>
        <p:sp>
          <p:nvSpPr>
            <p:cNvPr id="108550" name="Rectangle 1028"/>
            <p:cNvSpPr>
              <a:spLocks noChangeArrowheads="1"/>
            </p:cNvSpPr>
            <p:nvPr/>
          </p:nvSpPr>
          <p:spPr bwMode="auto">
            <a:xfrm>
              <a:off x="48" y="144"/>
              <a:ext cx="3600" cy="4032"/>
            </a:xfrm>
            <a:prstGeom prst="rect">
              <a:avLst/>
            </a:prstGeom>
            <a:solidFill>
              <a:schemeClr val="bg1"/>
            </a:solidFill>
            <a:ln w="9525">
              <a:solidFill>
                <a:schemeClr val="tx1"/>
              </a:solidFill>
              <a:miter lim="800000"/>
            </a:ln>
          </p:spPr>
          <p:txBody>
            <a:bodyPr wrap="none" anchor="ctr"/>
            <a:lstStyle/>
            <a:p>
              <a:endParaRPr lang="zh-CN" altLang="en-US"/>
            </a:p>
          </p:txBody>
        </p:sp>
        <p:sp>
          <p:nvSpPr>
            <p:cNvPr id="108551" name="Text Box 1029"/>
            <p:cNvSpPr txBox="1">
              <a:spLocks noChangeArrowheads="1"/>
            </p:cNvSpPr>
            <p:nvPr/>
          </p:nvSpPr>
          <p:spPr bwMode="auto">
            <a:xfrm>
              <a:off x="1681" y="720"/>
              <a:ext cx="767" cy="346"/>
            </a:xfrm>
            <a:prstGeom prst="rect">
              <a:avLst/>
            </a:prstGeom>
            <a:noFill/>
            <a:ln w="9525">
              <a:noFill/>
              <a:miter lim="800000"/>
            </a:ln>
          </p:spPr>
          <p:txBody>
            <a:bodyPr>
              <a:spAutoFit/>
            </a:bodyPr>
            <a:lstStyle/>
            <a:p>
              <a:pPr>
                <a:spcBef>
                  <a:spcPct val="50000"/>
                </a:spcBef>
              </a:pPr>
              <a:r>
                <a:rPr lang="en-US" altLang="zh-CN" b="1">
                  <a:latin typeface="Times New Roman" panose="02020503050405090304" pitchFamily="18" charset="0"/>
                </a:rPr>
                <a:t>……</a:t>
              </a:r>
              <a:r>
                <a:rPr lang="en-US" altLang="zh-CN" b="1">
                  <a:latin typeface="Tahoma" panose="020B0604030504040204" pitchFamily="34" charset="0"/>
                </a:rPr>
                <a:t>.</a:t>
              </a:r>
              <a:endParaRPr lang="en-US" altLang="zh-CN" b="1">
                <a:latin typeface="Tahoma" panose="020B0604030504040204" pitchFamily="34" charset="0"/>
              </a:endParaRPr>
            </a:p>
          </p:txBody>
        </p:sp>
        <p:grpSp>
          <p:nvGrpSpPr>
            <p:cNvPr id="108552" name="Group 1030"/>
            <p:cNvGrpSpPr/>
            <p:nvPr/>
          </p:nvGrpSpPr>
          <p:grpSpPr bwMode="auto">
            <a:xfrm>
              <a:off x="144" y="144"/>
              <a:ext cx="960" cy="960"/>
              <a:chOff x="144" y="336"/>
              <a:chExt cx="960" cy="960"/>
            </a:xfrm>
          </p:grpSpPr>
          <p:grpSp>
            <p:nvGrpSpPr>
              <p:cNvPr id="108594" name="Group 1031"/>
              <p:cNvGrpSpPr/>
              <p:nvPr/>
            </p:nvGrpSpPr>
            <p:grpSpPr bwMode="auto">
              <a:xfrm>
                <a:off x="144" y="624"/>
                <a:ext cx="960" cy="672"/>
                <a:chOff x="2592" y="528"/>
                <a:chExt cx="960" cy="672"/>
              </a:xfrm>
            </p:grpSpPr>
            <p:grpSp>
              <p:nvGrpSpPr>
                <p:cNvPr id="108596" name="Group 1032"/>
                <p:cNvGrpSpPr/>
                <p:nvPr/>
              </p:nvGrpSpPr>
              <p:grpSpPr bwMode="auto">
                <a:xfrm>
                  <a:off x="2592" y="528"/>
                  <a:ext cx="960" cy="672"/>
                  <a:chOff x="432" y="480"/>
                  <a:chExt cx="960" cy="672"/>
                </a:xfrm>
              </p:grpSpPr>
              <p:sp>
                <p:nvSpPr>
                  <p:cNvPr id="108600" name="Rectangle 1033"/>
                  <p:cNvSpPr>
                    <a:spLocks noChangeArrowheads="1"/>
                  </p:cNvSpPr>
                  <p:nvPr/>
                </p:nvSpPr>
                <p:spPr bwMode="auto">
                  <a:xfrm>
                    <a:off x="432" y="480"/>
                    <a:ext cx="960" cy="672"/>
                  </a:xfrm>
                  <a:prstGeom prst="rect">
                    <a:avLst/>
                  </a:prstGeom>
                  <a:solidFill>
                    <a:schemeClr val="accent1"/>
                  </a:solidFill>
                  <a:ln w="9525">
                    <a:solidFill>
                      <a:schemeClr val="tx1"/>
                    </a:solidFill>
                    <a:miter lim="800000"/>
                  </a:ln>
                </p:spPr>
                <p:txBody>
                  <a:bodyPr wrap="none" anchor="ctr"/>
                  <a:lstStyle/>
                  <a:p>
                    <a:endParaRPr lang="zh-CN" altLang="en-US"/>
                  </a:p>
                </p:txBody>
              </p:sp>
              <p:sp>
                <p:nvSpPr>
                  <p:cNvPr id="108601" name="Line 1034"/>
                  <p:cNvSpPr>
                    <a:spLocks noChangeShapeType="1"/>
                  </p:cNvSpPr>
                  <p:nvPr/>
                </p:nvSpPr>
                <p:spPr bwMode="auto">
                  <a:xfrm>
                    <a:off x="432" y="816"/>
                    <a:ext cx="960" cy="0"/>
                  </a:xfrm>
                  <a:prstGeom prst="line">
                    <a:avLst/>
                  </a:prstGeom>
                  <a:noFill/>
                  <a:ln w="9525">
                    <a:solidFill>
                      <a:schemeClr val="tx1"/>
                    </a:solidFill>
                    <a:miter lim="800000"/>
                  </a:ln>
                </p:spPr>
                <p:txBody>
                  <a:bodyPr wrap="none"/>
                  <a:lstStyle/>
                  <a:p>
                    <a:endParaRPr lang="zh-CN" altLang="en-US"/>
                  </a:p>
                </p:txBody>
              </p:sp>
            </p:grpSp>
            <p:grpSp>
              <p:nvGrpSpPr>
                <p:cNvPr id="108597" name="Group 1035"/>
                <p:cNvGrpSpPr/>
                <p:nvPr/>
              </p:nvGrpSpPr>
              <p:grpSpPr bwMode="auto">
                <a:xfrm>
                  <a:off x="2592" y="576"/>
                  <a:ext cx="960" cy="613"/>
                  <a:chOff x="384" y="336"/>
                  <a:chExt cx="960" cy="613"/>
                </a:xfrm>
              </p:grpSpPr>
              <p:sp>
                <p:nvSpPr>
                  <p:cNvPr id="100405" name="Text Box 1036"/>
                  <p:cNvSpPr txBox="1">
                    <a:spLocks noChangeArrowheads="1"/>
                  </p:cNvSpPr>
                  <p:nvPr/>
                </p:nvSpPr>
                <p:spPr bwMode="auto">
                  <a:xfrm>
                    <a:off x="384" y="336"/>
                    <a:ext cx="960" cy="277"/>
                  </a:xfrm>
                  <a:prstGeom prst="rect">
                    <a:avLst/>
                  </a:prstGeom>
                  <a:solidFill>
                    <a:schemeClr val="bg2">
                      <a:lumMod val="90000"/>
                    </a:schemeClr>
                  </a:solidFill>
                  <a:ln w="9525">
                    <a:noFill/>
                    <a:miter lim="800000"/>
                  </a:ln>
                </p:spPr>
                <p:txBody>
                  <a:bodyPr>
                    <a:spAutoFit/>
                  </a:bodyPr>
                  <a:lstStyle/>
                  <a:p>
                    <a:pPr>
                      <a:spcBef>
                        <a:spcPct val="50000"/>
                      </a:spcBef>
                      <a:defRPr/>
                    </a:pPr>
                    <a:r>
                      <a:rPr lang="en-US" altLang="zh-CN" sz="1800" b="1" dirty="0">
                        <a:latin typeface="Tahoma" panose="020B0604030504040204" pitchFamily="34" charset="0"/>
                        <a:ea typeface="宋体" pitchFamily="2" charset="-122"/>
                      </a:rPr>
                      <a:t>  </a:t>
                    </a:r>
                    <a:r>
                      <a:rPr lang="zh-CN" altLang="en-US" sz="1600" b="1" dirty="0">
                        <a:latin typeface="Tahoma" panose="020B0604030504040204" pitchFamily="34" charset="0"/>
                        <a:ea typeface="宋体" pitchFamily="2" charset="-122"/>
                      </a:rPr>
                      <a:t>应用程序</a:t>
                    </a:r>
                    <a:r>
                      <a:rPr lang="en-US" altLang="zh-CN" sz="1600" b="1" dirty="0">
                        <a:latin typeface="Tahoma" panose="020B0604030504040204" pitchFamily="34" charset="0"/>
                        <a:ea typeface="宋体" pitchFamily="2" charset="-122"/>
                      </a:rPr>
                      <a:t>A</a:t>
                    </a:r>
                    <a:endParaRPr lang="en-US" altLang="zh-CN" sz="1600" b="1" dirty="0">
                      <a:latin typeface="Tahoma" panose="020B0604030504040204" pitchFamily="34" charset="0"/>
                      <a:ea typeface="宋体" pitchFamily="2" charset="-122"/>
                    </a:endParaRPr>
                  </a:p>
                </p:txBody>
              </p:sp>
              <p:sp>
                <p:nvSpPr>
                  <p:cNvPr id="100406" name="Text Box 1037"/>
                  <p:cNvSpPr txBox="1">
                    <a:spLocks noChangeArrowheads="1"/>
                  </p:cNvSpPr>
                  <p:nvPr/>
                </p:nvSpPr>
                <p:spPr bwMode="auto">
                  <a:xfrm>
                    <a:off x="384" y="672"/>
                    <a:ext cx="960" cy="277"/>
                  </a:xfrm>
                  <a:prstGeom prst="rect">
                    <a:avLst/>
                  </a:prstGeom>
                  <a:solidFill>
                    <a:schemeClr val="bg2">
                      <a:lumMod val="90000"/>
                    </a:schemeClr>
                  </a:solidFill>
                  <a:ln w="9525">
                    <a:noFill/>
                    <a:miter lim="800000"/>
                  </a:ln>
                </p:spPr>
                <p:txBody>
                  <a:bodyPr>
                    <a:spAutoFit/>
                  </a:bodyPr>
                  <a:lstStyle/>
                  <a:p>
                    <a:pPr>
                      <a:spcBef>
                        <a:spcPct val="50000"/>
                      </a:spcBef>
                      <a:defRPr/>
                    </a:pPr>
                    <a:r>
                      <a:rPr lang="en-US" altLang="zh-CN" sz="1800" b="1">
                        <a:latin typeface="Tahoma" panose="020B0604030504040204" pitchFamily="34" charset="0"/>
                        <a:ea typeface="宋体" pitchFamily="2" charset="-122"/>
                      </a:rPr>
                      <a:t>  </a:t>
                    </a:r>
                    <a:r>
                      <a:rPr lang="zh-CN" altLang="en-US" sz="1600" b="1">
                        <a:latin typeface="Tahoma" panose="020B0604030504040204" pitchFamily="34" charset="0"/>
                        <a:ea typeface="宋体" pitchFamily="2" charset="-122"/>
                      </a:rPr>
                      <a:t>用户工作区</a:t>
                    </a:r>
                    <a:endParaRPr lang="zh-CN" altLang="en-US" sz="1600" b="1">
                      <a:latin typeface="Tahoma" panose="020B0604030504040204" pitchFamily="34" charset="0"/>
                      <a:ea typeface="宋体" pitchFamily="2" charset="-122"/>
                    </a:endParaRPr>
                  </a:p>
                </p:txBody>
              </p:sp>
            </p:grpSp>
          </p:grpSp>
          <p:sp>
            <p:nvSpPr>
              <p:cNvPr id="108595" name="Text Box 1038"/>
              <p:cNvSpPr txBox="1">
                <a:spLocks noChangeArrowheads="1"/>
              </p:cNvSpPr>
              <p:nvPr/>
            </p:nvSpPr>
            <p:spPr bwMode="auto">
              <a:xfrm>
                <a:off x="192" y="336"/>
                <a:ext cx="816" cy="300"/>
              </a:xfrm>
              <a:prstGeom prst="rect">
                <a:avLst/>
              </a:prstGeom>
              <a:noFill/>
              <a:ln w="9525">
                <a:noFill/>
                <a:miter lim="800000"/>
              </a:ln>
            </p:spPr>
            <p:txBody>
              <a:bodyPr>
                <a:spAutoFit/>
              </a:bodyPr>
              <a:lstStyle/>
              <a:p>
                <a:pPr>
                  <a:spcBef>
                    <a:spcPct val="50000"/>
                  </a:spcBef>
                </a:pPr>
                <a:r>
                  <a:rPr lang="zh-CN" altLang="en-US" sz="2000" b="1">
                    <a:latin typeface="Tahoma" panose="020B0604030504040204" pitchFamily="34" charset="0"/>
                  </a:rPr>
                  <a:t>用户</a:t>
                </a:r>
                <a:r>
                  <a:rPr lang="en-US" altLang="zh-CN" sz="2000" b="1">
                    <a:latin typeface="Tahoma" panose="020B0604030504040204" pitchFamily="34" charset="0"/>
                  </a:rPr>
                  <a:t>A</a:t>
                </a:r>
                <a:endParaRPr lang="en-US" altLang="zh-CN" sz="2000" b="1">
                  <a:latin typeface="Tahoma" panose="020B0604030504040204" pitchFamily="34" charset="0"/>
                </a:endParaRPr>
              </a:p>
            </p:txBody>
          </p:sp>
        </p:grpSp>
        <p:grpSp>
          <p:nvGrpSpPr>
            <p:cNvPr id="108553" name="Group 1039"/>
            <p:cNvGrpSpPr/>
            <p:nvPr/>
          </p:nvGrpSpPr>
          <p:grpSpPr bwMode="auto">
            <a:xfrm>
              <a:off x="2400" y="144"/>
              <a:ext cx="960" cy="912"/>
              <a:chOff x="2592" y="384"/>
              <a:chExt cx="960" cy="912"/>
            </a:xfrm>
          </p:grpSpPr>
          <p:grpSp>
            <p:nvGrpSpPr>
              <p:cNvPr id="108586" name="Group 1040"/>
              <p:cNvGrpSpPr/>
              <p:nvPr/>
            </p:nvGrpSpPr>
            <p:grpSpPr bwMode="auto">
              <a:xfrm>
                <a:off x="2592" y="624"/>
                <a:ext cx="960" cy="672"/>
                <a:chOff x="2592" y="528"/>
                <a:chExt cx="960" cy="672"/>
              </a:xfrm>
            </p:grpSpPr>
            <p:grpSp>
              <p:nvGrpSpPr>
                <p:cNvPr id="108588" name="Group 1041"/>
                <p:cNvGrpSpPr/>
                <p:nvPr/>
              </p:nvGrpSpPr>
              <p:grpSpPr bwMode="auto">
                <a:xfrm>
                  <a:off x="2592" y="528"/>
                  <a:ext cx="960" cy="672"/>
                  <a:chOff x="432" y="480"/>
                  <a:chExt cx="960" cy="672"/>
                </a:xfrm>
              </p:grpSpPr>
              <p:sp>
                <p:nvSpPr>
                  <p:cNvPr id="108592" name="Rectangle 1042"/>
                  <p:cNvSpPr>
                    <a:spLocks noChangeArrowheads="1"/>
                  </p:cNvSpPr>
                  <p:nvPr/>
                </p:nvSpPr>
                <p:spPr bwMode="auto">
                  <a:xfrm>
                    <a:off x="432" y="480"/>
                    <a:ext cx="960" cy="672"/>
                  </a:xfrm>
                  <a:prstGeom prst="rect">
                    <a:avLst/>
                  </a:prstGeom>
                  <a:solidFill>
                    <a:schemeClr val="accent1"/>
                  </a:solidFill>
                  <a:ln w="9525">
                    <a:solidFill>
                      <a:schemeClr val="tx1"/>
                    </a:solidFill>
                    <a:miter lim="800000"/>
                  </a:ln>
                </p:spPr>
                <p:txBody>
                  <a:bodyPr wrap="none" anchor="ctr"/>
                  <a:lstStyle/>
                  <a:p>
                    <a:endParaRPr lang="zh-CN" altLang="en-US"/>
                  </a:p>
                </p:txBody>
              </p:sp>
              <p:sp>
                <p:nvSpPr>
                  <p:cNvPr id="108593" name="Line 1043"/>
                  <p:cNvSpPr>
                    <a:spLocks noChangeShapeType="1"/>
                  </p:cNvSpPr>
                  <p:nvPr/>
                </p:nvSpPr>
                <p:spPr bwMode="auto">
                  <a:xfrm>
                    <a:off x="432" y="816"/>
                    <a:ext cx="960" cy="0"/>
                  </a:xfrm>
                  <a:prstGeom prst="line">
                    <a:avLst/>
                  </a:prstGeom>
                  <a:noFill/>
                  <a:ln w="9525">
                    <a:solidFill>
                      <a:schemeClr val="tx1"/>
                    </a:solidFill>
                    <a:miter lim="800000"/>
                  </a:ln>
                </p:spPr>
                <p:txBody>
                  <a:bodyPr wrap="none"/>
                  <a:lstStyle/>
                  <a:p>
                    <a:endParaRPr lang="zh-CN" altLang="en-US"/>
                  </a:p>
                </p:txBody>
              </p:sp>
            </p:grpSp>
            <p:grpSp>
              <p:nvGrpSpPr>
                <p:cNvPr id="108589" name="Group 1044"/>
                <p:cNvGrpSpPr/>
                <p:nvPr/>
              </p:nvGrpSpPr>
              <p:grpSpPr bwMode="auto">
                <a:xfrm>
                  <a:off x="2592" y="575"/>
                  <a:ext cx="958" cy="613"/>
                  <a:chOff x="384" y="335"/>
                  <a:chExt cx="958" cy="613"/>
                </a:xfrm>
              </p:grpSpPr>
              <p:sp>
                <p:nvSpPr>
                  <p:cNvPr id="100397" name="Text Box 1045"/>
                  <p:cNvSpPr txBox="1">
                    <a:spLocks noChangeArrowheads="1"/>
                  </p:cNvSpPr>
                  <p:nvPr/>
                </p:nvSpPr>
                <p:spPr bwMode="auto">
                  <a:xfrm>
                    <a:off x="384" y="335"/>
                    <a:ext cx="958" cy="277"/>
                  </a:xfrm>
                  <a:prstGeom prst="rect">
                    <a:avLst/>
                  </a:prstGeom>
                  <a:solidFill>
                    <a:schemeClr val="bg2">
                      <a:lumMod val="90000"/>
                    </a:schemeClr>
                  </a:solidFill>
                  <a:ln w="9525">
                    <a:noFill/>
                    <a:miter lim="800000"/>
                  </a:ln>
                </p:spPr>
                <p:txBody>
                  <a:bodyPr>
                    <a:spAutoFit/>
                  </a:bodyPr>
                  <a:lstStyle/>
                  <a:p>
                    <a:pPr>
                      <a:spcBef>
                        <a:spcPct val="50000"/>
                      </a:spcBef>
                      <a:defRPr/>
                    </a:pPr>
                    <a:r>
                      <a:rPr lang="en-US" altLang="zh-CN" sz="1800" b="1" dirty="0">
                        <a:latin typeface="Tahoma" panose="020B0604030504040204" pitchFamily="34" charset="0"/>
                        <a:ea typeface="宋体" pitchFamily="2" charset="-122"/>
                      </a:rPr>
                      <a:t>  </a:t>
                    </a:r>
                    <a:r>
                      <a:rPr lang="zh-CN" altLang="en-US" sz="1600" b="1" dirty="0">
                        <a:latin typeface="Tahoma" panose="020B0604030504040204" pitchFamily="34" charset="0"/>
                        <a:ea typeface="宋体" pitchFamily="2" charset="-122"/>
                      </a:rPr>
                      <a:t>应用程序 </a:t>
                    </a:r>
                    <a:r>
                      <a:rPr lang="en-US" altLang="zh-CN" sz="1600" b="1" dirty="0">
                        <a:latin typeface="Tahoma" panose="020B0604030504040204" pitchFamily="34" charset="0"/>
                        <a:ea typeface="宋体" pitchFamily="2" charset="-122"/>
                      </a:rPr>
                      <a:t>X</a:t>
                    </a:r>
                    <a:endParaRPr lang="en-US" altLang="zh-CN" sz="1600" b="1" dirty="0">
                      <a:latin typeface="Tahoma" panose="020B0604030504040204" pitchFamily="34" charset="0"/>
                      <a:ea typeface="宋体" pitchFamily="2" charset="-122"/>
                    </a:endParaRPr>
                  </a:p>
                </p:txBody>
              </p:sp>
              <p:sp>
                <p:nvSpPr>
                  <p:cNvPr id="100398" name="Text Box 1046"/>
                  <p:cNvSpPr txBox="1">
                    <a:spLocks noChangeArrowheads="1"/>
                  </p:cNvSpPr>
                  <p:nvPr/>
                </p:nvSpPr>
                <p:spPr bwMode="auto">
                  <a:xfrm>
                    <a:off x="384" y="671"/>
                    <a:ext cx="958" cy="277"/>
                  </a:xfrm>
                  <a:prstGeom prst="rect">
                    <a:avLst/>
                  </a:prstGeom>
                  <a:solidFill>
                    <a:schemeClr val="bg2">
                      <a:lumMod val="90000"/>
                    </a:schemeClr>
                  </a:solidFill>
                  <a:ln w="9525">
                    <a:noFill/>
                    <a:miter lim="800000"/>
                  </a:ln>
                </p:spPr>
                <p:txBody>
                  <a:bodyPr>
                    <a:spAutoFit/>
                  </a:bodyPr>
                  <a:lstStyle/>
                  <a:p>
                    <a:pPr>
                      <a:spcBef>
                        <a:spcPct val="50000"/>
                      </a:spcBef>
                      <a:defRPr/>
                    </a:pPr>
                    <a:r>
                      <a:rPr lang="en-US" altLang="zh-CN" sz="1800" b="1" dirty="0">
                        <a:latin typeface="Tahoma" panose="020B0604030504040204" pitchFamily="34" charset="0"/>
                        <a:ea typeface="宋体" pitchFamily="2" charset="-122"/>
                      </a:rPr>
                      <a:t>  </a:t>
                    </a:r>
                    <a:r>
                      <a:rPr lang="zh-CN" altLang="en-US" sz="1600" b="1" dirty="0">
                        <a:latin typeface="Tahoma" panose="020B0604030504040204" pitchFamily="34" charset="0"/>
                        <a:ea typeface="宋体" pitchFamily="2" charset="-122"/>
                      </a:rPr>
                      <a:t>用户工作区</a:t>
                    </a:r>
                    <a:endParaRPr lang="zh-CN" altLang="en-US" sz="1600" b="1" dirty="0">
                      <a:latin typeface="Tahoma" panose="020B0604030504040204" pitchFamily="34" charset="0"/>
                      <a:ea typeface="宋体" pitchFamily="2" charset="-122"/>
                    </a:endParaRPr>
                  </a:p>
                </p:txBody>
              </p:sp>
            </p:grpSp>
          </p:grpSp>
          <p:sp>
            <p:nvSpPr>
              <p:cNvPr id="108587" name="Text Box 1047"/>
              <p:cNvSpPr txBox="1">
                <a:spLocks noChangeArrowheads="1"/>
              </p:cNvSpPr>
              <p:nvPr/>
            </p:nvSpPr>
            <p:spPr bwMode="auto">
              <a:xfrm>
                <a:off x="2640" y="384"/>
                <a:ext cx="814" cy="300"/>
              </a:xfrm>
              <a:prstGeom prst="rect">
                <a:avLst/>
              </a:prstGeom>
              <a:noFill/>
              <a:ln w="9525">
                <a:noFill/>
                <a:miter lim="800000"/>
              </a:ln>
            </p:spPr>
            <p:txBody>
              <a:bodyPr>
                <a:spAutoFit/>
              </a:bodyPr>
              <a:lstStyle/>
              <a:p>
                <a:pPr>
                  <a:spcBef>
                    <a:spcPct val="50000"/>
                  </a:spcBef>
                </a:pPr>
                <a:r>
                  <a:rPr lang="zh-CN" altLang="en-US" sz="2000" b="1">
                    <a:latin typeface="Tahoma" panose="020B0604030504040204" pitchFamily="34" charset="0"/>
                  </a:rPr>
                  <a:t>用户</a:t>
                </a:r>
                <a:r>
                  <a:rPr lang="en-US" altLang="zh-CN" sz="2000" b="1">
                    <a:latin typeface="Tahoma" panose="020B0604030504040204" pitchFamily="34" charset="0"/>
                  </a:rPr>
                  <a:t>X</a:t>
                </a:r>
                <a:endParaRPr lang="en-US" altLang="zh-CN" sz="2000" b="1">
                  <a:latin typeface="Tahoma" panose="020B0604030504040204" pitchFamily="34" charset="0"/>
                </a:endParaRPr>
              </a:p>
            </p:txBody>
          </p:sp>
        </p:grpSp>
        <p:sp>
          <p:nvSpPr>
            <p:cNvPr id="100361" name="Rectangle 1048"/>
            <p:cNvSpPr>
              <a:spLocks noChangeArrowheads="1"/>
            </p:cNvSpPr>
            <p:nvPr/>
          </p:nvSpPr>
          <p:spPr bwMode="auto">
            <a:xfrm>
              <a:off x="144" y="1920"/>
              <a:ext cx="960" cy="288"/>
            </a:xfrm>
            <a:prstGeom prst="rect">
              <a:avLst/>
            </a:prstGeom>
            <a:solidFill>
              <a:schemeClr val="bg2">
                <a:lumMod val="90000"/>
              </a:schemeClr>
            </a:solidFill>
            <a:ln w="9525">
              <a:solidFill>
                <a:schemeClr val="tx1"/>
              </a:solidFill>
              <a:miter lim="800000"/>
            </a:ln>
          </p:spPr>
          <p:txBody>
            <a:bodyPr wrap="none" anchor="ctr"/>
            <a:lstStyle/>
            <a:p>
              <a:pPr algn="ctr">
                <a:defRPr/>
              </a:pPr>
              <a:r>
                <a:rPr lang="zh-CN" altLang="en-US" sz="2000" b="1">
                  <a:latin typeface="Tahoma" panose="020B0604030504040204" pitchFamily="34" charset="0"/>
                  <a:ea typeface="宋体" pitchFamily="2" charset="-122"/>
                </a:rPr>
                <a:t>系统缓冲区</a:t>
              </a:r>
              <a:endParaRPr lang="zh-CN" altLang="en-US" sz="2000" b="1">
                <a:latin typeface="Tahoma" panose="020B0604030504040204" pitchFamily="34" charset="0"/>
                <a:ea typeface="宋体" pitchFamily="2" charset="-122"/>
              </a:endParaRPr>
            </a:p>
          </p:txBody>
        </p:sp>
        <p:sp>
          <p:nvSpPr>
            <p:cNvPr id="100362" name="AutoShape 1049"/>
            <p:cNvSpPr>
              <a:spLocks noChangeArrowheads="1"/>
            </p:cNvSpPr>
            <p:nvPr/>
          </p:nvSpPr>
          <p:spPr bwMode="auto">
            <a:xfrm>
              <a:off x="1536" y="1872"/>
              <a:ext cx="1248" cy="336"/>
            </a:xfrm>
            <a:prstGeom prst="hexagon">
              <a:avLst>
                <a:gd name="adj" fmla="val 92857"/>
                <a:gd name="vf" fmla="val 115470"/>
              </a:avLst>
            </a:prstGeom>
            <a:solidFill>
              <a:schemeClr val="bg2">
                <a:lumMod val="90000"/>
              </a:schemeClr>
            </a:solidFill>
            <a:ln w="9525">
              <a:solidFill>
                <a:schemeClr val="tx1"/>
              </a:solidFill>
              <a:miter lim="800000"/>
            </a:ln>
          </p:spPr>
          <p:txBody>
            <a:bodyPr wrap="none" anchor="ctr"/>
            <a:lstStyle/>
            <a:p>
              <a:pPr algn="ctr">
                <a:defRPr/>
              </a:pPr>
              <a:r>
                <a:rPr lang="en-US" altLang="zh-CN" b="1">
                  <a:latin typeface="Tahoma" panose="020B0604030504040204" pitchFamily="34" charset="0"/>
                  <a:ea typeface="宋体" pitchFamily="2" charset="-122"/>
                </a:rPr>
                <a:t>DBMS</a:t>
              </a:r>
              <a:endParaRPr lang="en-US" altLang="zh-CN" b="1">
                <a:latin typeface="Tahoma" panose="020B0604030504040204" pitchFamily="34" charset="0"/>
                <a:ea typeface="宋体" pitchFamily="2" charset="-122"/>
              </a:endParaRPr>
            </a:p>
          </p:txBody>
        </p:sp>
        <p:sp>
          <p:nvSpPr>
            <p:cNvPr id="100363" name="Oval 1050"/>
            <p:cNvSpPr>
              <a:spLocks noChangeArrowheads="1"/>
            </p:cNvSpPr>
            <p:nvPr/>
          </p:nvSpPr>
          <p:spPr bwMode="auto">
            <a:xfrm>
              <a:off x="1824" y="2880"/>
              <a:ext cx="720" cy="624"/>
            </a:xfrm>
            <a:prstGeom prst="ellipse">
              <a:avLst/>
            </a:prstGeom>
            <a:solidFill>
              <a:schemeClr val="bg2">
                <a:lumMod val="90000"/>
              </a:schemeClr>
            </a:solidFill>
            <a:ln w="9525">
              <a:solidFill>
                <a:schemeClr val="tx1"/>
              </a:solidFill>
              <a:miter lim="800000"/>
            </a:ln>
          </p:spPr>
          <p:txBody>
            <a:bodyPr wrap="none" anchor="ctr"/>
            <a:lstStyle/>
            <a:p>
              <a:pPr algn="ctr">
                <a:defRPr/>
              </a:pPr>
              <a:r>
                <a:rPr lang="zh-CN" altLang="en-US" sz="2000" b="1" dirty="0">
                  <a:latin typeface="Tahoma" panose="020B0604030504040204" pitchFamily="34" charset="0"/>
                  <a:ea typeface="宋体" pitchFamily="2" charset="-122"/>
                </a:rPr>
                <a:t>操作系统</a:t>
              </a:r>
              <a:endParaRPr lang="zh-CN" altLang="en-US" sz="2000" b="1" dirty="0">
                <a:latin typeface="Tahoma" panose="020B0604030504040204" pitchFamily="34" charset="0"/>
                <a:ea typeface="宋体" pitchFamily="2" charset="-122"/>
              </a:endParaRPr>
            </a:p>
          </p:txBody>
        </p:sp>
        <p:sp>
          <p:nvSpPr>
            <p:cNvPr id="100364" name="AutoShape 1051"/>
            <p:cNvSpPr>
              <a:spLocks noChangeArrowheads="1"/>
            </p:cNvSpPr>
            <p:nvPr/>
          </p:nvSpPr>
          <p:spPr bwMode="auto">
            <a:xfrm>
              <a:off x="192" y="3360"/>
              <a:ext cx="912" cy="528"/>
            </a:xfrm>
            <a:prstGeom prst="flowChartMagneticDisk">
              <a:avLst/>
            </a:prstGeom>
            <a:solidFill>
              <a:schemeClr val="bg2">
                <a:lumMod val="90000"/>
              </a:schemeClr>
            </a:solidFill>
            <a:ln w="9525">
              <a:solidFill>
                <a:schemeClr val="tx1"/>
              </a:solidFill>
              <a:miter lim="800000"/>
            </a:ln>
          </p:spPr>
          <p:txBody>
            <a:bodyPr wrap="none" anchor="ctr"/>
            <a:lstStyle/>
            <a:p>
              <a:pPr algn="ctr">
                <a:defRPr/>
              </a:pPr>
              <a:r>
                <a:rPr lang="zh-CN" altLang="en-US" sz="2000" b="1">
                  <a:latin typeface="Tahoma" panose="020B0604030504040204" pitchFamily="34" charset="0"/>
                  <a:ea typeface="宋体" pitchFamily="2" charset="-122"/>
                </a:rPr>
                <a:t>数据库</a:t>
              </a:r>
              <a:endParaRPr lang="zh-CN" altLang="en-US" sz="2000" b="1">
                <a:latin typeface="Tahoma" panose="020B0604030504040204" pitchFamily="34" charset="0"/>
                <a:ea typeface="宋体" pitchFamily="2" charset="-122"/>
              </a:endParaRPr>
            </a:p>
          </p:txBody>
        </p:sp>
        <p:sp>
          <p:nvSpPr>
            <p:cNvPr id="100365" name="Rectangle 1052"/>
            <p:cNvSpPr>
              <a:spLocks noChangeArrowheads="1"/>
            </p:cNvSpPr>
            <p:nvPr/>
          </p:nvSpPr>
          <p:spPr bwMode="auto">
            <a:xfrm>
              <a:off x="3792" y="3456"/>
              <a:ext cx="914" cy="336"/>
            </a:xfrm>
            <a:prstGeom prst="rect">
              <a:avLst/>
            </a:prstGeom>
            <a:solidFill>
              <a:schemeClr val="bg2">
                <a:lumMod val="90000"/>
              </a:schemeClr>
            </a:solidFill>
            <a:ln w="9525">
              <a:solidFill>
                <a:schemeClr val="tx1"/>
              </a:solidFill>
              <a:miter lim="800000"/>
            </a:ln>
          </p:spPr>
          <p:txBody>
            <a:bodyPr wrap="none" anchor="ctr"/>
            <a:lstStyle/>
            <a:p>
              <a:pPr algn="ctr">
                <a:defRPr/>
              </a:pPr>
              <a:r>
                <a:rPr lang="zh-CN" altLang="en-US" b="1">
                  <a:latin typeface="Tahoma" panose="020B0604030504040204" pitchFamily="34" charset="0"/>
                  <a:ea typeface="宋体" pitchFamily="2" charset="-122"/>
                </a:rPr>
                <a:t>内模式</a:t>
              </a:r>
              <a:endParaRPr lang="zh-CN" altLang="en-US" b="1">
                <a:latin typeface="Tahoma" panose="020B0604030504040204" pitchFamily="34" charset="0"/>
                <a:ea typeface="宋体" pitchFamily="2" charset="-122"/>
              </a:endParaRPr>
            </a:p>
          </p:txBody>
        </p:sp>
        <p:sp>
          <p:nvSpPr>
            <p:cNvPr id="100366" name="Rectangle 1053"/>
            <p:cNvSpPr>
              <a:spLocks noChangeArrowheads="1"/>
            </p:cNvSpPr>
            <p:nvPr/>
          </p:nvSpPr>
          <p:spPr bwMode="auto">
            <a:xfrm>
              <a:off x="3744" y="1968"/>
              <a:ext cx="768" cy="336"/>
            </a:xfrm>
            <a:prstGeom prst="rect">
              <a:avLst/>
            </a:prstGeom>
            <a:solidFill>
              <a:schemeClr val="bg2">
                <a:lumMod val="90000"/>
              </a:schemeClr>
            </a:solidFill>
            <a:ln w="9525">
              <a:solidFill>
                <a:schemeClr val="tx1"/>
              </a:solidFill>
              <a:miter lim="800000"/>
            </a:ln>
          </p:spPr>
          <p:txBody>
            <a:bodyPr wrap="none" anchor="ctr"/>
            <a:lstStyle/>
            <a:p>
              <a:pPr algn="ctr">
                <a:defRPr/>
              </a:pPr>
              <a:r>
                <a:rPr lang="zh-CN" altLang="en-US" b="1">
                  <a:latin typeface="Tahoma" panose="020B0604030504040204" pitchFamily="34" charset="0"/>
                  <a:ea typeface="宋体" pitchFamily="2" charset="-122"/>
                </a:rPr>
                <a:t>模式</a:t>
              </a:r>
              <a:endParaRPr lang="zh-CN" altLang="en-US" b="1">
                <a:latin typeface="Tahoma" panose="020B0604030504040204" pitchFamily="34" charset="0"/>
                <a:ea typeface="宋体" pitchFamily="2" charset="-122"/>
              </a:endParaRPr>
            </a:p>
          </p:txBody>
        </p:sp>
        <p:sp>
          <p:nvSpPr>
            <p:cNvPr id="100367" name="Rectangle 1054"/>
            <p:cNvSpPr>
              <a:spLocks noChangeArrowheads="1"/>
            </p:cNvSpPr>
            <p:nvPr/>
          </p:nvSpPr>
          <p:spPr bwMode="auto">
            <a:xfrm>
              <a:off x="3697" y="432"/>
              <a:ext cx="767" cy="336"/>
            </a:xfrm>
            <a:prstGeom prst="rect">
              <a:avLst/>
            </a:prstGeom>
            <a:solidFill>
              <a:schemeClr val="bg2">
                <a:lumMod val="90000"/>
              </a:schemeClr>
            </a:solidFill>
            <a:ln w="9525">
              <a:solidFill>
                <a:schemeClr val="tx1"/>
              </a:solidFill>
              <a:miter lim="800000"/>
            </a:ln>
          </p:spPr>
          <p:txBody>
            <a:bodyPr wrap="none" anchor="ctr"/>
            <a:lstStyle/>
            <a:p>
              <a:pPr algn="ctr">
                <a:defRPr/>
              </a:pPr>
              <a:r>
                <a:rPr lang="zh-CN" altLang="en-US" b="1">
                  <a:latin typeface="Tahoma" panose="020B0604030504040204" pitchFamily="34" charset="0"/>
                  <a:ea typeface="宋体" pitchFamily="2" charset="-122"/>
                </a:rPr>
                <a:t>子模式</a:t>
              </a:r>
              <a:r>
                <a:rPr lang="en-US" altLang="zh-CN" b="1">
                  <a:latin typeface="Tahoma" panose="020B0604030504040204" pitchFamily="34" charset="0"/>
                  <a:ea typeface="宋体" pitchFamily="2" charset="-122"/>
                </a:rPr>
                <a:t>A</a:t>
              </a:r>
              <a:endParaRPr lang="en-US" altLang="zh-CN" b="1">
                <a:latin typeface="Tahoma" panose="020B0604030504040204" pitchFamily="34" charset="0"/>
                <a:ea typeface="宋体" pitchFamily="2" charset="-122"/>
              </a:endParaRPr>
            </a:p>
          </p:txBody>
        </p:sp>
        <p:sp>
          <p:nvSpPr>
            <p:cNvPr id="100368" name="Rectangle 1055"/>
            <p:cNvSpPr>
              <a:spLocks noChangeArrowheads="1"/>
            </p:cNvSpPr>
            <p:nvPr/>
          </p:nvSpPr>
          <p:spPr bwMode="auto">
            <a:xfrm>
              <a:off x="4848" y="432"/>
              <a:ext cx="768" cy="336"/>
            </a:xfrm>
            <a:prstGeom prst="rect">
              <a:avLst/>
            </a:prstGeom>
            <a:solidFill>
              <a:schemeClr val="bg2">
                <a:lumMod val="90000"/>
              </a:schemeClr>
            </a:solidFill>
            <a:ln w="9525">
              <a:solidFill>
                <a:schemeClr val="tx1"/>
              </a:solidFill>
              <a:miter lim="800000"/>
            </a:ln>
          </p:spPr>
          <p:txBody>
            <a:bodyPr wrap="none" anchor="ctr"/>
            <a:lstStyle/>
            <a:p>
              <a:pPr algn="ctr">
                <a:defRPr/>
              </a:pPr>
              <a:r>
                <a:rPr lang="zh-CN" altLang="en-US" b="1" dirty="0">
                  <a:latin typeface="Tahoma" panose="020B0604030504040204" pitchFamily="34" charset="0"/>
                  <a:ea typeface="宋体" pitchFamily="2" charset="-122"/>
                </a:rPr>
                <a:t>子模式</a:t>
              </a:r>
              <a:r>
                <a:rPr lang="en-US" altLang="zh-CN" b="1" dirty="0">
                  <a:latin typeface="Tahoma" panose="020B0604030504040204" pitchFamily="34" charset="0"/>
                  <a:ea typeface="宋体" pitchFamily="2" charset="-122"/>
                </a:rPr>
                <a:t>X</a:t>
              </a:r>
              <a:endParaRPr lang="en-US" altLang="zh-CN" b="1" dirty="0">
                <a:latin typeface="Tahoma" panose="020B0604030504040204" pitchFamily="34" charset="0"/>
                <a:ea typeface="宋体" pitchFamily="2" charset="-122"/>
              </a:endParaRPr>
            </a:p>
          </p:txBody>
        </p:sp>
        <p:sp>
          <p:nvSpPr>
            <p:cNvPr id="108562" name="Text Box 1056"/>
            <p:cNvSpPr txBox="1">
              <a:spLocks noChangeArrowheads="1"/>
            </p:cNvSpPr>
            <p:nvPr/>
          </p:nvSpPr>
          <p:spPr bwMode="auto">
            <a:xfrm>
              <a:off x="4465" y="480"/>
              <a:ext cx="286" cy="346"/>
            </a:xfrm>
            <a:prstGeom prst="rect">
              <a:avLst/>
            </a:prstGeom>
            <a:noFill/>
            <a:ln w="9525">
              <a:noFill/>
              <a:miter lim="800000"/>
            </a:ln>
          </p:spPr>
          <p:txBody>
            <a:bodyPr>
              <a:spAutoFit/>
            </a:bodyPr>
            <a:lstStyle/>
            <a:p>
              <a:pPr>
                <a:spcBef>
                  <a:spcPct val="50000"/>
                </a:spcBef>
              </a:pPr>
              <a:r>
                <a:rPr lang="en-US" altLang="zh-CN" b="1">
                  <a:latin typeface="Times New Roman" panose="02020503050405090304" pitchFamily="18" charset="0"/>
                </a:rPr>
                <a:t>…</a:t>
              </a:r>
              <a:endParaRPr lang="en-US" altLang="zh-CN" b="1">
                <a:latin typeface="Tahoma" panose="020B0604030504040204" pitchFamily="34" charset="0"/>
              </a:endParaRPr>
            </a:p>
          </p:txBody>
        </p:sp>
        <p:sp>
          <p:nvSpPr>
            <p:cNvPr id="108563" name="Line 1057"/>
            <p:cNvSpPr>
              <a:spLocks noChangeShapeType="1"/>
            </p:cNvSpPr>
            <p:nvPr/>
          </p:nvSpPr>
          <p:spPr bwMode="auto">
            <a:xfrm>
              <a:off x="4128" y="2304"/>
              <a:ext cx="0" cy="1152"/>
            </a:xfrm>
            <a:prstGeom prst="line">
              <a:avLst/>
            </a:prstGeom>
            <a:noFill/>
            <a:ln w="28575">
              <a:solidFill>
                <a:schemeClr val="tx1"/>
              </a:solidFill>
              <a:prstDash val="dash"/>
              <a:miter lim="800000"/>
            </a:ln>
          </p:spPr>
          <p:txBody>
            <a:bodyPr wrap="none"/>
            <a:lstStyle/>
            <a:p>
              <a:endParaRPr lang="zh-CN" altLang="en-US"/>
            </a:p>
          </p:txBody>
        </p:sp>
        <p:sp>
          <p:nvSpPr>
            <p:cNvPr id="108564" name="Line 1058"/>
            <p:cNvSpPr>
              <a:spLocks noChangeShapeType="1"/>
            </p:cNvSpPr>
            <p:nvPr/>
          </p:nvSpPr>
          <p:spPr bwMode="auto">
            <a:xfrm flipH="1">
              <a:off x="4032" y="768"/>
              <a:ext cx="48" cy="1248"/>
            </a:xfrm>
            <a:prstGeom prst="line">
              <a:avLst/>
            </a:prstGeom>
            <a:noFill/>
            <a:ln w="28575">
              <a:solidFill>
                <a:schemeClr val="tx1"/>
              </a:solidFill>
              <a:prstDash val="dash"/>
              <a:miter lim="800000"/>
            </a:ln>
          </p:spPr>
          <p:txBody>
            <a:bodyPr wrap="none"/>
            <a:lstStyle/>
            <a:p>
              <a:endParaRPr lang="zh-CN" altLang="en-US"/>
            </a:p>
          </p:txBody>
        </p:sp>
        <p:sp>
          <p:nvSpPr>
            <p:cNvPr id="108565" name="Line 1059"/>
            <p:cNvSpPr>
              <a:spLocks noChangeShapeType="1"/>
            </p:cNvSpPr>
            <p:nvPr/>
          </p:nvSpPr>
          <p:spPr bwMode="auto">
            <a:xfrm flipH="1">
              <a:off x="4272" y="768"/>
              <a:ext cx="912" cy="1200"/>
            </a:xfrm>
            <a:prstGeom prst="line">
              <a:avLst/>
            </a:prstGeom>
            <a:noFill/>
            <a:ln w="28575">
              <a:solidFill>
                <a:schemeClr val="tx1"/>
              </a:solidFill>
              <a:prstDash val="dash"/>
              <a:miter lim="800000"/>
            </a:ln>
          </p:spPr>
          <p:txBody>
            <a:bodyPr wrap="none"/>
            <a:lstStyle/>
            <a:p>
              <a:endParaRPr lang="zh-CN" altLang="en-US"/>
            </a:p>
          </p:txBody>
        </p:sp>
        <p:sp>
          <p:nvSpPr>
            <p:cNvPr id="108566" name="Line 1060"/>
            <p:cNvSpPr>
              <a:spLocks noChangeShapeType="1"/>
            </p:cNvSpPr>
            <p:nvPr/>
          </p:nvSpPr>
          <p:spPr bwMode="auto">
            <a:xfrm>
              <a:off x="1104" y="528"/>
              <a:ext cx="768" cy="1344"/>
            </a:xfrm>
            <a:prstGeom prst="line">
              <a:avLst/>
            </a:prstGeom>
            <a:noFill/>
            <a:ln w="28575">
              <a:solidFill>
                <a:schemeClr val="tx1"/>
              </a:solidFill>
              <a:miter lim="800000"/>
              <a:tailEnd type="triangle" w="med" len="med"/>
            </a:ln>
          </p:spPr>
          <p:txBody>
            <a:bodyPr wrap="none"/>
            <a:lstStyle/>
            <a:p>
              <a:endParaRPr lang="zh-CN" altLang="en-US"/>
            </a:p>
          </p:txBody>
        </p:sp>
        <p:sp>
          <p:nvSpPr>
            <p:cNvPr id="108567" name="Line 1061"/>
            <p:cNvSpPr>
              <a:spLocks noChangeShapeType="1"/>
            </p:cNvSpPr>
            <p:nvPr/>
          </p:nvSpPr>
          <p:spPr bwMode="auto">
            <a:xfrm flipH="1" flipV="1">
              <a:off x="1104" y="720"/>
              <a:ext cx="672" cy="1200"/>
            </a:xfrm>
            <a:prstGeom prst="line">
              <a:avLst/>
            </a:prstGeom>
            <a:noFill/>
            <a:ln w="28575">
              <a:solidFill>
                <a:schemeClr val="tx1"/>
              </a:solidFill>
              <a:miter lim="800000"/>
              <a:tailEnd type="triangle" w="med" len="med"/>
            </a:ln>
          </p:spPr>
          <p:txBody>
            <a:bodyPr wrap="none"/>
            <a:lstStyle/>
            <a:p>
              <a:endParaRPr lang="zh-CN" altLang="en-US"/>
            </a:p>
          </p:txBody>
        </p:sp>
        <p:sp>
          <p:nvSpPr>
            <p:cNvPr id="108568" name="Line 1062"/>
            <p:cNvSpPr>
              <a:spLocks noChangeShapeType="1"/>
            </p:cNvSpPr>
            <p:nvPr/>
          </p:nvSpPr>
          <p:spPr bwMode="auto">
            <a:xfrm flipV="1">
              <a:off x="528" y="1104"/>
              <a:ext cx="0" cy="816"/>
            </a:xfrm>
            <a:prstGeom prst="line">
              <a:avLst/>
            </a:prstGeom>
            <a:noFill/>
            <a:ln w="28575">
              <a:solidFill>
                <a:schemeClr val="tx1"/>
              </a:solidFill>
              <a:miter lim="800000"/>
              <a:tailEnd type="triangle" w="med" len="med"/>
            </a:ln>
          </p:spPr>
          <p:txBody>
            <a:bodyPr wrap="none"/>
            <a:lstStyle/>
            <a:p>
              <a:endParaRPr lang="zh-CN" altLang="en-US"/>
            </a:p>
          </p:txBody>
        </p:sp>
        <p:sp>
          <p:nvSpPr>
            <p:cNvPr id="108569" name="Line 1063"/>
            <p:cNvSpPr>
              <a:spLocks noChangeShapeType="1"/>
            </p:cNvSpPr>
            <p:nvPr/>
          </p:nvSpPr>
          <p:spPr bwMode="auto">
            <a:xfrm flipH="1" flipV="1">
              <a:off x="528" y="1536"/>
              <a:ext cx="1152" cy="432"/>
            </a:xfrm>
            <a:prstGeom prst="line">
              <a:avLst/>
            </a:prstGeom>
            <a:noFill/>
            <a:ln w="28575">
              <a:solidFill>
                <a:schemeClr val="tx1"/>
              </a:solidFill>
              <a:miter lim="800000"/>
              <a:tailEnd type="triangle" w="med" len="med"/>
            </a:ln>
          </p:spPr>
          <p:txBody>
            <a:bodyPr wrap="none"/>
            <a:lstStyle/>
            <a:p>
              <a:endParaRPr lang="zh-CN" altLang="en-US"/>
            </a:p>
          </p:txBody>
        </p:sp>
        <p:sp>
          <p:nvSpPr>
            <p:cNvPr id="108570" name="Line 1064"/>
            <p:cNvSpPr>
              <a:spLocks noChangeShapeType="1"/>
            </p:cNvSpPr>
            <p:nvPr/>
          </p:nvSpPr>
          <p:spPr bwMode="auto">
            <a:xfrm>
              <a:off x="624" y="2208"/>
              <a:ext cx="0" cy="1200"/>
            </a:xfrm>
            <a:prstGeom prst="line">
              <a:avLst/>
            </a:prstGeom>
            <a:noFill/>
            <a:ln w="28575">
              <a:solidFill>
                <a:schemeClr val="tx1"/>
              </a:solidFill>
              <a:miter lim="800000"/>
              <a:headEnd type="triangle" w="med" len="med"/>
              <a:tailEnd type="triangle" w="med" len="med"/>
            </a:ln>
          </p:spPr>
          <p:txBody>
            <a:bodyPr wrap="none"/>
            <a:lstStyle/>
            <a:p>
              <a:endParaRPr lang="zh-CN" altLang="en-US"/>
            </a:p>
          </p:txBody>
        </p:sp>
        <p:sp>
          <p:nvSpPr>
            <p:cNvPr id="108571" name="Line 1065"/>
            <p:cNvSpPr>
              <a:spLocks noChangeShapeType="1"/>
            </p:cNvSpPr>
            <p:nvPr/>
          </p:nvSpPr>
          <p:spPr bwMode="auto">
            <a:xfrm flipV="1">
              <a:off x="2208" y="2208"/>
              <a:ext cx="0" cy="672"/>
            </a:xfrm>
            <a:prstGeom prst="line">
              <a:avLst/>
            </a:prstGeom>
            <a:noFill/>
            <a:ln w="28575">
              <a:solidFill>
                <a:schemeClr val="tx1"/>
              </a:solidFill>
              <a:miter lim="800000"/>
              <a:headEnd type="triangle" w="med" len="med"/>
              <a:tailEnd type="triangle" w="med" len="med"/>
            </a:ln>
          </p:spPr>
          <p:txBody>
            <a:bodyPr wrap="none"/>
            <a:lstStyle/>
            <a:p>
              <a:endParaRPr lang="zh-CN" altLang="en-US"/>
            </a:p>
          </p:txBody>
        </p:sp>
        <p:sp>
          <p:nvSpPr>
            <p:cNvPr id="108572" name="Line 1066"/>
            <p:cNvSpPr>
              <a:spLocks noChangeShapeType="1"/>
            </p:cNvSpPr>
            <p:nvPr/>
          </p:nvSpPr>
          <p:spPr bwMode="auto">
            <a:xfrm flipH="1" flipV="1">
              <a:off x="624" y="2784"/>
              <a:ext cx="1200" cy="384"/>
            </a:xfrm>
            <a:prstGeom prst="line">
              <a:avLst/>
            </a:prstGeom>
            <a:noFill/>
            <a:ln w="28575">
              <a:solidFill>
                <a:schemeClr val="tx1"/>
              </a:solidFill>
              <a:miter lim="800000"/>
              <a:tailEnd type="triangle" w="med" len="med"/>
            </a:ln>
          </p:spPr>
          <p:txBody>
            <a:bodyPr wrap="none"/>
            <a:lstStyle/>
            <a:p>
              <a:endParaRPr lang="zh-CN" altLang="en-US"/>
            </a:p>
          </p:txBody>
        </p:sp>
        <p:sp>
          <p:nvSpPr>
            <p:cNvPr id="108573" name="Line 1067"/>
            <p:cNvSpPr>
              <a:spLocks noChangeShapeType="1"/>
            </p:cNvSpPr>
            <p:nvPr/>
          </p:nvSpPr>
          <p:spPr bwMode="auto">
            <a:xfrm flipH="1">
              <a:off x="2496" y="768"/>
              <a:ext cx="1296" cy="1152"/>
            </a:xfrm>
            <a:prstGeom prst="line">
              <a:avLst/>
            </a:prstGeom>
            <a:noFill/>
            <a:ln w="28575">
              <a:solidFill>
                <a:schemeClr val="tx1"/>
              </a:solidFill>
              <a:miter lim="800000"/>
              <a:tailEnd type="triangle" w="med" len="med"/>
            </a:ln>
          </p:spPr>
          <p:txBody>
            <a:bodyPr wrap="none"/>
            <a:lstStyle/>
            <a:p>
              <a:endParaRPr lang="zh-CN" altLang="en-US"/>
            </a:p>
          </p:txBody>
        </p:sp>
        <p:sp>
          <p:nvSpPr>
            <p:cNvPr id="108574" name="Line 1068"/>
            <p:cNvSpPr>
              <a:spLocks noChangeShapeType="1"/>
            </p:cNvSpPr>
            <p:nvPr/>
          </p:nvSpPr>
          <p:spPr bwMode="auto">
            <a:xfrm flipH="1">
              <a:off x="2736" y="2064"/>
              <a:ext cx="1008" cy="0"/>
            </a:xfrm>
            <a:prstGeom prst="line">
              <a:avLst/>
            </a:prstGeom>
            <a:noFill/>
            <a:ln w="28575">
              <a:solidFill>
                <a:schemeClr val="tx1"/>
              </a:solidFill>
              <a:miter lim="800000"/>
              <a:tailEnd type="triangle" w="med" len="med"/>
            </a:ln>
          </p:spPr>
          <p:txBody>
            <a:bodyPr wrap="none"/>
            <a:lstStyle/>
            <a:p>
              <a:endParaRPr lang="zh-CN" altLang="en-US"/>
            </a:p>
          </p:txBody>
        </p:sp>
        <p:sp>
          <p:nvSpPr>
            <p:cNvPr id="108575" name="Line 1069"/>
            <p:cNvSpPr>
              <a:spLocks noChangeShapeType="1"/>
            </p:cNvSpPr>
            <p:nvPr/>
          </p:nvSpPr>
          <p:spPr bwMode="auto">
            <a:xfrm flipH="1" flipV="1">
              <a:off x="2544" y="2160"/>
              <a:ext cx="1248" cy="1440"/>
            </a:xfrm>
            <a:prstGeom prst="line">
              <a:avLst/>
            </a:prstGeom>
            <a:noFill/>
            <a:ln w="28575">
              <a:solidFill>
                <a:schemeClr val="tx1"/>
              </a:solidFill>
              <a:miter lim="800000"/>
              <a:tailEnd type="triangle" w="med" len="med"/>
            </a:ln>
          </p:spPr>
          <p:txBody>
            <a:bodyPr wrap="none"/>
            <a:lstStyle/>
            <a:p>
              <a:endParaRPr lang="zh-CN" altLang="en-US"/>
            </a:p>
          </p:txBody>
        </p:sp>
        <p:sp>
          <p:nvSpPr>
            <p:cNvPr id="108576" name="Oval 1070"/>
            <p:cNvSpPr>
              <a:spLocks noChangeArrowheads="1"/>
            </p:cNvSpPr>
            <p:nvPr/>
          </p:nvSpPr>
          <p:spPr bwMode="auto">
            <a:xfrm>
              <a:off x="1392" y="816"/>
              <a:ext cx="240" cy="240"/>
            </a:xfrm>
            <a:prstGeom prst="ellipse">
              <a:avLst/>
            </a:prstGeom>
            <a:solidFill>
              <a:srgbClr val="DB8BE1"/>
            </a:solidFill>
            <a:ln w="9525">
              <a:solidFill>
                <a:schemeClr val="tx1"/>
              </a:solidFill>
              <a:miter lim="800000"/>
            </a:ln>
          </p:spPr>
          <p:txBody>
            <a:bodyPr wrap="none" anchor="ctr"/>
            <a:lstStyle/>
            <a:p>
              <a:pPr algn="ctr"/>
              <a:r>
                <a:rPr lang="en-US" altLang="zh-CN" b="1">
                  <a:latin typeface="Tahoma" panose="020B0604030504040204" pitchFamily="34" charset="0"/>
                </a:rPr>
                <a:t>1</a:t>
              </a:r>
              <a:endParaRPr lang="en-US" altLang="zh-CN" b="1">
                <a:latin typeface="Tahoma" panose="020B0604030504040204" pitchFamily="34" charset="0"/>
              </a:endParaRPr>
            </a:p>
          </p:txBody>
        </p:sp>
        <p:sp>
          <p:nvSpPr>
            <p:cNvPr id="108577" name="Oval 1071"/>
            <p:cNvSpPr>
              <a:spLocks noChangeArrowheads="1"/>
            </p:cNvSpPr>
            <p:nvPr/>
          </p:nvSpPr>
          <p:spPr bwMode="auto">
            <a:xfrm>
              <a:off x="2784" y="1200"/>
              <a:ext cx="240" cy="240"/>
            </a:xfrm>
            <a:prstGeom prst="ellipse">
              <a:avLst/>
            </a:prstGeom>
            <a:solidFill>
              <a:srgbClr val="DB8BE1"/>
            </a:solidFill>
            <a:ln w="9525">
              <a:solidFill>
                <a:schemeClr val="tx1"/>
              </a:solidFill>
              <a:miter lim="800000"/>
            </a:ln>
          </p:spPr>
          <p:txBody>
            <a:bodyPr wrap="none" anchor="ctr"/>
            <a:lstStyle/>
            <a:p>
              <a:pPr algn="ctr"/>
              <a:r>
                <a:rPr lang="en-US" altLang="zh-CN" b="1">
                  <a:latin typeface="Tahoma" panose="020B0604030504040204" pitchFamily="34" charset="0"/>
                </a:rPr>
                <a:t>2</a:t>
              </a:r>
              <a:endParaRPr lang="en-US" altLang="zh-CN" b="1">
                <a:latin typeface="Tahoma" panose="020B0604030504040204" pitchFamily="34" charset="0"/>
              </a:endParaRPr>
            </a:p>
          </p:txBody>
        </p:sp>
        <p:sp>
          <p:nvSpPr>
            <p:cNvPr id="108578" name="Oval 1072"/>
            <p:cNvSpPr>
              <a:spLocks noChangeArrowheads="1"/>
            </p:cNvSpPr>
            <p:nvPr/>
          </p:nvSpPr>
          <p:spPr bwMode="auto">
            <a:xfrm>
              <a:off x="3168" y="1776"/>
              <a:ext cx="240" cy="240"/>
            </a:xfrm>
            <a:prstGeom prst="ellipse">
              <a:avLst/>
            </a:prstGeom>
            <a:solidFill>
              <a:srgbClr val="DB8BE1"/>
            </a:solidFill>
            <a:ln w="9525">
              <a:solidFill>
                <a:schemeClr val="tx1"/>
              </a:solidFill>
              <a:miter lim="800000"/>
            </a:ln>
          </p:spPr>
          <p:txBody>
            <a:bodyPr wrap="none" anchor="ctr"/>
            <a:lstStyle/>
            <a:p>
              <a:pPr algn="ctr"/>
              <a:r>
                <a:rPr lang="en-US" altLang="zh-CN" b="1">
                  <a:latin typeface="Tahoma" panose="020B0604030504040204" pitchFamily="34" charset="0"/>
                </a:rPr>
                <a:t>3</a:t>
              </a:r>
              <a:endParaRPr lang="en-US" altLang="zh-CN" b="1">
                <a:latin typeface="Tahoma" panose="020B0604030504040204" pitchFamily="34" charset="0"/>
              </a:endParaRPr>
            </a:p>
          </p:txBody>
        </p:sp>
        <p:sp>
          <p:nvSpPr>
            <p:cNvPr id="108579" name="Oval 1073"/>
            <p:cNvSpPr>
              <a:spLocks noChangeArrowheads="1"/>
            </p:cNvSpPr>
            <p:nvPr/>
          </p:nvSpPr>
          <p:spPr bwMode="auto">
            <a:xfrm>
              <a:off x="3264" y="2688"/>
              <a:ext cx="240" cy="240"/>
            </a:xfrm>
            <a:prstGeom prst="ellipse">
              <a:avLst/>
            </a:prstGeom>
            <a:solidFill>
              <a:srgbClr val="DB8BE1"/>
            </a:solidFill>
            <a:ln w="9525">
              <a:solidFill>
                <a:schemeClr val="tx1"/>
              </a:solidFill>
              <a:miter lim="800000"/>
            </a:ln>
          </p:spPr>
          <p:txBody>
            <a:bodyPr wrap="none" anchor="ctr"/>
            <a:lstStyle/>
            <a:p>
              <a:pPr algn="ctr"/>
              <a:r>
                <a:rPr lang="en-US" altLang="zh-CN" b="1">
                  <a:latin typeface="Tahoma" panose="020B0604030504040204" pitchFamily="34" charset="0"/>
                </a:rPr>
                <a:t>4</a:t>
              </a:r>
              <a:endParaRPr lang="en-US" altLang="zh-CN" b="1">
                <a:latin typeface="Tahoma" panose="020B0604030504040204" pitchFamily="34" charset="0"/>
              </a:endParaRPr>
            </a:p>
          </p:txBody>
        </p:sp>
        <p:sp>
          <p:nvSpPr>
            <p:cNvPr id="108580" name="Oval 1074"/>
            <p:cNvSpPr>
              <a:spLocks noChangeArrowheads="1"/>
            </p:cNvSpPr>
            <p:nvPr/>
          </p:nvSpPr>
          <p:spPr bwMode="auto">
            <a:xfrm>
              <a:off x="2256" y="2448"/>
              <a:ext cx="240" cy="240"/>
            </a:xfrm>
            <a:prstGeom prst="ellipse">
              <a:avLst/>
            </a:prstGeom>
            <a:solidFill>
              <a:srgbClr val="DB8BE1"/>
            </a:solidFill>
            <a:ln w="9525">
              <a:solidFill>
                <a:schemeClr val="tx1"/>
              </a:solidFill>
              <a:miter lim="800000"/>
            </a:ln>
          </p:spPr>
          <p:txBody>
            <a:bodyPr wrap="none" anchor="ctr"/>
            <a:lstStyle/>
            <a:p>
              <a:pPr algn="ctr"/>
              <a:r>
                <a:rPr lang="en-US" altLang="zh-CN" b="1">
                  <a:latin typeface="Tahoma" panose="020B0604030504040204" pitchFamily="34" charset="0"/>
                </a:rPr>
                <a:t>5</a:t>
              </a:r>
              <a:endParaRPr lang="en-US" altLang="zh-CN" b="1">
                <a:latin typeface="Tahoma" panose="020B0604030504040204" pitchFamily="34" charset="0"/>
              </a:endParaRPr>
            </a:p>
          </p:txBody>
        </p:sp>
        <p:sp>
          <p:nvSpPr>
            <p:cNvPr id="108581" name="Oval 1075"/>
            <p:cNvSpPr>
              <a:spLocks noChangeArrowheads="1"/>
            </p:cNvSpPr>
            <p:nvPr/>
          </p:nvSpPr>
          <p:spPr bwMode="auto">
            <a:xfrm>
              <a:off x="1200" y="2688"/>
              <a:ext cx="240" cy="240"/>
            </a:xfrm>
            <a:prstGeom prst="ellipse">
              <a:avLst/>
            </a:prstGeom>
            <a:solidFill>
              <a:srgbClr val="DB8BE1"/>
            </a:solidFill>
            <a:ln w="9525">
              <a:solidFill>
                <a:schemeClr val="tx1"/>
              </a:solidFill>
              <a:miter lim="800000"/>
            </a:ln>
          </p:spPr>
          <p:txBody>
            <a:bodyPr wrap="none" anchor="ctr"/>
            <a:lstStyle/>
            <a:p>
              <a:pPr algn="ctr"/>
              <a:r>
                <a:rPr lang="en-US" altLang="zh-CN" b="1">
                  <a:latin typeface="Tahoma" panose="020B0604030504040204" pitchFamily="34" charset="0"/>
                </a:rPr>
                <a:t>6</a:t>
              </a:r>
              <a:endParaRPr lang="en-US" altLang="zh-CN" b="1">
                <a:latin typeface="Tahoma" panose="020B0604030504040204" pitchFamily="34" charset="0"/>
              </a:endParaRPr>
            </a:p>
          </p:txBody>
        </p:sp>
        <p:sp>
          <p:nvSpPr>
            <p:cNvPr id="108582" name="Oval 1076"/>
            <p:cNvSpPr>
              <a:spLocks noChangeArrowheads="1"/>
            </p:cNvSpPr>
            <p:nvPr/>
          </p:nvSpPr>
          <p:spPr bwMode="auto">
            <a:xfrm>
              <a:off x="672" y="2400"/>
              <a:ext cx="240" cy="240"/>
            </a:xfrm>
            <a:prstGeom prst="ellipse">
              <a:avLst/>
            </a:prstGeom>
            <a:solidFill>
              <a:srgbClr val="DB8BE1"/>
            </a:solidFill>
            <a:ln w="9525">
              <a:solidFill>
                <a:schemeClr val="tx1"/>
              </a:solidFill>
              <a:miter lim="800000"/>
            </a:ln>
          </p:spPr>
          <p:txBody>
            <a:bodyPr wrap="none" anchor="ctr"/>
            <a:lstStyle/>
            <a:p>
              <a:pPr algn="ctr"/>
              <a:r>
                <a:rPr lang="en-US" altLang="zh-CN" b="1">
                  <a:latin typeface="Tahoma" panose="020B0604030504040204" pitchFamily="34" charset="0"/>
                </a:rPr>
                <a:t>7</a:t>
              </a:r>
              <a:endParaRPr lang="en-US" altLang="zh-CN" b="1">
                <a:latin typeface="Tahoma" panose="020B0604030504040204" pitchFamily="34" charset="0"/>
              </a:endParaRPr>
            </a:p>
          </p:txBody>
        </p:sp>
        <p:sp>
          <p:nvSpPr>
            <p:cNvPr id="108583" name="Oval 1077"/>
            <p:cNvSpPr>
              <a:spLocks noChangeArrowheads="1"/>
            </p:cNvSpPr>
            <p:nvPr/>
          </p:nvSpPr>
          <p:spPr bwMode="auto">
            <a:xfrm>
              <a:off x="1056" y="1488"/>
              <a:ext cx="240" cy="240"/>
            </a:xfrm>
            <a:prstGeom prst="ellipse">
              <a:avLst/>
            </a:prstGeom>
            <a:solidFill>
              <a:srgbClr val="DB8BE1"/>
            </a:solidFill>
            <a:ln w="9525">
              <a:solidFill>
                <a:schemeClr val="tx1"/>
              </a:solidFill>
              <a:miter lim="800000"/>
            </a:ln>
          </p:spPr>
          <p:txBody>
            <a:bodyPr wrap="none" anchor="ctr"/>
            <a:lstStyle/>
            <a:p>
              <a:pPr algn="ctr"/>
              <a:r>
                <a:rPr lang="en-US" altLang="zh-CN" b="1">
                  <a:latin typeface="Tahoma" panose="020B0604030504040204" pitchFamily="34" charset="0"/>
                </a:rPr>
                <a:t>8</a:t>
              </a:r>
              <a:endParaRPr lang="en-US" altLang="zh-CN" b="1">
                <a:latin typeface="Tahoma" panose="020B0604030504040204" pitchFamily="34" charset="0"/>
              </a:endParaRPr>
            </a:p>
          </p:txBody>
        </p:sp>
        <p:sp>
          <p:nvSpPr>
            <p:cNvPr id="108584" name="Oval 1078"/>
            <p:cNvSpPr>
              <a:spLocks noChangeArrowheads="1"/>
            </p:cNvSpPr>
            <p:nvPr/>
          </p:nvSpPr>
          <p:spPr bwMode="auto">
            <a:xfrm>
              <a:off x="240" y="1344"/>
              <a:ext cx="240" cy="240"/>
            </a:xfrm>
            <a:prstGeom prst="ellipse">
              <a:avLst/>
            </a:prstGeom>
            <a:solidFill>
              <a:srgbClr val="DB8BE1"/>
            </a:solidFill>
            <a:ln w="9525">
              <a:solidFill>
                <a:schemeClr val="tx1"/>
              </a:solidFill>
              <a:miter lim="800000"/>
            </a:ln>
          </p:spPr>
          <p:txBody>
            <a:bodyPr wrap="none" anchor="ctr"/>
            <a:lstStyle/>
            <a:p>
              <a:pPr algn="ctr"/>
              <a:r>
                <a:rPr lang="en-US" altLang="zh-CN" b="1">
                  <a:latin typeface="Tahoma" panose="020B0604030504040204" pitchFamily="34" charset="0"/>
                </a:rPr>
                <a:t>9</a:t>
              </a:r>
              <a:endParaRPr lang="en-US" altLang="zh-CN" b="1">
                <a:latin typeface="Tahoma" panose="020B0604030504040204" pitchFamily="34" charset="0"/>
              </a:endParaRPr>
            </a:p>
          </p:txBody>
        </p:sp>
        <p:sp>
          <p:nvSpPr>
            <p:cNvPr id="108585" name="Oval 1079"/>
            <p:cNvSpPr>
              <a:spLocks noChangeArrowheads="1"/>
            </p:cNvSpPr>
            <p:nvPr/>
          </p:nvSpPr>
          <p:spPr bwMode="auto">
            <a:xfrm>
              <a:off x="1104" y="1104"/>
              <a:ext cx="240" cy="240"/>
            </a:xfrm>
            <a:prstGeom prst="ellipse">
              <a:avLst/>
            </a:prstGeom>
            <a:solidFill>
              <a:srgbClr val="DB8BE1"/>
            </a:solidFill>
            <a:ln w="9525">
              <a:solidFill>
                <a:schemeClr val="tx1"/>
              </a:solidFill>
              <a:miter lim="800000"/>
            </a:ln>
          </p:spPr>
          <p:txBody>
            <a:bodyPr wrap="none" anchor="ctr"/>
            <a:lstStyle/>
            <a:p>
              <a:pPr algn="ctr"/>
              <a:r>
                <a:rPr lang="en-US" altLang="zh-CN" b="1">
                  <a:latin typeface="Tahoma" panose="020B0604030504040204" pitchFamily="34" charset="0"/>
                </a:rPr>
                <a:t>10</a:t>
              </a:r>
              <a:endParaRPr lang="en-US" altLang="zh-CN" b="1">
                <a:latin typeface="Tahoma" panose="020B0604030504040204" pitchFamily="34" charset="0"/>
              </a:endParaRPr>
            </a:p>
          </p:txBody>
        </p:sp>
      </p:grpSp>
      <p:sp>
        <p:nvSpPr>
          <p:cNvPr id="108549" name="AutoShape 4"/>
          <p:cNvSpPr>
            <a:spLocks noChangeArrowheads="1"/>
          </p:cNvSpPr>
          <p:nvPr/>
        </p:nvSpPr>
        <p:spPr bwMode="auto">
          <a:xfrm>
            <a:off x="8243888" y="1052513"/>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spTree>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E5839069-04D5-43AC-AFAD-5FCAB29283D0}" type="slidenum">
              <a:rPr lang="en-US" altLang="zh-CN"/>
            </a:fld>
            <a:endParaRPr lang="en-US" altLang="zh-CN"/>
          </a:p>
        </p:txBody>
      </p:sp>
      <p:sp>
        <p:nvSpPr>
          <p:cNvPr id="109571" name="Rectangle 55"/>
          <p:cNvSpPr>
            <a:spLocks noChangeArrowheads="1"/>
          </p:cNvSpPr>
          <p:nvPr/>
        </p:nvSpPr>
        <p:spPr bwMode="auto">
          <a:xfrm>
            <a:off x="304800" y="781050"/>
            <a:ext cx="8610600" cy="6001643"/>
          </a:xfrm>
          <a:prstGeom prst="rect">
            <a:avLst/>
          </a:prstGeom>
          <a:noFill/>
          <a:ln w="9525">
            <a:noFill/>
            <a:miter lim="800000"/>
          </a:ln>
        </p:spPr>
        <p:txBody>
          <a:bodyPr>
            <a:spAutoFit/>
          </a:bodyPr>
          <a:lstStyle/>
          <a:p>
            <a:pPr algn="just"/>
            <a:r>
              <a:rPr lang="zh-CN" altLang="en-US" dirty="0">
                <a:latin typeface="Times New Roman" panose="02020503050405090304" pitchFamily="18" charset="0"/>
              </a:rPr>
              <a:t>        在数据库系统中，当一个应用程序或用户需要存取数据库中的数据时，应用程序、</a:t>
            </a:r>
            <a:r>
              <a:rPr lang="en-US" altLang="zh-CN" dirty="0"/>
              <a:t>DBMS</a:t>
            </a:r>
            <a:r>
              <a:rPr lang="zh-CN" altLang="en-US" dirty="0">
                <a:latin typeface="Times New Roman" panose="02020503050405090304" pitchFamily="18" charset="0"/>
              </a:rPr>
              <a:t>、操作系统、硬件等几个方</a:t>
            </a:r>
            <a:endParaRPr lang="zh-CN" altLang="en-US" dirty="0">
              <a:latin typeface="Times New Roman" panose="02020503050405090304" pitchFamily="18" charset="0"/>
            </a:endParaRPr>
          </a:p>
          <a:p>
            <a:pPr algn="just"/>
            <a:r>
              <a:rPr lang="zh-CN" altLang="en-US" dirty="0">
                <a:latin typeface="Times New Roman" panose="02020503050405090304" pitchFamily="18" charset="0"/>
              </a:rPr>
              <a:t>面必须协同工作，共同完成用户的请求。这是一个较为复杂的</a:t>
            </a:r>
            <a:endParaRPr lang="zh-CN" altLang="en-US" dirty="0">
              <a:latin typeface="Times New Roman" panose="02020503050405090304" pitchFamily="18" charset="0"/>
            </a:endParaRPr>
          </a:p>
          <a:p>
            <a:pPr algn="just"/>
            <a:r>
              <a:rPr lang="zh-CN" altLang="en-US" dirty="0">
                <a:latin typeface="Times New Roman" panose="02020503050405090304" pitchFamily="18" charset="0"/>
              </a:rPr>
              <a:t>过程，其中</a:t>
            </a:r>
            <a:r>
              <a:rPr lang="en-US" altLang="zh-CN" dirty="0"/>
              <a:t>DBMS</a:t>
            </a:r>
            <a:r>
              <a:rPr lang="zh-CN" altLang="en-US" dirty="0">
                <a:latin typeface="Times New Roman" panose="02020503050405090304" pitchFamily="18" charset="0"/>
              </a:rPr>
              <a:t>起着关键的中介作用。</a:t>
            </a:r>
            <a:endParaRPr lang="zh-CN" altLang="en-US" dirty="0"/>
          </a:p>
          <a:p>
            <a:pPr algn="just" eaLnBrk="0" hangingPunct="0"/>
            <a:r>
              <a:rPr lang="zh-CN" altLang="en-US" dirty="0">
                <a:latin typeface="Times New Roman" panose="02020503050405090304" pitchFamily="18" charset="0"/>
              </a:rPr>
              <a:t>        应用程序（或用户）从数据库读取一个数据通常需要以下步骤：</a:t>
            </a:r>
            <a:endParaRPr lang="zh-CN" altLang="en-US" dirty="0"/>
          </a:p>
          <a:p>
            <a:pPr algn="just" eaLnBrk="0" hangingPunct="0"/>
            <a:r>
              <a:rPr lang="en-US" altLang="zh-CN" dirty="0">
                <a:latin typeface="Times New Roman" panose="02020503050405090304" pitchFamily="18" charset="0"/>
              </a:rPr>
              <a:t>1. </a:t>
            </a:r>
            <a:r>
              <a:rPr lang="zh-CN" altLang="en-US" dirty="0">
                <a:latin typeface="Times New Roman" panose="02020503050405090304" pitchFamily="18" charset="0"/>
              </a:rPr>
              <a:t>应用程序（或用户）</a:t>
            </a:r>
            <a:r>
              <a:rPr lang="en-US" altLang="zh-CN" dirty="0"/>
              <a:t>A</a:t>
            </a:r>
            <a:r>
              <a:rPr lang="zh-CN" altLang="en-US" dirty="0">
                <a:latin typeface="Times New Roman" panose="02020503050405090304" pitchFamily="18" charset="0"/>
              </a:rPr>
              <a:t>向</a:t>
            </a:r>
            <a:r>
              <a:rPr lang="en-US" altLang="zh-CN" dirty="0"/>
              <a:t>DBMS</a:t>
            </a:r>
            <a:r>
              <a:rPr lang="zh-CN" altLang="en-US" dirty="0">
                <a:latin typeface="Times New Roman" panose="02020503050405090304" pitchFamily="18" charset="0"/>
              </a:rPr>
              <a:t>发出从数据库中读数据记录</a:t>
            </a:r>
            <a:endParaRPr lang="zh-CN" altLang="en-US" dirty="0">
              <a:latin typeface="Times New Roman" panose="02020503050405090304" pitchFamily="18" charset="0"/>
            </a:endParaRPr>
          </a:p>
          <a:p>
            <a:pPr algn="just" eaLnBrk="0" hangingPunct="0"/>
            <a:r>
              <a:rPr lang="zh-CN" altLang="en-US" dirty="0">
                <a:latin typeface="Times New Roman" panose="02020503050405090304" pitchFamily="18" charset="0"/>
              </a:rPr>
              <a:t>的命令；</a:t>
            </a:r>
            <a:endParaRPr lang="zh-CN" altLang="en-US" dirty="0">
              <a:latin typeface="Times New Roman" panose="02020503050405090304" pitchFamily="18" charset="0"/>
            </a:endParaRPr>
          </a:p>
          <a:p>
            <a:pPr algn="just" eaLnBrk="0" hangingPunct="0"/>
            <a:endParaRPr lang="zh-CN" altLang="en-US" dirty="0"/>
          </a:p>
          <a:p>
            <a:pPr algn="just" eaLnBrk="0" hangingPunct="0"/>
            <a:r>
              <a:rPr lang="en-US" altLang="zh-CN" dirty="0">
                <a:latin typeface="Times New Roman" panose="02020503050405090304" pitchFamily="18" charset="0"/>
              </a:rPr>
              <a:t>2. DBMS</a:t>
            </a:r>
            <a:r>
              <a:rPr lang="zh-CN" altLang="en-US" dirty="0">
                <a:latin typeface="Times New Roman" panose="02020503050405090304" pitchFamily="18" charset="0"/>
              </a:rPr>
              <a:t>对该命令进行</a:t>
            </a:r>
            <a:r>
              <a:rPr lang="zh-CN" altLang="en-US" b="1" dirty="0">
                <a:solidFill>
                  <a:srgbClr val="0000FF"/>
                </a:solidFill>
                <a:latin typeface="Times New Roman" panose="02020503050405090304" pitchFamily="18" charset="0"/>
              </a:rPr>
              <a:t>语法</a:t>
            </a:r>
            <a:r>
              <a:rPr lang="zh-CN" altLang="en-US" dirty="0">
                <a:latin typeface="Times New Roman" panose="02020503050405090304" pitchFamily="18" charset="0"/>
              </a:rPr>
              <a:t>检查、</a:t>
            </a:r>
            <a:r>
              <a:rPr lang="zh-CN" altLang="en-US" b="1" dirty="0">
                <a:solidFill>
                  <a:srgbClr val="0000FF"/>
                </a:solidFill>
                <a:latin typeface="Times New Roman" panose="02020503050405090304" pitchFamily="18" charset="0"/>
              </a:rPr>
              <a:t>语义</a:t>
            </a:r>
            <a:r>
              <a:rPr lang="zh-CN" altLang="en-US" dirty="0">
                <a:latin typeface="Times New Roman" panose="02020503050405090304" pitchFamily="18" charset="0"/>
              </a:rPr>
              <a:t>检查，并调用应用程</a:t>
            </a:r>
            <a:endParaRPr lang="zh-CN" altLang="en-US" dirty="0">
              <a:latin typeface="Times New Roman" panose="02020503050405090304" pitchFamily="18" charset="0"/>
            </a:endParaRPr>
          </a:p>
          <a:p>
            <a:pPr algn="just" eaLnBrk="0" hangingPunct="0"/>
            <a:r>
              <a:rPr lang="zh-CN" altLang="en-US" dirty="0">
                <a:latin typeface="Times New Roman" panose="02020503050405090304" pitchFamily="18" charset="0"/>
              </a:rPr>
              <a:t>序</a:t>
            </a:r>
            <a:r>
              <a:rPr lang="en-US" altLang="zh-CN" dirty="0"/>
              <a:t>A</a:t>
            </a:r>
            <a:r>
              <a:rPr lang="zh-CN" altLang="en-US" dirty="0">
                <a:latin typeface="Times New Roman" panose="02020503050405090304" pitchFamily="18" charset="0"/>
              </a:rPr>
              <a:t>对应的</a:t>
            </a:r>
            <a:r>
              <a:rPr lang="zh-CN" altLang="en-US" b="1" dirty="0">
                <a:solidFill>
                  <a:srgbClr val="0000FF"/>
                </a:solidFill>
                <a:latin typeface="Times New Roman" panose="02020503050405090304" pitchFamily="18" charset="0"/>
              </a:rPr>
              <a:t>子模式</a:t>
            </a:r>
            <a:r>
              <a:rPr lang="zh-CN" altLang="en-US" dirty="0">
                <a:latin typeface="Times New Roman" panose="02020503050405090304" pitchFamily="18" charset="0"/>
              </a:rPr>
              <a:t>，检查</a:t>
            </a:r>
            <a:r>
              <a:rPr lang="en-US" altLang="zh-CN" dirty="0"/>
              <a:t>A</a:t>
            </a:r>
            <a:r>
              <a:rPr lang="zh-CN" altLang="en-US" dirty="0">
                <a:latin typeface="Times New Roman" panose="02020503050405090304" pitchFamily="18" charset="0"/>
              </a:rPr>
              <a:t>的</a:t>
            </a:r>
            <a:r>
              <a:rPr lang="zh-CN" altLang="en-US" b="1" dirty="0">
                <a:solidFill>
                  <a:srgbClr val="0000FF"/>
                </a:solidFill>
                <a:latin typeface="Times New Roman" panose="02020503050405090304" pitchFamily="18" charset="0"/>
              </a:rPr>
              <a:t>存取权限</a:t>
            </a:r>
            <a:r>
              <a:rPr lang="zh-CN" altLang="en-US" dirty="0">
                <a:latin typeface="Times New Roman" panose="02020503050405090304" pitchFamily="18" charset="0"/>
              </a:rPr>
              <a:t>，决定是否执行命令，</a:t>
            </a:r>
            <a:endParaRPr lang="zh-CN" altLang="en-US" dirty="0">
              <a:latin typeface="Times New Roman" panose="02020503050405090304" pitchFamily="18" charset="0"/>
            </a:endParaRPr>
          </a:p>
          <a:p>
            <a:pPr algn="just" eaLnBrk="0" hangingPunct="0"/>
            <a:r>
              <a:rPr lang="zh-CN" altLang="en-US" dirty="0">
                <a:latin typeface="Times New Roman" panose="02020503050405090304" pitchFamily="18" charset="0"/>
              </a:rPr>
              <a:t>如果拒绝执行，则向用户返回错误信息；</a:t>
            </a:r>
            <a:endParaRPr lang="zh-CN" altLang="en-US" dirty="0">
              <a:latin typeface="Times New Roman" panose="02020503050405090304" pitchFamily="18" charset="0"/>
            </a:endParaRPr>
          </a:p>
          <a:p>
            <a:pPr algn="just" eaLnBrk="0" hangingPunct="0"/>
            <a:endParaRPr lang="zh-CN" altLang="en-US" dirty="0"/>
          </a:p>
          <a:p>
            <a:pPr algn="just" eaLnBrk="0" hangingPunct="0"/>
            <a:r>
              <a:rPr lang="en-US" altLang="zh-CN" dirty="0">
                <a:latin typeface="Times New Roman" panose="02020503050405090304" pitchFamily="18" charset="0"/>
              </a:rPr>
              <a:t>3. </a:t>
            </a:r>
            <a:r>
              <a:rPr lang="zh-CN" altLang="en-US" dirty="0">
                <a:latin typeface="Times New Roman" panose="02020503050405090304" pitchFamily="18" charset="0"/>
              </a:rPr>
              <a:t>在决定执行该命令后，</a:t>
            </a:r>
            <a:r>
              <a:rPr lang="en-US" altLang="zh-CN" dirty="0"/>
              <a:t>DBMS</a:t>
            </a:r>
            <a:r>
              <a:rPr lang="zh-CN" altLang="en-US" dirty="0">
                <a:latin typeface="Times New Roman" panose="02020503050405090304" pitchFamily="18" charset="0"/>
              </a:rPr>
              <a:t>调用</a:t>
            </a:r>
            <a:r>
              <a:rPr lang="zh-CN" altLang="en-US" b="1" dirty="0">
                <a:solidFill>
                  <a:srgbClr val="0000FF"/>
                </a:solidFill>
                <a:latin typeface="Times New Roman" panose="02020503050405090304" pitchFamily="18" charset="0"/>
              </a:rPr>
              <a:t>模式</a:t>
            </a:r>
            <a:r>
              <a:rPr lang="zh-CN" altLang="en-US" dirty="0">
                <a:latin typeface="Times New Roman" panose="02020503050405090304" pitchFamily="18" charset="0"/>
              </a:rPr>
              <a:t>，依据子模式</a:t>
            </a:r>
            <a:r>
              <a:rPr lang="en-US" altLang="zh-CN" dirty="0"/>
              <a:t>/</a:t>
            </a:r>
            <a:r>
              <a:rPr lang="zh-CN" altLang="en-US" dirty="0">
                <a:latin typeface="Times New Roman" panose="02020503050405090304" pitchFamily="18" charset="0"/>
              </a:rPr>
              <a:t>模</a:t>
            </a:r>
            <a:endParaRPr lang="zh-CN" altLang="en-US" dirty="0">
              <a:latin typeface="Times New Roman" panose="02020503050405090304" pitchFamily="18" charset="0"/>
            </a:endParaRPr>
          </a:p>
          <a:p>
            <a:pPr algn="just" eaLnBrk="0" hangingPunct="0"/>
            <a:r>
              <a:rPr lang="zh-CN" altLang="en-US" dirty="0">
                <a:latin typeface="Times New Roman" panose="02020503050405090304" pitchFamily="18" charset="0"/>
              </a:rPr>
              <a:t>式映象的定义，确定应读入</a:t>
            </a:r>
            <a:r>
              <a:rPr lang="zh-CN" altLang="en-US" b="1" dirty="0">
                <a:solidFill>
                  <a:srgbClr val="0000FF"/>
                </a:solidFill>
                <a:latin typeface="Times New Roman" panose="02020503050405090304" pitchFamily="18" charset="0"/>
              </a:rPr>
              <a:t>模式中的哪些记录</a:t>
            </a:r>
            <a:r>
              <a:rPr lang="zh-CN" altLang="en-US" dirty="0">
                <a:latin typeface="Times New Roman" panose="02020503050405090304" pitchFamily="18" charset="0"/>
              </a:rPr>
              <a:t>；</a:t>
            </a:r>
            <a:endParaRPr lang="zh-CN" altLang="en-US" dirty="0">
              <a:latin typeface="Times New Roman" panose="02020503050405090304" pitchFamily="18" charset="0"/>
            </a:endParaRPr>
          </a:p>
          <a:p>
            <a:pPr algn="just" eaLnBrk="0" hangingPunct="0"/>
            <a:endParaRPr lang="en-US" altLang="zh-CN" dirty="0"/>
          </a:p>
        </p:txBody>
      </p:sp>
    </p:spTree>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F0722DC6-69A5-475F-94C7-747D5FC4B383}" type="slidenum">
              <a:rPr lang="en-US" altLang="zh-CN"/>
            </a:fld>
            <a:endParaRPr lang="en-US" altLang="zh-CN"/>
          </a:p>
        </p:txBody>
      </p:sp>
      <p:sp>
        <p:nvSpPr>
          <p:cNvPr id="110595" name="Rectangle 2"/>
          <p:cNvSpPr>
            <a:spLocks noChangeArrowheads="1"/>
          </p:cNvSpPr>
          <p:nvPr/>
        </p:nvSpPr>
        <p:spPr bwMode="auto">
          <a:xfrm>
            <a:off x="457200" y="537269"/>
            <a:ext cx="8305800" cy="6001643"/>
          </a:xfrm>
          <a:prstGeom prst="rect">
            <a:avLst/>
          </a:prstGeom>
          <a:noFill/>
          <a:ln w="9525">
            <a:noFill/>
            <a:miter lim="800000"/>
          </a:ln>
        </p:spPr>
        <p:txBody>
          <a:bodyPr>
            <a:spAutoFit/>
          </a:bodyPr>
          <a:lstStyle/>
          <a:p>
            <a:r>
              <a:rPr lang="en-US" altLang="zh-CN" dirty="0">
                <a:latin typeface="Times New Roman" panose="02020503050405090304" pitchFamily="18" charset="0"/>
              </a:rPr>
              <a:t>4</a:t>
            </a:r>
            <a:r>
              <a:rPr lang="en-US" altLang="zh-CN" dirty="0"/>
              <a:t>. DBMS</a:t>
            </a:r>
            <a:r>
              <a:rPr lang="zh-CN" altLang="en-US" dirty="0"/>
              <a:t>调用物理模式，依据模式</a:t>
            </a:r>
            <a:r>
              <a:rPr lang="en-US" altLang="zh-CN" dirty="0"/>
              <a:t>/</a:t>
            </a:r>
            <a:r>
              <a:rPr lang="zh-CN" altLang="en-US" dirty="0"/>
              <a:t>物理模式映象的定义，决定从哪个文件、用什么</a:t>
            </a:r>
            <a:r>
              <a:rPr lang="zh-CN" altLang="en-US" b="1" dirty="0">
                <a:solidFill>
                  <a:srgbClr val="0000FF"/>
                </a:solidFill>
              </a:rPr>
              <a:t>存取方式</a:t>
            </a:r>
            <a:r>
              <a:rPr lang="zh-CN" altLang="en-US" dirty="0"/>
              <a:t>、读入</a:t>
            </a:r>
            <a:r>
              <a:rPr lang="zh-CN" altLang="en-US" b="1" dirty="0">
                <a:solidFill>
                  <a:srgbClr val="0000FF"/>
                </a:solidFill>
              </a:rPr>
              <a:t>哪个或哪些物理记录</a:t>
            </a:r>
            <a:r>
              <a:rPr lang="zh-CN" altLang="en-US" dirty="0"/>
              <a:t>；</a:t>
            </a:r>
            <a:endParaRPr lang="zh-CN" altLang="en-US" dirty="0"/>
          </a:p>
          <a:p>
            <a:r>
              <a:rPr lang="en-US" altLang="zh-CN" dirty="0">
                <a:latin typeface="Times New Roman" panose="02020503050405090304" pitchFamily="18" charset="0"/>
              </a:rPr>
              <a:t>5</a:t>
            </a:r>
            <a:r>
              <a:rPr lang="en-US" altLang="zh-CN" dirty="0"/>
              <a:t>. DBMS</a:t>
            </a:r>
            <a:r>
              <a:rPr lang="zh-CN" altLang="en-US" b="1" dirty="0">
                <a:solidFill>
                  <a:srgbClr val="0000FF"/>
                </a:solidFill>
              </a:rPr>
              <a:t>向操作系统发出</a:t>
            </a:r>
            <a:r>
              <a:rPr lang="zh-CN" altLang="en-US" dirty="0"/>
              <a:t>执行读取所需物理记录的命令；</a:t>
            </a:r>
            <a:endParaRPr lang="zh-CN" altLang="en-US" dirty="0"/>
          </a:p>
          <a:p>
            <a:pPr eaLnBrk="0" hangingPunct="0">
              <a:spcBef>
                <a:spcPct val="50000"/>
              </a:spcBef>
            </a:pPr>
            <a:r>
              <a:rPr lang="en-US" altLang="zh-CN" dirty="0">
                <a:latin typeface="Times New Roman" panose="02020503050405090304" pitchFamily="18" charset="0"/>
              </a:rPr>
              <a:t>6. </a:t>
            </a:r>
            <a:r>
              <a:rPr lang="zh-CN" altLang="en-US" b="1" dirty="0">
                <a:solidFill>
                  <a:srgbClr val="0000FF"/>
                </a:solidFill>
                <a:latin typeface="Times New Roman" panose="02020503050405090304" pitchFamily="18" charset="0"/>
              </a:rPr>
              <a:t>操作系统执行</a:t>
            </a:r>
            <a:r>
              <a:rPr lang="zh-CN" altLang="en-US" dirty="0">
                <a:latin typeface="Times New Roman" panose="02020503050405090304" pitchFamily="18" charset="0"/>
              </a:rPr>
              <a:t>读数据的有关操作；</a:t>
            </a:r>
            <a:endParaRPr lang="zh-CN" altLang="en-US" dirty="0"/>
          </a:p>
          <a:p>
            <a:pPr eaLnBrk="0" hangingPunct="0">
              <a:spcBef>
                <a:spcPct val="50000"/>
              </a:spcBef>
            </a:pPr>
            <a:r>
              <a:rPr lang="en-US" altLang="zh-CN" dirty="0">
                <a:latin typeface="Times New Roman" panose="02020503050405090304" pitchFamily="18" charset="0"/>
              </a:rPr>
              <a:t>7. </a:t>
            </a:r>
            <a:r>
              <a:rPr lang="zh-CN" altLang="en-US" dirty="0">
                <a:latin typeface="Times New Roman" panose="02020503050405090304" pitchFamily="18" charset="0"/>
              </a:rPr>
              <a:t>操作系统将数据从数据库的存储区</a:t>
            </a:r>
            <a:r>
              <a:rPr lang="zh-CN" altLang="en-US" b="1" dirty="0">
                <a:solidFill>
                  <a:srgbClr val="0000FF"/>
                </a:solidFill>
                <a:latin typeface="Times New Roman" panose="02020503050405090304" pitchFamily="18" charset="0"/>
              </a:rPr>
              <a:t>送到系统缓冲区</a:t>
            </a:r>
            <a:r>
              <a:rPr lang="zh-CN" altLang="en-US" dirty="0">
                <a:latin typeface="Times New Roman" panose="02020503050405090304" pitchFamily="18" charset="0"/>
              </a:rPr>
              <a:t>；</a:t>
            </a:r>
            <a:endParaRPr lang="zh-CN" altLang="en-US" dirty="0"/>
          </a:p>
          <a:p>
            <a:pPr eaLnBrk="0" hangingPunct="0">
              <a:spcBef>
                <a:spcPct val="50000"/>
              </a:spcBef>
            </a:pPr>
            <a:r>
              <a:rPr lang="en-US" altLang="zh-CN" dirty="0">
                <a:latin typeface="Times New Roman" panose="02020503050405090304" pitchFamily="18" charset="0"/>
              </a:rPr>
              <a:t>8. DBMS</a:t>
            </a:r>
            <a:r>
              <a:rPr lang="zh-CN" altLang="en-US" dirty="0">
                <a:latin typeface="Times New Roman" panose="02020503050405090304" pitchFamily="18" charset="0"/>
              </a:rPr>
              <a:t>依据子模式</a:t>
            </a:r>
            <a:r>
              <a:rPr lang="en-US" altLang="zh-CN" dirty="0"/>
              <a:t>/</a:t>
            </a:r>
            <a:r>
              <a:rPr lang="zh-CN" altLang="en-US" dirty="0">
                <a:latin typeface="Times New Roman" panose="02020503050405090304" pitchFamily="18" charset="0"/>
              </a:rPr>
              <a:t>模式映象的定义，</a:t>
            </a:r>
            <a:r>
              <a:rPr lang="zh-CN" altLang="en-US" b="1" dirty="0">
                <a:solidFill>
                  <a:srgbClr val="0000FF"/>
                </a:solidFill>
                <a:latin typeface="Times New Roman" panose="02020503050405090304" pitchFamily="18" charset="0"/>
              </a:rPr>
              <a:t>导出</a:t>
            </a:r>
            <a:r>
              <a:rPr lang="zh-CN" altLang="en-US" dirty="0">
                <a:latin typeface="Times New Roman" panose="02020503050405090304" pitchFamily="18" charset="0"/>
              </a:rPr>
              <a:t>应用程序</a:t>
            </a:r>
            <a:r>
              <a:rPr lang="en-US" altLang="zh-CN" dirty="0"/>
              <a:t>A</a:t>
            </a:r>
            <a:r>
              <a:rPr lang="zh-CN" altLang="en-US" dirty="0">
                <a:latin typeface="Times New Roman" panose="02020503050405090304" pitchFamily="18" charset="0"/>
              </a:rPr>
              <a:t>所要读取记录的</a:t>
            </a:r>
            <a:r>
              <a:rPr lang="zh-CN" altLang="en-US" b="1" dirty="0">
                <a:solidFill>
                  <a:srgbClr val="0000FF"/>
                </a:solidFill>
                <a:latin typeface="Times New Roman" panose="02020503050405090304" pitchFamily="18" charset="0"/>
              </a:rPr>
              <a:t>格式</a:t>
            </a:r>
            <a:r>
              <a:rPr lang="zh-CN" altLang="en-US" dirty="0">
                <a:latin typeface="Times New Roman" panose="02020503050405090304" pitchFamily="18" charset="0"/>
              </a:rPr>
              <a:t>；</a:t>
            </a:r>
            <a:endParaRPr lang="zh-CN" altLang="en-US" dirty="0"/>
          </a:p>
          <a:p>
            <a:pPr eaLnBrk="0" hangingPunct="0">
              <a:spcBef>
                <a:spcPct val="50000"/>
              </a:spcBef>
            </a:pPr>
            <a:r>
              <a:rPr lang="en-US" altLang="zh-CN" dirty="0">
                <a:latin typeface="Times New Roman" panose="02020503050405090304" pitchFamily="18" charset="0"/>
              </a:rPr>
              <a:t>9. DBMS</a:t>
            </a:r>
            <a:r>
              <a:rPr lang="zh-CN" altLang="en-US" dirty="0">
                <a:latin typeface="Times New Roman" panose="02020503050405090304" pitchFamily="18" charset="0"/>
              </a:rPr>
              <a:t>将数据记录从系统缓冲区传送到应用程序</a:t>
            </a:r>
            <a:r>
              <a:rPr lang="en-US" altLang="zh-CN" dirty="0"/>
              <a:t>A</a:t>
            </a:r>
            <a:r>
              <a:rPr lang="zh-CN" altLang="en-US" dirty="0">
                <a:latin typeface="Times New Roman" panose="02020503050405090304" pitchFamily="18" charset="0"/>
              </a:rPr>
              <a:t>的</a:t>
            </a:r>
            <a:r>
              <a:rPr lang="zh-CN" altLang="en-US" b="1" dirty="0">
                <a:solidFill>
                  <a:srgbClr val="0000FF"/>
                </a:solidFill>
                <a:latin typeface="Times New Roman" panose="02020503050405090304" pitchFamily="18" charset="0"/>
              </a:rPr>
              <a:t>用户工作区</a:t>
            </a:r>
            <a:r>
              <a:rPr lang="zh-CN" altLang="en-US" dirty="0">
                <a:latin typeface="Times New Roman" panose="02020503050405090304" pitchFamily="18" charset="0"/>
              </a:rPr>
              <a:t>；</a:t>
            </a:r>
            <a:endParaRPr lang="zh-CN" altLang="en-US" dirty="0"/>
          </a:p>
          <a:p>
            <a:pPr eaLnBrk="0" hangingPunct="0">
              <a:spcBef>
                <a:spcPct val="50000"/>
              </a:spcBef>
            </a:pPr>
            <a:r>
              <a:rPr lang="en-US" altLang="zh-CN" dirty="0">
                <a:latin typeface="Times New Roman" panose="02020503050405090304" pitchFamily="18" charset="0"/>
              </a:rPr>
              <a:t>10. DBMS</a:t>
            </a:r>
            <a:r>
              <a:rPr lang="zh-CN" altLang="en-US" dirty="0">
                <a:latin typeface="Times New Roman" panose="02020503050405090304" pitchFamily="18" charset="0"/>
              </a:rPr>
              <a:t>向应用程序</a:t>
            </a:r>
            <a:r>
              <a:rPr lang="zh-CN" altLang="en-US" b="1" dirty="0">
                <a:solidFill>
                  <a:srgbClr val="0000FF"/>
                </a:solidFill>
                <a:latin typeface="Times New Roman" panose="02020503050405090304" pitchFamily="18" charset="0"/>
              </a:rPr>
              <a:t>返回</a:t>
            </a:r>
            <a:r>
              <a:rPr lang="zh-CN" altLang="en-US" dirty="0">
                <a:latin typeface="Times New Roman" panose="02020503050405090304" pitchFamily="18" charset="0"/>
              </a:rPr>
              <a:t>命令执行情况的</a:t>
            </a:r>
            <a:r>
              <a:rPr lang="zh-CN" altLang="en-US" b="1" dirty="0">
                <a:solidFill>
                  <a:srgbClr val="0000FF"/>
                </a:solidFill>
                <a:latin typeface="Times New Roman" panose="02020503050405090304" pitchFamily="18" charset="0"/>
              </a:rPr>
              <a:t>状态信息</a:t>
            </a:r>
            <a:r>
              <a:rPr lang="zh-CN" altLang="en-US" dirty="0">
                <a:latin typeface="Times New Roman" panose="02020503050405090304" pitchFamily="18" charset="0"/>
              </a:rPr>
              <a:t>。</a:t>
            </a:r>
            <a:endParaRPr lang="zh-CN" altLang="en-US" dirty="0"/>
          </a:p>
          <a:p>
            <a:pPr eaLnBrk="0" hangingPunct="0">
              <a:spcBef>
                <a:spcPct val="50000"/>
              </a:spcBef>
            </a:pPr>
            <a:r>
              <a:rPr lang="zh-CN" altLang="en-US" dirty="0">
                <a:latin typeface="宋体" pitchFamily="2" charset="-122"/>
              </a:rPr>
              <a:t>    图中显示了应用程序（用户）从数据库中</a:t>
            </a:r>
            <a:r>
              <a:rPr lang="zh-CN" altLang="en-US" dirty="0">
                <a:solidFill>
                  <a:srgbClr val="0000FF"/>
                </a:solidFill>
                <a:latin typeface="宋体" pitchFamily="2" charset="-122"/>
              </a:rPr>
              <a:t>读取记录的过程</a:t>
            </a:r>
            <a:r>
              <a:rPr lang="zh-CN" altLang="en-US" dirty="0">
                <a:latin typeface="宋体" pitchFamily="2" charset="-122"/>
              </a:rPr>
              <a:t>。执行其他操作的过程也与此类似。</a:t>
            </a:r>
            <a:r>
              <a:rPr lang="zh-CN" altLang="en-US" dirty="0"/>
              <a:t> </a:t>
            </a:r>
            <a:endParaRPr lang="zh-CN" altLang="en-US" dirty="0"/>
          </a:p>
        </p:txBody>
      </p:sp>
    </p:spTree>
  </p:cSld>
  <p:clrMapOvr>
    <a:masterClrMapping/>
  </p:clrMapOv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3" name="Rectangle 3"/>
          <p:cNvSpPr>
            <a:spLocks noGrp="1" noChangeArrowheads="1"/>
          </p:cNvSpPr>
          <p:nvPr>
            <p:ph idx="1"/>
          </p:nvPr>
        </p:nvSpPr>
        <p:spPr>
          <a:xfrm>
            <a:off x="395288" y="1309688"/>
            <a:ext cx="8110537" cy="4191000"/>
          </a:xfrm>
        </p:spPr>
        <p:txBody>
          <a:bodyPr/>
          <a:lstStyle/>
          <a:p>
            <a:pPr eaLnBrk="1" hangingPunct="1"/>
            <a:r>
              <a:rPr lang="en-US" altLang="zh-CN" sz="2800" dirty="0">
                <a:latin typeface="宋体" pitchFamily="2" charset="-122"/>
              </a:rPr>
              <a:t>RDBMS</a:t>
            </a:r>
            <a:r>
              <a:rPr lang="zh-CN" altLang="en-US" sz="2800" dirty="0">
                <a:latin typeface="宋体" pitchFamily="2" charset="-122"/>
              </a:rPr>
              <a:t>运行的另一种方式的步骤描述，分析的角度不同，不是从三层模式的转换这个角度分析，而是从</a:t>
            </a:r>
            <a:r>
              <a:rPr lang="en-US" altLang="zh-CN" sz="2800" dirty="0">
                <a:latin typeface="宋体" pitchFamily="2" charset="-122"/>
              </a:rPr>
              <a:t>DBMS</a:t>
            </a:r>
            <a:r>
              <a:rPr lang="zh-CN" altLang="en-US" sz="2800" dirty="0">
                <a:latin typeface="宋体" pitchFamily="2" charset="-122"/>
              </a:rPr>
              <a:t>功能调用序列的角度分析。</a:t>
            </a:r>
            <a:endParaRPr lang="zh-CN" altLang="en-US" sz="2800" dirty="0">
              <a:latin typeface="宋体" pitchFamily="2" charset="-122"/>
            </a:endParaRPr>
          </a:p>
        </p:txBody>
      </p:sp>
      <p:sp>
        <p:nvSpPr>
          <p:cNvPr id="6" name="灯片编号占位符 5"/>
          <p:cNvSpPr>
            <a:spLocks noGrp="1"/>
          </p:cNvSpPr>
          <p:nvPr>
            <p:ph type="sldNum" sz="quarter" idx="12"/>
          </p:nvPr>
        </p:nvSpPr>
        <p:spPr/>
        <p:txBody>
          <a:bodyPr/>
          <a:lstStyle/>
          <a:p>
            <a:pPr>
              <a:defRPr/>
            </a:pPr>
            <a:fld id="{B7E8FBE7-F70D-4A87-AECD-8DC51D201908}" type="slidenum">
              <a:rPr lang="en-US" altLang="zh-CN"/>
            </a:fld>
            <a:endParaRPr lang="en-US" altLang="zh-CN"/>
          </a:p>
        </p:txBody>
      </p:sp>
    </p:spTree>
  </p:cSld>
  <p:clrMapOvr>
    <a:masterClrMapping/>
  </p:clrMapOv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7DC2C507-7664-4E61-93CD-F6B6BFF10261}" type="slidenum">
              <a:rPr lang="en-US" altLang="zh-CN"/>
            </a:fld>
            <a:endParaRPr lang="en-US" altLang="zh-CN"/>
          </a:p>
        </p:txBody>
      </p:sp>
      <p:pic>
        <p:nvPicPr>
          <p:cNvPr id="113667" name="Picture 2" descr="RDBMS运行过程"/>
          <p:cNvPicPr>
            <a:picLocks noChangeAspect="1" noChangeArrowheads="1"/>
          </p:cNvPicPr>
          <p:nvPr/>
        </p:nvPicPr>
        <p:blipFill>
          <a:blip r:embed="rId1" cstate="print"/>
          <a:srcRect/>
          <a:stretch>
            <a:fillRect/>
          </a:stretch>
        </p:blipFill>
        <p:spPr bwMode="auto">
          <a:xfrm>
            <a:off x="179512" y="404664"/>
            <a:ext cx="7543800" cy="4330700"/>
          </a:xfrm>
          <a:prstGeom prst="rect">
            <a:avLst/>
          </a:prstGeom>
          <a:noFill/>
          <a:ln w="9525">
            <a:noFill/>
            <a:miter lim="800000"/>
            <a:headEnd/>
            <a:tailEnd/>
          </a:ln>
        </p:spPr>
      </p:pic>
      <p:sp>
        <p:nvSpPr>
          <p:cNvPr id="4" name="Rectangle 3"/>
          <p:cNvSpPr txBox="1">
            <a:spLocks noChangeArrowheads="1"/>
          </p:cNvSpPr>
          <p:nvPr/>
        </p:nvSpPr>
        <p:spPr>
          <a:xfrm>
            <a:off x="395536" y="4735364"/>
            <a:ext cx="8458200" cy="4191000"/>
          </a:xfrm>
          <a:prstGeom prst="rect">
            <a:avLst/>
          </a:prstGeom>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eaLnBrk="1" hangingPunct="1">
              <a:buFont typeface="Wingdings" panose="05000000000000000000" pitchFamily="2" charset="2"/>
              <a:buNone/>
            </a:pPr>
            <a:r>
              <a:rPr kumimoji="0" lang="en-US" altLang="zh-CN" dirty="0">
                <a:latin typeface="宋体" pitchFamily="2" charset="-122"/>
              </a:rPr>
              <a:t>1</a:t>
            </a:r>
            <a:r>
              <a:rPr kumimoji="0" lang="zh-CN" altLang="en-US" dirty="0">
                <a:latin typeface="宋体" pitchFamily="2" charset="-122"/>
              </a:rPr>
              <a:t>）应用程序发出</a:t>
            </a:r>
            <a:r>
              <a:rPr kumimoji="0" lang="en-US" altLang="zh-CN" dirty="0">
                <a:latin typeface="宋体" pitchFamily="2" charset="-122"/>
              </a:rPr>
              <a:t>SQL</a:t>
            </a:r>
            <a:r>
              <a:rPr kumimoji="0" lang="zh-CN" altLang="en-US" dirty="0">
                <a:latin typeface="宋体" pitchFamily="2" charset="-122"/>
              </a:rPr>
              <a:t>语句。</a:t>
            </a:r>
            <a:endParaRPr kumimoji="0" lang="zh-CN" altLang="en-US" dirty="0">
              <a:latin typeface="宋体" pitchFamily="2" charset="-122"/>
            </a:endParaRPr>
          </a:p>
          <a:p>
            <a:pPr eaLnBrk="1" hangingPunct="1">
              <a:buFont typeface="Wingdings" panose="05000000000000000000" pitchFamily="2" charset="2"/>
              <a:buNone/>
            </a:pPr>
            <a:r>
              <a:rPr kumimoji="0" lang="en-US" altLang="zh-CN" dirty="0">
                <a:latin typeface="宋体" pitchFamily="2" charset="-122"/>
              </a:rPr>
              <a:t>2</a:t>
            </a:r>
            <a:r>
              <a:rPr kumimoji="0" lang="zh-CN" altLang="en-US" dirty="0">
                <a:latin typeface="宋体" pitchFamily="2" charset="-122"/>
              </a:rPr>
              <a:t>）</a:t>
            </a:r>
            <a:r>
              <a:rPr kumimoji="0" lang="en-US" altLang="zh-CN" dirty="0">
                <a:latin typeface="宋体" pitchFamily="2" charset="-122"/>
              </a:rPr>
              <a:t>RDBMS</a:t>
            </a:r>
            <a:r>
              <a:rPr kumimoji="0" lang="zh-CN" altLang="en-US" dirty="0">
                <a:latin typeface="宋体" pitchFamily="2" charset="-122"/>
              </a:rPr>
              <a:t>进行</a:t>
            </a:r>
            <a:r>
              <a:rPr kumimoji="0" lang="zh-CN" altLang="en-US" dirty="0">
                <a:solidFill>
                  <a:srgbClr val="0000FF"/>
                </a:solidFill>
                <a:latin typeface="宋体" pitchFamily="2" charset="-122"/>
              </a:rPr>
              <a:t>语法、语义、存取权限</a:t>
            </a:r>
            <a:r>
              <a:rPr kumimoji="0" lang="zh-CN" altLang="en-US" dirty="0">
                <a:latin typeface="宋体" pitchFamily="2" charset="-122"/>
              </a:rPr>
              <a:t>检查。</a:t>
            </a:r>
            <a:endParaRPr kumimoji="0" lang="zh-CN" altLang="en-US" dirty="0">
              <a:latin typeface="宋体" pitchFamily="2" charset="-122"/>
            </a:endParaRPr>
          </a:p>
          <a:p>
            <a:pPr eaLnBrk="1" hangingPunct="1">
              <a:buFont typeface="Wingdings" panose="05000000000000000000" pitchFamily="2" charset="2"/>
              <a:buNone/>
            </a:pPr>
            <a:r>
              <a:rPr kumimoji="0" lang="en-US" altLang="zh-CN" dirty="0">
                <a:latin typeface="宋体" pitchFamily="2" charset="-122"/>
              </a:rPr>
              <a:t>3</a:t>
            </a:r>
            <a:r>
              <a:rPr kumimoji="0" lang="zh-CN" altLang="en-US" dirty="0">
                <a:latin typeface="宋体" pitchFamily="2" charset="-122"/>
              </a:rPr>
              <a:t>）</a:t>
            </a:r>
            <a:r>
              <a:rPr kumimoji="0" lang="en-US" altLang="zh-CN" dirty="0">
                <a:latin typeface="宋体" pitchFamily="2" charset="-122"/>
              </a:rPr>
              <a:t>RDBMS</a:t>
            </a:r>
            <a:r>
              <a:rPr kumimoji="0" lang="zh-CN" altLang="en-US" dirty="0">
                <a:latin typeface="宋体" pitchFamily="2" charset="-122"/>
              </a:rPr>
              <a:t>进行</a:t>
            </a:r>
            <a:r>
              <a:rPr kumimoji="0" lang="zh-CN" altLang="en-US" dirty="0">
                <a:solidFill>
                  <a:srgbClr val="0000FF"/>
                </a:solidFill>
                <a:latin typeface="宋体" pitchFamily="2" charset="-122"/>
              </a:rPr>
              <a:t>查询优化</a:t>
            </a:r>
            <a:r>
              <a:rPr kumimoji="0" lang="zh-CN" altLang="en-US" dirty="0">
                <a:latin typeface="宋体" pitchFamily="2" charset="-122"/>
              </a:rPr>
              <a:t>，转换成</a:t>
            </a:r>
            <a:r>
              <a:rPr kumimoji="0" lang="zh-CN" altLang="en-US" dirty="0">
                <a:solidFill>
                  <a:srgbClr val="0000FF"/>
                </a:solidFill>
                <a:latin typeface="宋体" pitchFamily="2" charset="-122"/>
              </a:rPr>
              <a:t>操作序列</a:t>
            </a:r>
            <a:r>
              <a:rPr kumimoji="0" lang="zh-CN" altLang="en-US" dirty="0">
                <a:latin typeface="宋体" pitchFamily="2" charset="-122"/>
              </a:rPr>
              <a:t>。</a:t>
            </a:r>
            <a:endParaRPr kumimoji="0" lang="zh-CN" altLang="en-US" dirty="0">
              <a:latin typeface="宋体" pitchFamily="2" charset="-122"/>
            </a:endParaRPr>
          </a:p>
          <a:p>
            <a:pPr eaLnBrk="1" hangingPunct="1">
              <a:buFont typeface="Wingdings" panose="05000000000000000000" pitchFamily="2" charset="2"/>
              <a:buNone/>
            </a:pPr>
            <a:r>
              <a:rPr kumimoji="0" lang="en-US" altLang="zh-CN" dirty="0">
                <a:latin typeface="宋体" pitchFamily="2" charset="-122"/>
              </a:rPr>
              <a:t>4</a:t>
            </a:r>
            <a:r>
              <a:rPr kumimoji="0" lang="zh-CN" altLang="en-US" dirty="0">
                <a:latin typeface="宋体" pitchFamily="2" charset="-122"/>
              </a:rPr>
              <a:t>）</a:t>
            </a:r>
            <a:r>
              <a:rPr kumimoji="0" lang="en-US" altLang="zh-CN" dirty="0">
                <a:latin typeface="宋体" pitchFamily="2" charset="-122"/>
              </a:rPr>
              <a:t>RDBMS</a:t>
            </a:r>
            <a:r>
              <a:rPr kumimoji="0" lang="zh-CN" altLang="en-US" dirty="0">
                <a:solidFill>
                  <a:srgbClr val="0000FF"/>
                </a:solidFill>
                <a:latin typeface="宋体" pitchFamily="2" charset="-122"/>
              </a:rPr>
              <a:t>执行</a:t>
            </a:r>
            <a:r>
              <a:rPr kumimoji="0" lang="zh-CN" altLang="en-US" dirty="0">
                <a:latin typeface="宋体" pitchFamily="2" charset="-122"/>
              </a:rPr>
              <a:t>存取操作序列（</a:t>
            </a:r>
            <a:r>
              <a:rPr kumimoji="0" lang="zh-CN" altLang="en-US" dirty="0">
                <a:solidFill>
                  <a:srgbClr val="0000FF"/>
                </a:solidFill>
                <a:latin typeface="宋体" pitchFamily="2" charset="-122"/>
              </a:rPr>
              <a:t>反复执行后续步骤</a:t>
            </a:r>
            <a:r>
              <a:rPr kumimoji="0" lang="zh-CN" altLang="en-US" dirty="0">
                <a:latin typeface="宋体" pitchFamily="2" charset="-122"/>
              </a:rPr>
              <a:t>）。</a:t>
            </a:r>
            <a:endParaRPr kumimoji="0" lang="zh-CN" altLang="en-US" dirty="0">
              <a:latin typeface="宋体" pitchFamily="2" charset="-122"/>
            </a:endParaRPr>
          </a:p>
        </p:txBody>
      </p:sp>
    </p:spTree>
  </p:cSld>
  <p:clrMapOvr>
    <a:masterClrMapping/>
  </p:clrMapOv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7DC2C507-7664-4E61-93CD-F6B6BFF10261}" type="slidenum">
              <a:rPr lang="en-US" altLang="zh-CN"/>
            </a:fld>
            <a:endParaRPr lang="en-US" altLang="zh-CN"/>
          </a:p>
        </p:txBody>
      </p:sp>
      <p:pic>
        <p:nvPicPr>
          <p:cNvPr id="113667" name="Picture 2" descr="RDBMS运行过程"/>
          <p:cNvPicPr>
            <a:picLocks noChangeAspect="1" noChangeArrowheads="1"/>
          </p:cNvPicPr>
          <p:nvPr/>
        </p:nvPicPr>
        <p:blipFill>
          <a:blip r:embed="rId1" cstate="print"/>
          <a:srcRect/>
          <a:stretch>
            <a:fillRect/>
          </a:stretch>
        </p:blipFill>
        <p:spPr bwMode="auto">
          <a:xfrm>
            <a:off x="179512" y="260648"/>
            <a:ext cx="7543800" cy="4330700"/>
          </a:xfrm>
          <a:prstGeom prst="rect">
            <a:avLst/>
          </a:prstGeom>
          <a:noFill/>
          <a:ln w="9525">
            <a:noFill/>
            <a:miter lim="800000"/>
            <a:headEnd/>
            <a:tailEnd/>
          </a:ln>
        </p:spPr>
      </p:pic>
      <p:sp>
        <p:nvSpPr>
          <p:cNvPr id="4" name="Rectangle 3"/>
          <p:cNvSpPr txBox="1">
            <a:spLocks noChangeArrowheads="1"/>
          </p:cNvSpPr>
          <p:nvPr/>
        </p:nvSpPr>
        <p:spPr>
          <a:xfrm>
            <a:off x="485294" y="4815173"/>
            <a:ext cx="8458200" cy="2034714"/>
          </a:xfrm>
          <a:prstGeom prst="rect">
            <a:avLst/>
          </a:prstGeom>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eaLnBrk="1" hangingPunct="1">
              <a:lnSpc>
                <a:spcPct val="90000"/>
              </a:lnSpc>
              <a:buFont typeface="Wingdings" panose="05000000000000000000" pitchFamily="2" charset="2"/>
              <a:buNone/>
              <a:defRPr/>
            </a:pPr>
            <a:r>
              <a:rPr lang="en-US" altLang="zh-CN" sz="2400" dirty="0">
                <a:solidFill>
                  <a:srgbClr val="0000FF"/>
                </a:solidFill>
                <a:latin typeface="宋体" pitchFamily="2" charset="-122"/>
              </a:rPr>
              <a:t>8</a:t>
            </a:r>
            <a:r>
              <a:rPr lang="zh-CN" altLang="en-US" sz="2400" dirty="0">
                <a:solidFill>
                  <a:srgbClr val="0000FF"/>
                </a:solidFill>
                <a:latin typeface="宋体" pitchFamily="2" charset="-122"/>
              </a:rPr>
              <a:t>）操作系统存取文件。</a:t>
            </a:r>
            <a:endParaRPr lang="zh-CN" altLang="en-US" sz="2400" dirty="0">
              <a:solidFill>
                <a:srgbClr val="0000FF"/>
              </a:solidFill>
              <a:latin typeface="宋体" pitchFamily="2" charset="-122"/>
            </a:endParaRPr>
          </a:p>
          <a:p>
            <a:pPr eaLnBrk="1" hangingPunct="1">
              <a:lnSpc>
                <a:spcPct val="90000"/>
              </a:lnSpc>
              <a:buFont typeface="Wingdings" panose="05000000000000000000" pitchFamily="2" charset="2"/>
              <a:buNone/>
              <a:defRPr/>
            </a:pPr>
            <a:r>
              <a:rPr lang="en-US" altLang="zh-CN" sz="2400" dirty="0">
                <a:solidFill>
                  <a:srgbClr val="0000FF"/>
                </a:solidFill>
                <a:latin typeface="宋体" pitchFamily="2" charset="-122"/>
              </a:rPr>
              <a:t>9</a:t>
            </a:r>
            <a:r>
              <a:rPr lang="zh-CN" altLang="en-US" sz="2400" dirty="0">
                <a:solidFill>
                  <a:srgbClr val="0000FF"/>
                </a:solidFill>
                <a:latin typeface="宋体" pitchFamily="2" charset="-122"/>
              </a:rPr>
              <a:t>）操作系统将读取结果送至系统缓冲区。</a:t>
            </a:r>
            <a:endParaRPr lang="zh-CN" altLang="en-US" sz="2400" dirty="0">
              <a:solidFill>
                <a:srgbClr val="0000FF"/>
              </a:solidFill>
              <a:latin typeface="宋体" pitchFamily="2" charset="-122"/>
            </a:endParaRPr>
          </a:p>
          <a:p>
            <a:pPr eaLnBrk="1" hangingPunct="1">
              <a:lnSpc>
                <a:spcPct val="90000"/>
              </a:lnSpc>
              <a:buFont typeface="Wingdings" panose="05000000000000000000" pitchFamily="2" charset="2"/>
              <a:buNone/>
              <a:defRPr/>
            </a:pPr>
            <a:r>
              <a:rPr lang="en-US" altLang="zh-CN" sz="2400" dirty="0">
                <a:solidFill>
                  <a:srgbClr val="0000FF"/>
                </a:solidFill>
                <a:latin typeface="宋体" pitchFamily="2" charset="-122"/>
              </a:rPr>
              <a:t>10</a:t>
            </a:r>
            <a:r>
              <a:rPr lang="zh-CN" altLang="en-US" sz="2400" dirty="0">
                <a:solidFill>
                  <a:srgbClr val="0000FF"/>
                </a:solidFill>
                <a:latin typeface="宋体" pitchFamily="2" charset="-122"/>
              </a:rPr>
              <a:t>）</a:t>
            </a:r>
            <a:r>
              <a:rPr lang="en-US" altLang="zh-CN" sz="2400" dirty="0">
                <a:solidFill>
                  <a:srgbClr val="0000FF"/>
                </a:solidFill>
                <a:latin typeface="宋体" pitchFamily="2" charset="-122"/>
              </a:rPr>
              <a:t>RDBMS</a:t>
            </a:r>
            <a:r>
              <a:rPr lang="zh-CN" altLang="en-US" sz="2400" dirty="0">
                <a:solidFill>
                  <a:srgbClr val="0000FF"/>
                </a:solidFill>
                <a:latin typeface="宋体" pitchFamily="2" charset="-122"/>
              </a:rPr>
              <a:t>导出记录格式。</a:t>
            </a:r>
            <a:endParaRPr lang="zh-CN" altLang="en-US" sz="2400" dirty="0">
              <a:solidFill>
                <a:srgbClr val="0000FF"/>
              </a:solidFill>
              <a:latin typeface="宋体" pitchFamily="2" charset="-122"/>
            </a:endParaRPr>
          </a:p>
          <a:p>
            <a:pPr eaLnBrk="1" hangingPunct="1">
              <a:lnSpc>
                <a:spcPct val="90000"/>
              </a:lnSpc>
              <a:buFont typeface="Wingdings" panose="05000000000000000000" pitchFamily="2" charset="2"/>
              <a:buNone/>
              <a:defRPr/>
            </a:pPr>
            <a:r>
              <a:rPr lang="en-US" altLang="zh-CN" sz="2400" dirty="0">
                <a:solidFill>
                  <a:srgbClr val="0000FF"/>
                </a:solidFill>
                <a:latin typeface="宋体" pitchFamily="2" charset="-122"/>
              </a:rPr>
              <a:t>11</a:t>
            </a:r>
            <a:r>
              <a:rPr lang="zh-CN" altLang="en-US" sz="2400" dirty="0">
                <a:solidFill>
                  <a:srgbClr val="0000FF"/>
                </a:solidFill>
                <a:latin typeface="宋体" pitchFamily="2" charset="-122"/>
              </a:rPr>
              <a:t>）</a:t>
            </a:r>
            <a:r>
              <a:rPr lang="en-US" altLang="zh-CN" sz="2400" dirty="0">
                <a:solidFill>
                  <a:srgbClr val="0000FF"/>
                </a:solidFill>
                <a:latin typeface="宋体" pitchFamily="2" charset="-122"/>
              </a:rPr>
              <a:t>RDBMS</a:t>
            </a:r>
            <a:r>
              <a:rPr lang="zh-CN" altLang="en-US" sz="2400" dirty="0">
                <a:solidFill>
                  <a:srgbClr val="0000FF"/>
                </a:solidFill>
                <a:latin typeface="宋体" pitchFamily="2" charset="-122"/>
              </a:rPr>
              <a:t>将结果从系统缓冲区送至用户工作区。</a:t>
            </a:r>
            <a:endParaRPr lang="zh-CN" altLang="en-US" sz="2400" dirty="0">
              <a:solidFill>
                <a:srgbClr val="0000FF"/>
              </a:solidFill>
              <a:latin typeface="宋体" pitchFamily="2" charset="-122"/>
            </a:endParaRPr>
          </a:p>
          <a:p>
            <a:pPr eaLnBrk="1" hangingPunct="1">
              <a:lnSpc>
                <a:spcPct val="90000"/>
              </a:lnSpc>
              <a:buFont typeface="Wingdings" panose="05000000000000000000" pitchFamily="2" charset="2"/>
              <a:buNone/>
              <a:defRPr/>
            </a:pPr>
            <a:r>
              <a:rPr lang="en-US" altLang="zh-CN" sz="2400" dirty="0">
                <a:solidFill>
                  <a:srgbClr val="0000FF"/>
                </a:solidFill>
                <a:latin typeface="宋体" pitchFamily="2" charset="-122"/>
              </a:rPr>
              <a:t>12</a:t>
            </a:r>
            <a:r>
              <a:rPr lang="zh-CN" altLang="en-US" sz="2400" dirty="0">
                <a:solidFill>
                  <a:srgbClr val="0000FF"/>
                </a:solidFill>
                <a:latin typeface="宋体" pitchFamily="2" charset="-122"/>
              </a:rPr>
              <a:t>）</a:t>
            </a:r>
            <a:r>
              <a:rPr lang="en-US" altLang="zh-CN" sz="2400" dirty="0">
                <a:solidFill>
                  <a:srgbClr val="0000FF"/>
                </a:solidFill>
                <a:latin typeface="宋体" pitchFamily="2" charset="-122"/>
              </a:rPr>
              <a:t>RDBMS</a:t>
            </a:r>
            <a:r>
              <a:rPr lang="zh-CN" altLang="en-US" sz="2400" dirty="0">
                <a:solidFill>
                  <a:srgbClr val="0000FF"/>
                </a:solidFill>
                <a:latin typeface="宋体" pitchFamily="2" charset="-122"/>
              </a:rPr>
              <a:t>返回状态信息。</a:t>
            </a:r>
            <a:endParaRPr lang="zh-CN" altLang="en-US" sz="2400" dirty="0">
              <a:solidFill>
                <a:srgbClr val="0000FF"/>
              </a:solidFill>
              <a:latin typeface="宋体" pitchFamily="2" charset="-122"/>
            </a:endParaRPr>
          </a:p>
        </p:txBody>
      </p:sp>
      <p:sp>
        <p:nvSpPr>
          <p:cNvPr id="2" name="矩形 1"/>
          <p:cNvSpPr/>
          <p:nvPr/>
        </p:nvSpPr>
        <p:spPr>
          <a:xfrm>
            <a:off x="4714394" y="3212976"/>
            <a:ext cx="4572000" cy="1754326"/>
          </a:xfrm>
          <a:prstGeom prst="rect">
            <a:avLst/>
          </a:prstGeom>
        </p:spPr>
        <p:txBody>
          <a:bodyPr>
            <a:spAutoFit/>
          </a:bodyPr>
          <a:lstStyle/>
          <a:p>
            <a:pPr eaLnBrk="1" hangingPunct="1">
              <a:lnSpc>
                <a:spcPct val="90000"/>
              </a:lnSpc>
              <a:buFont typeface="Wingdings" panose="05000000000000000000" pitchFamily="2" charset="2"/>
              <a:buNone/>
              <a:defRPr/>
            </a:pPr>
            <a:r>
              <a:rPr lang="en-US" altLang="zh-CN" dirty="0">
                <a:solidFill>
                  <a:srgbClr val="0000FF"/>
                </a:solidFill>
                <a:latin typeface="宋体" pitchFamily="2" charset="-122"/>
              </a:rPr>
              <a:t>5</a:t>
            </a:r>
            <a:r>
              <a:rPr lang="zh-CN" altLang="en-US" dirty="0">
                <a:solidFill>
                  <a:srgbClr val="0000FF"/>
                </a:solidFill>
                <a:latin typeface="宋体" pitchFamily="2" charset="-122"/>
              </a:rPr>
              <a:t>）首先在系统缓冲区中查找记录，找到则转</a:t>
            </a:r>
            <a:r>
              <a:rPr lang="en-US" altLang="zh-CN" dirty="0">
                <a:solidFill>
                  <a:srgbClr val="0000FF"/>
                </a:solidFill>
                <a:latin typeface="宋体" pitchFamily="2" charset="-122"/>
              </a:rPr>
              <a:t>10</a:t>
            </a:r>
            <a:r>
              <a:rPr lang="zh-CN" altLang="en-US" dirty="0">
                <a:solidFill>
                  <a:srgbClr val="0000FF"/>
                </a:solidFill>
                <a:latin typeface="宋体" pitchFamily="2" charset="-122"/>
              </a:rPr>
              <a:t>），否则转</a:t>
            </a:r>
            <a:r>
              <a:rPr lang="en-US" altLang="zh-CN" dirty="0">
                <a:solidFill>
                  <a:srgbClr val="0000FF"/>
                </a:solidFill>
                <a:latin typeface="宋体" pitchFamily="2" charset="-122"/>
              </a:rPr>
              <a:t>6</a:t>
            </a:r>
            <a:r>
              <a:rPr lang="zh-CN" altLang="en-US" dirty="0">
                <a:solidFill>
                  <a:srgbClr val="0000FF"/>
                </a:solidFill>
                <a:latin typeface="宋体" pitchFamily="2" charset="-122"/>
              </a:rPr>
              <a:t>）。</a:t>
            </a:r>
            <a:endParaRPr lang="zh-CN" altLang="en-US" dirty="0">
              <a:solidFill>
                <a:srgbClr val="0000FF"/>
              </a:solidFill>
              <a:latin typeface="宋体" pitchFamily="2" charset="-122"/>
            </a:endParaRPr>
          </a:p>
          <a:p>
            <a:pPr eaLnBrk="1" hangingPunct="1">
              <a:lnSpc>
                <a:spcPct val="90000"/>
              </a:lnSpc>
              <a:buFont typeface="Wingdings" panose="05000000000000000000" pitchFamily="2" charset="2"/>
              <a:buNone/>
              <a:defRPr/>
            </a:pPr>
            <a:r>
              <a:rPr lang="en-US" altLang="zh-CN" dirty="0">
                <a:solidFill>
                  <a:srgbClr val="0000FF"/>
                </a:solidFill>
                <a:latin typeface="宋体" pitchFamily="2" charset="-122"/>
              </a:rPr>
              <a:t>6</a:t>
            </a:r>
            <a:r>
              <a:rPr lang="zh-CN" altLang="en-US" dirty="0">
                <a:solidFill>
                  <a:srgbClr val="0000FF"/>
                </a:solidFill>
                <a:latin typeface="宋体" pitchFamily="2" charset="-122"/>
              </a:rPr>
              <a:t>）查阅存储模式，确定如何从文件中存取数据。</a:t>
            </a:r>
            <a:endParaRPr lang="zh-CN" altLang="en-US" dirty="0">
              <a:solidFill>
                <a:srgbClr val="0000FF"/>
              </a:solidFill>
              <a:latin typeface="宋体" pitchFamily="2" charset="-122"/>
            </a:endParaRPr>
          </a:p>
          <a:p>
            <a:pPr eaLnBrk="1" hangingPunct="1">
              <a:lnSpc>
                <a:spcPct val="90000"/>
              </a:lnSpc>
              <a:buFont typeface="Wingdings" panose="05000000000000000000" pitchFamily="2" charset="2"/>
              <a:buNone/>
              <a:defRPr/>
            </a:pPr>
            <a:r>
              <a:rPr lang="en-US" altLang="zh-CN" dirty="0">
                <a:solidFill>
                  <a:srgbClr val="0000FF"/>
                </a:solidFill>
                <a:latin typeface="宋体" pitchFamily="2" charset="-122"/>
              </a:rPr>
              <a:t>7</a:t>
            </a:r>
            <a:r>
              <a:rPr lang="zh-CN" altLang="en-US" dirty="0">
                <a:solidFill>
                  <a:srgbClr val="0000FF"/>
                </a:solidFill>
                <a:latin typeface="宋体" pitchFamily="2" charset="-122"/>
              </a:rPr>
              <a:t>）向操作系统发出存取命令。</a:t>
            </a:r>
            <a:endParaRPr lang="zh-CN" altLang="en-US" dirty="0">
              <a:solidFill>
                <a:srgbClr val="0000FF"/>
              </a:solidFill>
            </a:endParaRPr>
          </a:p>
        </p:txBody>
      </p:sp>
    </p:spTree>
  </p:cSld>
  <p:clrMapOvr>
    <a:masterClrMapping/>
  </p:clrMapOv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a:xfrm>
            <a:off x="395288" y="595313"/>
            <a:ext cx="8162925" cy="762000"/>
          </a:xfrm>
        </p:spPr>
        <p:txBody>
          <a:bodyPr>
            <a:normAutofit fontScale="90000"/>
          </a:bodyPr>
          <a:lstStyle/>
          <a:p>
            <a:pPr eaLnBrk="1" fontAlgn="auto" hangingPunct="1">
              <a:spcAft>
                <a:spcPts val="0"/>
              </a:spcAft>
              <a:defRPr/>
            </a:pPr>
            <a:r>
              <a:rPr lang="en-US" altLang="zh-CN" dirty="0"/>
              <a:t>Postgres</a:t>
            </a:r>
            <a:r>
              <a:rPr lang="zh-CN" altLang="en-US" dirty="0"/>
              <a:t>的语句执行过程</a:t>
            </a:r>
            <a:endParaRPr lang="zh-CN" altLang="en-US" dirty="0"/>
          </a:p>
        </p:txBody>
      </p:sp>
      <p:sp>
        <p:nvSpPr>
          <p:cNvPr id="116739" name="Rectangle 3"/>
          <p:cNvSpPr>
            <a:spLocks noGrp="1" noChangeArrowheads="1"/>
          </p:cNvSpPr>
          <p:nvPr>
            <p:ph idx="1"/>
          </p:nvPr>
        </p:nvSpPr>
        <p:spPr/>
        <p:txBody>
          <a:bodyPr/>
          <a:lstStyle/>
          <a:p>
            <a:pPr eaLnBrk="1" hangingPunct="1"/>
            <a:endParaRPr lang="zh-CN" altLang="zh-CN"/>
          </a:p>
        </p:txBody>
      </p:sp>
      <p:sp>
        <p:nvSpPr>
          <p:cNvPr id="7" name="灯片编号占位符 5"/>
          <p:cNvSpPr>
            <a:spLocks noGrp="1"/>
          </p:cNvSpPr>
          <p:nvPr>
            <p:ph type="sldNum" sz="quarter" idx="12"/>
          </p:nvPr>
        </p:nvSpPr>
        <p:spPr/>
        <p:txBody>
          <a:bodyPr/>
          <a:lstStyle/>
          <a:p>
            <a:pPr>
              <a:defRPr/>
            </a:pPr>
            <a:fld id="{36BF519D-8C4C-442F-801D-72F1392E4532}" type="slidenum">
              <a:rPr lang="en-US" altLang="zh-CN"/>
            </a:fld>
            <a:endParaRPr lang="en-US" altLang="zh-CN"/>
          </a:p>
        </p:txBody>
      </p:sp>
      <p:pic>
        <p:nvPicPr>
          <p:cNvPr id="116741" name="Picture 4"/>
          <p:cNvPicPr>
            <a:picLocks noChangeAspect="1" noChangeArrowheads="1"/>
          </p:cNvPicPr>
          <p:nvPr/>
        </p:nvPicPr>
        <p:blipFill>
          <a:blip r:embed="rId1" cstate="print"/>
          <a:srcRect/>
          <a:stretch>
            <a:fillRect/>
          </a:stretch>
        </p:blipFill>
        <p:spPr bwMode="auto">
          <a:xfrm>
            <a:off x="359569" y="1389063"/>
            <a:ext cx="8424862" cy="5040312"/>
          </a:xfrm>
          <a:prstGeom prst="rect">
            <a:avLst/>
          </a:prstGeom>
          <a:noFill/>
          <a:ln w="9525">
            <a:noFill/>
            <a:miter lim="800000"/>
            <a:headEnd/>
            <a:tailEnd/>
          </a:ln>
        </p:spPr>
      </p:pic>
    </p:spTree>
  </p:cSld>
  <p:clrMapOvr>
    <a:masterClrMapping/>
  </p:clrMapOv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pPr defTabSz="685800">
              <a:lnSpc>
                <a:spcPct val="110000"/>
              </a:lnSpc>
              <a:spcBef>
                <a:spcPct val="20000"/>
              </a:spcBef>
              <a:spcAft>
                <a:spcPct val="0"/>
              </a:spcAft>
              <a:defRPr/>
            </a:pPr>
            <a:r>
              <a:rPr lang="en-US" altLang="zh-CN" dirty="0">
                <a:sym typeface="Huawei Sans"/>
              </a:rPr>
              <a:t>openGauss</a:t>
            </a:r>
            <a:r>
              <a:rPr lang="zh-CN" altLang="en-US" dirty="0">
                <a:sym typeface="Huawei Sans"/>
              </a:rPr>
              <a:t>数据库：商用</a:t>
            </a:r>
            <a:r>
              <a:rPr lang="en-US" altLang="zh-CN" dirty="0">
                <a:sym typeface="Huawei Sans"/>
              </a:rPr>
              <a:t>+</a:t>
            </a:r>
            <a:r>
              <a:rPr lang="zh-CN" altLang="en-US" dirty="0">
                <a:sym typeface="Huawei Sans"/>
              </a:rPr>
              <a:t>自用</a:t>
            </a:r>
            <a:r>
              <a:rPr lang="en-US" altLang="zh-CN" dirty="0">
                <a:sym typeface="Huawei Sans"/>
              </a:rPr>
              <a:t>+</a:t>
            </a:r>
            <a:r>
              <a:rPr lang="zh-CN" altLang="en-US" dirty="0">
                <a:sym typeface="Huawei Sans"/>
              </a:rPr>
              <a:t>开源相结合，内核长期演进</a:t>
            </a:r>
            <a:endParaRPr lang="zh-CN" altLang="en-US" dirty="0">
              <a:sym typeface="Huawei Sans"/>
            </a:endParaRPr>
          </a:p>
        </p:txBody>
      </p:sp>
      <p:sp>
        <p:nvSpPr>
          <p:cNvPr id="8" name="文本占位符 7"/>
          <p:cNvSpPr>
            <a:spLocks noGrp="1"/>
          </p:cNvSpPr>
          <p:nvPr>
            <p:ph type="body" sz="quarter" idx="10"/>
          </p:nvPr>
        </p:nvSpPr>
        <p:spPr/>
        <p:txBody>
          <a:bodyPr/>
          <a:lstStyle/>
          <a:p>
            <a:r>
              <a:rPr lang="zh-CN" altLang="en-US" dirty="0">
                <a:sym typeface="Huawei Sans" panose="020C0503030203020204" pitchFamily="34" charset="0"/>
              </a:rPr>
              <a:t>华为公司内部配套和公有云的</a:t>
            </a:r>
            <a:r>
              <a:rPr lang="en-US" altLang="zh-CN" dirty="0">
                <a:sym typeface="Huawei Sans" panose="020C0503030203020204" pitchFamily="34" charset="0"/>
              </a:rPr>
              <a:t>GaussDB</a:t>
            </a:r>
            <a:r>
              <a:rPr lang="zh-CN" altLang="en-US" dirty="0">
                <a:sym typeface="Huawei Sans" panose="020C0503030203020204" pitchFamily="34" charset="0"/>
              </a:rPr>
              <a:t>服务均基于</a:t>
            </a:r>
            <a:r>
              <a:rPr lang="en-US" altLang="zh-CN" dirty="0">
                <a:sym typeface="Huawei Sans" panose="020C0503030203020204" pitchFamily="34" charset="0"/>
              </a:rPr>
              <a:t>openGauss</a:t>
            </a:r>
            <a:r>
              <a:rPr lang="zh-CN" altLang="en-US" dirty="0">
                <a:sym typeface="Huawei Sans" panose="020C0503030203020204" pitchFamily="34" charset="0"/>
              </a:rPr>
              <a:t>，内核将保持长期演进。</a:t>
            </a:r>
            <a:endParaRPr lang="en-US" altLang="zh-CN" dirty="0">
              <a:sym typeface="Huawei Sans" panose="020C0503030203020204" pitchFamily="34" charset="0"/>
            </a:endParaRPr>
          </a:p>
          <a:p>
            <a:endParaRPr lang="zh-CN" altLang="en-US" dirty="0">
              <a:sym typeface="Huawei Sans" panose="020C0503030203020204" pitchFamily="34" charset="0"/>
            </a:endParaRPr>
          </a:p>
        </p:txBody>
      </p:sp>
      <p:grpSp>
        <p:nvGrpSpPr>
          <p:cNvPr id="71" name="组合 1"/>
          <p:cNvGrpSpPr/>
          <p:nvPr/>
        </p:nvGrpSpPr>
        <p:grpSpPr>
          <a:xfrm>
            <a:off x="476295" y="2493047"/>
            <a:ext cx="8008411" cy="3014787"/>
            <a:chOff x="224480" y="1505915"/>
            <a:chExt cx="10944903" cy="4682722"/>
          </a:xfrm>
        </p:grpSpPr>
        <p:sp>
          <p:nvSpPr>
            <p:cNvPr id="9" name="文本框 3"/>
            <p:cNvSpPr txBox="1"/>
            <p:nvPr/>
          </p:nvSpPr>
          <p:spPr>
            <a:xfrm>
              <a:off x="594123" y="2159546"/>
              <a:ext cx="725589" cy="465904"/>
            </a:xfrm>
            <a:prstGeom prst="rect">
              <a:avLst/>
            </a:prstGeom>
            <a:noFill/>
          </p:spPr>
          <p:txBody>
            <a:bodyPr vert="horz" wrap="none" rtlCol="0">
              <a:spAutoFit/>
            </a:bodyPr>
            <a:lstStyle/>
            <a:p>
              <a:pPr defTabSz="913765" fontAlgn="auto">
                <a:spcBef>
                  <a:spcPts val="0"/>
                </a:spcBef>
                <a:spcAft>
                  <a:spcPts val="0"/>
                </a:spcAft>
                <a:defRPr/>
              </a:pPr>
              <a:r>
                <a:rPr kumimoji="0" lang="zh-CN" altLang="en-US" sz="135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客户</a:t>
              </a:r>
              <a:endParaRPr kumimoji="0" lang="zh-CN" altLang="en-US" sz="135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文本框 4"/>
            <p:cNvSpPr txBox="1"/>
            <p:nvPr/>
          </p:nvSpPr>
          <p:spPr>
            <a:xfrm>
              <a:off x="224480" y="5061946"/>
              <a:ext cx="1390344" cy="465904"/>
            </a:xfrm>
            <a:prstGeom prst="rect">
              <a:avLst/>
            </a:prstGeom>
            <a:noFill/>
          </p:spPr>
          <p:txBody>
            <a:bodyPr vert="horz" wrap="square" rtlCol="0">
              <a:spAutoFit/>
            </a:bodyPr>
            <a:lstStyle>
              <a:defPPr>
                <a:defRPr lang="zh-CN"/>
              </a:defPPr>
              <a:lvl1pPr>
                <a:defRPr sz="1200" b="1">
                  <a:solidFill>
                    <a:srgbClr val="000000"/>
                  </a:solidFill>
                  <a:latin typeface="微软雅黑" panose="020B0503020204020204" pitchFamily="34" charset="-122"/>
                  <a:ea typeface="微软雅黑" panose="020B0503020204020204" pitchFamily="34" charset="-122"/>
                </a:defRPr>
              </a:lvl1pPr>
            </a:lstStyle>
            <a:p>
              <a:pPr algn="ctr" defTabSz="913765" fontAlgn="auto">
                <a:spcBef>
                  <a:spcPts val="0"/>
                </a:spcBef>
                <a:spcAft>
                  <a:spcPts val="0"/>
                </a:spcAft>
                <a:defRPr/>
              </a:pPr>
              <a:r>
                <a:rPr kumimoji="0" lang="zh-CN" altLang="en-US" sz="1350" dirty="0">
                  <a:latin typeface="Huawei Sans" panose="020C0503030203020204" pitchFamily="34" charset="0"/>
                  <a:ea typeface="方正兰亭黑简体" panose="02000000000000000000" pitchFamily="2" charset="-122"/>
                  <a:sym typeface="Huawei Sans" panose="020C0503030203020204" pitchFamily="34" charset="0"/>
                </a:rPr>
                <a:t>统一内核</a:t>
              </a:r>
              <a:endParaRPr kumimoji="0" lang="en-US" altLang="zh-CN" sz="135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矩形 5"/>
            <p:cNvSpPr/>
            <p:nvPr/>
          </p:nvSpPr>
          <p:spPr bwMode="auto">
            <a:xfrm flipV="1">
              <a:off x="1482845" y="3557929"/>
              <a:ext cx="9684753" cy="1282304"/>
            </a:xfrm>
            <a:prstGeom prst="rect">
              <a:avLst/>
            </a:prstGeom>
            <a:solidFill>
              <a:schemeClr val="bg1">
                <a:lumMod val="10000"/>
                <a:lumOff val="90000"/>
              </a:schemeClr>
            </a:solidFill>
            <a:ln>
              <a:solidFill>
                <a:schemeClr val="bg1">
                  <a:lumMod val="50000"/>
                </a:schemeClr>
              </a:solidFill>
              <a:prstDash val="solid"/>
            </a:ln>
            <a:effectLst/>
          </p:spPr>
          <p:txBody>
            <a:bodyPr rot="0" spcFirstLastPara="0" vertOverflow="overflow" horzOverflow="overflow" vert="horz" wrap="square" lIns="68517" tIns="34259" rIns="68517" bIns="34259" numCol="1" spcCol="0" rtlCol="0" fromWordArt="0" anchor="ctr" anchorCtr="0" forceAA="0" compatLnSpc="1">
              <a:noAutofit/>
            </a:bodyPr>
            <a:lstStyle/>
            <a:p>
              <a:pPr algn="ctr" defTabSz="685165" fontAlgn="auto">
                <a:spcBef>
                  <a:spcPts val="0"/>
                </a:spcBef>
                <a:spcAft>
                  <a:spcPts val="0"/>
                </a:spcAft>
                <a:buClr>
                  <a:srgbClr val="CC9900"/>
                </a:buClr>
                <a:defRPr/>
              </a:pPr>
              <a:endParaRPr kumimoji="0" lang="zh-CN" altLang="en-US" sz="9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2" name="直接连接符 6"/>
            <p:cNvCxnSpPr/>
            <p:nvPr/>
          </p:nvCxnSpPr>
          <p:spPr bwMode="auto">
            <a:xfrm>
              <a:off x="475296" y="3427771"/>
              <a:ext cx="10694087" cy="0"/>
            </a:xfrm>
            <a:prstGeom prst="line">
              <a:avLst/>
            </a:prstGeom>
            <a:noFill/>
            <a:ln w="19050" cap="flat" cmpd="sng" algn="ctr">
              <a:solidFill>
                <a:schemeClr val="bg1">
                  <a:lumMod val="65000"/>
                </a:schemeClr>
              </a:solidFill>
              <a:prstDash val="dash"/>
              <a:round/>
              <a:headEnd type="none" w="med" len="med"/>
              <a:tailEnd type="none" w="med" len="med"/>
            </a:ln>
            <a:effectLst/>
          </p:spPr>
        </p:cxnSp>
        <p:sp>
          <p:nvSpPr>
            <p:cNvPr id="13" name="文本框 7"/>
            <p:cNvSpPr txBox="1"/>
            <p:nvPr/>
          </p:nvSpPr>
          <p:spPr>
            <a:xfrm>
              <a:off x="3839065" y="3576399"/>
              <a:ext cx="1934903" cy="430050"/>
            </a:xfrm>
            <a:prstGeom prst="rect">
              <a:avLst/>
            </a:prstGeom>
            <a:noFill/>
          </p:spPr>
          <p:txBody>
            <a:bodyPr vert="horz" wrap="none" rtlCol="0" anchor="ctr">
              <a:spAutoFit/>
            </a:bodyPr>
            <a:lstStyle/>
            <a:p>
              <a:pPr algn="ctr" defTabSz="685800" fontAlgn="auto">
                <a:spcBef>
                  <a:spcPts val="0"/>
                </a:spcBef>
                <a:spcAft>
                  <a:spcPts val="0"/>
                </a:spcAft>
                <a:defRPr/>
              </a:pPr>
              <a:r>
                <a:rPr kumimoji="0" lang="zh-CN" altLang="en-US" sz="1200" b="1"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云数据库服务上线</a:t>
              </a:r>
              <a:endParaRPr kumimoji="0" lang="en-US" altLang="zh-CN" sz="1200" b="1"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文本框 15"/>
            <p:cNvSpPr txBox="1"/>
            <p:nvPr/>
          </p:nvSpPr>
          <p:spPr>
            <a:xfrm>
              <a:off x="8645288" y="3587576"/>
              <a:ext cx="1514272" cy="430050"/>
            </a:xfrm>
            <a:prstGeom prst="rect">
              <a:avLst/>
            </a:prstGeom>
            <a:noFill/>
          </p:spPr>
          <p:txBody>
            <a:bodyPr vert="horz" wrap="none" rtlCol="0" anchor="ctr">
              <a:spAutoFit/>
            </a:bodyPr>
            <a:lstStyle/>
            <a:p>
              <a:pPr algn="ctr" defTabSz="685800" fontAlgn="auto">
                <a:spcBef>
                  <a:spcPts val="0"/>
                </a:spcBef>
                <a:spcAft>
                  <a:spcPts val="0"/>
                </a:spcAft>
                <a:defRPr/>
              </a:pPr>
              <a:r>
                <a:rPr kumimoji="0" lang="zh-CN" altLang="en-US" sz="1200" b="1"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计算产业生态</a:t>
              </a:r>
              <a:endParaRPr kumimoji="0" lang="en-US" altLang="zh-CN" sz="1200" b="1"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矩形 16"/>
            <p:cNvSpPr/>
            <p:nvPr/>
          </p:nvSpPr>
          <p:spPr bwMode="auto">
            <a:xfrm>
              <a:off x="1723785" y="4002616"/>
              <a:ext cx="5832491" cy="422006"/>
            </a:xfrm>
            <a:prstGeom prst="rect">
              <a:avLst/>
            </a:prstGeom>
            <a:solidFill>
              <a:schemeClr val="bg1">
                <a:lumMod val="85000"/>
              </a:schemeClr>
            </a:solidFill>
            <a:ln>
              <a:solidFill>
                <a:schemeClr val="tx1"/>
              </a:solidFill>
            </a:ln>
            <a:effectLst/>
          </p:spPr>
          <p:txBody>
            <a:bodyPr rot="0" spcFirstLastPara="0" vertOverflow="overflow" horzOverflow="overflow" vert="horz" wrap="square" lIns="68517" tIns="34259" rIns="68517" bIns="34259" numCol="1" spcCol="0" rtlCol="0" fromWordArt="0" anchor="ctr" anchorCtr="0" forceAA="0" compatLnSpc="1">
              <a:noAutofit/>
            </a:bodyPr>
            <a:lstStyle/>
            <a:p>
              <a:pPr algn="ctr" defTabSz="685165" fontAlgn="auto">
                <a:spcBef>
                  <a:spcPts val="0"/>
                </a:spcBef>
                <a:spcAft>
                  <a:spcPts val="0"/>
                </a:spcAft>
                <a:buClr>
                  <a:srgbClr val="CC9900"/>
                </a:buClr>
                <a:defRPr/>
              </a:pPr>
              <a:r>
                <a:rPr kumimoji="0" lang="en-US" altLang="zh-CN" sz="105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GaussDB(openGauss)</a:t>
              </a:r>
              <a:r>
                <a:rPr kumimoji="0" lang="zh-CN" altLang="en-US" sz="105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云服务</a:t>
              </a:r>
              <a:endParaRPr kumimoji="0" lang="en-US" altLang="zh-CN" sz="105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defTabSz="685165" fontAlgn="auto">
                <a:spcBef>
                  <a:spcPts val="0"/>
                </a:spcBef>
                <a:spcAft>
                  <a:spcPts val="0"/>
                </a:spcAft>
                <a:buClr>
                  <a:srgbClr val="CC9900"/>
                </a:buClr>
                <a:defRPr/>
              </a:pPr>
              <a:r>
                <a:rPr kumimoji="0" lang="zh-CN" altLang="en-US" sz="105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（分布式交易型数据库）</a:t>
              </a:r>
              <a:endParaRPr kumimoji="0" lang="zh-CN" altLang="en-US" sz="105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上箭头 72"/>
            <p:cNvSpPr/>
            <p:nvPr/>
          </p:nvSpPr>
          <p:spPr>
            <a:xfrm>
              <a:off x="9088586" y="4871927"/>
              <a:ext cx="396919" cy="203119"/>
            </a:xfrm>
            <a:prstGeom prst="upArrow">
              <a:avLst/>
            </a:prstGeom>
            <a:solidFill>
              <a:schemeClr val="bg1">
                <a:lumMod val="50000"/>
                <a:lumOff val="50000"/>
              </a:schemeClr>
            </a:solidFill>
            <a:ln w="6350" cap="flat" cmpd="sng" algn="ctr">
              <a:solidFill>
                <a:schemeClr val="tx1">
                  <a:lumMod val="50000"/>
                  <a:lumOff val="50000"/>
                </a:schemeClr>
              </a:solidFill>
              <a:prstDash val="solid"/>
              <a:miter lim="800000"/>
            </a:ln>
            <a:effectLst/>
          </p:spPr>
          <p:txBody>
            <a:bodyPr rtlCol="0" anchor="ctr"/>
            <a:lstStyle/>
            <a:p>
              <a:pPr algn="ctr" defTabSz="685800" fontAlgn="auto">
                <a:spcBef>
                  <a:spcPts val="0"/>
                </a:spcBef>
                <a:spcAft>
                  <a:spcPts val="0"/>
                </a:spcAft>
                <a:defRPr/>
              </a:pPr>
              <a:endParaRPr kumimoji="0" lang="zh-CN" altLang="en-US" sz="900"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上箭头 73"/>
            <p:cNvSpPr/>
            <p:nvPr/>
          </p:nvSpPr>
          <p:spPr>
            <a:xfrm>
              <a:off x="3601473" y="4839263"/>
              <a:ext cx="433122" cy="222681"/>
            </a:xfrm>
            <a:prstGeom prst="upArrow">
              <a:avLst/>
            </a:prstGeom>
            <a:solidFill>
              <a:schemeClr val="bg1">
                <a:lumMod val="50000"/>
                <a:lumOff val="50000"/>
              </a:schemeClr>
            </a:solidFill>
            <a:ln w="6350" cap="flat" cmpd="sng" algn="ctr">
              <a:solidFill>
                <a:schemeClr val="tx1">
                  <a:lumMod val="50000"/>
                  <a:lumOff val="50000"/>
                </a:schemeClr>
              </a:solidFill>
              <a:prstDash val="solid"/>
              <a:miter lim="800000"/>
            </a:ln>
            <a:effectLst/>
          </p:spPr>
          <p:txBody>
            <a:bodyPr rtlCol="0" anchor="ctr"/>
            <a:lstStyle/>
            <a:p>
              <a:pPr algn="ctr" defTabSz="685800" fontAlgn="auto">
                <a:spcBef>
                  <a:spcPts val="0"/>
                </a:spcBef>
                <a:spcAft>
                  <a:spcPts val="0"/>
                </a:spcAft>
                <a:defRPr/>
              </a:pPr>
              <a:endParaRPr kumimoji="0" lang="zh-CN" altLang="en-US" sz="900"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上箭头 74"/>
            <p:cNvSpPr/>
            <p:nvPr/>
          </p:nvSpPr>
          <p:spPr>
            <a:xfrm>
              <a:off x="9088586" y="3267302"/>
              <a:ext cx="980998" cy="250619"/>
            </a:xfrm>
            <a:prstGeom prst="upArrow">
              <a:avLst/>
            </a:prstGeom>
            <a:solidFill>
              <a:srgbClr val="00B050"/>
            </a:solidFill>
            <a:ln w="6350" cap="flat" cmpd="sng" algn="ctr">
              <a:solidFill>
                <a:schemeClr val="tx1">
                  <a:lumMod val="50000"/>
                  <a:lumOff val="50000"/>
                </a:schemeClr>
              </a:solidFill>
              <a:prstDash val="solid"/>
              <a:miter lim="800000"/>
            </a:ln>
            <a:effectLst/>
          </p:spPr>
          <p:txBody>
            <a:bodyPr rtlCol="0" anchor="ctr"/>
            <a:lstStyle/>
            <a:p>
              <a:pPr algn="ctr" defTabSz="685800" fontAlgn="auto">
                <a:spcBef>
                  <a:spcPts val="0"/>
                </a:spcBef>
                <a:spcAft>
                  <a:spcPts val="0"/>
                </a:spcAft>
                <a:defRPr/>
              </a:pPr>
              <a:endParaRPr kumimoji="0" lang="zh-CN" altLang="en-US" sz="900"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上箭头 75"/>
            <p:cNvSpPr/>
            <p:nvPr/>
          </p:nvSpPr>
          <p:spPr>
            <a:xfrm>
              <a:off x="3753319" y="3267302"/>
              <a:ext cx="980998" cy="250619"/>
            </a:xfrm>
            <a:prstGeom prst="upArrow">
              <a:avLst/>
            </a:prstGeom>
            <a:solidFill>
              <a:srgbClr val="00B050"/>
            </a:solidFill>
            <a:ln w="6350" cap="flat" cmpd="sng" algn="ctr">
              <a:solidFill>
                <a:schemeClr val="tx1">
                  <a:lumMod val="50000"/>
                  <a:lumOff val="50000"/>
                </a:schemeClr>
              </a:solidFill>
              <a:prstDash val="solid"/>
              <a:miter lim="800000"/>
            </a:ln>
            <a:effectLst/>
          </p:spPr>
          <p:txBody>
            <a:bodyPr rtlCol="0" anchor="ctr"/>
            <a:lstStyle/>
            <a:p>
              <a:pPr algn="ctr" defTabSz="685800" fontAlgn="auto">
                <a:spcBef>
                  <a:spcPts val="0"/>
                </a:spcBef>
                <a:spcAft>
                  <a:spcPts val="0"/>
                </a:spcAft>
                <a:defRPr/>
              </a:pPr>
              <a:endParaRPr kumimoji="0" lang="zh-CN" altLang="en-US" sz="900"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2" name="组合 76"/>
            <p:cNvGrpSpPr/>
            <p:nvPr/>
          </p:nvGrpSpPr>
          <p:grpSpPr>
            <a:xfrm>
              <a:off x="1482845" y="1505915"/>
              <a:ext cx="9684752" cy="1737365"/>
              <a:chOff x="907288" y="1103178"/>
              <a:chExt cx="9447556" cy="995664"/>
            </a:xfrm>
          </p:grpSpPr>
          <p:sp>
            <p:nvSpPr>
              <p:cNvPr id="23" name="矩形 60"/>
              <p:cNvSpPr/>
              <p:nvPr/>
            </p:nvSpPr>
            <p:spPr bwMode="auto">
              <a:xfrm>
                <a:off x="907288" y="1103178"/>
                <a:ext cx="4419489" cy="995664"/>
              </a:xfrm>
              <a:prstGeom prst="rect">
                <a:avLst/>
              </a:prstGeom>
              <a:noFill/>
              <a:ln w="9525" cap="flat" cmpd="sng" algn="ctr">
                <a:solidFill>
                  <a:schemeClr val="bg1">
                    <a:lumMod val="50000"/>
                  </a:schemeClr>
                </a:solidFill>
                <a:prstDash val="solid"/>
                <a:round/>
                <a:headEnd type="none" w="med" len="med"/>
                <a:tailEnd type="none" w="med" len="med"/>
              </a:ln>
              <a:effectLst/>
            </p:spPr>
            <p:txBody>
              <a:bodyPr vert="horz" wrap="square" lIns="68517" tIns="34259" rIns="68517" bIns="34259" numCol="1" rtlCol="0" anchor="ctr" anchorCtr="0" compatLnSpc="1"/>
              <a:lstStyle/>
              <a:p>
                <a:pPr algn="ctr" defTabSz="685800" fontAlgn="auto">
                  <a:spcBef>
                    <a:spcPts val="0"/>
                  </a:spcBef>
                  <a:spcAft>
                    <a:spcPts val="0"/>
                  </a:spcAft>
                  <a:buClr>
                    <a:srgbClr val="CC9900"/>
                  </a:buClr>
                  <a:defRPr/>
                </a:pPr>
                <a:endParaRPr kumimoji="0" lang="zh-CN" altLang="en-US" sz="9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矩形 60"/>
              <p:cNvSpPr/>
              <p:nvPr/>
            </p:nvSpPr>
            <p:spPr bwMode="auto">
              <a:xfrm>
                <a:off x="5403990" y="1105988"/>
                <a:ext cx="2072790" cy="992777"/>
              </a:xfrm>
              <a:prstGeom prst="rect">
                <a:avLst/>
              </a:prstGeom>
              <a:noFill/>
              <a:ln w="9525" cap="flat" cmpd="sng" algn="ctr">
                <a:solidFill>
                  <a:schemeClr val="bg1">
                    <a:lumMod val="50000"/>
                  </a:schemeClr>
                </a:solidFill>
                <a:prstDash val="solid"/>
                <a:round/>
                <a:headEnd type="none" w="med" len="med"/>
                <a:tailEnd type="none" w="med" len="med"/>
              </a:ln>
              <a:effectLst/>
            </p:spPr>
            <p:txBody>
              <a:bodyPr vert="horz" wrap="square" lIns="68517" tIns="34259" rIns="68517" bIns="34259" numCol="1" rtlCol="0" anchor="ctr" anchorCtr="0" compatLnSpc="1"/>
              <a:lstStyle/>
              <a:p>
                <a:pPr algn="ctr" defTabSz="685800" fontAlgn="auto">
                  <a:spcBef>
                    <a:spcPts val="0"/>
                  </a:spcBef>
                  <a:spcAft>
                    <a:spcPts val="0"/>
                  </a:spcAft>
                  <a:buClr>
                    <a:srgbClr val="CC9900"/>
                  </a:buClr>
                  <a:defRPr/>
                </a:pPr>
                <a:endParaRPr kumimoji="0" lang="zh-CN" altLang="en-US" sz="9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矩形 60"/>
              <p:cNvSpPr/>
              <p:nvPr/>
            </p:nvSpPr>
            <p:spPr bwMode="auto">
              <a:xfrm>
                <a:off x="6254746" y="1432014"/>
                <a:ext cx="456538" cy="499555"/>
              </a:xfrm>
              <a:prstGeom prst="rect">
                <a:avLst/>
              </a:prstGeom>
              <a:noFill/>
              <a:ln w="9525" cap="flat" cmpd="sng" algn="ctr">
                <a:solidFill>
                  <a:srgbClr val="000000"/>
                </a:solidFill>
                <a:prstDash val="solid"/>
                <a:round/>
                <a:headEnd type="none" w="med" len="med"/>
                <a:tailEnd type="none" w="med" len="med"/>
              </a:ln>
              <a:effectLst/>
            </p:spPr>
            <p:txBody>
              <a:bodyPr vert="horz" wrap="square" lIns="68517" tIns="34259" rIns="68517" bIns="34259" numCol="1" rtlCol="0" anchor="ctr" anchorCtr="0" compatLnSpc="1"/>
              <a:lstStyle/>
              <a:p>
                <a:pPr algn="ctr" defTabSz="685800" fontAlgn="auto">
                  <a:spcBef>
                    <a:spcPts val="0"/>
                  </a:spcBef>
                  <a:spcAft>
                    <a:spcPts val="0"/>
                  </a:spcAft>
                  <a:buClr>
                    <a:srgbClr val="CC9900"/>
                  </a:buClr>
                  <a:defRPr/>
                </a:pPr>
                <a:r>
                  <a:rPr kumimoji="0" lang="zh-CN" altLang="en-US" sz="9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终端云</a:t>
                </a:r>
                <a:endParaRPr kumimoji="0" lang="zh-CN" altLang="en-US" sz="9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TextBox 19"/>
              <p:cNvSpPr txBox="1"/>
              <p:nvPr/>
            </p:nvSpPr>
            <p:spPr>
              <a:xfrm>
                <a:off x="5602401" y="1211095"/>
                <a:ext cx="1682752" cy="164381"/>
              </a:xfrm>
              <a:prstGeom prst="rect">
                <a:avLst/>
              </a:prstGeom>
              <a:noFill/>
            </p:spPr>
            <p:txBody>
              <a:bodyPr wrap="square" lIns="0" tIns="0" rIns="0" bIns="0" rtlCol="0" anchor="ctr">
                <a:spAutoFit/>
              </a:bodyPr>
              <a:lstStyle/>
              <a:p>
                <a:pPr algn="ctr" defTabSz="913765" fontAlgn="auto">
                  <a:spcBef>
                    <a:spcPts val="0"/>
                  </a:spcBef>
                  <a:spcAft>
                    <a:spcPts val="0"/>
                  </a:spcAft>
                  <a:buClr>
                    <a:srgbClr val="CC9900"/>
                  </a:buClr>
                  <a:defRPr/>
                </a:pPr>
                <a:r>
                  <a:rPr kumimoji="0" lang="zh-CN" altLang="en-US" sz="12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华为内部业务</a:t>
                </a:r>
                <a:endParaRPr kumimoji="0" lang="zh-CN" altLang="en-US" sz="12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TextBox 19"/>
              <p:cNvSpPr txBox="1"/>
              <p:nvPr/>
            </p:nvSpPr>
            <p:spPr>
              <a:xfrm>
                <a:off x="1879184" y="1209292"/>
                <a:ext cx="2342395" cy="164381"/>
              </a:xfrm>
              <a:prstGeom prst="rect">
                <a:avLst/>
              </a:prstGeom>
              <a:noFill/>
            </p:spPr>
            <p:txBody>
              <a:bodyPr wrap="square" lIns="0" tIns="0" rIns="0" bIns="0" rtlCol="0" anchor="ctr">
                <a:spAutoFit/>
              </a:bodyPr>
              <a:lstStyle/>
              <a:p>
                <a:pPr algn="ctr" defTabSz="913765" fontAlgn="auto">
                  <a:spcBef>
                    <a:spcPts val="0"/>
                  </a:spcBef>
                  <a:spcAft>
                    <a:spcPts val="0"/>
                  </a:spcAft>
                  <a:buClr>
                    <a:srgbClr val="CC9900"/>
                  </a:buClr>
                  <a:defRPr/>
                </a:pPr>
                <a:r>
                  <a:rPr kumimoji="0" lang="zh-CN" altLang="en-US" sz="12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公有云</a:t>
                </a:r>
                <a:r>
                  <a:rPr kumimoji="0" lang="en-US" altLang="zh-CN" sz="12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r>
                  <a:rPr kumimoji="0" lang="zh-CN" altLang="en-US" sz="12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混合云</a:t>
                </a:r>
                <a:endParaRPr kumimoji="0" lang="zh-CN" altLang="en-US" sz="12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矩形 60"/>
              <p:cNvSpPr/>
              <p:nvPr/>
            </p:nvSpPr>
            <p:spPr bwMode="auto">
              <a:xfrm>
                <a:off x="1036034" y="1446277"/>
                <a:ext cx="729723" cy="586807"/>
              </a:xfrm>
              <a:prstGeom prst="rect">
                <a:avLst/>
              </a:prstGeom>
              <a:noFill/>
              <a:ln w="9525" cap="flat" cmpd="sng" algn="ctr">
                <a:solidFill>
                  <a:srgbClr val="000000"/>
                </a:solidFill>
                <a:prstDash val="solid"/>
                <a:round/>
                <a:headEnd type="none" w="med" len="med"/>
                <a:tailEnd type="none" w="med" len="med"/>
              </a:ln>
              <a:effectLst/>
            </p:spPr>
            <p:txBody>
              <a:bodyPr vert="horz" wrap="square" lIns="68517" tIns="34259" rIns="68517" bIns="34259" numCol="1" rtlCol="0" anchor="t" anchorCtr="0" compatLnSpc="1"/>
              <a:lstStyle/>
              <a:p>
                <a:pPr algn="ctr" defTabSz="685800" fontAlgn="auto">
                  <a:spcBef>
                    <a:spcPts val="0"/>
                  </a:spcBef>
                  <a:spcAft>
                    <a:spcPts val="0"/>
                  </a:spcAft>
                  <a:buClr>
                    <a:srgbClr val="CC9900"/>
                  </a:buClr>
                  <a:defRPr/>
                </a:pPr>
                <a:endParaRPr kumimoji="0" lang="zh-CN" altLang="en-US" sz="9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矩形 60"/>
              <p:cNvSpPr/>
              <p:nvPr/>
            </p:nvSpPr>
            <p:spPr bwMode="auto">
              <a:xfrm>
                <a:off x="3100292" y="1442374"/>
                <a:ext cx="928039" cy="586807"/>
              </a:xfrm>
              <a:prstGeom prst="rect">
                <a:avLst/>
              </a:prstGeom>
              <a:noFill/>
              <a:ln w="9525" cap="flat" cmpd="sng" algn="ctr">
                <a:solidFill>
                  <a:srgbClr val="000000"/>
                </a:solidFill>
                <a:prstDash val="solid"/>
                <a:round/>
                <a:headEnd type="none" w="med" len="med"/>
                <a:tailEnd type="none" w="med" len="med"/>
              </a:ln>
              <a:effectLst/>
            </p:spPr>
            <p:txBody>
              <a:bodyPr vert="horz" wrap="square" lIns="68517" tIns="34259" rIns="68517" bIns="34259" numCol="1" rtlCol="0" anchor="t" anchorCtr="0" compatLnSpc="1"/>
              <a:lstStyle/>
              <a:p>
                <a:pPr algn="ctr" defTabSz="685800" fontAlgn="auto">
                  <a:spcBef>
                    <a:spcPts val="0"/>
                  </a:spcBef>
                  <a:spcAft>
                    <a:spcPts val="0"/>
                  </a:spcAft>
                  <a:buClr>
                    <a:srgbClr val="CC9900"/>
                  </a:buClr>
                  <a:defRPr/>
                </a:pPr>
                <a:endParaRPr kumimoji="0" lang="zh-CN" altLang="en-US" sz="9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矩形 60"/>
              <p:cNvSpPr/>
              <p:nvPr/>
            </p:nvSpPr>
            <p:spPr bwMode="auto">
              <a:xfrm>
                <a:off x="2129509" y="1446277"/>
                <a:ext cx="729723" cy="586807"/>
              </a:xfrm>
              <a:prstGeom prst="rect">
                <a:avLst/>
              </a:prstGeom>
              <a:noFill/>
              <a:ln w="9525" cap="flat" cmpd="sng" algn="ctr">
                <a:solidFill>
                  <a:srgbClr val="000000"/>
                </a:solidFill>
                <a:prstDash val="solid"/>
                <a:round/>
                <a:headEnd type="none" w="med" len="med"/>
                <a:tailEnd type="none" w="med" len="med"/>
              </a:ln>
              <a:effectLst/>
            </p:spPr>
            <p:txBody>
              <a:bodyPr vert="horz" wrap="square" lIns="68517" tIns="34259" rIns="68517" bIns="34259" numCol="1" rtlCol="0" anchor="t" anchorCtr="0" compatLnSpc="1"/>
              <a:lstStyle/>
              <a:p>
                <a:pPr algn="ctr" defTabSz="685800" fontAlgn="auto">
                  <a:spcBef>
                    <a:spcPts val="450"/>
                  </a:spcBef>
                  <a:spcAft>
                    <a:spcPts val="0"/>
                  </a:spcAft>
                  <a:buClr>
                    <a:srgbClr val="CC9900"/>
                  </a:buClr>
                  <a:defRPr/>
                </a:pPr>
                <a:endParaRPr kumimoji="0" lang="zh-CN" altLang="en-US" sz="9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矩形 60"/>
              <p:cNvSpPr/>
              <p:nvPr/>
            </p:nvSpPr>
            <p:spPr bwMode="auto">
              <a:xfrm>
                <a:off x="4225851" y="1446277"/>
                <a:ext cx="818318" cy="586807"/>
              </a:xfrm>
              <a:prstGeom prst="rect">
                <a:avLst/>
              </a:prstGeom>
              <a:noFill/>
              <a:ln w="9525" cap="flat" cmpd="sng" algn="ctr">
                <a:solidFill>
                  <a:srgbClr val="000000"/>
                </a:solidFill>
                <a:prstDash val="solid"/>
                <a:round/>
                <a:headEnd type="none" w="med" len="med"/>
                <a:tailEnd type="none" w="med" len="med"/>
              </a:ln>
              <a:effectLst/>
            </p:spPr>
            <p:txBody>
              <a:bodyPr vert="horz" wrap="square" lIns="68517" tIns="34259" rIns="68517" bIns="34259" numCol="1" rtlCol="0" anchor="t" anchorCtr="0" compatLnSpc="1"/>
              <a:lstStyle/>
              <a:p>
                <a:pPr algn="ctr" defTabSz="685800" fontAlgn="auto">
                  <a:spcBef>
                    <a:spcPts val="0"/>
                  </a:spcBef>
                  <a:spcAft>
                    <a:spcPts val="0"/>
                  </a:spcAft>
                  <a:buClr>
                    <a:srgbClr val="CC9900"/>
                  </a:buClr>
                  <a:defRPr/>
                </a:pPr>
                <a:endParaRPr kumimoji="0" lang="zh-CN" altLang="en-US" sz="9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矩形 60"/>
              <p:cNvSpPr/>
              <p:nvPr/>
            </p:nvSpPr>
            <p:spPr bwMode="auto">
              <a:xfrm>
                <a:off x="5577521" y="1432014"/>
                <a:ext cx="456538" cy="499555"/>
              </a:xfrm>
              <a:prstGeom prst="rect">
                <a:avLst/>
              </a:prstGeom>
              <a:noFill/>
              <a:ln w="9525" cap="flat" cmpd="sng" algn="ctr">
                <a:solidFill>
                  <a:srgbClr val="000000"/>
                </a:solidFill>
                <a:prstDash val="solid"/>
                <a:round/>
                <a:headEnd type="none" w="med" len="med"/>
                <a:tailEnd type="none" w="med" len="med"/>
              </a:ln>
              <a:effectLst/>
            </p:spPr>
            <p:txBody>
              <a:bodyPr vert="horz" wrap="square" lIns="68517" tIns="34259" rIns="68517" bIns="34259" numCol="1" rtlCol="0" anchor="ctr" anchorCtr="0" compatLnSpc="1"/>
              <a:lstStyle/>
              <a:p>
                <a:pPr algn="ctr" defTabSz="685800" fontAlgn="auto">
                  <a:spcBef>
                    <a:spcPts val="0"/>
                  </a:spcBef>
                  <a:spcAft>
                    <a:spcPts val="0"/>
                  </a:spcAft>
                  <a:buClr>
                    <a:srgbClr val="CC9900"/>
                  </a:buClr>
                  <a:defRPr/>
                </a:pPr>
                <a:r>
                  <a:rPr kumimoji="0" lang="zh-CN" altLang="en-US" sz="9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运营商</a:t>
                </a:r>
                <a:endParaRPr kumimoji="0" lang="zh-CN" altLang="en-US" sz="9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矩形 60"/>
              <p:cNvSpPr/>
              <p:nvPr/>
            </p:nvSpPr>
            <p:spPr bwMode="auto">
              <a:xfrm>
                <a:off x="7626442" y="1105988"/>
                <a:ext cx="2728402" cy="992777"/>
              </a:xfrm>
              <a:prstGeom prst="rect">
                <a:avLst/>
              </a:prstGeom>
              <a:noFill/>
              <a:ln w="9525" cap="flat" cmpd="sng" algn="ctr">
                <a:solidFill>
                  <a:schemeClr val="bg1">
                    <a:lumMod val="50000"/>
                  </a:schemeClr>
                </a:solidFill>
                <a:prstDash val="solid"/>
                <a:round/>
                <a:headEnd type="none" w="med" len="med"/>
                <a:tailEnd type="none" w="med" len="med"/>
              </a:ln>
              <a:effectLst/>
            </p:spPr>
            <p:txBody>
              <a:bodyPr vert="horz" wrap="square" lIns="68517" tIns="34259" rIns="68517" bIns="34259" numCol="1" rtlCol="0" anchor="ctr" anchorCtr="0" compatLnSpc="1"/>
              <a:lstStyle/>
              <a:p>
                <a:pPr algn="ctr" defTabSz="685800" fontAlgn="auto">
                  <a:spcBef>
                    <a:spcPts val="0"/>
                  </a:spcBef>
                  <a:spcAft>
                    <a:spcPts val="0"/>
                  </a:spcAft>
                  <a:buClr>
                    <a:srgbClr val="CC9900"/>
                  </a:buClr>
                  <a:defRPr/>
                </a:pPr>
                <a:endParaRPr kumimoji="0" lang="zh-CN" altLang="en-US" sz="9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TextBox 19"/>
              <p:cNvSpPr txBox="1"/>
              <p:nvPr/>
            </p:nvSpPr>
            <p:spPr>
              <a:xfrm>
                <a:off x="8076322" y="1211095"/>
                <a:ext cx="1682752" cy="164381"/>
              </a:xfrm>
              <a:prstGeom prst="rect">
                <a:avLst/>
              </a:prstGeom>
              <a:noFill/>
            </p:spPr>
            <p:txBody>
              <a:bodyPr wrap="square" lIns="0" tIns="0" rIns="0" bIns="0" rtlCol="0" anchor="ctr">
                <a:spAutoFit/>
              </a:bodyPr>
              <a:lstStyle/>
              <a:p>
                <a:pPr algn="ctr" defTabSz="913765" fontAlgn="auto">
                  <a:spcBef>
                    <a:spcPts val="0"/>
                  </a:spcBef>
                  <a:spcAft>
                    <a:spcPts val="0"/>
                  </a:spcAft>
                  <a:buClr>
                    <a:srgbClr val="CC9900"/>
                  </a:buClr>
                  <a:defRPr/>
                </a:pPr>
                <a:r>
                  <a:rPr kumimoji="0" lang="zh-CN" altLang="en-US" sz="12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合作伙伴</a:t>
                </a:r>
                <a:endParaRPr kumimoji="0" lang="zh-CN" altLang="en-US" sz="12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矩形 60"/>
              <p:cNvSpPr/>
              <p:nvPr/>
            </p:nvSpPr>
            <p:spPr bwMode="auto">
              <a:xfrm>
                <a:off x="6931972" y="1432014"/>
                <a:ext cx="456538" cy="499555"/>
              </a:xfrm>
              <a:prstGeom prst="rect">
                <a:avLst/>
              </a:prstGeom>
              <a:noFill/>
              <a:ln w="9525" cap="flat" cmpd="sng" algn="ctr">
                <a:solidFill>
                  <a:srgbClr val="000000"/>
                </a:solidFill>
                <a:prstDash val="solid"/>
                <a:round/>
                <a:headEnd type="none" w="med" len="med"/>
                <a:tailEnd type="none" w="med" len="med"/>
              </a:ln>
              <a:effectLst/>
            </p:spPr>
            <p:txBody>
              <a:bodyPr vert="horz" wrap="square" lIns="68517" tIns="34259" rIns="68517" bIns="34259" numCol="1" rtlCol="0" anchor="ctr" anchorCtr="0" compatLnSpc="1"/>
              <a:lstStyle/>
              <a:p>
                <a:pPr algn="ctr" defTabSz="685800" fontAlgn="auto">
                  <a:spcBef>
                    <a:spcPts val="0"/>
                  </a:spcBef>
                  <a:spcAft>
                    <a:spcPts val="0"/>
                  </a:spcAft>
                  <a:buClr>
                    <a:srgbClr val="CC9900"/>
                  </a:buClr>
                  <a:defRPr/>
                </a:pPr>
                <a:r>
                  <a:rPr kumimoji="0" lang="zh-CN" altLang="en-US" sz="9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内部</a:t>
                </a:r>
                <a:endParaRPr kumimoji="0" lang="en-US" altLang="zh-CN" sz="9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defTabSz="685800" fontAlgn="auto">
                  <a:spcBef>
                    <a:spcPts val="0"/>
                  </a:spcBef>
                  <a:spcAft>
                    <a:spcPts val="0"/>
                  </a:spcAft>
                  <a:buClr>
                    <a:srgbClr val="CC9900"/>
                  </a:buClr>
                  <a:defRPr/>
                </a:pPr>
                <a:r>
                  <a:rPr kumimoji="0" lang="en-US" altLang="zh-CN" sz="9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IT</a:t>
                </a:r>
                <a:endParaRPr kumimoji="0" lang="zh-CN" altLang="en-US" sz="9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37" name="组合 77"/>
            <p:cNvGrpSpPr/>
            <p:nvPr/>
          </p:nvGrpSpPr>
          <p:grpSpPr>
            <a:xfrm>
              <a:off x="1482846" y="5153924"/>
              <a:ext cx="9684754" cy="1034713"/>
              <a:chOff x="923731" y="3698374"/>
              <a:chExt cx="6553049" cy="817142"/>
            </a:xfrm>
          </p:grpSpPr>
          <p:sp>
            <p:nvSpPr>
              <p:cNvPr id="38" name="矩形 104"/>
              <p:cNvSpPr/>
              <p:nvPr/>
            </p:nvSpPr>
            <p:spPr bwMode="auto">
              <a:xfrm>
                <a:off x="923731" y="3698374"/>
                <a:ext cx="6553049" cy="817142"/>
              </a:xfrm>
              <a:prstGeom prst="rect">
                <a:avLst/>
              </a:prstGeom>
              <a:solidFill>
                <a:schemeClr val="bg1">
                  <a:lumMod val="10000"/>
                  <a:lumOff val="90000"/>
                </a:schemeClr>
              </a:solidFill>
              <a:ln w="19050" cap="flat" cmpd="sng" algn="ctr">
                <a:solidFill>
                  <a:schemeClr val="bg1">
                    <a:lumMod val="65000"/>
                  </a:schemeClr>
                </a:solidFill>
                <a:prstDash val="solid"/>
                <a:round/>
                <a:headEnd type="none" w="med" len="med"/>
                <a:tailEnd type="none" w="med" len="med"/>
              </a:ln>
              <a:effectLst/>
            </p:spPr>
            <p:txBody>
              <a:bodyPr vert="horz" wrap="square" lIns="68517" tIns="34259" rIns="68517" bIns="34259" numCol="1" rtlCol="0" anchor="t" anchorCtr="0" compatLnSpc="1"/>
              <a:lstStyle/>
              <a:p>
                <a:pPr algn="ctr" defTabSz="913765" fontAlgn="auto">
                  <a:spcBef>
                    <a:spcPts val="0"/>
                  </a:spcBef>
                  <a:spcAft>
                    <a:spcPts val="0"/>
                  </a:spcAft>
                  <a:buClr>
                    <a:srgbClr val="CC9900"/>
                  </a:buClr>
                  <a:defRPr/>
                </a:pPr>
                <a:endParaRPr kumimoji="0" lang="zh-CN" altLang="en-US" sz="9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TextBox 19"/>
              <p:cNvSpPr txBox="1"/>
              <p:nvPr/>
            </p:nvSpPr>
            <p:spPr>
              <a:xfrm>
                <a:off x="2998088" y="3749344"/>
                <a:ext cx="2791082" cy="226520"/>
              </a:xfrm>
              <a:prstGeom prst="rect">
                <a:avLst/>
              </a:prstGeom>
              <a:noFill/>
            </p:spPr>
            <p:txBody>
              <a:bodyPr wrap="square" lIns="0" tIns="0" rIns="0" bIns="0" rtlCol="0" anchor="ctr">
                <a:spAutoFit/>
              </a:bodyPr>
              <a:lstStyle/>
              <a:p>
                <a:pPr algn="ctr" defTabSz="913765" fontAlgn="auto">
                  <a:spcBef>
                    <a:spcPts val="0"/>
                  </a:spcBef>
                  <a:spcAft>
                    <a:spcPts val="0"/>
                  </a:spcAft>
                  <a:buClr>
                    <a:srgbClr val="CC9900"/>
                  </a:buClr>
                  <a:defRPr/>
                </a:pPr>
                <a:r>
                  <a:rPr kumimoji="0" lang="en-US" altLang="zh-CN" sz="12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GaussDB Kernel</a:t>
                </a:r>
                <a:r>
                  <a:rPr kumimoji="0" lang="zh-CN" altLang="en-US" sz="12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开发项目</a:t>
                </a:r>
                <a:endParaRPr kumimoji="0" lang="zh-CN" altLang="en-US" sz="12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矩形 60"/>
              <p:cNvSpPr/>
              <p:nvPr/>
            </p:nvSpPr>
            <p:spPr bwMode="auto">
              <a:xfrm>
                <a:off x="1145258" y="4111289"/>
                <a:ext cx="1340003" cy="316451"/>
              </a:xfrm>
              <a:prstGeom prst="rect">
                <a:avLst/>
              </a:prstGeom>
              <a:noFill/>
              <a:ln w="9525" cap="flat" cmpd="sng" algn="ctr">
                <a:solidFill>
                  <a:srgbClr val="000000"/>
                </a:solidFill>
                <a:prstDash val="solid"/>
                <a:round/>
                <a:headEnd type="none" w="med" len="med"/>
                <a:tailEnd type="none" w="med" len="med"/>
              </a:ln>
              <a:effectLst/>
            </p:spPr>
            <p:txBody>
              <a:bodyPr vert="horz" wrap="square" lIns="68517" tIns="34259" rIns="68517" bIns="34259" numCol="1" rtlCol="0" anchor="ctr" anchorCtr="0" compatLnSpc="1"/>
              <a:lstStyle/>
              <a:p>
                <a:pPr algn="ctr" defTabSz="685800" fontAlgn="auto">
                  <a:spcBef>
                    <a:spcPts val="0"/>
                  </a:spcBef>
                  <a:spcAft>
                    <a:spcPts val="0"/>
                  </a:spcAft>
                  <a:buClr>
                    <a:srgbClr val="CC9900"/>
                  </a:buClr>
                  <a:defRPr/>
                </a:pPr>
                <a:r>
                  <a:rPr kumimoji="0" lang="zh-CN" altLang="en-US" sz="1200" b="1"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高性能</a:t>
                </a:r>
                <a:endParaRPr kumimoji="0" lang="zh-CN" altLang="en-US" sz="1200" b="1"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矩形 60"/>
              <p:cNvSpPr/>
              <p:nvPr/>
            </p:nvSpPr>
            <p:spPr bwMode="auto">
              <a:xfrm>
                <a:off x="3537440" y="4119537"/>
                <a:ext cx="1340003" cy="316451"/>
              </a:xfrm>
              <a:prstGeom prst="rect">
                <a:avLst/>
              </a:prstGeom>
              <a:noFill/>
              <a:ln w="9525" cap="flat" cmpd="sng" algn="ctr">
                <a:solidFill>
                  <a:srgbClr val="000000"/>
                </a:solidFill>
                <a:prstDash val="solid"/>
                <a:round/>
                <a:headEnd type="none" w="med" len="med"/>
                <a:tailEnd type="none" w="med" len="med"/>
              </a:ln>
              <a:effectLst/>
            </p:spPr>
            <p:txBody>
              <a:bodyPr vert="horz" wrap="square" lIns="68517" tIns="34259" rIns="68517" bIns="34259" numCol="1" rtlCol="0" anchor="ctr" anchorCtr="0" compatLnSpc="1"/>
              <a:lstStyle/>
              <a:p>
                <a:pPr algn="ctr" defTabSz="685800" fontAlgn="auto">
                  <a:spcBef>
                    <a:spcPts val="0"/>
                  </a:spcBef>
                  <a:spcAft>
                    <a:spcPts val="0"/>
                  </a:spcAft>
                  <a:buClr>
                    <a:srgbClr val="CC9900"/>
                  </a:buClr>
                  <a:defRPr/>
                </a:pPr>
                <a:r>
                  <a:rPr kumimoji="0" lang="zh-CN" altLang="en-US" sz="1200" b="1"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高可用</a:t>
                </a:r>
                <a:endParaRPr kumimoji="0" lang="zh-CN" altLang="en-US" sz="1200" b="1"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矩形 60"/>
              <p:cNvSpPr/>
              <p:nvPr/>
            </p:nvSpPr>
            <p:spPr bwMode="auto">
              <a:xfrm>
                <a:off x="5929623" y="4107102"/>
                <a:ext cx="1340003" cy="316451"/>
              </a:xfrm>
              <a:prstGeom prst="rect">
                <a:avLst/>
              </a:prstGeom>
              <a:noFill/>
              <a:ln w="9525" cap="flat" cmpd="sng" algn="ctr">
                <a:solidFill>
                  <a:srgbClr val="000000"/>
                </a:solidFill>
                <a:prstDash val="solid"/>
                <a:round/>
                <a:headEnd type="none" w="med" len="med"/>
                <a:tailEnd type="none" w="med" len="med"/>
              </a:ln>
              <a:effectLst/>
            </p:spPr>
            <p:txBody>
              <a:bodyPr vert="horz" wrap="square" lIns="68517" tIns="34259" rIns="68517" bIns="34259" numCol="1" rtlCol="0" anchor="ctr" anchorCtr="0" compatLnSpc="1"/>
              <a:lstStyle/>
              <a:p>
                <a:pPr algn="ctr" defTabSz="685800" fontAlgn="auto">
                  <a:spcBef>
                    <a:spcPts val="0"/>
                  </a:spcBef>
                  <a:spcAft>
                    <a:spcPts val="0"/>
                  </a:spcAft>
                  <a:buClr>
                    <a:srgbClr val="CC9900"/>
                  </a:buClr>
                  <a:defRPr/>
                </a:pPr>
                <a:r>
                  <a:rPr kumimoji="0" lang="zh-CN" altLang="en-US" sz="1200" b="1"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高安全</a:t>
                </a:r>
                <a:endParaRPr kumimoji="0" lang="zh-CN" altLang="en-US" sz="1200" b="1"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43" name="矩形 78"/>
            <p:cNvSpPr/>
            <p:nvPr/>
          </p:nvSpPr>
          <p:spPr bwMode="auto">
            <a:xfrm>
              <a:off x="8501208" y="2112024"/>
              <a:ext cx="2439684" cy="1016783"/>
            </a:xfrm>
            <a:prstGeom prst="rect">
              <a:avLst/>
            </a:prstGeom>
            <a:noFill/>
            <a:ln>
              <a:solidFill>
                <a:srgbClr val="000000"/>
              </a:solidFill>
            </a:ln>
            <a:effectLst/>
          </p:spPr>
          <p:txBody>
            <a:bodyPr rot="0" spcFirstLastPara="0" vertOverflow="overflow" horzOverflow="overflow" vert="horz" wrap="square" lIns="68517" tIns="34259" rIns="68517" bIns="34259" numCol="1" spcCol="0" rtlCol="0" fromWordArt="0" anchor="ctr" anchorCtr="0" forceAA="0" compatLnSpc="1">
              <a:noAutofit/>
            </a:bodyPr>
            <a:lstStyle/>
            <a:p>
              <a:pPr algn="ctr" defTabSz="685165" fontAlgn="auto">
                <a:spcBef>
                  <a:spcPts val="0"/>
                </a:spcBef>
                <a:spcAft>
                  <a:spcPts val="0"/>
                </a:spcAft>
                <a:buClr>
                  <a:srgbClr val="CC9900"/>
                </a:buClr>
                <a:defRPr/>
              </a:pPr>
              <a:r>
                <a:rPr kumimoji="0" lang="en-US" altLang="zh-CN" sz="105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openGauss</a:t>
              </a:r>
              <a:r>
                <a:rPr kumimoji="0" lang="zh-CN" altLang="en-US" sz="105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系</a:t>
              </a:r>
              <a:endParaRPr kumimoji="0" lang="en-US" altLang="zh-CN" sz="105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defTabSz="685165" fontAlgn="auto">
                <a:spcBef>
                  <a:spcPts val="0"/>
                </a:spcBef>
                <a:spcAft>
                  <a:spcPts val="0"/>
                </a:spcAft>
                <a:buClr>
                  <a:srgbClr val="CC9900"/>
                </a:buClr>
                <a:defRPr/>
              </a:pPr>
              <a:r>
                <a:rPr kumimoji="0" lang="zh-CN" altLang="en-US" sz="105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商业发行版</a:t>
              </a:r>
              <a:endParaRPr kumimoji="0" lang="zh-CN" altLang="en-US" sz="105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五角星 79"/>
            <p:cNvSpPr/>
            <p:nvPr/>
          </p:nvSpPr>
          <p:spPr bwMode="auto">
            <a:xfrm>
              <a:off x="9485504" y="4030760"/>
              <a:ext cx="363742" cy="282722"/>
            </a:xfrm>
            <a:prstGeom prst="star5">
              <a:avLst/>
            </a:prstGeom>
            <a:solidFill>
              <a:srgbClr val="C00000"/>
            </a:solidFill>
            <a:ln>
              <a:noFill/>
            </a:ln>
            <a:effectLst/>
          </p:spPr>
          <p:txBody>
            <a:bodyPr vert="horz" wrap="square" lIns="68553" tIns="34277" rIns="68553" bIns="34277" numCol="1" rtlCol="0" anchor="t" anchorCtr="0" compatLnSpc="1"/>
            <a:lstStyle/>
            <a:p>
              <a:pPr defTabSz="685800" fontAlgn="auto">
                <a:spcBef>
                  <a:spcPts val="0"/>
                </a:spcBef>
                <a:spcAft>
                  <a:spcPts val="0"/>
                </a:spcAft>
                <a:buClr>
                  <a:srgbClr val="CC9900"/>
                </a:buClr>
                <a:buFont typeface="Wingdings" panose="05000000000000000000" pitchFamily="2" charset="2"/>
                <a:buChar char="n"/>
                <a:defRPr/>
              </a:pPr>
              <a:endParaRPr kumimoji="0" lang="zh-CN" altLang="en-US" sz="90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TextBox 110"/>
            <p:cNvSpPr txBox="1"/>
            <p:nvPr/>
          </p:nvSpPr>
          <p:spPr>
            <a:xfrm>
              <a:off x="1409344" y="2773772"/>
              <a:ext cx="1159004" cy="358540"/>
            </a:xfrm>
            <a:prstGeom prst="rect">
              <a:avLst/>
            </a:prstGeom>
            <a:noFill/>
          </p:spPr>
          <p:txBody>
            <a:bodyPr wrap="square" rtlCol="0">
              <a:spAutoFit/>
            </a:bodyPr>
            <a:lstStyle>
              <a:defPPr>
                <a:defRPr lang="zh-CN"/>
              </a:defPPr>
              <a:lvl1pPr algn="ctr">
                <a:defRPr sz="1400" b="1" kern="0">
                  <a:solidFill>
                    <a:prstClr val="black">
                      <a:lumMod val="65000"/>
                      <a:lumOff val="35000"/>
                    </a:prstClr>
                  </a:solidFill>
                  <a:latin typeface="Times New Roman" panose="02020503050405090304" pitchFamily="18" charset="0"/>
                  <a:ea typeface="微软雅黑" panose="020B0503020204020204" pitchFamily="34" charset="-122"/>
                  <a:cs typeface="Times New Roman" panose="02020503050405090304" pitchFamily="18" charset="0"/>
                </a:defRPr>
              </a:lvl1pPr>
            </a:lstStyle>
            <a:p>
              <a:pPr defTabSz="685165" fontAlgn="auto">
                <a:spcBef>
                  <a:spcPts val="0"/>
                </a:spcBef>
                <a:spcAft>
                  <a:spcPts val="0"/>
                </a:spcAft>
                <a:defRPr/>
              </a:pPr>
              <a:r>
                <a:rPr kumimoji="0" lang="zh-CN" altLang="en-US" sz="9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金融</a:t>
              </a:r>
              <a:endParaRPr kumimoji="0" lang="zh-CN" altLang="en-US" sz="9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TextBox 124"/>
            <p:cNvSpPr txBox="1"/>
            <p:nvPr/>
          </p:nvSpPr>
          <p:spPr>
            <a:xfrm>
              <a:off x="2531875" y="2773772"/>
              <a:ext cx="1116787" cy="358540"/>
            </a:xfrm>
            <a:prstGeom prst="rect">
              <a:avLst/>
            </a:prstGeom>
            <a:noFill/>
          </p:spPr>
          <p:txBody>
            <a:bodyPr wrap="square" rtlCol="0">
              <a:spAutoFit/>
            </a:bodyPr>
            <a:lstStyle>
              <a:defPPr>
                <a:defRPr lang="zh-CN"/>
              </a:defPPr>
              <a:lvl1pPr algn="ctr">
                <a:defRPr sz="1400" b="1" kern="0">
                  <a:solidFill>
                    <a:prstClr val="black">
                      <a:lumMod val="65000"/>
                      <a:lumOff val="35000"/>
                    </a:prstClr>
                  </a:solidFill>
                  <a:latin typeface="Times New Roman" panose="02020503050405090304" pitchFamily="18" charset="0"/>
                  <a:ea typeface="微软雅黑" panose="020B0503020204020204" pitchFamily="34" charset="-122"/>
                  <a:cs typeface="Times New Roman" panose="02020503050405090304" pitchFamily="18" charset="0"/>
                </a:defRPr>
              </a:lvl1pPr>
            </a:lstStyle>
            <a:p>
              <a:pPr defTabSz="685165" fontAlgn="auto">
                <a:spcBef>
                  <a:spcPts val="0"/>
                </a:spcBef>
                <a:spcAft>
                  <a:spcPts val="0"/>
                </a:spcAft>
                <a:defRPr/>
              </a:pPr>
              <a:r>
                <a:rPr kumimoji="0" lang="zh-CN" altLang="en-US" sz="9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政府</a:t>
              </a:r>
              <a:endParaRPr kumimoji="0" lang="zh-CN" altLang="en-US" sz="9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TextBox 135"/>
            <p:cNvSpPr txBox="1"/>
            <p:nvPr/>
          </p:nvSpPr>
          <p:spPr>
            <a:xfrm>
              <a:off x="3488212" y="2773772"/>
              <a:ext cx="1396942" cy="358540"/>
            </a:xfrm>
            <a:prstGeom prst="rect">
              <a:avLst/>
            </a:prstGeom>
            <a:noFill/>
          </p:spPr>
          <p:txBody>
            <a:bodyPr wrap="square" rtlCol="0">
              <a:spAutoFit/>
            </a:bodyPr>
            <a:lstStyle>
              <a:defPPr>
                <a:defRPr lang="zh-CN"/>
              </a:defPPr>
              <a:lvl1pPr algn="ctr">
                <a:defRPr sz="1400" b="1" kern="0">
                  <a:solidFill>
                    <a:prstClr val="black">
                      <a:lumMod val="65000"/>
                      <a:lumOff val="35000"/>
                    </a:prstClr>
                  </a:solidFill>
                  <a:latin typeface="Times New Roman" panose="02020503050405090304" pitchFamily="18" charset="0"/>
                  <a:ea typeface="微软雅黑" panose="020B0503020204020204" pitchFamily="34" charset="-122"/>
                  <a:cs typeface="Times New Roman" panose="02020503050405090304" pitchFamily="18" charset="0"/>
                </a:defRPr>
              </a:lvl1pPr>
            </a:lstStyle>
            <a:p>
              <a:pPr defTabSz="685165" fontAlgn="auto">
                <a:spcBef>
                  <a:spcPts val="0"/>
                </a:spcBef>
                <a:spcAft>
                  <a:spcPts val="0"/>
                </a:spcAft>
                <a:defRPr/>
              </a:pPr>
              <a:r>
                <a:rPr kumimoji="0" lang="zh-CN" altLang="en-US" sz="9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运营商</a:t>
              </a:r>
              <a:endParaRPr kumimoji="0" lang="zh-CN" altLang="en-US" sz="9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Freeform 55"/>
            <p:cNvSpPr>
              <a:spLocks noEditPoints="1"/>
            </p:cNvSpPr>
            <p:nvPr/>
          </p:nvSpPr>
          <p:spPr bwMode="auto">
            <a:xfrm>
              <a:off x="1714025" y="2191355"/>
              <a:ext cx="501841" cy="538232"/>
            </a:xfrm>
            <a:custGeom>
              <a:avLst/>
              <a:gdLst/>
              <a:ahLst/>
              <a:cxnLst>
                <a:cxn ang="0">
                  <a:pos x="6407" y="5358"/>
                </a:cxn>
                <a:cxn ang="0">
                  <a:pos x="5637" y="1786"/>
                </a:cxn>
                <a:cxn ang="0">
                  <a:pos x="3180" y="3331"/>
                </a:cxn>
                <a:cxn ang="0">
                  <a:pos x="4914" y="3331"/>
                </a:cxn>
                <a:cxn ang="0">
                  <a:pos x="0" y="16027"/>
                </a:cxn>
                <a:cxn ang="0">
                  <a:pos x="4228" y="13934"/>
                </a:cxn>
                <a:cxn ang="0">
                  <a:pos x="1461" y="13934"/>
                </a:cxn>
                <a:cxn ang="0">
                  <a:pos x="4228" y="12950"/>
                </a:cxn>
                <a:cxn ang="0">
                  <a:pos x="1461" y="10177"/>
                </a:cxn>
                <a:cxn ang="0">
                  <a:pos x="1461" y="11072"/>
                </a:cxn>
                <a:cxn ang="0">
                  <a:pos x="4228" y="8299"/>
                </a:cxn>
                <a:cxn ang="0">
                  <a:pos x="1461" y="8299"/>
                </a:cxn>
                <a:cxn ang="0">
                  <a:pos x="4228" y="7316"/>
                </a:cxn>
                <a:cxn ang="0">
                  <a:pos x="1461" y="4543"/>
                </a:cxn>
                <a:cxn ang="0">
                  <a:pos x="1461" y="5438"/>
                </a:cxn>
                <a:cxn ang="0">
                  <a:pos x="8768" y="16075"/>
                </a:cxn>
                <a:cxn ang="0">
                  <a:pos x="11899" y="7530"/>
                </a:cxn>
                <a:cxn ang="0">
                  <a:pos x="10068" y="5890"/>
                </a:cxn>
                <a:cxn ang="0">
                  <a:pos x="8093" y="5890"/>
                </a:cxn>
                <a:cxn ang="0">
                  <a:pos x="6070" y="7530"/>
                </a:cxn>
                <a:cxn ang="0">
                  <a:pos x="7574" y="8121"/>
                </a:cxn>
                <a:cxn ang="0">
                  <a:pos x="6771" y="8121"/>
                </a:cxn>
                <a:cxn ang="0">
                  <a:pos x="8823" y="9418"/>
                </a:cxn>
                <a:cxn ang="0">
                  <a:pos x="9270" y="8121"/>
                </a:cxn>
                <a:cxn ang="0">
                  <a:pos x="9270" y="9418"/>
                </a:cxn>
                <a:cxn ang="0">
                  <a:pos x="11322" y="8121"/>
                </a:cxn>
                <a:cxn ang="0">
                  <a:pos x="10519" y="8121"/>
                </a:cxn>
                <a:cxn ang="0">
                  <a:pos x="7574" y="11027"/>
                </a:cxn>
                <a:cxn ang="0">
                  <a:pos x="6771" y="11340"/>
                </a:cxn>
                <a:cxn ang="0">
                  <a:pos x="6771" y="12637"/>
                </a:cxn>
                <a:cxn ang="0">
                  <a:pos x="7574" y="12950"/>
                </a:cxn>
                <a:cxn ang="0">
                  <a:pos x="6771" y="12950"/>
                </a:cxn>
                <a:cxn ang="0">
                  <a:pos x="9586" y="11827"/>
                </a:cxn>
                <a:cxn ang="0">
                  <a:pos x="10924" y="14601"/>
                </a:cxn>
                <a:cxn ang="0">
                  <a:pos x="10924" y="15495"/>
                </a:cxn>
                <a:cxn ang="0">
                  <a:pos x="11499" y="13417"/>
                </a:cxn>
                <a:cxn ang="0">
                  <a:pos x="10924" y="13417"/>
                </a:cxn>
                <a:cxn ang="0">
                  <a:pos x="10603" y="15495"/>
                </a:cxn>
                <a:cxn ang="0">
                  <a:pos x="10028" y="13417"/>
                </a:cxn>
                <a:cxn ang="0">
                  <a:pos x="10028" y="14312"/>
                </a:cxn>
                <a:cxn ang="0">
                  <a:pos x="11499" y="12234"/>
                </a:cxn>
                <a:cxn ang="0">
                  <a:pos x="10924" y="12234"/>
                </a:cxn>
                <a:cxn ang="0">
                  <a:pos x="10603" y="13129"/>
                </a:cxn>
                <a:cxn ang="0">
                  <a:pos x="16475" y="16027"/>
                </a:cxn>
                <a:cxn ang="0">
                  <a:pos x="12910" y="11054"/>
                </a:cxn>
                <a:cxn ang="0">
                  <a:pos x="16475" y="16027"/>
                </a:cxn>
                <a:cxn ang="0">
                  <a:pos x="15829" y="10580"/>
                </a:cxn>
                <a:cxn ang="0">
                  <a:pos x="13376" y="8479"/>
                </a:cxn>
                <a:cxn ang="0">
                  <a:pos x="13376" y="9149"/>
                </a:cxn>
                <a:cxn ang="0">
                  <a:pos x="15829" y="7047"/>
                </a:cxn>
                <a:cxn ang="0">
                  <a:pos x="13376" y="7047"/>
                </a:cxn>
                <a:cxn ang="0">
                  <a:pos x="15829" y="6287"/>
                </a:cxn>
                <a:cxn ang="0">
                  <a:pos x="13376" y="4185"/>
                </a:cxn>
                <a:cxn ang="0">
                  <a:pos x="13376" y="4856"/>
                </a:cxn>
                <a:cxn ang="0">
                  <a:pos x="15829" y="2755"/>
                </a:cxn>
                <a:cxn ang="0">
                  <a:pos x="13376" y="2755"/>
                </a:cxn>
                <a:cxn ang="0">
                  <a:pos x="12466" y="1591"/>
                </a:cxn>
                <a:cxn ang="0">
                  <a:pos x="10117" y="0"/>
                </a:cxn>
                <a:cxn ang="0">
                  <a:pos x="9249" y="3814"/>
                </a:cxn>
                <a:cxn ang="0">
                  <a:pos x="10743" y="3814"/>
                </a:cxn>
                <a:cxn ang="0">
                  <a:pos x="11705" y="6179"/>
                </a:cxn>
              </a:cxnLst>
              <a:rect l="0" t="0" r="r" b="b"/>
              <a:pathLst>
                <a:path w="16475" h="16075">
                  <a:moveTo>
                    <a:pt x="5637" y="6854"/>
                  </a:moveTo>
                  <a:lnTo>
                    <a:pt x="6407" y="6854"/>
                  </a:lnTo>
                  <a:lnTo>
                    <a:pt x="6407" y="5358"/>
                  </a:lnTo>
                  <a:lnTo>
                    <a:pt x="7371" y="5358"/>
                  </a:lnTo>
                  <a:lnTo>
                    <a:pt x="7371" y="1786"/>
                  </a:lnTo>
                  <a:lnTo>
                    <a:pt x="5637" y="1786"/>
                  </a:lnTo>
                  <a:lnTo>
                    <a:pt x="5637" y="6854"/>
                  </a:lnTo>
                  <a:close/>
                  <a:moveTo>
                    <a:pt x="0" y="3331"/>
                  </a:moveTo>
                  <a:lnTo>
                    <a:pt x="3180" y="3331"/>
                  </a:lnTo>
                  <a:lnTo>
                    <a:pt x="3180" y="1207"/>
                  </a:lnTo>
                  <a:lnTo>
                    <a:pt x="4914" y="1207"/>
                  </a:lnTo>
                  <a:lnTo>
                    <a:pt x="4914" y="3331"/>
                  </a:lnTo>
                  <a:lnTo>
                    <a:pt x="4914" y="3765"/>
                  </a:lnTo>
                  <a:lnTo>
                    <a:pt x="4914" y="16027"/>
                  </a:lnTo>
                  <a:lnTo>
                    <a:pt x="0" y="16027"/>
                  </a:lnTo>
                  <a:lnTo>
                    <a:pt x="0" y="3331"/>
                  </a:lnTo>
                  <a:close/>
                  <a:moveTo>
                    <a:pt x="1461" y="13934"/>
                  </a:moveTo>
                  <a:lnTo>
                    <a:pt x="4228" y="13934"/>
                  </a:lnTo>
                  <a:lnTo>
                    <a:pt x="4228" y="14829"/>
                  </a:lnTo>
                  <a:lnTo>
                    <a:pt x="1461" y="14829"/>
                  </a:lnTo>
                  <a:lnTo>
                    <a:pt x="1461" y="13934"/>
                  </a:lnTo>
                  <a:close/>
                  <a:moveTo>
                    <a:pt x="1461" y="12056"/>
                  </a:moveTo>
                  <a:lnTo>
                    <a:pt x="4228" y="12056"/>
                  </a:lnTo>
                  <a:lnTo>
                    <a:pt x="4228" y="12950"/>
                  </a:lnTo>
                  <a:lnTo>
                    <a:pt x="1461" y="12950"/>
                  </a:lnTo>
                  <a:lnTo>
                    <a:pt x="1461" y="12056"/>
                  </a:lnTo>
                  <a:close/>
                  <a:moveTo>
                    <a:pt x="1461" y="10177"/>
                  </a:moveTo>
                  <a:lnTo>
                    <a:pt x="4228" y="10177"/>
                  </a:lnTo>
                  <a:lnTo>
                    <a:pt x="4228" y="11072"/>
                  </a:lnTo>
                  <a:lnTo>
                    <a:pt x="1461" y="11072"/>
                  </a:lnTo>
                  <a:lnTo>
                    <a:pt x="1461" y="10177"/>
                  </a:lnTo>
                  <a:close/>
                  <a:moveTo>
                    <a:pt x="1461" y="8299"/>
                  </a:moveTo>
                  <a:lnTo>
                    <a:pt x="4228" y="8299"/>
                  </a:lnTo>
                  <a:lnTo>
                    <a:pt x="4228" y="9194"/>
                  </a:lnTo>
                  <a:lnTo>
                    <a:pt x="1461" y="9194"/>
                  </a:lnTo>
                  <a:lnTo>
                    <a:pt x="1461" y="8299"/>
                  </a:lnTo>
                  <a:close/>
                  <a:moveTo>
                    <a:pt x="1461" y="6421"/>
                  </a:moveTo>
                  <a:lnTo>
                    <a:pt x="4228" y="6421"/>
                  </a:lnTo>
                  <a:lnTo>
                    <a:pt x="4228" y="7316"/>
                  </a:lnTo>
                  <a:lnTo>
                    <a:pt x="1461" y="7316"/>
                  </a:lnTo>
                  <a:lnTo>
                    <a:pt x="1461" y="6421"/>
                  </a:lnTo>
                  <a:close/>
                  <a:moveTo>
                    <a:pt x="1461" y="4543"/>
                  </a:moveTo>
                  <a:lnTo>
                    <a:pt x="4228" y="4543"/>
                  </a:lnTo>
                  <a:lnTo>
                    <a:pt x="4228" y="5438"/>
                  </a:lnTo>
                  <a:lnTo>
                    <a:pt x="1461" y="5438"/>
                  </a:lnTo>
                  <a:lnTo>
                    <a:pt x="1461" y="4543"/>
                  </a:lnTo>
                  <a:close/>
                  <a:moveTo>
                    <a:pt x="6070" y="16075"/>
                  </a:moveTo>
                  <a:lnTo>
                    <a:pt x="8768" y="16075"/>
                  </a:lnTo>
                  <a:lnTo>
                    <a:pt x="8768" y="11054"/>
                  </a:lnTo>
                  <a:lnTo>
                    <a:pt x="11899" y="11054"/>
                  </a:lnTo>
                  <a:lnTo>
                    <a:pt x="11899" y="7530"/>
                  </a:lnTo>
                  <a:lnTo>
                    <a:pt x="11225" y="7530"/>
                  </a:lnTo>
                  <a:lnTo>
                    <a:pt x="11225" y="5890"/>
                  </a:lnTo>
                  <a:lnTo>
                    <a:pt x="10068" y="5890"/>
                  </a:lnTo>
                  <a:lnTo>
                    <a:pt x="10068" y="4248"/>
                  </a:lnTo>
                  <a:lnTo>
                    <a:pt x="8093" y="4248"/>
                  </a:lnTo>
                  <a:lnTo>
                    <a:pt x="8093" y="5890"/>
                  </a:lnTo>
                  <a:lnTo>
                    <a:pt x="6937" y="5890"/>
                  </a:lnTo>
                  <a:lnTo>
                    <a:pt x="6937" y="7530"/>
                  </a:lnTo>
                  <a:lnTo>
                    <a:pt x="6070" y="7530"/>
                  </a:lnTo>
                  <a:lnTo>
                    <a:pt x="6070" y="16075"/>
                  </a:lnTo>
                  <a:close/>
                  <a:moveTo>
                    <a:pt x="6771" y="8121"/>
                  </a:moveTo>
                  <a:lnTo>
                    <a:pt x="7574" y="8121"/>
                  </a:lnTo>
                  <a:lnTo>
                    <a:pt x="7574" y="9418"/>
                  </a:lnTo>
                  <a:lnTo>
                    <a:pt x="6771" y="9418"/>
                  </a:lnTo>
                  <a:lnTo>
                    <a:pt x="6771" y="8121"/>
                  </a:lnTo>
                  <a:close/>
                  <a:moveTo>
                    <a:pt x="8020" y="8121"/>
                  </a:moveTo>
                  <a:lnTo>
                    <a:pt x="8823" y="8121"/>
                  </a:lnTo>
                  <a:lnTo>
                    <a:pt x="8823" y="9418"/>
                  </a:lnTo>
                  <a:lnTo>
                    <a:pt x="8020" y="9418"/>
                  </a:lnTo>
                  <a:lnTo>
                    <a:pt x="8020" y="8121"/>
                  </a:lnTo>
                  <a:close/>
                  <a:moveTo>
                    <a:pt x="9270" y="8121"/>
                  </a:moveTo>
                  <a:lnTo>
                    <a:pt x="10073" y="8121"/>
                  </a:lnTo>
                  <a:lnTo>
                    <a:pt x="10073" y="9418"/>
                  </a:lnTo>
                  <a:lnTo>
                    <a:pt x="9270" y="9418"/>
                  </a:lnTo>
                  <a:lnTo>
                    <a:pt x="9270" y="8121"/>
                  </a:lnTo>
                  <a:close/>
                  <a:moveTo>
                    <a:pt x="10519" y="8121"/>
                  </a:moveTo>
                  <a:lnTo>
                    <a:pt x="11322" y="8121"/>
                  </a:lnTo>
                  <a:lnTo>
                    <a:pt x="11322" y="9418"/>
                  </a:lnTo>
                  <a:lnTo>
                    <a:pt x="10519" y="9418"/>
                  </a:lnTo>
                  <a:lnTo>
                    <a:pt x="10519" y="8121"/>
                  </a:lnTo>
                  <a:close/>
                  <a:moveTo>
                    <a:pt x="6771" y="9730"/>
                  </a:moveTo>
                  <a:lnTo>
                    <a:pt x="7574" y="9730"/>
                  </a:lnTo>
                  <a:lnTo>
                    <a:pt x="7574" y="11027"/>
                  </a:lnTo>
                  <a:lnTo>
                    <a:pt x="6771" y="11027"/>
                  </a:lnTo>
                  <a:lnTo>
                    <a:pt x="6771" y="9730"/>
                  </a:lnTo>
                  <a:close/>
                  <a:moveTo>
                    <a:pt x="6771" y="11340"/>
                  </a:moveTo>
                  <a:lnTo>
                    <a:pt x="7574" y="11340"/>
                  </a:lnTo>
                  <a:lnTo>
                    <a:pt x="7574" y="12637"/>
                  </a:lnTo>
                  <a:lnTo>
                    <a:pt x="6771" y="12637"/>
                  </a:lnTo>
                  <a:lnTo>
                    <a:pt x="6771" y="11340"/>
                  </a:lnTo>
                  <a:close/>
                  <a:moveTo>
                    <a:pt x="6771" y="12950"/>
                  </a:moveTo>
                  <a:lnTo>
                    <a:pt x="7574" y="12950"/>
                  </a:lnTo>
                  <a:lnTo>
                    <a:pt x="7574" y="14247"/>
                  </a:lnTo>
                  <a:lnTo>
                    <a:pt x="6771" y="14247"/>
                  </a:lnTo>
                  <a:lnTo>
                    <a:pt x="6771" y="12950"/>
                  </a:lnTo>
                  <a:close/>
                  <a:moveTo>
                    <a:pt x="13151" y="16075"/>
                  </a:moveTo>
                  <a:lnTo>
                    <a:pt x="9586" y="16075"/>
                  </a:lnTo>
                  <a:lnTo>
                    <a:pt x="9586" y="11827"/>
                  </a:lnTo>
                  <a:lnTo>
                    <a:pt x="13151" y="11827"/>
                  </a:lnTo>
                  <a:lnTo>
                    <a:pt x="13151" y="16075"/>
                  </a:lnTo>
                  <a:close/>
                  <a:moveTo>
                    <a:pt x="10924" y="14601"/>
                  </a:moveTo>
                  <a:lnTo>
                    <a:pt x="11499" y="14601"/>
                  </a:lnTo>
                  <a:lnTo>
                    <a:pt x="11499" y="15495"/>
                  </a:lnTo>
                  <a:lnTo>
                    <a:pt x="10924" y="15495"/>
                  </a:lnTo>
                  <a:lnTo>
                    <a:pt x="10924" y="14601"/>
                  </a:lnTo>
                  <a:close/>
                  <a:moveTo>
                    <a:pt x="10924" y="13417"/>
                  </a:moveTo>
                  <a:lnTo>
                    <a:pt x="11499" y="13417"/>
                  </a:lnTo>
                  <a:lnTo>
                    <a:pt x="11499" y="14312"/>
                  </a:lnTo>
                  <a:lnTo>
                    <a:pt x="10924" y="14312"/>
                  </a:lnTo>
                  <a:lnTo>
                    <a:pt x="10924" y="13417"/>
                  </a:lnTo>
                  <a:close/>
                  <a:moveTo>
                    <a:pt x="10028" y="14601"/>
                  </a:moveTo>
                  <a:lnTo>
                    <a:pt x="10603" y="14601"/>
                  </a:lnTo>
                  <a:lnTo>
                    <a:pt x="10603" y="15495"/>
                  </a:lnTo>
                  <a:lnTo>
                    <a:pt x="10028" y="15495"/>
                  </a:lnTo>
                  <a:lnTo>
                    <a:pt x="10028" y="14601"/>
                  </a:lnTo>
                  <a:close/>
                  <a:moveTo>
                    <a:pt x="10028" y="13417"/>
                  </a:moveTo>
                  <a:lnTo>
                    <a:pt x="10603" y="13417"/>
                  </a:lnTo>
                  <a:lnTo>
                    <a:pt x="10603" y="14312"/>
                  </a:lnTo>
                  <a:lnTo>
                    <a:pt x="10028" y="14312"/>
                  </a:lnTo>
                  <a:lnTo>
                    <a:pt x="10028" y="13417"/>
                  </a:lnTo>
                  <a:close/>
                  <a:moveTo>
                    <a:pt x="10924" y="12234"/>
                  </a:moveTo>
                  <a:lnTo>
                    <a:pt x="11499" y="12234"/>
                  </a:lnTo>
                  <a:lnTo>
                    <a:pt x="11499" y="13129"/>
                  </a:lnTo>
                  <a:lnTo>
                    <a:pt x="10924" y="13129"/>
                  </a:lnTo>
                  <a:lnTo>
                    <a:pt x="10924" y="12234"/>
                  </a:lnTo>
                  <a:close/>
                  <a:moveTo>
                    <a:pt x="10028" y="12234"/>
                  </a:moveTo>
                  <a:lnTo>
                    <a:pt x="10603" y="12234"/>
                  </a:lnTo>
                  <a:lnTo>
                    <a:pt x="10603" y="13129"/>
                  </a:lnTo>
                  <a:lnTo>
                    <a:pt x="10028" y="13129"/>
                  </a:lnTo>
                  <a:lnTo>
                    <a:pt x="10028" y="12234"/>
                  </a:lnTo>
                  <a:close/>
                  <a:moveTo>
                    <a:pt x="16475" y="16027"/>
                  </a:moveTo>
                  <a:lnTo>
                    <a:pt x="13874" y="16027"/>
                  </a:lnTo>
                  <a:lnTo>
                    <a:pt x="13874" y="11054"/>
                  </a:lnTo>
                  <a:lnTo>
                    <a:pt x="12910" y="11054"/>
                  </a:lnTo>
                  <a:lnTo>
                    <a:pt x="12910" y="2028"/>
                  </a:lnTo>
                  <a:lnTo>
                    <a:pt x="16475" y="627"/>
                  </a:lnTo>
                  <a:lnTo>
                    <a:pt x="16475" y="16027"/>
                  </a:lnTo>
                  <a:close/>
                  <a:moveTo>
                    <a:pt x="13376" y="9909"/>
                  </a:moveTo>
                  <a:lnTo>
                    <a:pt x="15829" y="9909"/>
                  </a:lnTo>
                  <a:lnTo>
                    <a:pt x="15829" y="10580"/>
                  </a:lnTo>
                  <a:lnTo>
                    <a:pt x="13376" y="10580"/>
                  </a:lnTo>
                  <a:lnTo>
                    <a:pt x="13376" y="9909"/>
                  </a:lnTo>
                  <a:close/>
                  <a:moveTo>
                    <a:pt x="13376" y="8479"/>
                  </a:moveTo>
                  <a:lnTo>
                    <a:pt x="15829" y="8479"/>
                  </a:lnTo>
                  <a:lnTo>
                    <a:pt x="15829" y="9149"/>
                  </a:lnTo>
                  <a:lnTo>
                    <a:pt x="13376" y="9149"/>
                  </a:lnTo>
                  <a:lnTo>
                    <a:pt x="13376" y="8479"/>
                  </a:lnTo>
                  <a:close/>
                  <a:moveTo>
                    <a:pt x="13376" y="7047"/>
                  </a:moveTo>
                  <a:lnTo>
                    <a:pt x="15829" y="7047"/>
                  </a:lnTo>
                  <a:lnTo>
                    <a:pt x="15829" y="7718"/>
                  </a:lnTo>
                  <a:lnTo>
                    <a:pt x="13376" y="7718"/>
                  </a:lnTo>
                  <a:lnTo>
                    <a:pt x="13376" y="7047"/>
                  </a:lnTo>
                  <a:close/>
                  <a:moveTo>
                    <a:pt x="13376" y="5616"/>
                  </a:moveTo>
                  <a:lnTo>
                    <a:pt x="15829" y="5616"/>
                  </a:lnTo>
                  <a:lnTo>
                    <a:pt x="15829" y="6287"/>
                  </a:lnTo>
                  <a:lnTo>
                    <a:pt x="13376" y="6287"/>
                  </a:lnTo>
                  <a:lnTo>
                    <a:pt x="13376" y="5616"/>
                  </a:lnTo>
                  <a:close/>
                  <a:moveTo>
                    <a:pt x="13376" y="4185"/>
                  </a:moveTo>
                  <a:lnTo>
                    <a:pt x="15829" y="4185"/>
                  </a:lnTo>
                  <a:lnTo>
                    <a:pt x="15829" y="4856"/>
                  </a:lnTo>
                  <a:lnTo>
                    <a:pt x="13376" y="4856"/>
                  </a:lnTo>
                  <a:lnTo>
                    <a:pt x="13376" y="4185"/>
                  </a:lnTo>
                  <a:close/>
                  <a:moveTo>
                    <a:pt x="13376" y="2755"/>
                  </a:moveTo>
                  <a:lnTo>
                    <a:pt x="15829" y="2755"/>
                  </a:lnTo>
                  <a:lnTo>
                    <a:pt x="15829" y="3426"/>
                  </a:lnTo>
                  <a:lnTo>
                    <a:pt x="13376" y="3426"/>
                  </a:lnTo>
                  <a:lnTo>
                    <a:pt x="13376" y="2755"/>
                  </a:lnTo>
                  <a:close/>
                  <a:moveTo>
                    <a:pt x="11705" y="6179"/>
                  </a:moveTo>
                  <a:lnTo>
                    <a:pt x="12466" y="6179"/>
                  </a:lnTo>
                  <a:lnTo>
                    <a:pt x="12466" y="1591"/>
                  </a:lnTo>
                  <a:lnTo>
                    <a:pt x="13921" y="897"/>
                  </a:lnTo>
                  <a:lnTo>
                    <a:pt x="13921" y="0"/>
                  </a:lnTo>
                  <a:lnTo>
                    <a:pt x="10117" y="0"/>
                  </a:lnTo>
                  <a:lnTo>
                    <a:pt x="10117" y="2559"/>
                  </a:lnTo>
                  <a:lnTo>
                    <a:pt x="9249" y="2559"/>
                  </a:lnTo>
                  <a:lnTo>
                    <a:pt x="9249" y="3814"/>
                  </a:lnTo>
                  <a:lnTo>
                    <a:pt x="10117" y="3814"/>
                  </a:lnTo>
                  <a:lnTo>
                    <a:pt x="10694" y="3814"/>
                  </a:lnTo>
                  <a:lnTo>
                    <a:pt x="10743" y="3814"/>
                  </a:lnTo>
                  <a:lnTo>
                    <a:pt x="10743" y="5310"/>
                  </a:lnTo>
                  <a:lnTo>
                    <a:pt x="11705" y="5310"/>
                  </a:lnTo>
                  <a:lnTo>
                    <a:pt x="11705" y="6179"/>
                  </a:lnTo>
                  <a:close/>
                </a:path>
              </a:pathLst>
            </a:custGeom>
            <a:solidFill>
              <a:srgbClr val="00B0F0"/>
            </a:solidFill>
            <a:ln w="9525">
              <a:noFill/>
              <a:round/>
            </a:ln>
          </p:spPr>
          <p:txBody>
            <a:bodyPr/>
            <a:lstStyle/>
            <a:p>
              <a:pPr defTabSz="685165" fontAlgn="auto">
                <a:spcBef>
                  <a:spcPts val="0"/>
                </a:spcBef>
                <a:spcAft>
                  <a:spcPts val="0"/>
                </a:spcAft>
                <a:defRPr/>
              </a:pPr>
              <a:endParaRPr kumimoji="0" lang="zh-CN" altLang="en-US" sz="900" b="1" kern="0">
                <a:solidFill>
                  <a:srgbClr val="000000">
                    <a:lumMod val="50000"/>
                    <a:lumOff val="50000"/>
                  </a:srgbClr>
                </a:solidFill>
                <a:latin typeface="Huawei Sans" panose="020C0503030203020204" pitchFamily="34" charset="0"/>
                <a:ea typeface="方正兰亭黑简体" panose="02000000000000000000" pitchFamily="2" charset="-122"/>
                <a:cs typeface="Times New Roman" panose="02020503050405090304" pitchFamily="18" charset="0"/>
                <a:sym typeface="Huawei Sans" panose="020C0503030203020204" pitchFamily="34" charset="0"/>
              </a:endParaRPr>
            </a:p>
          </p:txBody>
        </p:sp>
        <p:grpSp>
          <p:nvGrpSpPr>
            <p:cNvPr id="50" name="组合 61"/>
            <p:cNvGrpSpPr/>
            <p:nvPr/>
          </p:nvGrpSpPr>
          <p:grpSpPr>
            <a:xfrm>
              <a:off x="2837454" y="2169190"/>
              <a:ext cx="465083" cy="560398"/>
              <a:chOff x="13079665" y="1704975"/>
              <a:chExt cx="342900" cy="320675"/>
            </a:xfrm>
            <a:solidFill>
              <a:srgbClr val="00B0F0"/>
            </a:solidFill>
          </p:grpSpPr>
          <p:sp>
            <p:nvSpPr>
              <p:cNvPr id="51" name="Freeform 38"/>
              <p:cNvSpPr/>
              <p:nvPr/>
            </p:nvSpPr>
            <p:spPr bwMode="auto">
              <a:xfrm>
                <a:off x="13117765" y="1809750"/>
                <a:ext cx="38100" cy="171450"/>
              </a:xfrm>
              <a:custGeom>
                <a:avLst/>
                <a:gdLst/>
                <a:ahLst/>
                <a:cxnLst>
                  <a:cxn ang="0">
                    <a:pos x="24" y="104"/>
                  </a:cxn>
                  <a:cxn ang="0">
                    <a:pos x="24" y="104"/>
                  </a:cxn>
                  <a:cxn ang="0">
                    <a:pos x="22" y="106"/>
                  </a:cxn>
                  <a:cxn ang="0">
                    <a:pos x="20" y="108"/>
                  </a:cxn>
                  <a:cxn ang="0">
                    <a:pos x="2" y="108"/>
                  </a:cxn>
                  <a:cxn ang="0">
                    <a:pos x="2" y="108"/>
                  </a:cxn>
                  <a:cxn ang="0">
                    <a:pos x="0" y="106"/>
                  </a:cxn>
                  <a:cxn ang="0">
                    <a:pos x="0" y="104"/>
                  </a:cxn>
                  <a:cxn ang="0">
                    <a:pos x="0" y="4"/>
                  </a:cxn>
                  <a:cxn ang="0">
                    <a:pos x="0" y="4"/>
                  </a:cxn>
                  <a:cxn ang="0">
                    <a:pos x="0" y="0"/>
                  </a:cxn>
                  <a:cxn ang="0">
                    <a:pos x="2" y="0"/>
                  </a:cxn>
                  <a:cxn ang="0">
                    <a:pos x="20" y="0"/>
                  </a:cxn>
                  <a:cxn ang="0">
                    <a:pos x="20" y="0"/>
                  </a:cxn>
                  <a:cxn ang="0">
                    <a:pos x="22" y="0"/>
                  </a:cxn>
                  <a:cxn ang="0">
                    <a:pos x="24" y="4"/>
                  </a:cxn>
                  <a:cxn ang="0">
                    <a:pos x="24" y="104"/>
                  </a:cxn>
                </a:cxnLst>
                <a:rect l="0" t="0" r="r" b="b"/>
                <a:pathLst>
                  <a:path w="24" h="108">
                    <a:moveTo>
                      <a:pt x="24" y="104"/>
                    </a:moveTo>
                    <a:lnTo>
                      <a:pt x="24" y="104"/>
                    </a:lnTo>
                    <a:lnTo>
                      <a:pt x="22" y="106"/>
                    </a:lnTo>
                    <a:lnTo>
                      <a:pt x="20" y="108"/>
                    </a:lnTo>
                    <a:lnTo>
                      <a:pt x="2" y="108"/>
                    </a:lnTo>
                    <a:lnTo>
                      <a:pt x="2" y="108"/>
                    </a:lnTo>
                    <a:lnTo>
                      <a:pt x="0" y="106"/>
                    </a:lnTo>
                    <a:lnTo>
                      <a:pt x="0" y="104"/>
                    </a:lnTo>
                    <a:lnTo>
                      <a:pt x="0" y="4"/>
                    </a:lnTo>
                    <a:lnTo>
                      <a:pt x="0" y="4"/>
                    </a:lnTo>
                    <a:lnTo>
                      <a:pt x="0" y="0"/>
                    </a:lnTo>
                    <a:lnTo>
                      <a:pt x="2" y="0"/>
                    </a:lnTo>
                    <a:lnTo>
                      <a:pt x="20" y="0"/>
                    </a:lnTo>
                    <a:lnTo>
                      <a:pt x="20" y="0"/>
                    </a:lnTo>
                    <a:lnTo>
                      <a:pt x="22" y="0"/>
                    </a:lnTo>
                    <a:lnTo>
                      <a:pt x="24" y="4"/>
                    </a:lnTo>
                    <a:lnTo>
                      <a:pt x="24" y="104"/>
                    </a:lnTo>
                    <a:close/>
                  </a:path>
                </a:pathLst>
              </a:custGeom>
              <a:grpFill/>
              <a:ln w="9525">
                <a:noFill/>
                <a:round/>
              </a:ln>
            </p:spPr>
            <p:txBody>
              <a:bodyPr/>
              <a:lstStyle/>
              <a:p>
                <a:pPr defTabSz="685165" fontAlgn="auto">
                  <a:spcBef>
                    <a:spcPts val="0"/>
                  </a:spcBef>
                  <a:spcAft>
                    <a:spcPts val="0"/>
                  </a:spcAft>
                  <a:defRPr/>
                </a:pPr>
                <a:endParaRPr kumimoji="0" lang="zh-CN" altLang="en-US" sz="900" b="1" kern="0">
                  <a:solidFill>
                    <a:srgbClr val="000000">
                      <a:lumMod val="50000"/>
                      <a:lumOff val="50000"/>
                    </a:srgbClr>
                  </a:solidFill>
                  <a:latin typeface="Huawei Sans" panose="020C0503030203020204" pitchFamily="34" charset="0"/>
                  <a:ea typeface="方正兰亭黑简体" panose="02000000000000000000" pitchFamily="2" charset="-122"/>
                  <a:cs typeface="Times New Roman" panose="02020503050405090304" pitchFamily="18" charset="0"/>
                  <a:sym typeface="Huawei Sans" panose="020C0503030203020204" pitchFamily="34" charset="0"/>
                </a:endParaRPr>
              </a:p>
            </p:txBody>
          </p:sp>
          <p:sp>
            <p:nvSpPr>
              <p:cNvPr id="52" name="Freeform 39"/>
              <p:cNvSpPr/>
              <p:nvPr/>
            </p:nvSpPr>
            <p:spPr bwMode="auto">
              <a:xfrm>
                <a:off x="13174918" y="1809750"/>
                <a:ext cx="38100" cy="171450"/>
              </a:xfrm>
              <a:custGeom>
                <a:avLst/>
                <a:gdLst/>
                <a:ahLst/>
                <a:cxnLst>
                  <a:cxn ang="0">
                    <a:pos x="24" y="104"/>
                  </a:cxn>
                  <a:cxn ang="0">
                    <a:pos x="24" y="104"/>
                  </a:cxn>
                  <a:cxn ang="0">
                    <a:pos x="22" y="106"/>
                  </a:cxn>
                  <a:cxn ang="0">
                    <a:pos x="20" y="108"/>
                  </a:cxn>
                  <a:cxn ang="0">
                    <a:pos x="4" y="108"/>
                  </a:cxn>
                  <a:cxn ang="0">
                    <a:pos x="4" y="108"/>
                  </a:cxn>
                  <a:cxn ang="0">
                    <a:pos x="0" y="106"/>
                  </a:cxn>
                  <a:cxn ang="0">
                    <a:pos x="0" y="104"/>
                  </a:cxn>
                  <a:cxn ang="0">
                    <a:pos x="0" y="4"/>
                  </a:cxn>
                  <a:cxn ang="0">
                    <a:pos x="0" y="4"/>
                  </a:cxn>
                  <a:cxn ang="0">
                    <a:pos x="0" y="0"/>
                  </a:cxn>
                  <a:cxn ang="0">
                    <a:pos x="4" y="0"/>
                  </a:cxn>
                  <a:cxn ang="0">
                    <a:pos x="20" y="0"/>
                  </a:cxn>
                  <a:cxn ang="0">
                    <a:pos x="20" y="0"/>
                  </a:cxn>
                  <a:cxn ang="0">
                    <a:pos x="22" y="0"/>
                  </a:cxn>
                  <a:cxn ang="0">
                    <a:pos x="24" y="4"/>
                  </a:cxn>
                  <a:cxn ang="0">
                    <a:pos x="24" y="104"/>
                  </a:cxn>
                </a:cxnLst>
                <a:rect l="0" t="0" r="r" b="b"/>
                <a:pathLst>
                  <a:path w="24" h="108">
                    <a:moveTo>
                      <a:pt x="24" y="104"/>
                    </a:moveTo>
                    <a:lnTo>
                      <a:pt x="24" y="104"/>
                    </a:lnTo>
                    <a:lnTo>
                      <a:pt x="22" y="106"/>
                    </a:lnTo>
                    <a:lnTo>
                      <a:pt x="20" y="108"/>
                    </a:lnTo>
                    <a:lnTo>
                      <a:pt x="4" y="108"/>
                    </a:lnTo>
                    <a:lnTo>
                      <a:pt x="4" y="108"/>
                    </a:lnTo>
                    <a:lnTo>
                      <a:pt x="0" y="106"/>
                    </a:lnTo>
                    <a:lnTo>
                      <a:pt x="0" y="104"/>
                    </a:lnTo>
                    <a:lnTo>
                      <a:pt x="0" y="4"/>
                    </a:lnTo>
                    <a:lnTo>
                      <a:pt x="0" y="4"/>
                    </a:lnTo>
                    <a:lnTo>
                      <a:pt x="0" y="0"/>
                    </a:lnTo>
                    <a:lnTo>
                      <a:pt x="4" y="0"/>
                    </a:lnTo>
                    <a:lnTo>
                      <a:pt x="20" y="0"/>
                    </a:lnTo>
                    <a:lnTo>
                      <a:pt x="20" y="0"/>
                    </a:lnTo>
                    <a:lnTo>
                      <a:pt x="22" y="0"/>
                    </a:lnTo>
                    <a:lnTo>
                      <a:pt x="24" y="4"/>
                    </a:lnTo>
                    <a:lnTo>
                      <a:pt x="24" y="104"/>
                    </a:lnTo>
                    <a:close/>
                  </a:path>
                </a:pathLst>
              </a:custGeom>
              <a:grpFill/>
              <a:ln w="9525">
                <a:noFill/>
                <a:round/>
              </a:ln>
            </p:spPr>
            <p:txBody>
              <a:bodyPr/>
              <a:lstStyle/>
              <a:p>
                <a:pPr defTabSz="685165" fontAlgn="auto">
                  <a:spcBef>
                    <a:spcPts val="0"/>
                  </a:spcBef>
                  <a:spcAft>
                    <a:spcPts val="0"/>
                  </a:spcAft>
                  <a:defRPr/>
                </a:pPr>
                <a:endParaRPr kumimoji="0" lang="zh-CN" altLang="en-US" sz="900" b="1" kern="0">
                  <a:solidFill>
                    <a:srgbClr val="000000">
                      <a:lumMod val="50000"/>
                      <a:lumOff val="50000"/>
                    </a:srgbClr>
                  </a:solidFill>
                  <a:latin typeface="Huawei Sans" panose="020C0503030203020204" pitchFamily="34" charset="0"/>
                  <a:ea typeface="方正兰亭黑简体" panose="02000000000000000000" pitchFamily="2" charset="-122"/>
                  <a:cs typeface="Times New Roman" panose="02020503050405090304" pitchFamily="18" charset="0"/>
                  <a:sym typeface="Huawei Sans" panose="020C0503030203020204" pitchFamily="34" charset="0"/>
                </a:endParaRPr>
              </a:p>
            </p:txBody>
          </p:sp>
          <p:sp>
            <p:nvSpPr>
              <p:cNvPr id="53" name="Freeform 40"/>
              <p:cNvSpPr/>
              <p:nvPr/>
            </p:nvSpPr>
            <p:spPr bwMode="auto">
              <a:xfrm>
                <a:off x="13289216" y="1809750"/>
                <a:ext cx="38100" cy="171450"/>
              </a:xfrm>
              <a:custGeom>
                <a:avLst/>
                <a:gdLst/>
                <a:ahLst/>
                <a:cxnLst>
                  <a:cxn ang="0">
                    <a:pos x="24" y="104"/>
                  </a:cxn>
                  <a:cxn ang="0">
                    <a:pos x="24" y="104"/>
                  </a:cxn>
                  <a:cxn ang="0">
                    <a:pos x="24" y="106"/>
                  </a:cxn>
                  <a:cxn ang="0">
                    <a:pos x="20" y="108"/>
                  </a:cxn>
                  <a:cxn ang="0">
                    <a:pos x="4" y="108"/>
                  </a:cxn>
                  <a:cxn ang="0">
                    <a:pos x="4" y="108"/>
                  </a:cxn>
                  <a:cxn ang="0">
                    <a:pos x="2" y="106"/>
                  </a:cxn>
                  <a:cxn ang="0">
                    <a:pos x="0" y="104"/>
                  </a:cxn>
                  <a:cxn ang="0">
                    <a:pos x="0" y="4"/>
                  </a:cxn>
                  <a:cxn ang="0">
                    <a:pos x="0" y="4"/>
                  </a:cxn>
                  <a:cxn ang="0">
                    <a:pos x="2" y="0"/>
                  </a:cxn>
                  <a:cxn ang="0">
                    <a:pos x="4" y="0"/>
                  </a:cxn>
                  <a:cxn ang="0">
                    <a:pos x="20" y="0"/>
                  </a:cxn>
                  <a:cxn ang="0">
                    <a:pos x="20" y="0"/>
                  </a:cxn>
                  <a:cxn ang="0">
                    <a:pos x="24" y="0"/>
                  </a:cxn>
                  <a:cxn ang="0">
                    <a:pos x="24" y="4"/>
                  </a:cxn>
                  <a:cxn ang="0">
                    <a:pos x="24" y="104"/>
                  </a:cxn>
                </a:cxnLst>
                <a:rect l="0" t="0" r="r" b="b"/>
                <a:pathLst>
                  <a:path w="24" h="108">
                    <a:moveTo>
                      <a:pt x="24" y="104"/>
                    </a:moveTo>
                    <a:lnTo>
                      <a:pt x="24" y="104"/>
                    </a:lnTo>
                    <a:lnTo>
                      <a:pt x="24" y="106"/>
                    </a:lnTo>
                    <a:lnTo>
                      <a:pt x="20" y="108"/>
                    </a:lnTo>
                    <a:lnTo>
                      <a:pt x="4" y="108"/>
                    </a:lnTo>
                    <a:lnTo>
                      <a:pt x="4" y="108"/>
                    </a:lnTo>
                    <a:lnTo>
                      <a:pt x="2" y="106"/>
                    </a:lnTo>
                    <a:lnTo>
                      <a:pt x="0" y="104"/>
                    </a:lnTo>
                    <a:lnTo>
                      <a:pt x="0" y="4"/>
                    </a:lnTo>
                    <a:lnTo>
                      <a:pt x="0" y="4"/>
                    </a:lnTo>
                    <a:lnTo>
                      <a:pt x="2" y="0"/>
                    </a:lnTo>
                    <a:lnTo>
                      <a:pt x="4" y="0"/>
                    </a:lnTo>
                    <a:lnTo>
                      <a:pt x="20" y="0"/>
                    </a:lnTo>
                    <a:lnTo>
                      <a:pt x="20" y="0"/>
                    </a:lnTo>
                    <a:lnTo>
                      <a:pt x="24" y="0"/>
                    </a:lnTo>
                    <a:lnTo>
                      <a:pt x="24" y="4"/>
                    </a:lnTo>
                    <a:lnTo>
                      <a:pt x="24" y="104"/>
                    </a:lnTo>
                    <a:close/>
                  </a:path>
                </a:pathLst>
              </a:custGeom>
              <a:grpFill/>
              <a:ln w="9525">
                <a:noFill/>
                <a:round/>
              </a:ln>
            </p:spPr>
            <p:txBody>
              <a:bodyPr/>
              <a:lstStyle/>
              <a:p>
                <a:pPr defTabSz="685165" fontAlgn="auto">
                  <a:spcBef>
                    <a:spcPts val="0"/>
                  </a:spcBef>
                  <a:spcAft>
                    <a:spcPts val="0"/>
                  </a:spcAft>
                  <a:defRPr/>
                </a:pPr>
                <a:endParaRPr kumimoji="0" lang="zh-CN" altLang="en-US" sz="900" b="1" kern="0">
                  <a:solidFill>
                    <a:srgbClr val="000000">
                      <a:lumMod val="50000"/>
                      <a:lumOff val="50000"/>
                    </a:srgbClr>
                  </a:solidFill>
                  <a:latin typeface="Huawei Sans" panose="020C0503030203020204" pitchFamily="34" charset="0"/>
                  <a:ea typeface="方正兰亭黑简体" panose="02000000000000000000" pitchFamily="2" charset="-122"/>
                  <a:cs typeface="Times New Roman" panose="02020503050405090304" pitchFamily="18" charset="0"/>
                  <a:sym typeface="Huawei Sans" panose="020C0503030203020204" pitchFamily="34" charset="0"/>
                </a:endParaRPr>
              </a:p>
            </p:txBody>
          </p:sp>
          <p:sp>
            <p:nvSpPr>
              <p:cNvPr id="54" name="Freeform 41"/>
              <p:cNvSpPr/>
              <p:nvPr/>
            </p:nvSpPr>
            <p:spPr bwMode="auto">
              <a:xfrm>
                <a:off x="13232065" y="1809750"/>
                <a:ext cx="38100" cy="171450"/>
              </a:xfrm>
              <a:custGeom>
                <a:avLst/>
                <a:gdLst/>
                <a:ahLst/>
                <a:cxnLst>
                  <a:cxn ang="0">
                    <a:pos x="24" y="104"/>
                  </a:cxn>
                  <a:cxn ang="0">
                    <a:pos x="24" y="104"/>
                  </a:cxn>
                  <a:cxn ang="0">
                    <a:pos x="22" y="106"/>
                  </a:cxn>
                  <a:cxn ang="0">
                    <a:pos x="20" y="108"/>
                  </a:cxn>
                  <a:cxn ang="0">
                    <a:pos x="4" y="108"/>
                  </a:cxn>
                  <a:cxn ang="0">
                    <a:pos x="4" y="108"/>
                  </a:cxn>
                  <a:cxn ang="0">
                    <a:pos x="2" y="106"/>
                  </a:cxn>
                  <a:cxn ang="0">
                    <a:pos x="0" y="104"/>
                  </a:cxn>
                  <a:cxn ang="0">
                    <a:pos x="0" y="4"/>
                  </a:cxn>
                  <a:cxn ang="0">
                    <a:pos x="0" y="4"/>
                  </a:cxn>
                  <a:cxn ang="0">
                    <a:pos x="2" y="0"/>
                  </a:cxn>
                  <a:cxn ang="0">
                    <a:pos x="4" y="0"/>
                  </a:cxn>
                  <a:cxn ang="0">
                    <a:pos x="20" y="0"/>
                  </a:cxn>
                  <a:cxn ang="0">
                    <a:pos x="20" y="0"/>
                  </a:cxn>
                  <a:cxn ang="0">
                    <a:pos x="22" y="0"/>
                  </a:cxn>
                  <a:cxn ang="0">
                    <a:pos x="24" y="4"/>
                  </a:cxn>
                  <a:cxn ang="0">
                    <a:pos x="24" y="104"/>
                  </a:cxn>
                </a:cxnLst>
                <a:rect l="0" t="0" r="r" b="b"/>
                <a:pathLst>
                  <a:path w="24" h="108">
                    <a:moveTo>
                      <a:pt x="24" y="104"/>
                    </a:moveTo>
                    <a:lnTo>
                      <a:pt x="24" y="104"/>
                    </a:lnTo>
                    <a:lnTo>
                      <a:pt x="22" y="106"/>
                    </a:lnTo>
                    <a:lnTo>
                      <a:pt x="20" y="108"/>
                    </a:lnTo>
                    <a:lnTo>
                      <a:pt x="4" y="108"/>
                    </a:lnTo>
                    <a:lnTo>
                      <a:pt x="4" y="108"/>
                    </a:lnTo>
                    <a:lnTo>
                      <a:pt x="2" y="106"/>
                    </a:lnTo>
                    <a:lnTo>
                      <a:pt x="0" y="104"/>
                    </a:lnTo>
                    <a:lnTo>
                      <a:pt x="0" y="4"/>
                    </a:lnTo>
                    <a:lnTo>
                      <a:pt x="0" y="4"/>
                    </a:lnTo>
                    <a:lnTo>
                      <a:pt x="2" y="0"/>
                    </a:lnTo>
                    <a:lnTo>
                      <a:pt x="4" y="0"/>
                    </a:lnTo>
                    <a:lnTo>
                      <a:pt x="20" y="0"/>
                    </a:lnTo>
                    <a:lnTo>
                      <a:pt x="20" y="0"/>
                    </a:lnTo>
                    <a:lnTo>
                      <a:pt x="22" y="0"/>
                    </a:lnTo>
                    <a:lnTo>
                      <a:pt x="24" y="4"/>
                    </a:lnTo>
                    <a:lnTo>
                      <a:pt x="24" y="104"/>
                    </a:lnTo>
                    <a:close/>
                  </a:path>
                </a:pathLst>
              </a:custGeom>
              <a:grpFill/>
              <a:ln w="9525">
                <a:noFill/>
                <a:round/>
              </a:ln>
            </p:spPr>
            <p:txBody>
              <a:bodyPr/>
              <a:lstStyle/>
              <a:p>
                <a:pPr defTabSz="685165" fontAlgn="auto">
                  <a:spcBef>
                    <a:spcPts val="0"/>
                  </a:spcBef>
                  <a:spcAft>
                    <a:spcPts val="0"/>
                  </a:spcAft>
                  <a:defRPr/>
                </a:pPr>
                <a:endParaRPr kumimoji="0" lang="zh-CN" altLang="en-US" sz="900" b="1" kern="0">
                  <a:solidFill>
                    <a:srgbClr val="000000">
                      <a:lumMod val="50000"/>
                      <a:lumOff val="50000"/>
                    </a:srgbClr>
                  </a:solidFill>
                  <a:latin typeface="Huawei Sans" panose="020C0503030203020204" pitchFamily="34" charset="0"/>
                  <a:ea typeface="方正兰亭黑简体" panose="02000000000000000000" pitchFamily="2" charset="-122"/>
                  <a:cs typeface="Times New Roman" panose="02020503050405090304" pitchFamily="18" charset="0"/>
                  <a:sym typeface="Huawei Sans" panose="020C0503030203020204" pitchFamily="34" charset="0"/>
                </a:endParaRPr>
              </a:p>
            </p:txBody>
          </p:sp>
          <p:sp>
            <p:nvSpPr>
              <p:cNvPr id="55" name="Freeform 42"/>
              <p:cNvSpPr/>
              <p:nvPr/>
            </p:nvSpPr>
            <p:spPr bwMode="auto">
              <a:xfrm>
                <a:off x="13346365" y="1809750"/>
                <a:ext cx="38100" cy="171450"/>
              </a:xfrm>
              <a:custGeom>
                <a:avLst/>
                <a:gdLst/>
                <a:ahLst/>
                <a:cxnLst>
                  <a:cxn ang="0">
                    <a:pos x="24" y="106"/>
                  </a:cxn>
                  <a:cxn ang="0">
                    <a:pos x="24" y="106"/>
                  </a:cxn>
                  <a:cxn ang="0">
                    <a:pos x="24" y="108"/>
                  </a:cxn>
                  <a:cxn ang="0">
                    <a:pos x="22" y="108"/>
                  </a:cxn>
                  <a:cxn ang="0">
                    <a:pos x="4" y="108"/>
                  </a:cxn>
                  <a:cxn ang="0">
                    <a:pos x="4" y="108"/>
                  </a:cxn>
                  <a:cxn ang="0">
                    <a:pos x="2" y="108"/>
                  </a:cxn>
                  <a:cxn ang="0">
                    <a:pos x="0" y="106"/>
                  </a:cxn>
                  <a:cxn ang="0">
                    <a:pos x="0" y="4"/>
                  </a:cxn>
                  <a:cxn ang="0">
                    <a:pos x="0" y="4"/>
                  </a:cxn>
                  <a:cxn ang="0">
                    <a:pos x="2" y="2"/>
                  </a:cxn>
                  <a:cxn ang="0">
                    <a:pos x="4" y="0"/>
                  </a:cxn>
                  <a:cxn ang="0">
                    <a:pos x="22" y="0"/>
                  </a:cxn>
                  <a:cxn ang="0">
                    <a:pos x="22" y="0"/>
                  </a:cxn>
                  <a:cxn ang="0">
                    <a:pos x="24" y="2"/>
                  </a:cxn>
                  <a:cxn ang="0">
                    <a:pos x="24" y="4"/>
                  </a:cxn>
                  <a:cxn ang="0">
                    <a:pos x="24" y="106"/>
                  </a:cxn>
                </a:cxnLst>
                <a:rect l="0" t="0" r="r" b="b"/>
                <a:pathLst>
                  <a:path w="24" h="108">
                    <a:moveTo>
                      <a:pt x="24" y="106"/>
                    </a:moveTo>
                    <a:lnTo>
                      <a:pt x="24" y="106"/>
                    </a:lnTo>
                    <a:lnTo>
                      <a:pt x="24" y="108"/>
                    </a:lnTo>
                    <a:lnTo>
                      <a:pt x="22" y="108"/>
                    </a:lnTo>
                    <a:lnTo>
                      <a:pt x="4" y="108"/>
                    </a:lnTo>
                    <a:lnTo>
                      <a:pt x="4" y="108"/>
                    </a:lnTo>
                    <a:lnTo>
                      <a:pt x="2" y="108"/>
                    </a:lnTo>
                    <a:lnTo>
                      <a:pt x="0" y="106"/>
                    </a:lnTo>
                    <a:lnTo>
                      <a:pt x="0" y="4"/>
                    </a:lnTo>
                    <a:lnTo>
                      <a:pt x="0" y="4"/>
                    </a:lnTo>
                    <a:lnTo>
                      <a:pt x="2" y="2"/>
                    </a:lnTo>
                    <a:lnTo>
                      <a:pt x="4" y="0"/>
                    </a:lnTo>
                    <a:lnTo>
                      <a:pt x="22" y="0"/>
                    </a:lnTo>
                    <a:lnTo>
                      <a:pt x="22" y="0"/>
                    </a:lnTo>
                    <a:lnTo>
                      <a:pt x="24" y="2"/>
                    </a:lnTo>
                    <a:lnTo>
                      <a:pt x="24" y="4"/>
                    </a:lnTo>
                    <a:lnTo>
                      <a:pt x="24" y="106"/>
                    </a:lnTo>
                    <a:close/>
                  </a:path>
                </a:pathLst>
              </a:custGeom>
              <a:grpFill/>
              <a:ln w="9525">
                <a:noFill/>
                <a:round/>
              </a:ln>
            </p:spPr>
            <p:txBody>
              <a:bodyPr/>
              <a:lstStyle/>
              <a:p>
                <a:pPr defTabSz="685165" fontAlgn="auto">
                  <a:spcBef>
                    <a:spcPts val="0"/>
                  </a:spcBef>
                  <a:spcAft>
                    <a:spcPts val="0"/>
                  </a:spcAft>
                  <a:defRPr/>
                </a:pPr>
                <a:endParaRPr kumimoji="0" lang="zh-CN" altLang="en-US" sz="900" b="1" kern="0">
                  <a:solidFill>
                    <a:srgbClr val="000000">
                      <a:lumMod val="50000"/>
                      <a:lumOff val="50000"/>
                    </a:srgbClr>
                  </a:solidFill>
                  <a:latin typeface="Huawei Sans" panose="020C0503030203020204" pitchFamily="34" charset="0"/>
                  <a:ea typeface="方正兰亭黑简体" panose="02000000000000000000" pitchFamily="2" charset="-122"/>
                  <a:cs typeface="Times New Roman" panose="02020503050405090304" pitchFamily="18" charset="0"/>
                  <a:sym typeface="Huawei Sans" panose="020C0503030203020204" pitchFamily="34" charset="0"/>
                </a:endParaRPr>
              </a:p>
            </p:txBody>
          </p:sp>
          <p:sp>
            <p:nvSpPr>
              <p:cNvPr id="56" name="Freeform 43"/>
              <p:cNvSpPr/>
              <p:nvPr/>
            </p:nvSpPr>
            <p:spPr bwMode="auto">
              <a:xfrm>
                <a:off x="13108240" y="1704975"/>
                <a:ext cx="285750" cy="88900"/>
              </a:xfrm>
              <a:custGeom>
                <a:avLst/>
                <a:gdLst/>
                <a:ahLst/>
                <a:cxnLst>
                  <a:cxn ang="0">
                    <a:pos x="58" y="8"/>
                  </a:cxn>
                  <a:cxn ang="0">
                    <a:pos x="58" y="8"/>
                  </a:cxn>
                  <a:cxn ang="0">
                    <a:pos x="64" y="6"/>
                  </a:cxn>
                  <a:cxn ang="0">
                    <a:pos x="72" y="2"/>
                  </a:cxn>
                  <a:cxn ang="0">
                    <a:pos x="90" y="0"/>
                  </a:cxn>
                  <a:cxn ang="0">
                    <a:pos x="108" y="2"/>
                  </a:cxn>
                  <a:cxn ang="0">
                    <a:pos x="116" y="6"/>
                  </a:cxn>
                  <a:cxn ang="0">
                    <a:pos x="122" y="8"/>
                  </a:cxn>
                  <a:cxn ang="0">
                    <a:pos x="168" y="36"/>
                  </a:cxn>
                  <a:cxn ang="0">
                    <a:pos x="168" y="36"/>
                  </a:cxn>
                  <a:cxn ang="0">
                    <a:pos x="178" y="44"/>
                  </a:cxn>
                  <a:cxn ang="0">
                    <a:pos x="180" y="48"/>
                  </a:cxn>
                  <a:cxn ang="0">
                    <a:pos x="180" y="50"/>
                  </a:cxn>
                  <a:cxn ang="0">
                    <a:pos x="178" y="52"/>
                  </a:cxn>
                  <a:cxn ang="0">
                    <a:pos x="174" y="54"/>
                  </a:cxn>
                  <a:cxn ang="0">
                    <a:pos x="162" y="56"/>
                  </a:cxn>
                  <a:cxn ang="0">
                    <a:pos x="128" y="56"/>
                  </a:cxn>
                  <a:cxn ang="0">
                    <a:pos x="128" y="56"/>
                  </a:cxn>
                  <a:cxn ang="0">
                    <a:pos x="52" y="56"/>
                  </a:cxn>
                  <a:cxn ang="0">
                    <a:pos x="18" y="56"/>
                  </a:cxn>
                  <a:cxn ang="0">
                    <a:pos x="18" y="56"/>
                  </a:cxn>
                  <a:cxn ang="0">
                    <a:pos x="6" y="54"/>
                  </a:cxn>
                  <a:cxn ang="0">
                    <a:pos x="2" y="52"/>
                  </a:cxn>
                  <a:cxn ang="0">
                    <a:pos x="0" y="50"/>
                  </a:cxn>
                  <a:cxn ang="0">
                    <a:pos x="0" y="48"/>
                  </a:cxn>
                  <a:cxn ang="0">
                    <a:pos x="2" y="44"/>
                  </a:cxn>
                  <a:cxn ang="0">
                    <a:pos x="12" y="36"/>
                  </a:cxn>
                  <a:cxn ang="0">
                    <a:pos x="58" y="8"/>
                  </a:cxn>
                </a:cxnLst>
                <a:rect l="0" t="0" r="r" b="b"/>
                <a:pathLst>
                  <a:path w="180" h="56">
                    <a:moveTo>
                      <a:pt x="58" y="8"/>
                    </a:moveTo>
                    <a:lnTo>
                      <a:pt x="58" y="8"/>
                    </a:lnTo>
                    <a:lnTo>
                      <a:pt x="64" y="6"/>
                    </a:lnTo>
                    <a:lnTo>
                      <a:pt x="72" y="2"/>
                    </a:lnTo>
                    <a:lnTo>
                      <a:pt x="90" y="0"/>
                    </a:lnTo>
                    <a:lnTo>
                      <a:pt x="108" y="2"/>
                    </a:lnTo>
                    <a:lnTo>
                      <a:pt x="116" y="6"/>
                    </a:lnTo>
                    <a:lnTo>
                      <a:pt x="122" y="8"/>
                    </a:lnTo>
                    <a:lnTo>
                      <a:pt x="168" y="36"/>
                    </a:lnTo>
                    <a:lnTo>
                      <a:pt x="168" y="36"/>
                    </a:lnTo>
                    <a:lnTo>
                      <a:pt x="178" y="44"/>
                    </a:lnTo>
                    <a:lnTo>
                      <a:pt x="180" y="48"/>
                    </a:lnTo>
                    <a:lnTo>
                      <a:pt x="180" y="50"/>
                    </a:lnTo>
                    <a:lnTo>
                      <a:pt x="178" y="52"/>
                    </a:lnTo>
                    <a:lnTo>
                      <a:pt x="174" y="54"/>
                    </a:lnTo>
                    <a:lnTo>
                      <a:pt x="162" y="56"/>
                    </a:lnTo>
                    <a:lnTo>
                      <a:pt x="128" y="56"/>
                    </a:lnTo>
                    <a:lnTo>
                      <a:pt x="128" y="56"/>
                    </a:lnTo>
                    <a:lnTo>
                      <a:pt x="52" y="56"/>
                    </a:lnTo>
                    <a:lnTo>
                      <a:pt x="18" y="56"/>
                    </a:lnTo>
                    <a:lnTo>
                      <a:pt x="18" y="56"/>
                    </a:lnTo>
                    <a:lnTo>
                      <a:pt x="6" y="54"/>
                    </a:lnTo>
                    <a:lnTo>
                      <a:pt x="2" y="52"/>
                    </a:lnTo>
                    <a:lnTo>
                      <a:pt x="0" y="50"/>
                    </a:lnTo>
                    <a:lnTo>
                      <a:pt x="0" y="48"/>
                    </a:lnTo>
                    <a:lnTo>
                      <a:pt x="2" y="44"/>
                    </a:lnTo>
                    <a:lnTo>
                      <a:pt x="12" y="36"/>
                    </a:lnTo>
                    <a:lnTo>
                      <a:pt x="58" y="8"/>
                    </a:lnTo>
                    <a:close/>
                  </a:path>
                </a:pathLst>
              </a:custGeom>
              <a:grpFill/>
              <a:ln w="9525">
                <a:noFill/>
                <a:round/>
              </a:ln>
            </p:spPr>
            <p:txBody>
              <a:bodyPr/>
              <a:lstStyle/>
              <a:p>
                <a:pPr defTabSz="685165" fontAlgn="auto">
                  <a:spcBef>
                    <a:spcPts val="0"/>
                  </a:spcBef>
                  <a:spcAft>
                    <a:spcPts val="0"/>
                  </a:spcAft>
                  <a:defRPr/>
                </a:pPr>
                <a:endParaRPr kumimoji="0" lang="zh-CN" altLang="en-US" sz="900" b="1" kern="0">
                  <a:solidFill>
                    <a:srgbClr val="000000">
                      <a:lumMod val="50000"/>
                      <a:lumOff val="50000"/>
                    </a:srgbClr>
                  </a:solidFill>
                  <a:latin typeface="Huawei Sans" panose="020C0503030203020204" pitchFamily="34" charset="0"/>
                  <a:ea typeface="方正兰亭黑简体" panose="02000000000000000000" pitchFamily="2" charset="-122"/>
                  <a:cs typeface="Times New Roman" panose="02020503050405090304" pitchFamily="18" charset="0"/>
                  <a:sym typeface="Huawei Sans" panose="020C0503030203020204" pitchFamily="34" charset="0"/>
                </a:endParaRPr>
              </a:p>
            </p:txBody>
          </p:sp>
          <p:sp>
            <p:nvSpPr>
              <p:cNvPr id="57" name="Freeform 44"/>
              <p:cNvSpPr>
                <a:spLocks noEditPoints="1"/>
              </p:cNvSpPr>
              <p:nvPr/>
            </p:nvSpPr>
            <p:spPr bwMode="auto">
              <a:xfrm>
                <a:off x="13079665" y="1987550"/>
                <a:ext cx="342900" cy="38100"/>
              </a:xfrm>
              <a:custGeom>
                <a:avLst/>
                <a:gdLst/>
                <a:ahLst/>
                <a:cxnLst>
                  <a:cxn ang="0">
                    <a:pos x="212" y="0"/>
                  </a:cxn>
                  <a:cxn ang="0">
                    <a:pos x="4" y="0"/>
                  </a:cxn>
                  <a:cxn ang="0">
                    <a:pos x="4" y="0"/>
                  </a:cxn>
                  <a:cxn ang="0">
                    <a:pos x="2" y="0"/>
                  </a:cxn>
                  <a:cxn ang="0">
                    <a:pos x="0" y="2"/>
                  </a:cxn>
                  <a:cxn ang="0">
                    <a:pos x="0" y="22"/>
                  </a:cxn>
                  <a:cxn ang="0">
                    <a:pos x="0" y="22"/>
                  </a:cxn>
                  <a:cxn ang="0">
                    <a:pos x="2" y="24"/>
                  </a:cxn>
                  <a:cxn ang="0">
                    <a:pos x="4" y="24"/>
                  </a:cxn>
                  <a:cxn ang="0">
                    <a:pos x="212" y="24"/>
                  </a:cxn>
                  <a:cxn ang="0">
                    <a:pos x="212" y="24"/>
                  </a:cxn>
                  <a:cxn ang="0">
                    <a:pos x="214" y="24"/>
                  </a:cxn>
                  <a:cxn ang="0">
                    <a:pos x="216" y="22"/>
                  </a:cxn>
                  <a:cxn ang="0">
                    <a:pos x="216" y="2"/>
                  </a:cxn>
                  <a:cxn ang="0">
                    <a:pos x="216" y="2"/>
                  </a:cxn>
                  <a:cxn ang="0">
                    <a:pos x="214" y="0"/>
                  </a:cxn>
                  <a:cxn ang="0">
                    <a:pos x="212" y="0"/>
                  </a:cxn>
                  <a:cxn ang="0">
                    <a:pos x="212" y="0"/>
                  </a:cxn>
                  <a:cxn ang="0">
                    <a:pos x="148" y="18"/>
                  </a:cxn>
                  <a:cxn ang="0">
                    <a:pos x="148" y="18"/>
                  </a:cxn>
                  <a:cxn ang="0">
                    <a:pos x="146" y="20"/>
                  </a:cxn>
                  <a:cxn ang="0">
                    <a:pos x="144" y="20"/>
                  </a:cxn>
                  <a:cxn ang="0">
                    <a:pos x="72" y="20"/>
                  </a:cxn>
                  <a:cxn ang="0">
                    <a:pos x="72" y="20"/>
                  </a:cxn>
                  <a:cxn ang="0">
                    <a:pos x="70" y="20"/>
                  </a:cxn>
                  <a:cxn ang="0">
                    <a:pos x="68" y="18"/>
                  </a:cxn>
                  <a:cxn ang="0">
                    <a:pos x="68" y="16"/>
                  </a:cxn>
                  <a:cxn ang="0">
                    <a:pos x="68" y="16"/>
                  </a:cxn>
                  <a:cxn ang="0">
                    <a:pos x="70" y="14"/>
                  </a:cxn>
                  <a:cxn ang="0">
                    <a:pos x="72" y="14"/>
                  </a:cxn>
                  <a:cxn ang="0">
                    <a:pos x="144" y="14"/>
                  </a:cxn>
                  <a:cxn ang="0">
                    <a:pos x="144" y="14"/>
                  </a:cxn>
                  <a:cxn ang="0">
                    <a:pos x="146" y="14"/>
                  </a:cxn>
                  <a:cxn ang="0">
                    <a:pos x="148" y="16"/>
                  </a:cxn>
                  <a:cxn ang="0">
                    <a:pos x="148" y="18"/>
                  </a:cxn>
                  <a:cxn ang="0">
                    <a:pos x="148" y="8"/>
                  </a:cxn>
                  <a:cxn ang="0">
                    <a:pos x="148" y="8"/>
                  </a:cxn>
                  <a:cxn ang="0">
                    <a:pos x="146" y="10"/>
                  </a:cxn>
                  <a:cxn ang="0">
                    <a:pos x="144" y="10"/>
                  </a:cxn>
                  <a:cxn ang="0">
                    <a:pos x="72" y="10"/>
                  </a:cxn>
                  <a:cxn ang="0">
                    <a:pos x="72" y="10"/>
                  </a:cxn>
                  <a:cxn ang="0">
                    <a:pos x="70" y="10"/>
                  </a:cxn>
                  <a:cxn ang="0">
                    <a:pos x="68" y="8"/>
                  </a:cxn>
                  <a:cxn ang="0">
                    <a:pos x="68" y="6"/>
                  </a:cxn>
                  <a:cxn ang="0">
                    <a:pos x="68" y="6"/>
                  </a:cxn>
                  <a:cxn ang="0">
                    <a:pos x="70" y="4"/>
                  </a:cxn>
                  <a:cxn ang="0">
                    <a:pos x="72" y="4"/>
                  </a:cxn>
                  <a:cxn ang="0">
                    <a:pos x="144" y="4"/>
                  </a:cxn>
                  <a:cxn ang="0">
                    <a:pos x="144" y="4"/>
                  </a:cxn>
                  <a:cxn ang="0">
                    <a:pos x="146" y="4"/>
                  </a:cxn>
                  <a:cxn ang="0">
                    <a:pos x="148" y="6"/>
                  </a:cxn>
                  <a:cxn ang="0">
                    <a:pos x="148" y="8"/>
                  </a:cxn>
                </a:cxnLst>
                <a:rect l="0" t="0" r="r" b="b"/>
                <a:pathLst>
                  <a:path w="216" h="24">
                    <a:moveTo>
                      <a:pt x="212" y="0"/>
                    </a:moveTo>
                    <a:lnTo>
                      <a:pt x="4" y="0"/>
                    </a:lnTo>
                    <a:lnTo>
                      <a:pt x="4" y="0"/>
                    </a:lnTo>
                    <a:lnTo>
                      <a:pt x="2" y="0"/>
                    </a:lnTo>
                    <a:lnTo>
                      <a:pt x="0" y="2"/>
                    </a:lnTo>
                    <a:lnTo>
                      <a:pt x="0" y="22"/>
                    </a:lnTo>
                    <a:lnTo>
                      <a:pt x="0" y="22"/>
                    </a:lnTo>
                    <a:lnTo>
                      <a:pt x="2" y="24"/>
                    </a:lnTo>
                    <a:lnTo>
                      <a:pt x="4" y="24"/>
                    </a:lnTo>
                    <a:lnTo>
                      <a:pt x="212" y="24"/>
                    </a:lnTo>
                    <a:lnTo>
                      <a:pt x="212" y="24"/>
                    </a:lnTo>
                    <a:lnTo>
                      <a:pt x="214" y="24"/>
                    </a:lnTo>
                    <a:lnTo>
                      <a:pt x="216" y="22"/>
                    </a:lnTo>
                    <a:lnTo>
                      <a:pt x="216" y="2"/>
                    </a:lnTo>
                    <a:lnTo>
                      <a:pt x="216" y="2"/>
                    </a:lnTo>
                    <a:lnTo>
                      <a:pt x="214" y="0"/>
                    </a:lnTo>
                    <a:lnTo>
                      <a:pt x="212" y="0"/>
                    </a:lnTo>
                    <a:lnTo>
                      <a:pt x="212" y="0"/>
                    </a:lnTo>
                    <a:close/>
                    <a:moveTo>
                      <a:pt x="148" y="18"/>
                    </a:moveTo>
                    <a:lnTo>
                      <a:pt x="148" y="18"/>
                    </a:lnTo>
                    <a:lnTo>
                      <a:pt x="146" y="20"/>
                    </a:lnTo>
                    <a:lnTo>
                      <a:pt x="144" y="20"/>
                    </a:lnTo>
                    <a:lnTo>
                      <a:pt x="72" y="20"/>
                    </a:lnTo>
                    <a:lnTo>
                      <a:pt x="72" y="20"/>
                    </a:lnTo>
                    <a:lnTo>
                      <a:pt x="70" y="20"/>
                    </a:lnTo>
                    <a:lnTo>
                      <a:pt x="68" y="18"/>
                    </a:lnTo>
                    <a:lnTo>
                      <a:pt x="68" y="16"/>
                    </a:lnTo>
                    <a:lnTo>
                      <a:pt x="68" y="16"/>
                    </a:lnTo>
                    <a:lnTo>
                      <a:pt x="70" y="14"/>
                    </a:lnTo>
                    <a:lnTo>
                      <a:pt x="72" y="14"/>
                    </a:lnTo>
                    <a:lnTo>
                      <a:pt x="144" y="14"/>
                    </a:lnTo>
                    <a:lnTo>
                      <a:pt x="144" y="14"/>
                    </a:lnTo>
                    <a:lnTo>
                      <a:pt x="146" y="14"/>
                    </a:lnTo>
                    <a:lnTo>
                      <a:pt x="148" y="16"/>
                    </a:lnTo>
                    <a:lnTo>
                      <a:pt x="148" y="18"/>
                    </a:lnTo>
                    <a:close/>
                    <a:moveTo>
                      <a:pt x="148" y="8"/>
                    </a:moveTo>
                    <a:lnTo>
                      <a:pt x="148" y="8"/>
                    </a:lnTo>
                    <a:lnTo>
                      <a:pt x="146" y="10"/>
                    </a:lnTo>
                    <a:lnTo>
                      <a:pt x="144" y="10"/>
                    </a:lnTo>
                    <a:lnTo>
                      <a:pt x="72" y="10"/>
                    </a:lnTo>
                    <a:lnTo>
                      <a:pt x="72" y="10"/>
                    </a:lnTo>
                    <a:lnTo>
                      <a:pt x="70" y="10"/>
                    </a:lnTo>
                    <a:lnTo>
                      <a:pt x="68" y="8"/>
                    </a:lnTo>
                    <a:lnTo>
                      <a:pt x="68" y="6"/>
                    </a:lnTo>
                    <a:lnTo>
                      <a:pt x="68" y="6"/>
                    </a:lnTo>
                    <a:lnTo>
                      <a:pt x="70" y="4"/>
                    </a:lnTo>
                    <a:lnTo>
                      <a:pt x="72" y="4"/>
                    </a:lnTo>
                    <a:lnTo>
                      <a:pt x="144" y="4"/>
                    </a:lnTo>
                    <a:lnTo>
                      <a:pt x="144" y="4"/>
                    </a:lnTo>
                    <a:lnTo>
                      <a:pt x="146" y="4"/>
                    </a:lnTo>
                    <a:lnTo>
                      <a:pt x="148" y="6"/>
                    </a:lnTo>
                    <a:lnTo>
                      <a:pt x="148" y="8"/>
                    </a:lnTo>
                    <a:close/>
                  </a:path>
                </a:pathLst>
              </a:custGeom>
              <a:grpFill/>
              <a:ln w="9525">
                <a:noFill/>
                <a:round/>
              </a:ln>
            </p:spPr>
            <p:txBody>
              <a:bodyPr/>
              <a:lstStyle/>
              <a:p>
                <a:pPr defTabSz="685165" fontAlgn="auto">
                  <a:spcBef>
                    <a:spcPts val="0"/>
                  </a:spcBef>
                  <a:spcAft>
                    <a:spcPts val="0"/>
                  </a:spcAft>
                  <a:defRPr/>
                </a:pPr>
                <a:endParaRPr kumimoji="0" lang="zh-CN" altLang="en-US" sz="900" b="1" kern="0">
                  <a:solidFill>
                    <a:srgbClr val="000000">
                      <a:lumMod val="50000"/>
                      <a:lumOff val="50000"/>
                    </a:srgbClr>
                  </a:solidFill>
                  <a:latin typeface="Huawei Sans" panose="020C0503030203020204" pitchFamily="34" charset="0"/>
                  <a:ea typeface="方正兰亭黑简体" panose="02000000000000000000" pitchFamily="2" charset="-122"/>
                  <a:cs typeface="Times New Roman" panose="02020503050405090304" pitchFamily="18" charset="0"/>
                  <a:sym typeface="Huawei Sans" panose="020C0503030203020204" pitchFamily="34" charset="0"/>
                </a:endParaRPr>
              </a:p>
            </p:txBody>
          </p:sp>
        </p:grpSp>
        <p:grpSp>
          <p:nvGrpSpPr>
            <p:cNvPr id="59" name="组合 251"/>
            <p:cNvGrpSpPr/>
            <p:nvPr/>
          </p:nvGrpSpPr>
          <p:grpSpPr>
            <a:xfrm>
              <a:off x="3856416" y="2217569"/>
              <a:ext cx="671435" cy="512018"/>
              <a:chOff x="13091838" y="3422650"/>
              <a:chExt cx="1525588" cy="984243"/>
            </a:xfrm>
            <a:solidFill>
              <a:srgbClr val="00B0F0"/>
            </a:solidFill>
          </p:grpSpPr>
          <p:sp>
            <p:nvSpPr>
              <p:cNvPr id="60" name="Freeform 76"/>
              <p:cNvSpPr/>
              <p:nvPr/>
            </p:nvSpPr>
            <p:spPr bwMode="auto">
              <a:xfrm>
                <a:off x="13583966" y="3422650"/>
                <a:ext cx="401639" cy="141289"/>
              </a:xfrm>
              <a:custGeom>
                <a:avLst/>
                <a:gdLst/>
                <a:ahLst/>
                <a:cxnLst>
                  <a:cxn ang="0">
                    <a:pos x="439" y="172"/>
                  </a:cxn>
                  <a:cxn ang="0">
                    <a:pos x="452" y="179"/>
                  </a:cxn>
                  <a:cxn ang="0">
                    <a:pos x="459" y="177"/>
                  </a:cxn>
                  <a:cxn ang="0">
                    <a:pos x="501" y="143"/>
                  </a:cxn>
                  <a:cxn ang="0">
                    <a:pos x="504" y="138"/>
                  </a:cxn>
                  <a:cxn ang="0">
                    <a:pos x="506" y="132"/>
                  </a:cxn>
                  <a:cxn ang="0">
                    <a:pos x="501" y="118"/>
                  </a:cxn>
                  <a:cxn ang="0">
                    <a:pos x="477" y="93"/>
                  </a:cxn>
                  <a:cxn ang="0">
                    <a:pos x="423" y="52"/>
                  </a:cxn>
                  <a:cxn ang="0">
                    <a:pos x="363" y="22"/>
                  </a:cxn>
                  <a:cxn ang="0">
                    <a:pos x="297" y="5"/>
                  </a:cxn>
                  <a:cxn ang="0">
                    <a:pos x="262" y="0"/>
                  </a:cxn>
                  <a:cxn ang="0">
                    <a:pos x="241" y="0"/>
                  </a:cxn>
                  <a:cxn ang="0">
                    <a:pos x="177" y="7"/>
                  </a:cxn>
                  <a:cxn ang="0">
                    <a:pos x="115" y="24"/>
                  </a:cxn>
                  <a:cxn ang="0">
                    <a:pos x="57" y="52"/>
                  </a:cxn>
                  <a:cxn ang="0">
                    <a:pos x="7" y="91"/>
                  </a:cxn>
                  <a:cxn ang="0">
                    <a:pos x="2" y="98"/>
                  </a:cxn>
                  <a:cxn ang="0">
                    <a:pos x="2" y="111"/>
                  </a:cxn>
                  <a:cxn ang="0">
                    <a:pos x="37" y="152"/>
                  </a:cxn>
                  <a:cxn ang="0">
                    <a:pos x="42" y="155"/>
                  </a:cxn>
                  <a:cxn ang="0">
                    <a:pos x="51" y="157"/>
                  </a:cxn>
                  <a:cxn ang="0">
                    <a:pos x="62" y="154"/>
                  </a:cxn>
                  <a:cxn ang="0">
                    <a:pos x="81" y="137"/>
                  </a:cxn>
                  <a:cxn ang="0">
                    <a:pos x="123" y="111"/>
                  </a:cxn>
                  <a:cxn ang="0">
                    <a:pos x="169" y="93"/>
                  </a:cxn>
                  <a:cxn ang="0">
                    <a:pos x="216" y="84"/>
                  </a:cxn>
                  <a:cxn ang="0">
                    <a:pos x="241" y="83"/>
                  </a:cxn>
                  <a:cxn ang="0">
                    <a:pos x="256" y="84"/>
                  </a:cxn>
                  <a:cxn ang="0">
                    <a:pos x="309" y="93"/>
                  </a:cxn>
                  <a:cxn ang="0">
                    <a:pos x="358" y="110"/>
                  </a:cxn>
                  <a:cxn ang="0">
                    <a:pos x="402" y="137"/>
                  </a:cxn>
                  <a:cxn ang="0">
                    <a:pos x="439" y="172"/>
                  </a:cxn>
                </a:cxnLst>
                <a:rect l="0" t="0" r="r" b="b"/>
                <a:pathLst>
                  <a:path w="506" h="179">
                    <a:moveTo>
                      <a:pt x="439" y="172"/>
                    </a:moveTo>
                    <a:lnTo>
                      <a:pt x="439" y="172"/>
                    </a:lnTo>
                    <a:lnTo>
                      <a:pt x="445" y="177"/>
                    </a:lnTo>
                    <a:lnTo>
                      <a:pt x="452" y="179"/>
                    </a:lnTo>
                    <a:lnTo>
                      <a:pt x="452" y="179"/>
                    </a:lnTo>
                    <a:lnTo>
                      <a:pt x="459" y="177"/>
                    </a:lnTo>
                    <a:lnTo>
                      <a:pt x="464" y="174"/>
                    </a:lnTo>
                    <a:lnTo>
                      <a:pt x="501" y="143"/>
                    </a:lnTo>
                    <a:lnTo>
                      <a:pt x="501" y="143"/>
                    </a:lnTo>
                    <a:lnTo>
                      <a:pt x="504" y="138"/>
                    </a:lnTo>
                    <a:lnTo>
                      <a:pt x="506" y="132"/>
                    </a:lnTo>
                    <a:lnTo>
                      <a:pt x="506" y="132"/>
                    </a:lnTo>
                    <a:lnTo>
                      <a:pt x="506" y="125"/>
                    </a:lnTo>
                    <a:lnTo>
                      <a:pt x="501" y="118"/>
                    </a:lnTo>
                    <a:lnTo>
                      <a:pt x="501" y="118"/>
                    </a:lnTo>
                    <a:lnTo>
                      <a:pt x="477" y="93"/>
                    </a:lnTo>
                    <a:lnTo>
                      <a:pt x="450" y="71"/>
                    </a:lnTo>
                    <a:lnTo>
                      <a:pt x="423" y="52"/>
                    </a:lnTo>
                    <a:lnTo>
                      <a:pt x="393" y="35"/>
                    </a:lnTo>
                    <a:lnTo>
                      <a:pt x="363" y="22"/>
                    </a:lnTo>
                    <a:lnTo>
                      <a:pt x="329" y="12"/>
                    </a:lnTo>
                    <a:lnTo>
                      <a:pt x="297" y="5"/>
                    </a:lnTo>
                    <a:lnTo>
                      <a:pt x="262" y="0"/>
                    </a:lnTo>
                    <a:lnTo>
                      <a:pt x="262" y="0"/>
                    </a:lnTo>
                    <a:lnTo>
                      <a:pt x="241" y="0"/>
                    </a:lnTo>
                    <a:lnTo>
                      <a:pt x="241" y="0"/>
                    </a:lnTo>
                    <a:lnTo>
                      <a:pt x="209" y="2"/>
                    </a:lnTo>
                    <a:lnTo>
                      <a:pt x="177" y="7"/>
                    </a:lnTo>
                    <a:lnTo>
                      <a:pt x="145" y="14"/>
                    </a:lnTo>
                    <a:lnTo>
                      <a:pt x="115" y="24"/>
                    </a:lnTo>
                    <a:lnTo>
                      <a:pt x="86" y="37"/>
                    </a:lnTo>
                    <a:lnTo>
                      <a:pt x="57" y="52"/>
                    </a:lnTo>
                    <a:lnTo>
                      <a:pt x="32" y="71"/>
                    </a:lnTo>
                    <a:lnTo>
                      <a:pt x="7" y="91"/>
                    </a:lnTo>
                    <a:lnTo>
                      <a:pt x="7" y="91"/>
                    </a:lnTo>
                    <a:lnTo>
                      <a:pt x="2" y="98"/>
                    </a:lnTo>
                    <a:lnTo>
                      <a:pt x="0" y="105"/>
                    </a:lnTo>
                    <a:lnTo>
                      <a:pt x="2" y="111"/>
                    </a:lnTo>
                    <a:lnTo>
                      <a:pt x="5" y="116"/>
                    </a:lnTo>
                    <a:lnTo>
                      <a:pt x="37" y="152"/>
                    </a:lnTo>
                    <a:lnTo>
                      <a:pt x="37" y="152"/>
                    </a:lnTo>
                    <a:lnTo>
                      <a:pt x="42" y="155"/>
                    </a:lnTo>
                    <a:lnTo>
                      <a:pt x="51" y="157"/>
                    </a:lnTo>
                    <a:lnTo>
                      <a:pt x="51" y="157"/>
                    </a:lnTo>
                    <a:lnTo>
                      <a:pt x="56" y="157"/>
                    </a:lnTo>
                    <a:lnTo>
                      <a:pt x="62" y="154"/>
                    </a:lnTo>
                    <a:lnTo>
                      <a:pt x="62" y="154"/>
                    </a:lnTo>
                    <a:lnTo>
                      <a:pt x="81" y="137"/>
                    </a:lnTo>
                    <a:lnTo>
                      <a:pt x="101" y="123"/>
                    </a:lnTo>
                    <a:lnTo>
                      <a:pt x="123" y="111"/>
                    </a:lnTo>
                    <a:lnTo>
                      <a:pt x="145" y="101"/>
                    </a:lnTo>
                    <a:lnTo>
                      <a:pt x="169" y="93"/>
                    </a:lnTo>
                    <a:lnTo>
                      <a:pt x="192" y="88"/>
                    </a:lnTo>
                    <a:lnTo>
                      <a:pt x="216" y="84"/>
                    </a:lnTo>
                    <a:lnTo>
                      <a:pt x="241" y="83"/>
                    </a:lnTo>
                    <a:lnTo>
                      <a:pt x="241" y="83"/>
                    </a:lnTo>
                    <a:lnTo>
                      <a:pt x="256" y="84"/>
                    </a:lnTo>
                    <a:lnTo>
                      <a:pt x="256" y="84"/>
                    </a:lnTo>
                    <a:lnTo>
                      <a:pt x="283" y="86"/>
                    </a:lnTo>
                    <a:lnTo>
                      <a:pt x="309" y="93"/>
                    </a:lnTo>
                    <a:lnTo>
                      <a:pt x="332" y="100"/>
                    </a:lnTo>
                    <a:lnTo>
                      <a:pt x="358" y="110"/>
                    </a:lnTo>
                    <a:lnTo>
                      <a:pt x="380" y="122"/>
                    </a:lnTo>
                    <a:lnTo>
                      <a:pt x="402" y="137"/>
                    </a:lnTo>
                    <a:lnTo>
                      <a:pt x="420" y="154"/>
                    </a:lnTo>
                    <a:lnTo>
                      <a:pt x="439" y="172"/>
                    </a:lnTo>
                    <a:lnTo>
                      <a:pt x="439" y="172"/>
                    </a:lnTo>
                    <a:close/>
                  </a:path>
                </a:pathLst>
              </a:custGeom>
              <a:grpFill/>
              <a:ln w="9525">
                <a:noFill/>
                <a:round/>
              </a:ln>
            </p:spPr>
            <p:txBody>
              <a:bodyPr vert="horz" wrap="square" lIns="68544" tIns="34272" rIns="68544" bIns="34272" numCol="1" anchor="t" anchorCtr="0" compatLnSpc="1"/>
              <a:lstStyle/>
              <a:p>
                <a:pPr defTabSz="685165" fontAlgn="auto">
                  <a:spcBef>
                    <a:spcPts val="0"/>
                  </a:spcBef>
                  <a:spcAft>
                    <a:spcPts val="0"/>
                  </a:spcAft>
                  <a:defRPr/>
                </a:pPr>
                <a:endParaRPr kumimoji="0" lang="zh-CN" altLang="en-US" sz="900" kern="0">
                  <a:solidFill>
                    <a:prstClr val="black"/>
                  </a:solidFill>
                  <a:latin typeface="Huawei Sans" panose="020C0503030203020204" pitchFamily="34" charset="0"/>
                  <a:ea typeface="方正兰亭黑简体" panose="02000000000000000000" pitchFamily="2" charset="-122"/>
                  <a:cs typeface="Times New Roman" panose="02020503050405090304" pitchFamily="18" charset="0"/>
                  <a:sym typeface="Huawei Sans" panose="020C0503030203020204" pitchFamily="34" charset="0"/>
                </a:endParaRPr>
              </a:p>
            </p:txBody>
          </p:sp>
          <p:sp>
            <p:nvSpPr>
              <p:cNvPr id="61" name="Freeform 77"/>
              <p:cNvSpPr/>
              <p:nvPr/>
            </p:nvSpPr>
            <p:spPr bwMode="auto">
              <a:xfrm>
                <a:off x="13668104" y="3532187"/>
                <a:ext cx="225426" cy="100013"/>
              </a:xfrm>
              <a:custGeom>
                <a:avLst/>
                <a:gdLst/>
                <a:ahLst/>
                <a:cxnLst>
                  <a:cxn ang="0">
                    <a:pos x="147" y="0"/>
                  </a:cxn>
                  <a:cxn ang="0">
                    <a:pos x="147" y="0"/>
                  </a:cxn>
                  <a:cxn ang="0">
                    <a:pos x="137" y="0"/>
                  </a:cxn>
                  <a:cxn ang="0">
                    <a:pos x="137" y="0"/>
                  </a:cxn>
                  <a:cxn ang="0">
                    <a:pos x="118" y="2"/>
                  </a:cxn>
                  <a:cxn ang="0">
                    <a:pos x="100" y="4"/>
                  </a:cxn>
                  <a:cxn ang="0">
                    <a:pos x="83" y="7"/>
                  </a:cxn>
                  <a:cxn ang="0">
                    <a:pos x="66" y="14"/>
                  </a:cxn>
                  <a:cxn ang="0">
                    <a:pos x="49" y="21"/>
                  </a:cxn>
                  <a:cxn ang="0">
                    <a:pos x="34" y="29"/>
                  </a:cxn>
                  <a:cxn ang="0">
                    <a:pos x="19" y="39"/>
                  </a:cxn>
                  <a:cxn ang="0">
                    <a:pos x="5" y="51"/>
                  </a:cxn>
                  <a:cxn ang="0">
                    <a:pos x="5" y="51"/>
                  </a:cxn>
                  <a:cxn ang="0">
                    <a:pos x="2" y="58"/>
                  </a:cxn>
                  <a:cxn ang="0">
                    <a:pos x="0" y="64"/>
                  </a:cxn>
                  <a:cxn ang="0">
                    <a:pos x="0" y="71"/>
                  </a:cxn>
                  <a:cxn ang="0">
                    <a:pos x="5" y="76"/>
                  </a:cxn>
                  <a:cxn ang="0">
                    <a:pos x="37" y="112"/>
                  </a:cxn>
                  <a:cxn ang="0">
                    <a:pos x="37" y="112"/>
                  </a:cxn>
                  <a:cxn ang="0">
                    <a:pos x="42" y="115"/>
                  </a:cxn>
                  <a:cxn ang="0">
                    <a:pos x="49" y="117"/>
                  </a:cxn>
                  <a:cxn ang="0">
                    <a:pos x="49" y="117"/>
                  </a:cxn>
                  <a:cxn ang="0">
                    <a:pos x="56" y="117"/>
                  </a:cxn>
                  <a:cxn ang="0">
                    <a:pos x="63" y="112"/>
                  </a:cxn>
                  <a:cxn ang="0">
                    <a:pos x="63" y="112"/>
                  </a:cxn>
                  <a:cxn ang="0">
                    <a:pos x="78" y="100"/>
                  </a:cxn>
                  <a:cxn ang="0">
                    <a:pos x="96" y="91"/>
                  </a:cxn>
                  <a:cxn ang="0">
                    <a:pos x="117" y="85"/>
                  </a:cxn>
                  <a:cxn ang="0">
                    <a:pos x="137" y="83"/>
                  </a:cxn>
                  <a:cxn ang="0">
                    <a:pos x="137" y="83"/>
                  </a:cxn>
                  <a:cxn ang="0">
                    <a:pos x="142" y="83"/>
                  </a:cxn>
                  <a:cxn ang="0">
                    <a:pos x="142" y="83"/>
                  </a:cxn>
                  <a:cxn ang="0">
                    <a:pos x="154" y="85"/>
                  </a:cxn>
                  <a:cxn ang="0">
                    <a:pos x="164" y="86"/>
                  </a:cxn>
                  <a:cxn ang="0">
                    <a:pos x="184" y="95"/>
                  </a:cxn>
                  <a:cxn ang="0">
                    <a:pos x="201" y="105"/>
                  </a:cxn>
                  <a:cxn ang="0">
                    <a:pos x="209" y="112"/>
                  </a:cxn>
                  <a:cxn ang="0">
                    <a:pos x="218" y="118"/>
                  </a:cxn>
                  <a:cxn ang="0">
                    <a:pos x="218" y="118"/>
                  </a:cxn>
                  <a:cxn ang="0">
                    <a:pos x="223" y="124"/>
                  </a:cxn>
                  <a:cxn ang="0">
                    <a:pos x="231" y="125"/>
                  </a:cxn>
                  <a:cxn ang="0">
                    <a:pos x="231" y="125"/>
                  </a:cxn>
                  <a:cxn ang="0">
                    <a:pos x="236" y="124"/>
                  </a:cxn>
                  <a:cxn ang="0">
                    <a:pos x="243" y="120"/>
                  </a:cxn>
                  <a:cxn ang="0">
                    <a:pos x="279" y="90"/>
                  </a:cxn>
                  <a:cxn ang="0">
                    <a:pos x="279" y="90"/>
                  </a:cxn>
                  <a:cxn ang="0">
                    <a:pos x="282" y="85"/>
                  </a:cxn>
                  <a:cxn ang="0">
                    <a:pos x="284" y="78"/>
                  </a:cxn>
                  <a:cxn ang="0">
                    <a:pos x="284" y="78"/>
                  </a:cxn>
                  <a:cxn ang="0">
                    <a:pos x="284" y="71"/>
                  </a:cxn>
                  <a:cxn ang="0">
                    <a:pos x="280" y="64"/>
                  </a:cxn>
                  <a:cxn ang="0">
                    <a:pos x="280" y="64"/>
                  </a:cxn>
                  <a:cxn ang="0">
                    <a:pos x="267" y="51"/>
                  </a:cxn>
                  <a:cxn ang="0">
                    <a:pos x="252" y="39"/>
                  </a:cxn>
                  <a:cxn ang="0">
                    <a:pos x="236" y="29"/>
                  </a:cxn>
                  <a:cxn ang="0">
                    <a:pos x="220" y="19"/>
                  </a:cxn>
                  <a:cxn ang="0">
                    <a:pos x="203" y="12"/>
                  </a:cxn>
                  <a:cxn ang="0">
                    <a:pos x="186" y="7"/>
                  </a:cxn>
                  <a:cxn ang="0">
                    <a:pos x="167" y="2"/>
                  </a:cxn>
                  <a:cxn ang="0">
                    <a:pos x="147" y="0"/>
                  </a:cxn>
                  <a:cxn ang="0">
                    <a:pos x="147" y="0"/>
                  </a:cxn>
                </a:cxnLst>
                <a:rect l="0" t="0" r="r" b="b"/>
                <a:pathLst>
                  <a:path w="284" h="125">
                    <a:moveTo>
                      <a:pt x="147" y="0"/>
                    </a:moveTo>
                    <a:lnTo>
                      <a:pt x="147" y="0"/>
                    </a:lnTo>
                    <a:lnTo>
                      <a:pt x="137" y="0"/>
                    </a:lnTo>
                    <a:lnTo>
                      <a:pt x="137" y="0"/>
                    </a:lnTo>
                    <a:lnTo>
                      <a:pt x="118" y="2"/>
                    </a:lnTo>
                    <a:lnTo>
                      <a:pt x="100" y="4"/>
                    </a:lnTo>
                    <a:lnTo>
                      <a:pt x="83" y="7"/>
                    </a:lnTo>
                    <a:lnTo>
                      <a:pt x="66" y="14"/>
                    </a:lnTo>
                    <a:lnTo>
                      <a:pt x="49" y="21"/>
                    </a:lnTo>
                    <a:lnTo>
                      <a:pt x="34" y="29"/>
                    </a:lnTo>
                    <a:lnTo>
                      <a:pt x="19" y="39"/>
                    </a:lnTo>
                    <a:lnTo>
                      <a:pt x="5" y="51"/>
                    </a:lnTo>
                    <a:lnTo>
                      <a:pt x="5" y="51"/>
                    </a:lnTo>
                    <a:lnTo>
                      <a:pt x="2" y="58"/>
                    </a:lnTo>
                    <a:lnTo>
                      <a:pt x="0" y="64"/>
                    </a:lnTo>
                    <a:lnTo>
                      <a:pt x="0" y="71"/>
                    </a:lnTo>
                    <a:lnTo>
                      <a:pt x="5" y="76"/>
                    </a:lnTo>
                    <a:lnTo>
                      <a:pt x="37" y="112"/>
                    </a:lnTo>
                    <a:lnTo>
                      <a:pt x="37" y="112"/>
                    </a:lnTo>
                    <a:lnTo>
                      <a:pt x="42" y="115"/>
                    </a:lnTo>
                    <a:lnTo>
                      <a:pt x="49" y="117"/>
                    </a:lnTo>
                    <a:lnTo>
                      <a:pt x="49" y="117"/>
                    </a:lnTo>
                    <a:lnTo>
                      <a:pt x="56" y="117"/>
                    </a:lnTo>
                    <a:lnTo>
                      <a:pt x="63" y="112"/>
                    </a:lnTo>
                    <a:lnTo>
                      <a:pt x="63" y="112"/>
                    </a:lnTo>
                    <a:lnTo>
                      <a:pt x="78" y="100"/>
                    </a:lnTo>
                    <a:lnTo>
                      <a:pt x="96" y="91"/>
                    </a:lnTo>
                    <a:lnTo>
                      <a:pt x="117" y="85"/>
                    </a:lnTo>
                    <a:lnTo>
                      <a:pt x="137" y="83"/>
                    </a:lnTo>
                    <a:lnTo>
                      <a:pt x="137" y="83"/>
                    </a:lnTo>
                    <a:lnTo>
                      <a:pt x="142" y="83"/>
                    </a:lnTo>
                    <a:lnTo>
                      <a:pt x="142" y="83"/>
                    </a:lnTo>
                    <a:lnTo>
                      <a:pt x="154" y="85"/>
                    </a:lnTo>
                    <a:lnTo>
                      <a:pt x="164" y="86"/>
                    </a:lnTo>
                    <a:lnTo>
                      <a:pt x="184" y="95"/>
                    </a:lnTo>
                    <a:lnTo>
                      <a:pt x="201" y="105"/>
                    </a:lnTo>
                    <a:lnTo>
                      <a:pt x="209" y="112"/>
                    </a:lnTo>
                    <a:lnTo>
                      <a:pt x="218" y="118"/>
                    </a:lnTo>
                    <a:lnTo>
                      <a:pt x="218" y="118"/>
                    </a:lnTo>
                    <a:lnTo>
                      <a:pt x="223" y="124"/>
                    </a:lnTo>
                    <a:lnTo>
                      <a:pt x="231" y="125"/>
                    </a:lnTo>
                    <a:lnTo>
                      <a:pt x="231" y="125"/>
                    </a:lnTo>
                    <a:lnTo>
                      <a:pt x="236" y="124"/>
                    </a:lnTo>
                    <a:lnTo>
                      <a:pt x="243" y="120"/>
                    </a:lnTo>
                    <a:lnTo>
                      <a:pt x="279" y="90"/>
                    </a:lnTo>
                    <a:lnTo>
                      <a:pt x="279" y="90"/>
                    </a:lnTo>
                    <a:lnTo>
                      <a:pt x="282" y="85"/>
                    </a:lnTo>
                    <a:lnTo>
                      <a:pt x="284" y="78"/>
                    </a:lnTo>
                    <a:lnTo>
                      <a:pt x="284" y="78"/>
                    </a:lnTo>
                    <a:lnTo>
                      <a:pt x="284" y="71"/>
                    </a:lnTo>
                    <a:lnTo>
                      <a:pt x="280" y="64"/>
                    </a:lnTo>
                    <a:lnTo>
                      <a:pt x="280" y="64"/>
                    </a:lnTo>
                    <a:lnTo>
                      <a:pt x="267" y="51"/>
                    </a:lnTo>
                    <a:lnTo>
                      <a:pt x="252" y="39"/>
                    </a:lnTo>
                    <a:lnTo>
                      <a:pt x="236" y="29"/>
                    </a:lnTo>
                    <a:lnTo>
                      <a:pt x="220" y="19"/>
                    </a:lnTo>
                    <a:lnTo>
                      <a:pt x="203" y="12"/>
                    </a:lnTo>
                    <a:lnTo>
                      <a:pt x="186" y="7"/>
                    </a:lnTo>
                    <a:lnTo>
                      <a:pt x="167" y="2"/>
                    </a:lnTo>
                    <a:lnTo>
                      <a:pt x="147" y="0"/>
                    </a:lnTo>
                    <a:lnTo>
                      <a:pt x="147" y="0"/>
                    </a:lnTo>
                    <a:close/>
                  </a:path>
                </a:pathLst>
              </a:custGeom>
              <a:grpFill/>
              <a:ln w="9525">
                <a:noFill/>
                <a:round/>
              </a:ln>
            </p:spPr>
            <p:txBody>
              <a:bodyPr vert="horz" wrap="square" lIns="68544" tIns="34272" rIns="68544" bIns="34272" numCol="1" anchor="t" anchorCtr="0" compatLnSpc="1"/>
              <a:lstStyle/>
              <a:p>
                <a:pPr defTabSz="685165" fontAlgn="auto">
                  <a:spcBef>
                    <a:spcPts val="0"/>
                  </a:spcBef>
                  <a:spcAft>
                    <a:spcPts val="0"/>
                  </a:spcAft>
                  <a:defRPr/>
                </a:pPr>
                <a:endParaRPr kumimoji="0" lang="zh-CN" altLang="en-US" sz="900" kern="0" dirty="0">
                  <a:solidFill>
                    <a:prstClr val="black"/>
                  </a:solidFill>
                  <a:latin typeface="Huawei Sans" panose="020C0503030203020204" pitchFamily="34" charset="0"/>
                  <a:ea typeface="方正兰亭黑简体" panose="02000000000000000000" pitchFamily="2" charset="-122"/>
                  <a:cs typeface="Times New Roman" panose="02020503050405090304" pitchFamily="18" charset="0"/>
                  <a:sym typeface="Huawei Sans" panose="020C0503030203020204" pitchFamily="34" charset="0"/>
                </a:endParaRPr>
              </a:p>
            </p:txBody>
          </p:sp>
          <p:sp>
            <p:nvSpPr>
              <p:cNvPr id="62" name="Freeform 78"/>
              <p:cNvSpPr>
                <a:spLocks noEditPoints="1"/>
              </p:cNvSpPr>
              <p:nvPr/>
            </p:nvSpPr>
            <p:spPr bwMode="auto">
              <a:xfrm>
                <a:off x="13091838" y="3470270"/>
                <a:ext cx="1525588" cy="936623"/>
              </a:xfrm>
              <a:custGeom>
                <a:avLst/>
                <a:gdLst/>
                <a:ahLst/>
                <a:cxnLst>
                  <a:cxn ang="0">
                    <a:pos x="1805" y="1019"/>
                  </a:cxn>
                  <a:cxn ang="0">
                    <a:pos x="1625" y="1019"/>
                  </a:cxn>
                  <a:cxn ang="0">
                    <a:pos x="1176" y="0"/>
                  </a:cxn>
                  <a:cxn ang="0">
                    <a:pos x="1093" y="494"/>
                  </a:cxn>
                  <a:cxn ang="0">
                    <a:pos x="572" y="1019"/>
                  </a:cxn>
                  <a:cxn ang="0">
                    <a:pos x="523" y="176"/>
                  </a:cxn>
                  <a:cxn ang="0">
                    <a:pos x="314" y="203"/>
                  </a:cxn>
                  <a:cxn ang="0">
                    <a:pos x="301" y="262"/>
                  </a:cxn>
                  <a:cxn ang="0">
                    <a:pos x="118" y="1019"/>
                  </a:cxn>
                  <a:cxn ang="0">
                    <a:pos x="2" y="1169"/>
                  </a:cxn>
                  <a:cxn ang="0">
                    <a:pos x="1917" y="1181"/>
                  </a:cxn>
                  <a:cxn ang="0">
                    <a:pos x="1922" y="1169"/>
                  </a:cxn>
                  <a:cxn ang="0">
                    <a:pos x="741" y="756"/>
                  </a:cxn>
                  <a:cxn ang="0">
                    <a:pos x="896" y="756"/>
                  </a:cxn>
                  <a:cxn ang="0">
                    <a:pos x="1049" y="756"/>
                  </a:cxn>
                  <a:cxn ang="0">
                    <a:pos x="677" y="756"/>
                  </a:cxn>
                  <a:cxn ang="0">
                    <a:pos x="434" y="604"/>
                  </a:cxn>
                  <a:cxn ang="0">
                    <a:pos x="425" y="533"/>
                  </a:cxn>
                  <a:cxn ang="0">
                    <a:pos x="498" y="520"/>
                  </a:cxn>
                  <a:cxn ang="0">
                    <a:pos x="513" y="533"/>
                  </a:cxn>
                  <a:cxn ang="0">
                    <a:pos x="505" y="604"/>
                  </a:cxn>
                  <a:cxn ang="0">
                    <a:pos x="513" y="933"/>
                  </a:cxn>
                  <a:cxn ang="0">
                    <a:pos x="439" y="947"/>
                  </a:cxn>
                  <a:cxn ang="0">
                    <a:pos x="425" y="933"/>
                  </a:cxn>
                  <a:cxn ang="0">
                    <a:pos x="434" y="862"/>
                  </a:cxn>
                  <a:cxn ang="0">
                    <a:pos x="508" y="866"/>
                  </a:cxn>
                  <a:cxn ang="0">
                    <a:pos x="348" y="791"/>
                  </a:cxn>
                  <a:cxn ang="0">
                    <a:pos x="334" y="805"/>
                  </a:cxn>
                  <a:cxn ang="0">
                    <a:pos x="262" y="796"/>
                  </a:cxn>
                  <a:cxn ang="0">
                    <a:pos x="263" y="724"/>
                  </a:cxn>
                  <a:cxn ang="0">
                    <a:pos x="339" y="720"/>
                  </a:cxn>
                  <a:cxn ang="0">
                    <a:pos x="243" y="397"/>
                  </a:cxn>
                  <a:cxn ang="0">
                    <a:pos x="258" y="383"/>
                  </a:cxn>
                  <a:cxn ang="0">
                    <a:pos x="331" y="391"/>
                  </a:cxn>
                  <a:cxn ang="0">
                    <a:pos x="328" y="464"/>
                  </a:cxn>
                  <a:cxn ang="0">
                    <a:pos x="252" y="467"/>
                  </a:cxn>
                  <a:cxn ang="0">
                    <a:pos x="1464" y="105"/>
                  </a:cxn>
                  <a:cxn ang="0">
                    <a:pos x="1471" y="96"/>
                  </a:cxn>
                  <a:cxn ang="0">
                    <a:pos x="1490" y="101"/>
                  </a:cxn>
                  <a:cxn ang="0">
                    <a:pos x="1490" y="940"/>
                  </a:cxn>
                  <a:cxn ang="0">
                    <a:pos x="1471" y="945"/>
                  </a:cxn>
                  <a:cxn ang="0">
                    <a:pos x="1464" y="105"/>
                  </a:cxn>
                  <a:cxn ang="0">
                    <a:pos x="1362" y="98"/>
                  </a:cxn>
                  <a:cxn ang="0">
                    <a:pos x="1382" y="100"/>
                  </a:cxn>
                  <a:cxn ang="0">
                    <a:pos x="1383" y="940"/>
                  </a:cxn>
                  <a:cxn ang="0">
                    <a:pos x="1363" y="945"/>
                  </a:cxn>
                  <a:cxn ang="0">
                    <a:pos x="1356" y="105"/>
                  </a:cxn>
                  <a:cxn ang="0">
                    <a:pos x="1254" y="98"/>
                  </a:cxn>
                  <a:cxn ang="0">
                    <a:pos x="1276" y="100"/>
                  </a:cxn>
                  <a:cxn ang="0">
                    <a:pos x="1277" y="940"/>
                  </a:cxn>
                  <a:cxn ang="0">
                    <a:pos x="1257" y="945"/>
                  </a:cxn>
                  <a:cxn ang="0">
                    <a:pos x="1250" y="105"/>
                  </a:cxn>
                </a:cxnLst>
                <a:rect l="0" t="0" r="r" b="b"/>
                <a:pathLst>
                  <a:path w="1923" h="1181">
                    <a:moveTo>
                      <a:pt x="1820" y="1029"/>
                    </a:moveTo>
                    <a:lnTo>
                      <a:pt x="1820" y="1029"/>
                    </a:lnTo>
                    <a:lnTo>
                      <a:pt x="1815" y="1024"/>
                    </a:lnTo>
                    <a:lnTo>
                      <a:pt x="1810" y="1021"/>
                    </a:lnTo>
                    <a:lnTo>
                      <a:pt x="1805" y="1019"/>
                    </a:lnTo>
                    <a:lnTo>
                      <a:pt x="1798" y="1019"/>
                    </a:lnTo>
                    <a:lnTo>
                      <a:pt x="1750" y="1019"/>
                    </a:lnTo>
                    <a:lnTo>
                      <a:pt x="1750" y="739"/>
                    </a:lnTo>
                    <a:lnTo>
                      <a:pt x="1625" y="606"/>
                    </a:lnTo>
                    <a:lnTo>
                      <a:pt x="1625" y="1019"/>
                    </a:lnTo>
                    <a:lnTo>
                      <a:pt x="1583" y="1019"/>
                    </a:lnTo>
                    <a:lnTo>
                      <a:pt x="1583" y="562"/>
                    </a:lnTo>
                    <a:lnTo>
                      <a:pt x="1583" y="0"/>
                    </a:lnTo>
                    <a:lnTo>
                      <a:pt x="1218" y="0"/>
                    </a:lnTo>
                    <a:lnTo>
                      <a:pt x="1176" y="0"/>
                    </a:lnTo>
                    <a:lnTo>
                      <a:pt x="1176" y="1019"/>
                    </a:lnTo>
                    <a:lnTo>
                      <a:pt x="1124" y="1019"/>
                    </a:lnTo>
                    <a:lnTo>
                      <a:pt x="1124" y="562"/>
                    </a:lnTo>
                    <a:lnTo>
                      <a:pt x="1093" y="562"/>
                    </a:lnTo>
                    <a:lnTo>
                      <a:pt x="1093" y="494"/>
                    </a:lnTo>
                    <a:lnTo>
                      <a:pt x="751" y="553"/>
                    </a:lnTo>
                    <a:lnTo>
                      <a:pt x="751" y="562"/>
                    </a:lnTo>
                    <a:lnTo>
                      <a:pt x="626" y="562"/>
                    </a:lnTo>
                    <a:lnTo>
                      <a:pt x="626" y="1019"/>
                    </a:lnTo>
                    <a:lnTo>
                      <a:pt x="572" y="1019"/>
                    </a:lnTo>
                    <a:lnTo>
                      <a:pt x="572" y="262"/>
                    </a:lnTo>
                    <a:lnTo>
                      <a:pt x="525" y="262"/>
                    </a:lnTo>
                    <a:lnTo>
                      <a:pt x="525" y="181"/>
                    </a:lnTo>
                    <a:lnTo>
                      <a:pt x="525" y="181"/>
                    </a:lnTo>
                    <a:lnTo>
                      <a:pt x="523" y="176"/>
                    </a:lnTo>
                    <a:lnTo>
                      <a:pt x="522" y="170"/>
                    </a:lnTo>
                    <a:lnTo>
                      <a:pt x="516" y="169"/>
                    </a:lnTo>
                    <a:lnTo>
                      <a:pt x="511" y="169"/>
                    </a:lnTo>
                    <a:lnTo>
                      <a:pt x="314" y="203"/>
                    </a:lnTo>
                    <a:lnTo>
                      <a:pt x="314" y="203"/>
                    </a:lnTo>
                    <a:lnTo>
                      <a:pt x="309" y="204"/>
                    </a:lnTo>
                    <a:lnTo>
                      <a:pt x="304" y="208"/>
                    </a:lnTo>
                    <a:lnTo>
                      <a:pt x="301" y="213"/>
                    </a:lnTo>
                    <a:lnTo>
                      <a:pt x="301" y="218"/>
                    </a:lnTo>
                    <a:lnTo>
                      <a:pt x="301" y="262"/>
                    </a:lnTo>
                    <a:lnTo>
                      <a:pt x="181" y="262"/>
                    </a:lnTo>
                    <a:lnTo>
                      <a:pt x="181" y="1019"/>
                    </a:lnTo>
                    <a:lnTo>
                      <a:pt x="125" y="1019"/>
                    </a:lnTo>
                    <a:lnTo>
                      <a:pt x="125" y="1019"/>
                    </a:lnTo>
                    <a:lnTo>
                      <a:pt x="118" y="1019"/>
                    </a:lnTo>
                    <a:lnTo>
                      <a:pt x="113" y="1021"/>
                    </a:lnTo>
                    <a:lnTo>
                      <a:pt x="108" y="1024"/>
                    </a:lnTo>
                    <a:lnTo>
                      <a:pt x="103" y="1029"/>
                    </a:lnTo>
                    <a:lnTo>
                      <a:pt x="2" y="1169"/>
                    </a:lnTo>
                    <a:lnTo>
                      <a:pt x="2" y="1169"/>
                    </a:lnTo>
                    <a:lnTo>
                      <a:pt x="0" y="1174"/>
                    </a:lnTo>
                    <a:lnTo>
                      <a:pt x="2" y="1178"/>
                    </a:lnTo>
                    <a:lnTo>
                      <a:pt x="4" y="1179"/>
                    </a:lnTo>
                    <a:lnTo>
                      <a:pt x="7" y="1181"/>
                    </a:lnTo>
                    <a:lnTo>
                      <a:pt x="1917" y="1181"/>
                    </a:lnTo>
                    <a:lnTo>
                      <a:pt x="1917" y="1181"/>
                    </a:lnTo>
                    <a:lnTo>
                      <a:pt x="1920" y="1179"/>
                    </a:lnTo>
                    <a:lnTo>
                      <a:pt x="1922" y="1178"/>
                    </a:lnTo>
                    <a:lnTo>
                      <a:pt x="1923" y="1174"/>
                    </a:lnTo>
                    <a:lnTo>
                      <a:pt x="1922" y="1169"/>
                    </a:lnTo>
                    <a:lnTo>
                      <a:pt x="1820" y="1029"/>
                    </a:lnTo>
                    <a:close/>
                    <a:moveTo>
                      <a:pt x="741" y="660"/>
                    </a:moveTo>
                    <a:lnTo>
                      <a:pt x="879" y="660"/>
                    </a:lnTo>
                    <a:lnTo>
                      <a:pt x="879" y="756"/>
                    </a:lnTo>
                    <a:lnTo>
                      <a:pt x="741" y="756"/>
                    </a:lnTo>
                    <a:lnTo>
                      <a:pt x="741" y="660"/>
                    </a:lnTo>
                    <a:close/>
                    <a:moveTo>
                      <a:pt x="896" y="660"/>
                    </a:moveTo>
                    <a:lnTo>
                      <a:pt x="1033" y="660"/>
                    </a:lnTo>
                    <a:lnTo>
                      <a:pt x="1033" y="756"/>
                    </a:lnTo>
                    <a:lnTo>
                      <a:pt x="896" y="756"/>
                    </a:lnTo>
                    <a:lnTo>
                      <a:pt x="896" y="660"/>
                    </a:lnTo>
                    <a:close/>
                    <a:moveTo>
                      <a:pt x="1049" y="660"/>
                    </a:moveTo>
                    <a:lnTo>
                      <a:pt x="1082" y="660"/>
                    </a:lnTo>
                    <a:lnTo>
                      <a:pt x="1082" y="756"/>
                    </a:lnTo>
                    <a:lnTo>
                      <a:pt x="1049" y="756"/>
                    </a:lnTo>
                    <a:lnTo>
                      <a:pt x="1049" y="660"/>
                    </a:lnTo>
                    <a:close/>
                    <a:moveTo>
                      <a:pt x="677" y="660"/>
                    </a:moveTo>
                    <a:lnTo>
                      <a:pt x="724" y="660"/>
                    </a:lnTo>
                    <a:lnTo>
                      <a:pt x="724" y="756"/>
                    </a:lnTo>
                    <a:lnTo>
                      <a:pt x="677" y="756"/>
                    </a:lnTo>
                    <a:lnTo>
                      <a:pt x="677" y="660"/>
                    </a:lnTo>
                    <a:close/>
                    <a:moveTo>
                      <a:pt x="498" y="606"/>
                    </a:moveTo>
                    <a:lnTo>
                      <a:pt x="439" y="606"/>
                    </a:lnTo>
                    <a:lnTo>
                      <a:pt x="439" y="606"/>
                    </a:lnTo>
                    <a:lnTo>
                      <a:pt x="434" y="604"/>
                    </a:lnTo>
                    <a:lnTo>
                      <a:pt x="429" y="601"/>
                    </a:lnTo>
                    <a:lnTo>
                      <a:pt x="425" y="597"/>
                    </a:lnTo>
                    <a:lnTo>
                      <a:pt x="425" y="591"/>
                    </a:lnTo>
                    <a:lnTo>
                      <a:pt x="425" y="533"/>
                    </a:lnTo>
                    <a:lnTo>
                      <a:pt x="425" y="533"/>
                    </a:lnTo>
                    <a:lnTo>
                      <a:pt x="425" y="528"/>
                    </a:lnTo>
                    <a:lnTo>
                      <a:pt x="429" y="523"/>
                    </a:lnTo>
                    <a:lnTo>
                      <a:pt x="434" y="521"/>
                    </a:lnTo>
                    <a:lnTo>
                      <a:pt x="439" y="520"/>
                    </a:lnTo>
                    <a:lnTo>
                      <a:pt x="498" y="520"/>
                    </a:lnTo>
                    <a:lnTo>
                      <a:pt x="498" y="520"/>
                    </a:lnTo>
                    <a:lnTo>
                      <a:pt x="505" y="521"/>
                    </a:lnTo>
                    <a:lnTo>
                      <a:pt x="508" y="523"/>
                    </a:lnTo>
                    <a:lnTo>
                      <a:pt x="511" y="528"/>
                    </a:lnTo>
                    <a:lnTo>
                      <a:pt x="513" y="533"/>
                    </a:lnTo>
                    <a:lnTo>
                      <a:pt x="513" y="591"/>
                    </a:lnTo>
                    <a:lnTo>
                      <a:pt x="513" y="591"/>
                    </a:lnTo>
                    <a:lnTo>
                      <a:pt x="511" y="597"/>
                    </a:lnTo>
                    <a:lnTo>
                      <a:pt x="508" y="601"/>
                    </a:lnTo>
                    <a:lnTo>
                      <a:pt x="505" y="604"/>
                    </a:lnTo>
                    <a:lnTo>
                      <a:pt x="498" y="606"/>
                    </a:lnTo>
                    <a:lnTo>
                      <a:pt x="498" y="606"/>
                    </a:lnTo>
                    <a:close/>
                    <a:moveTo>
                      <a:pt x="513" y="874"/>
                    </a:moveTo>
                    <a:lnTo>
                      <a:pt x="513" y="933"/>
                    </a:lnTo>
                    <a:lnTo>
                      <a:pt x="513" y="933"/>
                    </a:lnTo>
                    <a:lnTo>
                      <a:pt x="511" y="938"/>
                    </a:lnTo>
                    <a:lnTo>
                      <a:pt x="508" y="941"/>
                    </a:lnTo>
                    <a:lnTo>
                      <a:pt x="505" y="945"/>
                    </a:lnTo>
                    <a:lnTo>
                      <a:pt x="498" y="947"/>
                    </a:lnTo>
                    <a:lnTo>
                      <a:pt x="439" y="947"/>
                    </a:lnTo>
                    <a:lnTo>
                      <a:pt x="439" y="947"/>
                    </a:lnTo>
                    <a:lnTo>
                      <a:pt x="434" y="945"/>
                    </a:lnTo>
                    <a:lnTo>
                      <a:pt x="429" y="941"/>
                    </a:lnTo>
                    <a:lnTo>
                      <a:pt x="425" y="938"/>
                    </a:lnTo>
                    <a:lnTo>
                      <a:pt x="425" y="933"/>
                    </a:lnTo>
                    <a:lnTo>
                      <a:pt x="425" y="874"/>
                    </a:lnTo>
                    <a:lnTo>
                      <a:pt x="425" y="874"/>
                    </a:lnTo>
                    <a:lnTo>
                      <a:pt x="425" y="869"/>
                    </a:lnTo>
                    <a:lnTo>
                      <a:pt x="429" y="866"/>
                    </a:lnTo>
                    <a:lnTo>
                      <a:pt x="434" y="862"/>
                    </a:lnTo>
                    <a:lnTo>
                      <a:pt x="439" y="860"/>
                    </a:lnTo>
                    <a:lnTo>
                      <a:pt x="498" y="860"/>
                    </a:lnTo>
                    <a:lnTo>
                      <a:pt x="498" y="860"/>
                    </a:lnTo>
                    <a:lnTo>
                      <a:pt x="505" y="862"/>
                    </a:lnTo>
                    <a:lnTo>
                      <a:pt x="508" y="866"/>
                    </a:lnTo>
                    <a:lnTo>
                      <a:pt x="511" y="869"/>
                    </a:lnTo>
                    <a:lnTo>
                      <a:pt x="513" y="874"/>
                    </a:lnTo>
                    <a:lnTo>
                      <a:pt x="513" y="874"/>
                    </a:lnTo>
                    <a:close/>
                    <a:moveTo>
                      <a:pt x="348" y="734"/>
                    </a:moveTo>
                    <a:lnTo>
                      <a:pt x="348" y="791"/>
                    </a:lnTo>
                    <a:lnTo>
                      <a:pt x="348" y="791"/>
                    </a:lnTo>
                    <a:lnTo>
                      <a:pt x="346" y="796"/>
                    </a:lnTo>
                    <a:lnTo>
                      <a:pt x="343" y="801"/>
                    </a:lnTo>
                    <a:lnTo>
                      <a:pt x="339" y="805"/>
                    </a:lnTo>
                    <a:lnTo>
                      <a:pt x="334" y="805"/>
                    </a:lnTo>
                    <a:lnTo>
                      <a:pt x="274" y="805"/>
                    </a:lnTo>
                    <a:lnTo>
                      <a:pt x="274" y="805"/>
                    </a:lnTo>
                    <a:lnTo>
                      <a:pt x="269" y="805"/>
                    </a:lnTo>
                    <a:lnTo>
                      <a:pt x="263" y="801"/>
                    </a:lnTo>
                    <a:lnTo>
                      <a:pt x="262" y="796"/>
                    </a:lnTo>
                    <a:lnTo>
                      <a:pt x="260" y="791"/>
                    </a:lnTo>
                    <a:lnTo>
                      <a:pt x="260" y="734"/>
                    </a:lnTo>
                    <a:lnTo>
                      <a:pt x="260" y="734"/>
                    </a:lnTo>
                    <a:lnTo>
                      <a:pt x="262" y="729"/>
                    </a:lnTo>
                    <a:lnTo>
                      <a:pt x="263" y="724"/>
                    </a:lnTo>
                    <a:lnTo>
                      <a:pt x="269" y="720"/>
                    </a:lnTo>
                    <a:lnTo>
                      <a:pt x="274" y="720"/>
                    </a:lnTo>
                    <a:lnTo>
                      <a:pt x="334" y="720"/>
                    </a:lnTo>
                    <a:lnTo>
                      <a:pt x="334" y="720"/>
                    </a:lnTo>
                    <a:lnTo>
                      <a:pt x="339" y="720"/>
                    </a:lnTo>
                    <a:lnTo>
                      <a:pt x="343" y="724"/>
                    </a:lnTo>
                    <a:lnTo>
                      <a:pt x="346" y="729"/>
                    </a:lnTo>
                    <a:lnTo>
                      <a:pt x="348" y="734"/>
                    </a:lnTo>
                    <a:lnTo>
                      <a:pt x="348" y="734"/>
                    </a:lnTo>
                    <a:close/>
                    <a:moveTo>
                      <a:pt x="243" y="397"/>
                    </a:moveTo>
                    <a:lnTo>
                      <a:pt x="243" y="397"/>
                    </a:lnTo>
                    <a:lnTo>
                      <a:pt x="245" y="391"/>
                    </a:lnTo>
                    <a:lnTo>
                      <a:pt x="248" y="386"/>
                    </a:lnTo>
                    <a:lnTo>
                      <a:pt x="252" y="385"/>
                    </a:lnTo>
                    <a:lnTo>
                      <a:pt x="258" y="383"/>
                    </a:lnTo>
                    <a:lnTo>
                      <a:pt x="317" y="383"/>
                    </a:lnTo>
                    <a:lnTo>
                      <a:pt x="317" y="383"/>
                    </a:lnTo>
                    <a:lnTo>
                      <a:pt x="322" y="385"/>
                    </a:lnTo>
                    <a:lnTo>
                      <a:pt x="328" y="386"/>
                    </a:lnTo>
                    <a:lnTo>
                      <a:pt x="331" y="391"/>
                    </a:lnTo>
                    <a:lnTo>
                      <a:pt x="331" y="397"/>
                    </a:lnTo>
                    <a:lnTo>
                      <a:pt x="331" y="454"/>
                    </a:lnTo>
                    <a:lnTo>
                      <a:pt x="331" y="454"/>
                    </a:lnTo>
                    <a:lnTo>
                      <a:pt x="331" y="461"/>
                    </a:lnTo>
                    <a:lnTo>
                      <a:pt x="328" y="464"/>
                    </a:lnTo>
                    <a:lnTo>
                      <a:pt x="322" y="467"/>
                    </a:lnTo>
                    <a:lnTo>
                      <a:pt x="317" y="469"/>
                    </a:lnTo>
                    <a:lnTo>
                      <a:pt x="258" y="469"/>
                    </a:lnTo>
                    <a:lnTo>
                      <a:pt x="258" y="469"/>
                    </a:lnTo>
                    <a:lnTo>
                      <a:pt x="252" y="467"/>
                    </a:lnTo>
                    <a:lnTo>
                      <a:pt x="248" y="464"/>
                    </a:lnTo>
                    <a:lnTo>
                      <a:pt x="245" y="461"/>
                    </a:lnTo>
                    <a:lnTo>
                      <a:pt x="243" y="454"/>
                    </a:lnTo>
                    <a:lnTo>
                      <a:pt x="243" y="397"/>
                    </a:lnTo>
                    <a:close/>
                    <a:moveTo>
                      <a:pt x="1464" y="105"/>
                    </a:moveTo>
                    <a:lnTo>
                      <a:pt x="1464" y="105"/>
                    </a:lnTo>
                    <a:lnTo>
                      <a:pt x="1464" y="101"/>
                    </a:lnTo>
                    <a:lnTo>
                      <a:pt x="1466" y="100"/>
                    </a:lnTo>
                    <a:lnTo>
                      <a:pt x="1468" y="98"/>
                    </a:lnTo>
                    <a:lnTo>
                      <a:pt x="1471" y="96"/>
                    </a:lnTo>
                    <a:lnTo>
                      <a:pt x="1485" y="96"/>
                    </a:lnTo>
                    <a:lnTo>
                      <a:pt x="1485" y="96"/>
                    </a:lnTo>
                    <a:lnTo>
                      <a:pt x="1486" y="98"/>
                    </a:lnTo>
                    <a:lnTo>
                      <a:pt x="1490" y="100"/>
                    </a:lnTo>
                    <a:lnTo>
                      <a:pt x="1490" y="101"/>
                    </a:lnTo>
                    <a:lnTo>
                      <a:pt x="1491" y="105"/>
                    </a:lnTo>
                    <a:lnTo>
                      <a:pt x="1491" y="464"/>
                    </a:lnTo>
                    <a:lnTo>
                      <a:pt x="1491" y="938"/>
                    </a:lnTo>
                    <a:lnTo>
                      <a:pt x="1491" y="938"/>
                    </a:lnTo>
                    <a:lnTo>
                      <a:pt x="1490" y="940"/>
                    </a:lnTo>
                    <a:lnTo>
                      <a:pt x="1490" y="941"/>
                    </a:lnTo>
                    <a:lnTo>
                      <a:pt x="1486" y="943"/>
                    </a:lnTo>
                    <a:lnTo>
                      <a:pt x="1485" y="945"/>
                    </a:lnTo>
                    <a:lnTo>
                      <a:pt x="1471" y="945"/>
                    </a:lnTo>
                    <a:lnTo>
                      <a:pt x="1471" y="945"/>
                    </a:lnTo>
                    <a:lnTo>
                      <a:pt x="1466" y="943"/>
                    </a:lnTo>
                    <a:lnTo>
                      <a:pt x="1466" y="943"/>
                    </a:lnTo>
                    <a:lnTo>
                      <a:pt x="1464" y="940"/>
                    </a:lnTo>
                    <a:lnTo>
                      <a:pt x="1464" y="938"/>
                    </a:lnTo>
                    <a:lnTo>
                      <a:pt x="1464" y="105"/>
                    </a:lnTo>
                    <a:close/>
                    <a:moveTo>
                      <a:pt x="1356" y="105"/>
                    </a:moveTo>
                    <a:lnTo>
                      <a:pt x="1356" y="105"/>
                    </a:lnTo>
                    <a:lnTo>
                      <a:pt x="1358" y="101"/>
                    </a:lnTo>
                    <a:lnTo>
                      <a:pt x="1360" y="100"/>
                    </a:lnTo>
                    <a:lnTo>
                      <a:pt x="1362" y="98"/>
                    </a:lnTo>
                    <a:lnTo>
                      <a:pt x="1363" y="96"/>
                    </a:lnTo>
                    <a:lnTo>
                      <a:pt x="1377" y="96"/>
                    </a:lnTo>
                    <a:lnTo>
                      <a:pt x="1377" y="96"/>
                    </a:lnTo>
                    <a:lnTo>
                      <a:pt x="1380" y="98"/>
                    </a:lnTo>
                    <a:lnTo>
                      <a:pt x="1382" y="100"/>
                    </a:lnTo>
                    <a:lnTo>
                      <a:pt x="1383" y="101"/>
                    </a:lnTo>
                    <a:lnTo>
                      <a:pt x="1383" y="105"/>
                    </a:lnTo>
                    <a:lnTo>
                      <a:pt x="1383" y="938"/>
                    </a:lnTo>
                    <a:lnTo>
                      <a:pt x="1383" y="938"/>
                    </a:lnTo>
                    <a:lnTo>
                      <a:pt x="1383" y="940"/>
                    </a:lnTo>
                    <a:lnTo>
                      <a:pt x="1382" y="941"/>
                    </a:lnTo>
                    <a:lnTo>
                      <a:pt x="1380" y="943"/>
                    </a:lnTo>
                    <a:lnTo>
                      <a:pt x="1377" y="945"/>
                    </a:lnTo>
                    <a:lnTo>
                      <a:pt x="1363" y="945"/>
                    </a:lnTo>
                    <a:lnTo>
                      <a:pt x="1363" y="945"/>
                    </a:lnTo>
                    <a:lnTo>
                      <a:pt x="1362" y="943"/>
                    </a:lnTo>
                    <a:lnTo>
                      <a:pt x="1360" y="941"/>
                    </a:lnTo>
                    <a:lnTo>
                      <a:pt x="1358" y="940"/>
                    </a:lnTo>
                    <a:lnTo>
                      <a:pt x="1356" y="938"/>
                    </a:lnTo>
                    <a:lnTo>
                      <a:pt x="1356" y="105"/>
                    </a:lnTo>
                    <a:close/>
                    <a:moveTo>
                      <a:pt x="1250" y="105"/>
                    </a:moveTo>
                    <a:lnTo>
                      <a:pt x="1250" y="105"/>
                    </a:lnTo>
                    <a:lnTo>
                      <a:pt x="1250" y="101"/>
                    </a:lnTo>
                    <a:lnTo>
                      <a:pt x="1252" y="100"/>
                    </a:lnTo>
                    <a:lnTo>
                      <a:pt x="1254" y="98"/>
                    </a:lnTo>
                    <a:lnTo>
                      <a:pt x="1257" y="96"/>
                    </a:lnTo>
                    <a:lnTo>
                      <a:pt x="1270" y="96"/>
                    </a:lnTo>
                    <a:lnTo>
                      <a:pt x="1270" y="96"/>
                    </a:lnTo>
                    <a:lnTo>
                      <a:pt x="1274" y="98"/>
                    </a:lnTo>
                    <a:lnTo>
                      <a:pt x="1276" y="100"/>
                    </a:lnTo>
                    <a:lnTo>
                      <a:pt x="1277" y="101"/>
                    </a:lnTo>
                    <a:lnTo>
                      <a:pt x="1277" y="105"/>
                    </a:lnTo>
                    <a:lnTo>
                      <a:pt x="1277" y="938"/>
                    </a:lnTo>
                    <a:lnTo>
                      <a:pt x="1277" y="938"/>
                    </a:lnTo>
                    <a:lnTo>
                      <a:pt x="1277" y="940"/>
                    </a:lnTo>
                    <a:lnTo>
                      <a:pt x="1276" y="941"/>
                    </a:lnTo>
                    <a:lnTo>
                      <a:pt x="1274" y="943"/>
                    </a:lnTo>
                    <a:lnTo>
                      <a:pt x="1270" y="945"/>
                    </a:lnTo>
                    <a:lnTo>
                      <a:pt x="1257" y="945"/>
                    </a:lnTo>
                    <a:lnTo>
                      <a:pt x="1257" y="945"/>
                    </a:lnTo>
                    <a:lnTo>
                      <a:pt x="1254" y="943"/>
                    </a:lnTo>
                    <a:lnTo>
                      <a:pt x="1252" y="941"/>
                    </a:lnTo>
                    <a:lnTo>
                      <a:pt x="1250" y="940"/>
                    </a:lnTo>
                    <a:lnTo>
                      <a:pt x="1250" y="938"/>
                    </a:lnTo>
                    <a:lnTo>
                      <a:pt x="1250" y="105"/>
                    </a:lnTo>
                    <a:close/>
                  </a:path>
                </a:pathLst>
              </a:custGeom>
              <a:grpFill/>
              <a:ln w="9525">
                <a:noFill/>
                <a:round/>
              </a:ln>
            </p:spPr>
            <p:txBody>
              <a:bodyPr vert="horz" wrap="square" lIns="68544" tIns="34272" rIns="68544" bIns="34272" numCol="1" anchor="t" anchorCtr="0" compatLnSpc="1"/>
              <a:lstStyle/>
              <a:p>
                <a:pPr defTabSz="685165" fontAlgn="auto">
                  <a:spcBef>
                    <a:spcPts val="0"/>
                  </a:spcBef>
                  <a:spcAft>
                    <a:spcPts val="0"/>
                  </a:spcAft>
                  <a:defRPr/>
                </a:pPr>
                <a:endParaRPr kumimoji="0" lang="zh-CN" altLang="en-US" sz="900" kern="0">
                  <a:solidFill>
                    <a:prstClr val="black"/>
                  </a:solidFill>
                  <a:latin typeface="Huawei Sans" panose="020C0503030203020204" pitchFamily="34" charset="0"/>
                  <a:ea typeface="方正兰亭黑简体" panose="02000000000000000000" pitchFamily="2" charset="-122"/>
                  <a:cs typeface="Times New Roman" panose="02020503050405090304" pitchFamily="18" charset="0"/>
                  <a:sym typeface="Huawei Sans" panose="020C0503030203020204" pitchFamily="34" charset="0"/>
                </a:endParaRPr>
              </a:p>
            </p:txBody>
          </p:sp>
        </p:grpSp>
        <p:sp>
          <p:nvSpPr>
            <p:cNvPr id="63" name="TextBox 97"/>
            <p:cNvSpPr txBox="1"/>
            <p:nvPr/>
          </p:nvSpPr>
          <p:spPr>
            <a:xfrm>
              <a:off x="4595529" y="2773772"/>
              <a:ext cx="1462797" cy="358540"/>
            </a:xfrm>
            <a:prstGeom prst="rect">
              <a:avLst/>
            </a:prstGeom>
            <a:noFill/>
          </p:spPr>
          <p:txBody>
            <a:bodyPr wrap="square" rtlCol="0">
              <a:spAutoFit/>
            </a:bodyPr>
            <a:lstStyle>
              <a:defPPr>
                <a:defRPr lang="zh-CN"/>
              </a:defPPr>
              <a:lvl1pPr algn="ctr">
                <a:defRPr sz="1400" b="1" kern="0">
                  <a:solidFill>
                    <a:prstClr val="black">
                      <a:lumMod val="65000"/>
                      <a:lumOff val="35000"/>
                    </a:prstClr>
                  </a:solidFill>
                  <a:latin typeface="Times New Roman" panose="02020503050405090304" pitchFamily="18" charset="0"/>
                  <a:ea typeface="微软雅黑" panose="020B0503020204020204" pitchFamily="34" charset="-122"/>
                  <a:cs typeface="Times New Roman" panose="02020503050405090304" pitchFamily="18" charset="0"/>
                </a:defRPr>
              </a:lvl1pPr>
            </a:lstStyle>
            <a:p>
              <a:pPr defTabSz="685165" fontAlgn="auto">
                <a:spcBef>
                  <a:spcPts val="0"/>
                </a:spcBef>
                <a:spcAft>
                  <a:spcPts val="0"/>
                </a:spcAft>
                <a:defRPr/>
              </a:pPr>
              <a:r>
                <a:rPr kumimoji="0" lang="zh-CN" altLang="en-US" sz="9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大企业</a:t>
              </a:r>
              <a:endParaRPr kumimoji="0" lang="zh-CN" altLang="en-US" sz="9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64" name="组合 266"/>
            <p:cNvGrpSpPr/>
            <p:nvPr/>
          </p:nvGrpSpPr>
          <p:grpSpPr>
            <a:xfrm>
              <a:off x="4989647" y="2181899"/>
              <a:ext cx="570606" cy="547689"/>
              <a:chOff x="10686400" y="717550"/>
              <a:chExt cx="958850" cy="923925"/>
            </a:xfrm>
            <a:solidFill>
              <a:srgbClr val="00B0F0"/>
            </a:solidFill>
          </p:grpSpPr>
          <p:sp>
            <p:nvSpPr>
              <p:cNvPr id="65" name="Freeform 9"/>
              <p:cNvSpPr/>
              <p:nvPr/>
            </p:nvSpPr>
            <p:spPr bwMode="auto">
              <a:xfrm>
                <a:off x="10861025" y="717550"/>
                <a:ext cx="111124" cy="469900"/>
              </a:xfrm>
              <a:custGeom>
                <a:avLst/>
                <a:gdLst/>
                <a:ahLst/>
                <a:cxnLst>
                  <a:cxn ang="0">
                    <a:pos x="70" y="296"/>
                  </a:cxn>
                  <a:cxn ang="0">
                    <a:pos x="58" y="0"/>
                  </a:cxn>
                  <a:cxn ang="0">
                    <a:pos x="14" y="0"/>
                  </a:cxn>
                  <a:cxn ang="0">
                    <a:pos x="0" y="296"/>
                  </a:cxn>
                  <a:cxn ang="0">
                    <a:pos x="70" y="296"/>
                  </a:cxn>
                </a:cxnLst>
                <a:rect l="0" t="0" r="r" b="b"/>
                <a:pathLst>
                  <a:path w="70" h="296">
                    <a:moveTo>
                      <a:pt x="70" y="296"/>
                    </a:moveTo>
                    <a:lnTo>
                      <a:pt x="58" y="0"/>
                    </a:lnTo>
                    <a:lnTo>
                      <a:pt x="14" y="0"/>
                    </a:lnTo>
                    <a:lnTo>
                      <a:pt x="0" y="296"/>
                    </a:lnTo>
                    <a:lnTo>
                      <a:pt x="70" y="296"/>
                    </a:lnTo>
                    <a:close/>
                  </a:path>
                </a:pathLst>
              </a:custGeom>
              <a:grpFill/>
              <a:ln w="9525">
                <a:noFill/>
                <a:round/>
              </a:ln>
            </p:spPr>
            <p:txBody>
              <a:bodyPr vert="horz" wrap="square" lIns="68544" tIns="34272" rIns="68544" bIns="34272" numCol="1" anchor="t" anchorCtr="0" compatLnSpc="1"/>
              <a:lstStyle/>
              <a:p>
                <a:pPr defTabSz="914400" fontAlgn="auto">
                  <a:spcBef>
                    <a:spcPts val="0"/>
                  </a:spcBef>
                  <a:spcAft>
                    <a:spcPts val="0"/>
                  </a:spcAft>
                  <a:defRPr/>
                </a:pPr>
                <a:endParaRPr kumimoji="0" lang="zh-CN" altLang="en-US" sz="900" b="1" kern="0">
                  <a:solidFill>
                    <a:srgbClr val="000000">
                      <a:lumMod val="50000"/>
                      <a:lumOff val="50000"/>
                    </a:srgbClr>
                  </a:solidFill>
                  <a:latin typeface="Huawei Sans" panose="020C0503030203020204" pitchFamily="34" charset="0"/>
                  <a:ea typeface="方正兰亭黑简体" panose="02000000000000000000" pitchFamily="2" charset="-122"/>
                  <a:cs typeface="Times New Roman" panose="02020503050405090304" pitchFamily="18" charset="0"/>
                  <a:sym typeface="Huawei Sans" panose="020C0503030203020204" pitchFamily="34" charset="0"/>
                </a:endParaRPr>
              </a:p>
            </p:txBody>
          </p:sp>
          <p:sp>
            <p:nvSpPr>
              <p:cNvPr id="66" name="Freeform 10"/>
              <p:cNvSpPr/>
              <p:nvPr/>
            </p:nvSpPr>
            <p:spPr bwMode="auto">
              <a:xfrm>
                <a:off x="11426174" y="1012825"/>
                <a:ext cx="98425" cy="384174"/>
              </a:xfrm>
              <a:custGeom>
                <a:avLst/>
                <a:gdLst/>
                <a:ahLst/>
                <a:cxnLst>
                  <a:cxn ang="0">
                    <a:pos x="62" y="242"/>
                  </a:cxn>
                  <a:cxn ang="0">
                    <a:pos x="54" y="0"/>
                  </a:cxn>
                  <a:cxn ang="0">
                    <a:pos x="10" y="0"/>
                  </a:cxn>
                  <a:cxn ang="0">
                    <a:pos x="0" y="242"/>
                  </a:cxn>
                  <a:cxn ang="0">
                    <a:pos x="62" y="242"/>
                  </a:cxn>
                </a:cxnLst>
                <a:rect l="0" t="0" r="r" b="b"/>
                <a:pathLst>
                  <a:path w="62" h="242">
                    <a:moveTo>
                      <a:pt x="62" y="242"/>
                    </a:moveTo>
                    <a:lnTo>
                      <a:pt x="54" y="0"/>
                    </a:lnTo>
                    <a:lnTo>
                      <a:pt x="10" y="0"/>
                    </a:lnTo>
                    <a:lnTo>
                      <a:pt x="0" y="242"/>
                    </a:lnTo>
                    <a:lnTo>
                      <a:pt x="62" y="242"/>
                    </a:lnTo>
                    <a:close/>
                  </a:path>
                </a:pathLst>
              </a:custGeom>
              <a:grpFill/>
              <a:ln w="9525">
                <a:noFill/>
                <a:round/>
              </a:ln>
            </p:spPr>
            <p:txBody>
              <a:bodyPr vert="horz" wrap="square" lIns="68544" tIns="34272" rIns="68544" bIns="34272" numCol="1" anchor="t" anchorCtr="0" compatLnSpc="1"/>
              <a:lstStyle/>
              <a:p>
                <a:pPr defTabSz="914400" fontAlgn="auto">
                  <a:spcBef>
                    <a:spcPts val="0"/>
                  </a:spcBef>
                  <a:spcAft>
                    <a:spcPts val="0"/>
                  </a:spcAft>
                  <a:defRPr/>
                </a:pPr>
                <a:endParaRPr kumimoji="0" lang="zh-CN" altLang="en-US" sz="900" b="1" kern="0">
                  <a:solidFill>
                    <a:srgbClr val="000000">
                      <a:lumMod val="50000"/>
                      <a:lumOff val="50000"/>
                    </a:srgbClr>
                  </a:solidFill>
                  <a:latin typeface="Huawei Sans" panose="020C0503030203020204" pitchFamily="34" charset="0"/>
                  <a:ea typeface="方正兰亭黑简体" panose="02000000000000000000" pitchFamily="2" charset="-122"/>
                  <a:cs typeface="Times New Roman" panose="02020503050405090304" pitchFamily="18" charset="0"/>
                  <a:sym typeface="Huawei Sans" panose="020C0503030203020204" pitchFamily="34" charset="0"/>
                </a:endParaRPr>
              </a:p>
            </p:txBody>
          </p:sp>
          <p:sp>
            <p:nvSpPr>
              <p:cNvPr id="67" name="Freeform 11"/>
              <p:cNvSpPr/>
              <p:nvPr/>
            </p:nvSpPr>
            <p:spPr bwMode="auto">
              <a:xfrm>
                <a:off x="10686400" y="1206501"/>
                <a:ext cx="958850" cy="434974"/>
              </a:xfrm>
              <a:custGeom>
                <a:avLst/>
                <a:gdLst/>
                <a:ahLst/>
                <a:cxnLst>
                  <a:cxn ang="0">
                    <a:pos x="446" y="170"/>
                  </a:cxn>
                  <a:cxn ang="0">
                    <a:pos x="604" y="170"/>
                  </a:cxn>
                  <a:cxn ang="0">
                    <a:pos x="604" y="132"/>
                  </a:cxn>
                  <a:cxn ang="0">
                    <a:pos x="400" y="132"/>
                  </a:cxn>
                  <a:cxn ang="0">
                    <a:pos x="400" y="46"/>
                  </a:cxn>
                  <a:cxn ang="0">
                    <a:pos x="210" y="46"/>
                  </a:cxn>
                  <a:cxn ang="0">
                    <a:pos x="210" y="0"/>
                  </a:cxn>
                  <a:cxn ang="0">
                    <a:pos x="76" y="0"/>
                  </a:cxn>
                  <a:cxn ang="0">
                    <a:pos x="76" y="46"/>
                  </a:cxn>
                  <a:cxn ang="0">
                    <a:pos x="0" y="46"/>
                  </a:cxn>
                  <a:cxn ang="0">
                    <a:pos x="0" y="84"/>
                  </a:cxn>
                  <a:cxn ang="0">
                    <a:pos x="148" y="84"/>
                  </a:cxn>
                  <a:cxn ang="0">
                    <a:pos x="148" y="110"/>
                  </a:cxn>
                  <a:cxn ang="0">
                    <a:pos x="0" y="110"/>
                  </a:cxn>
                  <a:cxn ang="0">
                    <a:pos x="0" y="142"/>
                  </a:cxn>
                  <a:cxn ang="0">
                    <a:pos x="148" y="142"/>
                  </a:cxn>
                  <a:cxn ang="0">
                    <a:pos x="148" y="168"/>
                  </a:cxn>
                  <a:cxn ang="0">
                    <a:pos x="0" y="168"/>
                  </a:cxn>
                  <a:cxn ang="0">
                    <a:pos x="0" y="202"/>
                  </a:cxn>
                  <a:cxn ang="0">
                    <a:pos x="148" y="202"/>
                  </a:cxn>
                  <a:cxn ang="0">
                    <a:pos x="148" y="230"/>
                  </a:cxn>
                  <a:cxn ang="0">
                    <a:pos x="0" y="230"/>
                  </a:cxn>
                  <a:cxn ang="0">
                    <a:pos x="0" y="274"/>
                  </a:cxn>
                  <a:cxn ang="0">
                    <a:pos x="604" y="274"/>
                  </a:cxn>
                  <a:cxn ang="0">
                    <a:pos x="604" y="198"/>
                  </a:cxn>
                  <a:cxn ang="0">
                    <a:pos x="446" y="198"/>
                  </a:cxn>
                  <a:cxn ang="0">
                    <a:pos x="446" y="170"/>
                  </a:cxn>
                </a:cxnLst>
                <a:rect l="0" t="0" r="r" b="b"/>
                <a:pathLst>
                  <a:path w="604" h="274">
                    <a:moveTo>
                      <a:pt x="446" y="170"/>
                    </a:moveTo>
                    <a:lnTo>
                      <a:pt x="604" y="170"/>
                    </a:lnTo>
                    <a:lnTo>
                      <a:pt x="604" y="132"/>
                    </a:lnTo>
                    <a:lnTo>
                      <a:pt x="400" y="132"/>
                    </a:lnTo>
                    <a:lnTo>
                      <a:pt x="400" y="46"/>
                    </a:lnTo>
                    <a:lnTo>
                      <a:pt x="210" y="46"/>
                    </a:lnTo>
                    <a:lnTo>
                      <a:pt x="210" y="0"/>
                    </a:lnTo>
                    <a:lnTo>
                      <a:pt x="76" y="0"/>
                    </a:lnTo>
                    <a:lnTo>
                      <a:pt x="76" y="46"/>
                    </a:lnTo>
                    <a:lnTo>
                      <a:pt x="0" y="46"/>
                    </a:lnTo>
                    <a:lnTo>
                      <a:pt x="0" y="84"/>
                    </a:lnTo>
                    <a:lnTo>
                      <a:pt x="148" y="84"/>
                    </a:lnTo>
                    <a:lnTo>
                      <a:pt x="148" y="110"/>
                    </a:lnTo>
                    <a:lnTo>
                      <a:pt x="0" y="110"/>
                    </a:lnTo>
                    <a:lnTo>
                      <a:pt x="0" y="142"/>
                    </a:lnTo>
                    <a:lnTo>
                      <a:pt x="148" y="142"/>
                    </a:lnTo>
                    <a:lnTo>
                      <a:pt x="148" y="168"/>
                    </a:lnTo>
                    <a:lnTo>
                      <a:pt x="0" y="168"/>
                    </a:lnTo>
                    <a:lnTo>
                      <a:pt x="0" y="202"/>
                    </a:lnTo>
                    <a:lnTo>
                      <a:pt x="148" y="202"/>
                    </a:lnTo>
                    <a:lnTo>
                      <a:pt x="148" y="230"/>
                    </a:lnTo>
                    <a:lnTo>
                      <a:pt x="0" y="230"/>
                    </a:lnTo>
                    <a:lnTo>
                      <a:pt x="0" y="274"/>
                    </a:lnTo>
                    <a:lnTo>
                      <a:pt x="604" y="274"/>
                    </a:lnTo>
                    <a:lnTo>
                      <a:pt x="604" y="198"/>
                    </a:lnTo>
                    <a:lnTo>
                      <a:pt x="446" y="198"/>
                    </a:lnTo>
                    <a:lnTo>
                      <a:pt x="446" y="170"/>
                    </a:lnTo>
                    <a:close/>
                  </a:path>
                </a:pathLst>
              </a:custGeom>
              <a:grpFill/>
              <a:ln w="9525">
                <a:noFill/>
                <a:round/>
              </a:ln>
            </p:spPr>
            <p:txBody>
              <a:bodyPr vert="horz" wrap="square" lIns="68544" tIns="34272" rIns="68544" bIns="34272" numCol="1" anchor="t" anchorCtr="0" compatLnSpc="1"/>
              <a:lstStyle/>
              <a:p>
                <a:pPr defTabSz="914400" fontAlgn="auto">
                  <a:spcBef>
                    <a:spcPts val="0"/>
                  </a:spcBef>
                  <a:spcAft>
                    <a:spcPts val="0"/>
                  </a:spcAft>
                  <a:defRPr/>
                </a:pPr>
                <a:endParaRPr kumimoji="0" lang="zh-CN" altLang="en-US" sz="900" b="1" kern="0">
                  <a:solidFill>
                    <a:srgbClr val="000000">
                      <a:lumMod val="50000"/>
                      <a:lumOff val="50000"/>
                    </a:srgbClr>
                  </a:solidFill>
                  <a:latin typeface="Huawei Sans" panose="020C0503030203020204" pitchFamily="34" charset="0"/>
                  <a:ea typeface="方正兰亭黑简体" panose="02000000000000000000" pitchFamily="2" charset="-122"/>
                  <a:cs typeface="Times New Roman" panose="02020503050405090304" pitchFamily="18" charset="0"/>
                  <a:sym typeface="Huawei Sans" panose="020C0503030203020204" pitchFamily="34" charset="0"/>
                </a:endParaRPr>
              </a:p>
            </p:txBody>
          </p:sp>
        </p:grpSp>
        <p:sp>
          <p:nvSpPr>
            <p:cNvPr id="69" name="矩形 90"/>
            <p:cNvSpPr/>
            <p:nvPr/>
          </p:nvSpPr>
          <p:spPr bwMode="auto">
            <a:xfrm>
              <a:off x="1714023" y="4486905"/>
              <a:ext cx="9147424" cy="260383"/>
            </a:xfrm>
            <a:prstGeom prst="rect">
              <a:avLst/>
            </a:prstGeom>
            <a:solidFill>
              <a:srgbClr val="FFC000"/>
            </a:solidFill>
            <a:ln>
              <a:noFill/>
            </a:ln>
            <a:effectLst/>
          </p:spPr>
          <p:txBody>
            <a:bodyPr rot="0" spcFirstLastPara="0" vertOverflow="overflow" horzOverflow="overflow" vert="horz" wrap="square" lIns="68517" tIns="34259" rIns="68517" bIns="34259" numCol="1" spcCol="0" rtlCol="0" fromWordArt="0" anchor="ctr" anchorCtr="0" forceAA="0" compatLnSpc="1">
              <a:noAutofit/>
            </a:bodyPr>
            <a:lstStyle/>
            <a:p>
              <a:pPr algn="ctr" defTabSz="685165" fontAlgn="auto">
                <a:spcBef>
                  <a:spcPts val="0"/>
                </a:spcBef>
                <a:spcAft>
                  <a:spcPts val="0"/>
                </a:spcAft>
                <a:buClr>
                  <a:srgbClr val="CC9900"/>
                </a:buClr>
                <a:defRPr/>
              </a:pPr>
              <a:r>
                <a:rPr kumimoji="0" lang="en-US" altLang="zh-CN" sz="9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openGauss</a:t>
              </a:r>
              <a:endParaRPr kumimoji="0" lang="zh-CN" altLang="en-US" sz="9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矩形 16"/>
            <p:cNvSpPr/>
            <p:nvPr/>
          </p:nvSpPr>
          <p:spPr bwMode="auto">
            <a:xfrm>
              <a:off x="7658789" y="4002616"/>
              <a:ext cx="3202658" cy="422006"/>
            </a:xfrm>
            <a:prstGeom prst="rect">
              <a:avLst/>
            </a:prstGeom>
            <a:solidFill>
              <a:schemeClr val="bg1">
                <a:lumMod val="85000"/>
              </a:schemeClr>
            </a:solidFill>
            <a:ln>
              <a:solidFill>
                <a:schemeClr val="tx1"/>
              </a:solidFill>
            </a:ln>
            <a:effectLst/>
          </p:spPr>
          <p:txBody>
            <a:bodyPr rot="0" spcFirstLastPara="0" vertOverflow="overflow" horzOverflow="overflow" vert="horz" wrap="square" lIns="68517" tIns="34259" rIns="68517" bIns="34259" numCol="1" spcCol="0" rtlCol="0" fromWordArt="0" anchor="ctr" anchorCtr="0" forceAA="0" compatLnSpc="1">
              <a:noAutofit/>
            </a:bodyPr>
            <a:lstStyle/>
            <a:p>
              <a:pPr algn="ctr" defTabSz="685165" fontAlgn="auto">
                <a:spcBef>
                  <a:spcPts val="0"/>
                </a:spcBef>
                <a:spcAft>
                  <a:spcPts val="0"/>
                </a:spcAft>
                <a:buClr>
                  <a:srgbClr val="CC9900"/>
                </a:buClr>
                <a:defRPr/>
              </a:pPr>
              <a:r>
                <a:rPr kumimoji="0" lang="en-US" altLang="zh-CN" sz="105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GaussDB(openGauss)</a:t>
              </a:r>
              <a:r>
                <a:rPr kumimoji="0" lang="zh-CN" altLang="en-US" sz="105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云服务</a:t>
              </a:r>
              <a:endParaRPr kumimoji="0" lang="en-US" altLang="zh-CN" sz="105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defTabSz="685165" fontAlgn="auto">
                <a:spcBef>
                  <a:spcPts val="0"/>
                </a:spcBef>
                <a:spcAft>
                  <a:spcPts val="0"/>
                </a:spcAft>
                <a:buClr>
                  <a:srgbClr val="CC9900"/>
                </a:buClr>
                <a:defRPr/>
              </a:pPr>
              <a:r>
                <a:rPr kumimoji="0" lang="zh-CN" altLang="en-US" sz="105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（集中式交易型数据库）</a:t>
              </a:r>
              <a:endParaRPr kumimoji="0" lang="zh-CN" altLang="en-US" sz="105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上箭头 75"/>
            <p:cNvSpPr/>
            <p:nvPr/>
          </p:nvSpPr>
          <p:spPr>
            <a:xfrm>
              <a:off x="6387223" y="3267302"/>
              <a:ext cx="980998" cy="250619"/>
            </a:xfrm>
            <a:prstGeom prst="upArrow">
              <a:avLst/>
            </a:prstGeom>
            <a:solidFill>
              <a:srgbClr val="00B050"/>
            </a:solidFill>
            <a:ln w="6350" cap="flat" cmpd="sng" algn="ctr">
              <a:solidFill>
                <a:schemeClr val="tx1">
                  <a:lumMod val="50000"/>
                  <a:lumOff val="50000"/>
                </a:schemeClr>
              </a:solidFill>
              <a:prstDash val="solid"/>
              <a:miter lim="800000"/>
            </a:ln>
            <a:effectLst/>
          </p:spPr>
          <p:txBody>
            <a:bodyPr rtlCol="0" anchor="ctr"/>
            <a:lstStyle/>
            <a:p>
              <a:pPr algn="ctr" defTabSz="685800" fontAlgn="auto">
                <a:spcBef>
                  <a:spcPts val="0"/>
                </a:spcBef>
                <a:spcAft>
                  <a:spcPts val="0"/>
                </a:spcAft>
                <a:defRPr/>
              </a:pPr>
              <a:endParaRPr kumimoji="0" lang="zh-CN" altLang="en-US" sz="900"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0" advClick="0" advTm="8000"/>
    </mc:Choice>
    <mc:Fallback>
      <p:transition advClick="0" advTm="8000"/>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a:xfrm>
            <a:off x="548878" y="709435"/>
            <a:ext cx="8046245" cy="4879805"/>
          </a:xfrm>
        </p:spPr>
        <p:txBody>
          <a:bodyPr/>
          <a:lstStyle/>
          <a:p>
            <a:r>
              <a:rPr lang="zh-CN" altLang="en-US" sz="1500" dirty="0">
                <a:sym typeface="Huawei Sans" panose="020C0503030203020204" pitchFamily="34" charset="0"/>
              </a:rPr>
              <a:t>战略：硬件开放、软件开源、使能伙伴；</a:t>
            </a:r>
            <a:endParaRPr lang="en-US" altLang="zh-CN" sz="1500" dirty="0">
              <a:sym typeface="Huawei Sans" panose="020C0503030203020204" pitchFamily="34" charset="0"/>
            </a:endParaRPr>
          </a:p>
          <a:p>
            <a:r>
              <a:rPr lang="zh-CN" altLang="en-US" sz="1500" dirty="0">
                <a:sym typeface="Huawei Sans" panose="020C0503030203020204" pitchFamily="34" charset="0"/>
              </a:rPr>
              <a:t>通过</a:t>
            </a:r>
            <a:r>
              <a:rPr lang="en-US" altLang="zh-CN" sz="1500" dirty="0">
                <a:sym typeface="Huawei Sans" panose="020C0503030203020204" pitchFamily="34" charset="0"/>
              </a:rPr>
              <a:t>openGauss</a:t>
            </a:r>
            <a:r>
              <a:rPr lang="zh-CN" altLang="en-US" sz="1500" dirty="0">
                <a:sym typeface="Huawei Sans" panose="020C0503030203020204" pitchFamily="34" charset="0"/>
              </a:rPr>
              <a:t>开源社区运作，推广华为自有数据库生态，助力鲲鹏计算产业生态构建；</a:t>
            </a:r>
            <a:endParaRPr lang="en-US" altLang="zh-CN" sz="1500" dirty="0">
              <a:sym typeface="Huawei Sans" panose="020C0503030203020204" pitchFamily="34" charset="0"/>
            </a:endParaRPr>
          </a:p>
          <a:p>
            <a:r>
              <a:rPr lang="zh-CN" altLang="en-US" sz="1500" dirty="0">
                <a:sym typeface="Huawei Sans" panose="020C0503030203020204" pitchFamily="34" charset="0"/>
              </a:rPr>
              <a:t>聚国内数据库人才，携手并进，共筑国产数据库事业。</a:t>
            </a:r>
            <a:endParaRPr lang="zh-CN" altLang="en-US" sz="1500" dirty="0">
              <a:sym typeface="Huawei Sans" panose="020C0503030203020204" pitchFamily="34" charset="0"/>
            </a:endParaRPr>
          </a:p>
          <a:p>
            <a:endParaRPr lang="zh-CN" altLang="en-US" dirty="0">
              <a:sym typeface="Huawei Sans" panose="020C0503030203020204" pitchFamily="34" charset="0"/>
            </a:endParaRPr>
          </a:p>
        </p:txBody>
      </p:sp>
      <p:graphicFrame>
        <p:nvGraphicFramePr>
          <p:cNvPr id="17" name="图示 16"/>
          <p:cNvGraphicFramePr/>
          <p:nvPr/>
        </p:nvGraphicFramePr>
        <p:xfrm>
          <a:off x="1248719" y="1938556"/>
          <a:ext cx="6646562" cy="2591557"/>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grpSp>
        <p:nvGrpSpPr>
          <p:cNvPr id="25" name="组合 24"/>
          <p:cNvGrpSpPr/>
          <p:nvPr/>
        </p:nvGrpSpPr>
        <p:grpSpPr>
          <a:xfrm>
            <a:off x="1396891" y="2463535"/>
            <a:ext cx="1783601" cy="1881257"/>
            <a:chOff x="779646" y="2887578"/>
            <a:chExt cx="3031958" cy="2762452"/>
          </a:xfrm>
        </p:grpSpPr>
        <p:grpSp>
          <p:nvGrpSpPr>
            <p:cNvPr id="22" name="组合 21"/>
            <p:cNvGrpSpPr/>
            <p:nvPr/>
          </p:nvGrpSpPr>
          <p:grpSpPr>
            <a:xfrm>
              <a:off x="779646" y="2887578"/>
              <a:ext cx="3031958" cy="2762452"/>
              <a:chOff x="779646" y="2887578"/>
              <a:chExt cx="3031958" cy="2762452"/>
            </a:xfrm>
          </p:grpSpPr>
          <p:sp>
            <p:nvSpPr>
              <p:cNvPr id="19" name="上箭头标注 18"/>
              <p:cNvSpPr/>
              <p:nvPr/>
            </p:nvSpPr>
            <p:spPr>
              <a:xfrm>
                <a:off x="779646" y="4658627"/>
                <a:ext cx="3031958" cy="991403"/>
              </a:xfrm>
              <a:prstGeom prst="upArrowCallout">
                <a:avLst/>
              </a:prstGeom>
              <a:solidFill>
                <a:srgbClr val="C7000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defRPr/>
                </a:pPr>
                <a:r>
                  <a:rPr kumimoji="0" lang="zh-CN" altLang="en-US" sz="135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上游产业</a:t>
                </a:r>
                <a:endParaRPr kumimoji="0" lang="en-US" altLang="zh-CN" sz="135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defTabSz="685800" fontAlgn="auto">
                  <a:spcBef>
                    <a:spcPts val="0"/>
                  </a:spcBef>
                  <a:spcAft>
                    <a:spcPts val="0"/>
                  </a:spcAft>
                  <a:defRPr/>
                </a:pPr>
                <a:r>
                  <a:rPr kumimoji="0" lang="zh-CN" altLang="en-US" sz="135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计算机硬件、云服务</a:t>
                </a:r>
                <a:endParaRPr kumimoji="0" lang="zh-CN" altLang="en-US" sz="135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上箭头标注 19"/>
              <p:cNvSpPr/>
              <p:nvPr/>
            </p:nvSpPr>
            <p:spPr>
              <a:xfrm>
                <a:off x="779646" y="3753853"/>
                <a:ext cx="3031958" cy="896445"/>
              </a:xfrm>
              <a:prstGeom prst="upArrowCallou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defRPr/>
                </a:pPr>
                <a:endParaRPr kumimoji="0" lang="zh-CN" altLang="en-US" sz="135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流程图: 过程 20"/>
              <p:cNvSpPr/>
              <p:nvPr/>
            </p:nvSpPr>
            <p:spPr>
              <a:xfrm>
                <a:off x="779646" y="2887578"/>
                <a:ext cx="3031958" cy="857944"/>
              </a:xfrm>
              <a:prstGeom prst="flowChartProcess">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defRPr/>
                </a:pPr>
                <a:r>
                  <a:rPr kumimoji="0" lang="zh-CN" altLang="en-US" sz="135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下游产业</a:t>
                </a:r>
                <a:endParaRPr kumimoji="0" lang="en-US" altLang="zh-CN" sz="135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defTabSz="685800" fontAlgn="auto">
                  <a:spcBef>
                    <a:spcPts val="0"/>
                  </a:spcBef>
                  <a:spcAft>
                    <a:spcPts val="0"/>
                  </a:spcAft>
                  <a:defRPr/>
                </a:pPr>
                <a:r>
                  <a:rPr kumimoji="0" lang="zh-CN" altLang="en-US" sz="135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政府、金融、教育、医疗</a:t>
                </a:r>
                <a:r>
                  <a:rPr kumimoji="0" lang="en-US" altLang="zh-CN" sz="135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a:t>
                </a:r>
                <a:endParaRPr kumimoji="0" lang="zh-CN" altLang="en-US" sz="135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3" name="等腰三角形 22"/>
            <p:cNvSpPr/>
            <p:nvPr/>
          </p:nvSpPr>
          <p:spPr>
            <a:xfrm>
              <a:off x="779646" y="4109987"/>
              <a:ext cx="2954955" cy="548640"/>
            </a:xfrm>
            <a:prstGeom prst="triangle">
              <a:avLst>
                <a:gd name="adj" fmla="val 0"/>
              </a:avLst>
            </a:prstGeom>
            <a:solidFill>
              <a:srgbClr val="C7000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defRPr/>
              </a:pPr>
              <a:endParaRPr kumimoji="0" lang="zh-CN" altLang="en-US" sz="135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文本框 23"/>
            <p:cNvSpPr txBox="1"/>
            <p:nvPr/>
          </p:nvSpPr>
          <p:spPr>
            <a:xfrm>
              <a:off x="1626210" y="4170518"/>
              <a:ext cx="1785393" cy="440643"/>
            </a:xfrm>
            <a:prstGeom prst="rect">
              <a:avLst/>
            </a:prstGeom>
            <a:noFill/>
          </p:spPr>
          <p:txBody>
            <a:bodyPr wrap="none" rtlCol="0">
              <a:spAutoFit/>
            </a:bodyPr>
            <a:lstStyle/>
            <a:p>
              <a:pPr defTabSz="685800" fontAlgn="auto">
                <a:spcBef>
                  <a:spcPts val="0"/>
                </a:spcBef>
                <a:spcAft>
                  <a:spcPts val="0"/>
                </a:spcAft>
                <a:defRPr/>
              </a:pPr>
              <a:r>
                <a:rPr kumimoji="0" lang="zh-CN" altLang="en-US" sz="135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数据库产业</a:t>
              </a:r>
              <a:endParaRPr kumimoji="0" lang="zh-CN" altLang="en-US" sz="135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3" name="标题 2"/>
          <p:cNvSpPr>
            <a:spLocks noGrp="1"/>
          </p:cNvSpPr>
          <p:nvPr>
            <p:ph type="title"/>
          </p:nvPr>
        </p:nvSpPr>
        <p:spPr>
          <a:xfrm>
            <a:off x="548879" y="109152"/>
            <a:ext cx="8046244" cy="485982"/>
          </a:xfrm>
        </p:spPr>
        <p:txBody>
          <a:bodyPr>
            <a:normAutofit fontScale="90000"/>
          </a:bodyPr>
          <a:lstStyle/>
          <a:p>
            <a:r>
              <a:rPr lang="en-US" altLang="zh-CN" sz="2700" dirty="0">
                <a:sym typeface="Huawei Sans" panose="020C0503030203020204" pitchFamily="34" charset="0"/>
              </a:rPr>
              <a:t>openGauss</a:t>
            </a:r>
            <a:r>
              <a:rPr lang="zh-CN" altLang="en-US" sz="2700" dirty="0">
                <a:sym typeface="Huawei Sans" panose="020C0503030203020204" pitchFamily="34" charset="0"/>
              </a:rPr>
              <a:t>为什么开源</a:t>
            </a:r>
            <a:r>
              <a:rPr lang="en-US" altLang="zh-CN" sz="2700" dirty="0">
                <a:sym typeface="Huawei Sans" panose="020C0503030203020204" pitchFamily="34" charset="0"/>
              </a:rPr>
              <a:t>?</a:t>
            </a:r>
            <a:br>
              <a:rPr lang="en-US" altLang="zh-CN" dirty="0">
                <a:sym typeface="Huawei Sans" panose="020C0503030203020204" pitchFamily="34" charset="0"/>
              </a:rPr>
            </a:br>
            <a:endParaRPr lang="zh-CN" altLang="en-US" dirty="0">
              <a:sym typeface="Huawei Sans" panose="020C0503030203020204" pitchFamily="34" charset="0"/>
            </a:endParaRPr>
          </a:p>
        </p:txBody>
      </p:sp>
      <p:sp>
        <p:nvSpPr>
          <p:cNvPr id="2" name="流程图: 可选过程 1"/>
          <p:cNvSpPr/>
          <p:nvPr/>
        </p:nvSpPr>
        <p:spPr>
          <a:xfrm>
            <a:off x="5652120" y="1628800"/>
            <a:ext cx="2520280" cy="3240360"/>
          </a:xfrm>
          <a:prstGeom prst="flowChartAlternateProcess">
            <a:avLst/>
          </a:prstGeom>
          <a:noFill/>
          <a:ln w="38100">
            <a:solidFill>
              <a:srgbClr val="FF33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
                                            <p:graphicEl>
                                              <a:dgm id="{AB5678C0-3E21-4C63-8E36-8DC2C8833077}"/>
                                            </p:graphicEl>
                                          </p:spTgt>
                                        </p:tgtEl>
                                        <p:attrNameLst>
                                          <p:attrName>style.visibility</p:attrName>
                                        </p:attrNameLst>
                                      </p:cBhvr>
                                      <p:to>
                                        <p:strVal val="visible"/>
                                      </p:to>
                                    </p:set>
                                    <p:animEffect transition="in" filter="wipe(left)">
                                      <p:cBhvr>
                                        <p:cTn id="7" dur="500"/>
                                        <p:tgtEl>
                                          <p:spTgt spid="17">
                                            <p:graphicEl>
                                              <a:dgm id="{AB5678C0-3E21-4C63-8E36-8DC2C8833077}"/>
                                            </p:graphic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7">
                                            <p:graphicEl>
                                              <a:dgm id="{231B3DFE-FF00-49D7-AB75-80CB789BBFD7}"/>
                                            </p:graphicEl>
                                          </p:spTgt>
                                        </p:tgtEl>
                                        <p:attrNameLst>
                                          <p:attrName>style.visibility</p:attrName>
                                        </p:attrNameLst>
                                      </p:cBhvr>
                                      <p:to>
                                        <p:strVal val="visible"/>
                                      </p:to>
                                    </p:set>
                                    <p:animEffect transition="in" filter="wipe(up)">
                                      <p:cBhvr>
                                        <p:cTn id="10" dur="10"/>
                                        <p:tgtEl>
                                          <p:spTgt spid="17">
                                            <p:graphicEl>
                                              <a:dgm id="{231B3DFE-FF00-49D7-AB75-80CB789BBFD7}"/>
                                            </p:graphicEl>
                                          </p:spTgt>
                                        </p:tgtEl>
                                      </p:cBhvr>
                                    </p:animEffect>
                                  </p:childTnLst>
                                </p:cTn>
                              </p:par>
                              <p:par>
                                <p:cTn id="11" presetID="22" presetClass="entr" presetSubtype="1"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wipe(up)">
                                      <p:cBhvr>
                                        <p:cTn id="13" dur="500"/>
                                        <p:tgtEl>
                                          <p:spTgt spid="2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17">
                                            <p:graphicEl>
                                              <a:dgm id="{5BB8F383-57B5-4EAA-AEC7-90E10D211600}"/>
                                            </p:graphicEl>
                                          </p:spTgt>
                                        </p:tgtEl>
                                        <p:attrNameLst>
                                          <p:attrName>style.visibility</p:attrName>
                                        </p:attrNameLst>
                                      </p:cBhvr>
                                      <p:to>
                                        <p:strVal val="visible"/>
                                      </p:to>
                                    </p:set>
                                    <p:animEffect transition="in" filter="wipe(down)">
                                      <p:cBhvr>
                                        <p:cTn id="18" dur="500"/>
                                        <p:tgtEl>
                                          <p:spTgt spid="17">
                                            <p:graphicEl>
                                              <a:dgm id="{5BB8F383-57B5-4EAA-AEC7-90E10D211600}"/>
                                            </p:graphicEl>
                                          </p:spTgt>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17">
                                            <p:graphicEl>
                                              <a:dgm id="{9EA821E1-A6CA-450E-BCC5-113EA81A18EF}"/>
                                            </p:graphicEl>
                                          </p:spTgt>
                                        </p:tgtEl>
                                        <p:attrNameLst>
                                          <p:attrName>style.visibility</p:attrName>
                                        </p:attrNameLst>
                                      </p:cBhvr>
                                      <p:to>
                                        <p:strVal val="visible"/>
                                      </p:to>
                                    </p:set>
                                    <p:animEffect transition="in" filter="wipe(down)">
                                      <p:cBhvr>
                                        <p:cTn id="21" dur="500"/>
                                        <p:tgtEl>
                                          <p:spTgt spid="17">
                                            <p:graphicEl>
                                              <a:dgm id="{9EA821E1-A6CA-450E-BCC5-113EA81A18EF}"/>
                                            </p:graphic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7">
                                            <p:graphicEl>
                                              <a:dgm id="{B3C856B6-68FA-491A-8054-4FF83A6DF97D}"/>
                                            </p:graphicEl>
                                          </p:spTgt>
                                        </p:tgtEl>
                                        <p:attrNameLst>
                                          <p:attrName>style.visibility</p:attrName>
                                        </p:attrNameLst>
                                      </p:cBhvr>
                                      <p:to>
                                        <p:strVal val="visible"/>
                                      </p:to>
                                    </p:set>
                                    <p:animEffect transition="in" filter="wipe(left)">
                                      <p:cBhvr>
                                        <p:cTn id="26" dur="500"/>
                                        <p:tgtEl>
                                          <p:spTgt spid="17">
                                            <p:graphicEl>
                                              <a:dgm id="{B3C856B6-68FA-491A-8054-4FF83A6DF97D}"/>
                                            </p:graphicEl>
                                          </p:spTgt>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17">
                                            <p:graphicEl>
                                              <a:dgm id="{9C1FEEAF-47BC-485A-B64B-A9A74E1090FE}"/>
                                            </p:graphicEl>
                                          </p:spTgt>
                                        </p:tgtEl>
                                        <p:attrNameLst>
                                          <p:attrName>style.visibility</p:attrName>
                                        </p:attrNameLst>
                                      </p:cBhvr>
                                      <p:to>
                                        <p:strVal val="visible"/>
                                      </p:to>
                                    </p:set>
                                    <p:animEffect transition="in" filter="wipe(left)">
                                      <p:cBhvr>
                                        <p:cTn id="29" dur="500"/>
                                        <p:tgtEl>
                                          <p:spTgt spid="17">
                                            <p:graphicEl>
                                              <a:dgm id="{9C1FEEAF-47BC-485A-B64B-A9A74E1090FE}"/>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7" grpId="0">
        <p:bldSub>
          <a:bldDgm bld="one"/>
        </p:bldSub>
      </p:bldGraphic>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文本框 74"/>
          <p:cNvSpPr txBox="1"/>
          <p:nvPr/>
        </p:nvSpPr>
        <p:spPr>
          <a:xfrm>
            <a:off x="847163" y="4954839"/>
            <a:ext cx="7207096" cy="466089"/>
          </a:xfrm>
          <a:prstGeom prst="rect">
            <a:avLst/>
          </a:prstGeom>
          <a:noFill/>
          <a:ln>
            <a:solidFill>
              <a:schemeClr val="tx1"/>
            </a:solidFill>
            <a:prstDash val="dash"/>
          </a:ln>
        </p:spPr>
        <p:txBody>
          <a:bodyPr wrap="square" rtlCol="0">
            <a:noAutofit/>
          </a:bodyPr>
          <a:lstStyle/>
          <a:p>
            <a:pPr defTabSz="685800" fontAlgn="auto">
              <a:spcBef>
                <a:spcPts val="0"/>
              </a:spcBef>
              <a:spcAft>
                <a:spcPts val="0"/>
              </a:spcAft>
              <a:defRPr/>
            </a:pPr>
            <a:endParaRPr kumimoji="0"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7" name="文本框 96"/>
          <p:cNvSpPr txBox="1"/>
          <p:nvPr/>
        </p:nvSpPr>
        <p:spPr>
          <a:xfrm>
            <a:off x="839858" y="1663070"/>
            <a:ext cx="7207096" cy="621000"/>
          </a:xfrm>
          <a:prstGeom prst="rect">
            <a:avLst/>
          </a:prstGeom>
          <a:noFill/>
          <a:ln>
            <a:solidFill>
              <a:schemeClr val="tx1"/>
            </a:solidFill>
            <a:prstDash val="dash"/>
          </a:ln>
        </p:spPr>
        <p:txBody>
          <a:bodyPr wrap="square" rtlCol="0">
            <a:noAutofit/>
          </a:bodyPr>
          <a:lstStyle/>
          <a:p>
            <a:pPr defTabSz="685800" fontAlgn="auto">
              <a:spcBef>
                <a:spcPts val="0"/>
              </a:spcBef>
              <a:spcAft>
                <a:spcPts val="0"/>
              </a:spcAft>
              <a:defRPr/>
            </a:pPr>
            <a:endParaRPr kumimoji="0"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标题 3"/>
          <p:cNvSpPr>
            <a:spLocks noGrp="1"/>
          </p:cNvSpPr>
          <p:nvPr>
            <p:ph type="title"/>
          </p:nvPr>
        </p:nvSpPr>
        <p:spPr/>
        <p:txBody>
          <a:bodyPr/>
          <a:lstStyle/>
          <a:p>
            <a:r>
              <a:rPr lang="en-US" altLang="zh-CN" dirty="0">
                <a:sym typeface="Huawei Sans" panose="020C0503030203020204" pitchFamily="34" charset="0"/>
              </a:rPr>
              <a:t>openGauss</a:t>
            </a:r>
            <a:r>
              <a:rPr lang="zh-CN" altLang="en-US" dirty="0">
                <a:sym typeface="Huawei Sans" panose="020C0503030203020204" pitchFamily="34" charset="0"/>
              </a:rPr>
              <a:t>体系架构</a:t>
            </a:r>
            <a:endParaRPr lang="zh-CN" altLang="en-US" dirty="0">
              <a:sym typeface="Huawei Sans" panose="020C0503030203020204" pitchFamily="34" charset="0"/>
            </a:endParaRPr>
          </a:p>
        </p:txBody>
      </p:sp>
      <p:sp>
        <p:nvSpPr>
          <p:cNvPr id="48" name="文本框 47"/>
          <p:cNvSpPr txBox="1"/>
          <p:nvPr/>
        </p:nvSpPr>
        <p:spPr>
          <a:xfrm>
            <a:off x="845751" y="2358971"/>
            <a:ext cx="7207096" cy="2484258"/>
          </a:xfrm>
          <a:prstGeom prst="rect">
            <a:avLst/>
          </a:prstGeom>
          <a:noFill/>
          <a:ln>
            <a:solidFill>
              <a:schemeClr val="tx1"/>
            </a:solidFill>
            <a:prstDash val="dash"/>
          </a:ln>
        </p:spPr>
        <p:txBody>
          <a:bodyPr wrap="square" rtlCol="0">
            <a:noAutofit/>
          </a:bodyPr>
          <a:lstStyle/>
          <a:p>
            <a:pPr defTabSz="685800" fontAlgn="auto">
              <a:spcBef>
                <a:spcPts val="0"/>
              </a:spcBef>
              <a:spcAft>
                <a:spcPts val="0"/>
              </a:spcAft>
              <a:defRPr/>
            </a:pPr>
            <a:endParaRPr kumimoji="0"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流程图: 磁盘 48"/>
          <p:cNvSpPr/>
          <p:nvPr/>
        </p:nvSpPr>
        <p:spPr bwMode="auto">
          <a:xfrm>
            <a:off x="4427963" y="5061493"/>
            <a:ext cx="1026114" cy="324036"/>
          </a:xfrm>
          <a:prstGeom prst="flowChartMagneticDisk">
            <a:avLst/>
          </a:prstGeom>
          <a:no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685800" fontAlgn="auto">
              <a:spcBef>
                <a:spcPts val="0"/>
              </a:spcBef>
              <a:spcAft>
                <a:spcPts val="0"/>
              </a:spcAft>
              <a:defRPr/>
            </a:pPr>
            <a:endParaRPr kumimoji="0" lang="zh-CN" altLang="en-US" sz="600" kern="0" dirty="0">
              <a:solidFill>
                <a:srgbClr val="FFFFFF"/>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endParaRPr>
          </a:p>
        </p:txBody>
      </p:sp>
      <p:sp>
        <p:nvSpPr>
          <p:cNvPr id="50" name="文本框 49"/>
          <p:cNvSpPr txBox="1"/>
          <p:nvPr/>
        </p:nvSpPr>
        <p:spPr>
          <a:xfrm>
            <a:off x="4607696" y="5136781"/>
            <a:ext cx="864096" cy="276999"/>
          </a:xfrm>
          <a:prstGeom prst="rect">
            <a:avLst/>
          </a:prstGeom>
          <a:noFill/>
        </p:spPr>
        <p:txBody>
          <a:bodyPr wrap="square" rtlCol="0">
            <a:spAutoFit/>
          </a:bodyPr>
          <a:lstStyle/>
          <a:p>
            <a:pPr defTabSz="685800" fontAlgn="auto">
              <a:spcBef>
                <a:spcPts val="0"/>
              </a:spcBef>
              <a:spcAft>
                <a:spcPts val="0"/>
              </a:spcAft>
              <a:defRPr/>
            </a:pPr>
            <a:r>
              <a:rPr kumimoji="0"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控制文件</a:t>
            </a:r>
            <a:endParaRPr kumimoji="0"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圆角矩形 50"/>
          <p:cNvSpPr/>
          <p:nvPr/>
        </p:nvSpPr>
        <p:spPr bwMode="auto">
          <a:xfrm>
            <a:off x="1156954" y="4508781"/>
            <a:ext cx="1142749" cy="276999"/>
          </a:xfrm>
          <a:prstGeom prst="roundRect">
            <a:avLst/>
          </a:prstGeom>
          <a:solidFill>
            <a:srgbClr val="00B0F0"/>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685800" fontAlgn="auto">
              <a:spcBef>
                <a:spcPts val="0"/>
              </a:spcBef>
              <a:spcAft>
                <a:spcPts val="0"/>
              </a:spcAft>
              <a:defRPr/>
            </a:pPr>
            <a:endParaRPr kumimoji="0" lang="zh-CN" altLang="en-US" sz="600" kern="0" dirty="0">
              <a:solidFill>
                <a:srgbClr val="FFFFFF"/>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endParaRPr>
          </a:p>
        </p:txBody>
      </p:sp>
      <p:sp>
        <p:nvSpPr>
          <p:cNvPr id="52" name="文本框 51"/>
          <p:cNvSpPr txBox="1"/>
          <p:nvPr/>
        </p:nvSpPr>
        <p:spPr>
          <a:xfrm>
            <a:off x="1150431" y="4520153"/>
            <a:ext cx="1149273" cy="276999"/>
          </a:xfrm>
          <a:prstGeom prst="rect">
            <a:avLst/>
          </a:prstGeom>
          <a:solidFill>
            <a:srgbClr val="30B5C5"/>
          </a:solidFill>
        </p:spPr>
        <p:txBody>
          <a:bodyPr wrap="square" rtlCol="0">
            <a:spAutoFit/>
          </a:bodyPr>
          <a:lstStyle/>
          <a:p>
            <a:pPr defTabSz="685800" fontAlgn="auto">
              <a:spcBef>
                <a:spcPts val="0"/>
              </a:spcBef>
              <a:spcAft>
                <a:spcPts val="0"/>
              </a:spcAft>
              <a:defRPr/>
            </a:pPr>
            <a:r>
              <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系统监控线程</a:t>
            </a:r>
            <a:endPar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圆角矩形 54"/>
          <p:cNvSpPr/>
          <p:nvPr/>
        </p:nvSpPr>
        <p:spPr bwMode="auto">
          <a:xfrm>
            <a:off x="1156954" y="1977657"/>
            <a:ext cx="6506830" cy="253916"/>
          </a:xfrm>
          <a:prstGeom prst="roundRect">
            <a:avLst/>
          </a:prstGeom>
          <a:solidFill>
            <a:srgbClr val="30B5C5"/>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685800" fontAlgn="auto">
              <a:spcBef>
                <a:spcPts val="0"/>
              </a:spcBef>
              <a:spcAft>
                <a:spcPts val="0"/>
              </a:spcAft>
              <a:defRPr/>
            </a:pPr>
            <a:endParaRPr kumimoji="0" lang="zh-CN" altLang="en-US" sz="600" kern="0" dirty="0">
              <a:solidFill>
                <a:srgbClr val="FFFFFF"/>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endParaRPr>
          </a:p>
        </p:txBody>
      </p:sp>
      <p:sp>
        <p:nvSpPr>
          <p:cNvPr id="56" name="文本框 55"/>
          <p:cNvSpPr txBox="1"/>
          <p:nvPr/>
        </p:nvSpPr>
        <p:spPr>
          <a:xfrm>
            <a:off x="2848731" y="1990653"/>
            <a:ext cx="4181845" cy="276999"/>
          </a:xfrm>
          <a:prstGeom prst="rect">
            <a:avLst/>
          </a:prstGeom>
          <a:noFill/>
        </p:spPr>
        <p:txBody>
          <a:bodyPr wrap="square" rtlCol="0">
            <a:spAutoFit/>
          </a:bodyPr>
          <a:lstStyle/>
          <a:p>
            <a:pPr defTabSz="685800" fontAlgn="auto">
              <a:spcBef>
                <a:spcPts val="0"/>
              </a:spcBef>
              <a:spcAft>
                <a:spcPts val="0"/>
              </a:spcAft>
              <a:defRPr/>
            </a:pPr>
            <a:r>
              <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客户端驱动：</a:t>
            </a:r>
            <a:r>
              <a:rPr kumimoji="0" lang="en-US" altLang="zh-CN"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CAPI</a:t>
            </a:r>
            <a:r>
              <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a:t>
            </a:r>
            <a:r>
              <a:rPr kumimoji="0" lang="en-US" altLang="zh-CN"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JDBC</a:t>
            </a:r>
            <a:r>
              <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a:t>
            </a:r>
            <a:r>
              <a:rPr kumimoji="0" lang="en-US" altLang="zh-CN"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ODBC</a:t>
            </a:r>
            <a:endPar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圆角矩形 56"/>
          <p:cNvSpPr/>
          <p:nvPr/>
        </p:nvSpPr>
        <p:spPr bwMode="auto">
          <a:xfrm>
            <a:off x="1156954" y="1722373"/>
            <a:ext cx="6506831" cy="253916"/>
          </a:xfrm>
          <a:prstGeom prst="roundRect">
            <a:avLst/>
          </a:prstGeom>
          <a:no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685800" fontAlgn="auto">
              <a:spcBef>
                <a:spcPts val="0"/>
              </a:spcBef>
              <a:spcAft>
                <a:spcPts val="0"/>
              </a:spcAft>
              <a:defRPr/>
            </a:pPr>
            <a:endParaRPr kumimoji="0" lang="zh-CN" altLang="en-US" sz="600" kern="0" dirty="0">
              <a:solidFill>
                <a:srgbClr val="FFFFFF"/>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endParaRPr>
          </a:p>
        </p:txBody>
      </p:sp>
      <p:sp>
        <p:nvSpPr>
          <p:cNvPr id="58" name="文本框 57"/>
          <p:cNvSpPr txBox="1"/>
          <p:nvPr/>
        </p:nvSpPr>
        <p:spPr>
          <a:xfrm>
            <a:off x="3736581" y="1718425"/>
            <a:ext cx="2052704" cy="276999"/>
          </a:xfrm>
          <a:prstGeom prst="rect">
            <a:avLst/>
          </a:prstGeom>
          <a:noFill/>
        </p:spPr>
        <p:txBody>
          <a:bodyPr wrap="square" rtlCol="0">
            <a:spAutoFit/>
          </a:bodyPr>
          <a:lstStyle/>
          <a:p>
            <a:pPr defTabSz="685800" fontAlgn="auto">
              <a:spcBef>
                <a:spcPts val="0"/>
              </a:spcBef>
              <a:spcAft>
                <a:spcPts val="0"/>
              </a:spcAft>
              <a:defRPr/>
            </a:pPr>
            <a:r>
              <a:rPr kumimoji="0"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业务应用进程</a:t>
            </a:r>
            <a:endParaRPr kumimoji="0"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圆角矩形 58"/>
          <p:cNvSpPr/>
          <p:nvPr/>
        </p:nvSpPr>
        <p:spPr bwMode="auto">
          <a:xfrm>
            <a:off x="5325474" y="4516563"/>
            <a:ext cx="1044688" cy="307927"/>
          </a:xfrm>
          <a:prstGeom prst="roundRect">
            <a:avLst/>
          </a:prstGeom>
          <a:solidFill>
            <a:srgbClr val="30B5C5"/>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685800" fontAlgn="auto">
              <a:spcBef>
                <a:spcPts val="0"/>
              </a:spcBef>
              <a:spcAft>
                <a:spcPts val="0"/>
              </a:spcAft>
              <a:defRPr/>
            </a:pPr>
            <a:endParaRPr kumimoji="0" lang="zh-CN" altLang="en-US" sz="600" kern="0" dirty="0">
              <a:solidFill>
                <a:srgbClr val="FFFFFF"/>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endParaRPr>
          </a:p>
        </p:txBody>
      </p:sp>
      <p:sp>
        <p:nvSpPr>
          <p:cNvPr id="60" name="文本框 59"/>
          <p:cNvSpPr txBox="1"/>
          <p:nvPr/>
        </p:nvSpPr>
        <p:spPr>
          <a:xfrm>
            <a:off x="5376833" y="4541280"/>
            <a:ext cx="958944" cy="276999"/>
          </a:xfrm>
          <a:prstGeom prst="rect">
            <a:avLst/>
          </a:prstGeom>
          <a:solidFill>
            <a:srgbClr val="30B5C5"/>
          </a:solidFill>
        </p:spPr>
        <p:txBody>
          <a:bodyPr wrap="square" rtlCol="0">
            <a:spAutoFit/>
          </a:bodyPr>
          <a:lstStyle/>
          <a:p>
            <a:pPr defTabSz="685800" fontAlgn="auto">
              <a:spcBef>
                <a:spcPts val="0"/>
              </a:spcBef>
              <a:spcAft>
                <a:spcPts val="0"/>
              </a:spcAft>
              <a:defRPr/>
            </a:pPr>
            <a:r>
              <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日志写线程</a:t>
            </a:r>
            <a:endPar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流程图: 磁盘 60"/>
          <p:cNvSpPr/>
          <p:nvPr/>
        </p:nvSpPr>
        <p:spPr bwMode="auto">
          <a:xfrm>
            <a:off x="5590138" y="5064504"/>
            <a:ext cx="1026114" cy="324036"/>
          </a:xfrm>
          <a:prstGeom prst="flowChartMagneticDisk">
            <a:avLst/>
          </a:prstGeom>
          <a:no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685800" fontAlgn="auto">
              <a:spcBef>
                <a:spcPts val="0"/>
              </a:spcBef>
              <a:spcAft>
                <a:spcPts val="0"/>
              </a:spcAft>
              <a:defRPr/>
            </a:pPr>
            <a:endParaRPr kumimoji="0" lang="zh-CN" altLang="en-US" sz="600" kern="0" dirty="0">
              <a:solidFill>
                <a:srgbClr val="FFFFFF"/>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endParaRPr>
          </a:p>
        </p:txBody>
      </p:sp>
      <p:sp>
        <p:nvSpPr>
          <p:cNvPr id="62" name="文本框 61"/>
          <p:cNvSpPr txBox="1"/>
          <p:nvPr/>
        </p:nvSpPr>
        <p:spPr>
          <a:xfrm>
            <a:off x="5572423" y="5143823"/>
            <a:ext cx="1187774" cy="276999"/>
          </a:xfrm>
          <a:prstGeom prst="rect">
            <a:avLst/>
          </a:prstGeom>
          <a:noFill/>
        </p:spPr>
        <p:txBody>
          <a:bodyPr wrap="square" rtlCol="0">
            <a:spAutoFit/>
          </a:bodyPr>
          <a:lstStyle/>
          <a:p>
            <a:pPr defTabSz="685800" fontAlgn="auto">
              <a:spcBef>
                <a:spcPts val="0"/>
              </a:spcBef>
              <a:spcAft>
                <a:spcPts val="0"/>
              </a:spcAft>
              <a:defRPr/>
            </a:pPr>
            <a:r>
              <a:rPr kumimoji="0"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Redo</a:t>
            </a:r>
            <a:r>
              <a:rPr kumimoji="0"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日志文件</a:t>
            </a:r>
            <a:endParaRPr kumimoji="0"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8" name="直接连接符 67"/>
          <p:cNvCxnSpPr/>
          <p:nvPr/>
        </p:nvCxnSpPr>
        <p:spPr bwMode="auto">
          <a:xfrm>
            <a:off x="4220853" y="2235909"/>
            <a:ext cx="0" cy="178279"/>
          </a:xfrm>
          <a:prstGeom prst="line">
            <a:avLst/>
          </a:prstGeom>
          <a:noFill/>
          <a:ln w="9525" cap="flat" cmpd="sng" algn="ctr">
            <a:solidFill>
              <a:schemeClr val="tx1"/>
            </a:solidFill>
            <a:prstDash val="solid"/>
            <a:round/>
            <a:headEnd type="none" w="med" len="med"/>
            <a:tailEnd type="none"/>
          </a:ln>
          <a:effectLst/>
        </p:spPr>
      </p:cxnSp>
      <p:sp>
        <p:nvSpPr>
          <p:cNvPr id="69" name="流程图: 磁盘 68"/>
          <p:cNvSpPr/>
          <p:nvPr/>
        </p:nvSpPr>
        <p:spPr bwMode="auto">
          <a:xfrm>
            <a:off x="3310262" y="5055251"/>
            <a:ext cx="1026114" cy="324036"/>
          </a:xfrm>
          <a:prstGeom prst="flowChartMagneticDisk">
            <a:avLst/>
          </a:prstGeom>
          <a:no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685800" fontAlgn="auto">
              <a:spcBef>
                <a:spcPts val="0"/>
              </a:spcBef>
              <a:spcAft>
                <a:spcPts val="0"/>
              </a:spcAft>
              <a:defRPr/>
            </a:pPr>
            <a:endParaRPr kumimoji="0" lang="zh-CN" altLang="en-US" sz="600" kern="0" dirty="0">
              <a:solidFill>
                <a:srgbClr val="FFFFFF"/>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endParaRPr>
          </a:p>
        </p:txBody>
      </p:sp>
      <p:sp>
        <p:nvSpPr>
          <p:cNvPr id="70" name="文本框 69"/>
          <p:cNvSpPr txBox="1"/>
          <p:nvPr/>
        </p:nvSpPr>
        <p:spPr>
          <a:xfrm>
            <a:off x="3435701" y="5138338"/>
            <a:ext cx="864096" cy="276999"/>
          </a:xfrm>
          <a:prstGeom prst="rect">
            <a:avLst/>
          </a:prstGeom>
          <a:noFill/>
        </p:spPr>
        <p:txBody>
          <a:bodyPr wrap="square" rtlCol="0">
            <a:spAutoFit/>
          </a:bodyPr>
          <a:lstStyle/>
          <a:p>
            <a:pPr defTabSz="685800" fontAlgn="auto">
              <a:spcBef>
                <a:spcPts val="0"/>
              </a:spcBef>
              <a:spcAft>
                <a:spcPts val="0"/>
              </a:spcAft>
              <a:defRPr/>
            </a:pPr>
            <a:r>
              <a:rPr kumimoji="0"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数据文件</a:t>
            </a:r>
            <a:endParaRPr kumimoji="0"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流程图: 磁盘 70"/>
          <p:cNvSpPr/>
          <p:nvPr/>
        </p:nvSpPr>
        <p:spPr bwMode="auto">
          <a:xfrm>
            <a:off x="997367" y="5035217"/>
            <a:ext cx="1026114" cy="324036"/>
          </a:xfrm>
          <a:prstGeom prst="flowChartMagneticDisk">
            <a:avLst/>
          </a:prstGeom>
          <a:no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685800" fontAlgn="auto">
              <a:spcBef>
                <a:spcPts val="0"/>
              </a:spcBef>
              <a:spcAft>
                <a:spcPts val="0"/>
              </a:spcAft>
              <a:defRPr/>
            </a:pPr>
            <a:endParaRPr kumimoji="0" lang="zh-CN" altLang="en-US" sz="600" kern="0" dirty="0">
              <a:solidFill>
                <a:srgbClr val="FFFFFF"/>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endParaRPr>
          </a:p>
        </p:txBody>
      </p:sp>
      <p:sp>
        <p:nvSpPr>
          <p:cNvPr id="72" name="文本框 71"/>
          <p:cNvSpPr txBox="1"/>
          <p:nvPr/>
        </p:nvSpPr>
        <p:spPr>
          <a:xfrm>
            <a:off x="1159385" y="5127658"/>
            <a:ext cx="864096" cy="276999"/>
          </a:xfrm>
          <a:prstGeom prst="rect">
            <a:avLst/>
          </a:prstGeom>
          <a:noFill/>
        </p:spPr>
        <p:txBody>
          <a:bodyPr wrap="square" rtlCol="0">
            <a:spAutoFit/>
          </a:bodyPr>
          <a:lstStyle/>
          <a:p>
            <a:pPr defTabSz="685800" fontAlgn="auto">
              <a:spcBef>
                <a:spcPts val="0"/>
              </a:spcBef>
              <a:spcAft>
                <a:spcPts val="0"/>
              </a:spcAft>
              <a:defRPr/>
            </a:pPr>
            <a:r>
              <a:rPr kumimoji="0"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配置文件</a:t>
            </a:r>
            <a:endParaRPr kumimoji="0"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流程图: 磁盘 72"/>
          <p:cNvSpPr/>
          <p:nvPr/>
        </p:nvSpPr>
        <p:spPr bwMode="auto">
          <a:xfrm>
            <a:off x="6834841" y="5048183"/>
            <a:ext cx="1026114" cy="324036"/>
          </a:xfrm>
          <a:prstGeom prst="flowChartMagneticDisk">
            <a:avLst/>
          </a:prstGeom>
          <a:no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685800" fontAlgn="auto">
              <a:spcBef>
                <a:spcPts val="0"/>
              </a:spcBef>
              <a:spcAft>
                <a:spcPts val="0"/>
              </a:spcAft>
              <a:defRPr/>
            </a:pPr>
            <a:endParaRPr kumimoji="0" lang="zh-CN" altLang="en-US" sz="600" kern="0" dirty="0">
              <a:solidFill>
                <a:srgbClr val="FFFFFF"/>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endParaRPr>
          </a:p>
        </p:txBody>
      </p:sp>
      <p:sp>
        <p:nvSpPr>
          <p:cNvPr id="74" name="文本框 73"/>
          <p:cNvSpPr txBox="1"/>
          <p:nvPr/>
        </p:nvSpPr>
        <p:spPr>
          <a:xfrm>
            <a:off x="6833626" y="5136781"/>
            <a:ext cx="1100759" cy="276999"/>
          </a:xfrm>
          <a:prstGeom prst="rect">
            <a:avLst/>
          </a:prstGeom>
          <a:noFill/>
        </p:spPr>
        <p:txBody>
          <a:bodyPr wrap="square" rtlCol="0">
            <a:spAutoFit/>
          </a:bodyPr>
          <a:lstStyle/>
          <a:p>
            <a:pPr defTabSz="685800" fontAlgn="auto">
              <a:spcBef>
                <a:spcPts val="0"/>
              </a:spcBef>
              <a:spcAft>
                <a:spcPts val="0"/>
              </a:spcAft>
              <a:defRPr/>
            </a:pPr>
            <a:r>
              <a:rPr kumimoji="0"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归档日志文件</a:t>
            </a:r>
            <a:endParaRPr kumimoji="0"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圆角矩形 75"/>
          <p:cNvSpPr/>
          <p:nvPr/>
        </p:nvSpPr>
        <p:spPr bwMode="auto">
          <a:xfrm>
            <a:off x="2437821" y="4516565"/>
            <a:ext cx="1244026" cy="287693"/>
          </a:xfrm>
          <a:prstGeom prst="roundRect">
            <a:avLst/>
          </a:prstGeom>
          <a:solidFill>
            <a:srgbClr val="30B5C5"/>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685800" fontAlgn="auto">
              <a:spcBef>
                <a:spcPts val="0"/>
              </a:spcBef>
              <a:spcAft>
                <a:spcPts val="0"/>
              </a:spcAft>
              <a:defRPr/>
            </a:pPr>
            <a:endParaRPr kumimoji="0" lang="zh-CN" altLang="en-US" sz="600" kern="0" dirty="0">
              <a:solidFill>
                <a:srgbClr val="FFFFFF"/>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endParaRPr>
          </a:p>
        </p:txBody>
      </p:sp>
      <p:sp>
        <p:nvSpPr>
          <p:cNvPr id="77" name="文本框 76"/>
          <p:cNvSpPr txBox="1"/>
          <p:nvPr/>
        </p:nvSpPr>
        <p:spPr>
          <a:xfrm>
            <a:off x="2593565" y="4539675"/>
            <a:ext cx="1080276" cy="276999"/>
          </a:xfrm>
          <a:prstGeom prst="rect">
            <a:avLst/>
          </a:prstGeom>
          <a:noFill/>
        </p:spPr>
        <p:txBody>
          <a:bodyPr wrap="square" rtlCol="0">
            <a:spAutoFit/>
          </a:bodyPr>
          <a:lstStyle/>
          <a:p>
            <a:pPr defTabSz="685800" fontAlgn="auto">
              <a:spcBef>
                <a:spcPts val="0"/>
              </a:spcBef>
              <a:spcAft>
                <a:spcPts val="0"/>
              </a:spcAft>
              <a:defRPr/>
            </a:pPr>
            <a:r>
              <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检查点线程</a:t>
            </a:r>
            <a:endPar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圆角矩形 77"/>
          <p:cNvSpPr/>
          <p:nvPr/>
        </p:nvSpPr>
        <p:spPr bwMode="auto">
          <a:xfrm>
            <a:off x="3902510" y="4516564"/>
            <a:ext cx="1244026" cy="295940"/>
          </a:xfrm>
          <a:prstGeom prst="roundRect">
            <a:avLst/>
          </a:prstGeom>
          <a:solidFill>
            <a:srgbClr val="30B5C5"/>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685800" fontAlgn="auto">
              <a:spcBef>
                <a:spcPts val="0"/>
              </a:spcBef>
              <a:spcAft>
                <a:spcPts val="0"/>
              </a:spcAft>
              <a:defRPr/>
            </a:pPr>
            <a:endParaRPr kumimoji="0" lang="zh-CN" altLang="en-US" sz="600" kern="0" dirty="0">
              <a:solidFill>
                <a:srgbClr val="FFFFFF"/>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endParaRPr>
          </a:p>
        </p:txBody>
      </p:sp>
      <p:sp>
        <p:nvSpPr>
          <p:cNvPr id="79" name="文本框 78"/>
          <p:cNvSpPr txBox="1"/>
          <p:nvPr/>
        </p:nvSpPr>
        <p:spPr>
          <a:xfrm>
            <a:off x="4062903" y="4533781"/>
            <a:ext cx="1267456" cy="276999"/>
          </a:xfrm>
          <a:prstGeom prst="rect">
            <a:avLst/>
          </a:prstGeom>
          <a:noFill/>
        </p:spPr>
        <p:txBody>
          <a:bodyPr wrap="square" rtlCol="0">
            <a:spAutoFit/>
          </a:bodyPr>
          <a:lstStyle/>
          <a:p>
            <a:pPr defTabSz="685800" fontAlgn="auto">
              <a:spcBef>
                <a:spcPts val="0"/>
              </a:spcBef>
              <a:spcAft>
                <a:spcPts val="0"/>
              </a:spcAft>
              <a:defRPr/>
            </a:pPr>
            <a:r>
              <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后台写线程</a:t>
            </a:r>
            <a:endPar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圆角矩形 79"/>
          <p:cNvSpPr/>
          <p:nvPr/>
        </p:nvSpPr>
        <p:spPr bwMode="auto">
          <a:xfrm>
            <a:off x="6616252" y="4516563"/>
            <a:ext cx="1047533" cy="294767"/>
          </a:xfrm>
          <a:prstGeom prst="roundRect">
            <a:avLst/>
          </a:prstGeom>
          <a:solidFill>
            <a:srgbClr val="30B5C5"/>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685800" fontAlgn="auto">
              <a:spcBef>
                <a:spcPts val="0"/>
              </a:spcBef>
              <a:spcAft>
                <a:spcPts val="0"/>
              </a:spcAft>
              <a:defRPr/>
            </a:pPr>
            <a:endParaRPr kumimoji="0" lang="zh-CN" altLang="en-US" sz="600" kern="0" dirty="0">
              <a:solidFill>
                <a:srgbClr val="FFFFFF"/>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endParaRPr>
          </a:p>
        </p:txBody>
      </p:sp>
      <p:sp>
        <p:nvSpPr>
          <p:cNvPr id="81" name="文本框 80"/>
          <p:cNvSpPr txBox="1"/>
          <p:nvPr/>
        </p:nvSpPr>
        <p:spPr>
          <a:xfrm>
            <a:off x="6751391" y="4533497"/>
            <a:ext cx="1014404" cy="276999"/>
          </a:xfrm>
          <a:prstGeom prst="rect">
            <a:avLst/>
          </a:prstGeom>
          <a:noFill/>
        </p:spPr>
        <p:txBody>
          <a:bodyPr wrap="square" rtlCol="0">
            <a:spAutoFit/>
          </a:bodyPr>
          <a:lstStyle/>
          <a:p>
            <a:pPr defTabSz="685800" fontAlgn="auto">
              <a:spcBef>
                <a:spcPts val="0"/>
              </a:spcBef>
              <a:spcAft>
                <a:spcPts val="0"/>
              </a:spcAft>
              <a:defRPr/>
            </a:pPr>
            <a:r>
              <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归档线程</a:t>
            </a:r>
            <a:endPar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圆角矩形 81"/>
          <p:cNvSpPr/>
          <p:nvPr/>
        </p:nvSpPr>
        <p:spPr bwMode="auto">
          <a:xfrm>
            <a:off x="3252728" y="2420674"/>
            <a:ext cx="2161921" cy="281504"/>
          </a:xfrm>
          <a:prstGeom prst="roundRect">
            <a:avLst/>
          </a:prstGeom>
          <a:solidFill>
            <a:srgbClr val="30B5C5"/>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685800" fontAlgn="auto">
              <a:spcBef>
                <a:spcPts val="0"/>
              </a:spcBef>
              <a:spcAft>
                <a:spcPts val="0"/>
              </a:spcAft>
              <a:defRPr/>
            </a:pPr>
            <a:endParaRPr kumimoji="0" lang="zh-CN" altLang="en-US" sz="600" kern="0" dirty="0">
              <a:solidFill>
                <a:srgbClr val="FFFFFF"/>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endParaRPr>
          </a:p>
        </p:txBody>
      </p:sp>
      <p:sp>
        <p:nvSpPr>
          <p:cNvPr id="83" name="文本框 82"/>
          <p:cNvSpPr txBox="1"/>
          <p:nvPr/>
        </p:nvSpPr>
        <p:spPr>
          <a:xfrm>
            <a:off x="3688256" y="2441427"/>
            <a:ext cx="1327377" cy="276999"/>
          </a:xfrm>
          <a:prstGeom prst="rect">
            <a:avLst/>
          </a:prstGeom>
          <a:noFill/>
        </p:spPr>
        <p:txBody>
          <a:bodyPr wrap="square" rtlCol="0">
            <a:spAutoFit/>
          </a:bodyPr>
          <a:lstStyle/>
          <a:p>
            <a:pPr defTabSz="685800" fontAlgn="auto">
              <a:spcBef>
                <a:spcPts val="0"/>
              </a:spcBef>
              <a:spcAft>
                <a:spcPts val="0"/>
              </a:spcAft>
              <a:defRPr/>
            </a:pPr>
            <a:r>
              <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业务处理线程</a:t>
            </a:r>
            <a:endPar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4" name="圆角矩形 83"/>
          <p:cNvSpPr/>
          <p:nvPr/>
        </p:nvSpPr>
        <p:spPr bwMode="auto">
          <a:xfrm>
            <a:off x="5620732" y="4080679"/>
            <a:ext cx="2043052" cy="361928"/>
          </a:xfrm>
          <a:prstGeom prst="roundRect">
            <a:avLst/>
          </a:prstGeom>
          <a:solidFill>
            <a:srgbClr val="30B5C5"/>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685800" fontAlgn="auto">
              <a:spcBef>
                <a:spcPts val="0"/>
              </a:spcBef>
              <a:spcAft>
                <a:spcPts val="0"/>
              </a:spcAft>
              <a:defRPr/>
            </a:pPr>
            <a:endParaRPr kumimoji="0" lang="zh-CN" altLang="en-US" sz="600" kern="0" dirty="0">
              <a:solidFill>
                <a:srgbClr val="FFFFFF"/>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endParaRPr>
          </a:p>
        </p:txBody>
      </p:sp>
      <p:sp>
        <p:nvSpPr>
          <p:cNvPr id="85" name="文本框 84"/>
          <p:cNvSpPr txBox="1"/>
          <p:nvPr/>
        </p:nvSpPr>
        <p:spPr>
          <a:xfrm>
            <a:off x="6094984" y="4147131"/>
            <a:ext cx="1376627" cy="276999"/>
          </a:xfrm>
          <a:prstGeom prst="rect">
            <a:avLst/>
          </a:prstGeom>
          <a:noFill/>
        </p:spPr>
        <p:txBody>
          <a:bodyPr wrap="square" rtlCol="0">
            <a:spAutoFit/>
          </a:bodyPr>
          <a:lstStyle/>
          <a:p>
            <a:pPr defTabSz="685800" fontAlgn="auto">
              <a:spcBef>
                <a:spcPts val="0"/>
              </a:spcBef>
              <a:spcAft>
                <a:spcPts val="0"/>
              </a:spcAft>
              <a:defRPr/>
            </a:pPr>
            <a:r>
              <a:rPr kumimoji="0" lang="en-US" altLang="zh-CN"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Redo</a:t>
            </a:r>
            <a:r>
              <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日志缓冲区</a:t>
            </a:r>
            <a:endPar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6" name="圆角矩形 85"/>
          <p:cNvSpPr/>
          <p:nvPr/>
        </p:nvSpPr>
        <p:spPr bwMode="auto">
          <a:xfrm>
            <a:off x="3281011" y="4074469"/>
            <a:ext cx="2133638" cy="361928"/>
          </a:xfrm>
          <a:prstGeom prst="roundRect">
            <a:avLst/>
          </a:prstGeom>
          <a:solidFill>
            <a:srgbClr val="30B5C5"/>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685800" fontAlgn="auto">
              <a:spcBef>
                <a:spcPts val="0"/>
              </a:spcBef>
              <a:spcAft>
                <a:spcPts val="0"/>
              </a:spcAft>
              <a:defRPr/>
            </a:pPr>
            <a:endParaRPr kumimoji="0" lang="zh-CN" altLang="en-US" sz="600" kern="0" dirty="0">
              <a:solidFill>
                <a:srgbClr val="FFFFFF"/>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endParaRPr>
          </a:p>
        </p:txBody>
      </p:sp>
      <p:sp>
        <p:nvSpPr>
          <p:cNvPr id="87" name="文本框 86"/>
          <p:cNvSpPr txBox="1"/>
          <p:nvPr/>
        </p:nvSpPr>
        <p:spPr>
          <a:xfrm>
            <a:off x="3777375" y="4156554"/>
            <a:ext cx="1088647" cy="276999"/>
          </a:xfrm>
          <a:prstGeom prst="rect">
            <a:avLst/>
          </a:prstGeom>
          <a:noFill/>
        </p:spPr>
        <p:txBody>
          <a:bodyPr wrap="square" rtlCol="0">
            <a:spAutoFit/>
          </a:bodyPr>
          <a:lstStyle/>
          <a:p>
            <a:pPr defTabSz="685800" fontAlgn="auto">
              <a:spcBef>
                <a:spcPts val="0"/>
              </a:spcBef>
              <a:spcAft>
                <a:spcPts val="0"/>
              </a:spcAft>
              <a:defRPr/>
            </a:pPr>
            <a:r>
              <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数据缓冲区</a:t>
            </a:r>
            <a:endPar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8" name="圆角矩形 87"/>
          <p:cNvSpPr/>
          <p:nvPr/>
        </p:nvSpPr>
        <p:spPr bwMode="auto">
          <a:xfrm>
            <a:off x="1156954" y="4098457"/>
            <a:ext cx="1865711" cy="332046"/>
          </a:xfrm>
          <a:prstGeom prst="roundRect">
            <a:avLst/>
          </a:prstGeom>
          <a:solidFill>
            <a:srgbClr val="30B5C5"/>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685800" fontAlgn="auto">
              <a:spcBef>
                <a:spcPts val="0"/>
              </a:spcBef>
              <a:spcAft>
                <a:spcPts val="0"/>
              </a:spcAft>
              <a:defRPr/>
            </a:pPr>
            <a:endParaRPr kumimoji="0" lang="zh-CN" altLang="en-US" sz="600" kern="0" dirty="0">
              <a:solidFill>
                <a:srgbClr val="FFFFFF"/>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endParaRPr>
          </a:p>
        </p:txBody>
      </p:sp>
      <p:sp>
        <p:nvSpPr>
          <p:cNvPr id="89" name="文本框 88"/>
          <p:cNvSpPr txBox="1"/>
          <p:nvPr/>
        </p:nvSpPr>
        <p:spPr>
          <a:xfrm>
            <a:off x="1518587" y="4156554"/>
            <a:ext cx="1311884" cy="276999"/>
          </a:xfrm>
          <a:prstGeom prst="rect">
            <a:avLst/>
          </a:prstGeom>
          <a:noFill/>
        </p:spPr>
        <p:txBody>
          <a:bodyPr wrap="square" rtlCol="0">
            <a:spAutoFit/>
          </a:bodyPr>
          <a:lstStyle/>
          <a:p>
            <a:pPr defTabSz="685800" fontAlgn="auto">
              <a:spcBef>
                <a:spcPts val="0"/>
              </a:spcBef>
              <a:spcAft>
                <a:spcPts val="0"/>
              </a:spcAft>
              <a:defRPr/>
            </a:pPr>
            <a:r>
              <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数据字典缓冲区</a:t>
            </a:r>
            <a:endPar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4" name="直接箭头连接符 13"/>
          <p:cNvCxnSpPr/>
          <p:nvPr/>
        </p:nvCxnSpPr>
        <p:spPr>
          <a:xfrm>
            <a:off x="2804984" y="4843629"/>
            <a:ext cx="3241" cy="203314"/>
          </a:xfrm>
          <a:prstGeom prst="straightConnector1">
            <a:avLst/>
          </a:prstGeom>
          <a:ln w="9525">
            <a:headEnd type="triangle"/>
            <a:tailEnd type="triangle"/>
          </a:ln>
        </p:spPr>
        <p:style>
          <a:lnRef idx="1">
            <a:schemeClr val="accent1"/>
          </a:lnRef>
          <a:fillRef idx="0">
            <a:schemeClr val="accent1"/>
          </a:fillRef>
          <a:effectRef idx="0">
            <a:schemeClr val="accent1"/>
          </a:effectRef>
          <a:fontRef idx="minor">
            <a:schemeClr val="tx1"/>
          </a:fontRef>
        </p:style>
      </p:cxnSp>
      <p:sp>
        <p:nvSpPr>
          <p:cNvPr id="91" name="圆角矩形 90"/>
          <p:cNvSpPr/>
          <p:nvPr/>
        </p:nvSpPr>
        <p:spPr bwMode="auto">
          <a:xfrm>
            <a:off x="3252728" y="2819043"/>
            <a:ext cx="2161920" cy="293472"/>
          </a:xfrm>
          <a:prstGeom prst="roundRect">
            <a:avLst/>
          </a:prstGeom>
          <a:solidFill>
            <a:srgbClr val="30B5C5"/>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685800" fontAlgn="auto">
              <a:spcBef>
                <a:spcPts val="0"/>
              </a:spcBef>
              <a:spcAft>
                <a:spcPts val="0"/>
              </a:spcAft>
              <a:defRPr/>
            </a:pPr>
            <a:endParaRPr kumimoji="0" lang="zh-CN" altLang="en-US" sz="600" kern="0" dirty="0">
              <a:solidFill>
                <a:srgbClr val="FFFFFF"/>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endParaRPr>
          </a:p>
        </p:txBody>
      </p:sp>
      <p:sp>
        <p:nvSpPr>
          <p:cNvPr id="92" name="文本框 91"/>
          <p:cNvSpPr txBox="1"/>
          <p:nvPr/>
        </p:nvSpPr>
        <p:spPr>
          <a:xfrm>
            <a:off x="3755794" y="2860201"/>
            <a:ext cx="1408985" cy="276999"/>
          </a:xfrm>
          <a:prstGeom prst="rect">
            <a:avLst/>
          </a:prstGeom>
          <a:noFill/>
        </p:spPr>
        <p:txBody>
          <a:bodyPr wrap="square" rtlCol="0">
            <a:spAutoFit/>
          </a:bodyPr>
          <a:lstStyle/>
          <a:p>
            <a:pPr defTabSz="685800" fontAlgn="auto">
              <a:spcBef>
                <a:spcPts val="0"/>
              </a:spcBef>
              <a:spcAft>
                <a:spcPts val="0"/>
              </a:spcAft>
              <a:defRPr/>
            </a:pPr>
            <a:r>
              <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词法</a:t>
            </a:r>
            <a:r>
              <a:rPr kumimoji="0" lang="en-US" altLang="zh-CN"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a:t>
            </a:r>
            <a:r>
              <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语法解析</a:t>
            </a:r>
            <a:endPar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3" name="圆角矩形 92"/>
          <p:cNvSpPr/>
          <p:nvPr/>
        </p:nvSpPr>
        <p:spPr bwMode="auto">
          <a:xfrm>
            <a:off x="3256065" y="3652920"/>
            <a:ext cx="2158584" cy="326039"/>
          </a:xfrm>
          <a:prstGeom prst="roundRect">
            <a:avLst/>
          </a:prstGeom>
          <a:solidFill>
            <a:srgbClr val="30B5C5"/>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685800" fontAlgn="auto">
              <a:spcBef>
                <a:spcPts val="0"/>
              </a:spcBef>
              <a:spcAft>
                <a:spcPts val="0"/>
              </a:spcAft>
              <a:defRPr/>
            </a:pPr>
            <a:endParaRPr kumimoji="0" lang="zh-CN" altLang="en-US" sz="600" kern="0" dirty="0">
              <a:solidFill>
                <a:srgbClr val="FFFFFF"/>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endParaRPr>
          </a:p>
        </p:txBody>
      </p:sp>
      <p:sp>
        <p:nvSpPr>
          <p:cNvPr id="95" name="圆角矩形 94"/>
          <p:cNvSpPr/>
          <p:nvPr/>
        </p:nvSpPr>
        <p:spPr bwMode="auto">
          <a:xfrm>
            <a:off x="3252728" y="3234183"/>
            <a:ext cx="2161921" cy="314621"/>
          </a:xfrm>
          <a:prstGeom prst="roundRect">
            <a:avLst/>
          </a:prstGeom>
          <a:solidFill>
            <a:srgbClr val="30B5C5"/>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685800" fontAlgn="auto">
              <a:spcBef>
                <a:spcPts val="0"/>
              </a:spcBef>
              <a:spcAft>
                <a:spcPts val="0"/>
              </a:spcAft>
              <a:defRPr/>
            </a:pPr>
            <a:endParaRPr kumimoji="0" lang="zh-CN" altLang="en-US" sz="600" kern="0" dirty="0">
              <a:solidFill>
                <a:srgbClr val="FFFFFF"/>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endParaRPr>
          </a:p>
        </p:txBody>
      </p:sp>
      <p:sp>
        <p:nvSpPr>
          <p:cNvPr id="96" name="文本框 95"/>
          <p:cNvSpPr txBox="1"/>
          <p:nvPr/>
        </p:nvSpPr>
        <p:spPr>
          <a:xfrm>
            <a:off x="3955640" y="3692312"/>
            <a:ext cx="819009" cy="276999"/>
          </a:xfrm>
          <a:prstGeom prst="rect">
            <a:avLst/>
          </a:prstGeom>
          <a:noFill/>
        </p:spPr>
        <p:txBody>
          <a:bodyPr wrap="square" rtlCol="0">
            <a:spAutoFit/>
          </a:bodyPr>
          <a:lstStyle/>
          <a:p>
            <a:pPr defTabSz="685800" fontAlgn="auto">
              <a:spcBef>
                <a:spcPts val="0"/>
              </a:spcBef>
              <a:spcAft>
                <a:spcPts val="0"/>
              </a:spcAft>
              <a:defRPr/>
            </a:pPr>
            <a:r>
              <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查询执行</a:t>
            </a:r>
            <a:endPar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4" name="文本框 93"/>
          <p:cNvSpPr txBox="1"/>
          <p:nvPr/>
        </p:nvSpPr>
        <p:spPr>
          <a:xfrm>
            <a:off x="3896743" y="3266548"/>
            <a:ext cx="819009" cy="276999"/>
          </a:xfrm>
          <a:prstGeom prst="rect">
            <a:avLst/>
          </a:prstGeom>
          <a:noFill/>
        </p:spPr>
        <p:txBody>
          <a:bodyPr wrap="square" rtlCol="0">
            <a:spAutoFit/>
          </a:bodyPr>
          <a:lstStyle/>
          <a:p>
            <a:pPr defTabSz="685800" fontAlgn="auto">
              <a:spcBef>
                <a:spcPts val="0"/>
              </a:spcBef>
              <a:spcAft>
                <a:spcPts val="0"/>
              </a:spcAft>
              <a:defRPr/>
            </a:pPr>
            <a:r>
              <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查询优化</a:t>
            </a:r>
            <a:endPar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3" name="直接箭头连接符 52"/>
          <p:cNvCxnSpPr/>
          <p:nvPr/>
        </p:nvCxnSpPr>
        <p:spPr>
          <a:xfrm>
            <a:off x="6115186" y="4853182"/>
            <a:ext cx="3241" cy="203314"/>
          </a:xfrm>
          <a:prstGeom prst="straightConnector1">
            <a:avLst/>
          </a:prstGeom>
          <a:ln w="952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4234988" y="2704063"/>
            <a:ext cx="0" cy="106649"/>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4236168" y="3115309"/>
            <a:ext cx="0" cy="106649"/>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4265625" y="3554832"/>
            <a:ext cx="0" cy="106649"/>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4266806" y="3987283"/>
            <a:ext cx="0" cy="106649"/>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flipH="1">
            <a:off x="3022666" y="3987283"/>
            <a:ext cx="658982" cy="106649"/>
          </a:xfrm>
          <a:prstGeom prst="line">
            <a:avLst/>
          </a:prstGeom>
          <a:ln w="9525"/>
        </p:spPr>
        <p:style>
          <a:lnRef idx="1">
            <a:schemeClr val="accent1"/>
          </a:lnRef>
          <a:fillRef idx="0">
            <a:schemeClr val="accent1"/>
          </a:fillRef>
          <a:effectRef idx="0">
            <a:schemeClr val="accent1"/>
          </a:effectRef>
          <a:fontRef idx="minor">
            <a:schemeClr val="tx1"/>
          </a:fontRef>
        </p:style>
      </p:cxnSp>
      <p:sp>
        <p:nvSpPr>
          <p:cNvPr id="11" name="任意多边形 10"/>
          <p:cNvSpPr/>
          <p:nvPr/>
        </p:nvSpPr>
        <p:spPr>
          <a:xfrm>
            <a:off x="5401559" y="3505688"/>
            <a:ext cx="983165" cy="457005"/>
          </a:xfrm>
          <a:custGeom>
            <a:avLst/>
            <a:gdLst>
              <a:gd name="connsiteX0" fmla="*/ 0 w 1310887"/>
              <a:gd name="connsiteY0" fmla="*/ 458308 h 609340"/>
              <a:gd name="connsiteX1" fmla="*/ 461914 w 1310887"/>
              <a:gd name="connsiteY1" fmla="*/ 609137 h 609340"/>
              <a:gd name="connsiteX2" fmla="*/ 848413 w 1310887"/>
              <a:gd name="connsiteY2" fmla="*/ 430028 h 609340"/>
              <a:gd name="connsiteX3" fmla="*/ 1310326 w 1310887"/>
              <a:gd name="connsiteY3" fmla="*/ 458308 h 609340"/>
              <a:gd name="connsiteX4" fmla="*/ 942681 w 1310887"/>
              <a:gd name="connsiteY4" fmla="*/ 43529 h 609340"/>
              <a:gd name="connsiteX5" fmla="*/ 923827 w 1310887"/>
              <a:gd name="connsiteY5" fmla="*/ 52955 h 609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10887" h="609340">
                <a:moveTo>
                  <a:pt x="0" y="458308"/>
                </a:moveTo>
                <a:cubicBezTo>
                  <a:pt x="160256" y="536079"/>
                  <a:pt x="320512" y="613850"/>
                  <a:pt x="461914" y="609137"/>
                </a:cubicBezTo>
                <a:cubicBezTo>
                  <a:pt x="603316" y="604424"/>
                  <a:pt x="707011" y="455166"/>
                  <a:pt x="848413" y="430028"/>
                </a:cubicBezTo>
                <a:cubicBezTo>
                  <a:pt x="989815" y="404890"/>
                  <a:pt x="1294615" y="522725"/>
                  <a:pt x="1310326" y="458308"/>
                </a:cubicBezTo>
                <a:cubicBezTo>
                  <a:pt x="1326037" y="393891"/>
                  <a:pt x="1007097" y="111088"/>
                  <a:pt x="942681" y="43529"/>
                </a:cubicBezTo>
                <a:cubicBezTo>
                  <a:pt x="878265" y="-24030"/>
                  <a:pt x="914400" y="-6748"/>
                  <a:pt x="923827" y="52955"/>
                </a:cubicBezTo>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defRPr/>
            </a:pPr>
            <a:endParaRPr kumimoji="0" lang="zh-CN" altLang="en-US" sz="135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3" name="直接连接符 12"/>
          <p:cNvCxnSpPr/>
          <p:nvPr/>
        </p:nvCxnSpPr>
        <p:spPr>
          <a:xfrm>
            <a:off x="4806806" y="3987283"/>
            <a:ext cx="813926" cy="106649"/>
          </a:xfrm>
          <a:prstGeom prst="line">
            <a:avLst/>
          </a:prstGeom>
          <a:ln w="9525"/>
        </p:spPr>
        <p:style>
          <a:lnRef idx="1">
            <a:schemeClr val="accent1"/>
          </a:lnRef>
          <a:fillRef idx="0">
            <a:schemeClr val="accent1"/>
          </a:fillRef>
          <a:effectRef idx="0">
            <a:schemeClr val="accent1"/>
          </a:effectRef>
          <a:fontRef idx="minor">
            <a:schemeClr val="tx1"/>
          </a:fontRef>
        </p:style>
      </p:cxnSp>
      <p:sp>
        <p:nvSpPr>
          <p:cNvPr id="54" name="文本框 53"/>
          <p:cNvSpPr txBox="1"/>
          <p:nvPr/>
        </p:nvSpPr>
        <p:spPr>
          <a:xfrm>
            <a:off x="2175734" y="5148600"/>
            <a:ext cx="1132216" cy="276999"/>
          </a:xfrm>
          <a:prstGeom prst="rect">
            <a:avLst/>
          </a:prstGeom>
          <a:noFill/>
        </p:spPr>
        <p:txBody>
          <a:bodyPr wrap="square" rtlCol="0">
            <a:spAutoFit/>
          </a:bodyPr>
          <a:lstStyle/>
          <a:p>
            <a:pPr defTabSz="685800" fontAlgn="auto">
              <a:spcBef>
                <a:spcPts val="0"/>
              </a:spcBef>
              <a:spcAft>
                <a:spcPts val="0"/>
              </a:spcAft>
              <a:defRPr/>
            </a:pPr>
            <a:r>
              <a:rPr kumimoji="0"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错误日志文件</a:t>
            </a:r>
            <a:endParaRPr kumimoji="0"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流程图: 磁盘 65"/>
          <p:cNvSpPr/>
          <p:nvPr/>
        </p:nvSpPr>
        <p:spPr bwMode="auto">
          <a:xfrm>
            <a:off x="2173148" y="5049007"/>
            <a:ext cx="1026114" cy="324036"/>
          </a:xfrm>
          <a:prstGeom prst="flowChartMagneticDisk">
            <a:avLst/>
          </a:prstGeom>
          <a:no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685800" fontAlgn="auto">
              <a:spcBef>
                <a:spcPts val="0"/>
              </a:spcBef>
              <a:spcAft>
                <a:spcPts val="0"/>
              </a:spcAft>
              <a:defRPr/>
            </a:pPr>
            <a:endParaRPr kumimoji="0" lang="zh-CN" altLang="en-US" sz="600" kern="0" dirty="0">
              <a:solidFill>
                <a:srgbClr val="FFFFFF"/>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Huawei Sans" panose="020C0503030203020204" pitchFamily="34" charset="0"/>
              </a:rPr>
              <a:t>openGauss</a:t>
            </a:r>
            <a:r>
              <a:rPr lang="zh-CN" altLang="en-US" dirty="0">
                <a:sym typeface="Huawei Sans" panose="020C0503030203020204" pitchFamily="34" charset="0"/>
              </a:rPr>
              <a:t>架构 </a:t>
            </a:r>
            <a:r>
              <a:rPr lang="en-US" altLang="zh-CN" dirty="0">
                <a:sym typeface="Huawei Sans" panose="020C0503030203020204" pitchFamily="34" charset="0"/>
              </a:rPr>
              <a:t>VS. PostgreSQL</a:t>
            </a:r>
            <a:r>
              <a:rPr lang="zh-CN" altLang="en-US" dirty="0">
                <a:sym typeface="Huawei Sans" panose="020C0503030203020204" pitchFamily="34" charset="0"/>
              </a:rPr>
              <a:t>架构    关键技术对比</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p:txBody>
          <a:bodyPr/>
          <a:lstStyle/>
          <a:p>
            <a:endParaRPr lang="zh-CN" altLang="en-US" dirty="0">
              <a:sym typeface="Huawei Sans" panose="020C0503030203020204" pitchFamily="34" charset="0"/>
            </a:endParaRPr>
          </a:p>
        </p:txBody>
      </p:sp>
      <p:sp>
        <p:nvSpPr>
          <p:cNvPr id="4" name="矩形 3"/>
          <p:cNvSpPr/>
          <p:nvPr/>
        </p:nvSpPr>
        <p:spPr>
          <a:xfrm>
            <a:off x="548878" y="1651735"/>
            <a:ext cx="8046245" cy="69676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214630" indent="-214630" defTabSz="685800" fontAlgn="auto">
              <a:spcBef>
                <a:spcPts val="0"/>
              </a:spcBef>
              <a:spcAft>
                <a:spcPts val="0"/>
              </a:spcAft>
              <a:buFont typeface="Arial" panose="020B0604020202090204" pitchFamily="34" charset="0"/>
              <a:buChar char="•"/>
              <a:defRPr/>
            </a:pPr>
            <a:r>
              <a:rPr kumimoji="0" lang="en-US" altLang="zh-CN" sz="15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openGauss</a:t>
            </a:r>
            <a:r>
              <a:rPr kumimoji="0" lang="zh-CN" altLang="en-US" sz="15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是衍生自</a:t>
            </a:r>
            <a:r>
              <a:rPr kumimoji="0" lang="en-US" altLang="zh-CN" sz="1500" dirty="0" err="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PostgreSQL</a:t>
            </a:r>
            <a:r>
              <a:rPr kumimoji="0" lang="en-US" altLang="zh-CN" sz="15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-XC</a:t>
            </a:r>
            <a:r>
              <a:rPr kumimoji="0" lang="zh-CN" altLang="en-US" sz="15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，单机逻辑架构与</a:t>
            </a:r>
            <a:r>
              <a:rPr kumimoji="0" lang="en-US" altLang="zh-CN" sz="15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PG</a:t>
            </a:r>
            <a:r>
              <a:rPr kumimoji="0" lang="zh-CN" altLang="en-US" sz="15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接近。</a:t>
            </a:r>
            <a:endParaRPr kumimoji="0" lang="en-US" altLang="zh-CN" sz="15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214630" indent="-214630" defTabSz="685800" fontAlgn="auto">
              <a:spcBef>
                <a:spcPts val="0"/>
              </a:spcBef>
              <a:spcAft>
                <a:spcPts val="0"/>
              </a:spcAft>
              <a:buFont typeface="Arial" panose="020B0604020202090204" pitchFamily="34" charset="0"/>
              <a:buChar char="•"/>
              <a:defRPr/>
            </a:pPr>
            <a:r>
              <a:rPr kumimoji="0" lang="en-US" altLang="zh-CN" sz="15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openGauss</a:t>
            </a:r>
            <a:r>
              <a:rPr kumimoji="0" lang="zh-CN" altLang="en-US" sz="15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和</a:t>
            </a:r>
            <a:r>
              <a:rPr kumimoji="0" lang="en-US" altLang="zh-CN" sz="15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PG</a:t>
            </a:r>
            <a:r>
              <a:rPr kumimoji="0" lang="zh-CN" altLang="en-US" sz="15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在架构和关键技术上有根本性差异，尤其是存储引擎和优化器两大核心能力。</a:t>
            </a:r>
            <a:endParaRPr kumimoji="0" lang="zh-CN" altLang="en-US" sz="15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45" name="表格 44"/>
          <p:cNvGraphicFramePr>
            <a:graphicFrameLocks noGrp="1"/>
          </p:cNvGraphicFramePr>
          <p:nvPr/>
        </p:nvGraphicFramePr>
        <p:xfrm>
          <a:off x="548878" y="2401830"/>
          <a:ext cx="8046245" cy="3413290"/>
        </p:xfrm>
        <a:graphic>
          <a:graphicData uri="http://schemas.openxmlformats.org/drawingml/2006/table">
            <a:tbl>
              <a:tblPr firstRow="1" bandRow="1">
                <a:tableStyleId>{72833802-FEF1-4C79-8D5D-14CF1EAF98D9}</a:tableStyleId>
              </a:tblPr>
              <a:tblGrid>
                <a:gridCol w="956861"/>
                <a:gridCol w="1076096"/>
                <a:gridCol w="3139889"/>
                <a:gridCol w="2873399"/>
              </a:tblGrid>
              <a:tr h="224410">
                <a:tc gridSpan="2">
                  <a:txBody>
                    <a:bodyPr/>
                    <a:lstStyle/>
                    <a:p>
                      <a:pPr algn="ctr"/>
                      <a:r>
                        <a:rPr lang="zh-CN" altLang="en-US" sz="10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关键差异化因素</a:t>
                      </a:r>
                      <a:endParaRPr lang="zh-CN" altLang="en-US" sz="10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67500" marR="67500" marT="35100" marB="351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8D8D8"/>
                    </a:solidFill>
                  </a:tcPr>
                </a:tc>
                <a:tc hMerge="1">
                  <a:tcPr marL="90000" marR="90000" marT="46800" marB="46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8D8D8"/>
                    </a:solidFill>
                  </a:tcPr>
                </a:tc>
                <a:tc>
                  <a:txBody>
                    <a:bodyPr/>
                    <a:lstStyle/>
                    <a:p>
                      <a:pPr algn="ctr"/>
                      <a:r>
                        <a:rPr lang="en-US" altLang="zh-CN" sz="10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openGauss</a:t>
                      </a:r>
                      <a:endParaRPr lang="en-US" altLang="zh-CN" sz="10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67500" marR="67500" marT="35100" marB="35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8D8D8"/>
                    </a:solidFill>
                  </a:tcPr>
                </a:tc>
                <a:tc>
                  <a:txBody>
                    <a:bodyPr/>
                    <a:lstStyle/>
                    <a:p>
                      <a:pPr algn="ctr"/>
                      <a:r>
                        <a:rPr lang="en-US" altLang="zh-CN" sz="1000" dirty="0" err="1">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PostgreSQL</a:t>
                      </a:r>
                      <a:endParaRPr lang="zh-CN" altLang="en-US" sz="10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67500" marR="67500" marT="35100" marB="351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8D8D8"/>
                    </a:solidFill>
                  </a:tcPr>
                </a:tc>
              </a:tr>
              <a:tr h="550260">
                <a:tc>
                  <a:txBody>
                    <a:bodyPr/>
                    <a:lstStyle/>
                    <a:p>
                      <a:r>
                        <a:rPr lang="zh-CN" altLang="en-US" sz="12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运行时模型</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67500" marR="67500" marT="35100" marB="351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2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执行模型</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67500" marR="67500" marT="35100" marB="35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100"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线程池模型，</a:t>
                      </a:r>
                      <a:r>
                        <a:rPr lang="zh-CN" altLang="en-US" sz="1100" dirty="0">
                          <a:latin typeface="Huawei Sans" panose="020C0503030203020204" pitchFamily="34" charset="0"/>
                          <a:ea typeface="方正兰亭黑简体" panose="02000000000000000000" pitchFamily="2" charset="-122"/>
                          <a:sym typeface="Huawei Sans" panose="020C0503030203020204" pitchFamily="34" charset="0"/>
                        </a:rPr>
                        <a:t>高并发连接切换代价小、内存损耗小，执行效率高，一万并发连接比最优性能损耗</a:t>
                      </a:r>
                      <a:r>
                        <a:rPr lang="en-US" altLang="zh-CN" sz="1100" dirty="0">
                          <a:latin typeface="Huawei Sans" panose="020C0503030203020204" pitchFamily="34" charset="0"/>
                          <a:ea typeface="方正兰亭黑简体" panose="02000000000000000000" pitchFamily="2" charset="-122"/>
                          <a:sym typeface="Huawei Sans" panose="020C0503030203020204" pitchFamily="34" charset="0"/>
                        </a:rPr>
                        <a:t>&lt;5%</a:t>
                      </a:r>
                      <a:r>
                        <a:rPr lang="zh-CN" altLang="en-US" sz="1100"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1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67500" marR="67500" marT="35100" marB="35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100" kern="1200" dirty="0">
                          <a:solidFill>
                            <a:srgbClr val="FF0000"/>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进程模型，</a:t>
                      </a:r>
                      <a:r>
                        <a:rPr lang="zh-CN" altLang="en-US" sz="11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数据库进通过共享内存实现通讯和数据共享。每个进程对应一个并发连接，存在切换性能损耗，导致多核扩展性问题。</a:t>
                      </a:r>
                      <a:endParaRPr lang="zh-CN" altLang="en-US" sz="11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67500" marR="67500" marT="35100" marB="351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50260">
                <a:tc rowSpan="3">
                  <a:txBody>
                    <a:bodyPr/>
                    <a:lstStyle/>
                    <a:p>
                      <a:r>
                        <a:rPr lang="zh-CN" altLang="en-US" sz="12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事务处理</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67500" marR="67500" marT="35100" marB="351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2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并发控制</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67500" marR="67500" marT="35100" marB="35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100" kern="1200" dirty="0">
                          <a:solidFill>
                            <a:srgbClr val="FF0000"/>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64</a:t>
                      </a:r>
                      <a:r>
                        <a:rPr lang="zh-CN" altLang="en-US" sz="1100" kern="1200" dirty="0">
                          <a:solidFill>
                            <a:srgbClr val="FF0000"/>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位事务</a:t>
                      </a:r>
                      <a:r>
                        <a:rPr lang="en-US" altLang="zh-CN" sz="1100" kern="1200" dirty="0">
                          <a:solidFill>
                            <a:srgbClr val="FF0000"/>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ID</a:t>
                      </a:r>
                      <a:r>
                        <a:rPr lang="zh-CN" altLang="en-US" sz="11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，使用</a:t>
                      </a:r>
                      <a:r>
                        <a:rPr lang="en-US" altLang="zh-CN" sz="11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CSN</a:t>
                      </a:r>
                      <a:r>
                        <a:rPr lang="zh-CN" altLang="en-US" sz="11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解决动态快照膨胀问题</a:t>
                      </a:r>
                      <a:r>
                        <a:rPr lang="en-US" altLang="zh-CN" sz="11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 </a:t>
                      </a:r>
                      <a:r>
                        <a:rPr lang="en-US" altLang="zh-CN" sz="1100" kern="1200" dirty="0">
                          <a:solidFill>
                            <a:srgbClr val="FF0000"/>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NUMA-Aware</a:t>
                      </a:r>
                      <a:r>
                        <a:rPr lang="zh-CN" altLang="en-US" sz="1100" kern="1200" dirty="0">
                          <a:solidFill>
                            <a:srgbClr val="FF0000"/>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引擎优化改造解决“五把大锁。</a:t>
                      </a:r>
                      <a:endParaRPr lang="zh-CN" altLang="en-US" sz="1100"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67500" marR="67500" marT="35100" marB="35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400" rtl="0" eaLnBrk="1" latinLnBrk="0" hangingPunct="1"/>
                      <a:r>
                        <a:rPr lang="zh-CN" altLang="en-US" sz="1100" b="0" kern="1200" dirty="0">
                          <a:solidFill>
                            <a:schemeClr val="tx1"/>
                          </a:solidFill>
                          <a:latin typeface="微软雅黑" panose="020B0503020204020204" pitchFamily="34" charset="-122"/>
                          <a:ea typeface="微软雅黑" panose="020B0503020204020204" pitchFamily="34" charset="-122"/>
                          <a:cs typeface="+mn-cs"/>
                        </a:rPr>
                        <a:t>事务</a:t>
                      </a:r>
                      <a:r>
                        <a:rPr lang="en-US" altLang="zh-CN" sz="1100" b="0" kern="1200" dirty="0">
                          <a:solidFill>
                            <a:schemeClr val="tx1"/>
                          </a:solidFill>
                          <a:latin typeface="微软雅黑" panose="020B0503020204020204" pitchFamily="34" charset="-122"/>
                          <a:ea typeface="微软雅黑" panose="020B0503020204020204" pitchFamily="34" charset="-122"/>
                          <a:cs typeface="+mn-cs"/>
                        </a:rPr>
                        <a:t>ID</a:t>
                      </a:r>
                      <a:r>
                        <a:rPr lang="zh-CN" altLang="en-US" sz="1100" b="0" kern="1200" dirty="0">
                          <a:solidFill>
                            <a:schemeClr val="tx1"/>
                          </a:solidFill>
                          <a:latin typeface="微软雅黑" panose="020B0503020204020204" pitchFamily="34" charset="-122"/>
                          <a:ea typeface="微软雅黑" panose="020B0503020204020204" pitchFamily="34" charset="-122"/>
                          <a:cs typeface="+mn-cs"/>
                        </a:rPr>
                        <a:t>回卷，长期运行性能因为</a:t>
                      </a:r>
                      <a:r>
                        <a:rPr lang="en-US" altLang="zh-CN" sz="1100" b="0" kern="1200" dirty="0">
                          <a:solidFill>
                            <a:schemeClr val="tx1"/>
                          </a:solidFill>
                          <a:latin typeface="微软雅黑" panose="020B0503020204020204" pitchFamily="34" charset="-122"/>
                          <a:ea typeface="微软雅黑" panose="020B0503020204020204" pitchFamily="34" charset="-122"/>
                          <a:cs typeface="+mn-cs"/>
                        </a:rPr>
                        <a:t>ID</a:t>
                      </a:r>
                      <a:r>
                        <a:rPr lang="zh-CN" altLang="en-US" sz="1100" b="0" kern="1200" dirty="0">
                          <a:solidFill>
                            <a:schemeClr val="tx1"/>
                          </a:solidFill>
                          <a:latin typeface="微软雅黑" panose="020B0503020204020204" pitchFamily="34" charset="-122"/>
                          <a:ea typeface="微软雅黑" panose="020B0503020204020204" pitchFamily="34" charset="-122"/>
                          <a:cs typeface="+mn-cs"/>
                        </a:rPr>
                        <a:t>回收周期大幅波动；存在“五把大锁”的问题，导致事务执行效率和多处理器多核扩展性存在瓶颈。</a:t>
                      </a:r>
                      <a:endParaRPr lang="zh-CN" altLang="en-US" sz="1100" b="0" kern="1200" dirty="0">
                        <a:solidFill>
                          <a:schemeClr val="tx1"/>
                        </a:solidFill>
                        <a:latin typeface="微软雅黑" panose="020B0503020204020204" pitchFamily="34" charset="-122"/>
                        <a:ea typeface="微软雅黑" panose="020B0503020204020204" pitchFamily="34" charset="-122"/>
                        <a:cs typeface="+mn-cs"/>
                      </a:endParaRPr>
                    </a:p>
                  </a:txBody>
                  <a:tcPr marL="67500" marR="67500" marT="35100" marB="351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53080">
                <a:tc vMerge="1">
                  <a:tcPr/>
                </a:tc>
                <a:tc>
                  <a: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zh-CN" altLang="en-US" sz="12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日志和检查点</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67500" marR="67500" marT="35100" marB="35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400" rtl="0" eaLnBrk="1" latinLnBrk="0" hangingPunct="1"/>
                      <a:r>
                        <a:rPr lang="zh-CN" altLang="en-US" sz="1100" b="0" kern="1200" dirty="0">
                          <a:solidFill>
                            <a:srgbClr val="FF0000"/>
                          </a:solidFill>
                          <a:latin typeface="微软雅黑" panose="020B0503020204020204" pitchFamily="34" charset="-122"/>
                          <a:ea typeface="微软雅黑" panose="020B0503020204020204" pitchFamily="34" charset="-122"/>
                          <a:cs typeface="+mn-cs"/>
                        </a:rPr>
                        <a:t>增量</a:t>
                      </a:r>
                      <a:r>
                        <a:rPr lang="en-US" altLang="zh-CN" sz="1100" b="0" kern="1200" dirty="0">
                          <a:solidFill>
                            <a:srgbClr val="FF0000"/>
                          </a:solidFill>
                          <a:latin typeface="微软雅黑" panose="020B0503020204020204" pitchFamily="34" charset="-122"/>
                          <a:ea typeface="微软雅黑" panose="020B0503020204020204" pitchFamily="34" charset="-122"/>
                          <a:cs typeface="+mn-cs"/>
                        </a:rPr>
                        <a:t>Checkpoint</a:t>
                      </a:r>
                      <a:r>
                        <a:rPr lang="zh-CN" altLang="en-US" sz="1100" b="0" kern="1200" dirty="0">
                          <a:solidFill>
                            <a:srgbClr val="FF0000"/>
                          </a:solidFill>
                          <a:latin typeface="微软雅黑" panose="020B0503020204020204" pitchFamily="34" charset="-122"/>
                          <a:ea typeface="微软雅黑" panose="020B0503020204020204" pitchFamily="34" charset="-122"/>
                          <a:cs typeface="+mn-cs"/>
                        </a:rPr>
                        <a:t>机制</a:t>
                      </a:r>
                      <a:r>
                        <a:rPr lang="zh-CN" altLang="en-US" sz="1100" b="0" kern="1200" dirty="0">
                          <a:solidFill>
                            <a:schemeClr val="tx1"/>
                          </a:solidFill>
                          <a:latin typeface="微软雅黑" panose="020B0503020204020204" pitchFamily="34" charset="-122"/>
                          <a:ea typeface="微软雅黑" panose="020B0503020204020204" pitchFamily="34" charset="-122"/>
                          <a:cs typeface="+mn-cs"/>
                        </a:rPr>
                        <a:t>，实现性能波动</a:t>
                      </a:r>
                      <a:r>
                        <a:rPr lang="en-US" altLang="zh-CN" sz="1100" b="0" kern="1200" dirty="0">
                          <a:solidFill>
                            <a:schemeClr val="tx1"/>
                          </a:solidFill>
                          <a:latin typeface="微软雅黑" panose="020B0503020204020204" pitchFamily="34" charset="-122"/>
                          <a:ea typeface="微软雅黑" panose="020B0503020204020204" pitchFamily="34" charset="-122"/>
                          <a:cs typeface="+mn-cs"/>
                        </a:rPr>
                        <a:t>&lt;5%</a:t>
                      </a:r>
                      <a:r>
                        <a:rPr lang="zh-CN" altLang="en-US" sz="1100" b="0" kern="1200" dirty="0">
                          <a:solidFill>
                            <a:schemeClr val="tx1"/>
                          </a:solidFill>
                          <a:latin typeface="微软雅黑" panose="020B0503020204020204" pitchFamily="34" charset="-122"/>
                          <a:ea typeface="微软雅黑" panose="020B0503020204020204" pitchFamily="34" charset="-122"/>
                          <a:cs typeface="+mn-cs"/>
                        </a:rPr>
                        <a:t>。</a:t>
                      </a:r>
                      <a:endParaRPr lang="zh-CN" altLang="en-US" sz="1100" b="0" kern="1200" dirty="0">
                        <a:solidFill>
                          <a:schemeClr val="tx1"/>
                        </a:solidFill>
                        <a:latin typeface="微软雅黑" panose="020B0503020204020204" pitchFamily="34" charset="-122"/>
                        <a:ea typeface="微软雅黑" panose="020B0503020204020204" pitchFamily="34" charset="-122"/>
                        <a:cs typeface="+mn-cs"/>
                      </a:endParaRPr>
                    </a:p>
                  </a:txBody>
                  <a:tcPr marL="67500" marR="67500" marT="35100" marB="35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100" b="0" dirty="0">
                          <a:solidFill>
                            <a:srgbClr val="FF0000"/>
                          </a:solidFill>
                          <a:latin typeface="微软雅黑" panose="020B0503020204020204" pitchFamily="34" charset="-122"/>
                          <a:ea typeface="微软雅黑" panose="020B0503020204020204" pitchFamily="34" charset="-122"/>
                        </a:rPr>
                        <a:t>全量</a:t>
                      </a:r>
                      <a:r>
                        <a:rPr lang="en-US" altLang="zh-CN" sz="1100" b="0" dirty="0">
                          <a:solidFill>
                            <a:srgbClr val="FF0000"/>
                          </a:solidFill>
                          <a:latin typeface="微软雅黑" panose="020B0503020204020204" pitchFamily="34" charset="-122"/>
                          <a:ea typeface="微软雅黑" panose="020B0503020204020204" pitchFamily="34" charset="-122"/>
                        </a:rPr>
                        <a:t>checkpoint</a:t>
                      </a:r>
                      <a:r>
                        <a:rPr lang="zh-CN" altLang="en-US" sz="1100" b="0" dirty="0">
                          <a:solidFill>
                            <a:schemeClr val="tx1"/>
                          </a:solidFill>
                          <a:latin typeface="微软雅黑" panose="020B0503020204020204" pitchFamily="34" charset="-122"/>
                          <a:ea typeface="微软雅黑" panose="020B0503020204020204" pitchFamily="34" charset="-122"/>
                        </a:rPr>
                        <a:t>，性能短期波动</a:t>
                      </a:r>
                      <a:r>
                        <a:rPr lang="en-US" altLang="zh-CN" sz="1100" b="0" dirty="0">
                          <a:solidFill>
                            <a:schemeClr val="tx1"/>
                          </a:solidFill>
                          <a:latin typeface="微软雅黑" panose="020B0503020204020204" pitchFamily="34" charset="-122"/>
                          <a:ea typeface="微软雅黑" panose="020B0503020204020204" pitchFamily="34" charset="-122"/>
                        </a:rPr>
                        <a:t>&gt;15%</a:t>
                      </a:r>
                      <a:r>
                        <a:rPr lang="zh-CN" altLang="en-US" sz="1100" b="0" dirty="0">
                          <a:solidFill>
                            <a:schemeClr val="tx1"/>
                          </a:solidFill>
                          <a:latin typeface="微软雅黑" panose="020B0503020204020204" pitchFamily="34" charset="-122"/>
                          <a:ea typeface="微软雅黑" panose="020B0503020204020204" pitchFamily="34" charset="-122"/>
                        </a:rPr>
                        <a:t>。</a:t>
                      </a:r>
                      <a:endParaRPr lang="zh-CN" altLang="en-US" sz="1100" b="0" dirty="0">
                        <a:solidFill>
                          <a:schemeClr val="tx1"/>
                        </a:solidFill>
                        <a:latin typeface="微软雅黑" panose="020B0503020204020204" pitchFamily="34" charset="-122"/>
                        <a:ea typeface="微软雅黑" panose="020B0503020204020204" pitchFamily="34" charset="-122"/>
                      </a:endParaRPr>
                    </a:p>
                  </a:txBody>
                  <a:tcPr marL="67500" marR="67500" marT="35100" marB="351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90240">
                <a:tc vMerge="1">
                  <a:tcPr marL="90000" marR="90000" marT="46800" marB="468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200"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鲲鹏</a:t>
                      </a:r>
                      <a:r>
                        <a:rPr lang="en-US" altLang="zh-CN" sz="1200"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NUMA</a:t>
                      </a:r>
                      <a:endParaRPr lang="zh-CN" altLang="en-US" sz="1200"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67500" marR="67500" marT="35100" marB="35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400" rtl="0" eaLnBrk="1" latinLnBrk="0" hangingPunct="1"/>
                      <a:r>
                        <a:rPr lang="en-US" altLang="zh-CN" sz="1100" b="0" kern="1200" dirty="0">
                          <a:solidFill>
                            <a:srgbClr val="FF0000"/>
                          </a:solidFill>
                          <a:latin typeface="微软雅黑" panose="020B0503020204020204" pitchFamily="34" charset="-122"/>
                          <a:ea typeface="微软雅黑" panose="020B0503020204020204" pitchFamily="34" charset="-122"/>
                          <a:cs typeface="+mn-cs"/>
                        </a:rPr>
                        <a:t>NUMA</a:t>
                      </a:r>
                      <a:r>
                        <a:rPr lang="zh-CN" altLang="en-US" sz="1100" b="0" kern="1200" dirty="0">
                          <a:solidFill>
                            <a:srgbClr val="FF0000"/>
                          </a:solidFill>
                          <a:latin typeface="微软雅黑" panose="020B0503020204020204" pitchFamily="34" charset="-122"/>
                          <a:ea typeface="微软雅黑" panose="020B0503020204020204" pitchFamily="34" charset="-122"/>
                          <a:cs typeface="+mn-cs"/>
                        </a:rPr>
                        <a:t>改造、</a:t>
                      </a:r>
                      <a:r>
                        <a:rPr lang="en-US" altLang="zh-CN" sz="1100" b="0" kern="1200" dirty="0">
                          <a:solidFill>
                            <a:srgbClr val="FF0000"/>
                          </a:solidFill>
                          <a:latin typeface="微软雅黑" panose="020B0503020204020204" pitchFamily="34" charset="-122"/>
                          <a:ea typeface="微软雅黑" panose="020B0503020204020204" pitchFamily="34" charset="-122"/>
                          <a:cs typeface="+mn-cs"/>
                        </a:rPr>
                        <a:t>cache-line padding</a:t>
                      </a:r>
                      <a:r>
                        <a:rPr lang="zh-CN" altLang="en-US" sz="1100" b="0" kern="1200" dirty="0">
                          <a:solidFill>
                            <a:srgbClr val="FF0000"/>
                          </a:solidFill>
                          <a:latin typeface="微软雅黑" panose="020B0503020204020204" pitchFamily="34" charset="-122"/>
                          <a:ea typeface="微软雅黑" panose="020B0503020204020204" pitchFamily="34" charset="-122"/>
                          <a:cs typeface="+mn-cs"/>
                        </a:rPr>
                        <a:t>、原生</a:t>
                      </a:r>
                      <a:r>
                        <a:rPr lang="en-US" altLang="zh-CN" sz="1100" b="0" kern="1200" dirty="0">
                          <a:solidFill>
                            <a:srgbClr val="FF0000"/>
                          </a:solidFill>
                          <a:latin typeface="微软雅黑" panose="020B0503020204020204" pitchFamily="34" charset="-122"/>
                          <a:ea typeface="微软雅黑" panose="020B0503020204020204" pitchFamily="34" charset="-122"/>
                          <a:cs typeface="+mn-cs"/>
                        </a:rPr>
                        <a:t>spin-lock</a:t>
                      </a:r>
                      <a:r>
                        <a:rPr lang="zh-CN" altLang="en-US" sz="1100" b="0" kern="1200" dirty="0">
                          <a:solidFill>
                            <a:srgbClr val="FF0000"/>
                          </a:solidFill>
                          <a:latin typeface="微软雅黑" panose="020B0503020204020204" pitchFamily="34" charset="-122"/>
                          <a:ea typeface="微软雅黑" panose="020B0503020204020204" pitchFamily="34" charset="-122"/>
                          <a:cs typeface="+mn-cs"/>
                        </a:rPr>
                        <a:t>。</a:t>
                      </a:r>
                      <a:endParaRPr lang="zh-CN" altLang="en-US" sz="1100" b="0" kern="1200" dirty="0">
                        <a:solidFill>
                          <a:srgbClr val="FF0000"/>
                        </a:solidFill>
                        <a:latin typeface="微软雅黑" panose="020B0503020204020204" pitchFamily="34" charset="-122"/>
                        <a:ea typeface="微软雅黑" panose="020B0503020204020204" pitchFamily="34" charset="-122"/>
                        <a:cs typeface="+mn-cs"/>
                      </a:endParaRPr>
                    </a:p>
                  </a:txBody>
                  <a:tcPr marL="67500" marR="67500" marT="35100" marB="35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100" kern="1200" dirty="0">
                          <a:solidFill>
                            <a:srgbClr val="FF0000"/>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NUMA</a:t>
                      </a:r>
                      <a:r>
                        <a:rPr lang="zh-CN" altLang="en-US" sz="1100" kern="1200" dirty="0">
                          <a:solidFill>
                            <a:srgbClr val="FF0000"/>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多核能力弱，单机两路性能</a:t>
                      </a:r>
                      <a:r>
                        <a:rPr lang="en-US" altLang="zh-CN" sz="1100" kern="1200" dirty="0">
                          <a:solidFill>
                            <a:srgbClr val="FF0000"/>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TPMC &lt;60w</a:t>
                      </a:r>
                      <a:r>
                        <a:rPr lang="zh-CN" altLang="en-US" sz="1100" kern="1200" dirty="0">
                          <a:solidFill>
                            <a:srgbClr val="FF0000"/>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a:t>
                      </a:r>
                      <a:endParaRPr lang="en-US" altLang="zh-CN" sz="1100" kern="1200" dirty="0">
                        <a:solidFill>
                          <a:srgbClr val="FF0000"/>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marL="67500" marR="67500" marT="35100" marB="351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85288">
                <a:tc>
                  <a:txBody>
                    <a:bodyPr/>
                    <a:lstStyle/>
                    <a:p>
                      <a:r>
                        <a:rPr lang="zh-CN" altLang="en-US" sz="12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数据组织</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67500" marR="67500" marT="35100" marB="351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多引擎</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67500" marR="67500" marT="35100" marB="35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100" kern="1200" dirty="0">
                          <a:solidFill>
                            <a:srgbClr val="FF0000"/>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行存、列存、内存引擎，</a:t>
                      </a:r>
                      <a:r>
                        <a:rPr lang="zh-CN" altLang="en-US" sz="11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在研</a:t>
                      </a:r>
                      <a:r>
                        <a:rPr lang="en-US" altLang="zh-CN" sz="11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DFV</a:t>
                      </a:r>
                      <a:r>
                        <a:rPr lang="zh-CN" altLang="en-US" sz="11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存储和原位更新。</a:t>
                      </a:r>
                      <a:endParaRPr lang="zh-CN" altLang="en-US" sz="11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marL="67500" marR="67500" marT="35100" marB="35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100" b="0" dirty="0">
                          <a:solidFill>
                            <a:schemeClr val="tx1"/>
                          </a:solidFill>
                          <a:latin typeface="微软雅黑" panose="020B0503020204020204" pitchFamily="34" charset="-122"/>
                          <a:ea typeface="微软雅黑" panose="020B0503020204020204" pitchFamily="34" charset="-122"/>
                        </a:rPr>
                        <a:t>仅支持行存。</a:t>
                      </a:r>
                      <a:endParaRPr lang="zh-CN" altLang="en-US" sz="1100" b="0" dirty="0">
                        <a:solidFill>
                          <a:schemeClr val="tx1"/>
                        </a:solidFill>
                        <a:latin typeface="微软雅黑" panose="020B0503020204020204" pitchFamily="34" charset="-122"/>
                        <a:ea typeface="微软雅黑" panose="020B0503020204020204" pitchFamily="34" charset="-122"/>
                      </a:endParaRPr>
                    </a:p>
                  </a:txBody>
                  <a:tcPr marL="67500" marR="67500" marT="35100" marB="351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90240">
                <a:tc rowSpan="2">
                  <a:txBody>
                    <a:bodyPr/>
                    <a:lstStyle/>
                    <a:p>
                      <a:r>
                        <a:rPr lang="en-US" altLang="zh-CN" sz="12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SQL</a:t>
                      </a:r>
                      <a:r>
                        <a:rPr lang="zh-CN" altLang="en-US" sz="12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引擎</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67500" marR="67500" marT="35100" marB="351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优化器</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67500" marR="67500" marT="35100" marB="35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100" b="0" dirty="0">
                          <a:solidFill>
                            <a:schemeClr val="tx1"/>
                          </a:solidFill>
                          <a:latin typeface="微软雅黑" panose="020B0503020204020204" pitchFamily="34" charset="-122"/>
                          <a:ea typeface="微软雅黑" panose="020B0503020204020204" pitchFamily="34" charset="-122"/>
                        </a:rPr>
                        <a:t>支持</a:t>
                      </a:r>
                      <a:r>
                        <a:rPr lang="en-US" altLang="zh-CN" sz="1100" b="0" dirty="0">
                          <a:solidFill>
                            <a:srgbClr val="FF0000"/>
                          </a:solidFill>
                          <a:latin typeface="微软雅黑" panose="020B0503020204020204" pitchFamily="34" charset="-122"/>
                          <a:ea typeface="微软雅黑" panose="020B0503020204020204" pitchFamily="34" charset="-122"/>
                        </a:rPr>
                        <a:t>SQL Bypass</a:t>
                      </a:r>
                      <a:r>
                        <a:rPr lang="en-US" altLang="zh-CN" sz="1100" b="0" dirty="0">
                          <a:solidFill>
                            <a:schemeClr val="tx1"/>
                          </a:solidFill>
                          <a:latin typeface="微软雅黑" panose="020B0503020204020204" pitchFamily="34" charset="-122"/>
                          <a:ea typeface="微软雅黑" panose="020B0503020204020204" pitchFamily="34" charset="-122"/>
                        </a:rPr>
                        <a:t>, CBO</a:t>
                      </a:r>
                      <a:r>
                        <a:rPr lang="zh-CN" altLang="en-US" sz="1100" b="0" dirty="0">
                          <a:solidFill>
                            <a:schemeClr val="tx1"/>
                          </a:solidFill>
                          <a:latin typeface="微软雅黑" panose="020B0503020204020204" pitchFamily="34" charset="-122"/>
                          <a:ea typeface="微软雅黑" panose="020B0503020204020204" pitchFamily="34" charset="-122"/>
                        </a:rPr>
                        <a:t>吸收工行等</a:t>
                      </a:r>
                      <a:r>
                        <a:rPr lang="zh-CN" altLang="en-US" sz="1100" b="0" dirty="0">
                          <a:solidFill>
                            <a:srgbClr val="FF0000"/>
                          </a:solidFill>
                          <a:latin typeface="微软雅黑" panose="020B0503020204020204" pitchFamily="34" charset="-122"/>
                          <a:ea typeface="微软雅黑" panose="020B0503020204020204" pitchFamily="34" charset="-122"/>
                        </a:rPr>
                        <a:t>企业场景优化</a:t>
                      </a:r>
                      <a:r>
                        <a:rPr lang="zh-CN" altLang="en-US" sz="1100" b="0" dirty="0">
                          <a:solidFill>
                            <a:schemeClr val="tx1"/>
                          </a:solidFill>
                          <a:latin typeface="微软雅黑" panose="020B0503020204020204" pitchFamily="34" charset="-122"/>
                          <a:ea typeface="微软雅黑" panose="020B0503020204020204" pitchFamily="34" charset="-122"/>
                        </a:rPr>
                        <a:t>能力。</a:t>
                      </a:r>
                      <a:endParaRPr lang="zh-CN" altLang="en-US" sz="1100" b="0" dirty="0">
                        <a:solidFill>
                          <a:schemeClr val="tx1"/>
                        </a:solidFill>
                        <a:latin typeface="微软雅黑" panose="020B0503020204020204" pitchFamily="34" charset="-122"/>
                        <a:ea typeface="微软雅黑" panose="020B0503020204020204" pitchFamily="34" charset="-122"/>
                      </a:endParaRPr>
                    </a:p>
                  </a:txBody>
                  <a:tcPr marL="67500" marR="67500" marT="35100" marB="35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100" b="0" dirty="0">
                          <a:solidFill>
                            <a:schemeClr val="tx1"/>
                          </a:solidFill>
                          <a:latin typeface="微软雅黑" panose="020B0503020204020204" pitchFamily="34" charset="-122"/>
                          <a:ea typeface="微软雅黑" panose="020B0503020204020204" pitchFamily="34" charset="-122"/>
                        </a:rPr>
                        <a:t>支持</a:t>
                      </a:r>
                      <a:r>
                        <a:rPr lang="en-US" altLang="zh-CN" sz="1100" b="0" dirty="0">
                          <a:solidFill>
                            <a:schemeClr val="tx1"/>
                          </a:solidFill>
                          <a:latin typeface="微软雅黑" panose="020B0503020204020204" pitchFamily="34" charset="-122"/>
                          <a:ea typeface="微软雅黑" panose="020B0503020204020204" pitchFamily="34" charset="-122"/>
                        </a:rPr>
                        <a:t>CBO</a:t>
                      </a:r>
                      <a:r>
                        <a:rPr lang="zh-CN" altLang="en-US" sz="1100" b="0" dirty="0">
                          <a:solidFill>
                            <a:schemeClr val="tx1"/>
                          </a:solidFill>
                          <a:latin typeface="微软雅黑" panose="020B0503020204020204" pitchFamily="34" charset="-122"/>
                          <a:ea typeface="微软雅黑" panose="020B0503020204020204" pitchFamily="34" charset="-122"/>
                        </a:rPr>
                        <a:t>，复杂场景优化能力一般。</a:t>
                      </a:r>
                      <a:endParaRPr lang="zh-CN" altLang="en-US" sz="1100" b="0" dirty="0">
                        <a:solidFill>
                          <a:schemeClr val="tx1"/>
                        </a:solidFill>
                        <a:latin typeface="微软雅黑" panose="020B0503020204020204" pitchFamily="34" charset="-122"/>
                        <a:ea typeface="微软雅黑" panose="020B0503020204020204" pitchFamily="34" charset="-122"/>
                      </a:endParaRPr>
                    </a:p>
                  </a:txBody>
                  <a:tcPr marL="67500" marR="67500" marT="35100" marB="351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90240">
                <a:tc vMerge="1">
                  <a:tcPr marL="90000" marR="90000" marT="46800" marB="468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altLang="zh-CN" sz="12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SQL</a:t>
                      </a:r>
                      <a:r>
                        <a:rPr lang="zh-CN" altLang="en-US" sz="12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解析</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67500" marR="67500" marT="35100" marB="35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100" u="none" strike="noStrike" dirty="0">
                          <a:effectLst/>
                          <a:latin typeface="微软雅黑" panose="020B0503020204020204" pitchFamily="34" charset="-122"/>
                          <a:ea typeface="微软雅黑" panose="020B0503020204020204" pitchFamily="34" charset="-122"/>
                        </a:rPr>
                        <a:t>ANSI/ISO</a:t>
                      </a:r>
                      <a:r>
                        <a:rPr lang="zh-CN" altLang="en-US" sz="1100" u="none" strike="noStrike" dirty="0">
                          <a:effectLst/>
                          <a:latin typeface="微软雅黑" panose="020B0503020204020204" pitchFamily="34" charset="-122"/>
                          <a:ea typeface="微软雅黑" panose="020B0503020204020204" pitchFamily="34" charset="-122"/>
                        </a:rPr>
                        <a:t>标准</a:t>
                      </a:r>
                      <a:r>
                        <a:rPr lang="en-US" altLang="zh-CN" sz="1100" u="none" strike="noStrike" dirty="0">
                          <a:effectLst/>
                          <a:latin typeface="微软雅黑" panose="020B0503020204020204" pitchFamily="34" charset="-122"/>
                          <a:ea typeface="微软雅黑" panose="020B0503020204020204" pitchFamily="34" charset="-122"/>
                        </a:rPr>
                        <a:t>SQL92、SQL99</a:t>
                      </a:r>
                      <a:r>
                        <a:rPr lang="zh-CN" altLang="en-US" sz="1100" u="none" strike="noStrike" dirty="0">
                          <a:effectLst/>
                          <a:latin typeface="微软雅黑" panose="020B0503020204020204" pitchFamily="34" charset="-122"/>
                          <a:ea typeface="微软雅黑" panose="020B0503020204020204" pitchFamily="34" charset="-122"/>
                        </a:rPr>
                        <a:t>和</a:t>
                      </a:r>
                      <a:r>
                        <a:rPr lang="en-US" altLang="zh-CN" sz="1100" u="none" strike="noStrike" dirty="0">
                          <a:effectLst/>
                          <a:latin typeface="微软雅黑" panose="020B0503020204020204" pitchFamily="34" charset="-122"/>
                          <a:ea typeface="微软雅黑" panose="020B0503020204020204" pitchFamily="34" charset="-122"/>
                        </a:rPr>
                        <a:t>SQL2003</a:t>
                      </a:r>
                      <a:endParaRPr lang="zh-CN" altLang="en-US" sz="1100" b="0" dirty="0">
                        <a:solidFill>
                          <a:schemeClr val="tx1"/>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100" b="0" dirty="0">
                          <a:solidFill>
                            <a:schemeClr val="tx1"/>
                          </a:solidFill>
                          <a:latin typeface="微软雅黑" panose="020B0503020204020204" pitchFamily="34" charset="-122"/>
                          <a:ea typeface="微软雅黑" panose="020B0503020204020204" pitchFamily="34" charset="-122"/>
                        </a:rPr>
                        <a:t>和</a:t>
                      </a:r>
                      <a:r>
                        <a:rPr lang="zh-CN" altLang="en-US" sz="1100" b="0" dirty="0">
                          <a:solidFill>
                            <a:srgbClr val="FF0000"/>
                          </a:solidFill>
                          <a:latin typeface="微软雅黑" panose="020B0503020204020204" pitchFamily="34" charset="-122"/>
                          <a:ea typeface="微软雅黑" panose="020B0503020204020204" pitchFamily="34" charset="-122"/>
                        </a:rPr>
                        <a:t>企业扩展包</a:t>
                      </a:r>
                      <a:r>
                        <a:rPr lang="zh-CN" altLang="en-US" sz="1100" b="0" dirty="0">
                          <a:solidFill>
                            <a:schemeClr val="tx1"/>
                          </a:solidFill>
                          <a:latin typeface="微软雅黑" panose="020B0503020204020204" pitchFamily="34" charset="-122"/>
                          <a:ea typeface="微软雅黑" panose="020B0503020204020204" pitchFamily="34" charset="-122"/>
                        </a:rPr>
                        <a:t>。</a:t>
                      </a:r>
                      <a:endParaRPr lang="en-US" altLang="zh-CN" sz="1100" b="0" dirty="0">
                        <a:solidFill>
                          <a:schemeClr val="tx1"/>
                        </a:solidFill>
                        <a:latin typeface="微软雅黑" panose="020B0503020204020204" pitchFamily="34" charset="-122"/>
                        <a:ea typeface="微软雅黑" panose="020B0503020204020204" pitchFamily="34" charset="-122"/>
                      </a:endParaRPr>
                    </a:p>
                  </a:txBody>
                  <a:tcPr marL="67500" marR="67500" marT="35100" marB="35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altLang="zh-CN" sz="1100" u="none" strike="noStrike" dirty="0">
                          <a:effectLst/>
                          <a:latin typeface="微软雅黑" panose="020B0503020204020204" pitchFamily="34" charset="-122"/>
                          <a:ea typeface="微软雅黑" panose="020B0503020204020204" pitchFamily="34" charset="-122"/>
                        </a:rPr>
                        <a:t>ANSI/ISO</a:t>
                      </a:r>
                      <a:r>
                        <a:rPr lang="zh-CN" altLang="en-US" sz="1100" u="none" strike="noStrike" dirty="0">
                          <a:effectLst/>
                          <a:latin typeface="微软雅黑" panose="020B0503020204020204" pitchFamily="34" charset="-122"/>
                          <a:ea typeface="微软雅黑" panose="020B0503020204020204" pitchFamily="34" charset="-122"/>
                        </a:rPr>
                        <a:t>标准</a:t>
                      </a:r>
                      <a:r>
                        <a:rPr lang="en-US" altLang="zh-CN" sz="1100" u="none" strike="noStrike" dirty="0">
                          <a:effectLst/>
                          <a:latin typeface="微软雅黑" panose="020B0503020204020204" pitchFamily="34" charset="-122"/>
                          <a:ea typeface="微软雅黑" panose="020B0503020204020204" pitchFamily="34" charset="-122"/>
                        </a:rPr>
                        <a:t>SQL92、SQL99</a:t>
                      </a:r>
                      <a:r>
                        <a:rPr lang="zh-CN" altLang="en-US" sz="1100" u="none" strike="noStrike" dirty="0">
                          <a:effectLst/>
                          <a:latin typeface="微软雅黑" panose="020B0503020204020204" pitchFamily="34" charset="-122"/>
                          <a:ea typeface="微软雅黑" panose="020B0503020204020204" pitchFamily="34" charset="-122"/>
                        </a:rPr>
                        <a:t>和</a:t>
                      </a:r>
                      <a:r>
                        <a:rPr lang="en-US" altLang="zh-CN" sz="1100" u="none" strike="noStrike" dirty="0">
                          <a:effectLst/>
                          <a:latin typeface="微软雅黑" panose="020B0503020204020204" pitchFamily="34" charset="-122"/>
                          <a:ea typeface="微软雅黑" panose="020B0503020204020204" pitchFamily="34" charset="-122"/>
                        </a:rPr>
                        <a:t>SQL2003</a:t>
                      </a:r>
                      <a:r>
                        <a:rPr lang="zh-CN" altLang="en-US" sz="1100" u="none" strike="noStrike" dirty="0">
                          <a:effectLst/>
                          <a:latin typeface="微软雅黑" panose="020B0503020204020204" pitchFamily="34" charset="-122"/>
                          <a:ea typeface="微软雅黑" panose="020B0503020204020204" pitchFamily="34" charset="-122"/>
                        </a:rPr>
                        <a:t>。</a:t>
                      </a:r>
                      <a:endParaRPr lang="zh-CN" altLang="en-US" sz="1100" b="0" dirty="0">
                        <a:solidFill>
                          <a:schemeClr val="tx1"/>
                        </a:solidFill>
                        <a:latin typeface="微软雅黑" panose="020B0503020204020204" pitchFamily="34" charset="-122"/>
                        <a:ea typeface="微软雅黑" panose="020B0503020204020204" pitchFamily="34" charset="-122"/>
                      </a:endParaRPr>
                    </a:p>
                  </a:txBody>
                  <a:tcPr marL="67500" marR="67500" marT="35100" marB="351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bl>
          </a:graphicData>
        </a:graphic>
      </p:graphicFrame>
      <p:sp>
        <p:nvSpPr>
          <p:cNvPr id="5" name="对话气泡: 圆角矩形 4"/>
          <p:cNvSpPr/>
          <p:nvPr/>
        </p:nvSpPr>
        <p:spPr>
          <a:xfrm>
            <a:off x="2627784" y="5980886"/>
            <a:ext cx="4536504" cy="735970"/>
          </a:xfrm>
          <a:prstGeom prst="wedgeRoundRectCallout">
            <a:avLst>
              <a:gd name="adj1" fmla="val -41285"/>
              <a:gd name="adj2" fmla="val -64882"/>
              <a:gd name="adj3" fmla="val 16667"/>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dirty="0">
                <a:solidFill>
                  <a:schemeClr val="tx1"/>
                </a:solidFill>
                <a:latin typeface="微软雅黑" panose="020B0503020204020204" pitchFamily="34" charset="-122"/>
                <a:ea typeface="微软雅黑" panose="020B0503020204020204" pitchFamily="34" charset="-122"/>
              </a:rPr>
              <a:t>“</a:t>
            </a:r>
            <a:r>
              <a:rPr lang="en-US" altLang="zh-CN" sz="2200" dirty="0">
                <a:solidFill>
                  <a:schemeClr val="tx1"/>
                </a:solidFill>
                <a:latin typeface="微软雅黑" panose="020B0503020204020204" pitchFamily="34" charset="-122"/>
                <a:ea typeface="微软雅黑" panose="020B0503020204020204" pitchFamily="34" charset="-122"/>
              </a:rPr>
              <a:t>Clog</a:t>
            </a:r>
            <a:r>
              <a:rPr lang="zh-CN" altLang="en-US" sz="2200" dirty="0">
                <a:solidFill>
                  <a:schemeClr val="tx1"/>
                </a:solidFill>
                <a:latin typeface="微软雅黑" panose="020B0503020204020204" pitchFamily="34" charset="-122"/>
                <a:ea typeface="微软雅黑" panose="020B0503020204020204" pitchFamily="34" charset="-122"/>
              </a:rPr>
              <a:t>、</a:t>
            </a:r>
            <a:r>
              <a:rPr lang="en-US" altLang="zh-CN" sz="2200" dirty="0">
                <a:solidFill>
                  <a:schemeClr val="tx1"/>
                </a:solidFill>
                <a:latin typeface="微软雅黑" panose="020B0503020204020204" pitchFamily="34" charset="-122"/>
                <a:ea typeface="微软雅黑" panose="020B0503020204020204" pitchFamily="34" charset="-122"/>
              </a:rPr>
              <a:t>WALInsert</a:t>
            </a:r>
            <a:r>
              <a:rPr lang="zh-CN" altLang="en-US" sz="2200" dirty="0">
                <a:solidFill>
                  <a:schemeClr val="tx1"/>
                </a:solidFill>
                <a:latin typeface="微软雅黑" panose="020B0503020204020204" pitchFamily="34" charset="-122"/>
                <a:ea typeface="微软雅黑" panose="020B0503020204020204" pitchFamily="34" charset="-122"/>
              </a:rPr>
              <a:t>、</a:t>
            </a:r>
            <a:r>
              <a:rPr lang="en-US" altLang="zh-CN" sz="2200" dirty="0">
                <a:solidFill>
                  <a:schemeClr val="tx1"/>
                </a:solidFill>
                <a:latin typeface="微软雅黑" panose="020B0503020204020204" pitchFamily="34" charset="-122"/>
                <a:ea typeface="微软雅黑" panose="020B0503020204020204" pitchFamily="34" charset="-122"/>
              </a:rPr>
              <a:t>WALWrite</a:t>
            </a:r>
            <a:r>
              <a:rPr lang="zh-CN" altLang="en-US" sz="2200" dirty="0">
                <a:solidFill>
                  <a:schemeClr val="tx1"/>
                </a:solidFill>
                <a:latin typeface="微软雅黑" panose="020B0503020204020204" pitchFamily="34" charset="-122"/>
                <a:ea typeface="微软雅黑" panose="020B0503020204020204" pitchFamily="34" charset="-122"/>
              </a:rPr>
              <a:t>、</a:t>
            </a:r>
            <a:r>
              <a:rPr lang="en-US" altLang="zh-CN" sz="2200" dirty="0">
                <a:solidFill>
                  <a:schemeClr val="tx1"/>
                </a:solidFill>
                <a:latin typeface="微软雅黑" panose="020B0503020204020204" pitchFamily="34" charset="-122"/>
                <a:ea typeface="微软雅黑" panose="020B0503020204020204" pitchFamily="34" charset="-122"/>
              </a:rPr>
              <a:t>ProcArray</a:t>
            </a:r>
            <a:r>
              <a:rPr lang="zh-CN" altLang="en-US" sz="2200" dirty="0">
                <a:solidFill>
                  <a:schemeClr val="tx1"/>
                </a:solidFill>
                <a:latin typeface="微软雅黑" panose="020B0503020204020204" pitchFamily="34" charset="-122"/>
                <a:ea typeface="微软雅黑" panose="020B0503020204020204" pitchFamily="34" charset="-122"/>
              </a:rPr>
              <a:t>、</a:t>
            </a:r>
            <a:r>
              <a:rPr lang="en-US" altLang="zh-CN" sz="2200" dirty="0">
                <a:solidFill>
                  <a:schemeClr val="tx1"/>
                </a:solidFill>
                <a:latin typeface="微软雅黑" panose="020B0503020204020204" pitchFamily="34" charset="-122"/>
                <a:ea typeface="微软雅黑" panose="020B0503020204020204" pitchFamily="34" charset="-122"/>
              </a:rPr>
              <a:t>XidGen”</a:t>
            </a:r>
            <a:r>
              <a:rPr lang="zh-CN" altLang="en-US" sz="2200" dirty="0">
                <a:solidFill>
                  <a:schemeClr val="tx1"/>
                </a:solidFill>
                <a:latin typeface="微软雅黑" panose="020B0503020204020204" pitchFamily="34" charset="-122"/>
                <a:ea typeface="微软雅黑" panose="020B0503020204020204" pitchFamily="34" charset="-122"/>
              </a:rPr>
              <a:t>这五种锁</a:t>
            </a:r>
            <a:endParaRPr lang="zh-CN" altLang="en-US" sz="22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圆角矩形 24"/>
          <p:cNvSpPr/>
          <p:nvPr/>
        </p:nvSpPr>
        <p:spPr bwMode="auto">
          <a:xfrm>
            <a:off x="604693" y="2465944"/>
            <a:ext cx="1051025" cy="603047"/>
          </a:xfrm>
          <a:prstGeom prst="roundRect">
            <a:avLst/>
          </a:prstGeom>
          <a:solidFill>
            <a:schemeClr val="tx1">
              <a:lumMod val="65000"/>
              <a:lumOff val="35000"/>
            </a:schemeClr>
          </a:solidFill>
          <a:ln>
            <a:noFill/>
          </a:ln>
          <a:effectLst/>
        </p:spPr>
        <p:txBody>
          <a:bodyPr vert="horz" wrap="square" lIns="51387" tIns="25694" rIns="51387" bIns="25694" numCol="1" rtlCol="0" anchor="ctr" anchorCtr="0" compatLnSpc="1"/>
          <a:lstStyle/>
          <a:p>
            <a:pPr algn="ctr" defTabSz="685800" fontAlgn="auto">
              <a:spcBef>
                <a:spcPts val="0"/>
              </a:spcBef>
              <a:spcAft>
                <a:spcPts val="0"/>
              </a:spcAft>
              <a:buClr>
                <a:srgbClr val="CC9900"/>
              </a:buClr>
              <a:defRPr/>
            </a:pPr>
            <a:r>
              <a:rPr kumimoji="0" lang="zh-CN" altLang="en-US" sz="1050" b="1" dirty="0">
                <a:solidFill>
                  <a:srgbClr val="FFFFFF"/>
                </a:solidFill>
                <a:latin typeface="Huawei Sans" panose="020C0503030203020204" pitchFamily="34" charset="0"/>
                <a:ea typeface="方正兰亭黑简体" panose="02000000000000000000" pitchFamily="2" charset="-122"/>
                <a:cs typeface="Arial Unicode MS" panose="020B0604020202020204" charset="-122"/>
                <a:sym typeface="Huawei Sans" panose="020C0503030203020204" pitchFamily="34" charset="0"/>
              </a:rPr>
              <a:t>价值</a:t>
            </a:r>
            <a:endParaRPr kumimoji="0" lang="en-US" altLang="zh-CN" sz="1050" b="1" dirty="0">
              <a:solidFill>
                <a:srgbClr val="FFFFFF"/>
              </a:solidFill>
              <a:latin typeface="Huawei Sans" panose="020C0503030203020204" pitchFamily="34" charset="0"/>
              <a:ea typeface="方正兰亭黑简体" panose="02000000000000000000" pitchFamily="2" charset="-122"/>
              <a:cs typeface="Arial Unicode MS" panose="020B0604020202020204" charset="-122"/>
              <a:sym typeface="Huawei Sans" panose="020C0503030203020204" pitchFamily="34" charset="0"/>
            </a:endParaRPr>
          </a:p>
        </p:txBody>
      </p:sp>
      <p:sp>
        <p:nvSpPr>
          <p:cNvPr id="26" name="圆角矩形 25"/>
          <p:cNvSpPr/>
          <p:nvPr/>
        </p:nvSpPr>
        <p:spPr bwMode="auto">
          <a:xfrm>
            <a:off x="568701" y="3266888"/>
            <a:ext cx="904181" cy="2097225"/>
          </a:xfrm>
          <a:prstGeom prst="roundRect">
            <a:avLst/>
          </a:prstGeom>
          <a:solidFill>
            <a:schemeClr val="tx1">
              <a:lumMod val="65000"/>
              <a:lumOff val="35000"/>
            </a:schemeClr>
          </a:solidFill>
          <a:ln>
            <a:noFill/>
          </a:ln>
          <a:effectLst/>
        </p:spPr>
        <p:txBody>
          <a:bodyPr vert="horz" wrap="square" lIns="51387" tIns="25694" rIns="51387" bIns="25694" numCol="1" rtlCol="0" anchor="ctr" anchorCtr="0" compatLnSpc="1"/>
          <a:lstStyle/>
          <a:p>
            <a:pPr algn="ctr" defTabSz="685800" fontAlgn="auto">
              <a:spcBef>
                <a:spcPts val="0"/>
              </a:spcBef>
              <a:spcAft>
                <a:spcPts val="0"/>
              </a:spcAft>
              <a:buClr>
                <a:srgbClr val="CC9900"/>
              </a:buClr>
              <a:defRPr/>
            </a:pPr>
            <a:r>
              <a:rPr kumimoji="0" lang="zh-CN" altLang="en-US" sz="1050" b="1" dirty="0">
                <a:solidFill>
                  <a:srgbClr val="FFFFFF"/>
                </a:solidFill>
                <a:latin typeface="Huawei Sans" panose="020C0503030203020204" pitchFamily="34" charset="0"/>
                <a:ea typeface="方正兰亭黑简体" panose="02000000000000000000" pitchFamily="2" charset="-122"/>
                <a:cs typeface="Arial Unicode MS" panose="020B0604020202020204" charset="-122"/>
                <a:sym typeface="Huawei Sans" panose="020C0503030203020204" pitchFamily="34" charset="0"/>
              </a:rPr>
              <a:t>关键特性</a:t>
            </a:r>
            <a:endParaRPr kumimoji="0" lang="en-US" altLang="zh-CN" sz="1050" b="1" dirty="0">
              <a:solidFill>
                <a:srgbClr val="FFFFFF"/>
              </a:solidFill>
              <a:latin typeface="Huawei Sans" panose="020C0503030203020204" pitchFamily="34" charset="0"/>
              <a:ea typeface="方正兰亭黑简体" panose="02000000000000000000" pitchFamily="2" charset="-122"/>
              <a:cs typeface="Arial Unicode MS" panose="020B0604020202020204" charset="-122"/>
              <a:sym typeface="Huawei Sans" panose="020C0503030203020204" pitchFamily="34" charset="0"/>
            </a:endParaRPr>
          </a:p>
        </p:txBody>
      </p:sp>
      <p:sp>
        <p:nvSpPr>
          <p:cNvPr id="27" name="等腰三角形 26"/>
          <p:cNvSpPr/>
          <p:nvPr/>
        </p:nvSpPr>
        <p:spPr bwMode="auto">
          <a:xfrm>
            <a:off x="548879" y="1665334"/>
            <a:ext cx="7945244" cy="689914"/>
          </a:xfrm>
          <a:prstGeom prst="triangle">
            <a:avLst>
              <a:gd name="adj" fmla="val 48991"/>
            </a:avLst>
          </a:prstGeom>
          <a:solidFill>
            <a:srgbClr val="C00000"/>
          </a:solidFill>
          <a:ln>
            <a:noFill/>
          </a:ln>
          <a:effectLst/>
        </p:spPr>
        <p:txBody>
          <a:bodyPr vert="horz" wrap="square" lIns="51387" tIns="25694" rIns="51387" bIns="25694" numCol="1" rtlCol="0" anchor="ctr" anchorCtr="0" compatLnSpc="1"/>
          <a:lstStyle/>
          <a:p>
            <a:pPr algn="ctr" defTabSz="685800" fontAlgn="auto">
              <a:spcBef>
                <a:spcPts val="0"/>
              </a:spcBef>
              <a:spcAft>
                <a:spcPts val="0"/>
              </a:spcAft>
              <a:buClr>
                <a:srgbClr val="CC9900"/>
              </a:buClr>
              <a:defRPr/>
            </a:pPr>
            <a:endParaRPr kumimoji="0" lang="zh-CN" altLang="en-US" sz="700" b="1" dirty="0">
              <a:solidFill>
                <a:srgbClr val="FFFFFF"/>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endParaRPr>
          </a:p>
        </p:txBody>
      </p:sp>
      <p:sp>
        <p:nvSpPr>
          <p:cNvPr id="28" name="圆角矩形 27"/>
          <p:cNvSpPr/>
          <p:nvPr/>
        </p:nvSpPr>
        <p:spPr bwMode="auto">
          <a:xfrm>
            <a:off x="1731962" y="2472711"/>
            <a:ext cx="6762162" cy="593666"/>
          </a:xfrm>
          <a:prstGeom prst="roundRect">
            <a:avLst/>
          </a:prstGeom>
          <a:solidFill>
            <a:schemeClr val="tx1">
              <a:lumMod val="50000"/>
              <a:lumOff val="50000"/>
            </a:schemeClr>
          </a:solidFill>
          <a:ln>
            <a:noFill/>
          </a:ln>
          <a:effectLst/>
        </p:spPr>
        <p:txBody>
          <a:bodyPr vert="horz" wrap="square" lIns="51387" tIns="25694" rIns="51387" bIns="25694" numCol="1" rtlCol="0" anchor="ctr" anchorCtr="0" compatLnSpc="1"/>
          <a:lstStyle/>
          <a:p>
            <a:pPr algn="ctr" defTabSz="685800" fontAlgn="auto">
              <a:spcBef>
                <a:spcPts val="0"/>
              </a:spcBef>
              <a:spcAft>
                <a:spcPts val="0"/>
              </a:spcAft>
              <a:defRPr/>
            </a:pPr>
            <a:endParaRPr kumimoji="0" lang="en-US" altLang="zh-CN" sz="135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矩形 40"/>
          <p:cNvSpPr/>
          <p:nvPr/>
        </p:nvSpPr>
        <p:spPr bwMode="auto">
          <a:xfrm>
            <a:off x="3474516" y="3286802"/>
            <a:ext cx="1662626" cy="2152982"/>
          </a:xfrm>
          <a:prstGeom prst="rect">
            <a:avLst/>
          </a:prstGeom>
          <a:solidFill>
            <a:schemeClr val="bg1">
              <a:lumMod val="85000"/>
            </a:schemeClr>
          </a:solidFill>
          <a:ln>
            <a:solidFill>
              <a:schemeClr val="accent5">
                <a:lumMod val="60000"/>
                <a:lumOff val="40000"/>
              </a:schemeClr>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15916" tIns="34266" rIns="68534" bIns="34266" numCol="1" rtlCol="0" anchor="t" anchorCtr="0" compatLnSpc="1"/>
          <a:lstStyle/>
          <a:p>
            <a:pPr defTabSz="685165">
              <a:buClr>
                <a:srgbClr val="CC9900"/>
              </a:buClr>
              <a:buFont typeface="Wingdings" panose="05000000000000000000" pitchFamily="2" charset="2"/>
              <a:buChar char="n"/>
              <a:defRPr/>
            </a:pPr>
            <a:endParaRPr kumimoji="0" lang="zh-CN" altLang="en-US"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矩形 23"/>
          <p:cNvSpPr/>
          <p:nvPr/>
        </p:nvSpPr>
        <p:spPr bwMode="auto">
          <a:xfrm>
            <a:off x="5261699" y="3270392"/>
            <a:ext cx="1588033" cy="2169392"/>
          </a:xfrm>
          <a:prstGeom prst="rect">
            <a:avLst/>
          </a:prstGeom>
          <a:solidFill>
            <a:schemeClr val="bg1">
              <a:lumMod val="85000"/>
            </a:schemeClr>
          </a:solidFill>
          <a:ln>
            <a:solidFill>
              <a:schemeClr val="accent5">
                <a:lumMod val="60000"/>
                <a:lumOff val="40000"/>
              </a:schemeClr>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15916" tIns="34266" rIns="68534" bIns="34266" numCol="1" rtlCol="0" anchor="t" anchorCtr="0" compatLnSpc="1"/>
          <a:lstStyle/>
          <a:p>
            <a:pPr defTabSz="685165">
              <a:buClr>
                <a:srgbClr val="CC9900"/>
              </a:buClr>
              <a:buFont typeface="Wingdings" panose="05000000000000000000" pitchFamily="2" charset="2"/>
              <a:buChar char="n"/>
              <a:defRPr/>
            </a:pPr>
            <a:endParaRPr kumimoji="0" lang="zh-CN" altLang="en-US"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 name="矩形 2"/>
          <p:cNvSpPr/>
          <p:nvPr/>
        </p:nvSpPr>
        <p:spPr>
          <a:xfrm>
            <a:off x="5632419" y="3284276"/>
            <a:ext cx="841204" cy="341504"/>
          </a:xfrm>
          <a:prstGeom prst="rect">
            <a:avLst/>
          </a:prstGeom>
        </p:spPr>
        <p:txBody>
          <a:bodyPr wrap="square">
            <a:spAutoFit/>
          </a:bodyPr>
          <a:lstStyle/>
          <a:p>
            <a:pPr marL="74930" indent="-74930" algn="ctr" defTabSz="224790" fontAlgn="auto">
              <a:lnSpc>
                <a:spcPct val="120000"/>
              </a:lnSpc>
              <a:spcBef>
                <a:spcPts val="0"/>
              </a:spcBef>
              <a:spcAft>
                <a:spcPts val="0"/>
              </a:spcAft>
              <a:buClr>
                <a:srgbClr val="FFFFFF">
                  <a:lumMod val="50000"/>
                </a:srgbClr>
              </a:buClr>
              <a:buSzPct val="70000"/>
              <a:defRPr/>
            </a:pPr>
            <a:r>
              <a:rPr kumimoji="0" lang="zh-CN" altLang="en-US" sz="135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易运维</a:t>
            </a:r>
            <a:endParaRPr kumimoji="0" lang="en-US" altLang="zh-CN" sz="135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矩形 35"/>
          <p:cNvSpPr/>
          <p:nvPr/>
        </p:nvSpPr>
        <p:spPr bwMode="auto">
          <a:xfrm>
            <a:off x="1653880" y="3286802"/>
            <a:ext cx="1702475" cy="2152982"/>
          </a:xfrm>
          <a:prstGeom prst="rect">
            <a:avLst/>
          </a:prstGeom>
          <a:solidFill>
            <a:schemeClr val="bg1">
              <a:lumMod val="85000"/>
            </a:schemeClr>
          </a:solidFill>
          <a:ln>
            <a:solidFill>
              <a:schemeClr val="accent5">
                <a:lumMod val="60000"/>
                <a:lumOff val="40000"/>
              </a:schemeClr>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15916" tIns="34266" rIns="68534" bIns="34266" numCol="1" rtlCol="0" anchor="t" anchorCtr="0" compatLnSpc="1"/>
          <a:lstStyle/>
          <a:p>
            <a:pPr defTabSz="685165">
              <a:buClr>
                <a:srgbClr val="CC9900"/>
              </a:buClr>
              <a:buFont typeface="Wingdings" panose="05000000000000000000" pitchFamily="2" charset="2"/>
              <a:buChar char="n"/>
              <a:defRPr/>
            </a:pPr>
            <a:endParaRPr kumimoji="0" lang="zh-CN" altLang="en-US"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矩形 3"/>
          <p:cNvSpPr/>
          <p:nvPr/>
        </p:nvSpPr>
        <p:spPr>
          <a:xfrm>
            <a:off x="2078172" y="3266888"/>
            <a:ext cx="853889" cy="341504"/>
          </a:xfrm>
          <a:prstGeom prst="rect">
            <a:avLst/>
          </a:prstGeom>
        </p:spPr>
        <p:txBody>
          <a:bodyPr wrap="square">
            <a:spAutoFit/>
          </a:bodyPr>
          <a:lstStyle/>
          <a:p>
            <a:pPr algn="ctr" defTabSz="685800" fontAlgn="auto">
              <a:lnSpc>
                <a:spcPct val="120000"/>
              </a:lnSpc>
              <a:spcBef>
                <a:spcPts val="0"/>
              </a:spcBef>
              <a:spcAft>
                <a:spcPts val="0"/>
              </a:spcAft>
              <a:buClr>
                <a:prstClr val="white"/>
              </a:buClr>
              <a:defRPr/>
            </a:pPr>
            <a:r>
              <a:rPr kumimoji="0" lang="zh-CN" altLang="en-US" sz="135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高性能</a:t>
            </a:r>
            <a:endParaRPr kumimoji="0" lang="en-US" altLang="zh-CN" sz="135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矩形 4"/>
          <p:cNvSpPr/>
          <p:nvPr/>
        </p:nvSpPr>
        <p:spPr>
          <a:xfrm>
            <a:off x="3579465" y="3270729"/>
            <a:ext cx="1437132" cy="341504"/>
          </a:xfrm>
          <a:prstGeom prst="rect">
            <a:avLst/>
          </a:prstGeom>
        </p:spPr>
        <p:txBody>
          <a:bodyPr wrap="square">
            <a:spAutoFit/>
          </a:bodyPr>
          <a:lstStyle/>
          <a:p>
            <a:pPr algn="ctr" defTabSz="530225" fontAlgn="auto">
              <a:lnSpc>
                <a:spcPct val="120000"/>
              </a:lnSpc>
              <a:spcBef>
                <a:spcPts val="0"/>
              </a:spcBef>
              <a:spcAft>
                <a:spcPts val="0"/>
              </a:spcAft>
              <a:buClr>
                <a:prstClr val="white"/>
              </a:buClr>
              <a:defRPr/>
            </a:pPr>
            <a:r>
              <a:rPr kumimoji="0" lang="zh-CN" altLang="en-US" sz="135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高可用 </a:t>
            </a:r>
            <a:r>
              <a:rPr kumimoji="0" lang="en-US" altLang="zh-CN" sz="135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&amp; </a:t>
            </a:r>
            <a:r>
              <a:rPr kumimoji="0" lang="zh-CN" altLang="en-US" sz="135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高安全</a:t>
            </a:r>
            <a:endParaRPr kumimoji="0" lang="en-US" altLang="zh-CN" sz="135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矩形 39"/>
          <p:cNvSpPr/>
          <p:nvPr/>
        </p:nvSpPr>
        <p:spPr bwMode="auto">
          <a:xfrm>
            <a:off x="6963996" y="3286802"/>
            <a:ext cx="1631127" cy="2152982"/>
          </a:xfrm>
          <a:prstGeom prst="rect">
            <a:avLst/>
          </a:prstGeom>
          <a:solidFill>
            <a:schemeClr val="bg1">
              <a:lumMod val="85000"/>
            </a:schemeClr>
          </a:solidFill>
          <a:ln>
            <a:solidFill>
              <a:schemeClr val="accent5">
                <a:lumMod val="60000"/>
                <a:lumOff val="40000"/>
              </a:schemeClr>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15916" tIns="34266" rIns="68534" bIns="34266" numCol="1" rtlCol="0" anchor="t" anchorCtr="0" compatLnSpc="1"/>
          <a:lstStyle/>
          <a:p>
            <a:pPr defTabSz="685165">
              <a:buClr>
                <a:srgbClr val="CC9900"/>
              </a:buClr>
              <a:buFont typeface="Wingdings" panose="05000000000000000000" pitchFamily="2" charset="2"/>
              <a:buChar char="n"/>
              <a:defRPr/>
            </a:pPr>
            <a:endParaRPr kumimoji="0" lang="zh-CN" altLang="en-US"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矩形 5"/>
          <p:cNvSpPr/>
          <p:nvPr/>
        </p:nvSpPr>
        <p:spPr>
          <a:xfrm>
            <a:off x="7290324" y="3266888"/>
            <a:ext cx="978472" cy="341504"/>
          </a:xfrm>
          <a:prstGeom prst="rect">
            <a:avLst/>
          </a:prstGeom>
        </p:spPr>
        <p:txBody>
          <a:bodyPr wrap="square">
            <a:spAutoFit/>
          </a:bodyPr>
          <a:lstStyle/>
          <a:p>
            <a:pPr algn="ctr" defTabSz="530225" fontAlgn="auto">
              <a:lnSpc>
                <a:spcPct val="120000"/>
              </a:lnSpc>
              <a:spcBef>
                <a:spcPts val="0"/>
              </a:spcBef>
              <a:spcAft>
                <a:spcPts val="0"/>
              </a:spcAft>
              <a:buClr>
                <a:prstClr val="white"/>
              </a:buClr>
              <a:defRPr/>
            </a:pPr>
            <a:r>
              <a:rPr kumimoji="0" lang="zh-CN" altLang="en-US" sz="135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全开放</a:t>
            </a:r>
            <a:endParaRPr kumimoji="0" lang="en-US" altLang="zh-CN" sz="135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矩形 8"/>
          <p:cNvSpPr/>
          <p:nvPr/>
        </p:nvSpPr>
        <p:spPr>
          <a:xfrm>
            <a:off x="1731961" y="2542332"/>
            <a:ext cx="6762161" cy="507575"/>
          </a:xfrm>
          <a:prstGeom prst="rect">
            <a:avLst/>
          </a:prstGeom>
        </p:spPr>
        <p:txBody>
          <a:bodyPr wrap="square">
            <a:spAutoFit/>
          </a:bodyPr>
          <a:lstStyle/>
          <a:p>
            <a:pPr defTabSz="685800" fontAlgn="auto">
              <a:spcBef>
                <a:spcPts val="0"/>
              </a:spcBef>
              <a:spcAft>
                <a:spcPts val="0"/>
              </a:spcAft>
              <a:defRPr/>
            </a:pPr>
            <a:r>
              <a:rPr kumimoji="0" lang="en-US" altLang="zh-CN" sz="135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openGauss</a:t>
            </a:r>
            <a:r>
              <a:rPr kumimoji="0" lang="zh-CN" altLang="en-US" sz="135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提供面向多核的极致性能、全链路的业务和数据安全、基于</a:t>
            </a:r>
            <a:r>
              <a:rPr kumimoji="0" lang="en-US" altLang="zh-CN" sz="135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AI</a:t>
            </a:r>
            <a:r>
              <a:rPr kumimoji="0" lang="zh-CN" altLang="en-US" sz="135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的调优和高效运维的能力，全面友好开放，共同打造全球领先的企业级开源关系型数据库；</a:t>
            </a:r>
            <a:endParaRPr kumimoji="0" lang="en-US" altLang="zh-CN" sz="135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矩形 9"/>
          <p:cNvSpPr/>
          <p:nvPr/>
        </p:nvSpPr>
        <p:spPr>
          <a:xfrm>
            <a:off x="2969977" y="1869558"/>
            <a:ext cx="3262432" cy="438390"/>
          </a:xfrm>
          <a:prstGeom prst="rect">
            <a:avLst/>
          </a:prstGeom>
        </p:spPr>
        <p:txBody>
          <a:bodyPr wrap="none">
            <a:spAutoFit/>
          </a:bodyPr>
          <a:lstStyle/>
          <a:p>
            <a:pPr defTabSz="685800" fontAlgn="auto">
              <a:lnSpc>
                <a:spcPct val="150000"/>
              </a:lnSpc>
              <a:spcBef>
                <a:spcPts val="0"/>
              </a:spcBef>
              <a:spcAft>
                <a:spcPts val="0"/>
              </a:spcAft>
              <a:defRPr/>
            </a:pPr>
            <a:r>
              <a:rPr kumimoji="0" lang="zh-CN" altLang="en-US" sz="15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把企业级数据库能力带给用户和伙伴</a:t>
            </a:r>
            <a:endParaRPr kumimoji="0" lang="en-US" altLang="zh-CN" sz="15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TextBox 12"/>
          <p:cNvSpPr txBox="1"/>
          <p:nvPr/>
        </p:nvSpPr>
        <p:spPr>
          <a:xfrm>
            <a:off x="3486820" y="3544944"/>
            <a:ext cx="1611716" cy="1649187"/>
          </a:xfrm>
          <a:prstGeom prst="rect">
            <a:avLst/>
          </a:prstGeom>
          <a:noFill/>
          <a:ln>
            <a:noFill/>
          </a:ln>
        </p:spPr>
        <p:style>
          <a:lnRef idx="2">
            <a:schemeClr val="accent5"/>
          </a:lnRef>
          <a:fillRef idx="1">
            <a:schemeClr val="lt1"/>
          </a:fillRef>
          <a:effectRef idx="0">
            <a:schemeClr val="accent5"/>
          </a:effectRef>
          <a:fontRef idx="minor">
            <a:schemeClr val="dk1"/>
          </a:fontRef>
        </p:style>
        <p:txBody>
          <a:bodyPr wrap="square" lIns="51387" tIns="25694" rIns="51387" bIns="25694" rtlCol="0">
            <a:spAutoFit/>
          </a:bodyPr>
          <a:lstStyle/>
          <a:p>
            <a:pPr marL="161925" lvl="1" indent="-161925" defTabSz="224790" fontAlgn="auto">
              <a:lnSpc>
                <a:spcPct val="130000"/>
              </a:lnSpc>
              <a:spcBef>
                <a:spcPts val="450"/>
              </a:spcBef>
              <a:spcAft>
                <a:spcPts val="0"/>
              </a:spcAft>
              <a:buClr>
                <a:srgbClr val="FFFFFF">
                  <a:lumMod val="50000"/>
                </a:srgbClr>
              </a:buClr>
              <a:buSzPct val="70000"/>
              <a:buFont typeface="Wingdings" panose="05000000000000000000" pitchFamily="2" charset="2"/>
              <a:buChar char="Ø"/>
              <a:defRPr/>
            </a:pPr>
            <a:r>
              <a:rPr kumimoji="0" lang="zh-CN" altLang="zh-CN"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业务无忧，故障切换时间</a:t>
            </a:r>
            <a:r>
              <a:rPr kumimoji="0" lang="en-US" altLang="zh-CN"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RTO&lt;10 s</a:t>
            </a:r>
            <a:r>
              <a:rPr kumimoji="0" lang="zh-CN" altLang="en-US"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endParaRPr kumimoji="0" lang="en-US" altLang="zh-CN"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marL="161925" indent="-161925" defTabSz="224790" fontAlgn="auto">
              <a:lnSpc>
                <a:spcPct val="130000"/>
              </a:lnSpc>
              <a:spcBef>
                <a:spcPts val="450"/>
              </a:spcBef>
              <a:spcAft>
                <a:spcPts val="0"/>
              </a:spcAft>
              <a:buClr>
                <a:srgbClr val="FFFFFF">
                  <a:lumMod val="50000"/>
                </a:srgbClr>
              </a:buClr>
              <a:buSzPct val="70000"/>
              <a:buFont typeface="Wingdings" panose="05000000000000000000" pitchFamily="2" charset="2"/>
              <a:buChar char="Ø"/>
              <a:defRPr/>
            </a:pPr>
            <a:r>
              <a:rPr kumimoji="0" lang="zh-CN" altLang="zh-CN"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精细安全管理</a:t>
            </a:r>
            <a:r>
              <a:rPr kumimoji="0" lang="zh-CN" altLang="en-US"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：细粒度访问控制、</a:t>
            </a:r>
            <a:r>
              <a:rPr kumimoji="0" lang="zh-CN" altLang="zh-CN"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多维度审计</a:t>
            </a:r>
            <a:r>
              <a:rPr kumimoji="0" lang="zh-CN" altLang="en-US"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endParaRPr kumimoji="0" lang="en-US" altLang="zh-CN"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marL="161925" indent="-161925" defTabSz="224790" fontAlgn="auto">
              <a:lnSpc>
                <a:spcPct val="130000"/>
              </a:lnSpc>
              <a:spcBef>
                <a:spcPts val="450"/>
              </a:spcBef>
              <a:spcAft>
                <a:spcPts val="0"/>
              </a:spcAft>
              <a:buClr>
                <a:srgbClr val="FFFFFF">
                  <a:lumMod val="50000"/>
                </a:srgbClr>
              </a:buClr>
              <a:buSzPct val="70000"/>
              <a:buFont typeface="Wingdings" panose="05000000000000000000" pitchFamily="2" charset="2"/>
              <a:buChar char="Ø"/>
              <a:defRPr/>
            </a:pPr>
            <a:r>
              <a:rPr kumimoji="0" lang="zh-CN" altLang="zh-CN"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全方位数据保护：存储</a:t>
            </a:r>
            <a:r>
              <a:rPr kumimoji="0" lang="en-US" altLang="zh-CN"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&amp;</a:t>
            </a:r>
            <a:r>
              <a:rPr kumimoji="0" lang="zh-CN" altLang="zh-CN"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传输</a:t>
            </a:r>
            <a:r>
              <a:rPr kumimoji="0" lang="en-US" altLang="zh-CN"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&amp;</a:t>
            </a:r>
            <a:r>
              <a:rPr kumimoji="0" lang="zh-CN" altLang="zh-CN"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导出加密</a:t>
            </a:r>
            <a:r>
              <a:rPr kumimoji="0" lang="zh-CN" altLang="en-US"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r>
              <a:rPr kumimoji="0" lang="zh-CN" altLang="zh-CN"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动态脱敏</a:t>
            </a:r>
            <a:r>
              <a:rPr kumimoji="0" lang="zh-CN" altLang="en-US"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r>
              <a:rPr kumimoji="0" lang="zh-CN" altLang="zh-CN"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全密态计算</a:t>
            </a:r>
            <a:r>
              <a:rPr kumimoji="0" lang="zh-CN" altLang="en-US"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endParaRPr kumimoji="0" lang="en-US" altLang="zh-CN"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TextBox 11"/>
          <p:cNvSpPr txBox="1"/>
          <p:nvPr/>
        </p:nvSpPr>
        <p:spPr>
          <a:xfrm>
            <a:off x="5285184" y="3528252"/>
            <a:ext cx="1573467" cy="1924069"/>
          </a:xfrm>
          <a:prstGeom prst="rect">
            <a:avLst/>
          </a:prstGeom>
          <a:noFill/>
          <a:ln>
            <a:noFill/>
          </a:ln>
        </p:spPr>
        <p:style>
          <a:lnRef idx="2">
            <a:schemeClr val="accent5"/>
          </a:lnRef>
          <a:fillRef idx="1">
            <a:schemeClr val="lt1"/>
          </a:fillRef>
          <a:effectRef idx="0">
            <a:schemeClr val="accent5"/>
          </a:effectRef>
          <a:fontRef idx="minor">
            <a:schemeClr val="dk1"/>
          </a:fontRef>
        </p:style>
        <p:txBody>
          <a:bodyPr wrap="square" lIns="51387" tIns="25694" rIns="51387" bIns="25694" rtlCol="0">
            <a:spAutoFit/>
          </a:bodyPr>
          <a:lstStyle/>
          <a:p>
            <a:pPr marL="161925" indent="-161925" defTabSz="224790" fontAlgn="auto">
              <a:lnSpc>
                <a:spcPct val="120000"/>
              </a:lnSpc>
              <a:spcBef>
                <a:spcPts val="450"/>
              </a:spcBef>
              <a:spcAft>
                <a:spcPts val="0"/>
              </a:spcAft>
              <a:buClr>
                <a:srgbClr val="FFFFFF">
                  <a:lumMod val="50000"/>
                </a:srgbClr>
              </a:buClr>
              <a:buSzPct val="70000"/>
              <a:buFont typeface="Wingdings" panose="05000000000000000000" pitchFamily="2" charset="2"/>
              <a:buChar char="Ø"/>
              <a:defRPr/>
            </a:pPr>
            <a:r>
              <a:rPr kumimoji="0" lang="zh-CN" altLang="en-US"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基于</a:t>
            </a:r>
            <a:r>
              <a:rPr kumimoji="0" lang="en-US" altLang="zh-CN"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AI</a:t>
            </a:r>
            <a:r>
              <a:rPr kumimoji="0" lang="zh-CN" altLang="en-US"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的智能参数调优，提供</a:t>
            </a:r>
            <a:r>
              <a:rPr kumimoji="0" lang="en-US" altLang="zh-CN"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AI</a:t>
            </a:r>
            <a:r>
              <a:rPr kumimoji="0" lang="zh-CN" altLang="en-US"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参数自动推荐；</a:t>
            </a:r>
            <a:endParaRPr kumimoji="0" lang="en-US" altLang="zh-CN"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marL="161925" indent="-161925" defTabSz="224790" fontAlgn="auto">
              <a:lnSpc>
                <a:spcPct val="120000"/>
              </a:lnSpc>
              <a:spcBef>
                <a:spcPts val="450"/>
              </a:spcBef>
              <a:spcAft>
                <a:spcPts val="0"/>
              </a:spcAft>
              <a:buClr>
                <a:srgbClr val="FFFFFF">
                  <a:lumMod val="50000"/>
                </a:srgbClr>
              </a:buClr>
              <a:buSzPct val="70000"/>
              <a:buFont typeface="Wingdings" panose="05000000000000000000" pitchFamily="2" charset="2"/>
              <a:buChar char="Ø"/>
              <a:defRPr/>
            </a:pPr>
            <a:r>
              <a:rPr kumimoji="0" lang="zh-CN" altLang="en-US"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慢</a:t>
            </a:r>
            <a:r>
              <a:rPr kumimoji="0" lang="en-US" altLang="zh-CN"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SQL</a:t>
            </a:r>
            <a:r>
              <a:rPr kumimoji="0" lang="zh-CN" altLang="en-US"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诊断，多维性能自监控视图，实时掌控系统性能表现；</a:t>
            </a:r>
            <a:endParaRPr kumimoji="0" lang="en-US" altLang="zh-CN"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61925" indent="-161925" defTabSz="224790" fontAlgn="auto">
              <a:lnSpc>
                <a:spcPct val="120000"/>
              </a:lnSpc>
              <a:spcBef>
                <a:spcPts val="450"/>
              </a:spcBef>
              <a:spcAft>
                <a:spcPts val="0"/>
              </a:spcAft>
              <a:buClr>
                <a:srgbClr val="FFFFFF">
                  <a:lumMod val="50000"/>
                </a:srgbClr>
              </a:buClr>
              <a:buSzPct val="70000"/>
              <a:buFont typeface="Wingdings" panose="05000000000000000000" pitchFamily="2" charset="2"/>
              <a:buChar char="Ø"/>
              <a:defRPr/>
            </a:pPr>
            <a:r>
              <a:rPr kumimoji="0" lang="zh-CN" altLang="en-US"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提供在线自学习的</a:t>
            </a:r>
            <a:r>
              <a:rPr kumimoji="0" lang="en-US" altLang="zh-CN"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SQL</a:t>
            </a:r>
            <a:r>
              <a:rPr kumimoji="0" lang="zh-CN" altLang="en-US"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时间预测、快速定位，急速调优。</a:t>
            </a:r>
            <a:endParaRPr kumimoji="0" lang="en-US" altLang="zh-CN"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TextBox 11"/>
          <p:cNvSpPr txBox="1"/>
          <p:nvPr/>
        </p:nvSpPr>
        <p:spPr>
          <a:xfrm>
            <a:off x="1703814" y="3570430"/>
            <a:ext cx="1705213" cy="1761460"/>
          </a:xfrm>
          <a:prstGeom prst="rect">
            <a:avLst/>
          </a:prstGeom>
          <a:noFill/>
          <a:ln>
            <a:noFill/>
          </a:ln>
        </p:spPr>
        <p:style>
          <a:lnRef idx="2">
            <a:schemeClr val="accent5"/>
          </a:lnRef>
          <a:fillRef idx="1">
            <a:schemeClr val="lt1"/>
          </a:fillRef>
          <a:effectRef idx="0">
            <a:schemeClr val="accent5"/>
          </a:effectRef>
          <a:fontRef idx="minor">
            <a:schemeClr val="dk1"/>
          </a:fontRef>
        </p:style>
        <p:txBody>
          <a:bodyPr wrap="square" lIns="51387" tIns="25694" rIns="51387" bIns="25694" rtlCol="0">
            <a:spAutoFit/>
          </a:bodyPr>
          <a:lstStyle/>
          <a:p>
            <a:pPr marL="161925" lvl="1" indent="-161925" defTabSz="224790" fontAlgn="auto">
              <a:spcBef>
                <a:spcPts val="450"/>
              </a:spcBef>
              <a:spcAft>
                <a:spcPts val="0"/>
              </a:spcAft>
              <a:buClr>
                <a:srgbClr val="FFFFFF">
                  <a:lumMod val="50000"/>
                </a:srgbClr>
              </a:buClr>
              <a:buSzPct val="70000"/>
              <a:buFont typeface="Wingdings" panose="05000000000000000000" pitchFamily="2" charset="2"/>
              <a:buChar char="Ø"/>
              <a:defRPr/>
            </a:pPr>
            <a:r>
              <a:rPr kumimoji="0" lang="zh-CN" altLang="zh-CN"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两路鲲鹏性能</a:t>
            </a:r>
            <a:r>
              <a:rPr kumimoji="0" lang="en-US" altLang="zh-CN"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150</a:t>
            </a:r>
            <a:r>
              <a:rPr kumimoji="0" lang="zh-CN" altLang="zh-CN"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万</a:t>
            </a:r>
            <a:r>
              <a:rPr kumimoji="0" lang="en-US" altLang="zh-CN"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tpmC</a:t>
            </a:r>
            <a:r>
              <a:rPr kumimoji="0" lang="zh-CN" altLang="en-US"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endParaRPr kumimoji="0" lang="en-US" altLang="zh-CN"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marL="161925" lvl="1" indent="-161925" defTabSz="224790" fontAlgn="auto">
              <a:spcBef>
                <a:spcPts val="450"/>
              </a:spcBef>
              <a:spcAft>
                <a:spcPts val="0"/>
              </a:spcAft>
              <a:buClr>
                <a:srgbClr val="FFFFFF">
                  <a:lumMod val="50000"/>
                </a:srgbClr>
              </a:buClr>
              <a:buSzPct val="70000"/>
              <a:buFont typeface="Wingdings" panose="05000000000000000000" pitchFamily="2" charset="2"/>
              <a:buChar char="Ø"/>
              <a:defRPr/>
            </a:pPr>
            <a:r>
              <a:rPr kumimoji="0" lang="zh-CN" altLang="en-US"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面向多核架构的并发控制技术；</a:t>
            </a:r>
            <a:endParaRPr kumimoji="0" lang="en-US" altLang="zh-CN"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marL="161925" lvl="1" indent="-161925" defTabSz="224790" fontAlgn="auto">
              <a:spcBef>
                <a:spcPts val="450"/>
              </a:spcBef>
              <a:spcAft>
                <a:spcPts val="0"/>
              </a:spcAft>
              <a:buClr>
                <a:srgbClr val="FFFFFF">
                  <a:lumMod val="50000"/>
                </a:srgbClr>
              </a:buClr>
              <a:buSzPct val="70000"/>
              <a:buFont typeface="Wingdings" panose="05000000000000000000" pitchFamily="2" charset="2"/>
              <a:buChar char="Ø"/>
              <a:defRPr/>
            </a:pPr>
            <a:r>
              <a:rPr kumimoji="0" lang="en-US" altLang="zh-CN"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NUMA-Aware</a:t>
            </a:r>
            <a:r>
              <a:rPr kumimoji="0" lang="zh-CN" altLang="en-US"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数据结构；</a:t>
            </a:r>
            <a:endParaRPr kumimoji="0" lang="en-US" altLang="zh-CN"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marL="161925" lvl="1" indent="-161925" defTabSz="224790" fontAlgn="auto">
              <a:spcBef>
                <a:spcPts val="450"/>
              </a:spcBef>
              <a:spcAft>
                <a:spcPts val="0"/>
              </a:spcAft>
              <a:buClr>
                <a:srgbClr val="FFFFFF">
                  <a:lumMod val="50000"/>
                </a:srgbClr>
              </a:buClr>
              <a:buSzPct val="70000"/>
              <a:buFont typeface="Wingdings" panose="05000000000000000000" pitchFamily="2" charset="2"/>
              <a:buChar char="Ø"/>
              <a:defRPr/>
            </a:pPr>
            <a:r>
              <a:rPr kumimoji="0" lang="en-US" altLang="zh-CN"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SQL-Bypass</a:t>
            </a:r>
            <a:r>
              <a:rPr kumimoji="0" lang="zh-CN" altLang="en-US"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智能选路执行技术；</a:t>
            </a:r>
            <a:endParaRPr kumimoji="0" lang="en-US" altLang="zh-CN"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61925" lvl="1" indent="-161925" defTabSz="224790" fontAlgn="auto">
              <a:spcBef>
                <a:spcPts val="450"/>
              </a:spcBef>
              <a:spcAft>
                <a:spcPts val="0"/>
              </a:spcAft>
              <a:buClr>
                <a:srgbClr val="FFFFFF">
                  <a:lumMod val="50000"/>
                </a:srgbClr>
              </a:buClr>
              <a:buSzPct val="70000"/>
              <a:buFont typeface="Wingdings" panose="05000000000000000000" pitchFamily="2" charset="2"/>
              <a:buChar char="Ø"/>
              <a:defRPr/>
            </a:pPr>
            <a:r>
              <a:rPr kumimoji="0" lang="zh-CN" altLang="en-US"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面向实时高性能场景的内存引擎。</a:t>
            </a:r>
            <a:endParaRPr kumimoji="0" lang="en-US" altLang="zh-CN" sz="10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TextBox 12"/>
          <p:cNvSpPr txBox="1"/>
          <p:nvPr/>
        </p:nvSpPr>
        <p:spPr>
          <a:xfrm>
            <a:off x="7021814" y="3545127"/>
            <a:ext cx="1515491" cy="1858795"/>
          </a:xfrm>
          <a:prstGeom prst="rect">
            <a:avLst/>
          </a:prstGeom>
          <a:noFill/>
          <a:ln>
            <a:noFill/>
          </a:ln>
        </p:spPr>
        <p:style>
          <a:lnRef idx="2">
            <a:schemeClr val="accent5"/>
          </a:lnRef>
          <a:fillRef idx="1">
            <a:schemeClr val="lt1"/>
          </a:fillRef>
          <a:effectRef idx="0">
            <a:schemeClr val="accent5"/>
          </a:effectRef>
          <a:fontRef idx="minor">
            <a:schemeClr val="dk1"/>
          </a:fontRef>
        </p:style>
        <p:txBody>
          <a:bodyPr wrap="square" lIns="51387" tIns="25694" rIns="51387" bIns="25694" rtlCol="0">
            <a:spAutoFit/>
          </a:bodyPr>
          <a:lstStyle/>
          <a:p>
            <a:pPr marL="161925" indent="-161925" defTabSz="224790" fontAlgn="auto">
              <a:spcBef>
                <a:spcPts val="450"/>
              </a:spcBef>
              <a:spcAft>
                <a:spcPts val="0"/>
              </a:spcAft>
              <a:buClr>
                <a:srgbClr val="FFFFFF">
                  <a:lumMod val="50000"/>
                </a:srgbClr>
              </a:buClr>
              <a:buSzPct val="70000"/>
              <a:buFont typeface="Wingdings" panose="05000000000000000000" pitchFamily="2" charset="2"/>
              <a:buChar char="Ø"/>
              <a:defRPr/>
            </a:pPr>
            <a:r>
              <a:rPr kumimoji="0" lang="zh-CN" altLang="en-US"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采用木兰宽松许可证协议，</a:t>
            </a:r>
            <a:r>
              <a:rPr kumimoji="0" lang="zh-CN" altLang="zh-CN"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允许</a:t>
            </a:r>
            <a:r>
              <a:rPr kumimoji="0" lang="zh-CN" altLang="en-US"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对</a:t>
            </a:r>
            <a:r>
              <a:rPr kumimoji="0" lang="zh-CN" altLang="zh-CN"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代码自由修改，</a:t>
            </a:r>
            <a:r>
              <a:rPr kumimoji="0" lang="zh-CN" altLang="en-US"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使用、</a:t>
            </a:r>
            <a:r>
              <a:rPr kumimoji="0" lang="zh-CN" altLang="zh-CN"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引用</a:t>
            </a:r>
            <a:r>
              <a:rPr kumimoji="0" lang="zh-CN" altLang="en-US"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kumimoji="0" lang="en-US" altLang="zh-CN"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61925" indent="-161925" defTabSz="224790" fontAlgn="auto">
              <a:spcBef>
                <a:spcPts val="450"/>
              </a:spcBef>
              <a:spcAft>
                <a:spcPts val="0"/>
              </a:spcAft>
              <a:buClr>
                <a:srgbClr val="FFFFFF">
                  <a:lumMod val="50000"/>
                </a:srgbClr>
              </a:buClr>
              <a:buSzPct val="70000"/>
              <a:buFont typeface="Wingdings" panose="05000000000000000000" pitchFamily="2" charset="2"/>
              <a:buChar char="Ø"/>
              <a:defRPr/>
            </a:pPr>
            <a:r>
              <a:rPr kumimoji="0" lang="zh-CN" altLang="en-US"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数据库内核能力完全开放；</a:t>
            </a:r>
            <a:endParaRPr kumimoji="0" lang="en-US" altLang="zh-CN"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61925" indent="-161925" defTabSz="224790" fontAlgn="auto">
              <a:spcBef>
                <a:spcPts val="450"/>
              </a:spcBef>
              <a:spcAft>
                <a:spcPts val="0"/>
              </a:spcAft>
              <a:buClr>
                <a:srgbClr val="FFFFFF">
                  <a:lumMod val="50000"/>
                </a:srgbClr>
              </a:buClr>
              <a:buSzPct val="70000"/>
              <a:buFont typeface="Wingdings" panose="05000000000000000000" pitchFamily="2" charset="2"/>
              <a:buChar char="Ø"/>
              <a:defRPr/>
            </a:pPr>
            <a:r>
              <a:rPr kumimoji="0" lang="zh-CN" altLang="en-US"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开放</a:t>
            </a:r>
            <a:r>
              <a:rPr kumimoji="0" lang="zh-CN" altLang="zh-CN"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运维监控、开发和迁移工具</a:t>
            </a:r>
            <a:r>
              <a:rPr kumimoji="0" lang="zh-CN" altLang="en-US"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kumimoji="0" lang="en-US" altLang="zh-CN"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61925" indent="-161925" defTabSz="224790" fontAlgn="auto">
              <a:spcBef>
                <a:spcPts val="450"/>
              </a:spcBef>
              <a:spcAft>
                <a:spcPts val="0"/>
              </a:spcAft>
              <a:buClr>
                <a:srgbClr val="FFFFFF">
                  <a:lumMod val="50000"/>
                </a:srgbClr>
              </a:buClr>
              <a:buSzPct val="70000"/>
              <a:buFont typeface="Wingdings" panose="05000000000000000000" pitchFamily="2" charset="2"/>
              <a:buChar char="Ø"/>
              <a:defRPr/>
            </a:pPr>
            <a:r>
              <a:rPr kumimoji="0" lang="zh-CN" altLang="en-US"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开放伙伴认证、培训体系及高校课程。</a:t>
            </a:r>
            <a:endParaRPr kumimoji="0" lang="en-US" altLang="zh-CN" sz="1050" dirty="0">
              <a:solidFill>
                <a:srgbClr val="000000"/>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endParaRPr>
          </a:p>
        </p:txBody>
      </p:sp>
      <p:sp>
        <p:nvSpPr>
          <p:cNvPr id="2" name="文本框 1"/>
          <p:cNvSpPr txBox="1"/>
          <p:nvPr/>
        </p:nvSpPr>
        <p:spPr>
          <a:xfrm>
            <a:off x="1417312" y="3587236"/>
            <a:ext cx="292137" cy="299954"/>
          </a:xfrm>
          <a:prstGeom prst="rect">
            <a:avLst/>
          </a:prstGeom>
          <a:solidFill>
            <a:srgbClr val="FFC000"/>
          </a:solidFill>
        </p:spPr>
        <p:txBody>
          <a:bodyPr wrap="square" rtlCol="0">
            <a:spAutoFit/>
          </a:bodyPr>
          <a:lstStyle/>
          <a:p>
            <a:pPr defTabSz="685800" fontAlgn="auto">
              <a:spcBef>
                <a:spcPts val="0"/>
              </a:spcBef>
              <a:spcAft>
                <a:spcPts val="0"/>
              </a:spcAft>
              <a:defRPr/>
            </a:pPr>
            <a:r>
              <a:rPr kumimoji="0" lang="zh-CN" altLang="en-US" sz="13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①</a:t>
            </a:r>
            <a:endParaRPr kumimoji="0" lang="zh-CN" altLang="en-US" sz="13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文本框 21"/>
          <p:cNvSpPr txBox="1"/>
          <p:nvPr/>
        </p:nvSpPr>
        <p:spPr>
          <a:xfrm>
            <a:off x="3415767" y="3570430"/>
            <a:ext cx="292137" cy="299954"/>
          </a:xfrm>
          <a:prstGeom prst="rect">
            <a:avLst/>
          </a:prstGeom>
          <a:solidFill>
            <a:srgbClr val="FFC000"/>
          </a:solidFill>
        </p:spPr>
        <p:txBody>
          <a:bodyPr wrap="square" rtlCol="0">
            <a:spAutoFit/>
          </a:bodyPr>
          <a:lstStyle/>
          <a:p>
            <a:pPr defTabSz="685800" fontAlgn="auto">
              <a:spcBef>
                <a:spcPts val="0"/>
              </a:spcBef>
              <a:spcAft>
                <a:spcPts val="0"/>
              </a:spcAft>
              <a:defRPr/>
            </a:pPr>
            <a:r>
              <a:rPr kumimoji="0" lang="zh-CN" altLang="en-US" sz="13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②</a:t>
            </a:r>
            <a:endParaRPr kumimoji="0" lang="zh-CN" altLang="en-US" sz="13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文本框 22"/>
          <p:cNvSpPr txBox="1"/>
          <p:nvPr/>
        </p:nvSpPr>
        <p:spPr>
          <a:xfrm>
            <a:off x="5066021" y="3587236"/>
            <a:ext cx="292137" cy="299954"/>
          </a:xfrm>
          <a:prstGeom prst="rect">
            <a:avLst/>
          </a:prstGeom>
          <a:solidFill>
            <a:srgbClr val="FFC000"/>
          </a:solidFill>
        </p:spPr>
        <p:txBody>
          <a:bodyPr wrap="square" rtlCol="0">
            <a:spAutoFit/>
          </a:bodyPr>
          <a:lstStyle/>
          <a:p>
            <a:pPr defTabSz="685800" fontAlgn="auto">
              <a:spcBef>
                <a:spcPts val="0"/>
              </a:spcBef>
              <a:spcAft>
                <a:spcPts val="0"/>
              </a:spcAft>
              <a:defRPr/>
            </a:pPr>
            <a:r>
              <a:rPr kumimoji="0" lang="zh-CN" altLang="en-US" sz="13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③</a:t>
            </a:r>
            <a:endParaRPr kumimoji="0" lang="zh-CN" altLang="en-US" sz="13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文本框 28"/>
          <p:cNvSpPr txBox="1"/>
          <p:nvPr/>
        </p:nvSpPr>
        <p:spPr>
          <a:xfrm>
            <a:off x="1410919" y="4775779"/>
            <a:ext cx="292137" cy="299954"/>
          </a:xfrm>
          <a:prstGeom prst="rect">
            <a:avLst/>
          </a:prstGeom>
          <a:solidFill>
            <a:srgbClr val="FFC000"/>
          </a:solidFill>
        </p:spPr>
        <p:txBody>
          <a:bodyPr wrap="square" rtlCol="0">
            <a:spAutoFit/>
          </a:bodyPr>
          <a:lstStyle/>
          <a:p>
            <a:pPr defTabSz="685800" fontAlgn="auto">
              <a:spcBef>
                <a:spcPts val="0"/>
              </a:spcBef>
              <a:spcAft>
                <a:spcPts val="0"/>
              </a:spcAft>
              <a:defRPr/>
            </a:pPr>
            <a:r>
              <a:rPr kumimoji="0" lang="zh-CN" altLang="en-US" sz="13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④</a:t>
            </a:r>
            <a:endParaRPr kumimoji="0" lang="zh-CN" altLang="en-US" sz="13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文本框 29"/>
          <p:cNvSpPr txBox="1"/>
          <p:nvPr/>
        </p:nvSpPr>
        <p:spPr>
          <a:xfrm>
            <a:off x="3415767" y="4775779"/>
            <a:ext cx="292137" cy="299954"/>
          </a:xfrm>
          <a:prstGeom prst="rect">
            <a:avLst/>
          </a:prstGeom>
          <a:solidFill>
            <a:srgbClr val="FFC000"/>
          </a:solidFill>
        </p:spPr>
        <p:txBody>
          <a:bodyPr wrap="square" rtlCol="0">
            <a:spAutoFit/>
          </a:bodyPr>
          <a:lstStyle/>
          <a:p>
            <a:pPr defTabSz="685800" fontAlgn="auto">
              <a:spcBef>
                <a:spcPts val="0"/>
              </a:spcBef>
              <a:spcAft>
                <a:spcPts val="0"/>
              </a:spcAft>
              <a:defRPr/>
            </a:pPr>
            <a:r>
              <a:rPr kumimoji="0" lang="zh-CN" altLang="en-US" sz="13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⑤</a:t>
            </a:r>
            <a:endParaRPr kumimoji="0" lang="zh-CN" altLang="en-US" sz="135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标题 10"/>
          <p:cNvSpPr>
            <a:spLocks noGrp="1"/>
          </p:cNvSpPr>
          <p:nvPr>
            <p:ph type="title"/>
          </p:nvPr>
        </p:nvSpPr>
        <p:spPr/>
        <p:txBody>
          <a:bodyPr>
            <a:normAutofit fontScale="90000"/>
          </a:bodyPr>
          <a:lstStyle/>
          <a:p>
            <a:r>
              <a:rPr lang="en-US" altLang="zh-CN" sz="2700" dirty="0">
                <a:sym typeface="Huawei Sans" panose="020C0503030203020204" pitchFamily="34" charset="0"/>
              </a:rPr>
              <a:t>openGauss </a:t>
            </a:r>
            <a:r>
              <a:rPr lang="zh-CN" altLang="en-US" sz="2700" dirty="0">
                <a:sym typeface="Huawei Sans" panose="020C0503030203020204" pitchFamily="34" charset="0"/>
              </a:rPr>
              <a:t>竞争力总览</a:t>
            </a:r>
            <a:br>
              <a:rPr lang="zh-CN" altLang="en-US" dirty="0">
                <a:sym typeface="Huawei Sans" panose="020C0503030203020204" pitchFamily="34" charset="0"/>
              </a:rPr>
            </a:br>
            <a:endParaRPr lang="zh-CN" altLang="en-US" dirty="0">
              <a:sym typeface="Huawei Sans" panose="020C0503030203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4243636" y="-891193"/>
            <a:ext cx="184731" cy="425758"/>
          </a:xfrm>
          <a:prstGeom prst="rect">
            <a:avLst/>
          </a:prstGeom>
          <a:noFill/>
        </p:spPr>
        <p:txBody>
          <a:bodyPr wrap="none" rtlCol="0">
            <a:spAutoFit/>
          </a:bodyPr>
          <a:lstStyle/>
          <a:p>
            <a:pPr defTabSz="685800" fontAlgn="auto">
              <a:lnSpc>
                <a:spcPts val="2580"/>
              </a:lnSpc>
              <a:spcBef>
                <a:spcPts val="0"/>
              </a:spcBef>
              <a:spcAft>
                <a:spcPts val="0"/>
              </a:spcAft>
              <a:defRPr/>
            </a:pPr>
            <a:endParaRPr kumimoji="0" lang="en-US" sz="24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标题 4"/>
          <p:cNvSpPr>
            <a:spLocks noGrp="1"/>
          </p:cNvSpPr>
          <p:nvPr>
            <p:ph type="title"/>
          </p:nvPr>
        </p:nvSpPr>
        <p:spPr/>
        <p:txBody>
          <a:bodyPr>
            <a:noAutofit/>
          </a:bodyPr>
          <a:lstStyle/>
          <a:p>
            <a:r>
              <a:rPr lang="zh-CN" altLang="en-US" dirty="0">
                <a:sym typeface="Huawei Sans" panose="020C0503030203020204" pitchFamily="34" charset="0"/>
              </a:rPr>
              <a:t>云化数据库是大势所趋 </a:t>
            </a:r>
            <a:r>
              <a:rPr lang="en-US" altLang="zh-CN" dirty="0">
                <a:sym typeface="Huawei Sans" panose="020C0503030203020204" pitchFamily="34" charset="0"/>
              </a:rPr>
              <a:t>(1)</a:t>
            </a:r>
            <a:br>
              <a:rPr lang="zh-CN" altLang="en-US" dirty="0">
                <a:sym typeface="Huawei Sans" panose="020C0503030203020204" pitchFamily="34" charset="0"/>
              </a:rPr>
            </a:br>
            <a:endParaRPr lang="zh-CN" altLang="en-US" dirty="0">
              <a:sym typeface="Huawei Sans" panose="020C0503030203020204" pitchFamily="34" charset="0"/>
            </a:endParaRPr>
          </a:p>
        </p:txBody>
      </p:sp>
      <p:graphicFrame>
        <p:nvGraphicFramePr>
          <p:cNvPr id="152" name="图表 151"/>
          <p:cNvGraphicFramePr/>
          <p:nvPr/>
        </p:nvGraphicFramePr>
        <p:xfrm>
          <a:off x="2208035" y="2233846"/>
          <a:ext cx="4228688" cy="2797847"/>
        </p:xfrm>
        <a:graphic>
          <a:graphicData uri="http://schemas.openxmlformats.org/drawingml/2006/chart">
            <c:chart xmlns:c="http://schemas.openxmlformats.org/drawingml/2006/chart" xmlns:r="http://schemas.openxmlformats.org/officeDocument/2006/relationships" r:id="rId1"/>
          </a:graphicData>
        </a:graphic>
      </p:graphicFrame>
      <p:sp>
        <p:nvSpPr>
          <p:cNvPr id="154" name="文本框 153"/>
          <p:cNvSpPr txBox="1"/>
          <p:nvPr/>
        </p:nvSpPr>
        <p:spPr>
          <a:xfrm>
            <a:off x="3416366" y="1967026"/>
            <a:ext cx="2311851" cy="253787"/>
          </a:xfrm>
          <a:prstGeom prst="rect">
            <a:avLst/>
          </a:prstGeom>
          <a:noFill/>
        </p:spPr>
        <p:txBody>
          <a:bodyPr wrap="non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defTabSz="685800" fontAlgn="auto">
              <a:spcBef>
                <a:spcPts val="0"/>
              </a:spcBef>
              <a:spcAft>
                <a:spcPts val="0"/>
              </a:spcAft>
              <a:defRPr/>
            </a:pPr>
            <a:r>
              <a:rPr kumimoji="0" lang="en-US" altLang="zh-CN"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2014</a:t>
            </a:r>
            <a:r>
              <a:rPr kumimoji="0" lang="zh-CN" altLang="en-US"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年</a:t>
            </a:r>
            <a:r>
              <a:rPr kumimoji="0" lang="en-US" altLang="zh-CN"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-2018</a:t>
            </a:r>
            <a:r>
              <a:rPr kumimoji="0" lang="zh-CN" altLang="en-US"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年数据库市场份额变化</a:t>
            </a:r>
            <a:endParaRPr kumimoji="0" lang="zh-CN" altLang="en-US"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8" name="矩形 157"/>
          <p:cNvSpPr/>
          <p:nvPr/>
        </p:nvSpPr>
        <p:spPr>
          <a:xfrm>
            <a:off x="1812472" y="5073028"/>
            <a:ext cx="4948493" cy="415498"/>
          </a:xfrm>
          <a:prstGeom prst="rect">
            <a:avLst/>
          </a:prstGeom>
        </p:spPr>
        <p:txBody>
          <a:bodyPr wrap="square">
            <a:spAutoFit/>
          </a:bodyPr>
          <a:lstStyle/>
          <a:p>
            <a:pPr defTabSz="685800" fontAlgn="auto">
              <a:spcBef>
                <a:spcPts val="0"/>
              </a:spcBef>
              <a:spcAft>
                <a:spcPts val="0"/>
              </a:spcAft>
              <a:defRPr/>
            </a:pPr>
            <a:r>
              <a:rPr kumimoji="0" lang="zh-CN" altLang="en-US" sz="105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传统线下数据库市场（以</a:t>
            </a:r>
            <a:r>
              <a:rPr kumimoji="0" lang="en-US" altLang="zh-CN" sz="105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IBM+Oracle</a:t>
            </a:r>
            <a:r>
              <a:rPr kumimoji="0" lang="zh-CN" altLang="en-US" sz="105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为代表）占比持续下滑；</a:t>
            </a:r>
            <a:endParaRPr kumimoji="0" lang="en-US" altLang="zh-CN" sz="105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a:p>
            <a:pPr defTabSz="685800" fontAlgn="auto">
              <a:spcBef>
                <a:spcPts val="0"/>
              </a:spcBef>
              <a:spcAft>
                <a:spcPts val="0"/>
              </a:spcAft>
              <a:defRPr/>
            </a:pPr>
            <a:r>
              <a:rPr kumimoji="0" lang="en-US" altLang="zh-CN" sz="105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2024</a:t>
            </a:r>
            <a:r>
              <a:rPr kumimoji="0" lang="zh-CN" altLang="en-US" sz="105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年，数据库市场份额会</a:t>
            </a:r>
            <a:r>
              <a:rPr kumimoji="0" lang="zh-CN" altLang="en-US"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达到</a:t>
            </a:r>
            <a:r>
              <a:rPr kumimoji="0" lang="en-US" altLang="zh-CN" sz="105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$650</a:t>
            </a:r>
            <a:r>
              <a:rPr kumimoji="0" lang="zh-CN" altLang="en-US"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亿</a:t>
            </a:r>
            <a:r>
              <a:rPr kumimoji="0" lang="zh-CN" altLang="en-US" sz="105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a:t>
            </a:r>
            <a:r>
              <a:rPr kumimoji="0" lang="zh-CN" altLang="en-US"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全球</a:t>
            </a:r>
            <a:r>
              <a:rPr kumimoji="0" lang="en-US" altLang="zh-CN"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75%</a:t>
            </a:r>
            <a:r>
              <a:rPr kumimoji="0" lang="zh-CN" altLang="en-US"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数据库以云服务的方式存在</a:t>
            </a:r>
            <a:endParaRPr kumimoji="0" lang="zh-CN" altLang="en-US"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9" name="右大括号 158"/>
          <p:cNvSpPr/>
          <p:nvPr/>
        </p:nvSpPr>
        <p:spPr>
          <a:xfrm>
            <a:off x="4121215" y="3039203"/>
            <a:ext cx="107970" cy="656393"/>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defTabSz="685800" fontAlgn="auto">
              <a:spcBef>
                <a:spcPts val="0"/>
              </a:spcBef>
              <a:spcAft>
                <a:spcPts val="0"/>
              </a:spcAft>
              <a:defRPr/>
            </a:pPr>
            <a:endParaRPr kumimoji="0" lang="zh-CN" altLang="en-US" sz="135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0" name="文本框 159"/>
          <p:cNvSpPr txBox="1"/>
          <p:nvPr/>
        </p:nvSpPr>
        <p:spPr>
          <a:xfrm>
            <a:off x="2758964" y="2011798"/>
            <a:ext cx="537327" cy="425758"/>
          </a:xfrm>
          <a:prstGeom prst="rect">
            <a:avLst/>
          </a:prstGeom>
          <a:noFill/>
        </p:spPr>
        <p:txBody>
          <a:bodyPr wrap="none" rtlCol="0">
            <a:spAutoFit/>
          </a:bodyPr>
          <a:lstStyle/>
          <a:p>
            <a:pPr defTabSz="685800" fontAlgn="auto">
              <a:lnSpc>
                <a:spcPts val="2580"/>
              </a:lnSpc>
              <a:spcBef>
                <a:spcPts val="0"/>
              </a:spcBef>
              <a:spcAft>
                <a:spcPts val="0"/>
              </a:spcAft>
              <a:defRPr/>
            </a:pPr>
            <a:r>
              <a:rPr kumimoji="0" lang="en-US" altLang="zh-CN" sz="9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$330</a:t>
            </a:r>
            <a:r>
              <a:rPr kumimoji="0" lang="zh-CN" altLang="en-US" sz="9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亿</a:t>
            </a:r>
            <a:endParaRPr kumimoji="0" lang="zh-CN" altLang="en-US" sz="9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1" name="文本框 160"/>
          <p:cNvSpPr txBox="1"/>
          <p:nvPr/>
        </p:nvSpPr>
        <p:spPr>
          <a:xfrm>
            <a:off x="5727634" y="1994455"/>
            <a:ext cx="561372" cy="425758"/>
          </a:xfrm>
          <a:prstGeom prst="rect">
            <a:avLst/>
          </a:prstGeom>
          <a:noFill/>
        </p:spPr>
        <p:txBody>
          <a:bodyPr wrap="none" rtlCol="0">
            <a:spAutoFit/>
          </a:bodyPr>
          <a:lstStyle/>
          <a:p>
            <a:pPr defTabSz="685800" fontAlgn="auto">
              <a:lnSpc>
                <a:spcPts val="2580"/>
              </a:lnSpc>
              <a:spcBef>
                <a:spcPts val="0"/>
              </a:spcBef>
              <a:spcAft>
                <a:spcPts val="0"/>
              </a:spcAft>
              <a:defRPr/>
            </a:pPr>
            <a:r>
              <a:rPr kumimoji="0" lang="en-US" altLang="zh-CN" sz="9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$400</a:t>
            </a:r>
            <a:r>
              <a:rPr kumimoji="0" lang="zh-CN" altLang="en-US" sz="9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亿</a:t>
            </a:r>
            <a:endParaRPr kumimoji="0" lang="zh-CN" altLang="en-US" sz="9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3" name="Rectangle 1"/>
          <p:cNvSpPr>
            <a:spLocks noChangeArrowheads="1"/>
          </p:cNvSpPr>
          <p:nvPr/>
        </p:nvSpPr>
        <p:spPr bwMode="auto">
          <a:xfrm>
            <a:off x="6633601" y="4349565"/>
            <a:ext cx="1822268" cy="900220"/>
          </a:xfrm>
          <a:prstGeom prst="rect">
            <a:avLst/>
          </a:prstGeom>
          <a:noFill/>
          <a:ln w="9525">
            <a:solidFill>
              <a:srgbClr val="C7000B"/>
            </a:solidFill>
            <a:prstDash val="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53" tIns="34277" rIns="68553" bIns="34277" numCol="1" anchor="ctr" anchorCtr="0" compatLnSpc="1">
            <a:spAutoFit/>
          </a:bodyPr>
          <a:lstStyle/>
          <a:p>
            <a:pPr defTabSz="685800" eaLnBrk="0" hangingPunct="0">
              <a:defRPr/>
            </a:pPr>
            <a:r>
              <a:rPr kumimoji="0" lang="zh-CN" altLang="zh-CN" sz="9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国际权威研究机构Gartner</a:t>
            </a:r>
            <a:r>
              <a:rPr kumimoji="0" lang="en-US" altLang="zh-CN" sz="9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2019</a:t>
            </a:r>
            <a:r>
              <a:rPr kumimoji="0" lang="zh-CN" altLang="en-US" sz="9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年</a:t>
            </a:r>
            <a:r>
              <a:rPr kumimoji="0" lang="en-US" altLang="zh-CN" sz="9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5</a:t>
            </a:r>
            <a:r>
              <a:rPr kumimoji="0" lang="zh-CN" altLang="en-US" sz="9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月</a:t>
            </a:r>
            <a:r>
              <a:rPr kumimoji="0" lang="zh-CN" altLang="zh-CN" sz="9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发布 《The Future of the DatabaseManagemystem (DBMS) Market Is Clent Soud》报告，鲜明指出：数据库的未来是上云</a:t>
            </a:r>
            <a:endParaRPr kumimoji="0" lang="zh-CN" altLang="zh-CN" sz="21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4" name="矩形 163"/>
          <p:cNvSpPr/>
          <p:nvPr/>
        </p:nvSpPr>
        <p:spPr>
          <a:xfrm>
            <a:off x="1565294" y="1669358"/>
            <a:ext cx="6405044" cy="300082"/>
          </a:xfrm>
          <a:prstGeom prst="rect">
            <a:avLst/>
          </a:prstGeom>
        </p:spPr>
        <p:txBody>
          <a:bodyPr wrap="square">
            <a:spAutoFit/>
          </a:bodyPr>
          <a:lstStyle/>
          <a:p>
            <a:pPr defTabSz="685800" fontAlgn="auto">
              <a:spcBef>
                <a:spcPts val="0"/>
              </a:spcBef>
              <a:spcAft>
                <a:spcPts val="0"/>
              </a:spcAft>
              <a:defRPr/>
            </a:pPr>
            <a:r>
              <a:rPr kumimoji="0" lang="zh-CN" altLang="en-US" sz="135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数据库技术革新正在打破现有秩序，</a:t>
            </a:r>
            <a:r>
              <a:rPr kumimoji="0" lang="zh-CN" altLang="en-US" sz="13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云化，分布式，多模处理</a:t>
            </a:r>
            <a:r>
              <a:rPr kumimoji="0" lang="zh-CN" altLang="en-US" sz="135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是未来主要趋势</a:t>
            </a:r>
            <a:endParaRPr kumimoji="0" lang="zh-CN" altLang="en-US" sz="135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文本框 18"/>
          <p:cNvSpPr txBox="1"/>
          <p:nvPr/>
        </p:nvSpPr>
        <p:spPr>
          <a:xfrm>
            <a:off x="1621392" y="1967025"/>
            <a:ext cx="1029449" cy="230832"/>
          </a:xfrm>
          <a:prstGeom prst="rect">
            <a:avLst/>
          </a:prstGeom>
          <a:noFill/>
        </p:spPr>
        <p:txBody>
          <a:bodyPr wrap="none" rtlCol="0">
            <a:spAutoFit/>
          </a:bodyPr>
          <a:lstStyle/>
          <a:p>
            <a:pPr defTabSz="685800" fontAlgn="auto">
              <a:spcBef>
                <a:spcPts val="0"/>
              </a:spcBef>
              <a:spcAft>
                <a:spcPts val="0"/>
              </a:spcAft>
              <a:defRPr/>
            </a:pPr>
            <a:r>
              <a:rPr kumimoji="0" lang="en-US" altLang="zh-CN" sz="900" b="1" i="1" dirty="0">
                <a:solidFill>
                  <a:srgbClr val="666666">
                    <a:lumMod val="65000"/>
                  </a:srgbClr>
                </a:solidFill>
                <a:latin typeface="Huawei Sans" panose="020C0503030203020204" pitchFamily="34" charset="0"/>
                <a:ea typeface="方正兰亭黑简体" panose="02000000000000000000" pitchFamily="2" charset="-122"/>
                <a:sym typeface="Huawei Sans" panose="020C0503030203020204" pitchFamily="34" charset="0"/>
              </a:rPr>
              <a:t>Source</a:t>
            </a:r>
            <a:r>
              <a:rPr kumimoji="0" lang="zh-CN" altLang="en-US" sz="900" b="1" i="1" dirty="0">
                <a:solidFill>
                  <a:srgbClr val="666666">
                    <a:lumMod val="65000"/>
                  </a:srgbClr>
                </a:solidFill>
                <a:latin typeface="Huawei Sans" panose="020C0503030203020204" pitchFamily="34" charset="0"/>
                <a:ea typeface="方正兰亭黑简体" panose="02000000000000000000" pitchFamily="2" charset="-122"/>
                <a:sym typeface="Huawei Sans" panose="020C0503030203020204" pitchFamily="34" charset="0"/>
              </a:rPr>
              <a:t>：</a:t>
            </a:r>
            <a:r>
              <a:rPr kumimoji="0" lang="en-US" altLang="zh-CN" sz="900" b="1" i="1" dirty="0">
                <a:solidFill>
                  <a:srgbClr val="666666">
                    <a:lumMod val="65000"/>
                  </a:srgbClr>
                </a:solidFill>
                <a:latin typeface="Huawei Sans" panose="020C0503030203020204" pitchFamily="34" charset="0"/>
                <a:ea typeface="方正兰亭黑简体" panose="02000000000000000000" pitchFamily="2" charset="-122"/>
                <a:sym typeface="Huawei Sans" panose="020C0503030203020204" pitchFamily="34" charset="0"/>
              </a:rPr>
              <a:t>Gartner</a:t>
            </a:r>
            <a:endParaRPr kumimoji="0" lang="zh-CN" altLang="en-US" sz="900" b="1" i="1" dirty="0">
              <a:solidFill>
                <a:srgbClr val="666666">
                  <a:lumMod val="65000"/>
                </a:srgb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4243636" y="-891193"/>
            <a:ext cx="184731" cy="425758"/>
          </a:xfrm>
          <a:prstGeom prst="rect">
            <a:avLst/>
          </a:prstGeom>
          <a:noFill/>
        </p:spPr>
        <p:txBody>
          <a:bodyPr wrap="none" rtlCol="0">
            <a:spAutoFit/>
          </a:bodyPr>
          <a:lstStyle/>
          <a:p>
            <a:pPr defTabSz="685800" fontAlgn="auto">
              <a:lnSpc>
                <a:spcPts val="2580"/>
              </a:lnSpc>
              <a:spcBef>
                <a:spcPts val="0"/>
              </a:spcBef>
              <a:spcAft>
                <a:spcPts val="0"/>
              </a:spcAft>
            </a:pPr>
            <a:endParaRPr kumimoji="0" lang="en-US" sz="24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标题 4"/>
          <p:cNvSpPr>
            <a:spLocks noGrp="1"/>
          </p:cNvSpPr>
          <p:nvPr>
            <p:ph type="title"/>
          </p:nvPr>
        </p:nvSpPr>
        <p:spPr/>
        <p:txBody>
          <a:bodyPr>
            <a:normAutofit fontScale="90000"/>
          </a:bodyPr>
          <a:lstStyle/>
          <a:p>
            <a:r>
              <a:rPr lang="zh-CN" altLang="en-US" sz="2700" dirty="0">
                <a:sym typeface="Huawei Sans" panose="020C0503030203020204" pitchFamily="34" charset="0"/>
              </a:rPr>
              <a:t>云化数据库是大势所趋 </a:t>
            </a:r>
            <a:r>
              <a:rPr lang="en-US" altLang="zh-CN" sz="2700" dirty="0">
                <a:sym typeface="Huawei Sans" panose="020C0503030203020204" pitchFamily="34" charset="0"/>
              </a:rPr>
              <a:t>(2)</a:t>
            </a:r>
            <a:br>
              <a:rPr lang="zh-CN" altLang="en-US" dirty="0">
                <a:sym typeface="Huawei Sans" panose="020C0503030203020204" pitchFamily="34" charset="0"/>
              </a:rPr>
            </a:br>
            <a:endParaRPr lang="zh-CN" altLang="en-US" dirty="0">
              <a:sym typeface="Huawei Sans" panose="020C0503030203020204" pitchFamily="34" charset="0"/>
            </a:endParaRPr>
          </a:p>
        </p:txBody>
      </p:sp>
      <p:graphicFrame>
        <p:nvGraphicFramePr>
          <p:cNvPr id="155" name="图表 154"/>
          <p:cNvGraphicFramePr/>
          <p:nvPr/>
        </p:nvGraphicFramePr>
        <p:xfrm>
          <a:off x="1665514" y="1887063"/>
          <a:ext cx="5129378" cy="3153567"/>
        </p:xfrm>
        <a:graphic>
          <a:graphicData uri="http://schemas.openxmlformats.org/drawingml/2006/chart">
            <c:chart xmlns:c="http://schemas.openxmlformats.org/drawingml/2006/chart" xmlns:r="http://schemas.openxmlformats.org/officeDocument/2006/relationships" r:id="rId1"/>
          </a:graphicData>
        </a:graphic>
      </p:graphicFrame>
      <p:sp>
        <p:nvSpPr>
          <p:cNvPr id="156" name="文本框 155"/>
          <p:cNvSpPr txBox="1"/>
          <p:nvPr/>
        </p:nvSpPr>
        <p:spPr>
          <a:xfrm>
            <a:off x="3043303" y="1671507"/>
            <a:ext cx="2858475" cy="253787"/>
          </a:xfrm>
          <a:prstGeom prst="rect">
            <a:avLst/>
          </a:prstGeom>
          <a:noFill/>
        </p:spPr>
        <p:txBody>
          <a:bodyPr wrap="none" rtlCol="0">
            <a:spAutoFit/>
          </a:bodyPr>
          <a:lstStyle/>
          <a:p>
            <a:pPr defTabSz="685800" fontAlgn="auto">
              <a:spcBef>
                <a:spcPts val="0"/>
              </a:spcBef>
              <a:spcAft>
                <a:spcPts val="0"/>
              </a:spcAft>
            </a:pPr>
            <a:r>
              <a:rPr kumimoji="0" lang="en-US" altLang="zh-CN"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2014</a:t>
            </a:r>
            <a:r>
              <a:rPr kumimoji="0" lang="zh-CN" altLang="en-US"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年</a:t>
            </a:r>
            <a:r>
              <a:rPr kumimoji="0" lang="en-US" altLang="zh-CN"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-2018</a:t>
            </a:r>
            <a:r>
              <a:rPr kumimoji="0" lang="zh-CN" altLang="en-US"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年数据库市场</a:t>
            </a:r>
            <a:r>
              <a:rPr kumimoji="0" lang="en-US" altLang="zh-CN"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Leader</a:t>
            </a:r>
            <a:r>
              <a:rPr kumimoji="0" lang="zh-CN" altLang="en-US"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收入及增速</a:t>
            </a:r>
            <a:endParaRPr kumimoji="0" lang="zh-CN" altLang="en-US"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7" name="文本框 156"/>
          <p:cNvSpPr txBox="1"/>
          <p:nvPr/>
        </p:nvSpPr>
        <p:spPr>
          <a:xfrm>
            <a:off x="2594917" y="2254145"/>
            <a:ext cx="1029449" cy="230832"/>
          </a:xfrm>
          <a:prstGeom prst="rect">
            <a:avLst/>
          </a:prstGeom>
          <a:noFill/>
        </p:spPr>
        <p:txBody>
          <a:bodyPr wrap="none" rtlCol="0">
            <a:spAutoFit/>
          </a:bodyPr>
          <a:lstStyle/>
          <a:p>
            <a:pPr defTabSz="685800" fontAlgn="auto">
              <a:spcBef>
                <a:spcPts val="0"/>
              </a:spcBef>
              <a:spcAft>
                <a:spcPts val="0"/>
              </a:spcAft>
            </a:pPr>
            <a:r>
              <a:rPr kumimoji="0" lang="en-US" altLang="zh-CN" sz="900" b="1" i="1" dirty="0">
                <a:solidFill>
                  <a:srgbClr val="666666">
                    <a:lumMod val="65000"/>
                  </a:srgbClr>
                </a:solidFill>
                <a:latin typeface="Huawei Sans" panose="020C0503030203020204" pitchFamily="34" charset="0"/>
                <a:ea typeface="方正兰亭黑简体" panose="02000000000000000000" pitchFamily="2" charset="-122"/>
                <a:sym typeface="Huawei Sans" panose="020C0503030203020204" pitchFamily="34" charset="0"/>
              </a:rPr>
              <a:t>Source</a:t>
            </a:r>
            <a:r>
              <a:rPr kumimoji="0" lang="zh-CN" altLang="en-US" sz="900" b="1" i="1" dirty="0">
                <a:solidFill>
                  <a:srgbClr val="666666">
                    <a:lumMod val="65000"/>
                  </a:srgbClr>
                </a:solidFill>
                <a:latin typeface="Huawei Sans" panose="020C0503030203020204" pitchFamily="34" charset="0"/>
                <a:ea typeface="方正兰亭黑简体" panose="02000000000000000000" pitchFamily="2" charset="-122"/>
                <a:sym typeface="Huawei Sans" panose="020C0503030203020204" pitchFamily="34" charset="0"/>
              </a:rPr>
              <a:t>：</a:t>
            </a:r>
            <a:r>
              <a:rPr kumimoji="0" lang="en-US" altLang="zh-CN" sz="900" b="1" i="1" dirty="0">
                <a:solidFill>
                  <a:srgbClr val="666666">
                    <a:lumMod val="65000"/>
                  </a:srgbClr>
                </a:solidFill>
                <a:latin typeface="Huawei Sans" panose="020C0503030203020204" pitchFamily="34" charset="0"/>
                <a:ea typeface="方正兰亭黑简体" panose="02000000000000000000" pitchFamily="2" charset="-122"/>
                <a:sym typeface="Huawei Sans" panose="020C0503030203020204" pitchFamily="34" charset="0"/>
              </a:rPr>
              <a:t>Gartner</a:t>
            </a:r>
            <a:endParaRPr kumimoji="0" lang="zh-CN" altLang="en-US" sz="900" b="1" i="1" dirty="0">
              <a:solidFill>
                <a:srgbClr val="666666">
                  <a:lumMod val="65000"/>
                </a:srgb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2" name="文本框 161"/>
          <p:cNvSpPr txBox="1"/>
          <p:nvPr/>
        </p:nvSpPr>
        <p:spPr>
          <a:xfrm>
            <a:off x="1927623" y="5112210"/>
            <a:ext cx="4689699" cy="415498"/>
          </a:xfrm>
          <a:prstGeom prst="rect">
            <a:avLst/>
          </a:prstGeom>
          <a:noFill/>
        </p:spPr>
        <p:txBody>
          <a:bodyPr wrap="square" rtlCol="0">
            <a:spAutoFit/>
          </a:bodyPr>
          <a:lstStyle/>
          <a:p>
            <a:pPr defTabSz="685800" fontAlgn="auto">
              <a:spcBef>
                <a:spcPts val="0"/>
              </a:spcBef>
              <a:spcAft>
                <a:spcPts val="0"/>
              </a:spcAft>
            </a:pPr>
            <a:r>
              <a:rPr kumimoji="0" lang="zh-CN" altLang="en-US" sz="105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传统厂商</a:t>
            </a:r>
            <a:r>
              <a:rPr kumimoji="0" lang="en-US" altLang="zh-CN" sz="105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Oracle</a:t>
            </a:r>
            <a:r>
              <a:rPr kumimoji="0" lang="zh-CN" altLang="en-US" sz="105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增长停滞</a:t>
            </a:r>
            <a:r>
              <a:rPr kumimoji="0" lang="en-US" altLang="zh-CN" sz="105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VS</a:t>
            </a:r>
            <a:r>
              <a:rPr kumimoji="0" lang="zh-CN" altLang="en-US"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云厂商</a:t>
            </a:r>
            <a:r>
              <a:rPr kumimoji="0" lang="en-US" altLang="zh-CN"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AWS</a:t>
            </a:r>
            <a:r>
              <a:rPr kumimoji="0" lang="zh-CN" altLang="en-US"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增速平均每年</a:t>
            </a:r>
            <a:r>
              <a:rPr kumimoji="0" lang="en-US" altLang="zh-CN"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90% </a:t>
            </a:r>
            <a:r>
              <a:rPr kumimoji="0" lang="zh-CN" altLang="en-US"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，营收增加</a:t>
            </a:r>
            <a:r>
              <a:rPr kumimoji="0" lang="en-US" altLang="zh-CN"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14</a:t>
            </a:r>
            <a:r>
              <a:rPr kumimoji="0" lang="zh-CN" altLang="en-US"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倍</a:t>
            </a:r>
            <a:endParaRPr kumimoji="0" lang="zh-CN" altLang="en-US"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defTabSz="685800" fontAlgn="auto">
              <a:spcBef>
                <a:spcPts val="0"/>
              </a:spcBef>
              <a:spcAft>
                <a:spcPts val="0"/>
              </a:spcAft>
            </a:pPr>
            <a:r>
              <a:rPr kumimoji="0" lang="en-US" altLang="zh-CN" sz="105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Gartner</a:t>
            </a:r>
            <a:r>
              <a:rPr kumimoji="0" lang="zh-CN" altLang="en-US" sz="105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预计</a:t>
            </a:r>
            <a:r>
              <a:rPr kumimoji="0" lang="en-US" altLang="zh-CN" sz="105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2024</a:t>
            </a:r>
            <a:r>
              <a:rPr kumimoji="0" lang="zh-CN" altLang="en-US" sz="105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年，</a:t>
            </a:r>
            <a:r>
              <a:rPr kumimoji="0" lang="en-US" altLang="zh-CN"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AWS</a:t>
            </a:r>
            <a:r>
              <a:rPr kumimoji="0" lang="zh-CN" altLang="en-US"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的云数据库会超过</a:t>
            </a:r>
            <a:r>
              <a:rPr kumimoji="0" lang="en-US" altLang="zh-CN"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Oracle</a:t>
            </a:r>
            <a:endParaRPr kumimoji="0" lang="en-US" altLang="zh-CN"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Rectangle 1"/>
          <p:cNvSpPr>
            <a:spLocks noChangeArrowheads="1"/>
          </p:cNvSpPr>
          <p:nvPr/>
        </p:nvSpPr>
        <p:spPr bwMode="auto">
          <a:xfrm>
            <a:off x="6637660" y="4415096"/>
            <a:ext cx="1822268" cy="900220"/>
          </a:xfrm>
          <a:prstGeom prst="rect">
            <a:avLst/>
          </a:prstGeom>
          <a:noFill/>
          <a:ln w="9525">
            <a:solidFill>
              <a:srgbClr val="C7000B"/>
            </a:solidFill>
            <a:prstDash val="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53" tIns="34277" rIns="68553" bIns="34277" numCol="1" anchor="ctr" anchorCtr="0" compatLnSpc="1">
            <a:spAutoFit/>
          </a:bodyPr>
          <a:lstStyle/>
          <a:p>
            <a:pPr defTabSz="685800" eaLnBrk="0" hangingPunct="0"/>
            <a:r>
              <a:rPr kumimoji="0" lang="zh-CN" altLang="zh-CN" sz="9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国际权威研究机构Gartner</a:t>
            </a:r>
            <a:r>
              <a:rPr kumimoji="0" lang="en-US" altLang="zh-CN" sz="9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2019</a:t>
            </a:r>
            <a:r>
              <a:rPr kumimoji="0" lang="zh-CN" altLang="en-US" sz="9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年</a:t>
            </a:r>
            <a:r>
              <a:rPr kumimoji="0" lang="en-US" altLang="zh-CN" sz="9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5</a:t>
            </a:r>
            <a:r>
              <a:rPr kumimoji="0" lang="zh-CN" altLang="en-US" sz="9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月</a:t>
            </a:r>
            <a:r>
              <a:rPr kumimoji="0" lang="zh-CN" altLang="zh-CN" sz="9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发布 《The Future of the DatabaseManagement System (DBMS) Market Is Cloud》报告，鲜明指出：数据库的未来是上云</a:t>
            </a:r>
            <a:endParaRPr kumimoji="0" lang="zh-CN" altLang="zh-CN" sz="21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4243636" y="-891193"/>
            <a:ext cx="184731" cy="425758"/>
          </a:xfrm>
          <a:prstGeom prst="rect">
            <a:avLst/>
          </a:prstGeom>
          <a:noFill/>
        </p:spPr>
        <p:txBody>
          <a:bodyPr wrap="none" rtlCol="0">
            <a:spAutoFit/>
          </a:bodyPr>
          <a:lstStyle/>
          <a:p>
            <a:pPr defTabSz="685800" fontAlgn="auto">
              <a:lnSpc>
                <a:spcPts val="2580"/>
              </a:lnSpc>
              <a:spcBef>
                <a:spcPts val="0"/>
              </a:spcBef>
              <a:spcAft>
                <a:spcPts val="0"/>
              </a:spcAft>
            </a:pPr>
            <a:endParaRPr kumimoji="0" lang="en-US" sz="24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p:txBody>
          <a:bodyPr>
            <a:noAutofit/>
          </a:bodyPr>
          <a:lstStyle/>
          <a:p>
            <a:r>
              <a:rPr lang="en-US" altLang="zh-CN" b="1" kern="0" dirty="0">
                <a:sym typeface="Huawei Sans" panose="020C0503030203020204" pitchFamily="34" charset="0"/>
              </a:rPr>
              <a:t>GaussDB</a:t>
            </a:r>
            <a:r>
              <a:rPr lang="zh-CN" altLang="en-US" b="1" kern="0" dirty="0">
                <a:sym typeface="Huawei Sans" panose="020C0503030203020204" pitchFamily="34" charset="0"/>
              </a:rPr>
              <a:t>数据库升级为全场景云服务</a:t>
            </a:r>
            <a:br>
              <a:rPr lang="zh-CN" altLang="en-US" b="1" kern="0" dirty="0">
                <a:sym typeface="Huawei Sans" panose="020C0503030203020204" pitchFamily="34" charset="0"/>
              </a:rPr>
            </a:br>
            <a:endParaRPr lang="zh-CN" altLang="en-US" dirty="0">
              <a:sym typeface="Huawei Sans" panose="020C0503030203020204" pitchFamily="34" charset="0"/>
            </a:endParaRPr>
          </a:p>
        </p:txBody>
      </p:sp>
      <p:pic>
        <p:nvPicPr>
          <p:cNvPr id="26" name="Picture 19" descr="\\Bchief-sever180\共享\华为\2016\6月\D-201606417-金融营销材料设计-刘泉\文件\link\组 26.png"/>
          <p:cNvPicPr>
            <a:picLocks noChangeAspect="1" noChangeArrowheads="1"/>
          </p:cNvPicPr>
          <p:nvPr/>
        </p:nvPicPr>
        <p:blipFill>
          <a:blip r:embed="rId1" cstate="print">
            <a:extLst>
              <a:ext uri="{BEBA8EAE-BF5A-486C-A8C5-ECC9F3942E4B}">
                <a14:imgProps xmlns:a14="http://schemas.microsoft.com/office/drawing/2010/main">
                  <a14:imgLayer r:embed="rId2">
                    <a14:imgEffect>
                      <a14:artisticChalkSketch/>
                    </a14:imgEffect>
                    <a14:imgEffect>
                      <a14:brightnessContrast contrast="-40000"/>
                    </a14:imgEffect>
                    <a14:imgEffect>
                      <a14:saturation sat="400000"/>
                    </a14:imgEffect>
                  </a14:imgLayer>
                </a14:imgProps>
              </a:ext>
            </a:extLst>
          </a:blip>
          <a:stretch>
            <a:fillRect/>
          </a:stretch>
        </p:blipFill>
        <p:spPr bwMode="auto">
          <a:xfrm>
            <a:off x="3879178" y="3975700"/>
            <a:ext cx="4933824" cy="1003100"/>
          </a:xfrm>
          <a:prstGeom prst="rect">
            <a:avLst/>
          </a:prstGeom>
          <a:noFill/>
          <a:ln>
            <a:noFill/>
          </a:ln>
        </p:spPr>
      </p:pic>
      <p:grpSp>
        <p:nvGrpSpPr>
          <p:cNvPr id="27" name="组合 26"/>
          <p:cNvGrpSpPr/>
          <p:nvPr/>
        </p:nvGrpSpPr>
        <p:grpSpPr>
          <a:xfrm rot="10800000">
            <a:off x="6175450" y="5279109"/>
            <a:ext cx="485810" cy="101615"/>
            <a:chOff x="4609795" y="2404460"/>
            <a:chExt cx="1963650" cy="135540"/>
          </a:xfrm>
        </p:grpSpPr>
        <p:cxnSp>
          <p:nvCxnSpPr>
            <p:cNvPr id="28" name="直接连接符 27"/>
            <p:cNvCxnSpPr/>
            <p:nvPr/>
          </p:nvCxnSpPr>
          <p:spPr>
            <a:xfrm>
              <a:off x="4609795" y="2540000"/>
              <a:ext cx="196365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4609795" y="2404460"/>
              <a:ext cx="196365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4609795" y="2438345"/>
              <a:ext cx="1963650" cy="0"/>
            </a:xfrm>
            <a:prstGeom prst="line">
              <a:avLst/>
            </a:prstGeom>
            <a:ln w="3175">
              <a:solidFill>
                <a:schemeClr val="bg1">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4609795" y="2472230"/>
              <a:ext cx="1963650" cy="0"/>
            </a:xfrm>
            <a:prstGeom prst="line">
              <a:avLst/>
            </a:prstGeom>
            <a:ln w="3175">
              <a:solidFill>
                <a:schemeClr val="bg1">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4609795" y="2506115"/>
              <a:ext cx="1963650" cy="0"/>
            </a:xfrm>
            <a:prstGeom prst="line">
              <a:avLst/>
            </a:prstGeom>
            <a:ln w="3175">
              <a:solidFill>
                <a:schemeClr val="bg1">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33" name="组合 32"/>
          <p:cNvGrpSpPr/>
          <p:nvPr/>
        </p:nvGrpSpPr>
        <p:grpSpPr>
          <a:xfrm>
            <a:off x="4747854" y="4671075"/>
            <a:ext cx="1323321" cy="791913"/>
            <a:chOff x="8605694" y="5256615"/>
            <a:chExt cx="8215553" cy="4672038"/>
          </a:xfrm>
        </p:grpSpPr>
        <p:sp>
          <p:nvSpPr>
            <p:cNvPr id="34" name="Freeform 8"/>
            <p:cNvSpPr/>
            <p:nvPr/>
          </p:nvSpPr>
          <p:spPr>
            <a:xfrm>
              <a:off x="8605694" y="5256615"/>
              <a:ext cx="8088209" cy="4672038"/>
            </a:xfrm>
            <a:custGeom>
              <a:avLst/>
              <a:gdLst/>
              <a:ahLst/>
              <a:cxnLst>
                <a:cxn ang="0">
                  <a:pos x="wd2" y="hd2"/>
                </a:cxn>
                <a:cxn ang="5400000">
                  <a:pos x="wd2" y="hd2"/>
                </a:cxn>
                <a:cxn ang="10800000">
                  <a:pos x="wd2" y="hd2"/>
                </a:cxn>
                <a:cxn ang="16200000">
                  <a:pos x="wd2" y="hd2"/>
                </a:cxn>
              </a:cxnLst>
              <a:rect l="0" t="0" r="r" b="b"/>
              <a:pathLst>
                <a:path w="21600" h="21600" extrusionOk="0">
                  <a:moveTo>
                    <a:pt x="19347" y="12897"/>
                  </a:moveTo>
                  <a:lnTo>
                    <a:pt x="19319" y="12559"/>
                  </a:lnTo>
                  <a:lnTo>
                    <a:pt x="19276" y="12220"/>
                  </a:lnTo>
                  <a:lnTo>
                    <a:pt x="19227" y="11894"/>
                  </a:lnTo>
                  <a:lnTo>
                    <a:pt x="19115" y="11269"/>
                  </a:lnTo>
                  <a:lnTo>
                    <a:pt x="19045" y="10956"/>
                  </a:lnTo>
                  <a:lnTo>
                    <a:pt x="18968" y="10657"/>
                  </a:lnTo>
                  <a:lnTo>
                    <a:pt x="18883" y="10370"/>
                  </a:lnTo>
                  <a:lnTo>
                    <a:pt x="18792" y="10083"/>
                  </a:lnTo>
                  <a:lnTo>
                    <a:pt x="18694" y="9810"/>
                  </a:lnTo>
                  <a:lnTo>
                    <a:pt x="18483" y="9289"/>
                  </a:lnTo>
                  <a:lnTo>
                    <a:pt x="18371" y="9041"/>
                  </a:lnTo>
                  <a:lnTo>
                    <a:pt x="18245" y="8794"/>
                  </a:lnTo>
                  <a:lnTo>
                    <a:pt x="17992" y="8351"/>
                  </a:lnTo>
                  <a:lnTo>
                    <a:pt x="17851" y="8142"/>
                  </a:lnTo>
                  <a:lnTo>
                    <a:pt x="17571" y="7752"/>
                  </a:lnTo>
                  <a:lnTo>
                    <a:pt x="17262" y="7413"/>
                  </a:lnTo>
                  <a:lnTo>
                    <a:pt x="17107" y="7269"/>
                  </a:lnTo>
                  <a:lnTo>
                    <a:pt x="16939" y="7126"/>
                  </a:lnTo>
                  <a:lnTo>
                    <a:pt x="16777" y="6996"/>
                  </a:lnTo>
                  <a:lnTo>
                    <a:pt x="16609" y="6892"/>
                  </a:lnTo>
                  <a:lnTo>
                    <a:pt x="16433" y="6787"/>
                  </a:lnTo>
                  <a:lnTo>
                    <a:pt x="16258" y="6709"/>
                  </a:lnTo>
                  <a:lnTo>
                    <a:pt x="15893" y="6579"/>
                  </a:lnTo>
                  <a:lnTo>
                    <a:pt x="15710" y="6540"/>
                  </a:lnTo>
                  <a:lnTo>
                    <a:pt x="15331" y="6514"/>
                  </a:lnTo>
                  <a:lnTo>
                    <a:pt x="15100" y="6527"/>
                  </a:lnTo>
                  <a:lnTo>
                    <a:pt x="14868" y="6566"/>
                  </a:lnTo>
                  <a:lnTo>
                    <a:pt x="14784" y="6201"/>
                  </a:lnTo>
                  <a:lnTo>
                    <a:pt x="14685" y="5849"/>
                  </a:lnTo>
                  <a:lnTo>
                    <a:pt x="14587" y="5511"/>
                  </a:lnTo>
                  <a:lnTo>
                    <a:pt x="14482" y="5172"/>
                  </a:lnTo>
                  <a:lnTo>
                    <a:pt x="14370" y="4846"/>
                  </a:lnTo>
                  <a:lnTo>
                    <a:pt x="14250" y="4521"/>
                  </a:lnTo>
                  <a:lnTo>
                    <a:pt x="14124" y="4208"/>
                  </a:lnTo>
                  <a:lnTo>
                    <a:pt x="13998" y="3908"/>
                  </a:lnTo>
                  <a:lnTo>
                    <a:pt x="13857" y="3609"/>
                  </a:lnTo>
                  <a:lnTo>
                    <a:pt x="13717" y="3335"/>
                  </a:lnTo>
                  <a:lnTo>
                    <a:pt x="13569" y="3062"/>
                  </a:lnTo>
                  <a:lnTo>
                    <a:pt x="13415" y="2788"/>
                  </a:lnTo>
                  <a:lnTo>
                    <a:pt x="13260" y="2540"/>
                  </a:lnTo>
                  <a:lnTo>
                    <a:pt x="13099" y="2293"/>
                  </a:lnTo>
                  <a:lnTo>
                    <a:pt x="12931" y="2058"/>
                  </a:lnTo>
                  <a:lnTo>
                    <a:pt x="12762" y="1837"/>
                  </a:lnTo>
                  <a:lnTo>
                    <a:pt x="12587" y="1615"/>
                  </a:lnTo>
                  <a:lnTo>
                    <a:pt x="12404" y="1420"/>
                  </a:lnTo>
                  <a:lnTo>
                    <a:pt x="12222" y="1238"/>
                  </a:lnTo>
                  <a:lnTo>
                    <a:pt x="12032" y="1055"/>
                  </a:lnTo>
                  <a:lnTo>
                    <a:pt x="11639" y="743"/>
                  </a:lnTo>
                  <a:lnTo>
                    <a:pt x="11442" y="599"/>
                  </a:lnTo>
                  <a:lnTo>
                    <a:pt x="11035" y="365"/>
                  </a:lnTo>
                  <a:lnTo>
                    <a:pt x="10825" y="274"/>
                  </a:lnTo>
                  <a:lnTo>
                    <a:pt x="10614" y="195"/>
                  </a:lnTo>
                  <a:lnTo>
                    <a:pt x="10396" y="117"/>
                  </a:lnTo>
                  <a:lnTo>
                    <a:pt x="10179" y="65"/>
                  </a:lnTo>
                  <a:lnTo>
                    <a:pt x="9961" y="26"/>
                  </a:lnTo>
                  <a:lnTo>
                    <a:pt x="9736" y="0"/>
                  </a:lnTo>
                  <a:lnTo>
                    <a:pt x="9512" y="0"/>
                  </a:lnTo>
                  <a:lnTo>
                    <a:pt x="9231" y="13"/>
                  </a:lnTo>
                  <a:lnTo>
                    <a:pt x="8950" y="52"/>
                  </a:lnTo>
                  <a:lnTo>
                    <a:pt x="8677" y="104"/>
                  </a:lnTo>
                  <a:lnTo>
                    <a:pt x="8403" y="195"/>
                  </a:lnTo>
                  <a:lnTo>
                    <a:pt x="8136" y="300"/>
                  </a:lnTo>
                  <a:lnTo>
                    <a:pt x="7869" y="430"/>
                  </a:lnTo>
                  <a:lnTo>
                    <a:pt x="7609" y="586"/>
                  </a:lnTo>
                  <a:lnTo>
                    <a:pt x="7357" y="756"/>
                  </a:lnTo>
                  <a:lnTo>
                    <a:pt x="7111" y="951"/>
                  </a:lnTo>
                  <a:lnTo>
                    <a:pt x="6872" y="1172"/>
                  </a:lnTo>
                  <a:lnTo>
                    <a:pt x="6641" y="1407"/>
                  </a:lnTo>
                  <a:lnTo>
                    <a:pt x="6409" y="1668"/>
                  </a:lnTo>
                  <a:lnTo>
                    <a:pt x="6191" y="1928"/>
                  </a:lnTo>
                  <a:lnTo>
                    <a:pt x="5974" y="2228"/>
                  </a:lnTo>
                  <a:lnTo>
                    <a:pt x="5770" y="2527"/>
                  </a:lnTo>
                  <a:lnTo>
                    <a:pt x="5567" y="2853"/>
                  </a:lnTo>
                  <a:lnTo>
                    <a:pt x="5377" y="3192"/>
                  </a:lnTo>
                  <a:lnTo>
                    <a:pt x="5195" y="3557"/>
                  </a:lnTo>
                  <a:lnTo>
                    <a:pt x="5026" y="3921"/>
                  </a:lnTo>
                  <a:lnTo>
                    <a:pt x="4865" y="4312"/>
                  </a:lnTo>
                  <a:lnTo>
                    <a:pt x="4703" y="4716"/>
                  </a:lnTo>
                  <a:lnTo>
                    <a:pt x="4563" y="5120"/>
                  </a:lnTo>
                  <a:lnTo>
                    <a:pt x="4430" y="5550"/>
                  </a:lnTo>
                  <a:lnTo>
                    <a:pt x="4303" y="5993"/>
                  </a:lnTo>
                  <a:lnTo>
                    <a:pt x="4191" y="6436"/>
                  </a:lnTo>
                  <a:lnTo>
                    <a:pt x="4086" y="6892"/>
                  </a:lnTo>
                  <a:lnTo>
                    <a:pt x="3994" y="7374"/>
                  </a:lnTo>
                  <a:lnTo>
                    <a:pt x="3917" y="7843"/>
                  </a:lnTo>
                  <a:lnTo>
                    <a:pt x="3847" y="8338"/>
                  </a:lnTo>
                  <a:lnTo>
                    <a:pt x="3791" y="8833"/>
                  </a:lnTo>
                  <a:lnTo>
                    <a:pt x="3749" y="9341"/>
                  </a:lnTo>
                  <a:lnTo>
                    <a:pt x="3713" y="9862"/>
                  </a:lnTo>
                  <a:lnTo>
                    <a:pt x="3587" y="9823"/>
                  </a:lnTo>
                  <a:lnTo>
                    <a:pt x="3320" y="9771"/>
                  </a:lnTo>
                  <a:lnTo>
                    <a:pt x="3187" y="9771"/>
                  </a:lnTo>
                  <a:lnTo>
                    <a:pt x="3019" y="9784"/>
                  </a:lnTo>
                  <a:lnTo>
                    <a:pt x="2857" y="9797"/>
                  </a:lnTo>
                  <a:lnTo>
                    <a:pt x="2703" y="9836"/>
                  </a:lnTo>
                  <a:lnTo>
                    <a:pt x="2541" y="9888"/>
                  </a:lnTo>
                  <a:lnTo>
                    <a:pt x="2387" y="9953"/>
                  </a:lnTo>
                  <a:lnTo>
                    <a:pt x="2239" y="10031"/>
                  </a:lnTo>
                  <a:lnTo>
                    <a:pt x="1944" y="10240"/>
                  </a:lnTo>
                  <a:lnTo>
                    <a:pt x="1804" y="10357"/>
                  </a:lnTo>
                  <a:lnTo>
                    <a:pt x="1664" y="10487"/>
                  </a:lnTo>
                  <a:lnTo>
                    <a:pt x="1530" y="10631"/>
                  </a:lnTo>
                  <a:lnTo>
                    <a:pt x="1278" y="10943"/>
                  </a:lnTo>
                  <a:lnTo>
                    <a:pt x="1039" y="11308"/>
                  </a:lnTo>
                  <a:lnTo>
                    <a:pt x="934" y="11503"/>
                  </a:lnTo>
                  <a:lnTo>
                    <a:pt x="723" y="11920"/>
                  </a:lnTo>
                  <a:lnTo>
                    <a:pt x="632" y="12142"/>
                  </a:lnTo>
                  <a:lnTo>
                    <a:pt x="541" y="12376"/>
                  </a:lnTo>
                  <a:lnTo>
                    <a:pt x="456" y="12624"/>
                  </a:lnTo>
                  <a:lnTo>
                    <a:pt x="316" y="13119"/>
                  </a:lnTo>
                  <a:lnTo>
                    <a:pt x="246" y="13379"/>
                  </a:lnTo>
                  <a:lnTo>
                    <a:pt x="190" y="13653"/>
                  </a:lnTo>
                  <a:lnTo>
                    <a:pt x="140" y="13927"/>
                  </a:lnTo>
                  <a:lnTo>
                    <a:pt x="98" y="14213"/>
                  </a:lnTo>
                  <a:lnTo>
                    <a:pt x="63" y="14487"/>
                  </a:lnTo>
                  <a:lnTo>
                    <a:pt x="35" y="14786"/>
                  </a:lnTo>
                  <a:lnTo>
                    <a:pt x="14" y="15086"/>
                  </a:lnTo>
                  <a:lnTo>
                    <a:pt x="0" y="15386"/>
                  </a:lnTo>
                  <a:lnTo>
                    <a:pt x="0" y="15985"/>
                  </a:lnTo>
                  <a:lnTo>
                    <a:pt x="14" y="16285"/>
                  </a:lnTo>
                  <a:lnTo>
                    <a:pt x="35" y="16584"/>
                  </a:lnTo>
                  <a:lnTo>
                    <a:pt x="63" y="16871"/>
                  </a:lnTo>
                  <a:lnTo>
                    <a:pt x="98" y="17158"/>
                  </a:lnTo>
                  <a:lnTo>
                    <a:pt x="140" y="17444"/>
                  </a:lnTo>
                  <a:lnTo>
                    <a:pt x="190" y="17718"/>
                  </a:lnTo>
                  <a:lnTo>
                    <a:pt x="246" y="17991"/>
                  </a:lnTo>
                  <a:lnTo>
                    <a:pt x="316" y="18252"/>
                  </a:lnTo>
                  <a:lnTo>
                    <a:pt x="456" y="18747"/>
                  </a:lnTo>
                  <a:lnTo>
                    <a:pt x="541" y="18994"/>
                  </a:lnTo>
                  <a:lnTo>
                    <a:pt x="632" y="19229"/>
                  </a:lnTo>
                  <a:lnTo>
                    <a:pt x="723" y="19450"/>
                  </a:lnTo>
                  <a:lnTo>
                    <a:pt x="934" y="19867"/>
                  </a:lnTo>
                  <a:lnTo>
                    <a:pt x="1039" y="20063"/>
                  </a:lnTo>
                  <a:lnTo>
                    <a:pt x="1278" y="20428"/>
                  </a:lnTo>
                  <a:lnTo>
                    <a:pt x="1530" y="20740"/>
                  </a:lnTo>
                  <a:lnTo>
                    <a:pt x="1664" y="20883"/>
                  </a:lnTo>
                  <a:lnTo>
                    <a:pt x="1804" y="21014"/>
                  </a:lnTo>
                  <a:lnTo>
                    <a:pt x="1944" y="21131"/>
                  </a:lnTo>
                  <a:lnTo>
                    <a:pt x="2239" y="21339"/>
                  </a:lnTo>
                  <a:lnTo>
                    <a:pt x="2387" y="21418"/>
                  </a:lnTo>
                  <a:lnTo>
                    <a:pt x="2541" y="21483"/>
                  </a:lnTo>
                  <a:lnTo>
                    <a:pt x="2703" y="21535"/>
                  </a:lnTo>
                  <a:lnTo>
                    <a:pt x="2857" y="21574"/>
                  </a:lnTo>
                  <a:lnTo>
                    <a:pt x="3019" y="21587"/>
                  </a:lnTo>
                  <a:lnTo>
                    <a:pt x="3187" y="21600"/>
                  </a:lnTo>
                  <a:lnTo>
                    <a:pt x="19375" y="21600"/>
                  </a:lnTo>
                  <a:lnTo>
                    <a:pt x="19613" y="21548"/>
                  </a:lnTo>
                  <a:lnTo>
                    <a:pt x="19726" y="21509"/>
                  </a:lnTo>
                  <a:lnTo>
                    <a:pt x="19950" y="21405"/>
                  </a:lnTo>
                  <a:lnTo>
                    <a:pt x="20063" y="21339"/>
                  </a:lnTo>
                  <a:lnTo>
                    <a:pt x="20168" y="21261"/>
                  </a:lnTo>
                  <a:lnTo>
                    <a:pt x="20273" y="21170"/>
                  </a:lnTo>
                  <a:lnTo>
                    <a:pt x="20372" y="21079"/>
                  </a:lnTo>
                  <a:lnTo>
                    <a:pt x="20470" y="20975"/>
                  </a:lnTo>
                  <a:lnTo>
                    <a:pt x="20568" y="20857"/>
                  </a:lnTo>
                  <a:lnTo>
                    <a:pt x="20659" y="20740"/>
                  </a:lnTo>
                  <a:lnTo>
                    <a:pt x="20744" y="20610"/>
                  </a:lnTo>
                  <a:lnTo>
                    <a:pt x="20912" y="20323"/>
                  </a:lnTo>
                  <a:lnTo>
                    <a:pt x="21066" y="20011"/>
                  </a:lnTo>
                  <a:lnTo>
                    <a:pt x="21137" y="19854"/>
                  </a:lnTo>
                  <a:lnTo>
                    <a:pt x="21200" y="19685"/>
                  </a:lnTo>
                  <a:lnTo>
                    <a:pt x="21263" y="19503"/>
                  </a:lnTo>
                  <a:lnTo>
                    <a:pt x="21319" y="19320"/>
                  </a:lnTo>
                  <a:lnTo>
                    <a:pt x="21368" y="19138"/>
                  </a:lnTo>
                  <a:lnTo>
                    <a:pt x="21417" y="18942"/>
                  </a:lnTo>
                  <a:lnTo>
                    <a:pt x="21460" y="18747"/>
                  </a:lnTo>
                  <a:lnTo>
                    <a:pt x="21530" y="18330"/>
                  </a:lnTo>
                  <a:lnTo>
                    <a:pt x="21551" y="18122"/>
                  </a:lnTo>
                  <a:lnTo>
                    <a:pt x="21572" y="17900"/>
                  </a:lnTo>
                  <a:lnTo>
                    <a:pt x="21586" y="17692"/>
                  </a:lnTo>
                  <a:lnTo>
                    <a:pt x="21600" y="17470"/>
                  </a:lnTo>
                  <a:lnTo>
                    <a:pt x="21600" y="17027"/>
                  </a:lnTo>
                  <a:lnTo>
                    <a:pt x="21586" y="16806"/>
                  </a:lnTo>
                  <a:lnTo>
                    <a:pt x="21558" y="16389"/>
                  </a:lnTo>
                  <a:lnTo>
                    <a:pt x="21502" y="15972"/>
                  </a:lnTo>
                  <a:lnTo>
                    <a:pt x="21467" y="15777"/>
                  </a:lnTo>
                  <a:lnTo>
                    <a:pt x="21425" y="15581"/>
                  </a:lnTo>
                  <a:lnTo>
                    <a:pt x="21382" y="15399"/>
                  </a:lnTo>
                  <a:lnTo>
                    <a:pt x="21333" y="15216"/>
                  </a:lnTo>
                  <a:lnTo>
                    <a:pt x="21277" y="15034"/>
                  </a:lnTo>
                  <a:lnTo>
                    <a:pt x="21221" y="14865"/>
                  </a:lnTo>
                  <a:lnTo>
                    <a:pt x="21158" y="14695"/>
                  </a:lnTo>
                  <a:lnTo>
                    <a:pt x="21088" y="14526"/>
                  </a:lnTo>
                  <a:lnTo>
                    <a:pt x="21017" y="14370"/>
                  </a:lnTo>
                  <a:lnTo>
                    <a:pt x="20947" y="14226"/>
                  </a:lnTo>
                  <a:lnTo>
                    <a:pt x="20870" y="14083"/>
                  </a:lnTo>
                  <a:lnTo>
                    <a:pt x="20786" y="13940"/>
                  </a:lnTo>
                  <a:lnTo>
                    <a:pt x="20701" y="13809"/>
                  </a:lnTo>
                  <a:lnTo>
                    <a:pt x="20519" y="13575"/>
                  </a:lnTo>
                  <a:lnTo>
                    <a:pt x="20428" y="13471"/>
                  </a:lnTo>
                  <a:lnTo>
                    <a:pt x="20231" y="13288"/>
                  </a:lnTo>
                  <a:lnTo>
                    <a:pt x="20126" y="13197"/>
                  </a:lnTo>
                  <a:lnTo>
                    <a:pt x="19915" y="13067"/>
                  </a:lnTo>
                  <a:lnTo>
                    <a:pt x="19803" y="13015"/>
                  </a:lnTo>
                  <a:lnTo>
                    <a:pt x="19698" y="12963"/>
                  </a:lnTo>
                  <a:lnTo>
                    <a:pt x="19578" y="12937"/>
                  </a:lnTo>
                  <a:lnTo>
                    <a:pt x="19466" y="12910"/>
                  </a:lnTo>
                  <a:lnTo>
                    <a:pt x="19347" y="12897"/>
                  </a:lnTo>
                  <a:close/>
                </a:path>
              </a:pathLst>
            </a:custGeom>
            <a:gradFill flip="none" rotWithShape="1">
              <a:gsLst>
                <a:gs pos="0">
                  <a:srgbClr val="FFFFFF">
                    <a:alpha val="0"/>
                  </a:srgbClr>
                </a:gs>
                <a:gs pos="100000">
                  <a:srgbClr val="FFFFFF">
                    <a:alpha val="19587"/>
                  </a:srgbClr>
                </a:gs>
              </a:gsLst>
              <a:lin ang="2700000" scaled="1"/>
              <a:tileRect/>
            </a:gradFill>
            <a:ln w="12700" cap="flat">
              <a:solidFill>
                <a:srgbClr val="C7000B"/>
              </a:solidFill>
              <a:miter lim="400000"/>
            </a:ln>
            <a:effectLst/>
          </p:spPr>
          <p:txBody>
            <a:bodyPr wrap="square" lIns="53557" tIns="53557" rIns="53557" bIns="53557" numCol="1" anchor="ctr">
              <a:noAutofit/>
            </a:bodyPr>
            <a:lstStyle/>
            <a:p>
              <a:pPr algn="ctr" defTabSz="615950" fontAlgn="auto" hangingPunct="0">
                <a:spcBef>
                  <a:spcPts val="0"/>
                </a:spcBef>
                <a:spcAft>
                  <a:spcPts val="0"/>
                </a:spcAft>
                <a:defRPr/>
              </a:pPr>
              <a:endParaRPr kumimoji="0" lang="en-US" sz="225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Freeform 8"/>
            <p:cNvSpPr/>
            <p:nvPr/>
          </p:nvSpPr>
          <p:spPr>
            <a:xfrm>
              <a:off x="8733038" y="5256615"/>
              <a:ext cx="8088209" cy="4672038"/>
            </a:xfrm>
            <a:custGeom>
              <a:avLst/>
              <a:gdLst/>
              <a:ahLst/>
              <a:cxnLst>
                <a:cxn ang="0">
                  <a:pos x="wd2" y="hd2"/>
                </a:cxn>
                <a:cxn ang="5400000">
                  <a:pos x="wd2" y="hd2"/>
                </a:cxn>
                <a:cxn ang="10800000">
                  <a:pos x="wd2" y="hd2"/>
                </a:cxn>
                <a:cxn ang="16200000">
                  <a:pos x="wd2" y="hd2"/>
                </a:cxn>
              </a:cxnLst>
              <a:rect l="0" t="0" r="r" b="b"/>
              <a:pathLst>
                <a:path w="21600" h="21600" extrusionOk="0">
                  <a:moveTo>
                    <a:pt x="19347" y="12897"/>
                  </a:moveTo>
                  <a:lnTo>
                    <a:pt x="19319" y="12559"/>
                  </a:lnTo>
                  <a:lnTo>
                    <a:pt x="19276" y="12220"/>
                  </a:lnTo>
                  <a:lnTo>
                    <a:pt x="19227" y="11894"/>
                  </a:lnTo>
                  <a:lnTo>
                    <a:pt x="19115" y="11269"/>
                  </a:lnTo>
                  <a:lnTo>
                    <a:pt x="19045" y="10956"/>
                  </a:lnTo>
                  <a:lnTo>
                    <a:pt x="18968" y="10657"/>
                  </a:lnTo>
                  <a:lnTo>
                    <a:pt x="18883" y="10370"/>
                  </a:lnTo>
                  <a:lnTo>
                    <a:pt x="18792" y="10083"/>
                  </a:lnTo>
                  <a:lnTo>
                    <a:pt x="18694" y="9810"/>
                  </a:lnTo>
                  <a:lnTo>
                    <a:pt x="18483" y="9289"/>
                  </a:lnTo>
                  <a:lnTo>
                    <a:pt x="18371" y="9041"/>
                  </a:lnTo>
                  <a:lnTo>
                    <a:pt x="18245" y="8794"/>
                  </a:lnTo>
                  <a:lnTo>
                    <a:pt x="17992" y="8351"/>
                  </a:lnTo>
                  <a:lnTo>
                    <a:pt x="17851" y="8142"/>
                  </a:lnTo>
                  <a:lnTo>
                    <a:pt x="17571" y="7752"/>
                  </a:lnTo>
                  <a:lnTo>
                    <a:pt x="17262" y="7413"/>
                  </a:lnTo>
                  <a:lnTo>
                    <a:pt x="17107" y="7269"/>
                  </a:lnTo>
                  <a:lnTo>
                    <a:pt x="16939" y="7126"/>
                  </a:lnTo>
                  <a:lnTo>
                    <a:pt x="16777" y="6996"/>
                  </a:lnTo>
                  <a:lnTo>
                    <a:pt x="16609" y="6892"/>
                  </a:lnTo>
                  <a:lnTo>
                    <a:pt x="16433" y="6787"/>
                  </a:lnTo>
                  <a:lnTo>
                    <a:pt x="16258" y="6709"/>
                  </a:lnTo>
                  <a:lnTo>
                    <a:pt x="15893" y="6579"/>
                  </a:lnTo>
                  <a:lnTo>
                    <a:pt x="15710" y="6540"/>
                  </a:lnTo>
                  <a:lnTo>
                    <a:pt x="15331" y="6514"/>
                  </a:lnTo>
                  <a:lnTo>
                    <a:pt x="15100" y="6527"/>
                  </a:lnTo>
                  <a:lnTo>
                    <a:pt x="14868" y="6566"/>
                  </a:lnTo>
                  <a:lnTo>
                    <a:pt x="14784" y="6201"/>
                  </a:lnTo>
                  <a:lnTo>
                    <a:pt x="14685" y="5849"/>
                  </a:lnTo>
                  <a:lnTo>
                    <a:pt x="14587" y="5511"/>
                  </a:lnTo>
                  <a:lnTo>
                    <a:pt x="14482" y="5172"/>
                  </a:lnTo>
                  <a:lnTo>
                    <a:pt x="14370" y="4846"/>
                  </a:lnTo>
                  <a:lnTo>
                    <a:pt x="14250" y="4521"/>
                  </a:lnTo>
                  <a:lnTo>
                    <a:pt x="14124" y="4208"/>
                  </a:lnTo>
                  <a:lnTo>
                    <a:pt x="13998" y="3908"/>
                  </a:lnTo>
                  <a:lnTo>
                    <a:pt x="13857" y="3609"/>
                  </a:lnTo>
                  <a:lnTo>
                    <a:pt x="13717" y="3335"/>
                  </a:lnTo>
                  <a:lnTo>
                    <a:pt x="13569" y="3062"/>
                  </a:lnTo>
                  <a:lnTo>
                    <a:pt x="13415" y="2788"/>
                  </a:lnTo>
                  <a:lnTo>
                    <a:pt x="13260" y="2540"/>
                  </a:lnTo>
                  <a:lnTo>
                    <a:pt x="13099" y="2293"/>
                  </a:lnTo>
                  <a:lnTo>
                    <a:pt x="12931" y="2058"/>
                  </a:lnTo>
                  <a:lnTo>
                    <a:pt x="12762" y="1837"/>
                  </a:lnTo>
                  <a:lnTo>
                    <a:pt x="12587" y="1615"/>
                  </a:lnTo>
                  <a:lnTo>
                    <a:pt x="12404" y="1420"/>
                  </a:lnTo>
                  <a:lnTo>
                    <a:pt x="12222" y="1238"/>
                  </a:lnTo>
                  <a:lnTo>
                    <a:pt x="12032" y="1055"/>
                  </a:lnTo>
                  <a:lnTo>
                    <a:pt x="11639" y="743"/>
                  </a:lnTo>
                  <a:lnTo>
                    <a:pt x="11442" y="599"/>
                  </a:lnTo>
                  <a:lnTo>
                    <a:pt x="11035" y="365"/>
                  </a:lnTo>
                  <a:lnTo>
                    <a:pt x="10825" y="274"/>
                  </a:lnTo>
                  <a:lnTo>
                    <a:pt x="10614" y="195"/>
                  </a:lnTo>
                  <a:lnTo>
                    <a:pt x="10396" y="117"/>
                  </a:lnTo>
                  <a:lnTo>
                    <a:pt x="10179" y="65"/>
                  </a:lnTo>
                  <a:lnTo>
                    <a:pt x="9961" y="26"/>
                  </a:lnTo>
                  <a:lnTo>
                    <a:pt x="9736" y="0"/>
                  </a:lnTo>
                  <a:lnTo>
                    <a:pt x="9512" y="0"/>
                  </a:lnTo>
                  <a:lnTo>
                    <a:pt x="9231" y="13"/>
                  </a:lnTo>
                  <a:lnTo>
                    <a:pt x="8950" y="52"/>
                  </a:lnTo>
                  <a:lnTo>
                    <a:pt x="8677" y="104"/>
                  </a:lnTo>
                  <a:lnTo>
                    <a:pt x="8403" y="195"/>
                  </a:lnTo>
                  <a:lnTo>
                    <a:pt x="8136" y="300"/>
                  </a:lnTo>
                  <a:lnTo>
                    <a:pt x="7869" y="430"/>
                  </a:lnTo>
                  <a:lnTo>
                    <a:pt x="7609" y="586"/>
                  </a:lnTo>
                  <a:lnTo>
                    <a:pt x="7357" y="756"/>
                  </a:lnTo>
                  <a:lnTo>
                    <a:pt x="7111" y="951"/>
                  </a:lnTo>
                  <a:lnTo>
                    <a:pt x="6872" y="1172"/>
                  </a:lnTo>
                  <a:lnTo>
                    <a:pt x="6641" y="1407"/>
                  </a:lnTo>
                  <a:lnTo>
                    <a:pt x="6409" y="1668"/>
                  </a:lnTo>
                  <a:lnTo>
                    <a:pt x="6191" y="1928"/>
                  </a:lnTo>
                  <a:lnTo>
                    <a:pt x="5974" y="2228"/>
                  </a:lnTo>
                  <a:lnTo>
                    <a:pt x="5770" y="2527"/>
                  </a:lnTo>
                  <a:lnTo>
                    <a:pt x="5567" y="2853"/>
                  </a:lnTo>
                  <a:lnTo>
                    <a:pt x="5377" y="3192"/>
                  </a:lnTo>
                  <a:lnTo>
                    <a:pt x="5195" y="3557"/>
                  </a:lnTo>
                  <a:lnTo>
                    <a:pt x="5026" y="3921"/>
                  </a:lnTo>
                  <a:lnTo>
                    <a:pt x="4865" y="4312"/>
                  </a:lnTo>
                  <a:lnTo>
                    <a:pt x="4703" y="4716"/>
                  </a:lnTo>
                  <a:lnTo>
                    <a:pt x="4563" y="5120"/>
                  </a:lnTo>
                  <a:lnTo>
                    <a:pt x="4430" y="5550"/>
                  </a:lnTo>
                  <a:lnTo>
                    <a:pt x="4303" y="5993"/>
                  </a:lnTo>
                  <a:lnTo>
                    <a:pt x="4191" y="6436"/>
                  </a:lnTo>
                  <a:lnTo>
                    <a:pt x="4086" y="6892"/>
                  </a:lnTo>
                  <a:lnTo>
                    <a:pt x="3994" y="7374"/>
                  </a:lnTo>
                  <a:lnTo>
                    <a:pt x="3917" y="7843"/>
                  </a:lnTo>
                  <a:lnTo>
                    <a:pt x="3847" y="8338"/>
                  </a:lnTo>
                  <a:lnTo>
                    <a:pt x="3791" y="8833"/>
                  </a:lnTo>
                  <a:lnTo>
                    <a:pt x="3749" y="9341"/>
                  </a:lnTo>
                  <a:lnTo>
                    <a:pt x="3713" y="9862"/>
                  </a:lnTo>
                  <a:lnTo>
                    <a:pt x="3587" y="9823"/>
                  </a:lnTo>
                  <a:lnTo>
                    <a:pt x="3320" y="9771"/>
                  </a:lnTo>
                  <a:lnTo>
                    <a:pt x="3187" y="9771"/>
                  </a:lnTo>
                  <a:lnTo>
                    <a:pt x="3019" y="9784"/>
                  </a:lnTo>
                  <a:lnTo>
                    <a:pt x="2857" y="9797"/>
                  </a:lnTo>
                  <a:lnTo>
                    <a:pt x="2703" y="9836"/>
                  </a:lnTo>
                  <a:lnTo>
                    <a:pt x="2541" y="9888"/>
                  </a:lnTo>
                  <a:lnTo>
                    <a:pt x="2387" y="9953"/>
                  </a:lnTo>
                  <a:lnTo>
                    <a:pt x="2239" y="10031"/>
                  </a:lnTo>
                  <a:lnTo>
                    <a:pt x="1944" y="10240"/>
                  </a:lnTo>
                  <a:lnTo>
                    <a:pt x="1804" y="10357"/>
                  </a:lnTo>
                  <a:lnTo>
                    <a:pt x="1664" y="10487"/>
                  </a:lnTo>
                  <a:lnTo>
                    <a:pt x="1530" y="10631"/>
                  </a:lnTo>
                  <a:lnTo>
                    <a:pt x="1278" y="10943"/>
                  </a:lnTo>
                  <a:lnTo>
                    <a:pt x="1039" y="11308"/>
                  </a:lnTo>
                  <a:lnTo>
                    <a:pt x="934" y="11503"/>
                  </a:lnTo>
                  <a:lnTo>
                    <a:pt x="723" y="11920"/>
                  </a:lnTo>
                  <a:lnTo>
                    <a:pt x="632" y="12142"/>
                  </a:lnTo>
                  <a:lnTo>
                    <a:pt x="541" y="12376"/>
                  </a:lnTo>
                  <a:lnTo>
                    <a:pt x="456" y="12624"/>
                  </a:lnTo>
                  <a:lnTo>
                    <a:pt x="316" y="13119"/>
                  </a:lnTo>
                  <a:lnTo>
                    <a:pt x="246" y="13379"/>
                  </a:lnTo>
                  <a:lnTo>
                    <a:pt x="190" y="13653"/>
                  </a:lnTo>
                  <a:lnTo>
                    <a:pt x="140" y="13927"/>
                  </a:lnTo>
                  <a:lnTo>
                    <a:pt x="98" y="14213"/>
                  </a:lnTo>
                  <a:lnTo>
                    <a:pt x="63" y="14487"/>
                  </a:lnTo>
                  <a:lnTo>
                    <a:pt x="35" y="14786"/>
                  </a:lnTo>
                  <a:lnTo>
                    <a:pt x="14" y="15086"/>
                  </a:lnTo>
                  <a:lnTo>
                    <a:pt x="0" y="15386"/>
                  </a:lnTo>
                  <a:lnTo>
                    <a:pt x="0" y="15985"/>
                  </a:lnTo>
                  <a:lnTo>
                    <a:pt x="14" y="16285"/>
                  </a:lnTo>
                  <a:lnTo>
                    <a:pt x="35" y="16584"/>
                  </a:lnTo>
                  <a:lnTo>
                    <a:pt x="63" y="16871"/>
                  </a:lnTo>
                  <a:lnTo>
                    <a:pt x="98" y="17158"/>
                  </a:lnTo>
                  <a:lnTo>
                    <a:pt x="140" y="17444"/>
                  </a:lnTo>
                  <a:lnTo>
                    <a:pt x="190" y="17718"/>
                  </a:lnTo>
                  <a:lnTo>
                    <a:pt x="246" y="17991"/>
                  </a:lnTo>
                  <a:lnTo>
                    <a:pt x="316" y="18252"/>
                  </a:lnTo>
                  <a:lnTo>
                    <a:pt x="456" y="18747"/>
                  </a:lnTo>
                  <a:lnTo>
                    <a:pt x="541" y="18994"/>
                  </a:lnTo>
                  <a:lnTo>
                    <a:pt x="632" y="19229"/>
                  </a:lnTo>
                  <a:lnTo>
                    <a:pt x="723" y="19450"/>
                  </a:lnTo>
                  <a:lnTo>
                    <a:pt x="934" y="19867"/>
                  </a:lnTo>
                  <a:lnTo>
                    <a:pt x="1039" y="20063"/>
                  </a:lnTo>
                  <a:lnTo>
                    <a:pt x="1278" y="20428"/>
                  </a:lnTo>
                  <a:lnTo>
                    <a:pt x="1530" y="20740"/>
                  </a:lnTo>
                  <a:lnTo>
                    <a:pt x="1664" y="20883"/>
                  </a:lnTo>
                  <a:lnTo>
                    <a:pt x="1804" y="21014"/>
                  </a:lnTo>
                  <a:lnTo>
                    <a:pt x="1944" y="21131"/>
                  </a:lnTo>
                  <a:lnTo>
                    <a:pt x="2239" y="21339"/>
                  </a:lnTo>
                  <a:lnTo>
                    <a:pt x="2387" y="21418"/>
                  </a:lnTo>
                  <a:lnTo>
                    <a:pt x="2541" y="21483"/>
                  </a:lnTo>
                  <a:lnTo>
                    <a:pt x="2703" y="21535"/>
                  </a:lnTo>
                  <a:lnTo>
                    <a:pt x="2857" y="21574"/>
                  </a:lnTo>
                  <a:lnTo>
                    <a:pt x="3019" y="21587"/>
                  </a:lnTo>
                  <a:lnTo>
                    <a:pt x="3187" y="21600"/>
                  </a:lnTo>
                  <a:lnTo>
                    <a:pt x="19375" y="21600"/>
                  </a:lnTo>
                  <a:lnTo>
                    <a:pt x="19613" y="21548"/>
                  </a:lnTo>
                  <a:lnTo>
                    <a:pt x="19726" y="21509"/>
                  </a:lnTo>
                  <a:lnTo>
                    <a:pt x="19950" y="21405"/>
                  </a:lnTo>
                  <a:lnTo>
                    <a:pt x="20063" y="21339"/>
                  </a:lnTo>
                  <a:lnTo>
                    <a:pt x="20168" y="21261"/>
                  </a:lnTo>
                  <a:lnTo>
                    <a:pt x="20273" y="21170"/>
                  </a:lnTo>
                  <a:lnTo>
                    <a:pt x="20372" y="21079"/>
                  </a:lnTo>
                  <a:lnTo>
                    <a:pt x="20470" y="20975"/>
                  </a:lnTo>
                  <a:lnTo>
                    <a:pt x="20568" y="20857"/>
                  </a:lnTo>
                  <a:lnTo>
                    <a:pt x="20659" y="20740"/>
                  </a:lnTo>
                  <a:lnTo>
                    <a:pt x="20744" y="20610"/>
                  </a:lnTo>
                  <a:lnTo>
                    <a:pt x="20912" y="20323"/>
                  </a:lnTo>
                  <a:lnTo>
                    <a:pt x="21066" y="20011"/>
                  </a:lnTo>
                  <a:lnTo>
                    <a:pt x="21137" y="19854"/>
                  </a:lnTo>
                  <a:lnTo>
                    <a:pt x="21200" y="19685"/>
                  </a:lnTo>
                  <a:lnTo>
                    <a:pt x="21263" y="19503"/>
                  </a:lnTo>
                  <a:lnTo>
                    <a:pt x="21319" y="19320"/>
                  </a:lnTo>
                  <a:lnTo>
                    <a:pt x="21368" y="19138"/>
                  </a:lnTo>
                  <a:lnTo>
                    <a:pt x="21417" y="18942"/>
                  </a:lnTo>
                  <a:lnTo>
                    <a:pt x="21460" y="18747"/>
                  </a:lnTo>
                  <a:lnTo>
                    <a:pt x="21530" y="18330"/>
                  </a:lnTo>
                  <a:lnTo>
                    <a:pt x="21551" y="18122"/>
                  </a:lnTo>
                  <a:lnTo>
                    <a:pt x="21572" y="17900"/>
                  </a:lnTo>
                  <a:lnTo>
                    <a:pt x="21586" y="17692"/>
                  </a:lnTo>
                  <a:lnTo>
                    <a:pt x="21600" y="17470"/>
                  </a:lnTo>
                  <a:lnTo>
                    <a:pt x="21600" y="17027"/>
                  </a:lnTo>
                  <a:lnTo>
                    <a:pt x="21586" y="16806"/>
                  </a:lnTo>
                  <a:lnTo>
                    <a:pt x="21558" y="16389"/>
                  </a:lnTo>
                  <a:lnTo>
                    <a:pt x="21502" y="15972"/>
                  </a:lnTo>
                  <a:lnTo>
                    <a:pt x="21467" y="15777"/>
                  </a:lnTo>
                  <a:lnTo>
                    <a:pt x="21425" y="15581"/>
                  </a:lnTo>
                  <a:lnTo>
                    <a:pt x="21382" y="15399"/>
                  </a:lnTo>
                  <a:lnTo>
                    <a:pt x="21333" y="15216"/>
                  </a:lnTo>
                  <a:lnTo>
                    <a:pt x="21277" y="15034"/>
                  </a:lnTo>
                  <a:lnTo>
                    <a:pt x="21221" y="14865"/>
                  </a:lnTo>
                  <a:lnTo>
                    <a:pt x="21158" y="14695"/>
                  </a:lnTo>
                  <a:lnTo>
                    <a:pt x="21088" y="14526"/>
                  </a:lnTo>
                  <a:lnTo>
                    <a:pt x="21017" y="14370"/>
                  </a:lnTo>
                  <a:lnTo>
                    <a:pt x="20947" y="14226"/>
                  </a:lnTo>
                  <a:lnTo>
                    <a:pt x="20870" y="14083"/>
                  </a:lnTo>
                  <a:lnTo>
                    <a:pt x="20786" y="13940"/>
                  </a:lnTo>
                  <a:lnTo>
                    <a:pt x="20701" y="13809"/>
                  </a:lnTo>
                  <a:lnTo>
                    <a:pt x="20519" y="13575"/>
                  </a:lnTo>
                  <a:lnTo>
                    <a:pt x="20428" y="13471"/>
                  </a:lnTo>
                  <a:lnTo>
                    <a:pt x="20231" y="13288"/>
                  </a:lnTo>
                  <a:lnTo>
                    <a:pt x="20126" y="13197"/>
                  </a:lnTo>
                  <a:lnTo>
                    <a:pt x="19915" y="13067"/>
                  </a:lnTo>
                  <a:lnTo>
                    <a:pt x="19803" y="13015"/>
                  </a:lnTo>
                  <a:lnTo>
                    <a:pt x="19698" y="12963"/>
                  </a:lnTo>
                  <a:lnTo>
                    <a:pt x="19578" y="12937"/>
                  </a:lnTo>
                  <a:lnTo>
                    <a:pt x="19466" y="12910"/>
                  </a:lnTo>
                  <a:lnTo>
                    <a:pt x="19347" y="12897"/>
                  </a:lnTo>
                  <a:close/>
                </a:path>
              </a:pathLst>
            </a:custGeom>
            <a:noFill/>
            <a:ln w="6350">
              <a:solidFill>
                <a:srgbClr val="C7000B"/>
              </a:solidFill>
              <a:miter lim="400000"/>
            </a:ln>
          </p:spPr>
          <p:txBody>
            <a:bodyPr rot="0" spcFirstLastPara="0" vertOverflow="overflow" horzOverflow="overflow" vert="horz" wrap="square" lIns="53557" tIns="53557" rIns="53557" bIns="53557" numCol="1" spcCol="0" rtlCol="0" fromWordArt="0" anchor="ctr" anchorCtr="0" forceAA="0" compatLnSpc="1">
              <a:noAutofit/>
            </a:bodyPr>
            <a:lstStyle/>
            <a:p>
              <a:pPr algn="ctr" defTabSz="615950" fontAlgn="auto" hangingPunct="0">
                <a:spcBef>
                  <a:spcPts val="0"/>
                </a:spcBef>
                <a:spcAft>
                  <a:spcPts val="0"/>
                </a:spcAft>
                <a:defRPr/>
              </a:pPr>
              <a:endParaRPr kumimoji="0" lang="en-US" sz="225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36" name="组合 35"/>
          <p:cNvGrpSpPr/>
          <p:nvPr/>
        </p:nvGrpSpPr>
        <p:grpSpPr>
          <a:xfrm>
            <a:off x="6787352" y="4677887"/>
            <a:ext cx="1323321" cy="791913"/>
            <a:chOff x="8605694" y="5256615"/>
            <a:chExt cx="8215553" cy="4672038"/>
          </a:xfrm>
        </p:grpSpPr>
        <p:sp>
          <p:nvSpPr>
            <p:cNvPr id="37" name="Freeform 8"/>
            <p:cNvSpPr/>
            <p:nvPr/>
          </p:nvSpPr>
          <p:spPr>
            <a:xfrm>
              <a:off x="8605694" y="5256615"/>
              <a:ext cx="8088209" cy="4672038"/>
            </a:xfrm>
            <a:custGeom>
              <a:avLst/>
              <a:gdLst/>
              <a:ahLst/>
              <a:cxnLst>
                <a:cxn ang="0">
                  <a:pos x="wd2" y="hd2"/>
                </a:cxn>
                <a:cxn ang="5400000">
                  <a:pos x="wd2" y="hd2"/>
                </a:cxn>
                <a:cxn ang="10800000">
                  <a:pos x="wd2" y="hd2"/>
                </a:cxn>
                <a:cxn ang="16200000">
                  <a:pos x="wd2" y="hd2"/>
                </a:cxn>
              </a:cxnLst>
              <a:rect l="0" t="0" r="r" b="b"/>
              <a:pathLst>
                <a:path w="21600" h="21600" extrusionOk="0">
                  <a:moveTo>
                    <a:pt x="19347" y="12897"/>
                  </a:moveTo>
                  <a:lnTo>
                    <a:pt x="19319" y="12559"/>
                  </a:lnTo>
                  <a:lnTo>
                    <a:pt x="19276" y="12220"/>
                  </a:lnTo>
                  <a:lnTo>
                    <a:pt x="19227" y="11894"/>
                  </a:lnTo>
                  <a:lnTo>
                    <a:pt x="19115" y="11269"/>
                  </a:lnTo>
                  <a:lnTo>
                    <a:pt x="19045" y="10956"/>
                  </a:lnTo>
                  <a:lnTo>
                    <a:pt x="18968" y="10657"/>
                  </a:lnTo>
                  <a:lnTo>
                    <a:pt x="18883" y="10370"/>
                  </a:lnTo>
                  <a:lnTo>
                    <a:pt x="18792" y="10083"/>
                  </a:lnTo>
                  <a:lnTo>
                    <a:pt x="18694" y="9810"/>
                  </a:lnTo>
                  <a:lnTo>
                    <a:pt x="18483" y="9289"/>
                  </a:lnTo>
                  <a:lnTo>
                    <a:pt x="18371" y="9041"/>
                  </a:lnTo>
                  <a:lnTo>
                    <a:pt x="18245" y="8794"/>
                  </a:lnTo>
                  <a:lnTo>
                    <a:pt x="17992" y="8351"/>
                  </a:lnTo>
                  <a:lnTo>
                    <a:pt x="17851" y="8142"/>
                  </a:lnTo>
                  <a:lnTo>
                    <a:pt x="17571" y="7752"/>
                  </a:lnTo>
                  <a:lnTo>
                    <a:pt x="17262" y="7413"/>
                  </a:lnTo>
                  <a:lnTo>
                    <a:pt x="17107" y="7269"/>
                  </a:lnTo>
                  <a:lnTo>
                    <a:pt x="16939" y="7126"/>
                  </a:lnTo>
                  <a:lnTo>
                    <a:pt x="16777" y="6996"/>
                  </a:lnTo>
                  <a:lnTo>
                    <a:pt x="16609" y="6892"/>
                  </a:lnTo>
                  <a:lnTo>
                    <a:pt x="16433" y="6787"/>
                  </a:lnTo>
                  <a:lnTo>
                    <a:pt x="16258" y="6709"/>
                  </a:lnTo>
                  <a:lnTo>
                    <a:pt x="15893" y="6579"/>
                  </a:lnTo>
                  <a:lnTo>
                    <a:pt x="15710" y="6540"/>
                  </a:lnTo>
                  <a:lnTo>
                    <a:pt x="15331" y="6514"/>
                  </a:lnTo>
                  <a:lnTo>
                    <a:pt x="15100" y="6527"/>
                  </a:lnTo>
                  <a:lnTo>
                    <a:pt x="14868" y="6566"/>
                  </a:lnTo>
                  <a:lnTo>
                    <a:pt x="14784" y="6201"/>
                  </a:lnTo>
                  <a:lnTo>
                    <a:pt x="14685" y="5849"/>
                  </a:lnTo>
                  <a:lnTo>
                    <a:pt x="14587" y="5511"/>
                  </a:lnTo>
                  <a:lnTo>
                    <a:pt x="14482" y="5172"/>
                  </a:lnTo>
                  <a:lnTo>
                    <a:pt x="14370" y="4846"/>
                  </a:lnTo>
                  <a:lnTo>
                    <a:pt x="14250" y="4521"/>
                  </a:lnTo>
                  <a:lnTo>
                    <a:pt x="14124" y="4208"/>
                  </a:lnTo>
                  <a:lnTo>
                    <a:pt x="13998" y="3908"/>
                  </a:lnTo>
                  <a:lnTo>
                    <a:pt x="13857" y="3609"/>
                  </a:lnTo>
                  <a:lnTo>
                    <a:pt x="13717" y="3335"/>
                  </a:lnTo>
                  <a:lnTo>
                    <a:pt x="13569" y="3062"/>
                  </a:lnTo>
                  <a:lnTo>
                    <a:pt x="13415" y="2788"/>
                  </a:lnTo>
                  <a:lnTo>
                    <a:pt x="13260" y="2540"/>
                  </a:lnTo>
                  <a:lnTo>
                    <a:pt x="13099" y="2293"/>
                  </a:lnTo>
                  <a:lnTo>
                    <a:pt x="12931" y="2058"/>
                  </a:lnTo>
                  <a:lnTo>
                    <a:pt x="12762" y="1837"/>
                  </a:lnTo>
                  <a:lnTo>
                    <a:pt x="12587" y="1615"/>
                  </a:lnTo>
                  <a:lnTo>
                    <a:pt x="12404" y="1420"/>
                  </a:lnTo>
                  <a:lnTo>
                    <a:pt x="12222" y="1238"/>
                  </a:lnTo>
                  <a:lnTo>
                    <a:pt x="12032" y="1055"/>
                  </a:lnTo>
                  <a:lnTo>
                    <a:pt x="11639" y="743"/>
                  </a:lnTo>
                  <a:lnTo>
                    <a:pt x="11442" y="599"/>
                  </a:lnTo>
                  <a:lnTo>
                    <a:pt x="11035" y="365"/>
                  </a:lnTo>
                  <a:lnTo>
                    <a:pt x="10825" y="274"/>
                  </a:lnTo>
                  <a:lnTo>
                    <a:pt x="10614" y="195"/>
                  </a:lnTo>
                  <a:lnTo>
                    <a:pt x="10396" y="117"/>
                  </a:lnTo>
                  <a:lnTo>
                    <a:pt x="10179" y="65"/>
                  </a:lnTo>
                  <a:lnTo>
                    <a:pt x="9961" y="26"/>
                  </a:lnTo>
                  <a:lnTo>
                    <a:pt x="9736" y="0"/>
                  </a:lnTo>
                  <a:lnTo>
                    <a:pt x="9512" y="0"/>
                  </a:lnTo>
                  <a:lnTo>
                    <a:pt x="9231" y="13"/>
                  </a:lnTo>
                  <a:lnTo>
                    <a:pt x="8950" y="52"/>
                  </a:lnTo>
                  <a:lnTo>
                    <a:pt x="8677" y="104"/>
                  </a:lnTo>
                  <a:lnTo>
                    <a:pt x="8403" y="195"/>
                  </a:lnTo>
                  <a:lnTo>
                    <a:pt x="8136" y="300"/>
                  </a:lnTo>
                  <a:lnTo>
                    <a:pt x="7869" y="430"/>
                  </a:lnTo>
                  <a:lnTo>
                    <a:pt x="7609" y="586"/>
                  </a:lnTo>
                  <a:lnTo>
                    <a:pt x="7357" y="756"/>
                  </a:lnTo>
                  <a:lnTo>
                    <a:pt x="7111" y="951"/>
                  </a:lnTo>
                  <a:lnTo>
                    <a:pt x="6872" y="1172"/>
                  </a:lnTo>
                  <a:lnTo>
                    <a:pt x="6641" y="1407"/>
                  </a:lnTo>
                  <a:lnTo>
                    <a:pt x="6409" y="1668"/>
                  </a:lnTo>
                  <a:lnTo>
                    <a:pt x="6191" y="1928"/>
                  </a:lnTo>
                  <a:lnTo>
                    <a:pt x="5974" y="2228"/>
                  </a:lnTo>
                  <a:lnTo>
                    <a:pt x="5770" y="2527"/>
                  </a:lnTo>
                  <a:lnTo>
                    <a:pt x="5567" y="2853"/>
                  </a:lnTo>
                  <a:lnTo>
                    <a:pt x="5377" y="3192"/>
                  </a:lnTo>
                  <a:lnTo>
                    <a:pt x="5195" y="3557"/>
                  </a:lnTo>
                  <a:lnTo>
                    <a:pt x="5026" y="3921"/>
                  </a:lnTo>
                  <a:lnTo>
                    <a:pt x="4865" y="4312"/>
                  </a:lnTo>
                  <a:lnTo>
                    <a:pt x="4703" y="4716"/>
                  </a:lnTo>
                  <a:lnTo>
                    <a:pt x="4563" y="5120"/>
                  </a:lnTo>
                  <a:lnTo>
                    <a:pt x="4430" y="5550"/>
                  </a:lnTo>
                  <a:lnTo>
                    <a:pt x="4303" y="5993"/>
                  </a:lnTo>
                  <a:lnTo>
                    <a:pt x="4191" y="6436"/>
                  </a:lnTo>
                  <a:lnTo>
                    <a:pt x="4086" y="6892"/>
                  </a:lnTo>
                  <a:lnTo>
                    <a:pt x="3994" y="7374"/>
                  </a:lnTo>
                  <a:lnTo>
                    <a:pt x="3917" y="7843"/>
                  </a:lnTo>
                  <a:lnTo>
                    <a:pt x="3847" y="8338"/>
                  </a:lnTo>
                  <a:lnTo>
                    <a:pt x="3791" y="8833"/>
                  </a:lnTo>
                  <a:lnTo>
                    <a:pt x="3749" y="9341"/>
                  </a:lnTo>
                  <a:lnTo>
                    <a:pt x="3713" y="9862"/>
                  </a:lnTo>
                  <a:lnTo>
                    <a:pt x="3587" y="9823"/>
                  </a:lnTo>
                  <a:lnTo>
                    <a:pt x="3320" y="9771"/>
                  </a:lnTo>
                  <a:lnTo>
                    <a:pt x="3187" y="9771"/>
                  </a:lnTo>
                  <a:lnTo>
                    <a:pt x="3019" y="9784"/>
                  </a:lnTo>
                  <a:lnTo>
                    <a:pt x="2857" y="9797"/>
                  </a:lnTo>
                  <a:lnTo>
                    <a:pt x="2703" y="9836"/>
                  </a:lnTo>
                  <a:lnTo>
                    <a:pt x="2541" y="9888"/>
                  </a:lnTo>
                  <a:lnTo>
                    <a:pt x="2387" y="9953"/>
                  </a:lnTo>
                  <a:lnTo>
                    <a:pt x="2239" y="10031"/>
                  </a:lnTo>
                  <a:lnTo>
                    <a:pt x="1944" y="10240"/>
                  </a:lnTo>
                  <a:lnTo>
                    <a:pt x="1804" y="10357"/>
                  </a:lnTo>
                  <a:lnTo>
                    <a:pt x="1664" y="10487"/>
                  </a:lnTo>
                  <a:lnTo>
                    <a:pt x="1530" y="10631"/>
                  </a:lnTo>
                  <a:lnTo>
                    <a:pt x="1278" y="10943"/>
                  </a:lnTo>
                  <a:lnTo>
                    <a:pt x="1039" y="11308"/>
                  </a:lnTo>
                  <a:lnTo>
                    <a:pt x="934" y="11503"/>
                  </a:lnTo>
                  <a:lnTo>
                    <a:pt x="723" y="11920"/>
                  </a:lnTo>
                  <a:lnTo>
                    <a:pt x="632" y="12142"/>
                  </a:lnTo>
                  <a:lnTo>
                    <a:pt x="541" y="12376"/>
                  </a:lnTo>
                  <a:lnTo>
                    <a:pt x="456" y="12624"/>
                  </a:lnTo>
                  <a:lnTo>
                    <a:pt x="316" y="13119"/>
                  </a:lnTo>
                  <a:lnTo>
                    <a:pt x="246" y="13379"/>
                  </a:lnTo>
                  <a:lnTo>
                    <a:pt x="190" y="13653"/>
                  </a:lnTo>
                  <a:lnTo>
                    <a:pt x="140" y="13927"/>
                  </a:lnTo>
                  <a:lnTo>
                    <a:pt x="98" y="14213"/>
                  </a:lnTo>
                  <a:lnTo>
                    <a:pt x="63" y="14487"/>
                  </a:lnTo>
                  <a:lnTo>
                    <a:pt x="35" y="14786"/>
                  </a:lnTo>
                  <a:lnTo>
                    <a:pt x="14" y="15086"/>
                  </a:lnTo>
                  <a:lnTo>
                    <a:pt x="0" y="15386"/>
                  </a:lnTo>
                  <a:lnTo>
                    <a:pt x="0" y="15985"/>
                  </a:lnTo>
                  <a:lnTo>
                    <a:pt x="14" y="16285"/>
                  </a:lnTo>
                  <a:lnTo>
                    <a:pt x="35" y="16584"/>
                  </a:lnTo>
                  <a:lnTo>
                    <a:pt x="63" y="16871"/>
                  </a:lnTo>
                  <a:lnTo>
                    <a:pt x="98" y="17158"/>
                  </a:lnTo>
                  <a:lnTo>
                    <a:pt x="140" y="17444"/>
                  </a:lnTo>
                  <a:lnTo>
                    <a:pt x="190" y="17718"/>
                  </a:lnTo>
                  <a:lnTo>
                    <a:pt x="246" y="17991"/>
                  </a:lnTo>
                  <a:lnTo>
                    <a:pt x="316" y="18252"/>
                  </a:lnTo>
                  <a:lnTo>
                    <a:pt x="456" y="18747"/>
                  </a:lnTo>
                  <a:lnTo>
                    <a:pt x="541" y="18994"/>
                  </a:lnTo>
                  <a:lnTo>
                    <a:pt x="632" y="19229"/>
                  </a:lnTo>
                  <a:lnTo>
                    <a:pt x="723" y="19450"/>
                  </a:lnTo>
                  <a:lnTo>
                    <a:pt x="934" y="19867"/>
                  </a:lnTo>
                  <a:lnTo>
                    <a:pt x="1039" y="20063"/>
                  </a:lnTo>
                  <a:lnTo>
                    <a:pt x="1278" y="20428"/>
                  </a:lnTo>
                  <a:lnTo>
                    <a:pt x="1530" y="20740"/>
                  </a:lnTo>
                  <a:lnTo>
                    <a:pt x="1664" y="20883"/>
                  </a:lnTo>
                  <a:lnTo>
                    <a:pt x="1804" y="21014"/>
                  </a:lnTo>
                  <a:lnTo>
                    <a:pt x="1944" y="21131"/>
                  </a:lnTo>
                  <a:lnTo>
                    <a:pt x="2239" y="21339"/>
                  </a:lnTo>
                  <a:lnTo>
                    <a:pt x="2387" y="21418"/>
                  </a:lnTo>
                  <a:lnTo>
                    <a:pt x="2541" y="21483"/>
                  </a:lnTo>
                  <a:lnTo>
                    <a:pt x="2703" y="21535"/>
                  </a:lnTo>
                  <a:lnTo>
                    <a:pt x="2857" y="21574"/>
                  </a:lnTo>
                  <a:lnTo>
                    <a:pt x="3019" y="21587"/>
                  </a:lnTo>
                  <a:lnTo>
                    <a:pt x="3187" y="21600"/>
                  </a:lnTo>
                  <a:lnTo>
                    <a:pt x="19375" y="21600"/>
                  </a:lnTo>
                  <a:lnTo>
                    <a:pt x="19613" y="21548"/>
                  </a:lnTo>
                  <a:lnTo>
                    <a:pt x="19726" y="21509"/>
                  </a:lnTo>
                  <a:lnTo>
                    <a:pt x="19950" y="21405"/>
                  </a:lnTo>
                  <a:lnTo>
                    <a:pt x="20063" y="21339"/>
                  </a:lnTo>
                  <a:lnTo>
                    <a:pt x="20168" y="21261"/>
                  </a:lnTo>
                  <a:lnTo>
                    <a:pt x="20273" y="21170"/>
                  </a:lnTo>
                  <a:lnTo>
                    <a:pt x="20372" y="21079"/>
                  </a:lnTo>
                  <a:lnTo>
                    <a:pt x="20470" y="20975"/>
                  </a:lnTo>
                  <a:lnTo>
                    <a:pt x="20568" y="20857"/>
                  </a:lnTo>
                  <a:lnTo>
                    <a:pt x="20659" y="20740"/>
                  </a:lnTo>
                  <a:lnTo>
                    <a:pt x="20744" y="20610"/>
                  </a:lnTo>
                  <a:lnTo>
                    <a:pt x="20912" y="20323"/>
                  </a:lnTo>
                  <a:lnTo>
                    <a:pt x="21066" y="20011"/>
                  </a:lnTo>
                  <a:lnTo>
                    <a:pt x="21137" y="19854"/>
                  </a:lnTo>
                  <a:lnTo>
                    <a:pt x="21200" y="19685"/>
                  </a:lnTo>
                  <a:lnTo>
                    <a:pt x="21263" y="19503"/>
                  </a:lnTo>
                  <a:lnTo>
                    <a:pt x="21319" y="19320"/>
                  </a:lnTo>
                  <a:lnTo>
                    <a:pt x="21368" y="19138"/>
                  </a:lnTo>
                  <a:lnTo>
                    <a:pt x="21417" y="18942"/>
                  </a:lnTo>
                  <a:lnTo>
                    <a:pt x="21460" y="18747"/>
                  </a:lnTo>
                  <a:lnTo>
                    <a:pt x="21530" y="18330"/>
                  </a:lnTo>
                  <a:lnTo>
                    <a:pt x="21551" y="18122"/>
                  </a:lnTo>
                  <a:lnTo>
                    <a:pt x="21572" y="17900"/>
                  </a:lnTo>
                  <a:lnTo>
                    <a:pt x="21586" y="17692"/>
                  </a:lnTo>
                  <a:lnTo>
                    <a:pt x="21600" y="17470"/>
                  </a:lnTo>
                  <a:lnTo>
                    <a:pt x="21600" y="17027"/>
                  </a:lnTo>
                  <a:lnTo>
                    <a:pt x="21586" y="16806"/>
                  </a:lnTo>
                  <a:lnTo>
                    <a:pt x="21558" y="16389"/>
                  </a:lnTo>
                  <a:lnTo>
                    <a:pt x="21502" y="15972"/>
                  </a:lnTo>
                  <a:lnTo>
                    <a:pt x="21467" y="15777"/>
                  </a:lnTo>
                  <a:lnTo>
                    <a:pt x="21425" y="15581"/>
                  </a:lnTo>
                  <a:lnTo>
                    <a:pt x="21382" y="15399"/>
                  </a:lnTo>
                  <a:lnTo>
                    <a:pt x="21333" y="15216"/>
                  </a:lnTo>
                  <a:lnTo>
                    <a:pt x="21277" y="15034"/>
                  </a:lnTo>
                  <a:lnTo>
                    <a:pt x="21221" y="14865"/>
                  </a:lnTo>
                  <a:lnTo>
                    <a:pt x="21158" y="14695"/>
                  </a:lnTo>
                  <a:lnTo>
                    <a:pt x="21088" y="14526"/>
                  </a:lnTo>
                  <a:lnTo>
                    <a:pt x="21017" y="14370"/>
                  </a:lnTo>
                  <a:lnTo>
                    <a:pt x="20947" y="14226"/>
                  </a:lnTo>
                  <a:lnTo>
                    <a:pt x="20870" y="14083"/>
                  </a:lnTo>
                  <a:lnTo>
                    <a:pt x="20786" y="13940"/>
                  </a:lnTo>
                  <a:lnTo>
                    <a:pt x="20701" y="13809"/>
                  </a:lnTo>
                  <a:lnTo>
                    <a:pt x="20519" y="13575"/>
                  </a:lnTo>
                  <a:lnTo>
                    <a:pt x="20428" y="13471"/>
                  </a:lnTo>
                  <a:lnTo>
                    <a:pt x="20231" y="13288"/>
                  </a:lnTo>
                  <a:lnTo>
                    <a:pt x="20126" y="13197"/>
                  </a:lnTo>
                  <a:lnTo>
                    <a:pt x="19915" y="13067"/>
                  </a:lnTo>
                  <a:lnTo>
                    <a:pt x="19803" y="13015"/>
                  </a:lnTo>
                  <a:lnTo>
                    <a:pt x="19698" y="12963"/>
                  </a:lnTo>
                  <a:lnTo>
                    <a:pt x="19578" y="12937"/>
                  </a:lnTo>
                  <a:lnTo>
                    <a:pt x="19466" y="12910"/>
                  </a:lnTo>
                  <a:lnTo>
                    <a:pt x="19347" y="12897"/>
                  </a:lnTo>
                  <a:close/>
                </a:path>
              </a:pathLst>
            </a:custGeom>
            <a:gradFill flip="none" rotWithShape="1">
              <a:gsLst>
                <a:gs pos="0">
                  <a:srgbClr val="FFFFFF">
                    <a:alpha val="0"/>
                  </a:srgbClr>
                </a:gs>
                <a:gs pos="100000">
                  <a:srgbClr val="FFFFFF">
                    <a:alpha val="19587"/>
                  </a:srgbClr>
                </a:gs>
              </a:gsLst>
              <a:lin ang="2700000" scaled="1"/>
              <a:tileRect/>
            </a:gradFill>
            <a:ln w="12700" cap="flat">
              <a:solidFill>
                <a:srgbClr val="C7000B"/>
              </a:solidFill>
              <a:miter lim="400000"/>
            </a:ln>
            <a:effectLst/>
          </p:spPr>
          <p:txBody>
            <a:bodyPr wrap="square" lIns="53557" tIns="53557" rIns="53557" bIns="53557" numCol="1" anchor="ctr">
              <a:noAutofit/>
            </a:bodyPr>
            <a:lstStyle/>
            <a:p>
              <a:pPr algn="ctr" defTabSz="615950" fontAlgn="auto" hangingPunct="0">
                <a:spcBef>
                  <a:spcPts val="0"/>
                </a:spcBef>
                <a:spcAft>
                  <a:spcPts val="0"/>
                </a:spcAft>
                <a:defRPr/>
              </a:pPr>
              <a:endParaRPr kumimoji="0" lang="en-US" sz="225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Freeform 8"/>
            <p:cNvSpPr/>
            <p:nvPr/>
          </p:nvSpPr>
          <p:spPr>
            <a:xfrm>
              <a:off x="8733038" y="5256615"/>
              <a:ext cx="8088209" cy="4672038"/>
            </a:xfrm>
            <a:custGeom>
              <a:avLst/>
              <a:gdLst/>
              <a:ahLst/>
              <a:cxnLst>
                <a:cxn ang="0">
                  <a:pos x="wd2" y="hd2"/>
                </a:cxn>
                <a:cxn ang="5400000">
                  <a:pos x="wd2" y="hd2"/>
                </a:cxn>
                <a:cxn ang="10800000">
                  <a:pos x="wd2" y="hd2"/>
                </a:cxn>
                <a:cxn ang="16200000">
                  <a:pos x="wd2" y="hd2"/>
                </a:cxn>
              </a:cxnLst>
              <a:rect l="0" t="0" r="r" b="b"/>
              <a:pathLst>
                <a:path w="21600" h="21600" extrusionOk="0">
                  <a:moveTo>
                    <a:pt x="19347" y="12897"/>
                  </a:moveTo>
                  <a:lnTo>
                    <a:pt x="19319" y="12559"/>
                  </a:lnTo>
                  <a:lnTo>
                    <a:pt x="19276" y="12220"/>
                  </a:lnTo>
                  <a:lnTo>
                    <a:pt x="19227" y="11894"/>
                  </a:lnTo>
                  <a:lnTo>
                    <a:pt x="19115" y="11269"/>
                  </a:lnTo>
                  <a:lnTo>
                    <a:pt x="19045" y="10956"/>
                  </a:lnTo>
                  <a:lnTo>
                    <a:pt x="18968" y="10657"/>
                  </a:lnTo>
                  <a:lnTo>
                    <a:pt x="18883" y="10370"/>
                  </a:lnTo>
                  <a:lnTo>
                    <a:pt x="18792" y="10083"/>
                  </a:lnTo>
                  <a:lnTo>
                    <a:pt x="18694" y="9810"/>
                  </a:lnTo>
                  <a:lnTo>
                    <a:pt x="18483" y="9289"/>
                  </a:lnTo>
                  <a:lnTo>
                    <a:pt x="18371" y="9041"/>
                  </a:lnTo>
                  <a:lnTo>
                    <a:pt x="18245" y="8794"/>
                  </a:lnTo>
                  <a:lnTo>
                    <a:pt x="17992" y="8351"/>
                  </a:lnTo>
                  <a:lnTo>
                    <a:pt x="17851" y="8142"/>
                  </a:lnTo>
                  <a:lnTo>
                    <a:pt x="17571" y="7752"/>
                  </a:lnTo>
                  <a:lnTo>
                    <a:pt x="17262" y="7413"/>
                  </a:lnTo>
                  <a:lnTo>
                    <a:pt x="17107" y="7269"/>
                  </a:lnTo>
                  <a:lnTo>
                    <a:pt x="16939" y="7126"/>
                  </a:lnTo>
                  <a:lnTo>
                    <a:pt x="16777" y="6996"/>
                  </a:lnTo>
                  <a:lnTo>
                    <a:pt x="16609" y="6892"/>
                  </a:lnTo>
                  <a:lnTo>
                    <a:pt x="16433" y="6787"/>
                  </a:lnTo>
                  <a:lnTo>
                    <a:pt x="16258" y="6709"/>
                  </a:lnTo>
                  <a:lnTo>
                    <a:pt x="15893" y="6579"/>
                  </a:lnTo>
                  <a:lnTo>
                    <a:pt x="15710" y="6540"/>
                  </a:lnTo>
                  <a:lnTo>
                    <a:pt x="15331" y="6514"/>
                  </a:lnTo>
                  <a:lnTo>
                    <a:pt x="15100" y="6527"/>
                  </a:lnTo>
                  <a:lnTo>
                    <a:pt x="14868" y="6566"/>
                  </a:lnTo>
                  <a:lnTo>
                    <a:pt x="14784" y="6201"/>
                  </a:lnTo>
                  <a:lnTo>
                    <a:pt x="14685" y="5849"/>
                  </a:lnTo>
                  <a:lnTo>
                    <a:pt x="14587" y="5511"/>
                  </a:lnTo>
                  <a:lnTo>
                    <a:pt x="14482" y="5172"/>
                  </a:lnTo>
                  <a:lnTo>
                    <a:pt x="14370" y="4846"/>
                  </a:lnTo>
                  <a:lnTo>
                    <a:pt x="14250" y="4521"/>
                  </a:lnTo>
                  <a:lnTo>
                    <a:pt x="14124" y="4208"/>
                  </a:lnTo>
                  <a:lnTo>
                    <a:pt x="13998" y="3908"/>
                  </a:lnTo>
                  <a:lnTo>
                    <a:pt x="13857" y="3609"/>
                  </a:lnTo>
                  <a:lnTo>
                    <a:pt x="13717" y="3335"/>
                  </a:lnTo>
                  <a:lnTo>
                    <a:pt x="13569" y="3062"/>
                  </a:lnTo>
                  <a:lnTo>
                    <a:pt x="13415" y="2788"/>
                  </a:lnTo>
                  <a:lnTo>
                    <a:pt x="13260" y="2540"/>
                  </a:lnTo>
                  <a:lnTo>
                    <a:pt x="13099" y="2293"/>
                  </a:lnTo>
                  <a:lnTo>
                    <a:pt x="12931" y="2058"/>
                  </a:lnTo>
                  <a:lnTo>
                    <a:pt x="12762" y="1837"/>
                  </a:lnTo>
                  <a:lnTo>
                    <a:pt x="12587" y="1615"/>
                  </a:lnTo>
                  <a:lnTo>
                    <a:pt x="12404" y="1420"/>
                  </a:lnTo>
                  <a:lnTo>
                    <a:pt x="12222" y="1238"/>
                  </a:lnTo>
                  <a:lnTo>
                    <a:pt x="12032" y="1055"/>
                  </a:lnTo>
                  <a:lnTo>
                    <a:pt x="11639" y="743"/>
                  </a:lnTo>
                  <a:lnTo>
                    <a:pt x="11442" y="599"/>
                  </a:lnTo>
                  <a:lnTo>
                    <a:pt x="11035" y="365"/>
                  </a:lnTo>
                  <a:lnTo>
                    <a:pt x="10825" y="274"/>
                  </a:lnTo>
                  <a:lnTo>
                    <a:pt x="10614" y="195"/>
                  </a:lnTo>
                  <a:lnTo>
                    <a:pt x="10396" y="117"/>
                  </a:lnTo>
                  <a:lnTo>
                    <a:pt x="10179" y="65"/>
                  </a:lnTo>
                  <a:lnTo>
                    <a:pt x="9961" y="26"/>
                  </a:lnTo>
                  <a:lnTo>
                    <a:pt x="9736" y="0"/>
                  </a:lnTo>
                  <a:lnTo>
                    <a:pt x="9512" y="0"/>
                  </a:lnTo>
                  <a:lnTo>
                    <a:pt x="9231" y="13"/>
                  </a:lnTo>
                  <a:lnTo>
                    <a:pt x="8950" y="52"/>
                  </a:lnTo>
                  <a:lnTo>
                    <a:pt x="8677" y="104"/>
                  </a:lnTo>
                  <a:lnTo>
                    <a:pt x="8403" y="195"/>
                  </a:lnTo>
                  <a:lnTo>
                    <a:pt x="8136" y="300"/>
                  </a:lnTo>
                  <a:lnTo>
                    <a:pt x="7869" y="430"/>
                  </a:lnTo>
                  <a:lnTo>
                    <a:pt x="7609" y="586"/>
                  </a:lnTo>
                  <a:lnTo>
                    <a:pt x="7357" y="756"/>
                  </a:lnTo>
                  <a:lnTo>
                    <a:pt x="7111" y="951"/>
                  </a:lnTo>
                  <a:lnTo>
                    <a:pt x="6872" y="1172"/>
                  </a:lnTo>
                  <a:lnTo>
                    <a:pt x="6641" y="1407"/>
                  </a:lnTo>
                  <a:lnTo>
                    <a:pt x="6409" y="1668"/>
                  </a:lnTo>
                  <a:lnTo>
                    <a:pt x="6191" y="1928"/>
                  </a:lnTo>
                  <a:lnTo>
                    <a:pt x="5974" y="2228"/>
                  </a:lnTo>
                  <a:lnTo>
                    <a:pt x="5770" y="2527"/>
                  </a:lnTo>
                  <a:lnTo>
                    <a:pt x="5567" y="2853"/>
                  </a:lnTo>
                  <a:lnTo>
                    <a:pt x="5377" y="3192"/>
                  </a:lnTo>
                  <a:lnTo>
                    <a:pt x="5195" y="3557"/>
                  </a:lnTo>
                  <a:lnTo>
                    <a:pt x="5026" y="3921"/>
                  </a:lnTo>
                  <a:lnTo>
                    <a:pt x="4865" y="4312"/>
                  </a:lnTo>
                  <a:lnTo>
                    <a:pt x="4703" y="4716"/>
                  </a:lnTo>
                  <a:lnTo>
                    <a:pt x="4563" y="5120"/>
                  </a:lnTo>
                  <a:lnTo>
                    <a:pt x="4430" y="5550"/>
                  </a:lnTo>
                  <a:lnTo>
                    <a:pt x="4303" y="5993"/>
                  </a:lnTo>
                  <a:lnTo>
                    <a:pt x="4191" y="6436"/>
                  </a:lnTo>
                  <a:lnTo>
                    <a:pt x="4086" y="6892"/>
                  </a:lnTo>
                  <a:lnTo>
                    <a:pt x="3994" y="7374"/>
                  </a:lnTo>
                  <a:lnTo>
                    <a:pt x="3917" y="7843"/>
                  </a:lnTo>
                  <a:lnTo>
                    <a:pt x="3847" y="8338"/>
                  </a:lnTo>
                  <a:lnTo>
                    <a:pt x="3791" y="8833"/>
                  </a:lnTo>
                  <a:lnTo>
                    <a:pt x="3749" y="9341"/>
                  </a:lnTo>
                  <a:lnTo>
                    <a:pt x="3713" y="9862"/>
                  </a:lnTo>
                  <a:lnTo>
                    <a:pt x="3587" y="9823"/>
                  </a:lnTo>
                  <a:lnTo>
                    <a:pt x="3320" y="9771"/>
                  </a:lnTo>
                  <a:lnTo>
                    <a:pt x="3187" y="9771"/>
                  </a:lnTo>
                  <a:lnTo>
                    <a:pt x="3019" y="9784"/>
                  </a:lnTo>
                  <a:lnTo>
                    <a:pt x="2857" y="9797"/>
                  </a:lnTo>
                  <a:lnTo>
                    <a:pt x="2703" y="9836"/>
                  </a:lnTo>
                  <a:lnTo>
                    <a:pt x="2541" y="9888"/>
                  </a:lnTo>
                  <a:lnTo>
                    <a:pt x="2387" y="9953"/>
                  </a:lnTo>
                  <a:lnTo>
                    <a:pt x="2239" y="10031"/>
                  </a:lnTo>
                  <a:lnTo>
                    <a:pt x="1944" y="10240"/>
                  </a:lnTo>
                  <a:lnTo>
                    <a:pt x="1804" y="10357"/>
                  </a:lnTo>
                  <a:lnTo>
                    <a:pt x="1664" y="10487"/>
                  </a:lnTo>
                  <a:lnTo>
                    <a:pt x="1530" y="10631"/>
                  </a:lnTo>
                  <a:lnTo>
                    <a:pt x="1278" y="10943"/>
                  </a:lnTo>
                  <a:lnTo>
                    <a:pt x="1039" y="11308"/>
                  </a:lnTo>
                  <a:lnTo>
                    <a:pt x="934" y="11503"/>
                  </a:lnTo>
                  <a:lnTo>
                    <a:pt x="723" y="11920"/>
                  </a:lnTo>
                  <a:lnTo>
                    <a:pt x="632" y="12142"/>
                  </a:lnTo>
                  <a:lnTo>
                    <a:pt x="541" y="12376"/>
                  </a:lnTo>
                  <a:lnTo>
                    <a:pt x="456" y="12624"/>
                  </a:lnTo>
                  <a:lnTo>
                    <a:pt x="316" y="13119"/>
                  </a:lnTo>
                  <a:lnTo>
                    <a:pt x="246" y="13379"/>
                  </a:lnTo>
                  <a:lnTo>
                    <a:pt x="190" y="13653"/>
                  </a:lnTo>
                  <a:lnTo>
                    <a:pt x="140" y="13927"/>
                  </a:lnTo>
                  <a:lnTo>
                    <a:pt x="98" y="14213"/>
                  </a:lnTo>
                  <a:lnTo>
                    <a:pt x="63" y="14487"/>
                  </a:lnTo>
                  <a:lnTo>
                    <a:pt x="35" y="14786"/>
                  </a:lnTo>
                  <a:lnTo>
                    <a:pt x="14" y="15086"/>
                  </a:lnTo>
                  <a:lnTo>
                    <a:pt x="0" y="15386"/>
                  </a:lnTo>
                  <a:lnTo>
                    <a:pt x="0" y="15985"/>
                  </a:lnTo>
                  <a:lnTo>
                    <a:pt x="14" y="16285"/>
                  </a:lnTo>
                  <a:lnTo>
                    <a:pt x="35" y="16584"/>
                  </a:lnTo>
                  <a:lnTo>
                    <a:pt x="63" y="16871"/>
                  </a:lnTo>
                  <a:lnTo>
                    <a:pt x="98" y="17158"/>
                  </a:lnTo>
                  <a:lnTo>
                    <a:pt x="140" y="17444"/>
                  </a:lnTo>
                  <a:lnTo>
                    <a:pt x="190" y="17718"/>
                  </a:lnTo>
                  <a:lnTo>
                    <a:pt x="246" y="17991"/>
                  </a:lnTo>
                  <a:lnTo>
                    <a:pt x="316" y="18252"/>
                  </a:lnTo>
                  <a:lnTo>
                    <a:pt x="456" y="18747"/>
                  </a:lnTo>
                  <a:lnTo>
                    <a:pt x="541" y="18994"/>
                  </a:lnTo>
                  <a:lnTo>
                    <a:pt x="632" y="19229"/>
                  </a:lnTo>
                  <a:lnTo>
                    <a:pt x="723" y="19450"/>
                  </a:lnTo>
                  <a:lnTo>
                    <a:pt x="934" y="19867"/>
                  </a:lnTo>
                  <a:lnTo>
                    <a:pt x="1039" y="20063"/>
                  </a:lnTo>
                  <a:lnTo>
                    <a:pt x="1278" y="20428"/>
                  </a:lnTo>
                  <a:lnTo>
                    <a:pt x="1530" y="20740"/>
                  </a:lnTo>
                  <a:lnTo>
                    <a:pt x="1664" y="20883"/>
                  </a:lnTo>
                  <a:lnTo>
                    <a:pt x="1804" y="21014"/>
                  </a:lnTo>
                  <a:lnTo>
                    <a:pt x="1944" y="21131"/>
                  </a:lnTo>
                  <a:lnTo>
                    <a:pt x="2239" y="21339"/>
                  </a:lnTo>
                  <a:lnTo>
                    <a:pt x="2387" y="21418"/>
                  </a:lnTo>
                  <a:lnTo>
                    <a:pt x="2541" y="21483"/>
                  </a:lnTo>
                  <a:lnTo>
                    <a:pt x="2703" y="21535"/>
                  </a:lnTo>
                  <a:lnTo>
                    <a:pt x="2857" y="21574"/>
                  </a:lnTo>
                  <a:lnTo>
                    <a:pt x="3019" y="21587"/>
                  </a:lnTo>
                  <a:lnTo>
                    <a:pt x="3187" y="21600"/>
                  </a:lnTo>
                  <a:lnTo>
                    <a:pt x="19375" y="21600"/>
                  </a:lnTo>
                  <a:lnTo>
                    <a:pt x="19613" y="21548"/>
                  </a:lnTo>
                  <a:lnTo>
                    <a:pt x="19726" y="21509"/>
                  </a:lnTo>
                  <a:lnTo>
                    <a:pt x="19950" y="21405"/>
                  </a:lnTo>
                  <a:lnTo>
                    <a:pt x="20063" y="21339"/>
                  </a:lnTo>
                  <a:lnTo>
                    <a:pt x="20168" y="21261"/>
                  </a:lnTo>
                  <a:lnTo>
                    <a:pt x="20273" y="21170"/>
                  </a:lnTo>
                  <a:lnTo>
                    <a:pt x="20372" y="21079"/>
                  </a:lnTo>
                  <a:lnTo>
                    <a:pt x="20470" y="20975"/>
                  </a:lnTo>
                  <a:lnTo>
                    <a:pt x="20568" y="20857"/>
                  </a:lnTo>
                  <a:lnTo>
                    <a:pt x="20659" y="20740"/>
                  </a:lnTo>
                  <a:lnTo>
                    <a:pt x="20744" y="20610"/>
                  </a:lnTo>
                  <a:lnTo>
                    <a:pt x="20912" y="20323"/>
                  </a:lnTo>
                  <a:lnTo>
                    <a:pt x="21066" y="20011"/>
                  </a:lnTo>
                  <a:lnTo>
                    <a:pt x="21137" y="19854"/>
                  </a:lnTo>
                  <a:lnTo>
                    <a:pt x="21200" y="19685"/>
                  </a:lnTo>
                  <a:lnTo>
                    <a:pt x="21263" y="19503"/>
                  </a:lnTo>
                  <a:lnTo>
                    <a:pt x="21319" y="19320"/>
                  </a:lnTo>
                  <a:lnTo>
                    <a:pt x="21368" y="19138"/>
                  </a:lnTo>
                  <a:lnTo>
                    <a:pt x="21417" y="18942"/>
                  </a:lnTo>
                  <a:lnTo>
                    <a:pt x="21460" y="18747"/>
                  </a:lnTo>
                  <a:lnTo>
                    <a:pt x="21530" y="18330"/>
                  </a:lnTo>
                  <a:lnTo>
                    <a:pt x="21551" y="18122"/>
                  </a:lnTo>
                  <a:lnTo>
                    <a:pt x="21572" y="17900"/>
                  </a:lnTo>
                  <a:lnTo>
                    <a:pt x="21586" y="17692"/>
                  </a:lnTo>
                  <a:lnTo>
                    <a:pt x="21600" y="17470"/>
                  </a:lnTo>
                  <a:lnTo>
                    <a:pt x="21600" y="17027"/>
                  </a:lnTo>
                  <a:lnTo>
                    <a:pt x="21586" y="16806"/>
                  </a:lnTo>
                  <a:lnTo>
                    <a:pt x="21558" y="16389"/>
                  </a:lnTo>
                  <a:lnTo>
                    <a:pt x="21502" y="15972"/>
                  </a:lnTo>
                  <a:lnTo>
                    <a:pt x="21467" y="15777"/>
                  </a:lnTo>
                  <a:lnTo>
                    <a:pt x="21425" y="15581"/>
                  </a:lnTo>
                  <a:lnTo>
                    <a:pt x="21382" y="15399"/>
                  </a:lnTo>
                  <a:lnTo>
                    <a:pt x="21333" y="15216"/>
                  </a:lnTo>
                  <a:lnTo>
                    <a:pt x="21277" y="15034"/>
                  </a:lnTo>
                  <a:lnTo>
                    <a:pt x="21221" y="14865"/>
                  </a:lnTo>
                  <a:lnTo>
                    <a:pt x="21158" y="14695"/>
                  </a:lnTo>
                  <a:lnTo>
                    <a:pt x="21088" y="14526"/>
                  </a:lnTo>
                  <a:lnTo>
                    <a:pt x="21017" y="14370"/>
                  </a:lnTo>
                  <a:lnTo>
                    <a:pt x="20947" y="14226"/>
                  </a:lnTo>
                  <a:lnTo>
                    <a:pt x="20870" y="14083"/>
                  </a:lnTo>
                  <a:lnTo>
                    <a:pt x="20786" y="13940"/>
                  </a:lnTo>
                  <a:lnTo>
                    <a:pt x="20701" y="13809"/>
                  </a:lnTo>
                  <a:lnTo>
                    <a:pt x="20519" y="13575"/>
                  </a:lnTo>
                  <a:lnTo>
                    <a:pt x="20428" y="13471"/>
                  </a:lnTo>
                  <a:lnTo>
                    <a:pt x="20231" y="13288"/>
                  </a:lnTo>
                  <a:lnTo>
                    <a:pt x="20126" y="13197"/>
                  </a:lnTo>
                  <a:lnTo>
                    <a:pt x="19915" y="13067"/>
                  </a:lnTo>
                  <a:lnTo>
                    <a:pt x="19803" y="13015"/>
                  </a:lnTo>
                  <a:lnTo>
                    <a:pt x="19698" y="12963"/>
                  </a:lnTo>
                  <a:lnTo>
                    <a:pt x="19578" y="12937"/>
                  </a:lnTo>
                  <a:lnTo>
                    <a:pt x="19466" y="12910"/>
                  </a:lnTo>
                  <a:lnTo>
                    <a:pt x="19347" y="12897"/>
                  </a:lnTo>
                  <a:close/>
                </a:path>
              </a:pathLst>
            </a:custGeom>
            <a:noFill/>
            <a:ln w="6350">
              <a:solidFill>
                <a:srgbClr val="C7000B"/>
              </a:solidFill>
              <a:miter lim="400000"/>
            </a:ln>
          </p:spPr>
          <p:txBody>
            <a:bodyPr rot="0" spcFirstLastPara="0" vertOverflow="overflow" horzOverflow="overflow" vert="horz" wrap="square" lIns="53557" tIns="53557" rIns="53557" bIns="53557" numCol="1" spcCol="0" rtlCol="0" fromWordArt="0" anchor="ctr" anchorCtr="0" forceAA="0" compatLnSpc="1">
              <a:noAutofit/>
            </a:bodyPr>
            <a:lstStyle/>
            <a:p>
              <a:pPr algn="ctr" defTabSz="615950" fontAlgn="auto" hangingPunct="0">
                <a:spcBef>
                  <a:spcPts val="0"/>
                </a:spcBef>
                <a:spcAft>
                  <a:spcPts val="0"/>
                </a:spcAft>
                <a:defRPr/>
              </a:pPr>
              <a:endParaRPr kumimoji="0" lang="en-US" sz="225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39" name="文本框 38"/>
          <p:cNvSpPr txBox="1"/>
          <p:nvPr/>
        </p:nvSpPr>
        <p:spPr>
          <a:xfrm>
            <a:off x="6420440" y="5107750"/>
            <a:ext cx="1912098" cy="276871"/>
          </a:xfrm>
          <a:prstGeom prst="rect">
            <a:avLst/>
          </a:prstGeom>
          <a:noFill/>
          <a:ln>
            <a:noFill/>
          </a:ln>
        </p:spPr>
        <p:txBody>
          <a:bodyPr wrap="square" rtlCol="0">
            <a:spAutoFit/>
          </a:bodyPr>
          <a:lstStyle/>
          <a:p>
            <a:pPr algn="ctr" defTabSz="685800" fontAlgn="auto">
              <a:spcBef>
                <a:spcPts val="0"/>
              </a:spcBef>
              <a:spcAft>
                <a:spcPts val="0"/>
              </a:spcAft>
              <a:defRPr/>
            </a:pPr>
            <a:r>
              <a:rPr kumimoji="0" lang="zh-CN" altLang="en-US" sz="1200" b="1"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华为云</a:t>
            </a:r>
            <a:r>
              <a:rPr kumimoji="0" lang="en-US" altLang="zh-CN" sz="1200" b="1"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Stack</a:t>
            </a:r>
            <a:endParaRPr kumimoji="0" lang="en-US" sz="1200" b="1"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文本框 39"/>
          <p:cNvSpPr txBox="1"/>
          <p:nvPr/>
        </p:nvSpPr>
        <p:spPr>
          <a:xfrm>
            <a:off x="4609756" y="5048524"/>
            <a:ext cx="1500818" cy="276871"/>
          </a:xfrm>
          <a:prstGeom prst="rect">
            <a:avLst/>
          </a:prstGeom>
          <a:noFill/>
          <a:ln>
            <a:noFill/>
          </a:ln>
        </p:spPr>
        <p:txBody>
          <a:bodyPr wrap="square" rtlCol="0">
            <a:spAutoFit/>
          </a:bodyPr>
          <a:lstStyle/>
          <a:p>
            <a:pPr algn="ctr" defTabSz="685800" fontAlgn="auto">
              <a:spcBef>
                <a:spcPts val="0"/>
              </a:spcBef>
              <a:spcAft>
                <a:spcPts val="0"/>
              </a:spcAft>
              <a:defRPr/>
            </a:pPr>
            <a:r>
              <a:rPr kumimoji="0" lang="zh-CN" altLang="en-US" sz="1200" b="1"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华为云</a:t>
            </a:r>
            <a:endParaRPr kumimoji="0" lang="en-US" altLang="zh-CN" sz="1200" b="1"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2" name="文本框 39"/>
          <p:cNvSpPr txBox="1"/>
          <p:nvPr/>
        </p:nvSpPr>
        <p:spPr>
          <a:xfrm>
            <a:off x="5152095" y="4258642"/>
            <a:ext cx="2191251" cy="303997"/>
          </a:xfrm>
          <a:prstGeom prst="rect">
            <a:avLst/>
          </a:prstGeom>
          <a:ln w="12700">
            <a:miter lim="400000"/>
          </a:ln>
        </p:spPr>
        <p:txBody>
          <a:bodyPr wrap="square" lIns="36292" tIns="36292" rIns="36292" bIns="36292">
            <a:spAutoFit/>
          </a:bodyPr>
          <a:lstStyle/>
          <a:p>
            <a:pPr algn="ctr" defTabSz="890270" fontAlgn="auto">
              <a:spcBef>
                <a:spcPts val="0"/>
              </a:spcBef>
              <a:spcAft>
                <a:spcPts val="0"/>
              </a:spcAft>
              <a:defRPr sz="2800">
                <a:solidFill>
                  <a:srgbClr val="FFFFFF"/>
                </a:solidFill>
                <a:latin typeface="FZLanTingHeiS-R-GB"/>
                <a:ea typeface="FZLanTingHeiS-R-GB"/>
                <a:cs typeface="FZLanTingHeiS-R-GB"/>
                <a:sym typeface="FZLanTingHeiS-R-GB"/>
              </a:defRPr>
            </a:pPr>
            <a:r>
              <a:rPr kumimoji="0" lang="en-US" altLang="zh-CN" sz="1500" b="1" dirty="0">
                <a:solidFill>
                  <a:srgbClr val="C7000B"/>
                </a:solidFill>
                <a:latin typeface="Huawei Sans" panose="020C0503030203020204" pitchFamily="34" charset="0"/>
                <a:ea typeface="方正兰亭黑简体" panose="02000000000000000000" pitchFamily="2" charset="-122"/>
                <a:cs typeface="Arial" panose="020B0604020202090204"/>
                <a:sym typeface="Huawei Sans" panose="020C0503030203020204" pitchFamily="34" charset="0"/>
              </a:rPr>
              <a:t>GaussDB</a:t>
            </a:r>
            <a:r>
              <a:rPr kumimoji="0" lang="zh-CN" altLang="en-US" sz="1500" b="1" dirty="0">
                <a:solidFill>
                  <a:srgbClr val="C7000B"/>
                </a:solidFill>
                <a:latin typeface="Huawei Sans" panose="020C0503030203020204" pitchFamily="34" charset="0"/>
                <a:ea typeface="方正兰亭黑简体" panose="02000000000000000000" pitchFamily="2" charset="-122"/>
                <a:cs typeface="Arial" panose="020B0604020202090204"/>
                <a:sym typeface="Huawei Sans" panose="020C0503030203020204" pitchFamily="34" charset="0"/>
              </a:rPr>
              <a:t>全场景服务</a:t>
            </a:r>
            <a:endParaRPr kumimoji="0" lang="en-US" altLang="zh-CN" sz="1500" b="1" dirty="0">
              <a:solidFill>
                <a:srgbClr val="C7000B"/>
              </a:solidFill>
              <a:latin typeface="Huawei Sans" panose="020C0503030203020204" pitchFamily="34" charset="0"/>
              <a:ea typeface="方正兰亭黑简体" panose="02000000000000000000" pitchFamily="2" charset="-122"/>
              <a:cs typeface="Arial" panose="020B0604020202090204"/>
              <a:sym typeface="Huawei Sans" panose="020C0503030203020204" pitchFamily="34" charset="0"/>
            </a:endParaRPr>
          </a:p>
        </p:txBody>
      </p:sp>
      <p:sp>
        <p:nvSpPr>
          <p:cNvPr id="52" name="Freeform 93"/>
          <p:cNvSpPr/>
          <p:nvPr/>
        </p:nvSpPr>
        <p:spPr>
          <a:xfrm rot="5400000">
            <a:off x="2209848" y="3016928"/>
            <a:ext cx="1505650" cy="517324"/>
          </a:xfrm>
          <a:custGeom>
            <a:avLst/>
            <a:gdLst/>
            <a:ahLst/>
            <a:cxnLst>
              <a:cxn ang="0">
                <a:pos x="wd2" y="hd2"/>
              </a:cxn>
              <a:cxn ang="5400000">
                <a:pos x="wd2" y="hd2"/>
              </a:cxn>
              <a:cxn ang="10800000">
                <a:pos x="wd2" y="hd2"/>
              </a:cxn>
              <a:cxn ang="16200000">
                <a:pos x="wd2" y="hd2"/>
              </a:cxn>
            </a:cxnLst>
            <a:rect l="0" t="0" r="r" b="b"/>
            <a:pathLst>
              <a:path w="21600" h="21600" extrusionOk="0">
                <a:moveTo>
                  <a:pt x="13305" y="8800"/>
                </a:moveTo>
                <a:cubicBezTo>
                  <a:pt x="14900" y="8800"/>
                  <a:pt x="14900" y="8800"/>
                  <a:pt x="14900" y="8800"/>
                </a:cubicBezTo>
                <a:cubicBezTo>
                  <a:pt x="11009" y="0"/>
                  <a:pt x="11009" y="0"/>
                  <a:pt x="11009" y="0"/>
                </a:cubicBezTo>
                <a:cubicBezTo>
                  <a:pt x="7023" y="8800"/>
                  <a:pt x="7023" y="8800"/>
                  <a:pt x="7023" y="8800"/>
                </a:cubicBezTo>
                <a:cubicBezTo>
                  <a:pt x="8712" y="8800"/>
                  <a:pt x="8712" y="8800"/>
                  <a:pt x="8712" y="8800"/>
                </a:cubicBezTo>
                <a:cubicBezTo>
                  <a:pt x="8579" y="11200"/>
                  <a:pt x="6928" y="20000"/>
                  <a:pt x="0" y="21600"/>
                </a:cubicBezTo>
                <a:cubicBezTo>
                  <a:pt x="21600" y="21600"/>
                  <a:pt x="21600" y="21600"/>
                  <a:pt x="21600" y="21600"/>
                </a:cubicBezTo>
                <a:cubicBezTo>
                  <a:pt x="21600" y="21600"/>
                  <a:pt x="14520" y="19733"/>
                  <a:pt x="13305" y="8800"/>
                </a:cubicBezTo>
                <a:close/>
              </a:path>
            </a:pathLst>
          </a:custGeom>
          <a:solidFill>
            <a:srgbClr val="DDDDDD"/>
          </a:solidFill>
          <a:ln w="12700">
            <a:miter lim="400000"/>
          </a:ln>
        </p:spPr>
        <p:txBody>
          <a:bodyPr lIns="34267" rIns="34267" anchor="ctr"/>
          <a:lstStyle/>
          <a:p>
            <a:pPr algn="ctr" defTabSz="685165" fontAlgn="auto">
              <a:spcBef>
                <a:spcPts val="0"/>
              </a:spcBef>
              <a:spcAft>
                <a:spcPts val="0"/>
              </a:spcAft>
              <a:defRPr sz="1000">
                <a:solidFill>
                  <a:srgbClr val="FFFFFF"/>
                </a:solidFill>
              </a:defRPr>
            </a:pPr>
            <a:endParaRPr kumimoji="0" sz="75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矩形 52"/>
          <p:cNvSpPr/>
          <p:nvPr/>
        </p:nvSpPr>
        <p:spPr>
          <a:xfrm>
            <a:off x="548878" y="2522764"/>
            <a:ext cx="2134624" cy="1505650"/>
          </a:xfrm>
          <a:prstGeom prst="rect">
            <a:avLst/>
          </a:prstGeom>
          <a:solidFill>
            <a:srgbClr val="E0E0E0"/>
          </a:solidFill>
          <a:ln w="12700" cap="flat" cmpd="sng" algn="ctr">
            <a:noFill/>
            <a:prstDash val="solid"/>
            <a:miter lim="800000"/>
          </a:ln>
          <a:effectLst>
            <a:outerShdw blurRad="50800" dist="38100" dir="2700000" algn="ctr" rotWithShape="0">
              <a:sysClr val="window" lastClr="FFFFFF">
                <a:lumMod val="75000"/>
                <a:alpha val="75000"/>
              </a:sysClr>
            </a:outerShdw>
          </a:effectLst>
          <a:scene3d>
            <a:camera prst="perspectiveFront"/>
            <a:lightRig rig="threePt" dir="t"/>
          </a:scene3d>
        </p:spPr>
        <p:txBody>
          <a:bodyPr rot="0" spcFirstLastPara="0" vertOverflow="overflow" horzOverflow="overflow" vert="horz" wrap="square" lIns="68524" tIns="34262" rIns="68524" bIns="34262" numCol="1" spcCol="0" rtlCol="0" fromWordArt="0" anchor="ctr" anchorCtr="0" forceAA="0" compatLnSpc="1">
            <a:noAutofit/>
          </a:bodyPr>
          <a:lstStyle/>
          <a:p>
            <a:pPr algn="ctr" defTabSz="685165" fontAlgn="auto">
              <a:spcBef>
                <a:spcPts val="0"/>
              </a:spcBef>
              <a:spcAft>
                <a:spcPts val="0"/>
              </a:spcAft>
              <a:defRPr/>
            </a:pPr>
            <a:endParaRPr kumimoji="0" lang="zh-CN" altLang="en-US" sz="135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文本框 336"/>
          <p:cNvSpPr txBox="1"/>
          <p:nvPr/>
        </p:nvSpPr>
        <p:spPr>
          <a:xfrm>
            <a:off x="544671" y="2615346"/>
            <a:ext cx="2014395" cy="184538"/>
          </a:xfrm>
          <a:prstGeom prst="rect">
            <a:avLst/>
          </a:prstGeom>
          <a:noFill/>
          <a:ln w="12700">
            <a:noFill/>
          </a:ln>
        </p:spPr>
        <p:txBody>
          <a:bodyPr wrap="square" lIns="0" tIns="0" rIns="0" bIns="0" rtlCol="0">
            <a:spAutoFit/>
          </a:bodyPr>
          <a:lstStyle/>
          <a:p>
            <a:pPr algn="ctr" defTabSz="913765" fontAlgn="auto">
              <a:spcBef>
                <a:spcPts val="0"/>
              </a:spcBef>
              <a:spcAft>
                <a:spcPts val="0"/>
              </a:spcAft>
            </a:pPr>
            <a:r>
              <a:rPr kumimoji="0" lang="zh-CN" altLang="en-US" sz="1200" b="1" dirty="0">
                <a:solidFill>
                  <a:prstClr val="black"/>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rPr>
              <a:t>关系型数据库</a:t>
            </a:r>
            <a:endParaRPr kumimoji="0" lang="en-US" altLang="zh-CN" sz="1200" b="1" dirty="0">
              <a:solidFill>
                <a:prstClr val="black"/>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endParaRPr>
          </a:p>
        </p:txBody>
      </p:sp>
      <p:graphicFrame>
        <p:nvGraphicFramePr>
          <p:cNvPr id="55" name="表格 54"/>
          <p:cNvGraphicFramePr>
            <a:graphicFrameLocks noGrp="1"/>
          </p:cNvGraphicFramePr>
          <p:nvPr/>
        </p:nvGraphicFramePr>
        <p:xfrm>
          <a:off x="603914" y="2812093"/>
          <a:ext cx="2038046" cy="1036076"/>
        </p:xfrm>
        <a:graphic>
          <a:graphicData uri="http://schemas.openxmlformats.org/drawingml/2006/table">
            <a:tbl>
              <a:tblPr firstRow="1" bandRow="1">
                <a:tableStyleId>{72833802-FEF1-4C79-8D5D-14CF1EAF98D9}</a:tableStyleId>
              </a:tblPr>
              <a:tblGrid>
                <a:gridCol w="470847"/>
                <a:gridCol w="773633"/>
                <a:gridCol w="793566"/>
              </a:tblGrid>
              <a:tr h="278021">
                <a:tc>
                  <a:txBody>
                    <a:bodyPr/>
                    <a:lstStyle/>
                    <a:p>
                      <a:endParaRPr lang="zh-CN" altLang="en-US" sz="9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68553" marR="68553" marT="34277" marB="34277" anchor="ctr">
                    <a:lnL w="6350" cap="flat" cmpd="sng" algn="ctr">
                      <a:noFill/>
                      <a:prstDash val="solid"/>
                      <a:miter lim="800000"/>
                    </a:lnL>
                    <a:lnR w="12700" cap="flat" cmpd="sng" algn="ctr">
                      <a:noFill/>
                      <a:prstDash val="solid"/>
                      <a:round/>
                      <a:headEnd type="none" w="med" len="med"/>
                      <a:tailEnd type="none" w="med" len="med"/>
                    </a:lnR>
                    <a:lnT w="6350" cap="flat" cmpd="sng" algn="ctr">
                      <a:noFill/>
                      <a:prstDash val="solid"/>
                      <a:miter lim="800000"/>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5B5B5"/>
                    </a:solidFill>
                  </a:tcPr>
                </a:tc>
                <a:tc>
                  <a:txBody>
                    <a:bodyPr/>
                    <a:lstStyle/>
                    <a:p>
                      <a:pPr marL="0" marR="0" lvl="0" indent="0" algn="l" defTabSz="1188085" rtl="0" eaLnBrk="1" fontAlgn="auto" latinLnBrk="0" hangingPunct="1">
                        <a:lnSpc>
                          <a:spcPct val="100000"/>
                        </a:lnSpc>
                        <a:spcBef>
                          <a:spcPts val="0"/>
                        </a:spcBef>
                        <a:spcAft>
                          <a:spcPts val="0"/>
                        </a:spcAft>
                        <a:buClrTx/>
                        <a:buSzTx/>
                        <a:buFontTx/>
                        <a:buNone/>
                        <a:defRPr/>
                      </a:pPr>
                      <a:r>
                        <a:rPr lang="en-US" altLang="zh-CN" sz="900" b="1" dirty="0">
                          <a:solidFill>
                            <a:schemeClr val="bg1"/>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rPr>
                        <a:t>On Premise</a:t>
                      </a:r>
                      <a:endParaRPr lang="zh-CN" altLang="en-US" sz="9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68553" marR="68553" marT="34277" marB="3427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miter lim="800000"/>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5B5B5"/>
                    </a:solidFill>
                  </a:tcPr>
                </a:tc>
                <a:tc>
                  <a:txBody>
                    <a:bodyPr/>
                    <a:lstStyle/>
                    <a:p>
                      <a:r>
                        <a:rPr lang="en-US" altLang="zh-CN" sz="9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Cloud</a:t>
                      </a:r>
                      <a:endParaRPr lang="zh-CN" altLang="en-US" sz="9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68553" marR="68553" marT="34277" marB="34277" anchor="ctr">
                    <a:lnL w="12700" cap="flat" cmpd="sng" algn="ctr">
                      <a:noFill/>
                      <a:prstDash val="solid"/>
                      <a:round/>
                      <a:headEnd type="none" w="med" len="med"/>
                      <a:tailEnd type="none" w="med" len="med"/>
                    </a:lnL>
                    <a:lnR w="6350" cap="flat" cmpd="sng" algn="ctr">
                      <a:noFill/>
                      <a:prstDash val="solid"/>
                      <a:miter lim="800000"/>
                    </a:lnR>
                    <a:lnT w="6350" cap="flat" cmpd="sng" algn="ctr">
                      <a:noFill/>
                      <a:prstDash val="solid"/>
                      <a:miter lim="800000"/>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5B5B5"/>
                    </a:solidFill>
                  </a:tcPr>
                </a:tc>
              </a:tr>
              <a:tr h="278021">
                <a:tc>
                  <a:txBody>
                    <a:bodyPr/>
                    <a:lstStyle/>
                    <a:p>
                      <a:r>
                        <a:rPr lang="en-US" altLang="zh-CN" sz="9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OLTP</a:t>
                      </a:r>
                      <a:endParaRPr lang="zh-CN" altLang="en-US" sz="9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68553" marR="68553" marT="34277" marB="34277" anchor="ctr">
                    <a:lnL w="6350" cap="flat" cmpd="sng" algn="ctr">
                      <a:noFill/>
                      <a:prstDash val="solid"/>
                      <a:miter lim="800000"/>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5B5B5"/>
                    </a:solidFill>
                  </a:tcPr>
                </a:tc>
                <a:tc>
                  <a:txBody>
                    <a:bodyPr/>
                    <a:lstStyle/>
                    <a:p>
                      <a:pPr marL="0" marR="0" lvl="0" indent="0" algn="l" defTabSz="1188085" rtl="0" eaLnBrk="1" fontAlgn="auto" latinLnBrk="0" hangingPunct="1">
                        <a:lnSpc>
                          <a:spcPct val="100000"/>
                        </a:lnSpc>
                        <a:spcBef>
                          <a:spcPts val="0"/>
                        </a:spcBef>
                        <a:spcAft>
                          <a:spcPts val="0"/>
                        </a:spcAft>
                        <a:buClrTx/>
                        <a:buSzTx/>
                        <a:buFontTx/>
                        <a:buNone/>
                        <a:defRPr/>
                      </a:pPr>
                      <a:r>
                        <a:rPr lang="en-US" altLang="zh-CN" sz="900" b="0" kern="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GaussDB T</a:t>
                      </a:r>
                      <a:endParaRPr lang="zh-CN" altLang="en-US" sz="900" b="0" kern="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68553" marR="68553" marT="34277" marB="3427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5B5B5"/>
                    </a:solidFill>
                  </a:tcPr>
                </a:tc>
                <a:tc>
                  <a:txBody>
                    <a:bodyPr/>
                    <a:lstStyle/>
                    <a:p>
                      <a:pPr marL="0" marR="0" lvl="0" indent="0" algn="l" defTabSz="1188085" rtl="0" eaLnBrk="1" fontAlgn="auto" latinLnBrk="0" hangingPunct="1">
                        <a:lnSpc>
                          <a:spcPct val="100000"/>
                        </a:lnSpc>
                        <a:spcBef>
                          <a:spcPts val="0"/>
                        </a:spcBef>
                        <a:spcAft>
                          <a:spcPts val="0"/>
                        </a:spcAft>
                        <a:buClrTx/>
                        <a:buSzTx/>
                        <a:buFontTx/>
                        <a:buNone/>
                        <a:defRPr/>
                      </a:pPr>
                      <a:r>
                        <a:rPr lang="en-US" altLang="zh-CN" sz="900" b="0" kern="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GaussDB T</a:t>
                      </a:r>
                      <a:endParaRPr lang="zh-CN" altLang="en-US" sz="900" b="0" kern="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68553" marR="68553" marT="34277" marB="34277" anchor="ctr">
                    <a:lnL w="12700" cap="flat" cmpd="sng" algn="ctr">
                      <a:noFill/>
                      <a:prstDash val="solid"/>
                      <a:round/>
                      <a:headEnd type="none" w="med" len="med"/>
                      <a:tailEnd type="none" w="med" len="med"/>
                    </a:lnL>
                    <a:lnR w="6350" cap="flat" cmpd="sng" algn="ctr">
                      <a:noFill/>
                      <a:prstDash val="solid"/>
                      <a:miter lim="800000"/>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5B5B5"/>
                    </a:solidFill>
                  </a:tcPr>
                </a:tc>
              </a:tr>
              <a:tr h="480033">
                <a:tc>
                  <a:txBody>
                    <a:bodyPr/>
                    <a:lstStyle/>
                    <a:p>
                      <a:r>
                        <a:rPr lang="en-US" altLang="zh-CN" sz="9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OLAP</a:t>
                      </a:r>
                      <a:endParaRPr lang="zh-CN" altLang="en-US" sz="9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68553" marR="68553" marT="34277" marB="34277" anchor="ctr">
                    <a:lnL w="6350" cap="flat" cmpd="sng" algn="ctr">
                      <a:noFill/>
                      <a:prstDash val="solid"/>
                      <a:miter lim="800000"/>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miter lim="800000"/>
                    </a:lnB>
                    <a:lnTlToBr w="12700" cmpd="sng">
                      <a:noFill/>
                      <a:prstDash val="solid"/>
                    </a:lnTlToBr>
                    <a:lnBlToTr w="12700" cmpd="sng">
                      <a:noFill/>
                      <a:prstDash val="solid"/>
                    </a:lnBlToTr>
                    <a:solidFill>
                      <a:srgbClr val="B5B5B5"/>
                    </a:solidFill>
                  </a:tcPr>
                </a:tc>
                <a:tc>
                  <a:txBody>
                    <a:bodyPr/>
                    <a:lstStyle/>
                    <a:p>
                      <a:pPr marL="0" marR="0" lvl="0" indent="0" algn="l" defTabSz="1188085" rtl="0" eaLnBrk="1" fontAlgn="auto" latinLnBrk="0" hangingPunct="1">
                        <a:lnSpc>
                          <a:spcPct val="100000"/>
                        </a:lnSpc>
                        <a:spcBef>
                          <a:spcPts val="0"/>
                        </a:spcBef>
                        <a:spcAft>
                          <a:spcPts val="0"/>
                        </a:spcAft>
                        <a:buClrTx/>
                        <a:buSzTx/>
                        <a:buFontTx/>
                        <a:buNone/>
                        <a:defRPr/>
                      </a:pPr>
                      <a:r>
                        <a:rPr lang="en-US" altLang="zh-CN" sz="900" b="0" kern="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GaussDB A</a:t>
                      </a:r>
                      <a:endParaRPr lang="en-US" altLang="zh-CN" sz="900" b="0" kern="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endParaRPr lang="zh-CN" altLang="en-US" sz="9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68553" marR="68553" marT="34277" marB="3427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miter lim="800000"/>
                    </a:lnB>
                    <a:lnTlToBr w="12700" cmpd="sng">
                      <a:noFill/>
                      <a:prstDash val="solid"/>
                    </a:lnTlToBr>
                    <a:lnBlToTr w="12700" cmpd="sng">
                      <a:noFill/>
                      <a:prstDash val="solid"/>
                    </a:lnBlToTr>
                    <a:solidFill>
                      <a:srgbClr val="B5B5B5"/>
                    </a:solidFill>
                  </a:tcPr>
                </a:tc>
                <a:tc>
                  <a:txBody>
                    <a:bodyPr/>
                    <a:lstStyle/>
                    <a:p>
                      <a:pPr marL="0" marR="0" lvl="0" indent="0" algn="l" defTabSz="1188085" rtl="0" eaLnBrk="1" fontAlgn="auto" latinLnBrk="0" hangingPunct="1">
                        <a:lnSpc>
                          <a:spcPct val="100000"/>
                        </a:lnSpc>
                        <a:spcBef>
                          <a:spcPts val="0"/>
                        </a:spcBef>
                        <a:spcAft>
                          <a:spcPts val="0"/>
                        </a:spcAft>
                        <a:buClrTx/>
                        <a:buSzTx/>
                        <a:buFontTx/>
                        <a:buNone/>
                        <a:defRPr/>
                      </a:pPr>
                      <a:r>
                        <a:rPr lang="en-US" altLang="zh-CN" sz="900" b="0" kern="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GaussDB (DWS)</a:t>
                      </a:r>
                      <a:endParaRPr lang="en-US" altLang="zh-CN" sz="900" b="0" kern="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endParaRPr lang="zh-CN" altLang="en-US" sz="900" b="0" kern="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68553" marR="68553" marT="34277" marB="34277" anchor="ctr">
                    <a:lnL w="12700" cap="flat" cmpd="sng" algn="ctr">
                      <a:noFill/>
                      <a:prstDash val="solid"/>
                      <a:round/>
                      <a:headEnd type="none" w="med" len="med"/>
                      <a:tailEnd type="none" w="med" len="med"/>
                    </a:lnL>
                    <a:lnR w="6350" cap="flat" cmpd="sng" algn="ctr">
                      <a:noFill/>
                      <a:prstDash val="solid"/>
                      <a:miter lim="800000"/>
                    </a:lnR>
                    <a:lnT w="12700" cap="flat" cmpd="sng" algn="ctr">
                      <a:noFill/>
                      <a:prstDash val="solid"/>
                      <a:round/>
                      <a:headEnd type="none" w="med" len="med"/>
                      <a:tailEnd type="none" w="med" len="med"/>
                    </a:lnT>
                    <a:lnB w="6350" cap="flat" cmpd="sng" algn="ctr">
                      <a:noFill/>
                      <a:prstDash val="solid"/>
                      <a:miter lim="800000"/>
                    </a:lnB>
                    <a:lnTlToBr w="12700" cmpd="sng">
                      <a:noFill/>
                      <a:prstDash val="solid"/>
                    </a:lnTlToBr>
                    <a:lnBlToTr w="12700" cmpd="sng">
                      <a:noFill/>
                      <a:prstDash val="solid"/>
                    </a:lnBlToTr>
                    <a:solidFill>
                      <a:srgbClr val="B5B5B5"/>
                    </a:solidFill>
                  </a:tcPr>
                </a:tc>
              </a:tr>
            </a:tbl>
          </a:graphicData>
        </a:graphic>
      </p:graphicFrame>
      <p:sp>
        <p:nvSpPr>
          <p:cNvPr id="56" name="文本框 55"/>
          <p:cNvSpPr txBox="1"/>
          <p:nvPr/>
        </p:nvSpPr>
        <p:spPr>
          <a:xfrm>
            <a:off x="2559066" y="3088963"/>
            <a:ext cx="699034" cy="415242"/>
          </a:xfrm>
          <a:prstGeom prst="rect">
            <a:avLst/>
          </a:prstGeom>
          <a:noFill/>
        </p:spPr>
        <p:txBody>
          <a:bodyPr wrap="square" rtlCol="0">
            <a:spAutoFit/>
          </a:bodyPr>
          <a:lstStyle/>
          <a:p>
            <a:pPr algn="ctr" defTabSz="685800"/>
            <a:r>
              <a:rPr kumimoji="0" lang="zh-CN" altLang="en-US" sz="1050" b="1" kern="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战略升级</a:t>
            </a:r>
            <a:endParaRPr kumimoji="0" lang="zh-CN" altLang="en-US"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矩形 56"/>
          <p:cNvSpPr/>
          <p:nvPr/>
        </p:nvSpPr>
        <p:spPr>
          <a:xfrm>
            <a:off x="632328" y="4537799"/>
            <a:ext cx="2125999" cy="438325"/>
          </a:xfrm>
          <a:prstGeom prst="rect">
            <a:avLst/>
          </a:prstGeom>
        </p:spPr>
        <p:txBody>
          <a:bodyPr wrap="square" anchor="ctr">
            <a:spAutoFit/>
          </a:bodyPr>
          <a:lstStyle/>
          <a:p>
            <a:pPr defTabSz="455930" fontAlgn="auto">
              <a:spcBef>
                <a:spcPts val="0"/>
              </a:spcBef>
              <a:spcAft>
                <a:spcPts val="0"/>
              </a:spcAft>
            </a:pPr>
            <a:r>
              <a:rPr kumimoji="0"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7</a:t>
            </a:r>
            <a:r>
              <a:rPr kumimoji="0" lang="zh-CN" altLang="en-US"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大全球区域</a:t>
            </a:r>
            <a:r>
              <a:rPr kumimoji="0" lang="zh-CN" altLang="en-US" sz="1050" dirty="0">
                <a:solidFill>
                  <a:prstClr val="black"/>
                </a:solidFill>
                <a:latin typeface="Huawei Sans" panose="020C0503030203020204" pitchFamily="34" charset="0"/>
                <a:ea typeface="方正兰亭黑简体" panose="02000000000000000000" pitchFamily="2" charset="-122"/>
                <a:cs typeface="Helvetica Neue" panose="02000503000000020004"/>
                <a:sym typeface="Huawei Sans" panose="020C0503030203020204" pitchFamily="34" charset="0"/>
              </a:rPr>
              <a:t>研究所从事基础研究</a:t>
            </a:r>
            <a:endParaRPr kumimoji="0" lang="en-US" altLang="zh-CN" sz="1050" dirty="0">
              <a:solidFill>
                <a:prstClr val="black"/>
              </a:solidFill>
              <a:latin typeface="Huawei Sans" panose="020C0503030203020204" pitchFamily="34" charset="0"/>
              <a:ea typeface="方正兰亭黑简体" panose="02000000000000000000" pitchFamily="2" charset="-122"/>
              <a:cs typeface="Helvetica Neue" panose="02000503000000020004"/>
              <a:sym typeface="Huawei Sans" panose="020C0503030203020204" pitchFamily="34" charset="0"/>
            </a:endParaRPr>
          </a:p>
        </p:txBody>
      </p:sp>
      <p:sp>
        <p:nvSpPr>
          <p:cNvPr id="58" name="矩形 57"/>
          <p:cNvSpPr/>
          <p:nvPr/>
        </p:nvSpPr>
        <p:spPr>
          <a:xfrm>
            <a:off x="2821372" y="4618526"/>
            <a:ext cx="1963811" cy="276871"/>
          </a:xfrm>
          <a:prstGeom prst="rect">
            <a:avLst/>
          </a:prstGeom>
        </p:spPr>
        <p:txBody>
          <a:bodyPr wrap="square" anchor="ctr">
            <a:spAutoFit/>
          </a:bodyPr>
          <a:lstStyle/>
          <a:p>
            <a:pPr defTabSz="455930" fontAlgn="auto">
              <a:spcBef>
                <a:spcPts val="0"/>
              </a:spcBef>
              <a:spcAft>
                <a:spcPts val="0"/>
              </a:spcAft>
            </a:pPr>
            <a:r>
              <a:rPr kumimoji="0" lang="en-US" altLang="zh-CN" sz="1200" b="1" dirty="0">
                <a:solidFill>
                  <a:srgbClr val="C7000B"/>
                </a:solidFill>
                <a:latin typeface="Huawei Sans" panose="020C0503030203020204" pitchFamily="34" charset="0"/>
                <a:ea typeface="方正兰亭黑简体" panose="02000000000000000000" pitchFamily="2" charset="-122"/>
                <a:cs typeface="Helvetica Neue" panose="02000503000000020004"/>
                <a:sym typeface="Huawei Sans" panose="020C0503030203020204" pitchFamily="34" charset="0"/>
              </a:rPr>
              <a:t>10+</a:t>
            </a:r>
            <a:r>
              <a:rPr kumimoji="0" lang="zh-CN" altLang="en-US" sz="1050" dirty="0">
                <a:solidFill>
                  <a:prstClr val="black"/>
                </a:solidFill>
                <a:latin typeface="Huawei Sans" panose="020C0503030203020204" pitchFamily="34" charset="0"/>
                <a:ea typeface="方正兰亭黑简体" panose="02000000000000000000" pitchFamily="2" charset="-122"/>
                <a:cs typeface="Helvetica Neue" panose="02000503000000020004"/>
                <a:sym typeface="Huawei Sans" panose="020C0503030203020204" pitchFamily="34" charset="0"/>
              </a:rPr>
              <a:t>年数据库领域技术积累</a:t>
            </a:r>
            <a:endParaRPr kumimoji="0" lang="en-US" altLang="zh-CN" sz="1050" dirty="0">
              <a:solidFill>
                <a:prstClr val="black"/>
              </a:solidFill>
              <a:latin typeface="Huawei Sans" panose="020C0503030203020204" pitchFamily="34" charset="0"/>
              <a:ea typeface="方正兰亭黑简体" panose="02000000000000000000" pitchFamily="2" charset="-122"/>
              <a:cs typeface="Helvetica Neue" panose="02000503000000020004"/>
              <a:sym typeface="Huawei Sans" panose="020C0503030203020204" pitchFamily="34" charset="0"/>
            </a:endParaRPr>
          </a:p>
        </p:txBody>
      </p:sp>
      <p:sp>
        <p:nvSpPr>
          <p:cNvPr id="59" name="矩形 58"/>
          <p:cNvSpPr/>
          <p:nvPr/>
        </p:nvSpPr>
        <p:spPr>
          <a:xfrm>
            <a:off x="2814063" y="4984859"/>
            <a:ext cx="1963811" cy="276871"/>
          </a:xfrm>
          <a:prstGeom prst="rect">
            <a:avLst/>
          </a:prstGeom>
        </p:spPr>
        <p:txBody>
          <a:bodyPr wrap="square" anchor="ctr">
            <a:spAutoFit/>
          </a:bodyPr>
          <a:lstStyle/>
          <a:p>
            <a:pPr defTabSz="455930" fontAlgn="auto">
              <a:spcBef>
                <a:spcPts val="0"/>
              </a:spcBef>
              <a:spcAft>
                <a:spcPts val="0"/>
              </a:spcAft>
            </a:pPr>
            <a:r>
              <a:rPr kumimoji="0"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30000+</a:t>
            </a:r>
            <a:r>
              <a:rPr kumimoji="0" lang="zh-CN" altLang="en-US" sz="1050" dirty="0">
                <a:solidFill>
                  <a:prstClr val="black"/>
                </a:solidFill>
                <a:latin typeface="Huawei Sans" panose="020C0503030203020204" pitchFamily="34" charset="0"/>
                <a:ea typeface="方正兰亭黑简体" panose="02000000000000000000" pitchFamily="2" charset="-122"/>
                <a:cs typeface="Helvetica Neue" panose="02000503000000020004"/>
                <a:sym typeface="Huawei Sans" panose="020C0503030203020204" pitchFamily="34" charset="0"/>
              </a:rPr>
              <a:t>全球数据库应用量</a:t>
            </a:r>
            <a:endParaRPr kumimoji="0" lang="en-US" altLang="zh-CN" sz="1050" dirty="0">
              <a:solidFill>
                <a:prstClr val="black"/>
              </a:solidFill>
              <a:latin typeface="Huawei Sans" panose="020C0503030203020204" pitchFamily="34" charset="0"/>
              <a:ea typeface="方正兰亭黑简体" panose="02000000000000000000" pitchFamily="2" charset="-122"/>
              <a:cs typeface="Helvetica Neue" panose="02000503000000020004"/>
              <a:sym typeface="Huawei Sans" panose="020C0503030203020204" pitchFamily="34" charset="0"/>
            </a:endParaRPr>
          </a:p>
        </p:txBody>
      </p:sp>
      <p:sp>
        <p:nvSpPr>
          <p:cNvPr id="60" name="矩形 59"/>
          <p:cNvSpPr/>
          <p:nvPr/>
        </p:nvSpPr>
        <p:spPr>
          <a:xfrm>
            <a:off x="621132" y="4967273"/>
            <a:ext cx="2125999" cy="276871"/>
          </a:xfrm>
          <a:prstGeom prst="rect">
            <a:avLst/>
          </a:prstGeom>
        </p:spPr>
        <p:txBody>
          <a:bodyPr wrap="square" anchor="ctr">
            <a:spAutoFit/>
          </a:bodyPr>
          <a:lstStyle/>
          <a:p>
            <a:pPr defTabSz="455930" fontAlgn="auto">
              <a:spcBef>
                <a:spcPts val="0"/>
              </a:spcBef>
              <a:spcAft>
                <a:spcPts val="0"/>
              </a:spcAft>
            </a:pPr>
            <a:r>
              <a:rPr kumimoji="0"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1000+</a:t>
            </a:r>
            <a:r>
              <a:rPr kumimoji="0" lang="zh-CN" altLang="en-US" sz="1050" dirty="0">
                <a:solidFill>
                  <a:prstClr val="black"/>
                </a:solidFill>
                <a:latin typeface="Huawei Sans" panose="020C0503030203020204" pitchFamily="34" charset="0"/>
                <a:ea typeface="方正兰亭黑简体" panose="02000000000000000000" pitchFamily="2" charset="-122"/>
                <a:cs typeface="Helvetica Neue" panose="02000503000000020004"/>
                <a:sym typeface="Huawei Sans" panose="020C0503030203020204" pitchFamily="34" charset="0"/>
              </a:rPr>
              <a:t>数据库专项人才</a:t>
            </a:r>
            <a:endParaRPr kumimoji="0" lang="en-US" altLang="zh-CN" sz="1050" dirty="0">
              <a:solidFill>
                <a:prstClr val="black"/>
              </a:solidFill>
              <a:latin typeface="Huawei Sans" panose="020C0503030203020204" pitchFamily="34" charset="0"/>
              <a:ea typeface="方正兰亭黑简体" panose="02000000000000000000" pitchFamily="2" charset="-122"/>
              <a:cs typeface="Helvetica Neue" panose="02000503000000020004"/>
              <a:sym typeface="Huawei Sans" panose="020C0503030203020204" pitchFamily="34" charset="0"/>
            </a:endParaRPr>
          </a:p>
        </p:txBody>
      </p:sp>
      <p:sp>
        <p:nvSpPr>
          <p:cNvPr id="74" name="文本框 73"/>
          <p:cNvSpPr txBox="1"/>
          <p:nvPr/>
        </p:nvSpPr>
        <p:spPr>
          <a:xfrm>
            <a:off x="3481468" y="1995984"/>
            <a:ext cx="1161548" cy="213585"/>
          </a:xfrm>
          <a:prstGeom prst="rect">
            <a:avLst/>
          </a:prstGeom>
          <a:noFill/>
        </p:spPr>
        <p:txBody>
          <a:bodyPr wrap="square" rtlCol="0">
            <a:spAutoFit/>
          </a:bodyPr>
          <a:lstStyle/>
          <a:p>
            <a:pPr defTabSz="685800"/>
            <a:r>
              <a:rPr kumimoji="0" lang="zh-CN" altLang="en-US" sz="79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表示处于待规划状态</a:t>
            </a:r>
            <a:endParaRPr kumimoji="0" lang="en-US" altLang="zh-CN" sz="79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十字星 74"/>
          <p:cNvSpPr/>
          <p:nvPr/>
        </p:nvSpPr>
        <p:spPr>
          <a:xfrm>
            <a:off x="3258100" y="2012940"/>
            <a:ext cx="146425" cy="138943"/>
          </a:xfrm>
          <a:prstGeom prst="star4">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kumimoji="0" lang="zh-CN" altLang="en-US" sz="135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3" name="矩形 92"/>
          <p:cNvSpPr/>
          <p:nvPr/>
        </p:nvSpPr>
        <p:spPr>
          <a:xfrm>
            <a:off x="5419770" y="2258198"/>
            <a:ext cx="1661698" cy="1960661"/>
          </a:xfrm>
          <a:prstGeom prst="rect">
            <a:avLst/>
          </a:prstGeom>
          <a:solidFill>
            <a:srgbClr val="595757"/>
          </a:solidFill>
          <a:ln w="12700" cap="flat" cmpd="sng" algn="ctr">
            <a:noFill/>
            <a:prstDash val="solid"/>
            <a:miter lim="800000"/>
          </a:ln>
          <a:effectLst>
            <a:outerShdw blurRad="50800" dist="38100" dir="2700000" algn="ctr" rotWithShape="0">
              <a:sysClr val="window" lastClr="FFFFFF">
                <a:lumMod val="75000"/>
                <a:alpha val="75000"/>
              </a:sysClr>
            </a:outerShdw>
          </a:effectLst>
          <a:scene3d>
            <a:camera prst="perspectiveFront"/>
            <a:lightRig rig="threePt" dir="t"/>
          </a:scene3d>
        </p:spPr>
        <p:txBody>
          <a:bodyPr rot="0" spcFirstLastPara="0" vertOverflow="overflow" horzOverflow="overflow" vert="horz" wrap="square" lIns="68524" tIns="34262" rIns="68524" bIns="34262" numCol="1" spcCol="0" rtlCol="0" fromWordArt="0" anchor="ctr" anchorCtr="0" forceAA="0" compatLnSpc="1">
            <a:noAutofit/>
          </a:bodyPr>
          <a:lstStyle/>
          <a:p>
            <a:pPr algn="ctr" defTabSz="685165" fontAlgn="auto">
              <a:spcBef>
                <a:spcPts val="0"/>
              </a:spcBef>
              <a:spcAft>
                <a:spcPts val="0"/>
              </a:spcAft>
              <a:defRPr/>
            </a:pPr>
            <a:endParaRPr kumimoji="0" lang="zh-CN" altLang="en-US" sz="135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4" name="矩形 93"/>
          <p:cNvSpPr/>
          <p:nvPr/>
        </p:nvSpPr>
        <p:spPr>
          <a:xfrm>
            <a:off x="3258100" y="2264126"/>
            <a:ext cx="2102659" cy="1964003"/>
          </a:xfrm>
          <a:prstGeom prst="rect">
            <a:avLst/>
          </a:prstGeom>
          <a:solidFill>
            <a:srgbClr val="595757"/>
          </a:solidFill>
          <a:ln w="12700" cap="flat" cmpd="sng" algn="ctr">
            <a:noFill/>
            <a:prstDash val="solid"/>
            <a:miter lim="800000"/>
          </a:ln>
          <a:effectLst>
            <a:outerShdw blurRad="50800" dist="38100" dir="2700000" algn="ctr" rotWithShape="0">
              <a:sysClr val="window" lastClr="FFFFFF">
                <a:lumMod val="75000"/>
                <a:alpha val="75000"/>
              </a:sysClr>
            </a:outerShdw>
          </a:effectLst>
          <a:scene3d>
            <a:camera prst="perspectiveFront"/>
            <a:lightRig rig="threePt" dir="t"/>
          </a:scene3d>
        </p:spPr>
        <p:txBody>
          <a:bodyPr rot="0" spcFirstLastPara="0" vertOverflow="overflow" horzOverflow="overflow" vert="horz" wrap="square" lIns="68524" tIns="34262" rIns="68524" bIns="34262" numCol="1" spcCol="0" rtlCol="0" fromWordArt="0" anchor="ctr" anchorCtr="0" forceAA="0" compatLnSpc="1">
            <a:noAutofit/>
          </a:bodyPr>
          <a:lstStyle/>
          <a:p>
            <a:pPr algn="ctr" defTabSz="685165" fontAlgn="auto">
              <a:spcBef>
                <a:spcPts val="0"/>
              </a:spcBef>
              <a:spcAft>
                <a:spcPts val="0"/>
              </a:spcAft>
              <a:defRPr/>
            </a:pPr>
            <a:endParaRPr kumimoji="0" lang="zh-CN" altLang="en-US" sz="135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5" name="文本框 336"/>
          <p:cNvSpPr txBox="1"/>
          <p:nvPr/>
        </p:nvSpPr>
        <p:spPr>
          <a:xfrm>
            <a:off x="3847005" y="2410548"/>
            <a:ext cx="1231106" cy="184538"/>
          </a:xfrm>
          <a:prstGeom prst="rect">
            <a:avLst/>
          </a:prstGeom>
          <a:noFill/>
          <a:ln w="12700">
            <a:noFill/>
          </a:ln>
        </p:spPr>
        <p:txBody>
          <a:bodyPr wrap="none" lIns="0" tIns="0" rIns="0" bIns="0" rtlCol="0">
            <a:spAutoFit/>
          </a:bodyPr>
          <a:lstStyle/>
          <a:p>
            <a:pPr defTabSz="913765" fontAlgn="auto">
              <a:spcBef>
                <a:spcPts val="0"/>
              </a:spcBef>
              <a:spcAft>
                <a:spcPts val="0"/>
              </a:spcAft>
            </a:pPr>
            <a:r>
              <a:rPr kumimoji="0" lang="zh-CN" altLang="en-US" sz="1200" b="1" dirty="0">
                <a:solidFill>
                  <a:prstClr val="white"/>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rPr>
              <a:t>关系型数据库服务</a:t>
            </a:r>
            <a:endParaRPr kumimoji="0" lang="en-US" altLang="zh-CN" sz="1200" b="1" dirty="0">
              <a:solidFill>
                <a:prstClr val="white"/>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endParaRPr>
          </a:p>
        </p:txBody>
      </p:sp>
      <p:sp>
        <p:nvSpPr>
          <p:cNvPr id="96" name="文本框 336"/>
          <p:cNvSpPr txBox="1"/>
          <p:nvPr/>
        </p:nvSpPr>
        <p:spPr>
          <a:xfrm>
            <a:off x="5569652" y="2421783"/>
            <a:ext cx="1384995" cy="184538"/>
          </a:xfrm>
          <a:prstGeom prst="rect">
            <a:avLst/>
          </a:prstGeom>
          <a:noFill/>
          <a:ln w="12700">
            <a:noFill/>
          </a:ln>
        </p:spPr>
        <p:txBody>
          <a:bodyPr wrap="none" lIns="0" tIns="0" rIns="0" bIns="0" rtlCol="0">
            <a:spAutoFit/>
          </a:bodyPr>
          <a:lstStyle/>
          <a:p>
            <a:pPr defTabSz="913765" fontAlgn="auto">
              <a:spcBef>
                <a:spcPts val="0"/>
              </a:spcBef>
              <a:spcAft>
                <a:spcPts val="0"/>
              </a:spcAft>
            </a:pPr>
            <a:r>
              <a:rPr kumimoji="0" lang="zh-CN" altLang="en-US" sz="1200" b="1" dirty="0">
                <a:solidFill>
                  <a:prstClr val="white"/>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rPr>
              <a:t>非关系型数据库服务</a:t>
            </a:r>
            <a:endParaRPr kumimoji="0" lang="en-US" altLang="zh-CN" sz="1200" b="1" dirty="0">
              <a:solidFill>
                <a:prstClr val="white"/>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endParaRPr>
          </a:p>
        </p:txBody>
      </p:sp>
      <p:sp>
        <p:nvSpPr>
          <p:cNvPr id="97" name="文本框 96"/>
          <p:cNvSpPr txBox="1"/>
          <p:nvPr/>
        </p:nvSpPr>
        <p:spPr>
          <a:xfrm>
            <a:off x="5510661" y="3328948"/>
            <a:ext cx="1511262" cy="576696"/>
          </a:xfrm>
          <a:prstGeom prst="rect">
            <a:avLst/>
          </a:prstGeom>
          <a:noFill/>
          <a:ln>
            <a:noFill/>
          </a:ln>
        </p:spPr>
        <p:txBody>
          <a:bodyPr wrap="square" rtlCol="0">
            <a:spAutoFit/>
          </a:bodyPr>
          <a:lstStyle/>
          <a:p>
            <a:pPr defTabSz="685800" fontAlgn="auto">
              <a:spcBef>
                <a:spcPts val="0"/>
              </a:spcBef>
              <a:spcAft>
                <a:spcPts val="0"/>
              </a:spcAft>
              <a:defRPr/>
            </a:pPr>
            <a:r>
              <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GaussDB (for Cassandra)</a:t>
            </a:r>
            <a:endPar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defTabSz="685800" fontAlgn="auto">
              <a:spcBef>
                <a:spcPts val="0"/>
              </a:spcBef>
              <a:spcAft>
                <a:spcPts val="0"/>
              </a:spcAft>
              <a:defRPr/>
            </a:pPr>
            <a:r>
              <a:rPr kumimoji="0" lang="zh-CN" altLang="en-US"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已发布</a:t>
            </a:r>
            <a:endPar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8" name="文本框 97"/>
          <p:cNvSpPr txBox="1"/>
          <p:nvPr/>
        </p:nvSpPr>
        <p:spPr>
          <a:xfrm>
            <a:off x="5523342" y="2732350"/>
            <a:ext cx="1587976" cy="415242"/>
          </a:xfrm>
          <a:prstGeom prst="rect">
            <a:avLst/>
          </a:prstGeom>
          <a:noFill/>
          <a:ln>
            <a:noFill/>
          </a:ln>
        </p:spPr>
        <p:txBody>
          <a:bodyPr wrap="square" rtlCol="0">
            <a:spAutoFit/>
          </a:bodyPr>
          <a:lstStyle/>
          <a:p>
            <a:pPr defTabSz="685800" fontAlgn="auto">
              <a:spcBef>
                <a:spcPts val="0"/>
              </a:spcBef>
              <a:spcAft>
                <a:spcPts val="0"/>
              </a:spcAft>
              <a:defRPr/>
            </a:pPr>
            <a:r>
              <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GaussDB (for Mongo)</a:t>
            </a:r>
            <a:endPar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defTabSz="685800" fontAlgn="auto">
              <a:spcBef>
                <a:spcPts val="0"/>
              </a:spcBef>
              <a:spcAft>
                <a:spcPts val="0"/>
              </a:spcAft>
              <a:defRPr/>
            </a:pPr>
            <a:r>
              <a:rPr kumimoji="0" lang="zh-CN" altLang="en-US"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已发布</a:t>
            </a:r>
            <a:endPar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9" name="文本框 98"/>
          <p:cNvSpPr txBox="1"/>
          <p:nvPr/>
        </p:nvSpPr>
        <p:spPr>
          <a:xfrm>
            <a:off x="5506465" y="3824692"/>
            <a:ext cx="1452854" cy="415242"/>
          </a:xfrm>
          <a:prstGeom prst="rect">
            <a:avLst/>
          </a:prstGeom>
          <a:noFill/>
          <a:ln>
            <a:noFill/>
          </a:ln>
        </p:spPr>
        <p:txBody>
          <a:bodyPr wrap="square" rtlCol="0">
            <a:spAutoFit/>
          </a:bodyPr>
          <a:lstStyle/>
          <a:p>
            <a:pPr defTabSz="685800" fontAlgn="auto">
              <a:spcBef>
                <a:spcPts val="0"/>
              </a:spcBef>
              <a:spcAft>
                <a:spcPts val="0"/>
              </a:spcAft>
              <a:defRPr/>
            </a:pPr>
            <a:r>
              <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GaussDB (for Redis)</a:t>
            </a:r>
            <a:endPar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defTabSz="685800" fontAlgn="auto">
              <a:spcBef>
                <a:spcPts val="0"/>
              </a:spcBef>
              <a:spcAft>
                <a:spcPts val="0"/>
              </a:spcAft>
              <a:defRPr/>
            </a:pPr>
            <a:r>
              <a:rPr kumimoji="0" lang="zh-CN" altLang="en-US"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已发布</a:t>
            </a:r>
            <a:endPar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0" name="文本框 99"/>
          <p:cNvSpPr txBox="1"/>
          <p:nvPr/>
        </p:nvSpPr>
        <p:spPr>
          <a:xfrm>
            <a:off x="5523342" y="3029027"/>
            <a:ext cx="1549460" cy="415242"/>
          </a:xfrm>
          <a:prstGeom prst="rect">
            <a:avLst/>
          </a:prstGeom>
          <a:noFill/>
          <a:ln>
            <a:noFill/>
          </a:ln>
        </p:spPr>
        <p:txBody>
          <a:bodyPr wrap="square" rtlCol="0">
            <a:spAutoFit/>
          </a:bodyPr>
          <a:lstStyle/>
          <a:p>
            <a:pPr defTabSz="685800" fontAlgn="auto">
              <a:spcBef>
                <a:spcPts val="0"/>
              </a:spcBef>
              <a:spcAft>
                <a:spcPts val="0"/>
              </a:spcAft>
              <a:defRPr/>
            </a:pPr>
            <a:r>
              <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GaussDB (for Influx)</a:t>
            </a:r>
            <a:endPar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defTabSz="685800" fontAlgn="auto">
              <a:spcBef>
                <a:spcPts val="0"/>
              </a:spcBef>
              <a:spcAft>
                <a:spcPts val="0"/>
              </a:spcAft>
              <a:defRPr/>
            </a:pPr>
            <a:r>
              <a:rPr kumimoji="0" lang="zh-CN" altLang="en-US"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已发布</a:t>
            </a:r>
            <a:endPar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1" name="文本框 100"/>
          <p:cNvSpPr txBox="1"/>
          <p:nvPr/>
        </p:nvSpPr>
        <p:spPr>
          <a:xfrm>
            <a:off x="3779018" y="2622589"/>
            <a:ext cx="1577517" cy="415242"/>
          </a:xfrm>
          <a:prstGeom prst="rect">
            <a:avLst/>
          </a:prstGeom>
          <a:noFill/>
          <a:ln>
            <a:noFill/>
          </a:ln>
        </p:spPr>
        <p:txBody>
          <a:bodyPr wrap="square" rtlCol="0">
            <a:spAutoFit/>
          </a:bodyPr>
          <a:lstStyle/>
          <a:p>
            <a:pPr defTabSz="685800" fontAlgn="auto">
              <a:spcBef>
                <a:spcPts val="0"/>
              </a:spcBef>
              <a:spcAft>
                <a:spcPts val="0"/>
              </a:spcAft>
              <a:defRPr/>
            </a:pPr>
            <a:r>
              <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GaussDB (openGauss) </a:t>
            </a:r>
            <a:endPar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defTabSz="685800" fontAlgn="auto">
              <a:spcBef>
                <a:spcPts val="0"/>
              </a:spcBef>
              <a:spcAft>
                <a:spcPts val="0"/>
              </a:spcAft>
              <a:defRPr/>
            </a:pPr>
            <a:r>
              <a:rPr kumimoji="0" lang="zh-CN" altLang="en-US"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已发布</a:t>
            </a:r>
            <a:endPar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2" name="文本框 101"/>
          <p:cNvSpPr txBox="1"/>
          <p:nvPr/>
        </p:nvSpPr>
        <p:spPr>
          <a:xfrm>
            <a:off x="3779018" y="3171137"/>
            <a:ext cx="1525276" cy="253787"/>
          </a:xfrm>
          <a:prstGeom prst="rect">
            <a:avLst/>
          </a:prstGeom>
          <a:noFill/>
          <a:ln>
            <a:noFill/>
          </a:ln>
        </p:spPr>
        <p:txBody>
          <a:bodyPr wrap="square" rtlCol="0">
            <a:spAutoFit/>
          </a:bodyPr>
          <a:lstStyle/>
          <a:p>
            <a:pPr defTabSz="685800" fontAlgn="auto">
              <a:spcBef>
                <a:spcPts val="0"/>
              </a:spcBef>
              <a:spcAft>
                <a:spcPts val="0"/>
              </a:spcAft>
              <a:defRPr/>
            </a:pPr>
            <a:r>
              <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GaussDB (for MySQL)</a:t>
            </a:r>
            <a:endPar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4" name="矩形 103"/>
          <p:cNvSpPr/>
          <p:nvPr/>
        </p:nvSpPr>
        <p:spPr>
          <a:xfrm>
            <a:off x="7157750" y="2258199"/>
            <a:ext cx="1414274" cy="1956821"/>
          </a:xfrm>
          <a:prstGeom prst="rect">
            <a:avLst/>
          </a:prstGeom>
          <a:solidFill>
            <a:srgbClr val="595757"/>
          </a:solidFill>
          <a:ln w="12700" cap="flat" cmpd="sng" algn="ctr">
            <a:noFill/>
            <a:prstDash val="solid"/>
            <a:miter lim="800000"/>
          </a:ln>
          <a:effectLst>
            <a:outerShdw blurRad="50800" dist="38100" dir="2700000" algn="ctr" rotWithShape="0">
              <a:sysClr val="window" lastClr="FFFFFF">
                <a:lumMod val="75000"/>
                <a:alpha val="75000"/>
              </a:sysClr>
            </a:outerShdw>
          </a:effectLst>
          <a:scene3d>
            <a:camera prst="perspectiveFront"/>
            <a:lightRig rig="threePt" dir="t"/>
          </a:scene3d>
        </p:spPr>
        <p:txBody>
          <a:bodyPr rot="0" spcFirstLastPara="0" vertOverflow="overflow" horzOverflow="overflow" vert="horz" wrap="square" lIns="68524" tIns="34262" rIns="68524" bIns="34262" numCol="1" spcCol="0" rtlCol="0" fromWordArt="0" anchor="ctr" anchorCtr="0" forceAA="0" compatLnSpc="1">
            <a:noAutofit/>
          </a:bodyPr>
          <a:lstStyle/>
          <a:p>
            <a:pPr algn="ctr" defTabSz="685165" fontAlgn="auto">
              <a:spcBef>
                <a:spcPts val="0"/>
              </a:spcBef>
              <a:spcAft>
                <a:spcPts val="0"/>
              </a:spcAft>
              <a:defRPr/>
            </a:pPr>
            <a:endParaRPr kumimoji="0" lang="zh-CN" altLang="en-US" sz="135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5" name="文本框 336"/>
          <p:cNvSpPr txBox="1"/>
          <p:nvPr/>
        </p:nvSpPr>
        <p:spPr>
          <a:xfrm>
            <a:off x="7326487" y="2420293"/>
            <a:ext cx="1077218" cy="184538"/>
          </a:xfrm>
          <a:prstGeom prst="rect">
            <a:avLst/>
          </a:prstGeom>
          <a:noFill/>
          <a:ln w="12700">
            <a:noFill/>
          </a:ln>
        </p:spPr>
        <p:txBody>
          <a:bodyPr wrap="none" lIns="0" tIns="0" rIns="0" bIns="0" rtlCol="0">
            <a:spAutoFit/>
          </a:bodyPr>
          <a:lstStyle/>
          <a:p>
            <a:pPr defTabSz="913765" fontAlgn="auto">
              <a:spcBef>
                <a:spcPts val="0"/>
              </a:spcBef>
              <a:spcAft>
                <a:spcPts val="0"/>
              </a:spcAft>
            </a:pPr>
            <a:r>
              <a:rPr kumimoji="0" lang="zh-CN" altLang="en-US" sz="1200" b="1" dirty="0">
                <a:solidFill>
                  <a:prstClr val="white"/>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rPr>
              <a:t>数据库工具服务</a:t>
            </a:r>
            <a:endParaRPr kumimoji="0" lang="en-US" altLang="zh-CN" sz="1200" b="1" dirty="0">
              <a:solidFill>
                <a:prstClr val="white"/>
              </a:solidFill>
              <a:latin typeface="Huawei Sans" panose="020C0503030203020204" pitchFamily="34" charset="0"/>
              <a:ea typeface="方正兰亭黑简体" panose="02000000000000000000" pitchFamily="2" charset="-122"/>
              <a:cs typeface="Arial" panose="020B0604020202090204" pitchFamily="34" charset="0"/>
              <a:sym typeface="Huawei Sans" panose="020C0503030203020204" pitchFamily="34" charset="0"/>
            </a:endParaRPr>
          </a:p>
        </p:txBody>
      </p:sp>
      <p:sp>
        <p:nvSpPr>
          <p:cNvPr id="108" name="文本框 107"/>
          <p:cNvSpPr txBox="1"/>
          <p:nvPr/>
        </p:nvSpPr>
        <p:spPr>
          <a:xfrm>
            <a:off x="3212320" y="2953911"/>
            <a:ext cx="520265" cy="253787"/>
          </a:xfrm>
          <a:prstGeom prst="rect">
            <a:avLst/>
          </a:prstGeom>
          <a:noFill/>
          <a:ln>
            <a:noFill/>
          </a:ln>
        </p:spPr>
        <p:txBody>
          <a:bodyPr wrap="square" rtlCol="0">
            <a:spAutoFit/>
          </a:bodyPr>
          <a:lstStyle/>
          <a:p>
            <a:pPr defTabSz="685800" fontAlgn="auto">
              <a:spcBef>
                <a:spcPts val="0"/>
              </a:spcBef>
              <a:spcAft>
                <a:spcPts val="0"/>
              </a:spcAft>
              <a:defRPr/>
            </a:pPr>
            <a:r>
              <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OLTP</a:t>
            </a:r>
            <a:endPar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9" name="左大括号 108"/>
          <p:cNvSpPr/>
          <p:nvPr/>
        </p:nvSpPr>
        <p:spPr>
          <a:xfrm>
            <a:off x="3665560" y="2720917"/>
            <a:ext cx="120818" cy="690803"/>
          </a:xfrm>
          <a:prstGeom prst="leftBrace">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defTabSz="685800" fontAlgn="auto">
              <a:spcBef>
                <a:spcPts val="0"/>
              </a:spcBef>
              <a:spcAft>
                <a:spcPts val="0"/>
              </a:spcAft>
            </a:pPr>
            <a:endParaRPr kumimoji="0" lang="zh-CN" altLang="en-US" sz="135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0" name="文本框 109"/>
          <p:cNvSpPr txBox="1"/>
          <p:nvPr/>
        </p:nvSpPr>
        <p:spPr>
          <a:xfrm>
            <a:off x="3790215" y="3609167"/>
            <a:ext cx="1320461" cy="415242"/>
          </a:xfrm>
          <a:prstGeom prst="rect">
            <a:avLst/>
          </a:prstGeom>
          <a:noFill/>
          <a:ln>
            <a:noFill/>
          </a:ln>
        </p:spPr>
        <p:txBody>
          <a:bodyPr wrap="square" rtlCol="0">
            <a:spAutoFit/>
          </a:bodyPr>
          <a:lstStyle/>
          <a:p>
            <a:pPr defTabSz="685800" fontAlgn="auto">
              <a:spcBef>
                <a:spcPts val="0"/>
              </a:spcBef>
              <a:spcAft>
                <a:spcPts val="0"/>
              </a:spcAft>
              <a:defRPr/>
            </a:pPr>
            <a:r>
              <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GaussDB (DWS)</a:t>
            </a:r>
            <a:endPar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defTabSz="685800" fontAlgn="auto">
              <a:spcBef>
                <a:spcPts val="0"/>
              </a:spcBef>
              <a:spcAft>
                <a:spcPts val="0"/>
              </a:spcAft>
              <a:defRPr/>
            </a:pPr>
            <a:r>
              <a:rPr kumimoji="0" lang="zh-CN" altLang="en-US"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已发布</a:t>
            </a:r>
            <a:endPar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11" name="文本框 110"/>
          <p:cNvSpPr txBox="1"/>
          <p:nvPr/>
        </p:nvSpPr>
        <p:spPr>
          <a:xfrm>
            <a:off x="3246821" y="3628762"/>
            <a:ext cx="520265" cy="253787"/>
          </a:xfrm>
          <a:prstGeom prst="rect">
            <a:avLst/>
          </a:prstGeom>
          <a:noFill/>
          <a:ln>
            <a:noFill/>
          </a:ln>
        </p:spPr>
        <p:txBody>
          <a:bodyPr wrap="square" rtlCol="0">
            <a:spAutoFit/>
          </a:bodyPr>
          <a:lstStyle/>
          <a:p>
            <a:pPr defTabSz="685800" fontAlgn="auto">
              <a:spcBef>
                <a:spcPts val="0"/>
              </a:spcBef>
              <a:spcAft>
                <a:spcPts val="0"/>
              </a:spcAft>
              <a:defRPr/>
            </a:pPr>
            <a:r>
              <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OLAP</a:t>
            </a:r>
            <a:endPar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12" name="文本框 111"/>
          <p:cNvSpPr txBox="1"/>
          <p:nvPr/>
        </p:nvSpPr>
        <p:spPr>
          <a:xfrm>
            <a:off x="7265404" y="3805836"/>
            <a:ext cx="1427108" cy="415242"/>
          </a:xfrm>
          <a:prstGeom prst="rect">
            <a:avLst/>
          </a:prstGeom>
          <a:noFill/>
          <a:ln>
            <a:noFill/>
          </a:ln>
        </p:spPr>
        <p:txBody>
          <a:bodyPr wrap="square" rtlCol="0">
            <a:spAutoFit/>
          </a:bodyPr>
          <a:lstStyle/>
          <a:p>
            <a:pPr defTabSz="685800" fontAlgn="auto">
              <a:spcBef>
                <a:spcPts val="0"/>
              </a:spcBef>
              <a:spcAft>
                <a:spcPts val="0"/>
              </a:spcAft>
              <a:defRPr/>
            </a:pPr>
            <a:r>
              <a:rPr kumimoji="0" lang="zh-CN" altLang="en-US"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数据管理服务</a:t>
            </a:r>
            <a:endPar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defTabSz="685800" fontAlgn="auto">
              <a:spcBef>
                <a:spcPts val="0"/>
              </a:spcBef>
              <a:spcAft>
                <a:spcPts val="0"/>
              </a:spcAft>
              <a:defRPr/>
            </a:pPr>
            <a:r>
              <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DAS </a:t>
            </a:r>
            <a:r>
              <a:rPr kumimoji="0" lang="zh-CN" altLang="en-US"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 </a:t>
            </a:r>
            <a:endPar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13" name="文本框 112"/>
          <p:cNvSpPr txBox="1"/>
          <p:nvPr/>
        </p:nvSpPr>
        <p:spPr>
          <a:xfrm>
            <a:off x="7265405" y="3275588"/>
            <a:ext cx="1427108" cy="415242"/>
          </a:xfrm>
          <a:prstGeom prst="rect">
            <a:avLst/>
          </a:prstGeom>
          <a:noFill/>
          <a:ln>
            <a:noFill/>
          </a:ln>
        </p:spPr>
        <p:txBody>
          <a:bodyPr wrap="square" rtlCol="0">
            <a:spAutoFit/>
          </a:bodyPr>
          <a:lstStyle/>
          <a:p>
            <a:pPr defTabSz="685800" fontAlgn="auto">
              <a:spcBef>
                <a:spcPts val="0"/>
              </a:spcBef>
              <a:spcAft>
                <a:spcPts val="0"/>
              </a:spcAft>
              <a:defRPr/>
            </a:pPr>
            <a:r>
              <a:rPr kumimoji="0" lang="zh-CN" altLang="en-US"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数据复制服务</a:t>
            </a:r>
            <a:endPar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defTabSz="685800" fontAlgn="auto">
              <a:spcBef>
                <a:spcPts val="0"/>
              </a:spcBef>
              <a:spcAft>
                <a:spcPts val="0"/>
              </a:spcAft>
              <a:defRPr/>
            </a:pPr>
            <a:r>
              <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DRS</a:t>
            </a:r>
            <a:endPar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17" name="十字星 116"/>
          <p:cNvSpPr/>
          <p:nvPr/>
        </p:nvSpPr>
        <p:spPr>
          <a:xfrm>
            <a:off x="4826879" y="3367090"/>
            <a:ext cx="224358" cy="130841"/>
          </a:xfrm>
          <a:prstGeom prst="star4">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kumimoji="0" lang="zh-CN" altLang="en-US" sz="135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文本框 60"/>
          <p:cNvSpPr txBox="1"/>
          <p:nvPr/>
        </p:nvSpPr>
        <p:spPr>
          <a:xfrm>
            <a:off x="7265404" y="2742874"/>
            <a:ext cx="1427108" cy="415242"/>
          </a:xfrm>
          <a:prstGeom prst="rect">
            <a:avLst/>
          </a:prstGeom>
          <a:noFill/>
          <a:ln>
            <a:noFill/>
          </a:ln>
        </p:spPr>
        <p:txBody>
          <a:bodyPr wrap="square" rtlCol="0">
            <a:spAutoFit/>
          </a:bodyPr>
          <a:lstStyle/>
          <a:p>
            <a:pPr defTabSz="685800" fontAlgn="auto">
              <a:spcBef>
                <a:spcPts val="0"/>
              </a:spcBef>
              <a:spcAft>
                <a:spcPts val="0"/>
              </a:spcAft>
              <a:defRPr/>
            </a:pPr>
            <a:r>
              <a:rPr kumimoji="0" lang="zh-CN" altLang="en-US"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分布式数据库中间件</a:t>
            </a:r>
            <a:r>
              <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DDM</a:t>
            </a:r>
            <a:endParaRPr kumimoji="0" lang="en-US" altLang="zh-CN" sz="1050"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2"/>
          </p:nvPr>
        </p:nvSpPr>
        <p:spPr/>
        <p:txBody>
          <a:bodyPr/>
          <a:lstStyle/>
          <a:p>
            <a:pPr>
              <a:defRPr/>
            </a:pPr>
            <a:fld id="{54436B11-5FE8-4ABC-820A-CD9D4026DE46}" type="slidenum">
              <a:rPr lang="en-US" altLang="zh-CN"/>
            </a:fld>
            <a:endParaRPr lang="en-US" altLang="zh-CN"/>
          </a:p>
        </p:txBody>
      </p:sp>
      <p:sp>
        <p:nvSpPr>
          <p:cNvPr id="23556" name="Rectangle 2"/>
          <p:cNvSpPr>
            <a:spLocks noChangeArrowheads="1"/>
          </p:cNvSpPr>
          <p:nvPr/>
        </p:nvSpPr>
        <p:spPr bwMode="auto">
          <a:xfrm>
            <a:off x="304800" y="577850"/>
            <a:ext cx="8610600" cy="944563"/>
          </a:xfrm>
          <a:prstGeom prst="rect">
            <a:avLst/>
          </a:prstGeom>
          <a:noFill/>
          <a:ln w="9525">
            <a:noFill/>
            <a:miter lim="800000"/>
          </a:ln>
        </p:spPr>
        <p:txBody>
          <a:bodyPr tIns="76176" bIns="76176">
            <a:spAutoFit/>
          </a:bodyPr>
          <a:lstStyle/>
          <a:p>
            <a:pPr algn="just"/>
            <a:r>
              <a:rPr lang="en-US" altLang="zh-CN" sz="2800" b="1" dirty="0">
                <a:latin typeface="Arial" panose="020B0604020202090204" pitchFamily="34" charset="0"/>
                <a:cs typeface="Arial" panose="020B0604020202090204" pitchFamily="34" charset="0"/>
              </a:rPr>
              <a:t>1.6  DBS</a:t>
            </a:r>
            <a:r>
              <a:rPr lang="zh-CN" altLang="en-US" sz="2800" b="1" dirty="0">
                <a:latin typeface="Arial" panose="020B0604020202090204" pitchFamily="34" charset="0"/>
                <a:ea typeface="黑体" panose="02010609060101010101" pitchFamily="49" charset="-122"/>
              </a:rPr>
              <a:t>特点</a:t>
            </a:r>
            <a:endParaRPr lang="zh-CN" altLang="en-US" sz="2800" b="1" dirty="0">
              <a:latin typeface="Arial" panose="020B0604020202090204" pitchFamily="34" charset="0"/>
              <a:cs typeface="Arial" panose="020B0604020202090204" pitchFamily="34" charset="0"/>
            </a:endParaRPr>
          </a:p>
          <a:p>
            <a:pPr eaLnBrk="0" hangingPunct="0"/>
            <a:r>
              <a:rPr lang="en-US" altLang="zh-CN" b="1" dirty="0"/>
              <a:t>1</a:t>
            </a:r>
            <a:r>
              <a:rPr lang="zh-CN" altLang="en-US" b="1" dirty="0"/>
              <a:t>、</a:t>
            </a:r>
            <a:r>
              <a:rPr lang="zh-CN" altLang="en-US" b="1" dirty="0">
                <a:latin typeface="宋体" pitchFamily="2" charset="-122"/>
              </a:rPr>
              <a:t>数据结构化</a:t>
            </a:r>
            <a:r>
              <a:rPr lang="zh-CN" altLang="en-US" b="1" dirty="0"/>
              <a:t> </a:t>
            </a:r>
            <a:endParaRPr lang="zh-CN" altLang="en-US" b="1" dirty="0">
              <a:latin typeface="Times New Roman" panose="02020503050405090304" pitchFamily="18" charset="0"/>
            </a:endParaRPr>
          </a:p>
        </p:txBody>
      </p:sp>
      <p:graphicFrame>
        <p:nvGraphicFramePr>
          <p:cNvPr id="23554" name="Object 7"/>
          <p:cNvGraphicFramePr>
            <a:graphicFrameLocks noChangeAspect="1"/>
          </p:cNvGraphicFramePr>
          <p:nvPr/>
        </p:nvGraphicFramePr>
        <p:xfrm>
          <a:off x="2362200" y="1568450"/>
          <a:ext cx="4800600" cy="1941513"/>
        </p:xfrm>
        <a:graphic>
          <a:graphicData uri="http://schemas.openxmlformats.org/presentationml/2006/ole">
            <mc:AlternateContent xmlns:mc="http://schemas.openxmlformats.org/markup-compatibility/2006">
              <mc:Choice xmlns:v="urn:schemas-microsoft-com:vml" Requires="v">
                <p:oleObj spid="_x0000_s23931" name="" r:id="rId1" imgW="3372485" imgH="1362710" progId="Word.Picture.8">
                  <p:embed/>
                </p:oleObj>
              </mc:Choice>
              <mc:Fallback>
                <p:oleObj name="" r:id="rId1" imgW="3372485" imgH="1362710" progId="Word.Picture.8">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1568450"/>
                        <a:ext cx="4800600" cy="1941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557" name="Text Box 12"/>
          <p:cNvSpPr txBox="1">
            <a:spLocks noChangeArrowheads="1"/>
          </p:cNvSpPr>
          <p:nvPr/>
        </p:nvSpPr>
        <p:spPr bwMode="auto">
          <a:xfrm>
            <a:off x="381000" y="3702050"/>
            <a:ext cx="8458200" cy="3046988"/>
          </a:xfrm>
          <a:prstGeom prst="rect">
            <a:avLst/>
          </a:prstGeom>
          <a:noFill/>
          <a:ln w="9525">
            <a:noFill/>
            <a:miter lim="800000"/>
          </a:ln>
        </p:spPr>
        <p:txBody>
          <a:bodyPr>
            <a:spAutoFit/>
          </a:bodyPr>
          <a:lstStyle/>
          <a:p>
            <a:r>
              <a:rPr lang="en-US" altLang="zh-CN" b="1" dirty="0">
                <a:latin typeface="Arial" panose="020B0604020202090204" pitchFamily="34" charset="0"/>
                <a:cs typeface="Arial" panose="020B0604020202090204" pitchFamily="34" charset="0"/>
              </a:rPr>
              <a:t>2</a:t>
            </a:r>
            <a:r>
              <a:rPr lang="zh-CN" altLang="en-US" b="1" dirty="0">
                <a:latin typeface="Arial" panose="020B0604020202090204" pitchFamily="34" charset="0"/>
                <a:ea typeface="黑体" panose="02010609060101010101" pitchFamily="49" charset="-122"/>
              </a:rPr>
              <a:t>、数据共享性高</a:t>
            </a:r>
            <a:endParaRPr lang="zh-CN" altLang="en-US" b="1" dirty="0">
              <a:latin typeface="Arial" panose="020B0604020202090204" pitchFamily="34" charset="0"/>
              <a:cs typeface="Arial" panose="020B0604020202090204" pitchFamily="34" charset="0"/>
            </a:endParaRPr>
          </a:p>
          <a:p>
            <a:r>
              <a:rPr lang="en-US" altLang="zh-CN" dirty="0"/>
              <a:t>(1) </a:t>
            </a:r>
            <a:r>
              <a:rPr lang="zh-CN" altLang="en-US" dirty="0">
                <a:latin typeface="Times New Roman" panose="02020503050405090304" pitchFamily="18" charset="0"/>
              </a:rPr>
              <a:t>数据项一级；</a:t>
            </a:r>
            <a:endParaRPr lang="zh-CN" altLang="en-US" dirty="0"/>
          </a:p>
          <a:p>
            <a:r>
              <a:rPr lang="en-US" altLang="zh-CN" dirty="0"/>
              <a:t>(2) </a:t>
            </a:r>
            <a:r>
              <a:rPr lang="zh-CN" altLang="en-US" dirty="0">
                <a:latin typeface="Times New Roman" panose="02020503050405090304" pitchFamily="18" charset="0"/>
              </a:rPr>
              <a:t>模式数据全体共享（授权）；</a:t>
            </a:r>
            <a:endParaRPr lang="zh-CN" altLang="en-US" dirty="0"/>
          </a:p>
          <a:p>
            <a:r>
              <a:rPr lang="en-US" altLang="zh-CN" dirty="0"/>
              <a:t>(3) </a:t>
            </a:r>
            <a:r>
              <a:rPr lang="zh-CN" altLang="en-US" dirty="0">
                <a:latin typeface="Times New Roman" panose="02020503050405090304" pitchFamily="18" charset="0"/>
              </a:rPr>
              <a:t>新的应用。</a:t>
            </a:r>
            <a:endParaRPr lang="zh-CN" altLang="en-US" dirty="0"/>
          </a:p>
          <a:p>
            <a:r>
              <a:rPr lang="en-US" altLang="zh-CN" b="1" dirty="0">
                <a:latin typeface="Arial" panose="020B0604020202090204" pitchFamily="34" charset="0"/>
                <a:cs typeface="Arial" panose="020B0604020202090204" pitchFamily="34" charset="0"/>
              </a:rPr>
              <a:t>3 </a:t>
            </a:r>
            <a:r>
              <a:rPr lang="zh-CN" altLang="en-US" b="1" dirty="0">
                <a:latin typeface="Arial" panose="020B0604020202090204" pitchFamily="34" charset="0"/>
                <a:cs typeface="Arial" panose="020B0604020202090204" pitchFamily="34" charset="0"/>
              </a:rPr>
              <a:t>、</a:t>
            </a:r>
            <a:r>
              <a:rPr lang="zh-CN" altLang="en-US" b="1" dirty="0">
                <a:latin typeface="Arial" panose="020B0604020202090204" pitchFamily="34" charset="0"/>
                <a:ea typeface="黑体" panose="02010609060101010101" pitchFamily="49" charset="-122"/>
              </a:rPr>
              <a:t>数据冗余低（</a:t>
            </a:r>
            <a:r>
              <a:rPr lang="en-US" altLang="zh-CN" b="1" dirty="0">
                <a:latin typeface="Arial" panose="020B0604020202090204" pitchFamily="34" charset="0"/>
                <a:cs typeface="Arial" panose="020B0604020202090204" pitchFamily="34" charset="0"/>
              </a:rPr>
              <a:t>redundancy</a:t>
            </a:r>
            <a:r>
              <a:rPr lang="zh-CN" altLang="en-US" b="1" dirty="0">
                <a:latin typeface="Arial" panose="020B0604020202090204" pitchFamily="34" charset="0"/>
                <a:ea typeface="黑体" panose="02010609060101010101" pitchFamily="49" charset="-122"/>
              </a:rPr>
              <a:t>）</a:t>
            </a:r>
            <a:endParaRPr lang="zh-CN" altLang="en-US" b="1" dirty="0">
              <a:latin typeface="Arial" panose="020B0604020202090204" pitchFamily="34" charset="0"/>
              <a:cs typeface="Arial" panose="020B0604020202090204" pitchFamily="34" charset="0"/>
            </a:endParaRPr>
          </a:p>
          <a:p>
            <a:r>
              <a:rPr lang="en-US" altLang="zh-CN" dirty="0">
                <a:latin typeface="Times New Roman" panose="02020503050405090304" pitchFamily="18" charset="0"/>
              </a:rPr>
              <a:t>——</a:t>
            </a:r>
            <a:r>
              <a:rPr lang="zh-CN" altLang="en-US" dirty="0">
                <a:latin typeface="Times New Roman" panose="02020503050405090304" pitchFamily="18" charset="0"/>
              </a:rPr>
              <a:t>相同数据对象的重复构造与存放。</a:t>
            </a:r>
            <a:endParaRPr lang="zh-CN" altLang="en-US" dirty="0"/>
          </a:p>
          <a:p>
            <a:r>
              <a:rPr lang="en-US" altLang="zh-CN" dirty="0"/>
              <a:t>1</a:t>
            </a:r>
            <a:r>
              <a:rPr lang="zh-CN" altLang="en-US" dirty="0">
                <a:latin typeface="Times New Roman" panose="02020503050405090304" pitchFamily="18" charset="0"/>
              </a:rPr>
              <a:t>）冗余的问题：花费空间，修改麻烦，潜在数据不一致性。</a:t>
            </a:r>
            <a:endParaRPr lang="zh-CN" altLang="en-US" dirty="0"/>
          </a:p>
          <a:p>
            <a:r>
              <a:rPr lang="en-US" altLang="zh-CN" dirty="0"/>
              <a:t>2</a:t>
            </a:r>
            <a:r>
              <a:rPr lang="zh-CN" altLang="en-US" dirty="0">
                <a:latin typeface="Times New Roman" panose="02020503050405090304" pitchFamily="18" charset="0"/>
              </a:rPr>
              <a:t>）适当冗余的好处：可减少并发冲突。</a:t>
            </a:r>
            <a:endParaRPr lang="zh-CN" altLang="en-US" dirty="0"/>
          </a:p>
        </p:txBody>
      </p:sp>
      <p:sp>
        <p:nvSpPr>
          <p:cNvPr id="2" name="对话气泡: 圆角矩形 1"/>
          <p:cNvSpPr/>
          <p:nvPr/>
        </p:nvSpPr>
        <p:spPr>
          <a:xfrm>
            <a:off x="3059832" y="734429"/>
            <a:ext cx="2088232" cy="569275"/>
          </a:xfrm>
          <a:prstGeom prst="wedgeRoundRectCallout">
            <a:avLst>
              <a:gd name="adj1" fmla="val -57949"/>
              <a:gd name="adj2" fmla="val 37997"/>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整体结构化</a:t>
            </a:r>
            <a:endParaRPr lang="zh-CN" altLang="en-US" dirty="0"/>
          </a:p>
        </p:txBody>
      </p:sp>
    </p:spTree>
  </p:cSld>
  <p:clrMapOvr>
    <a:masterClrMapping/>
  </p:clrMapOvr>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D1FAD4E7-21F7-4BCE-AF6A-4DCE599531B6}" type="slidenum">
              <a:rPr lang="en-US" altLang="zh-CN"/>
            </a:fld>
            <a:endParaRPr lang="en-US" altLang="zh-CN"/>
          </a:p>
        </p:txBody>
      </p:sp>
      <p:sp>
        <p:nvSpPr>
          <p:cNvPr id="117763" name="Rectangle 2"/>
          <p:cNvSpPr>
            <a:spLocks noChangeArrowheads="1"/>
          </p:cNvSpPr>
          <p:nvPr/>
        </p:nvSpPr>
        <p:spPr bwMode="auto">
          <a:xfrm>
            <a:off x="457200" y="228600"/>
            <a:ext cx="8382000" cy="6299200"/>
          </a:xfrm>
          <a:prstGeom prst="rect">
            <a:avLst/>
          </a:prstGeom>
          <a:noFill/>
          <a:ln w="9525">
            <a:noFill/>
            <a:miter lim="800000"/>
          </a:ln>
        </p:spPr>
        <p:txBody>
          <a:bodyPr>
            <a:spAutoFit/>
          </a:bodyPr>
          <a:lstStyle/>
          <a:p>
            <a:pPr>
              <a:spcBef>
                <a:spcPct val="50000"/>
              </a:spcBef>
            </a:pPr>
            <a:r>
              <a:rPr lang="en-US" altLang="zh-CN" b="1" dirty="0">
                <a:latin typeface="Arial" panose="020B0604020202090204" pitchFamily="34" charset="0"/>
                <a:cs typeface="Arial" panose="020B0604020202090204" pitchFamily="34" charset="0"/>
              </a:rPr>
              <a:t>4 </a:t>
            </a:r>
            <a:r>
              <a:rPr lang="zh-CN" altLang="en-US" b="1" dirty="0">
                <a:latin typeface="Arial" panose="020B0604020202090204" pitchFamily="34" charset="0"/>
                <a:ea typeface="黑体" panose="02010609060101010101" pitchFamily="49" charset="-122"/>
              </a:rPr>
              <a:t>数据独立性高（</a:t>
            </a:r>
            <a:r>
              <a:rPr lang="en-US" altLang="zh-CN" b="1" dirty="0">
                <a:latin typeface="Arial" panose="020B0604020202090204" pitchFamily="34" charset="0"/>
                <a:cs typeface="Arial" panose="020B0604020202090204" pitchFamily="34" charset="0"/>
              </a:rPr>
              <a:t>independence</a:t>
            </a:r>
            <a:r>
              <a:rPr lang="zh-CN" altLang="en-US" b="1" dirty="0">
                <a:latin typeface="Arial" panose="020B0604020202090204" pitchFamily="34" charset="0"/>
                <a:ea typeface="黑体" panose="02010609060101010101" pitchFamily="49" charset="-122"/>
              </a:rPr>
              <a:t>）</a:t>
            </a:r>
            <a:endParaRPr lang="zh-CN" altLang="en-US" b="1" dirty="0">
              <a:latin typeface="Arial" panose="020B0604020202090204" pitchFamily="34" charset="0"/>
              <a:cs typeface="Arial" panose="020B0604020202090204" pitchFamily="34" charset="0"/>
            </a:endParaRPr>
          </a:p>
          <a:p>
            <a:pPr>
              <a:spcBef>
                <a:spcPct val="50000"/>
              </a:spcBef>
            </a:pPr>
            <a:r>
              <a:rPr lang="en-US" altLang="zh-CN" dirty="0">
                <a:latin typeface="Times New Roman" panose="02020503050405090304" pitchFamily="18" charset="0"/>
              </a:rPr>
              <a:t>——</a:t>
            </a:r>
            <a:r>
              <a:rPr lang="zh-CN" altLang="en-US" dirty="0">
                <a:latin typeface="Times New Roman" panose="02020503050405090304" pitchFamily="18" charset="0"/>
              </a:rPr>
              <a:t>应用程序独立于其所使用数据的说明的特性。</a:t>
            </a:r>
            <a:endParaRPr lang="zh-CN" altLang="en-US" dirty="0"/>
          </a:p>
          <a:p>
            <a:pPr>
              <a:spcBef>
                <a:spcPct val="50000"/>
              </a:spcBef>
            </a:pPr>
            <a:r>
              <a:rPr lang="en-US" altLang="zh-CN" dirty="0"/>
              <a:t>1</a:t>
            </a:r>
            <a:r>
              <a:rPr lang="zh-CN" altLang="en-US" dirty="0">
                <a:latin typeface="Times New Roman" panose="02020503050405090304" pitchFamily="18" charset="0"/>
              </a:rPr>
              <a:t>）分类</a:t>
            </a:r>
            <a:endParaRPr lang="zh-CN" altLang="en-US" dirty="0"/>
          </a:p>
          <a:p>
            <a:pPr>
              <a:spcBef>
                <a:spcPct val="50000"/>
              </a:spcBef>
            </a:pPr>
            <a:r>
              <a:rPr lang="zh-CN" altLang="en-US" dirty="0">
                <a:latin typeface="Times New Roman" panose="02020503050405090304" pitchFamily="18" charset="0"/>
              </a:rPr>
              <a:t>①逻辑数据独立性</a:t>
            </a:r>
            <a:endParaRPr lang="zh-CN" altLang="en-US" dirty="0"/>
          </a:p>
          <a:p>
            <a:pPr>
              <a:spcBef>
                <a:spcPct val="50000"/>
              </a:spcBef>
            </a:pPr>
            <a:r>
              <a:rPr lang="en-US" altLang="zh-CN" dirty="0">
                <a:latin typeface="Times New Roman" panose="02020503050405090304" pitchFamily="18" charset="0"/>
              </a:rPr>
              <a:t>——</a:t>
            </a:r>
            <a:r>
              <a:rPr lang="zh-CN" altLang="en-US" dirty="0">
                <a:latin typeface="Times New Roman" panose="02020503050405090304" pitchFamily="18" charset="0"/>
              </a:rPr>
              <a:t>模式变、变模式</a:t>
            </a:r>
            <a:r>
              <a:rPr lang="en-US" altLang="zh-CN" dirty="0"/>
              <a:t>/</a:t>
            </a:r>
            <a:r>
              <a:rPr lang="zh-CN" altLang="en-US" dirty="0">
                <a:latin typeface="Times New Roman" panose="02020503050405090304" pitchFamily="18" charset="0"/>
              </a:rPr>
              <a:t>子模式映像，子模式不变，应用程序不变。</a:t>
            </a:r>
            <a:endParaRPr lang="zh-CN" altLang="en-US" dirty="0"/>
          </a:p>
          <a:p>
            <a:pPr>
              <a:spcBef>
                <a:spcPct val="50000"/>
              </a:spcBef>
            </a:pPr>
            <a:r>
              <a:rPr lang="zh-CN" altLang="en-US" dirty="0">
                <a:latin typeface="Times New Roman" panose="02020503050405090304" pitchFamily="18" charset="0"/>
              </a:rPr>
              <a:t>②物理数据独立性。</a:t>
            </a:r>
            <a:endParaRPr lang="zh-CN" altLang="en-US" dirty="0"/>
          </a:p>
          <a:p>
            <a:pPr>
              <a:spcBef>
                <a:spcPct val="50000"/>
              </a:spcBef>
            </a:pPr>
            <a:r>
              <a:rPr lang="en-US" altLang="zh-CN" dirty="0">
                <a:latin typeface="Times New Roman" panose="02020503050405090304" pitchFamily="18" charset="0"/>
              </a:rPr>
              <a:t>——</a:t>
            </a:r>
            <a:r>
              <a:rPr lang="zh-CN" altLang="en-US" dirty="0">
                <a:latin typeface="Times New Roman" panose="02020503050405090304" pitchFamily="18" charset="0"/>
              </a:rPr>
              <a:t>内模式变，应用程序不变。</a:t>
            </a:r>
            <a:endParaRPr lang="zh-CN" altLang="en-US" dirty="0"/>
          </a:p>
          <a:p>
            <a:pPr>
              <a:spcBef>
                <a:spcPct val="50000"/>
              </a:spcBef>
            </a:pPr>
            <a:r>
              <a:rPr lang="en-US" altLang="zh-CN" dirty="0"/>
              <a:t>2</a:t>
            </a:r>
            <a:r>
              <a:rPr lang="zh-CN" altLang="en-US" dirty="0">
                <a:latin typeface="Times New Roman" panose="02020503050405090304" pitchFamily="18" charset="0"/>
              </a:rPr>
              <a:t>）目标</a:t>
            </a:r>
            <a:endParaRPr lang="zh-CN" altLang="en-US" dirty="0"/>
          </a:p>
          <a:p>
            <a:pPr>
              <a:spcBef>
                <a:spcPct val="50000"/>
              </a:spcBef>
            </a:pPr>
            <a:r>
              <a:rPr lang="zh-CN" altLang="en-US" dirty="0">
                <a:latin typeface="Times New Roman" panose="02020503050405090304" pitchFamily="18" charset="0"/>
              </a:rPr>
              <a:t>①数据定义从应用程序中分离出来；</a:t>
            </a:r>
            <a:endParaRPr lang="zh-CN" altLang="en-US" dirty="0"/>
          </a:p>
          <a:p>
            <a:pPr>
              <a:spcBef>
                <a:spcPct val="50000"/>
              </a:spcBef>
            </a:pPr>
            <a:r>
              <a:rPr lang="zh-CN" altLang="en-US" dirty="0">
                <a:latin typeface="Times New Roman" panose="02020503050405090304" pitchFamily="18" charset="0"/>
              </a:rPr>
              <a:t>②编程不考虑物理细节；</a:t>
            </a:r>
            <a:endParaRPr lang="zh-CN" altLang="en-US" dirty="0"/>
          </a:p>
          <a:p>
            <a:pPr>
              <a:spcBef>
                <a:spcPct val="50000"/>
              </a:spcBef>
            </a:pPr>
            <a:r>
              <a:rPr lang="zh-CN" altLang="en-US" dirty="0">
                <a:latin typeface="Times New Roman" panose="02020503050405090304" pitchFamily="18" charset="0"/>
              </a:rPr>
              <a:t>③简化编程；</a:t>
            </a:r>
            <a:endParaRPr lang="zh-CN" altLang="en-US" dirty="0"/>
          </a:p>
        </p:txBody>
      </p:sp>
    </p:spTree>
  </p:cSld>
  <p:clrMapOvr>
    <a:masterClrMapping/>
  </p:clrMapOvr>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180B5044-4996-4F61-B239-AD56722C8A09}" type="slidenum">
              <a:rPr lang="en-US" altLang="zh-CN"/>
            </a:fld>
            <a:endParaRPr lang="en-US" altLang="zh-CN"/>
          </a:p>
        </p:txBody>
      </p:sp>
      <p:sp>
        <p:nvSpPr>
          <p:cNvPr id="118787" name="Rectangle 2"/>
          <p:cNvSpPr>
            <a:spLocks noChangeArrowheads="1"/>
          </p:cNvSpPr>
          <p:nvPr/>
        </p:nvSpPr>
        <p:spPr bwMode="auto">
          <a:xfrm>
            <a:off x="467544" y="836712"/>
            <a:ext cx="8382000" cy="5386388"/>
          </a:xfrm>
          <a:prstGeom prst="rect">
            <a:avLst/>
          </a:prstGeom>
          <a:noFill/>
          <a:ln w="9525">
            <a:noFill/>
            <a:miter lim="800000"/>
          </a:ln>
        </p:spPr>
        <p:txBody>
          <a:bodyPr>
            <a:spAutoFit/>
          </a:bodyPr>
          <a:lstStyle/>
          <a:p>
            <a:pPr>
              <a:spcBef>
                <a:spcPct val="50000"/>
              </a:spcBef>
            </a:pPr>
            <a:r>
              <a:rPr lang="en-US" altLang="zh-CN" dirty="0">
                <a:latin typeface="Times New Roman" panose="02020503050405090304" pitchFamily="18" charset="0"/>
              </a:rPr>
              <a:t>④</a:t>
            </a:r>
            <a:r>
              <a:rPr lang="zh-CN" altLang="en-US" dirty="0">
                <a:latin typeface="Times New Roman" panose="02020503050405090304" pitchFamily="18" charset="0"/>
              </a:rPr>
              <a:t>提高应用程序稳定性，应变能力强，减少维护修改。</a:t>
            </a:r>
            <a:endParaRPr lang="zh-CN" altLang="en-US" dirty="0"/>
          </a:p>
          <a:p>
            <a:pPr>
              <a:spcBef>
                <a:spcPct val="50000"/>
              </a:spcBef>
            </a:pPr>
            <a:r>
              <a:rPr lang="en-US" altLang="zh-CN" b="1" dirty="0">
                <a:latin typeface="Arial" panose="020B0604020202090204" pitchFamily="34" charset="0"/>
                <a:cs typeface="Arial" panose="020B0604020202090204" pitchFamily="34" charset="0"/>
              </a:rPr>
              <a:t>5 </a:t>
            </a:r>
            <a:r>
              <a:rPr lang="zh-CN" altLang="en-US" b="1" dirty="0">
                <a:latin typeface="Arial" panose="020B0604020202090204" pitchFamily="34" charset="0"/>
                <a:ea typeface="黑体" panose="02010609060101010101" pitchFamily="49" charset="-122"/>
              </a:rPr>
              <a:t>数据安全性（</a:t>
            </a:r>
            <a:r>
              <a:rPr lang="en-US" altLang="zh-CN" b="1" dirty="0">
                <a:latin typeface="Arial" panose="020B0604020202090204" pitchFamily="34" charset="0"/>
                <a:cs typeface="Arial" panose="020B0604020202090204" pitchFamily="34" charset="0"/>
              </a:rPr>
              <a:t>security</a:t>
            </a:r>
            <a:r>
              <a:rPr lang="zh-CN" altLang="en-US" b="1" dirty="0">
                <a:latin typeface="Arial" panose="020B0604020202090204" pitchFamily="34" charset="0"/>
                <a:ea typeface="黑体" panose="02010609060101010101" pitchFamily="49" charset="-122"/>
              </a:rPr>
              <a:t>）</a:t>
            </a:r>
            <a:endParaRPr lang="zh-CN" altLang="en-US" b="1" dirty="0">
              <a:latin typeface="Arial" panose="020B0604020202090204" pitchFamily="34" charset="0"/>
              <a:cs typeface="Arial" panose="020B0604020202090204" pitchFamily="34" charset="0"/>
            </a:endParaRPr>
          </a:p>
          <a:p>
            <a:pPr>
              <a:spcBef>
                <a:spcPct val="50000"/>
              </a:spcBef>
            </a:pPr>
            <a:r>
              <a:rPr lang="en-US" altLang="zh-CN" dirty="0">
                <a:latin typeface="Times New Roman" panose="02020503050405090304" pitchFamily="18" charset="0"/>
              </a:rPr>
              <a:t>——</a:t>
            </a:r>
            <a:r>
              <a:rPr lang="zh-CN" altLang="en-US" dirty="0">
                <a:latin typeface="Times New Roman" panose="02020503050405090304" pitchFamily="18" charset="0"/>
              </a:rPr>
              <a:t>防止非授权使用数据。</a:t>
            </a:r>
            <a:endParaRPr lang="zh-CN" altLang="en-US" dirty="0"/>
          </a:p>
          <a:p>
            <a:pPr>
              <a:spcBef>
                <a:spcPct val="50000"/>
              </a:spcBef>
            </a:pPr>
            <a:r>
              <a:rPr lang="en-US" altLang="zh-CN" dirty="0"/>
              <a:t>1</a:t>
            </a:r>
            <a:r>
              <a:rPr lang="zh-CN" altLang="en-US" dirty="0">
                <a:latin typeface="Times New Roman" panose="02020503050405090304" pitchFamily="18" charset="0"/>
              </a:rPr>
              <a:t>）身份鉴别；</a:t>
            </a:r>
            <a:endParaRPr lang="zh-CN" altLang="en-US" dirty="0"/>
          </a:p>
          <a:p>
            <a:pPr>
              <a:spcBef>
                <a:spcPct val="50000"/>
              </a:spcBef>
            </a:pPr>
            <a:r>
              <a:rPr lang="en-US" altLang="zh-CN" dirty="0"/>
              <a:t>2</a:t>
            </a:r>
            <a:r>
              <a:rPr lang="zh-CN" altLang="en-US" dirty="0">
                <a:latin typeface="Times New Roman" panose="02020503050405090304" pitchFamily="18" charset="0"/>
              </a:rPr>
              <a:t>）操作授权；</a:t>
            </a:r>
            <a:endParaRPr lang="zh-CN" altLang="en-US" dirty="0"/>
          </a:p>
          <a:p>
            <a:pPr>
              <a:spcBef>
                <a:spcPct val="50000"/>
              </a:spcBef>
            </a:pPr>
            <a:r>
              <a:rPr lang="en-US" altLang="zh-CN" dirty="0"/>
              <a:t>3</a:t>
            </a:r>
            <a:r>
              <a:rPr lang="zh-CN" altLang="en-US" dirty="0">
                <a:latin typeface="Times New Roman" panose="02020503050405090304" pitchFamily="18" charset="0"/>
              </a:rPr>
              <a:t>）加密存储。</a:t>
            </a:r>
            <a:endParaRPr lang="zh-CN" altLang="en-US" dirty="0"/>
          </a:p>
          <a:p>
            <a:pPr>
              <a:spcBef>
                <a:spcPct val="50000"/>
              </a:spcBef>
            </a:pPr>
            <a:r>
              <a:rPr lang="en-US" altLang="zh-CN" b="1" dirty="0">
                <a:latin typeface="Arial" panose="020B0604020202090204" pitchFamily="34" charset="0"/>
                <a:cs typeface="Arial" panose="020B0604020202090204" pitchFamily="34" charset="0"/>
              </a:rPr>
              <a:t>6 </a:t>
            </a:r>
            <a:r>
              <a:rPr lang="zh-CN" altLang="en-US" b="1" dirty="0">
                <a:latin typeface="Arial" panose="020B0604020202090204" pitchFamily="34" charset="0"/>
                <a:ea typeface="黑体" panose="02010609060101010101" pitchFamily="49" charset="-122"/>
              </a:rPr>
              <a:t>数据完整性（</a:t>
            </a:r>
            <a:r>
              <a:rPr lang="en-US" altLang="zh-CN" b="1" dirty="0">
                <a:latin typeface="Arial" panose="020B0604020202090204" pitchFamily="34" charset="0"/>
                <a:cs typeface="Arial" panose="020B0604020202090204" pitchFamily="34" charset="0"/>
              </a:rPr>
              <a:t>integrity</a:t>
            </a:r>
            <a:r>
              <a:rPr lang="zh-CN" altLang="en-US" b="1" dirty="0">
                <a:latin typeface="Arial" panose="020B0604020202090204" pitchFamily="34" charset="0"/>
                <a:ea typeface="黑体" panose="02010609060101010101" pitchFamily="49" charset="-122"/>
              </a:rPr>
              <a:t>）</a:t>
            </a:r>
            <a:endParaRPr lang="zh-CN" altLang="en-US" b="1" dirty="0">
              <a:latin typeface="Arial" panose="020B0604020202090204" pitchFamily="34" charset="0"/>
              <a:cs typeface="Arial" panose="020B0604020202090204" pitchFamily="34" charset="0"/>
            </a:endParaRPr>
          </a:p>
          <a:p>
            <a:pPr>
              <a:spcBef>
                <a:spcPct val="50000"/>
              </a:spcBef>
            </a:pPr>
            <a:r>
              <a:rPr lang="en-US" altLang="zh-CN" dirty="0">
                <a:latin typeface="Times New Roman" panose="02020503050405090304" pitchFamily="18" charset="0"/>
              </a:rPr>
              <a:t>——</a:t>
            </a:r>
            <a:r>
              <a:rPr lang="zh-CN" altLang="en-US" dirty="0">
                <a:latin typeface="Times New Roman" panose="02020503050405090304" pitchFamily="18" charset="0"/>
              </a:rPr>
              <a:t>数据的正确性，有效性、相容性。</a:t>
            </a:r>
            <a:endParaRPr lang="zh-CN" altLang="en-US" dirty="0"/>
          </a:p>
          <a:p>
            <a:pPr>
              <a:spcBef>
                <a:spcPct val="50000"/>
              </a:spcBef>
            </a:pPr>
            <a:r>
              <a:rPr lang="zh-CN" altLang="en-US" dirty="0">
                <a:latin typeface="Times New Roman" panose="02020503050405090304" pitchFamily="18" charset="0"/>
              </a:rPr>
              <a:t>工龄</a:t>
            </a:r>
            <a:r>
              <a:rPr lang="en-US" altLang="zh-CN" dirty="0"/>
              <a:t>&lt;</a:t>
            </a:r>
            <a:r>
              <a:rPr lang="zh-CN" altLang="en-US" dirty="0">
                <a:latin typeface="Times New Roman" panose="02020503050405090304" pitchFamily="18" charset="0"/>
              </a:rPr>
              <a:t>年龄，身高</a:t>
            </a:r>
            <a:r>
              <a:rPr lang="en-US" altLang="zh-CN" dirty="0"/>
              <a:t>&lt;3</a:t>
            </a:r>
            <a:r>
              <a:rPr lang="zh-CN" altLang="en-US" dirty="0">
                <a:latin typeface="Times New Roman" panose="02020503050405090304" pitchFamily="18" charset="0"/>
              </a:rPr>
              <a:t>米。</a:t>
            </a:r>
            <a:endParaRPr lang="zh-CN" altLang="en-US" dirty="0"/>
          </a:p>
          <a:p>
            <a:pPr>
              <a:spcBef>
                <a:spcPct val="50000"/>
              </a:spcBef>
            </a:pPr>
            <a:r>
              <a:rPr lang="zh-CN" altLang="en-US" dirty="0">
                <a:latin typeface="Times New Roman" panose="02020503050405090304" pitchFamily="18" charset="0"/>
              </a:rPr>
              <a:t>原因：输入不当、修改不当、故障。</a:t>
            </a:r>
            <a:endParaRPr lang="zh-CN" altLang="en-US" dirty="0"/>
          </a:p>
        </p:txBody>
      </p:sp>
    </p:spTree>
  </p:cSld>
  <p:clrMapOvr>
    <a:masterClrMapping/>
  </p:clrMapOvr>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13E58A86-F3B0-41BB-A1C5-EF4428AE0662}" type="slidenum">
              <a:rPr lang="en-US" altLang="zh-CN"/>
            </a:fld>
            <a:endParaRPr lang="en-US" altLang="zh-CN"/>
          </a:p>
        </p:txBody>
      </p:sp>
      <p:sp>
        <p:nvSpPr>
          <p:cNvPr id="119811" name="Rectangle 2"/>
          <p:cNvSpPr>
            <a:spLocks noChangeArrowheads="1"/>
          </p:cNvSpPr>
          <p:nvPr/>
        </p:nvSpPr>
        <p:spPr bwMode="auto">
          <a:xfrm>
            <a:off x="552450" y="939800"/>
            <a:ext cx="8305800" cy="3600986"/>
          </a:xfrm>
          <a:prstGeom prst="rect">
            <a:avLst/>
          </a:prstGeom>
          <a:noFill/>
          <a:ln w="9525">
            <a:noFill/>
            <a:miter lim="800000"/>
          </a:ln>
        </p:spPr>
        <p:txBody>
          <a:bodyPr>
            <a:spAutoFit/>
          </a:bodyPr>
          <a:lstStyle/>
          <a:p>
            <a:pPr>
              <a:spcBef>
                <a:spcPct val="50000"/>
              </a:spcBef>
            </a:pPr>
            <a:r>
              <a:rPr lang="en-US" altLang="zh-CN" b="1" dirty="0">
                <a:latin typeface="Arial" panose="020B0604020202090204" pitchFamily="34" charset="0"/>
                <a:cs typeface="Arial" panose="020B0604020202090204" pitchFamily="34" charset="0"/>
              </a:rPr>
              <a:t>7 </a:t>
            </a:r>
            <a:r>
              <a:rPr lang="zh-CN" altLang="en-US" b="1" dirty="0">
                <a:latin typeface="Arial" panose="020B0604020202090204" pitchFamily="34" charset="0"/>
                <a:ea typeface="黑体" panose="02010609060101010101" pitchFamily="49" charset="-122"/>
              </a:rPr>
              <a:t>恢复能力强（</a:t>
            </a:r>
            <a:r>
              <a:rPr lang="en-US" altLang="zh-CN" b="1" dirty="0">
                <a:latin typeface="Arial" panose="020B0604020202090204" pitchFamily="34" charset="0"/>
                <a:cs typeface="Arial" panose="020B0604020202090204" pitchFamily="34" charset="0"/>
              </a:rPr>
              <a:t>recovery</a:t>
            </a:r>
            <a:r>
              <a:rPr lang="zh-CN" altLang="en-US" b="1" dirty="0">
                <a:latin typeface="Arial" panose="020B0604020202090204" pitchFamily="34" charset="0"/>
                <a:ea typeface="黑体" panose="02010609060101010101" pitchFamily="49" charset="-122"/>
              </a:rPr>
              <a:t>）</a:t>
            </a:r>
            <a:endParaRPr lang="zh-CN" altLang="en-US" b="1" dirty="0">
              <a:latin typeface="Arial" panose="020B0604020202090204" pitchFamily="34" charset="0"/>
              <a:cs typeface="Arial" panose="020B0604020202090204" pitchFamily="34" charset="0"/>
            </a:endParaRPr>
          </a:p>
          <a:p>
            <a:pPr>
              <a:spcBef>
                <a:spcPct val="50000"/>
              </a:spcBef>
            </a:pPr>
            <a:r>
              <a:rPr lang="en-US" altLang="zh-CN" dirty="0">
                <a:latin typeface="Times New Roman" panose="02020503050405090304" pitchFamily="18" charset="0"/>
              </a:rPr>
              <a:t>——</a:t>
            </a:r>
            <a:r>
              <a:rPr lang="zh-CN" altLang="en-US" dirty="0">
                <a:latin typeface="Times New Roman" panose="02020503050405090304" pitchFamily="18" charset="0"/>
              </a:rPr>
              <a:t>将</a:t>
            </a:r>
            <a:r>
              <a:rPr lang="en-US" altLang="zh-CN" dirty="0"/>
              <a:t>DB</a:t>
            </a:r>
            <a:r>
              <a:rPr lang="zh-CN" altLang="en-US" dirty="0">
                <a:latin typeface="Times New Roman" panose="02020503050405090304" pitchFamily="18" charset="0"/>
              </a:rPr>
              <a:t>从不正确状态恢复到某一正确状态。</a:t>
            </a:r>
            <a:endParaRPr lang="zh-CN" altLang="en-US" dirty="0"/>
          </a:p>
          <a:p>
            <a:pPr>
              <a:spcBef>
                <a:spcPct val="50000"/>
              </a:spcBef>
            </a:pPr>
            <a:r>
              <a:rPr lang="zh-CN" altLang="en-US" dirty="0">
                <a:latin typeface="Times New Roman" panose="02020503050405090304" pitchFamily="18" charset="0"/>
              </a:rPr>
              <a:t>备份</a:t>
            </a:r>
            <a:r>
              <a:rPr lang="en-US" altLang="zh-CN" dirty="0"/>
              <a:t>+</a:t>
            </a:r>
            <a:r>
              <a:rPr lang="zh-CN" altLang="en-US" dirty="0">
                <a:latin typeface="Times New Roman" panose="02020503050405090304" pitchFamily="18" charset="0"/>
              </a:rPr>
              <a:t>日志</a:t>
            </a:r>
            <a:endParaRPr lang="zh-CN" altLang="en-US" dirty="0"/>
          </a:p>
          <a:p>
            <a:pPr>
              <a:spcBef>
                <a:spcPct val="50000"/>
              </a:spcBef>
            </a:pPr>
            <a:r>
              <a:rPr lang="en-US" altLang="zh-CN" b="1" dirty="0">
                <a:latin typeface="Arial" panose="020B0604020202090204" pitchFamily="34" charset="0"/>
                <a:cs typeface="Arial" panose="020B0604020202090204" pitchFamily="34" charset="0"/>
              </a:rPr>
              <a:t>8 </a:t>
            </a:r>
            <a:r>
              <a:rPr lang="zh-CN" altLang="en-US" b="1" dirty="0">
                <a:latin typeface="Arial" panose="020B0604020202090204" pitchFamily="34" charset="0"/>
                <a:ea typeface="黑体" panose="02010609060101010101" pitchFamily="49" charset="-122"/>
              </a:rPr>
              <a:t>数据一致性（</a:t>
            </a:r>
            <a:r>
              <a:rPr lang="en-US" altLang="zh-CN" b="1" dirty="0">
                <a:latin typeface="Arial" panose="020B0604020202090204" pitchFamily="34" charset="0"/>
                <a:cs typeface="Arial" panose="020B0604020202090204" pitchFamily="34" charset="0"/>
              </a:rPr>
              <a:t>consistency</a:t>
            </a:r>
            <a:r>
              <a:rPr lang="zh-CN" altLang="en-US" b="1" dirty="0">
                <a:latin typeface="Arial" panose="020B0604020202090204" pitchFamily="34" charset="0"/>
                <a:ea typeface="黑体" panose="02010609060101010101" pitchFamily="49" charset="-122"/>
              </a:rPr>
              <a:t>）</a:t>
            </a:r>
            <a:endParaRPr lang="zh-CN" altLang="en-US" b="1" dirty="0">
              <a:latin typeface="Arial" panose="020B0604020202090204" pitchFamily="34" charset="0"/>
              <a:cs typeface="Arial" panose="020B0604020202090204" pitchFamily="34" charset="0"/>
            </a:endParaRPr>
          </a:p>
          <a:p>
            <a:pPr>
              <a:spcBef>
                <a:spcPct val="50000"/>
              </a:spcBef>
            </a:pPr>
            <a:r>
              <a:rPr lang="en-US" altLang="zh-CN" dirty="0">
                <a:latin typeface="Times New Roman" panose="02020503050405090304" pitchFamily="18" charset="0"/>
              </a:rPr>
              <a:t>——</a:t>
            </a:r>
            <a:r>
              <a:rPr lang="zh-CN" altLang="en-US" dirty="0">
                <a:latin typeface="Times New Roman" panose="02020503050405090304" pitchFamily="18" charset="0"/>
              </a:rPr>
              <a:t>任何时刻对同一</a:t>
            </a:r>
            <a:r>
              <a:rPr lang="en-US" altLang="zh-CN" dirty="0"/>
              <a:t>DB</a:t>
            </a:r>
            <a:r>
              <a:rPr lang="zh-CN" altLang="en-US" dirty="0">
                <a:latin typeface="Times New Roman" panose="02020503050405090304" pitchFamily="18" charset="0"/>
              </a:rPr>
              <a:t>中相同数据的并发访问所获得的值应该是一致的，（有时须相同）。</a:t>
            </a:r>
            <a:endParaRPr lang="zh-CN" altLang="en-US" dirty="0"/>
          </a:p>
          <a:p>
            <a:pPr>
              <a:spcBef>
                <a:spcPct val="50000"/>
              </a:spcBef>
            </a:pPr>
            <a:r>
              <a:rPr lang="zh-CN" altLang="en-US" dirty="0">
                <a:solidFill>
                  <a:srgbClr val="FF0000"/>
                </a:solidFill>
                <a:latin typeface="宋体" pitchFamily="2" charset="-122"/>
              </a:rPr>
              <a:t>    飞机、火车订票系统</a:t>
            </a:r>
            <a:r>
              <a:rPr lang="zh-CN" altLang="en-US">
                <a:solidFill>
                  <a:srgbClr val="FF0000"/>
                </a:solidFill>
                <a:latin typeface="宋体" pitchFamily="2" charset="-122"/>
              </a:rPr>
              <a:t>的问题（奥运会、春运。。。）。</a:t>
            </a:r>
            <a:r>
              <a:rPr lang="zh-CN" altLang="en-US">
                <a:solidFill>
                  <a:srgbClr val="FF0000"/>
                </a:solidFill>
              </a:rPr>
              <a:t> </a:t>
            </a:r>
            <a:endParaRPr lang="zh-CN" altLang="en-US" dirty="0">
              <a:solidFill>
                <a:srgbClr val="FF0000"/>
              </a:solidFill>
            </a:endParaRPr>
          </a:p>
        </p:txBody>
      </p:sp>
    </p:spTree>
  </p:cSld>
  <p:clrMapOvr>
    <a:masterClrMapping/>
  </p:clrMapOvr>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慕课讨论题</a:t>
            </a:r>
            <a:endParaRPr lang="zh-CN" altLang="en-US" dirty="0"/>
          </a:p>
        </p:txBody>
      </p:sp>
      <p:sp>
        <p:nvSpPr>
          <p:cNvPr id="4" name="内容占位符 3"/>
          <p:cNvSpPr>
            <a:spLocks noGrp="1"/>
          </p:cNvSpPr>
          <p:nvPr>
            <p:ph idx="1"/>
          </p:nvPr>
        </p:nvSpPr>
        <p:spPr>
          <a:xfrm>
            <a:off x="457200" y="1935163"/>
            <a:ext cx="7715200" cy="4389437"/>
          </a:xfrm>
        </p:spPr>
        <p:txBody>
          <a:bodyPr/>
          <a:lstStyle/>
          <a:p>
            <a:r>
              <a:rPr lang="zh-CN" altLang="zh-CN" dirty="0"/>
              <a:t>数据管理文件系统阶段和数据库系统阶段</a:t>
            </a:r>
            <a:r>
              <a:rPr lang="en-US" altLang="zh-CN" dirty="0"/>
              <a:t>“</a:t>
            </a:r>
            <a:r>
              <a:rPr lang="zh-CN" altLang="zh-CN" dirty="0"/>
              <a:t>数据独立性</a:t>
            </a:r>
            <a:r>
              <a:rPr lang="en-US" altLang="zh-CN" dirty="0"/>
              <a:t>”</a:t>
            </a:r>
            <a:r>
              <a:rPr lang="zh-CN" altLang="zh-CN" dirty="0"/>
              <a:t>有何不同？</a:t>
            </a:r>
            <a:endParaRPr lang="en-US" altLang="zh-CN" dirty="0"/>
          </a:p>
          <a:p>
            <a:r>
              <a:rPr lang="zh-CN" altLang="zh-CN" dirty="0"/>
              <a:t>数据库系统为什么要采用三级模式二级映像的系统结构？</a:t>
            </a:r>
            <a:endParaRPr lang="zh-CN" altLang="en-US" dirty="0"/>
          </a:p>
        </p:txBody>
      </p:sp>
      <p:sp>
        <p:nvSpPr>
          <p:cNvPr id="2" name="灯片编号占位符 1"/>
          <p:cNvSpPr>
            <a:spLocks noGrp="1"/>
          </p:cNvSpPr>
          <p:nvPr>
            <p:ph type="sldNum" sz="quarter" idx="12"/>
          </p:nvPr>
        </p:nvSpPr>
        <p:spPr/>
        <p:txBody>
          <a:bodyPr/>
          <a:lstStyle/>
          <a:p>
            <a:pPr>
              <a:defRPr/>
            </a:pPr>
            <a:fld id="{155F95A4-BEB3-4C64-A081-FC37F4F1C7F7}" type="slidenum">
              <a:rPr lang="en-US" altLang="zh-CN" smtClean="0"/>
            </a:fld>
            <a:endParaRPr lang="en-US" altLang="zh-CN"/>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流畅">
  <a:themeElements>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流畅">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流畅">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内容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2.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docProps/app.xml><?xml version="1.0" encoding="utf-8"?>
<Properties xmlns="http://schemas.openxmlformats.org/officeDocument/2006/extended-properties" xmlns:vt="http://schemas.openxmlformats.org/officeDocument/2006/docPropsVTypes">
  <Template>Flow</Template>
  <TotalTime>0</TotalTime>
  <Words>15911</Words>
  <Application>WPS 文字</Application>
  <PresentationFormat>全屏显示(4:3)</PresentationFormat>
  <Paragraphs>1890</Paragraphs>
  <Slides>118</Slides>
  <Notes>22</Notes>
  <HiddenSlides>0</HiddenSlides>
  <MMClips>0</MMClips>
  <ScaleCrop>false</ScaleCrop>
  <HeadingPairs>
    <vt:vector size="8" baseType="variant">
      <vt:variant>
        <vt:lpstr>已用的字体</vt:lpstr>
      </vt:variant>
      <vt:variant>
        <vt:i4>48</vt:i4>
      </vt:variant>
      <vt:variant>
        <vt:lpstr>主题</vt:lpstr>
      </vt:variant>
      <vt:variant>
        <vt:i4>3</vt:i4>
      </vt:variant>
      <vt:variant>
        <vt:lpstr>嵌入 OLE 服务器</vt:lpstr>
      </vt:variant>
      <vt:variant>
        <vt:i4>28</vt:i4>
      </vt:variant>
      <vt:variant>
        <vt:lpstr>幻灯片标题</vt:lpstr>
      </vt:variant>
      <vt:variant>
        <vt:i4>118</vt:i4>
      </vt:variant>
    </vt:vector>
  </HeadingPairs>
  <TitlesOfParts>
    <vt:vector size="197" baseType="lpstr">
      <vt:lpstr>Arial</vt:lpstr>
      <vt:lpstr>宋体</vt:lpstr>
      <vt:lpstr>Wingdings</vt:lpstr>
      <vt:lpstr>Verdana</vt:lpstr>
      <vt:lpstr>汉仪书宋二KW</vt:lpstr>
      <vt:lpstr>Calibri</vt:lpstr>
      <vt:lpstr>Helvetica Neue</vt:lpstr>
      <vt:lpstr>隶书</vt:lpstr>
      <vt:lpstr>报隶-简</vt:lpstr>
      <vt:lpstr>Wingdings 2</vt:lpstr>
      <vt:lpstr>Wingdings 2</vt:lpstr>
      <vt:lpstr>Huawei Sans</vt:lpstr>
      <vt:lpstr>苹方-简</vt:lpstr>
      <vt:lpstr>方正兰亭黑简体</vt:lpstr>
      <vt:lpstr>微软雅黑</vt:lpstr>
      <vt:lpstr>汉仪中黑KW</vt:lpstr>
      <vt:lpstr>汉仪旗黑</vt:lpstr>
      <vt:lpstr>Times New Roman</vt:lpstr>
      <vt:lpstr>Times New Roman</vt:lpstr>
      <vt:lpstr>楷体_GB2312</vt:lpstr>
      <vt:lpstr>汉仪楷体简</vt:lpstr>
      <vt:lpstr>华文新魏</vt:lpstr>
      <vt:lpstr>Constantia</vt:lpstr>
      <vt:lpstr>宋体</vt:lpstr>
      <vt:lpstr>Arial Unicode MS</vt:lpstr>
      <vt:lpstr>Constantia</vt:lpstr>
      <vt:lpstr>Calibri</vt:lpstr>
      <vt:lpstr>Thonburi</vt:lpstr>
      <vt:lpstr>Tahoma</vt:lpstr>
      <vt:lpstr>黑体</vt:lpstr>
      <vt:lpstr>Symbol</vt:lpstr>
      <vt:lpstr>Huawei Sans</vt:lpstr>
      <vt:lpstr>FZLanTingHeiS-R-GB</vt:lpstr>
      <vt:lpstr>Arial</vt:lpstr>
      <vt:lpstr>Helvetica Neue</vt:lpstr>
      <vt:lpstr>等线 Light</vt:lpstr>
      <vt:lpstr>汉仪中等线KW</vt:lpstr>
      <vt:lpstr>等线</vt:lpstr>
      <vt:lpstr>Kingsoft Sign</vt:lpstr>
      <vt:lpstr>Symbol</vt:lpstr>
      <vt:lpstr>Wingdings</vt:lpstr>
      <vt:lpstr>Wingdings 2</vt:lpstr>
      <vt:lpstr>华文新魏</vt:lpstr>
      <vt:lpstr>微软雅黑</vt:lpstr>
      <vt:lpstr>方正兰亭黑简体</vt:lpstr>
      <vt:lpstr>楷体_GB2312</vt:lpstr>
      <vt:lpstr>隶书</vt:lpstr>
      <vt:lpstr>黑体</vt:lpstr>
      <vt:lpstr>流畅</vt:lpstr>
      <vt:lpstr>3_内容页模板</vt:lpstr>
      <vt:lpstr>Office 主题​​</vt:lpstr>
      <vt:lpstr>Word.Picture.8</vt:lpstr>
      <vt:lpstr>Word.Picture.8</vt:lpstr>
      <vt:lpstr>Word.Picture.8</vt:lpstr>
      <vt:lpstr>Word.Picture.8</vt:lpstr>
      <vt:lpstr>Word.Picture.8</vt:lpstr>
      <vt:lpstr>Word.Picture.8</vt:lpstr>
      <vt:lpstr>Word.Picture.8</vt:lpstr>
      <vt:lpstr>Word.Picture.8</vt:lpstr>
      <vt:lpstr>Word.Picture.8</vt:lpstr>
      <vt:lpstr>Word.Picture.8</vt:lpstr>
      <vt:lpstr>Word.Picture.8</vt:lpstr>
      <vt:lpstr>Word.Picture.8</vt:lpstr>
      <vt:lpstr>Word.Picture.8</vt:lpstr>
      <vt:lpstr>Word.Document.8</vt:lpstr>
      <vt:lpstr>Word.Picture.8</vt:lpstr>
      <vt:lpstr>Word.Picture.8</vt:lpstr>
      <vt:lpstr>Word.Picture.8</vt:lpstr>
      <vt:lpstr>Word.Picture.8</vt:lpstr>
      <vt:lpstr>Word.Picture.8</vt:lpstr>
      <vt:lpstr>Word.Picture.8</vt:lpstr>
      <vt:lpstr>Word.Picture.8</vt:lpstr>
      <vt:lpstr>Word.Picture.8</vt:lpstr>
      <vt:lpstr>Word.Picture.8</vt:lpstr>
      <vt:lpstr>Word.Picture.8</vt:lpstr>
      <vt:lpstr>Word.Picture.8</vt:lpstr>
      <vt:lpstr>Word.Picture.8</vt:lpstr>
      <vt:lpstr>Word.Picture.8</vt:lpstr>
      <vt:lpstr>Word.Picture.8</vt:lpstr>
      <vt:lpstr>数据库系统原理——潘鹏 13006147552</vt:lpstr>
      <vt:lpstr>开课准备1：教学组织工作</vt:lpstr>
      <vt:lpstr>开课准备2：微助教课堂用于签到</vt:lpstr>
      <vt:lpstr>开课准备3：课程日常交流及通知发布QQ群</vt:lpstr>
      <vt:lpstr>课程教学建设</vt:lpstr>
      <vt:lpstr>线上学习资源</vt:lpstr>
      <vt:lpstr>课程成绩构成</vt:lpstr>
      <vt:lpstr>PowerPoint 演示文稿</vt:lpstr>
      <vt:lpstr>PowerPoint 演示文稿</vt:lpstr>
      <vt:lpstr>PowerPoint 演示文稿</vt:lpstr>
      <vt:lpstr>课程学习基础任务结构</vt:lpstr>
      <vt:lpstr>第1章  绪论</vt:lpstr>
      <vt:lpstr>数据处理的相关工作？</vt:lpstr>
      <vt:lpstr>系统软件？</vt:lpstr>
      <vt:lpstr>数据库在哪？</vt:lpstr>
      <vt:lpstr>数据库在哪？</vt:lpstr>
      <vt:lpstr>数据库在哪？</vt:lpstr>
      <vt:lpstr>初步认识数据库系统</vt:lpstr>
      <vt:lpstr>计算机科学的数据库分支</vt:lpstr>
      <vt:lpstr>数据工程的发展</vt:lpstr>
      <vt:lpstr>数据库的用途</vt:lpstr>
      <vt:lpstr>PowerPoint 演示文稿</vt:lpstr>
      <vt:lpstr>PowerPoint 演示文稿</vt:lpstr>
      <vt:lpstr>PowerPoint 演示文稿</vt:lpstr>
      <vt:lpstr>PowerPoint 演示文稿</vt:lpstr>
      <vt:lpstr>PowerPoint 演示文稿</vt:lpstr>
      <vt:lpstr>计算机系统的运行机制</vt:lpstr>
      <vt:lpstr>计算机系统的运作方式（续）</vt:lpstr>
      <vt:lpstr>本章主要问题的提出</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数据库对数据的全局性整合使数据的管理全局整体化、数据组织整体结构化，而整体结构化的特定风格有助于将数据管理的底层实现从应用程序中抽取出来。</vt:lpstr>
      <vt:lpstr>PowerPoint 演示文稿</vt:lpstr>
      <vt:lpstr>PowerPoint 演示文稿</vt:lpstr>
      <vt:lpstr>PowerPoint 演示文稿</vt:lpstr>
      <vt:lpstr>PowerPoint 演示文稿</vt:lpstr>
      <vt:lpstr>特征往往伴随相应的分析方法</vt:lpstr>
      <vt:lpstr>模型对问题抽象，描述特征，设计方法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实体联系举例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数据模型在数据库系统中的重要性</vt:lpstr>
      <vt:lpstr>数据库领域的标志性人物1</vt:lpstr>
      <vt:lpstr>数据库领域的标志性人物2</vt:lpstr>
      <vt:lpstr>数据库领域的标志性人物3</vt:lpstr>
      <vt:lpstr>PowerPoint 演示文稿</vt:lpstr>
      <vt:lpstr>PowerPoint 演示文稿</vt:lpstr>
      <vt:lpstr>PowerPoint 演示文稿</vt:lpstr>
      <vt:lpstr>PowerPoint 演示文稿</vt:lpstr>
      <vt:lpstr>PowerPoint 演示文稿</vt:lpstr>
      <vt:lpstr>PowerPoint 演示文稿</vt:lpstr>
      <vt:lpstr>关于三层模式两级映像</vt:lpstr>
      <vt:lpstr>关于模型和模式的思考</vt:lpstr>
      <vt:lpstr>1.3.2  主从式结构 </vt:lpstr>
      <vt:lpstr>PowerPoint 演示文稿</vt:lpstr>
      <vt:lpstr>PowerPoint 演示文稿</vt:lpstr>
      <vt:lpstr>PowerPoint 演示文稿</vt:lpstr>
      <vt:lpstr>PowerPoint 演示文稿</vt:lpstr>
      <vt:lpstr>数据库系统的B/S结构</vt:lpstr>
      <vt:lpstr>数据库系统的B/S结构（续）</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Postgres的语句执行过程</vt:lpstr>
      <vt:lpstr>openGauss数据库：商用+自用+开源相结合，内核长期演进</vt:lpstr>
      <vt:lpstr>openGauss为什么开源? </vt:lpstr>
      <vt:lpstr>openGauss体系架构</vt:lpstr>
      <vt:lpstr>openGauss架构 VS. PostgreSQL架构    关键技术对比</vt:lpstr>
      <vt:lpstr>openGauss 竞争力总览 </vt:lpstr>
      <vt:lpstr>云化数据库是大势所趋 (1) </vt:lpstr>
      <vt:lpstr>云化数据库是大势所趋 (2) </vt:lpstr>
      <vt:lpstr>GaussDB数据库升级为全场景云服务 </vt:lpstr>
      <vt:lpstr>PowerPoint 演示文稿</vt:lpstr>
      <vt:lpstr>PowerPoint 演示文稿</vt:lpstr>
      <vt:lpstr>PowerPoint 演示文稿</vt:lpstr>
      <vt:lpstr>PowerPoint 演示文稿</vt:lpstr>
      <vt:lpstr>慕课讨论题</vt:lpstr>
    </vt:vector>
  </TitlesOfParts>
  <Company>lsr</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数据库系统原理</dc:title>
  <dc:creator>ppl</dc:creator>
  <cp:lastModifiedBy>包子姐</cp:lastModifiedBy>
  <cp:revision>826</cp:revision>
  <dcterms:created xsi:type="dcterms:W3CDTF">2026-03-20T02:21:45Z</dcterms:created>
  <dcterms:modified xsi:type="dcterms:W3CDTF">2026-03-20T02:21:45Z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10A84A940F24177639AFBC6967C7DEF0_42</vt:lpwstr>
  </property>
  <property fmtid="{D5CDD505-2E9C-101B-9397-08002B2CF9AE}" pid="3" name="KSOProductBuildVer">
    <vt:lpwstr>2052-12.1.23540.23540</vt:lpwstr>
  </property>
</Properties>
</file>