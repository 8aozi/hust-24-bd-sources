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713" r:id="rId2"/>
  </p:sldMasterIdLst>
  <p:notesMasterIdLst>
    <p:notesMasterId r:id="rId135"/>
  </p:notesMasterIdLst>
  <p:sldIdLst>
    <p:sldId id="363" r:id="rId3"/>
    <p:sldId id="257" r:id="rId4"/>
    <p:sldId id="364" r:id="rId5"/>
    <p:sldId id="365" r:id="rId6"/>
    <p:sldId id="366" r:id="rId7"/>
    <p:sldId id="418" r:id="rId8"/>
    <p:sldId id="420" r:id="rId9"/>
    <p:sldId id="419" r:id="rId10"/>
    <p:sldId id="421" r:id="rId11"/>
    <p:sldId id="422" r:id="rId12"/>
    <p:sldId id="258" r:id="rId13"/>
    <p:sldId id="343" r:id="rId14"/>
    <p:sldId id="344" r:id="rId15"/>
    <p:sldId id="341" r:id="rId16"/>
    <p:sldId id="345" r:id="rId17"/>
    <p:sldId id="429" r:id="rId18"/>
    <p:sldId id="430" r:id="rId19"/>
    <p:sldId id="431" r:id="rId20"/>
    <p:sldId id="432" r:id="rId21"/>
    <p:sldId id="340" r:id="rId22"/>
    <p:sldId id="339" r:id="rId23"/>
    <p:sldId id="335" r:id="rId24"/>
    <p:sldId id="359" r:id="rId25"/>
    <p:sldId id="259" r:id="rId26"/>
    <p:sldId id="367" r:id="rId27"/>
    <p:sldId id="482" r:id="rId28"/>
    <p:sldId id="481" r:id="rId29"/>
    <p:sldId id="261" r:id="rId30"/>
    <p:sldId id="262" r:id="rId31"/>
    <p:sldId id="368" r:id="rId32"/>
    <p:sldId id="263" r:id="rId33"/>
    <p:sldId id="264" r:id="rId34"/>
    <p:sldId id="265" r:id="rId35"/>
    <p:sldId id="360" r:id="rId36"/>
    <p:sldId id="369" r:id="rId37"/>
    <p:sldId id="370" r:id="rId38"/>
    <p:sldId id="371" r:id="rId39"/>
    <p:sldId id="452" r:id="rId40"/>
    <p:sldId id="435" r:id="rId41"/>
    <p:sldId id="372" r:id="rId42"/>
    <p:sldId id="361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440" r:id="rId52"/>
    <p:sldId id="381" r:id="rId53"/>
    <p:sldId id="382" r:id="rId54"/>
    <p:sldId id="384" r:id="rId55"/>
    <p:sldId id="385" r:id="rId56"/>
    <p:sldId id="386" r:id="rId57"/>
    <p:sldId id="387" r:id="rId58"/>
    <p:sldId id="412" r:id="rId59"/>
    <p:sldId id="413" r:id="rId60"/>
    <p:sldId id="411" r:id="rId61"/>
    <p:sldId id="416" r:id="rId62"/>
    <p:sldId id="423" r:id="rId63"/>
    <p:sldId id="477" r:id="rId64"/>
    <p:sldId id="478" r:id="rId65"/>
    <p:sldId id="405" r:id="rId66"/>
    <p:sldId id="414" r:id="rId67"/>
    <p:sldId id="436" r:id="rId68"/>
    <p:sldId id="491" r:id="rId69"/>
    <p:sldId id="383" r:id="rId70"/>
    <p:sldId id="388" r:id="rId71"/>
    <p:sldId id="406" r:id="rId72"/>
    <p:sldId id="425" r:id="rId73"/>
    <p:sldId id="346" r:id="rId74"/>
    <p:sldId id="389" r:id="rId75"/>
    <p:sldId id="284" r:id="rId76"/>
    <p:sldId id="349" r:id="rId77"/>
    <p:sldId id="285" r:id="rId78"/>
    <p:sldId id="286" r:id="rId79"/>
    <p:sldId id="393" r:id="rId80"/>
    <p:sldId id="288" r:id="rId81"/>
    <p:sldId id="351" r:id="rId82"/>
    <p:sldId id="289" r:id="rId83"/>
    <p:sldId id="394" r:id="rId84"/>
    <p:sldId id="407" r:id="rId85"/>
    <p:sldId id="408" r:id="rId86"/>
    <p:sldId id="395" r:id="rId87"/>
    <p:sldId id="396" r:id="rId88"/>
    <p:sldId id="409" r:id="rId89"/>
    <p:sldId id="355" r:id="rId90"/>
    <p:sldId id="433" r:id="rId91"/>
    <p:sldId id="434" r:id="rId92"/>
    <p:sldId id="439" r:id="rId93"/>
    <p:sldId id="485" r:id="rId94"/>
    <p:sldId id="486" r:id="rId95"/>
    <p:sldId id="487" r:id="rId96"/>
    <p:sldId id="488" r:id="rId97"/>
    <p:sldId id="489" r:id="rId98"/>
    <p:sldId id="490" r:id="rId99"/>
    <p:sldId id="397" r:id="rId100"/>
    <p:sldId id="293" r:id="rId101"/>
    <p:sldId id="352" r:id="rId102"/>
    <p:sldId id="294" r:id="rId103"/>
    <p:sldId id="296" r:id="rId104"/>
    <p:sldId id="297" r:id="rId105"/>
    <p:sldId id="298" r:id="rId106"/>
    <p:sldId id="441" r:id="rId107"/>
    <p:sldId id="442" r:id="rId108"/>
    <p:sldId id="299" r:id="rId109"/>
    <p:sldId id="300" r:id="rId110"/>
    <p:sldId id="301" r:id="rId111"/>
    <p:sldId id="302" r:id="rId112"/>
    <p:sldId id="303" r:id="rId113"/>
    <p:sldId id="402" r:id="rId114"/>
    <p:sldId id="403" r:id="rId115"/>
    <p:sldId id="483" r:id="rId116"/>
    <p:sldId id="484" r:id="rId117"/>
    <p:sldId id="404" r:id="rId118"/>
    <p:sldId id="307" r:id="rId119"/>
    <p:sldId id="308" r:id="rId120"/>
    <p:sldId id="401" r:id="rId121"/>
    <p:sldId id="417" r:id="rId122"/>
    <p:sldId id="444" r:id="rId123"/>
    <p:sldId id="445" r:id="rId124"/>
    <p:sldId id="446" r:id="rId125"/>
    <p:sldId id="447" r:id="rId126"/>
    <p:sldId id="448" r:id="rId127"/>
    <p:sldId id="449" r:id="rId128"/>
    <p:sldId id="450" r:id="rId129"/>
    <p:sldId id="451" r:id="rId130"/>
    <p:sldId id="400" r:id="rId131"/>
    <p:sldId id="312" r:id="rId132"/>
    <p:sldId id="314" r:id="rId133"/>
    <p:sldId id="443" r:id="rId13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FF00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3789" autoAdjust="0"/>
  </p:normalViewPr>
  <p:slideViewPr>
    <p:cSldViewPr>
      <p:cViewPr varScale="1">
        <p:scale>
          <a:sx n="91" d="100"/>
          <a:sy n="91" d="100"/>
        </p:scale>
        <p:origin x="14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36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36E2BA7-7AC5-4836-86E3-4C986241F5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25055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SQL92 </a:t>
            </a:r>
            <a:r>
              <a:rPr lang="zh-CN" altLang="en-US" dirty="0"/>
              <a:t>动态创建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E2BA7-7AC5-4836-86E3-4C986241F591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8621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E2BA7-7AC5-4836-86E3-4C986241F591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8462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E2BA7-7AC5-4836-86E3-4C986241F591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110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WITH CHECK OPTION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子句强制所有数据修改语句均根据视图执行，以符合定义视图的 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SELECT 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语句中所设的条件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en-US" altLang="zh-CN" dirty="0"/>
              <a:t>with check option</a:t>
            </a:r>
            <a:r>
              <a:rPr lang="zh-CN" altLang="en-US" dirty="0"/>
              <a:t>保证了通过视图进行的修改，必须也能通过该视图看到修改后的结果。</a:t>
            </a:r>
            <a:endParaRPr lang="en-US" altLang="zh-CN" dirty="0"/>
          </a:p>
          <a:p>
            <a:r>
              <a:rPr lang="zh-CN" altLang="en-US" dirty="0"/>
              <a:t>如果插入，则插入这条记录在刷新视图后必须可以看到；</a:t>
            </a:r>
            <a:endParaRPr lang="en-US" altLang="zh-CN" dirty="0"/>
          </a:p>
          <a:p>
            <a:r>
              <a:rPr lang="zh-CN" altLang="en-US" dirty="0"/>
              <a:t>如果修改，修改完的结果也必须能通过该视图看到；</a:t>
            </a:r>
            <a:endParaRPr lang="en-US" altLang="zh-CN" dirty="0"/>
          </a:p>
          <a:p>
            <a:r>
              <a:rPr lang="zh-CN" altLang="en-US" dirty="0"/>
              <a:t>如果删除，只能删除视图里有显示的记录。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E2BA7-7AC5-4836-86E3-4C986241F591}" type="slidenum">
              <a:rPr lang="en-US" altLang="zh-CN" smtClean="0"/>
              <a:pPr>
                <a:defRPr/>
              </a:pPr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5281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E2BA7-7AC5-4836-86E3-4C986241F591}" type="slidenum">
              <a:rPr lang="en-US" altLang="zh-CN" smtClean="0"/>
              <a:pPr>
                <a:defRPr/>
              </a:pPr>
              <a:t>126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6011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854E5-77F6-4516-8849-4FBD821753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Verdana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AF151-3A7E-497E-82D4-A5C2A7624A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6"/>
          <p:cNvSpPr txBox="1"/>
          <p:nvPr userDrawn="1"/>
        </p:nvSpPr>
        <p:spPr>
          <a:xfrm>
            <a:off x="5364088" y="4393"/>
            <a:ext cx="3705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i="1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HUST-CS      PANPENG</a:t>
            </a:r>
            <a:endParaRPr lang="zh-CN" altLang="en-US" i="1" dirty="0">
              <a:solidFill>
                <a:srgbClr val="66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0A7F5-6C09-443F-BE76-161AD44084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999CC-3A42-42F0-B831-5299930EDA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DA648-4BD2-4A4E-A357-5E3D53F456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31ED9-3A04-44B4-AFA4-CE4BFD62EB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19990-E4BF-4DF2-A9DE-E56E13CB40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TextBox 4"/>
          <p:cNvSpPr txBox="1"/>
          <p:nvPr userDrawn="1"/>
        </p:nvSpPr>
        <p:spPr>
          <a:xfrm>
            <a:off x="5364088" y="4393"/>
            <a:ext cx="3705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i="1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HUST-CS      PANPENG</a:t>
            </a:r>
            <a:endParaRPr lang="zh-CN" altLang="en-US" i="1" dirty="0">
              <a:solidFill>
                <a:srgbClr val="66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5B0BE-9DFE-4A5B-BB0B-190B5324F2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直角三角形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7" name="任意多边形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212D6-6A28-49FD-9382-21C994F471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0331DA-470C-41C8-811B-902B351340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BE55-B289-4BC8-A9C7-FCED1CEA43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538" y="192088"/>
            <a:ext cx="8162925" cy="1431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813" y="1905000"/>
            <a:ext cx="8110537" cy="41910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525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90925" y="62865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99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278B9-152C-42F7-9BEE-7835C7CA39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538" y="192088"/>
            <a:ext cx="8162925" cy="14319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2813" y="1905000"/>
            <a:ext cx="3978275" cy="4191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3488" y="1905000"/>
            <a:ext cx="3979862" cy="4191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1525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90925" y="62865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199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82C00-131E-41BC-ACFE-DF51A8D9B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1B99F44-D88B-4372-8D36-67402455DAA2}" type="datetime1">
              <a:rPr lang="zh-CN" altLang="en-US" smtClean="0"/>
              <a:t>2026/3/31</a:t>
            </a:fld>
            <a:endParaRPr lang="zh-CN" altLang="en-US" dirty="0"/>
          </a:p>
        </p:txBody>
      </p:sp>
      <p:sp>
        <p:nvSpPr>
          <p:cNvPr id="5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2667000" y="6356351"/>
            <a:ext cx="3352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146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960961" y="40956"/>
            <a:ext cx="211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9pPr>
          </a:lstStyle>
          <a:p>
            <a:r>
              <a:rPr lang="en-US" altLang="zh-CN" sz="1800" i="1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1800" i="1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引自</a:t>
            </a:r>
            <a:r>
              <a:rPr lang="en-US" altLang="zh-CN" sz="1800" i="1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CMU15445]</a:t>
            </a:r>
            <a:endParaRPr lang="zh-CN" altLang="en-US" sz="1800" i="1" dirty="0">
              <a:solidFill>
                <a:srgbClr val="66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9623495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2585552-B7B9-45AC-8EED-AF2259EC2B71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667000" y="6356351"/>
            <a:ext cx="3352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6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21"/>
          <p:cNvSpPr>
            <a:spLocks noGrp="1"/>
          </p:cNvSpPr>
          <p:nvPr>
            <p:ph type="ftr" sz="quarter" idx="11"/>
          </p:nvPr>
        </p:nvSpPr>
        <p:spPr>
          <a:xfrm>
            <a:off x="2667000" y="6356351"/>
            <a:ext cx="3352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185573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7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411586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289290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F51185-2B8B-42E6-A36D-52C805037D2D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1"/>
          <p:cNvSpPr>
            <a:spLocks noGrp="1"/>
          </p:cNvSpPr>
          <p:nvPr>
            <p:ph type="ftr" sz="quarter" idx="11"/>
          </p:nvPr>
        </p:nvSpPr>
        <p:spPr>
          <a:xfrm>
            <a:off x="2667000" y="6356351"/>
            <a:ext cx="3352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TextBox 6"/>
          <p:cNvSpPr txBox="1"/>
          <p:nvPr/>
        </p:nvSpPr>
        <p:spPr>
          <a:xfrm>
            <a:off x="5438755" y="-17999"/>
            <a:ext cx="284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Verdana" pitchFamily="34" charset="0"/>
                <a:ea typeface="宋体" charset="-122"/>
                <a:cs typeface="+mn-cs"/>
              </a:defRPr>
            </a:lvl9pPr>
          </a:lstStyle>
          <a:p>
            <a:r>
              <a:rPr lang="en-US" altLang="zh-CN" sz="1800" i="1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HUST-CS      PANPENG</a:t>
            </a:r>
            <a:endParaRPr lang="zh-CN" altLang="en-US" sz="1800" i="1" dirty="0">
              <a:solidFill>
                <a:srgbClr val="66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0943109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1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068682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350"/>
          </a:p>
        </p:txBody>
      </p:sp>
      <p:sp>
        <p:nvSpPr>
          <p:cNvPr id="6" name="直角三角形 5"/>
          <p:cNvSpPr/>
          <p:nvPr/>
        </p:nvSpPr>
        <p:spPr>
          <a:xfrm rot="420000" flipV="1">
            <a:off x="8004177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 sz="1350"/>
          </a:p>
        </p:txBody>
      </p:sp>
      <p:sp>
        <p:nvSpPr>
          <p:cNvPr id="7" name="任意多边形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350">
              <a:latin typeface="+mn-lt"/>
              <a:ea typeface="+mn-ea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 flipV="1">
            <a:off x="4381500" y="6219826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35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856479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76696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053066"/>
      </p:ext>
    </p:extLst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5584"/>
            <a:ext cx="8229600" cy="495331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3" y="615373"/>
            <a:ext cx="8229599" cy="679751"/>
          </a:xfrm>
        </p:spPr>
        <p:txBody>
          <a:bodyPr/>
          <a:lstStyle>
            <a:lvl1pPr algn="l">
              <a:defRPr sz="21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D559A99-41B9-4DA9-8F17-86DFF679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516911"/>
            <a:ext cx="2133600" cy="331788"/>
          </a:xfrm>
        </p:spPr>
        <p:txBody>
          <a:bodyPr/>
          <a:lstStyle>
            <a:lvl1pPr>
              <a:defRPr/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4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9220" name="标题占位符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221" name="文本占位符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A0255433-B6DF-4E59-ABB1-2E8CCB0058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9225" name="组合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0" r:id="rId2"/>
    <p:sldLayoutId id="2147483709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10" r:id="rId9"/>
    <p:sldLayoutId id="2147483706" r:id="rId10"/>
    <p:sldLayoutId id="2147483707" r:id="rId11"/>
    <p:sldLayoutId id="2147483711" r:id="rId12"/>
    <p:sldLayoutId id="2147483712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936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350">
              <a:latin typeface="+mn-lt"/>
              <a:ea typeface="+mn-ea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937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sz="1350">
              <a:latin typeface="+mn-lt"/>
              <a:ea typeface="+mn-ea"/>
            </a:endParaRPr>
          </a:p>
        </p:txBody>
      </p:sp>
      <p:sp>
        <p:nvSpPr>
          <p:cNvPr id="25604" name="标题占位符 8"/>
          <p:cNvSpPr>
            <a:spLocks noGrp="1"/>
          </p:cNvSpPr>
          <p:nvPr>
            <p:ph type="title"/>
          </p:nvPr>
        </p:nvSpPr>
        <p:spPr bwMode="auto">
          <a:xfrm>
            <a:off x="457200" y="704851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5605" name="文本占位符 29"/>
          <p:cNvSpPr>
            <a:spLocks noGrp="1"/>
          </p:cNvSpPr>
          <p:nvPr>
            <p:ph type="body" idx="1"/>
          </p:nvPr>
        </p:nvSpPr>
        <p:spPr bwMode="auto">
          <a:xfrm>
            <a:off x="457200" y="1935164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1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16C8CFA-7F88-49B1-AA66-045BA62EBB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5609" name="组合 1"/>
          <p:cNvGrpSpPr>
            <a:grpSpLocks/>
          </p:cNvGrpSpPr>
          <p:nvPr/>
        </p:nvGrpSpPr>
        <p:grpSpPr bwMode="auto">
          <a:xfrm>
            <a:off x="-19050" y="203201"/>
            <a:ext cx="9180513" cy="647700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en-US" sz="1350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13363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  <a:ea typeface="隶书" pitchFamily="49" charset="-122"/>
        </a:defRPr>
      </a:lvl9pPr>
    </p:titleStyle>
    <p:bodyStyle>
      <a:lvl1pPr marL="204788" indent="-204788" algn="l" rtl="0" eaLnBrk="1" fontAlgn="base" hangingPunct="1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1" fontAlgn="base" hangingPunct="1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1" fontAlgn="base" hangingPunct="1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wmf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93725"/>
            <a:ext cx="8710613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</a:t>
            </a:r>
            <a:r>
              <a:rPr lang="zh-CN" altLang="en-US" dirty="0">
                <a:solidFill>
                  <a:schemeClr val="tx1"/>
                </a:solidFill>
              </a:rPr>
              <a:t>关系数据库标准语言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57325"/>
            <a:ext cx="8642350" cy="5186363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3.1	</a:t>
            </a:r>
            <a:r>
              <a:rPr lang="zh-CN" altLang="en-US" sz="2400" dirty="0">
                <a:latin typeface="+mn-ea"/>
              </a:rPr>
              <a:t>关系</a:t>
            </a:r>
            <a:r>
              <a:rPr lang="en-US" altLang="zh-CN" sz="2400" dirty="0">
                <a:latin typeface="+mn-ea"/>
              </a:rPr>
              <a:t>DML</a:t>
            </a:r>
            <a:r>
              <a:rPr lang="zh-CN" altLang="en-US" sz="2400" dirty="0">
                <a:latin typeface="+mn-ea"/>
              </a:rPr>
              <a:t>回顾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ISBL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Information System Base Language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>
                <a:latin typeface="+mn-ea"/>
              </a:rPr>
              <a:t>① 研制：</a:t>
            </a:r>
            <a:r>
              <a:rPr lang="en-US" altLang="zh-CN" sz="2400" dirty="0">
                <a:latin typeface="+mn-ea"/>
              </a:rPr>
              <a:t>IBM</a:t>
            </a:r>
            <a:r>
              <a:rPr lang="zh-CN" altLang="en-US" sz="2400" dirty="0">
                <a:latin typeface="+mn-ea"/>
              </a:rPr>
              <a:t>英国研究中心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>
                <a:latin typeface="+mn-ea"/>
              </a:rPr>
              <a:t>② 特征：纯关系式数据库（每个访问语句均近似于一个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关系代数表达式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400" dirty="0">
              <a:latin typeface="+mn-ea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ALPHA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① </a:t>
            </a:r>
            <a:r>
              <a:rPr lang="zh-CN" altLang="en-US" sz="2400" dirty="0">
                <a:latin typeface="+mn-ea"/>
              </a:rPr>
              <a:t>提出：埃德加</a:t>
            </a:r>
            <a:r>
              <a:rPr lang="en-US" altLang="zh-CN" sz="2400" dirty="0">
                <a:latin typeface="+mn-ea"/>
              </a:rPr>
              <a:t>.</a:t>
            </a:r>
            <a:r>
              <a:rPr lang="zh-CN" altLang="en-US" sz="2400" dirty="0">
                <a:latin typeface="+mn-ea"/>
              </a:rPr>
              <a:t>科德（</a:t>
            </a:r>
            <a:r>
              <a:rPr lang="en-US" altLang="zh-CN" sz="2400" dirty="0">
                <a:latin typeface="+mn-ea"/>
              </a:rPr>
              <a:t>Edgar Frank </a:t>
            </a:r>
            <a:r>
              <a:rPr lang="en-US" altLang="zh-CN" sz="2400" dirty="0" err="1">
                <a:latin typeface="+mn-ea"/>
              </a:rPr>
              <a:t>Codd</a:t>
            </a:r>
            <a:r>
              <a:rPr lang="zh-CN" altLang="en-US" sz="2400" dirty="0">
                <a:latin typeface="+mn-ea"/>
              </a:rPr>
              <a:t>）</a:t>
            </a:r>
            <a:r>
              <a:rPr lang="en-US" altLang="zh-CN" sz="2400" dirty="0">
                <a:latin typeface="+mn-ea"/>
              </a:rPr>
              <a:t>&lt;</a:t>
            </a:r>
            <a:r>
              <a:rPr lang="zh-CN" altLang="en-US" sz="2400" dirty="0">
                <a:latin typeface="+mn-ea"/>
              </a:rPr>
              <a:t>未实现</a:t>
            </a:r>
            <a:r>
              <a:rPr lang="en-US" altLang="zh-CN" sz="2400" dirty="0">
                <a:latin typeface="+mn-ea"/>
              </a:rPr>
              <a:t>&gt;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② </a:t>
            </a:r>
            <a:r>
              <a:rPr lang="zh-CN" altLang="en-US" sz="2400" dirty="0">
                <a:latin typeface="+mn-ea"/>
              </a:rPr>
              <a:t>特征：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元组关系演算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400" dirty="0">
              <a:latin typeface="+mn-ea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latin typeface="+mn-ea"/>
              </a:rPr>
              <a:t>3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QUEL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Query Language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>
                <a:latin typeface="+mn-ea"/>
              </a:rPr>
              <a:t>① 研制：美国加利福尼亚大学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>
                <a:latin typeface="+mn-ea"/>
              </a:rPr>
              <a:t>② 特征：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元组关系演算</a:t>
            </a:r>
            <a:r>
              <a:rPr lang="zh-CN" altLang="en-US" sz="2400" dirty="0">
                <a:latin typeface="+mn-ea"/>
              </a:rPr>
              <a:t>（参照</a:t>
            </a:r>
            <a:r>
              <a:rPr lang="en-US" altLang="zh-CN" sz="2400" dirty="0">
                <a:latin typeface="+mn-ea"/>
              </a:rPr>
              <a:t>ALPHA</a:t>
            </a:r>
            <a:r>
              <a:rPr lang="zh-CN" altLang="en-US" sz="2400" dirty="0">
                <a:latin typeface="+mn-ea"/>
              </a:rPr>
              <a:t>，引进谓词演算到关系时，去掉</a:t>
            </a:r>
            <a:r>
              <a:rPr lang="zh-CN" altLang="en-US" sz="2400" dirty="0">
                <a:latin typeface="+mn-ea"/>
                <a:sym typeface="Symbol" pitchFamily="18" charset="2"/>
              </a:rPr>
              <a:t></a:t>
            </a:r>
            <a:r>
              <a:rPr lang="zh-CN" altLang="en-US" sz="2400" dirty="0">
                <a:latin typeface="+mn-ea"/>
              </a:rPr>
              <a:t>、</a:t>
            </a:r>
            <a:r>
              <a:rPr lang="zh-CN" altLang="en-US" sz="2400" dirty="0">
                <a:latin typeface="+mn-ea"/>
                <a:sym typeface="Symbol" pitchFamily="18" charset="2"/>
              </a:rPr>
              <a:t></a:t>
            </a:r>
            <a:r>
              <a:rPr lang="zh-CN" altLang="en-US" sz="2400" dirty="0">
                <a:latin typeface="+mn-ea"/>
              </a:rPr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D35C09-0AD4-4AE3-9656-F99A817DCD65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881063"/>
            <a:ext cx="84963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4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en-US" altLang="zh-CN" sz="2400" dirty="0">
                <a:latin typeface="宋体" pitchFamily="2" charset="-122"/>
              </a:rPr>
              <a:t>QBE</a:t>
            </a:r>
            <a:r>
              <a:rPr lang="zh-CN" altLang="en-US" sz="2400" dirty="0">
                <a:latin typeface="宋体" pitchFamily="2" charset="-122"/>
              </a:rPr>
              <a:t>（</a:t>
            </a:r>
            <a:r>
              <a:rPr lang="en-US" altLang="zh-CN" sz="2400" dirty="0">
                <a:latin typeface="宋体" pitchFamily="2" charset="-122"/>
              </a:rPr>
              <a:t>Query By Example</a:t>
            </a:r>
            <a:r>
              <a:rPr lang="zh-CN" altLang="en-US" sz="2400" dirty="0">
                <a:latin typeface="宋体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</a:rPr>
              <a:t>① 研制：</a:t>
            </a:r>
            <a:r>
              <a:rPr lang="en-US" altLang="zh-CN" sz="2400" dirty="0">
                <a:latin typeface="宋体" pitchFamily="2" charset="-122"/>
              </a:rPr>
              <a:t>IBM</a:t>
            </a:r>
            <a:r>
              <a:rPr lang="zh-CN" altLang="en-US" sz="2400" dirty="0">
                <a:latin typeface="宋体" pitchFamily="2" charset="-122"/>
              </a:rPr>
              <a:t>（</a:t>
            </a:r>
            <a:r>
              <a:rPr lang="en-US" altLang="zh-CN" sz="2400" dirty="0">
                <a:latin typeface="宋体" pitchFamily="2" charset="-122"/>
              </a:rPr>
              <a:t>1975</a:t>
            </a:r>
            <a:r>
              <a:rPr lang="zh-CN" altLang="en-US" sz="2400" dirty="0">
                <a:latin typeface="宋体" pitchFamily="2" charset="-122"/>
              </a:rPr>
              <a:t>年提出，</a:t>
            </a:r>
            <a:r>
              <a:rPr lang="en-US" altLang="zh-CN" sz="2400" dirty="0">
                <a:latin typeface="宋体" pitchFamily="2" charset="-122"/>
              </a:rPr>
              <a:t>1978</a:t>
            </a:r>
            <a:r>
              <a:rPr lang="zh-CN" altLang="en-US" sz="2400" dirty="0">
                <a:latin typeface="宋体" pitchFamily="2" charset="-122"/>
              </a:rPr>
              <a:t>年</a:t>
            </a:r>
            <a:r>
              <a:rPr lang="en-US" altLang="zh-CN" sz="2400" dirty="0">
                <a:latin typeface="宋体" pitchFamily="2" charset="-122"/>
              </a:rPr>
              <a:t>IBM370</a:t>
            </a:r>
            <a:r>
              <a:rPr lang="zh-CN" altLang="en-US" sz="2400" dirty="0">
                <a:latin typeface="宋体" pitchFamily="2" charset="-122"/>
              </a:rPr>
              <a:t>上实现）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</a:rPr>
              <a:t>② 特征：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域关系演算语言</a:t>
            </a:r>
            <a:r>
              <a:rPr lang="zh-CN" altLang="en-US" sz="2400" dirty="0">
                <a:latin typeface="宋体" pitchFamily="2" charset="-122"/>
              </a:rPr>
              <a:t>（表格界面）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5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en-US" altLang="zh-CN" sz="2400" dirty="0">
                <a:latin typeface="宋体" pitchFamily="2" charset="-122"/>
              </a:rPr>
              <a:t>SQL</a:t>
            </a:r>
            <a:r>
              <a:rPr lang="zh-CN" altLang="en-US" sz="2400" dirty="0">
                <a:latin typeface="宋体" pitchFamily="2" charset="-122"/>
              </a:rPr>
              <a:t>（</a:t>
            </a:r>
            <a:r>
              <a:rPr lang="en-US" altLang="zh-CN" sz="2400" dirty="0">
                <a:latin typeface="宋体" pitchFamily="2" charset="-122"/>
              </a:rPr>
              <a:t>Structured Query Language</a:t>
            </a:r>
            <a:r>
              <a:rPr lang="zh-CN" altLang="en-US" sz="2400" dirty="0">
                <a:latin typeface="宋体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</a:rPr>
              <a:t>① 研制：</a:t>
            </a:r>
            <a:r>
              <a:rPr lang="en-US" altLang="zh-CN" sz="2400" dirty="0">
                <a:latin typeface="宋体" pitchFamily="2" charset="-122"/>
              </a:rPr>
              <a:t>IBM</a:t>
            </a:r>
            <a:r>
              <a:rPr lang="zh-CN" altLang="en-US" sz="2400" dirty="0">
                <a:latin typeface="宋体" pitchFamily="2" charset="-122"/>
              </a:rPr>
              <a:t>，</a:t>
            </a:r>
            <a:r>
              <a:rPr lang="en-US" altLang="zh-CN" sz="2400" dirty="0">
                <a:latin typeface="宋体" pitchFamily="2" charset="-122"/>
              </a:rPr>
              <a:t>…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② </a:t>
            </a:r>
            <a:r>
              <a:rPr lang="zh-CN" altLang="en-US" sz="2400" dirty="0">
                <a:latin typeface="宋体" pitchFamily="2" charset="-122"/>
              </a:rPr>
              <a:t>特征：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介于关系代数与关系演算之间</a:t>
            </a:r>
            <a:r>
              <a:rPr lang="zh-CN" altLang="en-US" sz="2400" dirty="0">
                <a:latin typeface="宋体" pitchFamily="2" charset="-122"/>
              </a:rPr>
              <a:t>的语言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5FDBB4-76A5-4E79-997B-B675D831CC13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1028"/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162925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SQL</a:t>
            </a:r>
            <a:r>
              <a:rPr lang="zh-CN" altLang="en-US" b="1" dirty="0">
                <a:solidFill>
                  <a:schemeClr val="tx1"/>
                </a:solidFill>
              </a:rPr>
              <a:t>发展里程碑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24065" name="Group 118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969910384"/>
              </p:ext>
            </p:extLst>
          </p:nvPr>
        </p:nvGraphicFramePr>
        <p:xfrm>
          <a:off x="395288" y="908050"/>
          <a:ext cx="8110537" cy="5545074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日期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事                    件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Codd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定义关系数据库模式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1974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IBM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开始其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System/R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计划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1974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首篇文章描述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SEQUEL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语言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TUCTURED ENGLISH 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UERY 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L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ANGUAGE)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1978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System/R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用户试验，引入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SEQUEL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1979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Oracle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首次引入商用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RDBMS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关系技术引入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Ingres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IBM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公布产品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SQL/DS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， 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SEQUEL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变为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CAA5E-7724-46D6-A800-654E5F894D5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97" name="Group 4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47609199"/>
              </p:ext>
            </p:extLst>
          </p:nvPr>
        </p:nvGraphicFramePr>
        <p:xfrm>
          <a:off x="390525" y="696913"/>
          <a:ext cx="8110537" cy="5090160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ANSI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成立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标准委员会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ANSI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批准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标准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Sybase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引入用于事务处理的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RDBMS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ISO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批准 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标准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首次提供用于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OS/2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的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数据库服务器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1989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ISO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对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SQL86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进行了补充，推出了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SQL89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标准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1991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公布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 Access Group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规程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B6FB26-B59A-4D6F-92E8-741E53C87FF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030" name="Group 3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15878330"/>
              </p:ext>
            </p:extLst>
          </p:nvPr>
        </p:nvGraphicFramePr>
        <p:xfrm>
          <a:off x="500063" y="739775"/>
          <a:ext cx="8110537" cy="4404360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1992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Microsoft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公布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ODBC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规程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1992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首次提供用于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Netware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的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数据库服务器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1992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ANSI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批准 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SQL2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SQL92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）标准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1993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首次提供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ODBC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产品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1999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SQL99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（也称为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SQL3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）增加了抽象数据类型的功能。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BC461B-8723-4D39-AC28-E2E722C9744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7188" y="571500"/>
            <a:ext cx="8229600" cy="6540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SQL</a:t>
            </a:r>
            <a:r>
              <a:rPr lang="zh-CN" altLang="en-US" dirty="0"/>
              <a:t>的产生</a:t>
            </a:r>
          </a:p>
        </p:txBody>
      </p:sp>
      <p:sp>
        <p:nvSpPr>
          <p:cNvPr id="20483" name="内容占位符 4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714875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0000FF"/>
                </a:solidFill>
              </a:rPr>
              <a:t>1974</a:t>
            </a:r>
            <a:r>
              <a:rPr lang="zh-CN" altLang="en-US" sz="2400" dirty="0">
                <a:solidFill>
                  <a:srgbClr val="0000FF"/>
                </a:solidFill>
              </a:rPr>
              <a:t>年，</a:t>
            </a:r>
            <a:r>
              <a:rPr lang="en-US" altLang="zh-CN" sz="2400" dirty="0">
                <a:solidFill>
                  <a:srgbClr val="0000FF"/>
                </a:solidFill>
              </a:rPr>
              <a:t>IBM</a:t>
            </a:r>
            <a:r>
              <a:rPr lang="zh-CN" altLang="en-US" sz="2400" dirty="0">
                <a:solidFill>
                  <a:srgbClr val="0000FF"/>
                </a:solidFill>
              </a:rPr>
              <a:t>的</a:t>
            </a:r>
            <a:r>
              <a:rPr lang="en-US" altLang="zh-CN" sz="2400" dirty="0">
                <a:solidFill>
                  <a:srgbClr val="0000FF"/>
                </a:solidFill>
              </a:rPr>
              <a:t>RayBoyce</a:t>
            </a:r>
            <a:r>
              <a:rPr lang="zh-CN" altLang="en-US" sz="2400" dirty="0">
                <a:solidFill>
                  <a:srgbClr val="0000FF"/>
                </a:solidFill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</a:rPr>
              <a:t>DonChamberlin</a:t>
            </a:r>
            <a:r>
              <a:rPr lang="zh-CN" altLang="en-US" sz="2400" dirty="0">
                <a:solidFill>
                  <a:srgbClr val="0000FF"/>
                </a:solidFill>
              </a:rPr>
              <a:t>将</a:t>
            </a:r>
            <a:r>
              <a:rPr lang="en-US" altLang="zh-CN" sz="2400" dirty="0">
                <a:solidFill>
                  <a:srgbClr val="0000FF"/>
                </a:solidFill>
              </a:rPr>
              <a:t>Codd</a:t>
            </a:r>
            <a:r>
              <a:rPr lang="zh-CN" altLang="en-US" sz="2400" dirty="0">
                <a:solidFill>
                  <a:srgbClr val="0000FF"/>
                </a:solidFill>
              </a:rPr>
              <a:t>关系数据库的</a:t>
            </a:r>
            <a:r>
              <a:rPr lang="en-US" altLang="zh-CN" sz="2400" dirty="0">
                <a:solidFill>
                  <a:srgbClr val="0000FF"/>
                </a:solidFill>
              </a:rPr>
              <a:t>12</a:t>
            </a:r>
            <a:r>
              <a:rPr lang="zh-CN" altLang="en-US" sz="2400" dirty="0">
                <a:solidFill>
                  <a:srgbClr val="0000FF"/>
                </a:solidFill>
              </a:rPr>
              <a:t>条准则的数学定义以简单的关键字语法表现出来，里程碑式地提出了</a:t>
            </a:r>
            <a:r>
              <a:rPr lang="en-US" altLang="zh-CN" sz="2400" dirty="0">
                <a:solidFill>
                  <a:srgbClr val="0000FF"/>
                </a:solidFill>
              </a:rPr>
              <a:t>SQL (Structured Query Language)</a:t>
            </a:r>
            <a:r>
              <a:rPr lang="zh-CN" altLang="en-US" sz="2400" dirty="0">
                <a:solidFill>
                  <a:srgbClr val="0000FF"/>
                </a:solidFill>
              </a:rPr>
              <a:t>语言。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400" dirty="0"/>
              <a:t>SQL</a:t>
            </a:r>
            <a:r>
              <a:rPr lang="zh-CN" altLang="en-US" sz="2400" dirty="0"/>
              <a:t>的功能包括查询、操纵、定义和控制。</a:t>
            </a:r>
            <a:endParaRPr lang="en-US" altLang="zh-CN" sz="2400" dirty="0"/>
          </a:p>
          <a:p>
            <a:pPr eaLnBrk="1" hangingPunct="1">
              <a:buFont typeface="Wingdings 2" pitchFamily="18" charset="2"/>
              <a:buNone/>
            </a:pPr>
            <a:r>
              <a:rPr lang="en-US" altLang="zh-CN" sz="2400" dirty="0"/>
              <a:t>       </a:t>
            </a:r>
            <a:r>
              <a:rPr lang="zh-CN" altLang="en-US" sz="2400" b="1" dirty="0">
                <a:solidFill>
                  <a:srgbClr val="FF0000"/>
                </a:solidFill>
              </a:rPr>
              <a:t>综合的、通用的</a:t>
            </a:r>
            <a:r>
              <a:rPr lang="zh-CN" altLang="en-US" sz="2400" dirty="0"/>
              <a:t>关系数据库语言</a:t>
            </a:r>
            <a:endParaRPr lang="en-US" altLang="zh-CN" sz="2400" dirty="0"/>
          </a:p>
          <a:p>
            <a:pPr eaLnBrk="1" hangingPunct="1">
              <a:buFont typeface="Wingdings 2" pitchFamily="18" charset="2"/>
              <a:buNone/>
            </a:pPr>
            <a:r>
              <a:rPr lang="zh-CN" altLang="en-US" sz="2400" dirty="0"/>
              <a:t>       </a:t>
            </a:r>
            <a:r>
              <a:rPr lang="zh-CN" altLang="en-US" sz="2400" b="1" dirty="0">
                <a:solidFill>
                  <a:srgbClr val="FF0000"/>
                </a:solidFill>
              </a:rPr>
              <a:t>高度非过程化</a:t>
            </a:r>
            <a:r>
              <a:rPr lang="zh-CN" altLang="en-US" sz="2400" dirty="0"/>
              <a:t>（只要求用户指出做什么而不需要指出怎么做）。</a:t>
            </a:r>
            <a:endParaRPr lang="en-US" altLang="zh-CN" sz="2400" dirty="0"/>
          </a:p>
          <a:p>
            <a:pPr eaLnBrk="1" hangingPunct="1">
              <a:buFont typeface="Wingdings 2" pitchFamily="18" charset="2"/>
              <a:buNone/>
            </a:pPr>
            <a:r>
              <a:rPr lang="zh-CN" altLang="en-US" sz="2400" dirty="0"/>
              <a:t>       集成实现了数据库</a:t>
            </a:r>
            <a:r>
              <a:rPr lang="zh-CN" altLang="en-US" sz="2400" b="1" dirty="0">
                <a:solidFill>
                  <a:srgbClr val="FF0000"/>
                </a:solidFill>
              </a:rPr>
              <a:t>生命周期</a:t>
            </a:r>
            <a:r>
              <a:rPr lang="zh-CN" altLang="en-US" sz="2400" dirty="0">
                <a:solidFill>
                  <a:srgbClr val="FF0000"/>
                </a:solidFill>
              </a:rPr>
              <a:t>中</a:t>
            </a:r>
            <a:r>
              <a:rPr lang="zh-CN" altLang="en-US" sz="2400" dirty="0"/>
              <a:t>的全部操作。</a:t>
            </a:r>
            <a:endParaRPr lang="en-US" altLang="zh-CN" sz="2400" dirty="0"/>
          </a:p>
          <a:p>
            <a:pPr eaLnBrk="1" hangingPunct="1">
              <a:buFont typeface="Wingdings 2" pitchFamily="18" charset="2"/>
              <a:buNone/>
            </a:pPr>
            <a:r>
              <a:rPr lang="zh-CN" altLang="en-US" sz="2400" dirty="0"/>
              <a:t>       提供了与关系数据库交互的方法，可以与标准的编程语言一起工作。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B06025-80AF-47F5-927B-E5664570C1F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866775"/>
          </a:xfrm>
        </p:spPr>
        <p:txBody>
          <a:bodyPr/>
          <a:lstStyle/>
          <a:p>
            <a:pPr eaLnBrk="1" hangingPunct="1"/>
            <a:r>
              <a:rPr lang="en-US" altLang="zh-CN" dirty="0"/>
              <a:t>SQL</a:t>
            </a:r>
            <a:r>
              <a:rPr lang="zh-CN" altLang="en-US" dirty="0"/>
              <a:t>标准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0000FF"/>
                </a:solidFill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</a:rPr>
              <a:t>语言标准的每一次变更都指导着关系数据库产品的发展方向。然而，直到二十世纪七十年代中期，关系理论才通过</a:t>
            </a:r>
            <a:r>
              <a:rPr lang="en-US" altLang="zh-CN" sz="2800" dirty="0">
                <a:solidFill>
                  <a:srgbClr val="0000FF"/>
                </a:solidFill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</a:rPr>
              <a:t>在商业数据库</a:t>
            </a:r>
            <a:r>
              <a:rPr lang="en-US" altLang="zh-CN" sz="2800" dirty="0">
                <a:solidFill>
                  <a:srgbClr val="0000FF"/>
                </a:solidFill>
              </a:rPr>
              <a:t>Oracle</a:t>
            </a:r>
            <a:r>
              <a:rPr lang="zh-CN" altLang="en-US" sz="2800" dirty="0">
                <a:solidFill>
                  <a:srgbClr val="0000FF"/>
                </a:solidFill>
              </a:rPr>
              <a:t>和</a:t>
            </a:r>
            <a:r>
              <a:rPr lang="en-US" altLang="zh-CN" sz="2800" dirty="0">
                <a:solidFill>
                  <a:srgbClr val="0000FF"/>
                </a:solidFill>
              </a:rPr>
              <a:t>DB2</a:t>
            </a:r>
            <a:r>
              <a:rPr lang="zh-CN" altLang="en-US" sz="2800" dirty="0">
                <a:solidFill>
                  <a:srgbClr val="0000FF"/>
                </a:solidFill>
              </a:rPr>
              <a:t>中使用。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800" dirty="0">
                <a:solidFill>
                  <a:srgbClr val="0000FF"/>
                </a:solidFill>
              </a:rPr>
              <a:t>1986</a:t>
            </a:r>
            <a:r>
              <a:rPr lang="zh-CN" altLang="en-US" sz="2800" dirty="0">
                <a:solidFill>
                  <a:srgbClr val="0000FF"/>
                </a:solidFill>
              </a:rPr>
              <a:t>年，</a:t>
            </a:r>
            <a:r>
              <a:rPr lang="en-US" altLang="zh-CN" sz="2800" dirty="0">
                <a:solidFill>
                  <a:srgbClr val="0000FF"/>
                </a:solidFill>
              </a:rPr>
              <a:t>ANSI</a:t>
            </a:r>
            <a:r>
              <a:rPr lang="zh-CN" altLang="en-US" sz="2800" dirty="0">
                <a:solidFill>
                  <a:srgbClr val="0000FF"/>
                </a:solidFill>
              </a:rPr>
              <a:t>把</a:t>
            </a:r>
            <a:r>
              <a:rPr lang="en-US" altLang="zh-CN" sz="2800" dirty="0">
                <a:solidFill>
                  <a:srgbClr val="0000FF"/>
                </a:solidFill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</a:rPr>
              <a:t>作为关系数据库语言的美国标准，同年公布了标准</a:t>
            </a:r>
            <a:r>
              <a:rPr lang="en-US" altLang="zh-CN" sz="2800" dirty="0">
                <a:solidFill>
                  <a:srgbClr val="0000FF"/>
                </a:solidFill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</a:rPr>
              <a:t>文本。目前</a:t>
            </a:r>
            <a:r>
              <a:rPr lang="en-US" altLang="zh-CN" sz="2800" dirty="0">
                <a:solidFill>
                  <a:srgbClr val="0000FF"/>
                </a:solidFill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</a:rPr>
              <a:t>标准经历了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>
                <a:solidFill>
                  <a:srgbClr val="FF0000"/>
                </a:solidFill>
              </a:rPr>
              <a:t>个主要的版本</a:t>
            </a:r>
            <a:r>
              <a:rPr lang="zh-CN" altLang="en-US" sz="2800" dirty="0">
                <a:solidFill>
                  <a:srgbClr val="0000FF"/>
                </a:solidFill>
              </a:rPr>
              <a:t>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8E1D28-B5F9-4687-84C6-5496507A5F5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457200" y="490538"/>
            <a:ext cx="8229600" cy="866775"/>
          </a:xfrm>
        </p:spPr>
        <p:txBody>
          <a:bodyPr/>
          <a:lstStyle/>
          <a:p>
            <a:pPr eaLnBrk="1" hangingPunct="1"/>
            <a:r>
              <a:rPr lang="en-US" altLang="zh-CN"/>
              <a:t>SQL-89</a:t>
            </a:r>
            <a:endParaRPr lang="zh-CN" altLang="en-US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38943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基本</a:t>
            </a:r>
            <a:r>
              <a:rPr lang="en-US" altLang="zh-CN" sz="2800" dirty="0"/>
              <a:t>SQL</a:t>
            </a:r>
            <a:r>
              <a:rPr lang="zh-CN" altLang="en-US" sz="2800" dirty="0"/>
              <a:t>定义是</a:t>
            </a:r>
            <a:r>
              <a:rPr lang="en-US" altLang="zh-CN" sz="2800" dirty="0"/>
              <a:t>ANSIX3135-89</a:t>
            </a:r>
            <a:r>
              <a:rPr lang="zh-CN" altLang="en-US" sz="2800" dirty="0"/>
              <a:t>，“</a:t>
            </a:r>
            <a:r>
              <a:rPr lang="en-US" altLang="zh-CN" sz="2800" dirty="0"/>
              <a:t>Database Language-SQL with Integrity Enhancement”[ANSI89</a:t>
            </a:r>
            <a:r>
              <a:rPr lang="zh-CN" altLang="en-US" sz="2800" dirty="0"/>
              <a:t>，一般叫做</a:t>
            </a:r>
            <a:r>
              <a:rPr lang="en-US" altLang="zh-CN" sz="2800" dirty="0"/>
              <a:t>SQL-89]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SQL-89</a:t>
            </a:r>
            <a:r>
              <a:rPr lang="zh-CN" altLang="en-US" sz="2800" dirty="0"/>
              <a:t>描述了</a:t>
            </a:r>
            <a:r>
              <a:rPr lang="zh-CN" altLang="en-US" sz="2800" dirty="0">
                <a:solidFill>
                  <a:srgbClr val="FF0000"/>
                </a:solidFill>
              </a:rPr>
              <a:t>模式定义、数据操作和事务处理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SQL-89</a:t>
            </a:r>
            <a:r>
              <a:rPr lang="zh-CN" altLang="en-US" sz="2800" dirty="0"/>
              <a:t>和随后的</a:t>
            </a:r>
            <a:r>
              <a:rPr lang="en-US" altLang="zh-CN" sz="2800" dirty="0"/>
              <a:t>ANSIX3168-1989</a:t>
            </a:r>
            <a:r>
              <a:rPr lang="zh-CN" altLang="en-US" sz="2800" dirty="0"/>
              <a:t>，“</a:t>
            </a:r>
            <a:r>
              <a:rPr lang="en-US" altLang="zh-CN" sz="2800" dirty="0"/>
              <a:t>Database Language-Embedded SQL”</a:t>
            </a:r>
            <a:r>
              <a:rPr lang="zh-CN" altLang="en-US" sz="2800" dirty="0"/>
              <a:t>构成了</a:t>
            </a:r>
            <a:r>
              <a:rPr lang="zh-CN" altLang="en-US" sz="2800" dirty="0">
                <a:solidFill>
                  <a:srgbClr val="FF0000"/>
                </a:solidFill>
              </a:rPr>
              <a:t>第一代</a:t>
            </a:r>
            <a:r>
              <a:rPr lang="en-US" altLang="zh-CN" sz="2800" dirty="0">
                <a:solidFill>
                  <a:srgbClr val="FF0000"/>
                </a:solidFill>
              </a:rPr>
              <a:t>SQL</a:t>
            </a:r>
            <a:r>
              <a:rPr lang="zh-CN" altLang="en-US" sz="2800" dirty="0">
                <a:solidFill>
                  <a:srgbClr val="FF0000"/>
                </a:solidFill>
              </a:rPr>
              <a:t>标准</a:t>
            </a:r>
            <a:r>
              <a:rPr lang="zh-CN" altLang="en-US" sz="28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CD4D1F-F989-492E-A95B-9CCFC24942B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4375"/>
            <a:ext cx="8229600" cy="7048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SQL92</a:t>
            </a:r>
            <a:endParaRPr lang="zh-CN" altLang="en-US" dirty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38943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ANSIX3135-1992[ANSI92]</a:t>
            </a:r>
            <a:r>
              <a:rPr lang="zh-CN" altLang="en-US" sz="2800" dirty="0"/>
              <a:t>描述了一种增强功能的</a:t>
            </a:r>
            <a:r>
              <a:rPr lang="en-US" altLang="zh-CN" sz="2800" dirty="0"/>
              <a:t>SQL</a:t>
            </a:r>
            <a:r>
              <a:rPr lang="zh-CN" altLang="en-US" sz="2800" dirty="0"/>
              <a:t>，现在叫做</a:t>
            </a:r>
            <a:r>
              <a:rPr lang="en-US" altLang="zh-CN" sz="2800" dirty="0"/>
              <a:t>SQL-92</a:t>
            </a:r>
            <a:r>
              <a:rPr lang="zh-CN" altLang="en-US" sz="2800" dirty="0"/>
              <a:t>标准。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SQL-92</a:t>
            </a:r>
            <a:r>
              <a:rPr lang="zh-CN" altLang="en-US" sz="2800" dirty="0"/>
              <a:t>包括</a:t>
            </a:r>
            <a:r>
              <a:rPr lang="zh-CN" altLang="en-US" sz="2800" dirty="0">
                <a:solidFill>
                  <a:srgbClr val="FF0000"/>
                </a:solidFill>
              </a:rPr>
              <a:t>模式操作，动态创建和</a:t>
            </a:r>
            <a:r>
              <a:rPr lang="en-US" altLang="zh-CN" sz="2800" dirty="0">
                <a:solidFill>
                  <a:srgbClr val="FF0000"/>
                </a:solidFill>
              </a:rPr>
              <a:t>SQL</a:t>
            </a:r>
            <a:r>
              <a:rPr lang="zh-CN" altLang="en-US" sz="2800" dirty="0">
                <a:solidFill>
                  <a:srgbClr val="FF0000"/>
                </a:solidFill>
              </a:rPr>
              <a:t>语句动态执行、网络环境支持</a:t>
            </a:r>
            <a:r>
              <a:rPr lang="zh-CN" altLang="en-US" sz="2800" dirty="0"/>
              <a:t>等增强特性。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4A9832-C1FA-4BCA-A6D3-8B8AA513612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71500"/>
            <a:ext cx="8229600" cy="79533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SQL3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428625" y="1571625"/>
            <a:ext cx="8229600" cy="438943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在完成</a:t>
            </a:r>
            <a:r>
              <a:rPr lang="en-US" altLang="zh-CN" sz="2800" dirty="0"/>
              <a:t>SQL-92</a:t>
            </a:r>
            <a:r>
              <a:rPr lang="zh-CN" altLang="en-US" sz="2800" dirty="0"/>
              <a:t>标准后，</a:t>
            </a:r>
            <a:r>
              <a:rPr lang="en-US" altLang="zh-CN" sz="2800" dirty="0"/>
              <a:t>ANSI</a:t>
            </a:r>
            <a:r>
              <a:rPr lang="zh-CN" altLang="en-US" sz="2800" dirty="0"/>
              <a:t>和</a:t>
            </a:r>
            <a:r>
              <a:rPr lang="en-US" altLang="zh-CN" sz="2800" dirty="0"/>
              <a:t>ISO</a:t>
            </a:r>
            <a:r>
              <a:rPr lang="zh-CN" altLang="en-US" sz="2800" dirty="0"/>
              <a:t>即开始合作开发</a:t>
            </a:r>
            <a:r>
              <a:rPr lang="en-US" altLang="zh-CN" sz="2800" dirty="0"/>
              <a:t>SQL3</a:t>
            </a:r>
            <a:r>
              <a:rPr lang="zh-CN" altLang="en-US" sz="2800" dirty="0"/>
              <a:t>标准。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/>
              <a:t>SQL3</a:t>
            </a:r>
            <a:r>
              <a:rPr lang="zh-CN" altLang="en-US" sz="2800" dirty="0"/>
              <a:t>的主要特点在于</a:t>
            </a:r>
            <a:r>
              <a:rPr lang="zh-CN" altLang="en-US" sz="2800" dirty="0">
                <a:solidFill>
                  <a:srgbClr val="FF0000"/>
                </a:solidFill>
              </a:rPr>
              <a:t>抽象数据类型</a:t>
            </a:r>
            <a:r>
              <a:rPr lang="zh-CN" altLang="en-US" sz="2800" dirty="0"/>
              <a:t>的支持，为新一代</a:t>
            </a:r>
            <a:r>
              <a:rPr lang="zh-CN" altLang="en-US" sz="2800" dirty="0">
                <a:solidFill>
                  <a:srgbClr val="FF0000"/>
                </a:solidFill>
              </a:rPr>
              <a:t>对象关系数据库</a:t>
            </a:r>
            <a:r>
              <a:rPr lang="zh-CN" altLang="en-US" sz="2800" dirty="0"/>
              <a:t>提供了标准。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D74B0-C4E6-44B9-9795-F31CA08FAEF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idx="1"/>
          </p:nvPr>
        </p:nvSpPr>
        <p:spPr>
          <a:xfrm>
            <a:off x="468313" y="809624"/>
            <a:ext cx="8110537" cy="528367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>
                <a:latin typeface="宋体" pitchFamily="2" charset="-122"/>
              </a:rPr>
              <a:t>3.2  SQL</a:t>
            </a:r>
            <a:r>
              <a:rPr lang="zh-CN" altLang="en-US" sz="2800" b="1" dirty="0">
                <a:latin typeface="宋体" pitchFamily="2" charset="-122"/>
              </a:rPr>
              <a:t>概述</a:t>
            </a:r>
            <a:endParaRPr lang="en-US" altLang="zh-CN" sz="2800" b="1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1</a:t>
            </a:r>
            <a:r>
              <a:rPr lang="zh-CN" altLang="en-US" sz="2400" dirty="0">
                <a:latin typeface="宋体" pitchFamily="2" charset="-122"/>
              </a:rPr>
              <a:t>、特点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itchFamily="2" charset="-122"/>
              </a:rPr>
              <a:t>① 一体化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</a:rPr>
              <a:t>        </a:t>
            </a:r>
            <a:r>
              <a:rPr lang="en-US" altLang="zh-CN" sz="2400" dirty="0">
                <a:latin typeface="宋体" pitchFamily="2" charset="-122"/>
              </a:rPr>
              <a:t>DDL——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D</a:t>
            </a:r>
            <a:r>
              <a:rPr lang="en-US" altLang="zh-CN" sz="2400" dirty="0">
                <a:latin typeface="宋体" pitchFamily="2" charset="-122"/>
              </a:rPr>
              <a:t>ata  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D</a:t>
            </a:r>
            <a:r>
              <a:rPr lang="en-US" altLang="zh-CN" sz="2400" dirty="0">
                <a:latin typeface="宋体" pitchFamily="2" charset="-122"/>
              </a:rPr>
              <a:t>escription  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L</a:t>
            </a:r>
            <a:r>
              <a:rPr lang="en-US" altLang="zh-CN" sz="2400" dirty="0">
                <a:latin typeface="宋体" pitchFamily="2" charset="-122"/>
              </a:rPr>
              <a:t>anguage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        DML——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D</a:t>
            </a:r>
            <a:r>
              <a:rPr lang="en-US" altLang="zh-CN" sz="2400" dirty="0">
                <a:latin typeface="宋体" pitchFamily="2" charset="-122"/>
              </a:rPr>
              <a:t>ata  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M</a:t>
            </a:r>
            <a:r>
              <a:rPr lang="en-US" altLang="zh-CN" sz="2400" dirty="0">
                <a:latin typeface="宋体" pitchFamily="2" charset="-122"/>
              </a:rPr>
              <a:t>anipulate   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L</a:t>
            </a:r>
            <a:r>
              <a:rPr lang="en-US" altLang="zh-CN" sz="2400" dirty="0">
                <a:latin typeface="宋体" pitchFamily="2" charset="-122"/>
              </a:rPr>
              <a:t>anguage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        DCL——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D</a:t>
            </a:r>
            <a:r>
              <a:rPr lang="en-US" altLang="zh-CN" sz="2400" dirty="0">
                <a:latin typeface="宋体" pitchFamily="2" charset="-122"/>
              </a:rPr>
              <a:t>ata  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C</a:t>
            </a:r>
            <a:r>
              <a:rPr lang="en-US" altLang="zh-CN" sz="2400" dirty="0">
                <a:latin typeface="宋体" pitchFamily="2" charset="-122"/>
              </a:rPr>
              <a:t>ontrol       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L</a:t>
            </a:r>
            <a:r>
              <a:rPr lang="en-US" altLang="zh-CN" sz="2400" dirty="0">
                <a:latin typeface="宋体" pitchFamily="2" charset="-122"/>
              </a:rPr>
              <a:t>anguage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latin typeface="宋体" pitchFamily="2" charset="-122"/>
              </a:rPr>
              <a:t>（三种功能可在系统不间断的情况下交替执行；</a:t>
            </a:r>
            <a:endParaRPr lang="en-US" altLang="zh-CN" sz="24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      </a:t>
            </a:r>
            <a:r>
              <a:rPr lang="zh-CN" altLang="en-US" sz="2400" dirty="0">
                <a:latin typeface="宋体" pitchFamily="2" charset="-122"/>
              </a:rPr>
              <a:t>风格统一）</a:t>
            </a:r>
            <a:endParaRPr lang="en-US" altLang="zh-CN" sz="24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两种使用方式（交互、嵌入）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F97CDF-C705-49B0-A593-8F8A0D593AE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027"/>
          <p:cNvGraphicFramePr>
            <a:graphicFrameLocks noChangeAspect="1"/>
          </p:cNvGraphicFramePr>
          <p:nvPr/>
        </p:nvGraphicFramePr>
        <p:xfrm>
          <a:off x="457200" y="304800"/>
          <a:ext cx="8305800" cy="567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" name="位图图像" r:id="rId3" imgW="5772956" imgH="3943901" progId="PBrush">
                  <p:embed/>
                </p:oleObj>
              </mc:Choice>
              <mc:Fallback>
                <p:oleObj name="位图图像" r:id="rId3" imgW="5772956" imgH="3943901" progId="PBrush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800"/>
                        <a:ext cx="8305800" cy="567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D9E4E8-1D92-4BDF-906E-A938A90719B1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3074"/>
          <p:cNvGraphicFramePr>
            <a:graphicFrameLocks noChangeAspect="1"/>
          </p:cNvGraphicFramePr>
          <p:nvPr/>
        </p:nvGraphicFramePr>
        <p:xfrm>
          <a:off x="457200" y="381000"/>
          <a:ext cx="8229600" cy="369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" name="位图图像" r:id="rId3" imgW="3610479" imgH="1619476" progId="PBrush">
                  <p:embed/>
                </p:oleObj>
              </mc:Choice>
              <mc:Fallback>
                <p:oleObj name="位图图像" r:id="rId3" imgW="3610479" imgH="1619476" progId="PBrush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1000"/>
                        <a:ext cx="8229600" cy="369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37CD1E-34E2-4CFF-BB70-DEEF91980A5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026"/>
          <p:cNvGraphicFramePr>
            <a:graphicFrameLocks noChangeAspect="1"/>
          </p:cNvGraphicFramePr>
          <p:nvPr/>
        </p:nvGraphicFramePr>
        <p:xfrm>
          <a:off x="304800" y="1219200"/>
          <a:ext cx="8153400" cy="439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3" name="位图图像" r:id="rId3" imgW="3742857" imgH="2019048" progId="PBrush">
                  <p:embed/>
                </p:oleObj>
              </mc:Choice>
              <mc:Fallback>
                <p:oleObj name="位图图像" r:id="rId3" imgW="3742857" imgH="2019048" progId="PBrush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8153400" cy="439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Text Box 1027"/>
          <p:cNvSpPr txBox="1">
            <a:spLocks noChangeArrowheads="1"/>
          </p:cNvSpPr>
          <p:nvPr/>
        </p:nvSpPr>
        <p:spPr bwMode="auto">
          <a:xfrm>
            <a:off x="381000" y="685800"/>
            <a:ext cx="1292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交互式</a:t>
            </a:r>
            <a:r>
              <a:rPr lang="en-US" altLang="zh-CN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98190A-E573-4004-997B-AC3BEFB6291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026"/>
          <p:cNvGraphicFramePr>
            <a:graphicFrameLocks noChangeAspect="1"/>
          </p:cNvGraphicFramePr>
          <p:nvPr/>
        </p:nvGraphicFramePr>
        <p:xfrm>
          <a:off x="304800" y="1279525"/>
          <a:ext cx="8534400" cy="514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7" name="位图图像" r:id="rId3" imgW="6409524" imgH="3866667" progId="PBrush">
                  <p:embed/>
                </p:oleObj>
              </mc:Choice>
              <mc:Fallback>
                <p:oleObj name="位图图像" r:id="rId3" imgW="6409524" imgH="3866667" progId="PBrush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79525"/>
                        <a:ext cx="8534400" cy="514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Text Box 1027"/>
          <p:cNvSpPr txBox="1">
            <a:spLocks noChangeArrowheads="1"/>
          </p:cNvSpPr>
          <p:nvPr/>
        </p:nvSpPr>
        <p:spPr bwMode="auto">
          <a:xfrm>
            <a:off x="441325" y="701675"/>
            <a:ext cx="1292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交互式</a:t>
            </a:r>
            <a:r>
              <a:rPr lang="en-US" altLang="zh-CN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8D4EE7-0195-4C8D-B40E-5201E6977E21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19990-E4BF-4DF2-A9DE-E56E13CB40E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12390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76672"/>
            <a:ext cx="8784976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19990-E4BF-4DF2-A9DE-E56E13CB40E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8964488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19990-E4BF-4DF2-A9DE-E56E13CB40E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48680"/>
            <a:ext cx="8705850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19990-E4BF-4DF2-A9DE-E56E13CB40E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548680"/>
            <a:ext cx="8667750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806450"/>
            <a:ext cx="8569325" cy="64087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嵌入式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Main(){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exec sql begin declare section;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char co[10];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int id;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exec sql end declare section;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…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exec sql </a:t>
            </a:r>
            <a:r>
              <a:rPr lang="en-US" altLang="zh-CN" sz="2800" dirty="0">
                <a:solidFill>
                  <a:srgbClr val="0033CC"/>
                </a:solidFill>
              </a:rPr>
              <a:t>select company_name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33CC"/>
                </a:solidFill>
              </a:rPr>
              <a:t>		     from customer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33CC"/>
                </a:solidFill>
              </a:rPr>
              <a:t>		     where id = :id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33CC"/>
                </a:solidFill>
              </a:rPr>
              <a:t>		     into co;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…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846CA2-3314-4521-B5C4-4A6E717DCEC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8243888" y="4294361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28ABFC06-10C7-4DFD-9296-A2C28E8E2288}"/>
              </a:ext>
            </a:extLst>
          </p:cNvPr>
          <p:cNvSpPr/>
          <p:nvPr/>
        </p:nvSpPr>
        <p:spPr>
          <a:xfrm>
            <a:off x="3913632" y="5430530"/>
            <a:ext cx="1097280" cy="193030"/>
          </a:xfrm>
          <a:custGeom>
            <a:avLst/>
            <a:gdLst>
              <a:gd name="connsiteX0" fmla="*/ 0 w 1097280"/>
              <a:gd name="connsiteY0" fmla="*/ 83302 h 193030"/>
              <a:gd name="connsiteX1" fmla="*/ 91440 w 1097280"/>
              <a:gd name="connsiteY1" fmla="*/ 147310 h 193030"/>
              <a:gd name="connsiteX2" fmla="*/ 128016 w 1097280"/>
              <a:gd name="connsiteY2" fmla="*/ 165598 h 193030"/>
              <a:gd name="connsiteX3" fmla="*/ 164592 w 1097280"/>
              <a:gd name="connsiteY3" fmla="*/ 174742 h 193030"/>
              <a:gd name="connsiteX4" fmla="*/ 192024 w 1097280"/>
              <a:gd name="connsiteY4" fmla="*/ 193030 h 193030"/>
              <a:gd name="connsiteX5" fmla="*/ 292608 w 1097280"/>
              <a:gd name="connsiteY5" fmla="*/ 174742 h 193030"/>
              <a:gd name="connsiteX6" fmla="*/ 338328 w 1097280"/>
              <a:gd name="connsiteY6" fmla="*/ 165598 h 193030"/>
              <a:gd name="connsiteX7" fmla="*/ 365760 w 1097280"/>
              <a:gd name="connsiteY7" fmla="*/ 156454 h 193030"/>
              <a:gd name="connsiteX8" fmla="*/ 402336 w 1097280"/>
              <a:gd name="connsiteY8" fmla="*/ 147310 h 193030"/>
              <a:gd name="connsiteX9" fmla="*/ 466344 w 1097280"/>
              <a:gd name="connsiteY9" fmla="*/ 119878 h 193030"/>
              <a:gd name="connsiteX10" fmla="*/ 521208 w 1097280"/>
              <a:gd name="connsiteY10" fmla="*/ 83302 h 193030"/>
              <a:gd name="connsiteX11" fmla="*/ 914400 w 1097280"/>
              <a:gd name="connsiteY11" fmla="*/ 74158 h 193030"/>
              <a:gd name="connsiteX12" fmla="*/ 941832 w 1097280"/>
              <a:gd name="connsiteY12" fmla="*/ 55870 h 193030"/>
              <a:gd name="connsiteX13" fmla="*/ 1014984 w 1097280"/>
              <a:gd name="connsiteY13" fmla="*/ 37582 h 193030"/>
              <a:gd name="connsiteX14" fmla="*/ 1051560 w 1097280"/>
              <a:gd name="connsiteY14" fmla="*/ 19294 h 193030"/>
              <a:gd name="connsiteX15" fmla="*/ 1078992 w 1097280"/>
              <a:gd name="connsiteY15" fmla="*/ 1006 h 193030"/>
              <a:gd name="connsiteX16" fmla="*/ 1097280 w 1097280"/>
              <a:gd name="connsiteY16" fmla="*/ 1006 h 19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97280" h="193030">
                <a:moveTo>
                  <a:pt x="0" y="83302"/>
                </a:moveTo>
                <a:cubicBezTo>
                  <a:pt x="47128" y="121005"/>
                  <a:pt x="40340" y="118921"/>
                  <a:pt x="91440" y="147310"/>
                </a:cubicBezTo>
                <a:cubicBezTo>
                  <a:pt x="103356" y="153930"/>
                  <a:pt x="115253" y="160812"/>
                  <a:pt x="128016" y="165598"/>
                </a:cubicBezTo>
                <a:cubicBezTo>
                  <a:pt x="139783" y="170011"/>
                  <a:pt x="152400" y="171694"/>
                  <a:pt x="164592" y="174742"/>
                </a:cubicBezTo>
                <a:cubicBezTo>
                  <a:pt x="173736" y="180838"/>
                  <a:pt x="181034" y="193030"/>
                  <a:pt x="192024" y="193030"/>
                </a:cubicBezTo>
                <a:cubicBezTo>
                  <a:pt x="226102" y="193030"/>
                  <a:pt x="259114" y="181022"/>
                  <a:pt x="292608" y="174742"/>
                </a:cubicBezTo>
                <a:cubicBezTo>
                  <a:pt x="307884" y="171878"/>
                  <a:pt x="323250" y="169367"/>
                  <a:pt x="338328" y="165598"/>
                </a:cubicBezTo>
                <a:cubicBezTo>
                  <a:pt x="347679" y="163260"/>
                  <a:pt x="356492" y="159102"/>
                  <a:pt x="365760" y="156454"/>
                </a:cubicBezTo>
                <a:cubicBezTo>
                  <a:pt x="377844" y="153002"/>
                  <a:pt x="390144" y="150358"/>
                  <a:pt x="402336" y="147310"/>
                </a:cubicBezTo>
                <a:cubicBezTo>
                  <a:pt x="502187" y="80743"/>
                  <a:pt x="348250" y="178925"/>
                  <a:pt x="466344" y="119878"/>
                </a:cubicBezTo>
                <a:cubicBezTo>
                  <a:pt x="486003" y="110048"/>
                  <a:pt x="502920" y="95494"/>
                  <a:pt x="521208" y="83302"/>
                </a:cubicBezTo>
                <a:cubicBezTo>
                  <a:pt x="630289" y="10581"/>
                  <a:pt x="783336" y="77206"/>
                  <a:pt x="914400" y="74158"/>
                </a:cubicBezTo>
                <a:cubicBezTo>
                  <a:pt x="923544" y="68062"/>
                  <a:pt x="931504" y="59626"/>
                  <a:pt x="941832" y="55870"/>
                </a:cubicBezTo>
                <a:cubicBezTo>
                  <a:pt x="965453" y="47280"/>
                  <a:pt x="992503" y="48822"/>
                  <a:pt x="1014984" y="37582"/>
                </a:cubicBezTo>
                <a:cubicBezTo>
                  <a:pt x="1027176" y="31486"/>
                  <a:pt x="1039725" y="26057"/>
                  <a:pt x="1051560" y="19294"/>
                </a:cubicBezTo>
                <a:cubicBezTo>
                  <a:pt x="1061102" y="13842"/>
                  <a:pt x="1068788" y="5087"/>
                  <a:pt x="1078992" y="1006"/>
                </a:cubicBezTo>
                <a:cubicBezTo>
                  <a:pt x="1084652" y="-1258"/>
                  <a:pt x="1091184" y="1006"/>
                  <a:pt x="1097280" y="100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CCCA0BC7-5446-4CE3-A0AF-D3F4E7D8E7CB}"/>
              </a:ext>
            </a:extLst>
          </p:cNvPr>
          <p:cNvSpPr/>
          <p:nvPr/>
        </p:nvSpPr>
        <p:spPr>
          <a:xfrm>
            <a:off x="899592" y="3235970"/>
            <a:ext cx="1097280" cy="193030"/>
          </a:xfrm>
          <a:custGeom>
            <a:avLst/>
            <a:gdLst>
              <a:gd name="connsiteX0" fmla="*/ 0 w 1097280"/>
              <a:gd name="connsiteY0" fmla="*/ 83302 h 193030"/>
              <a:gd name="connsiteX1" fmla="*/ 91440 w 1097280"/>
              <a:gd name="connsiteY1" fmla="*/ 147310 h 193030"/>
              <a:gd name="connsiteX2" fmla="*/ 128016 w 1097280"/>
              <a:gd name="connsiteY2" fmla="*/ 165598 h 193030"/>
              <a:gd name="connsiteX3" fmla="*/ 164592 w 1097280"/>
              <a:gd name="connsiteY3" fmla="*/ 174742 h 193030"/>
              <a:gd name="connsiteX4" fmla="*/ 192024 w 1097280"/>
              <a:gd name="connsiteY4" fmla="*/ 193030 h 193030"/>
              <a:gd name="connsiteX5" fmla="*/ 292608 w 1097280"/>
              <a:gd name="connsiteY5" fmla="*/ 174742 h 193030"/>
              <a:gd name="connsiteX6" fmla="*/ 338328 w 1097280"/>
              <a:gd name="connsiteY6" fmla="*/ 165598 h 193030"/>
              <a:gd name="connsiteX7" fmla="*/ 365760 w 1097280"/>
              <a:gd name="connsiteY7" fmla="*/ 156454 h 193030"/>
              <a:gd name="connsiteX8" fmla="*/ 402336 w 1097280"/>
              <a:gd name="connsiteY8" fmla="*/ 147310 h 193030"/>
              <a:gd name="connsiteX9" fmla="*/ 466344 w 1097280"/>
              <a:gd name="connsiteY9" fmla="*/ 119878 h 193030"/>
              <a:gd name="connsiteX10" fmla="*/ 521208 w 1097280"/>
              <a:gd name="connsiteY10" fmla="*/ 83302 h 193030"/>
              <a:gd name="connsiteX11" fmla="*/ 914400 w 1097280"/>
              <a:gd name="connsiteY11" fmla="*/ 74158 h 193030"/>
              <a:gd name="connsiteX12" fmla="*/ 941832 w 1097280"/>
              <a:gd name="connsiteY12" fmla="*/ 55870 h 193030"/>
              <a:gd name="connsiteX13" fmla="*/ 1014984 w 1097280"/>
              <a:gd name="connsiteY13" fmla="*/ 37582 h 193030"/>
              <a:gd name="connsiteX14" fmla="*/ 1051560 w 1097280"/>
              <a:gd name="connsiteY14" fmla="*/ 19294 h 193030"/>
              <a:gd name="connsiteX15" fmla="*/ 1078992 w 1097280"/>
              <a:gd name="connsiteY15" fmla="*/ 1006 h 193030"/>
              <a:gd name="connsiteX16" fmla="*/ 1097280 w 1097280"/>
              <a:gd name="connsiteY16" fmla="*/ 1006 h 19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97280" h="193030">
                <a:moveTo>
                  <a:pt x="0" y="83302"/>
                </a:moveTo>
                <a:cubicBezTo>
                  <a:pt x="47128" y="121005"/>
                  <a:pt x="40340" y="118921"/>
                  <a:pt x="91440" y="147310"/>
                </a:cubicBezTo>
                <a:cubicBezTo>
                  <a:pt x="103356" y="153930"/>
                  <a:pt x="115253" y="160812"/>
                  <a:pt x="128016" y="165598"/>
                </a:cubicBezTo>
                <a:cubicBezTo>
                  <a:pt x="139783" y="170011"/>
                  <a:pt x="152400" y="171694"/>
                  <a:pt x="164592" y="174742"/>
                </a:cubicBezTo>
                <a:cubicBezTo>
                  <a:pt x="173736" y="180838"/>
                  <a:pt x="181034" y="193030"/>
                  <a:pt x="192024" y="193030"/>
                </a:cubicBezTo>
                <a:cubicBezTo>
                  <a:pt x="226102" y="193030"/>
                  <a:pt x="259114" y="181022"/>
                  <a:pt x="292608" y="174742"/>
                </a:cubicBezTo>
                <a:cubicBezTo>
                  <a:pt x="307884" y="171878"/>
                  <a:pt x="323250" y="169367"/>
                  <a:pt x="338328" y="165598"/>
                </a:cubicBezTo>
                <a:cubicBezTo>
                  <a:pt x="347679" y="163260"/>
                  <a:pt x="356492" y="159102"/>
                  <a:pt x="365760" y="156454"/>
                </a:cubicBezTo>
                <a:cubicBezTo>
                  <a:pt x="377844" y="153002"/>
                  <a:pt x="390144" y="150358"/>
                  <a:pt x="402336" y="147310"/>
                </a:cubicBezTo>
                <a:cubicBezTo>
                  <a:pt x="502187" y="80743"/>
                  <a:pt x="348250" y="178925"/>
                  <a:pt x="466344" y="119878"/>
                </a:cubicBezTo>
                <a:cubicBezTo>
                  <a:pt x="486003" y="110048"/>
                  <a:pt x="502920" y="95494"/>
                  <a:pt x="521208" y="83302"/>
                </a:cubicBezTo>
                <a:cubicBezTo>
                  <a:pt x="630289" y="10581"/>
                  <a:pt x="783336" y="77206"/>
                  <a:pt x="914400" y="74158"/>
                </a:cubicBezTo>
                <a:cubicBezTo>
                  <a:pt x="923544" y="68062"/>
                  <a:pt x="931504" y="59626"/>
                  <a:pt x="941832" y="55870"/>
                </a:cubicBezTo>
                <a:cubicBezTo>
                  <a:pt x="965453" y="47280"/>
                  <a:pt x="992503" y="48822"/>
                  <a:pt x="1014984" y="37582"/>
                </a:cubicBezTo>
                <a:cubicBezTo>
                  <a:pt x="1027176" y="31486"/>
                  <a:pt x="1039725" y="26057"/>
                  <a:pt x="1051560" y="19294"/>
                </a:cubicBezTo>
                <a:cubicBezTo>
                  <a:pt x="1061102" y="13842"/>
                  <a:pt x="1068788" y="5087"/>
                  <a:pt x="1078992" y="1006"/>
                </a:cubicBezTo>
                <a:cubicBezTo>
                  <a:pt x="1084652" y="-1258"/>
                  <a:pt x="1091184" y="1006"/>
                  <a:pt x="1097280" y="100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73D2BF1-13B6-42F9-88CC-6A362BE5A9A8}"/>
              </a:ext>
            </a:extLst>
          </p:cNvPr>
          <p:cNvSpPr/>
          <p:nvPr/>
        </p:nvSpPr>
        <p:spPr>
          <a:xfrm>
            <a:off x="2627784" y="5858520"/>
            <a:ext cx="1097280" cy="193030"/>
          </a:xfrm>
          <a:custGeom>
            <a:avLst/>
            <a:gdLst>
              <a:gd name="connsiteX0" fmla="*/ 0 w 1097280"/>
              <a:gd name="connsiteY0" fmla="*/ 83302 h 193030"/>
              <a:gd name="connsiteX1" fmla="*/ 91440 w 1097280"/>
              <a:gd name="connsiteY1" fmla="*/ 147310 h 193030"/>
              <a:gd name="connsiteX2" fmla="*/ 128016 w 1097280"/>
              <a:gd name="connsiteY2" fmla="*/ 165598 h 193030"/>
              <a:gd name="connsiteX3" fmla="*/ 164592 w 1097280"/>
              <a:gd name="connsiteY3" fmla="*/ 174742 h 193030"/>
              <a:gd name="connsiteX4" fmla="*/ 192024 w 1097280"/>
              <a:gd name="connsiteY4" fmla="*/ 193030 h 193030"/>
              <a:gd name="connsiteX5" fmla="*/ 292608 w 1097280"/>
              <a:gd name="connsiteY5" fmla="*/ 174742 h 193030"/>
              <a:gd name="connsiteX6" fmla="*/ 338328 w 1097280"/>
              <a:gd name="connsiteY6" fmla="*/ 165598 h 193030"/>
              <a:gd name="connsiteX7" fmla="*/ 365760 w 1097280"/>
              <a:gd name="connsiteY7" fmla="*/ 156454 h 193030"/>
              <a:gd name="connsiteX8" fmla="*/ 402336 w 1097280"/>
              <a:gd name="connsiteY8" fmla="*/ 147310 h 193030"/>
              <a:gd name="connsiteX9" fmla="*/ 466344 w 1097280"/>
              <a:gd name="connsiteY9" fmla="*/ 119878 h 193030"/>
              <a:gd name="connsiteX10" fmla="*/ 521208 w 1097280"/>
              <a:gd name="connsiteY10" fmla="*/ 83302 h 193030"/>
              <a:gd name="connsiteX11" fmla="*/ 914400 w 1097280"/>
              <a:gd name="connsiteY11" fmla="*/ 74158 h 193030"/>
              <a:gd name="connsiteX12" fmla="*/ 941832 w 1097280"/>
              <a:gd name="connsiteY12" fmla="*/ 55870 h 193030"/>
              <a:gd name="connsiteX13" fmla="*/ 1014984 w 1097280"/>
              <a:gd name="connsiteY13" fmla="*/ 37582 h 193030"/>
              <a:gd name="connsiteX14" fmla="*/ 1051560 w 1097280"/>
              <a:gd name="connsiteY14" fmla="*/ 19294 h 193030"/>
              <a:gd name="connsiteX15" fmla="*/ 1078992 w 1097280"/>
              <a:gd name="connsiteY15" fmla="*/ 1006 h 193030"/>
              <a:gd name="connsiteX16" fmla="*/ 1097280 w 1097280"/>
              <a:gd name="connsiteY16" fmla="*/ 1006 h 19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97280" h="193030">
                <a:moveTo>
                  <a:pt x="0" y="83302"/>
                </a:moveTo>
                <a:cubicBezTo>
                  <a:pt x="47128" y="121005"/>
                  <a:pt x="40340" y="118921"/>
                  <a:pt x="91440" y="147310"/>
                </a:cubicBezTo>
                <a:cubicBezTo>
                  <a:pt x="103356" y="153930"/>
                  <a:pt x="115253" y="160812"/>
                  <a:pt x="128016" y="165598"/>
                </a:cubicBezTo>
                <a:cubicBezTo>
                  <a:pt x="139783" y="170011"/>
                  <a:pt x="152400" y="171694"/>
                  <a:pt x="164592" y="174742"/>
                </a:cubicBezTo>
                <a:cubicBezTo>
                  <a:pt x="173736" y="180838"/>
                  <a:pt x="181034" y="193030"/>
                  <a:pt x="192024" y="193030"/>
                </a:cubicBezTo>
                <a:cubicBezTo>
                  <a:pt x="226102" y="193030"/>
                  <a:pt x="259114" y="181022"/>
                  <a:pt x="292608" y="174742"/>
                </a:cubicBezTo>
                <a:cubicBezTo>
                  <a:pt x="307884" y="171878"/>
                  <a:pt x="323250" y="169367"/>
                  <a:pt x="338328" y="165598"/>
                </a:cubicBezTo>
                <a:cubicBezTo>
                  <a:pt x="347679" y="163260"/>
                  <a:pt x="356492" y="159102"/>
                  <a:pt x="365760" y="156454"/>
                </a:cubicBezTo>
                <a:cubicBezTo>
                  <a:pt x="377844" y="153002"/>
                  <a:pt x="390144" y="150358"/>
                  <a:pt x="402336" y="147310"/>
                </a:cubicBezTo>
                <a:cubicBezTo>
                  <a:pt x="502187" y="80743"/>
                  <a:pt x="348250" y="178925"/>
                  <a:pt x="466344" y="119878"/>
                </a:cubicBezTo>
                <a:cubicBezTo>
                  <a:pt x="486003" y="110048"/>
                  <a:pt x="502920" y="95494"/>
                  <a:pt x="521208" y="83302"/>
                </a:cubicBezTo>
                <a:cubicBezTo>
                  <a:pt x="630289" y="10581"/>
                  <a:pt x="783336" y="77206"/>
                  <a:pt x="914400" y="74158"/>
                </a:cubicBezTo>
                <a:cubicBezTo>
                  <a:pt x="923544" y="68062"/>
                  <a:pt x="931504" y="59626"/>
                  <a:pt x="941832" y="55870"/>
                </a:cubicBezTo>
                <a:cubicBezTo>
                  <a:pt x="965453" y="47280"/>
                  <a:pt x="992503" y="48822"/>
                  <a:pt x="1014984" y="37582"/>
                </a:cubicBezTo>
                <a:cubicBezTo>
                  <a:pt x="1027176" y="31486"/>
                  <a:pt x="1039725" y="26057"/>
                  <a:pt x="1051560" y="19294"/>
                </a:cubicBezTo>
                <a:cubicBezTo>
                  <a:pt x="1061102" y="13842"/>
                  <a:pt x="1068788" y="5087"/>
                  <a:pt x="1078992" y="1006"/>
                </a:cubicBezTo>
                <a:cubicBezTo>
                  <a:pt x="1084652" y="-1258"/>
                  <a:pt x="1091184" y="1006"/>
                  <a:pt x="1097280" y="100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4"/>
          <p:cNvSpPr>
            <a:spLocks noGrp="1" noChangeArrowheads="1"/>
          </p:cNvSpPr>
          <p:nvPr>
            <p:ph idx="1"/>
          </p:nvPr>
        </p:nvSpPr>
        <p:spPr>
          <a:xfrm>
            <a:off x="349250" y="760413"/>
            <a:ext cx="8110538" cy="419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/>
              <a:t>③</a:t>
            </a:r>
            <a:r>
              <a:rPr lang="zh-CN" altLang="en-US" sz="2400" b="1" dirty="0"/>
              <a:t>统一结构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④高度非过程化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用户无需了解与涉及存取路径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⑤语言简洁（方便易学）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标准动词</a:t>
            </a:r>
            <a:r>
              <a:rPr lang="en-US" altLang="zh-CN" sz="2400" dirty="0"/>
              <a:t>7</a:t>
            </a:r>
            <a:r>
              <a:rPr lang="zh-CN" altLang="en-US" sz="2400" dirty="0"/>
              <a:t>个：</a:t>
            </a:r>
            <a:r>
              <a:rPr lang="en-US" altLang="zh-CN" sz="2400" dirty="0"/>
              <a:t>create, alter</a:t>
            </a:r>
            <a:r>
              <a:rPr lang="zh-CN" altLang="en-US" sz="2400" dirty="0"/>
              <a:t>，</a:t>
            </a:r>
            <a:r>
              <a:rPr lang="en-US" altLang="zh-CN" sz="2400" dirty="0"/>
              <a:t>select, delete, update, insert, drop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扩充</a:t>
            </a:r>
            <a:r>
              <a:rPr lang="en-US" altLang="zh-CN" sz="2400" dirty="0"/>
              <a:t>2</a:t>
            </a:r>
            <a:r>
              <a:rPr lang="zh-CN" altLang="en-US" sz="2400" dirty="0"/>
              <a:t>个：</a:t>
            </a:r>
            <a:r>
              <a:rPr lang="en-US" altLang="zh-CN" sz="2400" dirty="0"/>
              <a:t>grant</a:t>
            </a:r>
            <a:r>
              <a:rPr lang="zh-CN" altLang="en-US" sz="2400" dirty="0"/>
              <a:t>、</a:t>
            </a:r>
            <a:r>
              <a:rPr lang="en-US" altLang="zh-CN" sz="2400" dirty="0"/>
              <a:t>revoke</a:t>
            </a:r>
          </a:p>
        </p:txBody>
      </p:sp>
      <p:graphicFrame>
        <p:nvGraphicFramePr>
          <p:cNvPr id="89091" name="Group 3"/>
          <p:cNvGraphicFramePr>
            <a:graphicFrameLocks noGrp="1"/>
          </p:cNvGraphicFramePr>
          <p:nvPr/>
        </p:nvGraphicFramePr>
        <p:xfrm>
          <a:off x="457200" y="3929063"/>
          <a:ext cx="6324600" cy="2663826"/>
        </p:xfrm>
        <a:graphic>
          <a:graphicData uri="http://schemas.openxmlformats.org/drawingml/2006/table">
            <a:tbl>
              <a:tblPr/>
              <a:tblGrid>
                <a:gridCol w="2151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SQL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功能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操作符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数据查询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SELECT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数据定义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CREATE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ALTER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DROP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数据操纵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INSERT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UPDATE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DELETE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数据控制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GRANT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REVOKE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8FD90C-D5E5-4EFC-AAB5-0007055423B4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5" name="圆角矩形标注 4"/>
          <p:cNvSpPr/>
          <p:nvPr/>
        </p:nvSpPr>
        <p:spPr>
          <a:xfrm>
            <a:off x="6838998" y="3071810"/>
            <a:ext cx="2285984" cy="1571636"/>
          </a:xfrm>
          <a:prstGeom prst="wedgeRoundRectCallout">
            <a:avLst>
              <a:gd name="adj1" fmla="val -58585"/>
              <a:gd name="adj2" fmla="val 5977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集合操作：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UNION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并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INTERSECT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交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EXCEPT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>
          <a:xfrm>
            <a:off x="513531" y="1586880"/>
            <a:ext cx="8162925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zh-CN" b="1" dirty="0">
                <a:solidFill>
                  <a:schemeClr val="tx1"/>
                </a:solidFill>
              </a:rPr>
            </a:br>
            <a:r>
              <a:rPr lang="zh-CN" altLang="en-US" b="1" dirty="0">
                <a:solidFill>
                  <a:schemeClr val="tx1"/>
                </a:solidFill>
              </a:rPr>
              <a:t>基本术语</a:t>
            </a:r>
          </a:p>
        </p:txBody>
      </p:sp>
      <p:sp>
        <p:nvSpPr>
          <p:cNvPr id="28675" name="Rectangle 4"/>
          <p:cNvSpPr>
            <a:spLocks noGrp="1" noChangeArrowheads="1"/>
          </p:cNvSpPr>
          <p:nvPr>
            <p:ph idx="1"/>
          </p:nvPr>
        </p:nvSpPr>
        <p:spPr>
          <a:xfrm>
            <a:off x="179512" y="2276872"/>
            <a:ext cx="8110538" cy="43924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基表</a:t>
            </a:r>
            <a:r>
              <a:rPr lang="en-US" altLang="zh-CN" sz="2400" b="1" dirty="0"/>
              <a:t>Basetable: </a:t>
            </a:r>
            <a:r>
              <a:rPr lang="zh-CN" altLang="en-US" sz="2400" b="1" dirty="0"/>
              <a:t>一个关系，是模式的内容，由结构与数据记录两部分组成。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  视图</a:t>
            </a:r>
            <a:r>
              <a:rPr lang="en-US" altLang="zh-CN" sz="2400" b="1" dirty="0"/>
              <a:t>View</a:t>
            </a:r>
            <a:r>
              <a:rPr lang="zh-CN" altLang="en-US" sz="2400" b="1" dirty="0"/>
              <a:t>：从基表中导出的表，在数据库中只有定义，对应数据存放在基表中，视图属于外模式，每次使用时由</a:t>
            </a:r>
            <a:r>
              <a:rPr lang="en-US" altLang="zh-CN" sz="2400" b="1" dirty="0"/>
              <a:t>DBMS</a:t>
            </a:r>
            <a:r>
              <a:rPr lang="zh-CN" altLang="en-US" sz="2400" b="1" dirty="0"/>
              <a:t>根据视图的定义进行相应的转换并执行。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   游标</a:t>
            </a:r>
            <a:r>
              <a:rPr lang="en-US" altLang="zh-CN" sz="2400" b="1" dirty="0"/>
              <a:t>CURSOR</a:t>
            </a:r>
            <a:r>
              <a:rPr lang="zh-CN" altLang="en-US" sz="2400" b="1" dirty="0"/>
              <a:t>：在内存中生成的临时表，存放游标包含的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语句的执行结果，便于主语言使用，一次通过</a:t>
            </a:r>
            <a:r>
              <a:rPr lang="en-US" altLang="zh-CN" sz="2400" b="1" dirty="0">
                <a:solidFill>
                  <a:srgbClr val="FF0000"/>
                </a:solidFill>
              </a:rPr>
              <a:t>fetch</a:t>
            </a:r>
            <a:r>
              <a:rPr lang="zh-CN" altLang="en-US" sz="2400" b="1" dirty="0">
                <a:solidFill>
                  <a:srgbClr val="FF0000"/>
                </a:solidFill>
              </a:rPr>
              <a:t>操作</a:t>
            </a:r>
            <a:r>
              <a:rPr lang="zh-CN" altLang="en-US" sz="2400" b="1" dirty="0"/>
              <a:t>读取一条记录，而非记录的集合。游标的当前值指向临时表中当前正在被处理的元组，相当于一个指示器。 </a:t>
            </a:r>
            <a:r>
              <a:rPr lang="zh-CN" altLang="en-US" sz="2400" b="1" dirty="0">
                <a:latin typeface="Times New Roman" pitchFamily="18" charset="0"/>
              </a:rPr>
              <a:t> 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3BF91-B0CC-4D61-963A-51CBEF8219C4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323528" y="572487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52475"/>
            <a:r>
              <a:rPr lang="en-US" altLang="zh-CN" dirty="0"/>
              <a:t>2</a:t>
            </a:r>
            <a:r>
              <a:rPr lang="zh-CN" altLang="en-US" dirty="0">
                <a:latin typeface="Times New Roman" pitchFamily="18" charset="0"/>
              </a:rPr>
              <a:t>、功能</a:t>
            </a:r>
            <a:endParaRPr lang="zh-CN" altLang="en-US" dirty="0"/>
          </a:p>
          <a:p>
            <a:pPr defTabSz="752475"/>
            <a:r>
              <a:rPr lang="zh-CN" altLang="en-US" dirty="0">
                <a:latin typeface="Times New Roman" pitchFamily="18" charset="0"/>
              </a:rPr>
              <a:t>①</a:t>
            </a:r>
            <a:r>
              <a:rPr lang="zh-CN" altLang="en-US" dirty="0"/>
              <a:t> </a:t>
            </a:r>
            <a:r>
              <a:rPr lang="zh-CN" altLang="en-US" dirty="0">
                <a:latin typeface="Times New Roman" pitchFamily="18" charset="0"/>
              </a:rPr>
              <a:t>定义；②</a:t>
            </a:r>
            <a:r>
              <a:rPr lang="zh-CN" altLang="en-US" dirty="0"/>
              <a:t> </a:t>
            </a:r>
            <a:r>
              <a:rPr lang="zh-CN" altLang="en-US" dirty="0">
                <a:latin typeface="Times New Roman" pitchFamily="18" charset="0"/>
              </a:rPr>
              <a:t>查询；③</a:t>
            </a:r>
            <a:r>
              <a:rPr lang="zh-CN" altLang="en-US" dirty="0"/>
              <a:t> </a:t>
            </a:r>
            <a:r>
              <a:rPr lang="zh-CN" altLang="en-US" dirty="0">
                <a:latin typeface="Times New Roman" pitchFamily="18" charset="0"/>
              </a:rPr>
              <a:t>更新；</a:t>
            </a:r>
            <a:r>
              <a:rPr lang="zh-CN" altLang="en-US" dirty="0">
                <a:latin typeface="宋体" pitchFamily="2" charset="-122"/>
              </a:rPr>
              <a:t>④</a:t>
            </a:r>
            <a:r>
              <a:rPr lang="zh-CN" altLang="en-US" dirty="0"/>
              <a:t> </a:t>
            </a:r>
            <a:r>
              <a:rPr lang="zh-CN" altLang="en-US" dirty="0">
                <a:latin typeface="Times New Roman" pitchFamily="18" charset="0"/>
              </a:rPr>
              <a:t>控制（安全、完整性、一致性）</a:t>
            </a:r>
            <a:endParaRPr lang="zh-CN" altLang="en-US" dirty="0"/>
          </a:p>
          <a:p>
            <a:pPr defTabSz="752475"/>
            <a:r>
              <a:rPr lang="en-US" altLang="zh-CN" dirty="0"/>
              <a:t>    DDL     	DML				DCL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323528" y="1369049"/>
            <a:ext cx="129614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763688" y="1363356"/>
            <a:ext cx="2471093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427984" y="1363356"/>
            <a:ext cx="453650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5" name="Rectangle 7"/>
          <p:cNvSpPr>
            <a:spLocks noGrp="1" noChangeArrowheads="1"/>
          </p:cNvSpPr>
          <p:nvPr>
            <p:ph type="title"/>
          </p:nvPr>
        </p:nvSpPr>
        <p:spPr>
          <a:xfrm>
            <a:off x="323850" y="587375"/>
            <a:ext cx="8162925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>
                <a:solidFill>
                  <a:schemeClr val="tx1"/>
                </a:solidFill>
              </a:rPr>
              <a:t>基本术语（续）</a:t>
            </a:r>
          </a:p>
        </p:txBody>
      </p:sp>
      <p:sp>
        <p:nvSpPr>
          <p:cNvPr id="29699" name="Rectangle 8"/>
          <p:cNvSpPr>
            <a:spLocks noGrp="1" noChangeArrowheads="1"/>
          </p:cNvSpPr>
          <p:nvPr>
            <p:ph idx="1"/>
          </p:nvPr>
        </p:nvSpPr>
        <p:spPr>
          <a:xfrm>
            <a:off x="250825" y="1524000"/>
            <a:ext cx="8569325" cy="4569296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集函数：</a:t>
            </a:r>
            <a:r>
              <a:rPr lang="en-US" altLang="zh-CN" sz="2400" b="1" dirty="0"/>
              <a:t>MAX</a:t>
            </a:r>
            <a:r>
              <a:rPr lang="zh-CN" altLang="en-US" sz="2400" b="1" dirty="0"/>
              <a:t>（列名），</a:t>
            </a:r>
            <a:r>
              <a:rPr lang="en-US" altLang="zh-CN" sz="2400" b="1" dirty="0"/>
              <a:t>MIN</a:t>
            </a:r>
            <a:r>
              <a:rPr lang="zh-CN" altLang="en-US" sz="2400" b="1" dirty="0"/>
              <a:t>（列名），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AVG(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COUNT</a:t>
            </a:r>
            <a:r>
              <a:rPr lang="zh-CN" altLang="en-US" sz="2400" b="1" dirty="0"/>
              <a:t>（*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常数），</a:t>
            </a:r>
            <a:r>
              <a:rPr lang="en-US" altLang="zh-CN" sz="2400" b="1" dirty="0"/>
              <a:t>SUM</a:t>
            </a:r>
            <a:r>
              <a:rPr lang="zh-CN" altLang="en-US" sz="2400" b="1" dirty="0"/>
              <a:t>（列名）。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 </a:t>
            </a:r>
            <a:endParaRPr lang="zh-CN" altLang="en-US" sz="2400" b="1" dirty="0"/>
          </a:p>
          <a:p>
            <a:pPr eaLnBrk="1" hangingPunct="1"/>
            <a:r>
              <a:rPr lang="zh-CN" altLang="en-US" sz="2400" b="1" dirty="0"/>
              <a:t>子查询：嵌套在查询语句中的查询 。</a:t>
            </a:r>
          </a:p>
          <a:p>
            <a:pPr eaLnBrk="1" hangingPunct="1"/>
            <a:endParaRPr lang="zh-CN" altLang="en-US" sz="2400" b="1" dirty="0"/>
          </a:p>
          <a:p>
            <a:pPr eaLnBrk="1" hangingPunct="1"/>
            <a:r>
              <a:rPr lang="zh-CN" altLang="en-US" sz="2400" b="1" dirty="0"/>
              <a:t>子句：一条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语句的某个语法部分，例如</a:t>
            </a:r>
            <a:r>
              <a:rPr lang="en-US" altLang="zh-CN" sz="2400" b="1" dirty="0"/>
              <a:t>select</a:t>
            </a:r>
            <a:r>
              <a:rPr lang="zh-CN" altLang="en-US" sz="2400" b="1" dirty="0"/>
              <a:t>子句、</a:t>
            </a:r>
            <a:r>
              <a:rPr lang="en-US" altLang="zh-CN" sz="2400" b="1" dirty="0"/>
              <a:t>from</a:t>
            </a:r>
            <a:r>
              <a:rPr lang="zh-CN" altLang="en-US" sz="2400" b="1" dirty="0"/>
              <a:t>子句、</a:t>
            </a:r>
            <a:r>
              <a:rPr lang="en-US" altLang="zh-CN" sz="2400" b="1" dirty="0"/>
              <a:t>where</a:t>
            </a:r>
            <a:r>
              <a:rPr lang="zh-CN" altLang="en-US" sz="2400" b="1" dirty="0"/>
              <a:t>子句。</a:t>
            </a:r>
          </a:p>
          <a:p>
            <a:pPr eaLnBrk="1" hangingPunct="1"/>
            <a:endParaRPr lang="zh-CN" altLang="en-US" sz="2400" b="1" dirty="0"/>
          </a:p>
          <a:p>
            <a:pPr eaLnBrk="1" hangingPunct="1"/>
            <a:r>
              <a:rPr lang="zh-CN" altLang="en-US" sz="2400" b="1" dirty="0"/>
              <a:t>应用程序代码中的结果集</a:t>
            </a:r>
            <a:r>
              <a:rPr lang="en-US" altLang="zh-CN" sz="2400" b="1" dirty="0"/>
              <a:t>(RecordSet</a:t>
            </a:r>
            <a:r>
              <a:rPr lang="zh-CN" altLang="en-US" sz="2400" b="1" dirty="0"/>
              <a:t>，应用程序的一种缓存机制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：返回给应用程序的查询结果的集合。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C3F59E-153C-4B29-B0C5-27BC3469D42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365125" y="908720"/>
            <a:ext cx="25346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752475"/>
            <a:r>
              <a:rPr lang="en-US" altLang="zh-CN" dirty="0"/>
              <a:t>3</a:t>
            </a:r>
            <a:r>
              <a:rPr lang="zh-CN" altLang="en-US" dirty="0">
                <a:latin typeface="Times New Roman" pitchFamily="18" charset="0"/>
              </a:rPr>
              <a:t>、支持三级模式</a:t>
            </a:r>
            <a:endParaRPr lang="zh-CN" altLang="en-US" dirty="0"/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863892"/>
              </p:ext>
            </p:extLst>
          </p:nvPr>
        </p:nvGraphicFramePr>
        <p:xfrm>
          <a:off x="376581" y="1592533"/>
          <a:ext cx="8587907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1" name="Picture" r:id="rId3" imgW="5853960" imgH="2247840" progId="Word.Picture.8">
                  <p:embed/>
                </p:oleObj>
              </mc:Choice>
              <mc:Fallback>
                <p:oleObj name="Picture" r:id="rId3" imgW="5853960" imgH="2247840" progId="Word.Picture.8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81" y="1592533"/>
                        <a:ext cx="8587907" cy="36385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365125" y="5517232"/>
            <a:ext cx="83978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宋体" pitchFamily="2" charset="-122"/>
              </a:rPr>
              <a:t>基本表与物理文件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可以</a:t>
            </a:r>
            <a:r>
              <a:rPr lang="zh-CN" altLang="en-US" dirty="0">
                <a:latin typeface="宋体" pitchFamily="2" charset="-122"/>
              </a:rPr>
              <a:t>一一对应（存储文件、索引文件可多个）</a:t>
            </a:r>
            <a:r>
              <a:rPr lang="zh-CN" altLang="en-US" dirty="0"/>
              <a:t>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A96302-9BBF-45F4-AEF5-9BC1D16AC9B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727075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3.3  </a:t>
            </a:r>
            <a:r>
              <a:rPr lang="zh-CN" altLang="en-US" sz="2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数据库定义与维护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12863"/>
            <a:ext cx="8424863" cy="5545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一、功能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① 基本表定义与修改；②模式定义； ③索引的定义与删除；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④ </a:t>
            </a:r>
            <a:r>
              <a:rPr lang="zh-CN" altLang="en-US" sz="2400" dirty="0"/>
              <a:t>视图的定义与撤消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3.3.1 </a:t>
            </a:r>
            <a:r>
              <a:rPr lang="zh-CN" altLang="en-US" sz="2400" dirty="0"/>
              <a:t>模式的建立与删除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CREATE SCHEMA </a:t>
            </a:r>
            <a:r>
              <a:rPr lang="en-US" altLang="zh-CN" sz="2400" dirty="0"/>
              <a:t>&lt;</a:t>
            </a:r>
            <a:r>
              <a:rPr lang="zh-CN" altLang="en-US" sz="2400" dirty="0"/>
              <a:t>模式名</a:t>
            </a:r>
            <a:r>
              <a:rPr lang="en-US" altLang="zh-CN" sz="2400" dirty="0"/>
              <a:t>&gt; </a:t>
            </a:r>
            <a:r>
              <a:rPr lang="en-US" altLang="zh-CN" sz="2400" dirty="0">
                <a:solidFill>
                  <a:srgbClr val="0000FF"/>
                </a:solidFill>
              </a:rPr>
              <a:t>AUTHORIZATION</a:t>
            </a:r>
            <a:r>
              <a:rPr lang="en-US" altLang="zh-CN" sz="2400" dirty="0"/>
              <a:t> &lt;</a:t>
            </a:r>
            <a:r>
              <a:rPr lang="zh-CN" altLang="en-US" sz="2400" dirty="0"/>
              <a:t>用户名</a:t>
            </a:r>
            <a:r>
              <a:rPr lang="en-US" altLang="zh-CN" sz="2400" dirty="0"/>
              <a:t>&gt;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>
                <a:solidFill>
                  <a:srgbClr val="0000FF"/>
                </a:solidFill>
              </a:rPr>
              <a:t>CREATE SCHEMA </a:t>
            </a:r>
            <a:r>
              <a:rPr lang="en-US" altLang="zh-CN" sz="2400" dirty="0"/>
              <a:t>“S-T” </a:t>
            </a:r>
            <a:r>
              <a:rPr lang="en-US" altLang="zh-CN" sz="2400" dirty="0">
                <a:solidFill>
                  <a:srgbClr val="0000FF"/>
                </a:solidFill>
              </a:rPr>
              <a:t>AUTHORIZATION</a:t>
            </a:r>
            <a:r>
              <a:rPr lang="en-US" altLang="zh-CN" sz="2400" dirty="0"/>
              <a:t> WANG;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rgbClr val="0000FF"/>
                </a:solidFill>
              </a:rPr>
              <a:t>CREATE SCHEMA AUTHORIZATION</a:t>
            </a:r>
            <a:r>
              <a:rPr lang="en-US" altLang="zh-CN" sz="2400" dirty="0"/>
              <a:t> WANG;</a:t>
            </a:r>
            <a:r>
              <a:rPr lang="zh-CN" altLang="en-US" sz="2400" dirty="0"/>
              <a:t>隐含制定模式名为</a:t>
            </a:r>
            <a:r>
              <a:rPr lang="en-US" altLang="zh-CN" sz="2400" dirty="0"/>
              <a:t>WANG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2DC19B-18EE-4678-BCB7-C578FBBD0E48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61937" y="844389"/>
            <a:ext cx="8424863" cy="554513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语法扩充：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CREATE SCHEMA </a:t>
            </a:r>
            <a:r>
              <a:rPr lang="en-US" altLang="zh-CN" sz="2400" dirty="0"/>
              <a:t>&lt;</a:t>
            </a:r>
            <a:r>
              <a:rPr lang="zh-CN" altLang="en-US" sz="2400" dirty="0"/>
              <a:t>模式名</a:t>
            </a:r>
            <a:r>
              <a:rPr lang="en-US" altLang="zh-CN" sz="2400" dirty="0"/>
              <a:t>&gt; </a:t>
            </a:r>
            <a:r>
              <a:rPr lang="en-US" altLang="zh-CN" sz="2400" dirty="0">
                <a:solidFill>
                  <a:srgbClr val="0000FF"/>
                </a:solidFill>
              </a:rPr>
              <a:t>AUTHORIZATION</a:t>
            </a:r>
            <a:r>
              <a:rPr lang="en-US" altLang="zh-CN" sz="2400" dirty="0"/>
              <a:t> &lt;</a:t>
            </a:r>
            <a:r>
              <a:rPr lang="zh-CN" altLang="en-US" sz="2400" dirty="0"/>
              <a:t>用户名</a:t>
            </a:r>
            <a:r>
              <a:rPr lang="en-US" altLang="zh-CN" sz="2400" dirty="0"/>
              <a:t>&gt;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[&lt;</a:t>
            </a:r>
            <a:r>
              <a:rPr lang="zh-CN" altLang="en-US" sz="2400" dirty="0"/>
              <a:t>表定义子句</a:t>
            </a:r>
            <a:r>
              <a:rPr lang="en-US" altLang="zh-CN" sz="2400" dirty="0"/>
              <a:t>&gt;|&lt;</a:t>
            </a:r>
            <a:r>
              <a:rPr lang="zh-CN" altLang="en-US" sz="2400" dirty="0"/>
              <a:t>视图定义子句</a:t>
            </a:r>
            <a:r>
              <a:rPr lang="en-US" altLang="zh-CN" sz="2400" dirty="0"/>
              <a:t>&gt;|&lt;</a:t>
            </a:r>
            <a:r>
              <a:rPr lang="zh-CN" altLang="en-US" sz="2400" dirty="0"/>
              <a:t>授权定义子句</a:t>
            </a:r>
            <a:r>
              <a:rPr lang="en-US" altLang="zh-CN" sz="2400" dirty="0"/>
              <a:t>&gt;]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删除模式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DROP SCHEMA &lt;</a:t>
            </a:r>
            <a:r>
              <a:rPr lang="zh-CN" altLang="en-US" sz="2400" dirty="0"/>
              <a:t>模式名</a:t>
            </a:r>
            <a:r>
              <a:rPr lang="en-US" altLang="zh-CN" sz="2400" dirty="0"/>
              <a:t>&gt;&lt;CASCADE|RESTRICT&gt;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关于</a:t>
            </a:r>
            <a:r>
              <a:rPr lang="en-US" altLang="zh-CN" sz="2400" dirty="0"/>
              <a:t>SCHEMA: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教材中的含义、</a:t>
            </a:r>
            <a:r>
              <a:rPr lang="en-US" altLang="zh-CN" sz="2400" dirty="0"/>
              <a:t>SQL SERVER</a:t>
            </a:r>
            <a:r>
              <a:rPr lang="zh-CN" altLang="en-US" sz="2400" dirty="0"/>
              <a:t>的含义、</a:t>
            </a:r>
            <a:r>
              <a:rPr lang="en-US" altLang="zh-CN" sz="2400" dirty="0"/>
              <a:t>ORACLE</a:t>
            </a:r>
            <a:r>
              <a:rPr lang="zh-CN" altLang="en-US" sz="2400" dirty="0"/>
              <a:t>的含义。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2DC19B-18EE-4678-BCB7-C578FBBD0E48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7" name="圆角矩形标注 1">
            <a:extLst>
              <a:ext uri="{FF2B5EF4-FFF2-40B4-BE49-F238E27FC236}">
                <a16:creationId xmlns:a16="http://schemas.microsoft.com/office/drawing/2014/main" id="{6812E96C-5616-4D7A-9F71-90523773C0FE}"/>
              </a:ext>
            </a:extLst>
          </p:cNvPr>
          <p:cNvSpPr/>
          <p:nvPr/>
        </p:nvSpPr>
        <p:spPr>
          <a:xfrm>
            <a:off x="611560" y="6050026"/>
            <a:ext cx="7313240" cy="612648"/>
          </a:xfrm>
          <a:prstGeom prst="wedgeRoundRectCallout">
            <a:avLst>
              <a:gd name="adj1" fmla="val -44330"/>
              <a:gd name="adj2" fmla="val -1383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/>
                <a:ea typeface="宋体" panose="02010600030101010101" pitchFamily="2" charset="-122"/>
                <a:cs typeface="+mn-cs"/>
              </a:rPr>
              <a:t>命名空间的作用，和三层模式的区别与联系。</a:t>
            </a:r>
          </a:p>
        </p:txBody>
      </p:sp>
    </p:spTree>
    <p:extLst>
      <p:ext uri="{BB962C8B-B14F-4D97-AF65-F5344CB8AC3E}">
        <p14:creationId xmlns:p14="http://schemas.microsoft.com/office/powerpoint/2010/main" val="2660388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61937" y="811213"/>
            <a:ext cx="8424863" cy="5545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3.3.2 </a:t>
            </a:r>
            <a:r>
              <a:rPr lang="zh-CN" altLang="en-US" sz="2400" dirty="0"/>
              <a:t>表定义、修改与删除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一、定义基本表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、格式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create table  </a:t>
            </a:r>
            <a:r>
              <a:rPr lang="zh-CN" altLang="en-US" sz="2400" dirty="0">
                <a:solidFill>
                  <a:srgbClr val="FF0000"/>
                </a:solidFill>
              </a:rPr>
              <a:t>表名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0000"/>
                </a:solidFill>
              </a:rPr>
              <a:t>列名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/>
              <a:t>，类型</a:t>
            </a:r>
            <a:r>
              <a:rPr lang="en-US" altLang="zh-CN" sz="2400" dirty="0"/>
              <a:t>[NOT NULL] [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列名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，类型</a:t>
            </a:r>
            <a:r>
              <a:rPr lang="en-US" altLang="zh-CN" sz="2400" dirty="0"/>
              <a:t>[NOT NULL]]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r>
              <a:rPr lang="zh-CN" altLang="en-US" sz="2400" dirty="0"/>
              <a:t>）  </a:t>
            </a:r>
            <a:r>
              <a:rPr lang="en-US" altLang="zh-CN" sz="2400" dirty="0"/>
              <a:t>[</a:t>
            </a:r>
            <a:r>
              <a:rPr lang="zh-CN" altLang="en-US" sz="2400" dirty="0"/>
              <a:t>其它参数</a:t>
            </a:r>
            <a:r>
              <a:rPr lang="en-US" altLang="zh-CN" sz="2400" dirty="0"/>
              <a:t>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、功能：定义一个基本表：表名、列名、类型、完整性约束（</a:t>
            </a:r>
            <a:r>
              <a:rPr lang="en-US" altLang="zh-CN" sz="2400" dirty="0"/>
              <a:t>key, not NULL …</a:t>
            </a:r>
            <a:r>
              <a:rPr lang="zh-CN" altLang="en-US" sz="2400" dirty="0"/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、说明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其它参数与物理存贮相关，由具体</a:t>
            </a:r>
            <a:r>
              <a:rPr lang="en-US" altLang="zh-CN" sz="2400" dirty="0"/>
              <a:t>DBMS</a:t>
            </a:r>
            <a:r>
              <a:rPr lang="zh-CN" altLang="en-US" sz="2400" dirty="0"/>
              <a:t>决定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一个表一个</a:t>
            </a:r>
            <a:r>
              <a:rPr lang="en-US" altLang="zh-CN" sz="2400" dirty="0"/>
              <a:t>create table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2DC19B-18EE-4678-BCB7-C578FBBD0E48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970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idx="1"/>
          </p:nvPr>
        </p:nvSpPr>
        <p:spPr>
          <a:xfrm>
            <a:off x="250825" y="809625"/>
            <a:ext cx="8110538" cy="419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例子：创建课程种类表（</a:t>
            </a:r>
            <a:r>
              <a:rPr lang="zh-CN" altLang="en-US" sz="2400" u="sng" dirty="0"/>
              <a:t>类型编号</a:t>
            </a:r>
            <a:r>
              <a:rPr lang="zh-CN" altLang="en-US" sz="2400" dirty="0"/>
              <a:t>、类型名称），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CREATE TABLE [dbo].[ctype] (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</a:t>
            </a:r>
            <a:r>
              <a:rPr lang="en-US" altLang="zh-CN" sz="2400" dirty="0" err="1"/>
              <a:t>ctpno</a:t>
            </a:r>
            <a:r>
              <a:rPr lang="en-US" altLang="zh-CN" sz="2400" dirty="0"/>
              <a:t>] [char] (2) NOT NULL PRIMARY KEY,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[title] [char] (2) NOT NULL UNIQUE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)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2400" dirty="0"/>
              <a:t>这里主码只含有一个属性，可以直接在表的定义语句中指定该属性为主码。</a:t>
            </a:r>
            <a:endParaRPr lang="en-US" altLang="zh-CN" sz="2400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2400" dirty="0"/>
              <a:t>提问：如果主码有多个属性怎么办？</a:t>
            </a:r>
          </a:p>
        </p:txBody>
      </p:sp>
      <p:sp>
        <p:nvSpPr>
          <p:cNvPr id="31747" name="AutoShape 3"/>
          <p:cNvSpPr>
            <a:spLocks noChangeArrowheads="1"/>
          </p:cNvSpPr>
          <p:nvPr/>
        </p:nvSpPr>
        <p:spPr bwMode="auto">
          <a:xfrm>
            <a:off x="8243888" y="1458913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E02612-B5D3-443A-8E58-C707ADF4228A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5" name="圆角矩形标注 4"/>
          <p:cNvSpPr/>
          <p:nvPr/>
        </p:nvSpPr>
        <p:spPr>
          <a:xfrm>
            <a:off x="5724128" y="5101261"/>
            <a:ext cx="2448272" cy="1224136"/>
          </a:xfrm>
          <a:prstGeom prst="wedgeRoundRectCallout">
            <a:avLst>
              <a:gd name="adj1" fmla="val -42170"/>
              <a:gd name="adj2" fmla="val -1136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公共基础课程、专业基础课程、专业核心课程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Grp="1" noChangeArrowheads="1"/>
          </p:cNvSpPr>
          <p:nvPr>
            <p:ph idx="1"/>
          </p:nvPr>
        </p:nvSpPr>
        <p:spPr>
          <a:xfrm>
            <a:off x="468313" y="669925"/>
            <a:ext cx="8110537" cy="56880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例子：创建关系</a:t>
            </a:r>
            <a:r>
              <a:rPr lang="zh-CN" altLang="en-US" sz="2800" dirty="0">
                <a:latin typeface="Times New Roman" pitchFamily="18" charset="0"/>
              </a:rPr>
              <a:t>“</a:t>
            </a:r>
            <a:r>
              <a:rPr lang="zh-CN" altLang="en-US" sz="2800" dirty="0"/>
              <a:t>教室表</a:t>
            </a:r>
            <a:r>
              <a:rPr lang="zh-CN" altLang="en-US" sz="2800" dirty="0">
                <a:latin typeface="Times New Roman" pitchFamily="18" charset="0"/>
              </a:rPr>
              <a:t>”</a:t>
            </a:r>
            <a:r>
              <a:rPr lang="zh-CN" altLang="en-US" sz="2800" dirty="0"/>
              <a:t>，拥有属性：</a:t>
            </a:r>
            <a:r>
              <a:rPr lang="zh-CN" altLang="en-US" sz="2800" dirty="0">
                <a:latin typeface="Times New Roman" pitchFamily="18" charset="0"/>
              </a:rPr>
              <a:t>“</a:t>
            </a:r>
            <a:r>
              <a:rPr lang="zh-CN" altLang="en-US" sz="2800" dirty="0"/>
              <a:t>教室编号、教室名称、教学楼编号、教室容量、教室资源配置、使用对象类型</a:t>
            </a:r>
            <a:r>
              <a:rPr lang="zh-CN" altLang="en-US" sz="2800" dirty="0">
                <a:latin typeface="Times New Roman" pitchFamily="18" charset="0"/>
              </a:rPr>
              <a:t>”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CREATE TABLE [dbo].[classroom] (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[rmno] [char] (5) NOT NULL PRIMARY KEY,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[rmtitle] [varchar] (30) NULL 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[buildno] [char] (4) NOT NULL 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[quantity] [int] NOT NULL 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[resource] [char] (2) NOT NULL 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[usertype] [char] (2) NULL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)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A52D47-D501-4EDE-B4AC-35CE66F8051A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8243888" y="2143116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376684"/>
            <a:ext cx="8569325" cy="182818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例：定义选课关系</a:t>
            </a:r>
            <a:r>
              <a:rPr lang="en-US" altLang="zh-CN" sz="2400" dirty="0"/>
              <a:t>SC</a:t>
            </a:r>
            <a:r>
              <a:rPr lang="zh-CN" altLang="en-US" sz="2400" dirty="0"/>
              <a:t>：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学生编号</a:t>
            </a:r>
            <a:r>
              <a:rPr lang="en-US" altLang="zh-CN" sz="2400" dirty="0"/>
              <a:t>S#, char 4; </a:t>
            </a:r>
            <a:r>
              <a:rPr lang="zh-CN" altLang="en-US" sz="2400" dirty="0"/>
              <a:t>课程编号</a:t>
            </a:r>
            <a:r>
              <a:rPr lang="en-US" altLang="zh-CN" sz="2400" dirty="0"/>
              <a:t>C#, char 4, </a:t>
            </a:r>
            <a:r>
              <a:rPr lang="zh-CN" altLang="en-US" sz="2400" dirty="0"/>
              <a:t>成绩</a:t>
            </a:r>
            <a:r>
              <a:rPr lang="en-US" altLang="zh-CN" sz="2400" dirty="0"/>
              <a:t>Grade smallint;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主关键字：</a:t>
            </a:r>
            <a:r>
              <a:rPr lang="en-US" altLang="zh-CN" sz="2400" dirty="0"/>
              <a:t>S#,C#;  </a:t>
            </a:r>
            <a:r>
              <a:rPr lang="zh-CN" altLang="en-US" sz="2400" dirty="0"/>
              <a:t>外键</a:t>
            </a:r>
            <a:r>
              <a:rPr lang="en-US" altLang="zh-CN" sz="2400" dirty="0"/>
              <a:t>: </a:t>
            </a:r>
            <a:r>
              <a:rPr lang="zh-CN" altLang="en-US" sz="2400" dirty="0"/>
              <a:t>关系</a:t>
            </a:r>
            <a:r>
              <a:rPr lang="en-US" altLang="zh-CN" sz="2400" dirty="0"/>
              <a:t>S</a:t>
            </a:r>
            <a:r>
              <a:rPr lang="zh-CN" altLang="en-US" sz="2400" dirty="0"/>
              <a:t>的主码</a:t>
            </a:r>
            <a:r>
              <a:rPr lang="en-US" altLang="zh-CN" sz="2400" dirty="0"/>
              <a:t>S#, </a:t>
            </a:r>
            <a:r>
              <a:rPr lang="zh-CN" altLang="en-US" sz="2400" dirty="0"/>
              <a:t>关系</a:t>
            </a:r>
            <a:r>
              <a:rPr lang="en-US" altLang="zh-CN" sz="2400" dirty="0"/>
              <a:t>C</a:t>
            </a:r>
            <a:r>
              <a:rPr lang="zh-CN" altLang="en-US" sz="2400" dirty="0"/>
              <a:t>的主码</a:t>
            </a:r>
            <a:r>
              <a:rPr lang="en-US" altLang="zh-CN" sz="2400" dirty="0"/>
              <a:t>C#</a:t>
            </a:r>
            <a:r>
              <a:rPr lang="zh-CN" altLang="en-US" sz="2400" dirty="0"/>
              <a:t>；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约束：</a:t>
            </a:r>
            <a:r>
              <a:rPr lang="en-US" altLang="zh-CN" sz="2400" dirty="0"/>
              <a:t>0&lt;=</a:t>
            </a:r>
            <a:r>
              <a:rPr lang="zh-CN" altLang="en-US" sz="2400" dirty="0"/>
              <a:t>成绩</a:t>
            </a:r>
            <a:r>
              <a:rPr lang="en-US" altLang="zh-CN" sz="2400" dirty="0"/>
              <a:t>&lt;=100 </a:t>
            </a:r>
            <a:r>
              <a:rPr lang="zh-CN" altLang="en-US" sz="2400" dirty="0"/>
              <a:t>或者为</a:t>
            </a:r>
            <a:r>
              <a:rPr lang="en-US" altLang="zh-CN" sz="2400" dirty="0"/>
              <a:t>Null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E7F1DF-F2A8-431F-BD88-88D00976D18C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95536" y="2060848"/>
            <a:ext cx="835292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i="1" dirty="0"/>
              <a:t>CREATE   TABLE</a:t>
            </a:r>
            <a:r>
              <a:rPr lang="en-US" altLang="zh-CN" i="1" dirty="0"/>
              <a:t>   S</a:t>
            </a:r>
            <a:r>
              <a:rPr lang="en-US" altLang="zh-CN" dirty="0"/>
              <a:t>C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			(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dirty="0"/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647056" y="2420888"/>
            <a:ext cx="81014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              S#    </a:t>
            </a:r>
            <a:r>
              <a:rPr lang="en-US" altLang="zh-CN" b="1" i="1" dirty="0"/>
              <a:t>CHAR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,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			 C#    </a:t>
            </a:r>
            <a:r>
              <a:rPr lang="en-US" altLang="zh-CN" b="1" i="1" dirty="0"/>
              <a:t>CHAR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i="1" dirty="0"/>
              <a:t>			 </a:t>
            </a:r>
            <a:r>
              <a:rPr lang="en-US" altLang="zh-CN" dirty="0"/>
              <a:t>GRADE  </a:t>
            </a:r>
            <a:r>
              <a:rPr lang="en-US" altLang="zh-CN" b="1" i="1" dirty="0"/>
              <a:t>SAMLLINT</a:t>
            </a:r>
            <a:r>
              <a:rPr lang="en-US" altLang="zh-CN" i="1" dirty="0"/>
              <a:t>,</a:t>
            </a:r>
          </a:p>
        </p:txBody>
      </p:sp>
      <p:sp>
        <p:nvSpPr>
          <p:cNvPr id="6" name="矩形 5"/>
          <p:cNvSpPr/>
          <p:nvPr/>
        </p:nvSpPr>
        <p:spPr>
          <a:xfrm>
            <a:off x="467544" y="3573016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i="1" dirty="0">
                <a:solidFill>
                  <a:srgbClr val="FF0000"/>
                </a:solidFill>
              </a:rPr>
              <a:t>                PRIMARY KEY</a:t>
            </a:r>
            <a:r>
              <a:rPr lang="en-US" altLang="zh-CN" b="1" i="1" dirty="0"/>
              <a:t> </a:t>
            </a:r>
            <a:r>
              <a:rPr lang="en-US" altLang="zh-CN" dirty="0"/>
              <a:t>(S#</a:t>
            </a:r>
            <a:r>
              <a:rPr lang="zh-CN" altLang="en-US" dirty="0"/>
              <a:t>，</a:t>
            </a:r>
            <a:r>
              <a:rPr lang="en-US" altLang="zh-CN" dirty="0"/>
              <a:t>C#),</a:t>
            </a:r>
          </a:p>
        </p:txBody>
      </p:sp>
      <p:sp>
        <p:nvSpPr>
          <p:cNvPr id="7" name="矩形 6"/>
          <p:cNvSpPr/>
          <p:nvPr/>
        </p:nvSpPr>
        <p:spPr>
          <a:xfrm>
            <a:off x="251520" y="400099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i="1" dirty="0">
                <a:solidFill>
                  <a:srgbClr val="FF0000"/>
                </a:solidFill>
              </a:rPr>
              <a:t>                  FOREIGN KEY</a:t>
            </a:r>
            <a:r>
              <a:rPr lang="en-US" altLang="zh-CN" b="1" i="1" dirty="0"/>
              <a:t>   </a:t>
            </a:r>
            <a:r>
              <a:rPr lang="en-US" altLang="zh-CN" dirty="0"/>
              <a:t>(S#)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i="1" dirty="0"/>
              <a:t>				REFERENCES</a:t>
            </a:r>
            <a:r>
              <a:rPr lang="en-US" altLang="zh-CN" dirty="0"/>
              <a:t>   S(S#),</a:t>
            </a:r>
          </a:p>
        </p:txBody>
      </p:sp>
      <p:sp>
        <p:nvSpPr>
          <p:cNvPr id="8" name="矩形 7"/>
          <p:cNvSpPr/>
          <p:nvPr/>
        </p:nvSpPr>
        <p:spPr>
          <a:xfrm>
            <a:off x="251520" y="4797152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i="1" dirty="0">
                <a:solidFill>
                  <a:srgbClr val="FF0000"/>
                </a:solidFill>
              </a:rPr>
              <a:t>                  FOREIGN KEY</a:t>
            </a:r>
            <a:r>
              <a:rPr lang="en-US" altLang="zh-CN" b="1" i="1" dirty="0"/>
              <a:t> </a:t>
            </a:r>
            <a:r>
              <a:rPr lang="en-US" altLang="zh-CN" dirty="0"/>
              <a:t>(C#)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				</a:t>
            </a:r>
            <a:r>
              <a:rPr lang="en-US" altLang="zh-CN" b="1" i="1" dirty="0"/>
              <a:t>REFERENCES</a:t>
            </a:r>
            <a:r>
              <a:rPr lang="en-US" altLang="zh-CN" dirty="0"/>
              <a:t>   C(C#),</a:t>
            </a:r>
          </a:p>
        </p:txBody>
      </p:sp>
      <p:sp>
        <p:nvSpPr>
          <p:cNvPr id="9" name="矩形 8"/>
          <p:cNvSpPr/>
          <p:nvPr/>
        </p:nvSpPr>
        <p:spPr>
          <a:xfrm>
            <a:off x="251520" y="5622339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                 </a:t>
            </a:r>
            <a:r>
              <a:rPr lang="en-US" altLang="zh-CN" b="1" i="1" dirty="0"/>
              <a:t>CHECK</a:t>
            </a:r>
            <a:r>
              <a:rPr lang="en-US" altLang="zh-CN" dirty="0"/>
              <a:t>((GRADE </a:t>
            </a:r>
            <a:r>
              <a:rPr lang="en-US" altLang="zh-CN" b="1" i="1" dirty="0"/>
              <a:t>IS NULL</a:t>
            </a:r>
            <a:r>
              <a:rPr lang="en-US" altLang="zh-CN" dirty="0"/>
              <a:t>) </a:t>
            </a:r>
            <a:r>
              <a:rPr lang="en-US" altLang="zh-CN" b="1" i="1" dirty="0"/>
              <a:t>OR</a:t>
            </a:r>
            <a:r>
              <a:rPr lang="en-US" altLang="zh-CN" dirty="0"/>
              <a:t>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dirty="0"/>
              <a:t>				GRADE </a:t>
            </a:r>
            <a:r>
              <a:rPr lang="en-US" altLang="zh-CN" b="1" i="1" dirty="0"/>
              <a:t>BETWEEN</a:t>
            </a:r>
            <a:r>
              <a:rPr lang="en-US" altLang="zh-CN" dirty="0"/>
              <a:t> 0 </a:t>
            </a:r>
            <a:r>
              <a:rPr lang="en-US" altLang="zh-CN" b="1" i="1" dirty="0"/>
              <a:t>AND</a:t>
            </a:r>
            <a:r>
              <a:rPr lang="en-US" altLang="zh-CN" dirty="0"/>
              <a:t> 100)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742950"/>
            <a:ext cx="8110538" cy="5472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二、表修改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、格式（增加列）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ALTER Table </a:t>
            </a:r>
            <a:r>
              <a:rPr lang="zh-CN" altLang="en-US" sz="2400" dirty="0"/>
              <a:t>表名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add  </a:t>
            </a:r>
            <a:r>
              <a:rPr lang="zh-CN" altLang="en-US" sz="2400" dirty="0">
                <a:solidFill>
                  <a:srgbClr val="FF0000"/>
                </a:solidFill>
              </a:rPr>
              <a:t>列名</a:t>
            </a:r>
            <a:r>
              <a:rPr lang="zh-CN" altLang="en-US" sz="2400" dirty="0"/>
              <a:t>  类型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ALTER Table car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add [emission] [float]  NOT NULL;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ALTER Table   student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add  </a:t>
            </a:r>
            <a:r>
              <a:rPr lang="zh-CN" altLang="en-US" sz="2400" dirty="0"/>
              <a:t>性别  </a:t>
            </a:r>
            <a:r>
              <a:rPr lang="en-US" altLang="zh-CN" sz="2400" dirty="0"/>
              <a:t>char(2)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、功能：给基本表增加一个属性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、说明：（</a:t>
            </a:r>
            <a:r>
              <a:rPr lang="zh-CN" altLang="en-US" sz="2400" dirty="0">
                <a:solidFill>
                  <a:srgbClr val="FF0000"/>
                </a:solidFill>
              </a:rPr>
              <a:t>可增加多个属性</a:t>
            </a:r>
            <a:r>
              <a:rPr lang="zh-CN" altLang="en-US" sz="2400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85CE6-5A22-44DB-9645-AED930121ADE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809625"/>
            <a:ext cx="8110538" cy="419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>
                <a:solidFill>
                  <a:srgbClr val="0000FF"/>
                </a:solidFill>
              </a:rPr>
              <a:t>BEGIN TRANSACTION;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ALTER Table student </a:t>
            </a:r>
            <a:r>
              <a:rPr lang="en-US" altLang="zh-CN" sz="2400" dirty="0">
                <a:solidFill>
                  <a:srgbClr val="FF0000"/>
                </a:solidFill>
              </a:rPr>
              <a:t>add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</a:t>
            </a:r>
            <a:r>
              <a:rPr lang="en-US" altLang="zh-CN" sz="2400" dirty="0">
                <a:solidFill>
                  <a:srgbClr val="FF0000"/>
                </a:solidFill>
              </a:rPr>
              <a:t>[city] </a:t>
            </a:r>
            <a:r>
              <a:rPr lang="en-US" altLang="zh-CN" sz="2400" dirty="0"/>
              <a:t>[varchar] (20) NOT NULL </a:t>
            </a:r>
            <a:r>
              <a:rPr lang="zh-CN" altLang="en-US" sz="2400" dirty="0"/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[province] </a:t>
            </a:r>
            <a:r>
              <a:rPr lang="en-US" altLang="zh-CN" sz="2400" dirty="0"/>
              <a:t>[varchar] (20) NOT NULL 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00FF"/>
                </a:solidFill>
              </a:rPr>
              <a:t>GO;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	COMMIT;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F2D12-065D-469D-AAC9-4C3CC1217DA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title"/>
          </p:nvPr>
        </p:nvSpPr>
        <p:spPr>
          <a:xfrm>
            <a:off x="250825" y="431800"/>
            <a:ext cx="8162925" cy="519113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chemeClr val="tx1"/>
                </a:solidFill>
              </a:rPr>
              <a:t>修改表（删除列）</a:t>
            </a:r>
          </a:p>
        </p:txBody>
      </p:sp>
      <p:sp>
        <p:nvSpPr>
          <p:cNvPr id="36867" name="Rectangle 4"/>
          <p:cNvSpPr>
            <a:spLocks noGrp="1" noChangeArrowheads="1"/>
          </p:cNvSpPr>
          <p:nvPr>
            <p:ph idx="1"/>
          </p:nvPr>
        </p:nvSpPr>
        <p:spPr>
          <a:xfrm>
            <a:off x="179388" y="1125538"/>
            <a:ext cx="8640762" cy="53990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删除列</a:t>
            </a:r>
            <a:r>
              <a:rPr lang="zh-CN" altLang="en-US" sz="2400" dirty="0">
                <a:latin typeface="Times New Roman" pitchFamily="18" charset="0"/>
              </a:rPr>
              <a:t>“</a:t>
            </a:r>
            <a:r>
              <a:rPr lang="en-US" altLang="zh-CN" sz="2400" dirty="0"/>
              <a:t>drop column </a:t>
            </a:r>
            <a:r>
              <a:rPr lang="zh-CN" altLang="en-US" sz="2400" dirty="0"/>
              <a:t>列名</a:t>
            </a:r>
            <a:r>
              <a:rPr lang="en-US" altLang="zh-CN" sz="2400" dirty="0"/>
              <a:t>[,</a:t>
            </a:r>
            <a:r>
              <a:rPr lang="zh-CN" altLang="en-US" sz="2400" dirty="0"/>
              <a:t>列名</a:t>
            </a:r>
            <a:r>
              <a:rPr lang="en-US" altLang="zh-CN" sz="2400" dirty="0"/>
              <a:t>] [,</a:t>
            </a:r>
            <a:r>
              <a:rPr lang="zh-CN" altLang="en-US" sz="2400" dirty="0"/>
              <a:t>列名</a:t>
            </a:r>
            <a:r>
              <a:rPr lang="en-US" altLang="zh-CN" sz="2400" dirty="0"/>
              <a:t>]…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例如：</a:t>
            </a:r>
            <a:r>
              <a:rPr lang="en-US" altLang="zh-CN" sz="2400" dirty="0">
                <a:solidFill>
                  <a:srgbClr val="0000FF"/>
                </a:solidFill>
              </a:rPr>
              <a:t>BEGIN TRANSACTION;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ALTER TABLE dbo.classroom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DROP COLUMN </a:t>
            </a:r>
            <a:r>
              <a:rPr lang="en-US" altLang="zh-CN" sz="2400" dirty="0">
                <a:solidFill>
                  <a:srgbClr val="FF0000"/>
                </a:solidFill>
              </a:rPr>
              <a:t>isopen, isused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00FF"/>
                </a:solidFill>
              </a:rPr>
              <a:t>GO;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	COMMIT;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/>
              <a:t>修改表（修改列）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ALTER TABLE classroom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ALTER COLUMN </a:t>
            </a:r>
            <a:r>
              <a:rPr lang="en-US" altLang="zh-CN" sz="2400" dirty="0">
                <a:solidFill>
                  <a:srgbClr val="FF0000"/>
                </a:solidFill>
              </a:rPr>
              <a:t>roomtype</a:t>
            </a:r>
            <a:r>
              <a:rPr lang="en-US" altLang="zh-CN" sz="2400" dirty="0"/>
              <a:t> varchar(30);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969A4-0D56-439D-95D5-F998AE0A41F4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17525"/>
            <a:ext cx="8162925" cy="7620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chemeClr val="tx1"/>
                </a:solidFill>
              </a:rPr>
              <a:t>修改表（续）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81125"/>
            <a:ext cx="8110538" cy="41910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增加完整性约束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ALTER TABLE classroom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ADD </a:t>
            </a:r>
            <a:r>
              <a:rPr lang="en-US" altLang="zh-CN" sz="2800" dirty="0">
                <a:solidFill>
                  <a:srgbClr val="FF0000"/>
                </a:solidFill>
              </a:rPr>
              <a:t>UNIQUE(rmno)</a:t>
            </a:r>
            <a:r>
              <a:rPr lang="en-US" altLang="zh-CN" sz="2800" dirty="0"/>
              <a:t>;</a:t>
            </a:r>
          </a:p>
          <a:p>
            <a:pPr eaLnBrk="1" hangingPunct="1"/>
            <a:r>
              <a:rPr lang="zh-CN" altLang="en-US" sz="2800" dirty="0"/>
              <a:t>删除完整性约束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ALTER TABLE classroom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DROP  </a:t>
            </a:r>
            <a:r>
              <a:rPr lang="en-US" altLang="zh-CN" sz="2800" dirty="0">
                <a:solidFill>
                  <a:srgbClr val="FF0000"/>
                </a:solidFill>
              </a:rPr>
              <a:t>PK_classroom</a:t>
            </a:r>
            <a:r>
              <a:rPr lang="en-US" altLang="zh-CN" sz="2800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76E0F4-CBB6-4114-8CE0-C0A8DA2228D2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63575"/>
            <a:ext cx="8110538" cy="64801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一个复杂的例子（涉及到已有的数据）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将教室表中的教室名称列从</a:t>
            </a:r>
            <a:r>
              <a:rPr lang="en-US" altLang="zh-CN" sz="2400" dirty="0"/>
              <a:t>30</a:t>
            </a:r>
            <a:r>
              <a:rPr lang="zh-CN" altLang="en-US" sz="2400" dirty="0"/>
              <a:t>位变长字符串改为</a:t>
            </a:r>
            <a:r>
              <a:rPr lang="en-US" altLang="zh-CN" sz="2400" dirty="0"/>
              <a:t>20</a:t>
            </a:r>
            <a:r>
              <a:rPr lang="zh-CN" altLang="en-US" sz="2400" dirty="0"/>
              <a:t>位变长字符串。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BEGIN TRANSACTION;</a:t>
            </a:r>
            <a:r>
              <a:rPr lang="zh-CN" altLang="en-US" sz="2400" dirty="0"/>
              <a:t>－－开始事务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CREATE TABLE dbo.Tmp_classroom</a:t>
            </a:r>
            <a:r>
              <a:rPr lang="zh-CN" altLang="en-US" sz="2400" dirty="0"/>
              <a:t>－－创建临时表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(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[rmno] [char] (5) NOT NULL PRIMARY KEY,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[rmtitle] [varchar] </a:t>
            </a:r>
            <a:r>
              <a:rPr lang="en-US" altLang="zh-CN" sz="2400" dirty="0">
                <a:solidFill>
                  <a:srgbClr val="FF0000"/>
                </a:solidFill>
              </a:rPr>
              <a:t>(20) </a:t>
            </a:r>
            <a:r>
              <a:rPr lang="en-US" altLang="zh-CN" sz="2400" dirty="0"/>
              <a:t>NULL 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[buildno] [char] (4) NOT NULL 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[quantity] [int] NOT NULL 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[resource] [char] (2) NOT NULL 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[usertype] [char] (2) NULL 	);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GO;</a:t>
            </a:r>
            <a:r>
              <a:rPr lang="zh-CN" altLang="en-US" sz="2400" dirty="0"/>
              <a:t>－－执行创建语句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B6603-AFCF-49F3-A181-F1476E9BD3C6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51"/>
          <p:cNvSpPr>
            <a:spLocks noGrp="1" noChangeArrowheads="1"/>
          </p:cNvSpPr>
          <p:nvPr>
            <p:ph idx="1"/>
          </p:nvPr>
        </p:nvSpPr>
        <p:spPr>
          <a:xfrm>
            <a:off x="107504" y="836712"/>
            <a:ext cx="8857109" cy="57609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FF0000"/>
                </a:solidFill>
              </a:rPr>
              <a:t>IF EXISTS</a:t>
            </a:r>
            <a:r>
              <a:rPr lang="en-US" altLang="zh-CN" sz="2200" dirty="0"/>
              <a:t>(SELECT * FROM dbo.classroom)</a:t>
            </a:r>
            <a:r>
              <a:rPr lang="zh-CN" altLang="en-US" sz="2200" dirty="0"/>
              <a:t>－－如果原表有数据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dirty="0"/>
              <a:t>	 </a:t>
            </a:r>
            <a:r>
              <a:rPr lang="en-US" altLang="zh-CN" sz="2200" dirty="0"/>
              <a:t>EXEC(</a:t>
            </a:r>
            <a:r>
              <a:rPr lang="en-US" altLang="zh-CN" sz="2200" dirty="0">
                <a:latin typeface="Times New Roman" pitchFamily="18" charset="0"/>
              </a:rPr>
              <a:t>‘</a:t>
            </a:r>
            <a:r>
              <a:rPr lang="en-US" altLang="zh-CN" sz="2200" dirty="0">
                <a:solidFill>
                  <a:srgbClr val="FF0000"/>
                </a:solidFill>
              </a:rPr>
              <a:t>INSERT INTO </a:t>
            </a:r>
            <a:r>
              <a:rPr lang="en-US" altLang="zh-CN" sz="2200" dirty="0"/>
              <a:t>dbo.Tmp_classroom </a:t>
            </a:r>
            <a:r>
              <a:rPr lang="zh-CN" altLang="en-US" sz="2200" dirty="0"/>
              <a:t>－－拷贝数据</a:t>
            </a:r>
            <a:r>
              <a:rPr lang="en-US" altLang="zh-CN" sz="2200" dirty="0"/>
              <a:t>(rmno,rmtitle,buildno,quantity,resource,usertype)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	</a:t>
            </a:r>
            <a:r>
              <a:rPr lang="en-US" altLang="zh-CN" sz="2200" dirty="0">
                <a:solidFill>
                  <a:srgbClr val="FF0000"/>
                </a:solidFill>
              </a:rPr>
              <a:t>SELECT</a:t>
            </a:r>
            <a:r>
              <a:rPr lang="en-US" altLang="zh-CN" sz="2200" dirty="0"/>
              <a:t> rmno,</a:t>
            </a:r>
            <a:r>
              <a:rPr lang="en-US" altLang="zh-CN" sz="2200" dirty="0">
                <a:solidFill>
                  <a:srgbClr val="FF0000"/>
                </a:solidFill>
              </a:rPr>
              <a:t>CONVERT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FF0000"/>
                </a:solidFill>
              </a:rPr>
              <a:t>varchar(20)</a:t>
            </a:r>
            <a:r>
              <a:rPr lang="en-US" altLang="zh-CN" sz="2200" dirty="0"/>
              <a:t>,rmtitle),buildno,quantity,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   resource,usertype   FROM dbo.js TABLOCKX');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GO;</a:t>
            </a:r>
            <a:r>
              <a:rPr lang="zh-CN" altLang="en-US" sz="2200" dirty="0"/>
              <a:t>－－执行拷贝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DROP TABLE dbo.js;</a:t>
            </a:r>
            <a:r>
              <a:rPr lang="zh-CN" altLang="en-US" sz="2200" dirty="0"/>
              <a:t>－－删除原表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GO;</a:t>
            </a:r>
            <a:r>
              <a:rPr lang="zh-CN" altLang="en-US" sz="2200" dirty="0"/>
              <a:t>－－执行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EXECUTE </a:t>
            </a:r>
            <a:r>
              <a:rPr lang="en-US" altLang="zh-CN" sz="2200" dirty="0">
                <a:solidFill>
                  <a:srgbClr val="FF0000"/>
                </a:solidFill>
              </a:rPr>
              <a:t>sp_rename</a:t>
            </a:r>
            <a:r>
              <a:rPr lang="en-US" altLang="zh-CN" sz="2200" dirty="0"/>
              <a:t> N</a:t>
            </a:r>
            <a:r>
              <a:rPr lang="en-US" altLang="zh-CN" sz="2200" dirty="0">
                <a:latin typeface="Times New Roman" pitchFamily="18" charset="0"/>
              </a:rPr>
              <a:t>‘</a:t>
            </a:r>
            <a:r>
              <a:rPr lang="en-US" altLang="zh-CN" sz="2200" dirty="0"/>
              <a:t>dbo.Tmp_classroom</a:t>
            </a:r>
            <a:r>
              <a:rPr lang="en-US" altLang="zh-CN" sz="2200" dirty="0">
                <a:latin typeface="Times New Roman" pitchFamily="18" charset="0"/>
              </a:rPr>
              <a:t>’</a:t>
            </a:r>
            <a:r>
              <a:rPr lang="en-US" altLang="zh-CN" sz="2200" dirty="0"/>
              <a:t>, N</a:t>
            </a:r>
            <a:r>
              <a:rPr lang="en-US" altLang="zh-CN" sz="2200" dirty="0">
                <a:latin typeface="Times New Roman" pitchFamily="18" charset="0"/>
              </a:rPr>
              <a:t>‘</a:t>
            </a:r>
            <a:r>
              <a:rPr lang="en-US" altLang="zh-CN" sz="2200" dirty="0"/>
              <a:t>classroom</a:t>
            </a:r>
            <a:r>
              <a:rPr lang="en-US" altLang="zh-CN" sz="2200" dirty="0">
                <a:latin typeface="Times New Roman" pitchFamily="18" charset="0"/>
              </a:rPr>
              <a:t>’</a:t>
            </a:r>
            <a:r>
              <a:rPr lang="en-US" altLang="zh-CN" sz="2200" dirty="0"/>
              <a:t>, </a:t>
            </a:r>
            <a:r>
              <a:rPr lang="en-US" altLang="zh-CN" sz="2200" dirty="0">
                <a:latin typeface="Times New Roman" pitchFamily="18" charset="0"/>
              </a:rPr>
              <a:t>‘</a:t>
            </a:r>
            <a:r>
              <a:rPr lang="en-US" altLang="zh-CN" sz="2200" dirty="0"/>
              <a:t>OBJECT</a:t>
            </a:r>
            <a:r>
              <a:rPr lang="en-US" altLang="zh-CN" sz="2200" dirty="0">
                <a:latin typeface="Times New Roman" pitchFamily="18" charset="0"/>
              </a:rPr>
              <a:t>‘</a:t>
            </a:r>
            <a:r>
              <a:rPr lang="en-US" altLang="zh-CN" sz="2200" dirty="0"/>
              <a:t>;</a:t>
            </a:r>
            <a:r>
              <a:rPr lang="zh-CN" altLang="en-US" sz="2200" dirty="0"/>
              <a:t>－－表对象改名，临时表改为正式表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GO;</a:t>
            </a:r>
            <a:r>
              <a:rPr lang="zh-CN" altLang="en-US" sz="2200" dirty="0"/>
              <a:t>－－执行改名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200" dirty="0"/>
              <a:t>COMMIT;</a:t>
            </a:r>
            <a:r>
              <a:rPr lang="zh-CN" altLang="en-US" sz="2200" dirty="0"/>
              <a:t>－－事务完成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E5C4F-42CA-4B44-B07C-C8B58E26E08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736600"/>
            <a:ext cx="8713788" cy="5716736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三、表删除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、格式：</a:t>
            </a:r>
            <a:r>
              <a:rPr lang="en-US" altLang="zh-CN" sz="2400" dirty="0"/>
              <a:t>Drop table  </a:t>
            </a:r>
            <a:r>
              <a:rPr lang="zh-CN" altLang="en-US" sz="2400" dirty="0"/>
              <a:t>表名</a:t>
            </a:r>
            <a:r>
              <a:rPr lang="en-US" altLang="zh-CN" sz="2400" dirty="0"/>
              <a:t>[RESTRICT | CASCADE]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、功能：撤消一个基本表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、说明：撤消结构、元组值、索引、相关视图、释放相关空间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3.3.3</a:t>
            </a:r>
            <a:r>
              <a:rPr lang="zh-CN" altLang="en-US" sz="2400" b="1" dirty="0"/>
              <a:t>、索引建立与删除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F3A7A-2FF9-4B78-942B-E6F7EE3C7839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6" name="圆角矩形标注 5"/>
          <p:cNvSpPr/>
          <p:nvPr/>
        </p:nvSpPr>
        <p:spPr>
          <a:xfrm>
            <a:off x="1691680" y="3933056"/>
            <a:ext cx="5286412" cy="1224136"/>
          </a:xfrm>
          <a:prstGeom prst="wedgeRoundRectCallout">
            <a:avLst>
              <a:gd name="adj1" fmla="val -56329"/>
              <a:gd name="adj2" fmla="val -8812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针对一个关系的某个或者些属性上的条件查询（选择运算、连接运算），建立辅助数据结构，以加快查询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1196752"/>
            <a:ext cx="8713788" cy="546043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3.3.3  </a:t>
            </a:r>
            <a:r>
              <a:rPr lang="zh-CN" altLang="en-US" sz="2400" b="1" dirty="0"/>
              <a:t>索引建立与删除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、建立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）格式：</a:t>
            </a:r>
            <a:r>
              <a:rPr lang="en-US" altLang="zh-CN" sz="2400" dirty="0"/>
              <a:t>create [unique][cluster] INDEX </a:t>
            </a:r>
            <a:r>
              <a:rPr lang="zh-CN" altLang="en-US" sz="2400" dirty="0">
                <a:solidFill>
                  <a:srgbClr val="FF0000"/>
                </a:solidFill>
              </a:rPr>
              <a:t>索引名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ON </a:t>
            </a:r>
            <a:r>
              <a:rPr lang="zh-CN" altLang="en-US" sz="2400" dirty="0">
                <a:solidFill>
                  <a:srgbClr val="FF0000"/>
                </a:solidFill>
              </a:rPr>
              <a:t>基本表名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0000"/>
                </a:solidFill>
              </a:rPr>
              <a:t>列名</a:t>
            </a:r>
            <a:r>
              <a:rPr lang="en-US" altLang="zh-CN" sz="2400" dirty="0"/>
              <a:t>[</a:t>
            </a:r>
            <a:r>
              <a:rPr lang="zh-CN" altLang="en-US" sz="2400" dirty="0"/>
              <a:t>次序</a:t>
            </a:r>
            <a:r>
              <a:rPr lang="en-US" altLang="zh-CN" sz="2400" dirty="0"/>
              <a:t>] [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列名</a:t>
            </a:r>
            <a:r>
              <a:rPr lang="en-US" altLang="zh-CN" sz="2400" dirty="0"/>
              <a:t>[</a:t>
            </a:r>
            <a:r>
              <a:rPr lang="zh-CN" altLang="en-US" sz="2400" dirty="0"/>
              <a:t>次序</a:t>
            </a:r>
            <a:r>
              <a:rPr lang="en-US" altLang="zh-CN" sz="2400" dirty="0"/>
              <a:t>]]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r>
              <a:rPr lang="zh-CN" altLang="en-US" sz="2400" dirty="0"/>
              <a:t>）</a:t>
            </a:r>
            <a:r>
              <a:rPr lang="en-US" altLang="zh-CN" sz="2400" dirty="0"/>
              <a:t>[</a:t>
            </a:r>
            <a:r>
              <a:rPr lang="zh-CN" altLang="en-US" sz="2400" dirty="0"/>
              <a:t>其它参数</a:t>
            </a:r>
            <a:r>
              <a:rPr lang="en-US" altLang="zh-CN" sz="2400" dirty="0"/>
              <a:t>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）功能：在一个基本表上建立一个索引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）说明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en-US" altLang="zh-CN" sz="2400" dirty="0"/>
              <a:t>unique  </a:t>
            </a:r>
            <a:r>
              <a:rPr lang="zh-CN" altLang="en-US" sz="2400" dirty="0"/>
              <a:t>表示索引项值对应元组唯一，</a:t>
            </a:r>
            <a:r>
              <a:rPr lang="en-US" altLang="zh-CN" sz="2400" dirty="0"/>
              <a:t>cluster</a:t>
            </a:r>
            <a:r>
              <a:rPr lang="zh-CN" altLang="en-US" sz="2400" dirty="0"/>
              <a:t>表示聚簇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次序指升</a:t>
            </a:r>
            <a:r>
              <a:rPr lang="en-US" altLang="zh-CN" sz="2400" dirty="0"/>
              <a:t>/</a:t>
            </a:r>
            <a:r>
              <a:rPr lang="zh-CN" altLang="en-US" sz="2400" dirty="0"/>
              <a:t>降序，缺省为升序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en-US" altLang="zh-CN" sz="2400" dirty="0"/>
              <a:t>DBA</a:t>
            </a:r>
            <a:r>
              <a:rPr lang="zh-CN" altLang="en-US" sz="2400" dirty="0"/>
              <a:t>建立、系统自动实现，与应用编程无关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好处：提高速度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坏处：占内存、插入删除的移动（插入删除少）</a:t>
            </a:r>
          </a:p>
        </p:txBody>
      </p:sp>
      <p:sp>
        <p:nvSpPr>
          <p:cNvPr id="40963" name="AutoShape 1028"/>
          <p:cNvSpPr>
            <a:spLocks noChangeArrowheads="1"/>
          </p:cNvSpPr>
          <p:nvPr/>
        </p:nvSpPr>
        <p:spPr bwMode="auto">
          <a:xfrm>
            <a:off x="8559079" y="1808170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" name="AutoShape 1029"/>
          <p:cNvSpPr>
            <a:spLocks noChangeArrowheads="1"/>
          </p:cNvSpPr>
          <p:nvPr/>
        </p:nvSpPr>
        <p:spPr bwMode="auto">
          <a:xfrm>
            <a:off x="8540202" y="2924944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F3A7A-2FF9-4B78-942B-E6F7EE3C7839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" name="圆角矩形标注 5"/>
          <p:cNvSpPr/>
          <p:nvPr/>
        </p:nvSpPr>
        <p:spPr>
          <a:xfrm>
            <a:off x="3692978" y="200815"/>
            <a:ext cx="5286412" cy="1071570"/>
          </a:xfrm>
          <a:prstGeom prst="wedgeRoundRectCallout">
            <a:avLst>
              <a:gd name="adj1" fmla="val -52869"/>
              <a:gd name="adj2" fmla="val 2950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SC(SNO,CNO, GRADE)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SNO</a:t>
            </a:r>
            <a:r>
              <a:rPr lang="zh-CN" altLang="en-US" dirty="0"/>
              <a:t>属性上建立升序索引。。。</a:t>
            </a:r>
          </a:p>
        </p:txBody>
      </p:sp>
    </p:spTree>
    <p:extLst>
      <p:ext uri="{BB962C8B-B14F-4D97-AF65-F5344CB8AC3E}">
        <p14:creationId xmlns:p14="http://schemas.microsoft.com/office/powerpoint/2010/main" val="1568018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85795"/>
            <a:ext cx="8229600" cy="55388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例：针对学生关系</a:t>
            </a:r>
            <a:r>
              <a:rPr lang="en-US" altLang="zh-CN" sz="2400" dirty="0"/>
              <a:t>STU</a:t>
            </a:r>
            <a:r>
              <a:rPr lang="zh-CN" altLang="en-US" sz="2400" dirty="0"/>
              <a:t>的学号属性</a:t>
            </a:r>
            <a:r>
              <a:rPr lang="en-US" altLang="zh-CN" sz="2400" dirty="0"/>
              <a:t>SNO</a:t>
            </a:r>
            <a:r>
              <a:rPr lang="zh-CN" altLang="en-US" sz="2400" dirty="0"/>
              <a:t>建立索引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</a:rPr>
              <a:t>CREATE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INDEX</a:t>
            </a:r>
            <a:r>
              <a:rPr lang="en-US" altLang="zh-CN" sz="2400" dirty="0"/>
              <a:t> IND_STU </a:t>
            </a:r>
            <a:r>
              <a:rPr lang="en-US" altLang="zh-CN" sz="2400" dirty="0">
                <a:solidFill>
                  <a:srgbClr val="0000FF"/>
                </a:solidFill>
              </a:rPr>
              <a:t>ON</a:t>
            </a:r>
            <a:r>
              <a:rPr lang="en-US" altLang="zh-CN" sz="2400" dirty="0"/>
              <a:t> STU(SNO);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例：针对学生关系</a:t>
            </a:r>
            <a:r>
              <a:rPr lang="en-US" altLang="zh-CN" sz="2400" dirty="0"/>
              <a:t>STU</a:t>
            </a:r>
            <a:r>
              <a:rPr lang="zh-CN" altLang="en-US" sz="2400" dirty="0"/>
              <a:t>的学号属性</a:t>
            </a:r>
            <a:r>
              <a:rPr lang="en-US" altLang="zh-CN" sz="2400" dirty="0"/>
              <a:t>SNO</a:t>
            </a:r>
            <a:r>
              <a:rPr lang="zh-CN" altLang="en-US" sz="2400" dirty="0"/>
              <a:t>建立</a:t>
            </a:r>
            <a:r>
              <a:rPr lang="zh-CN" altLang="en-US" sz="2400" dirty="0">
                <a:solidFill>
                  <a:srgbClr val="FF0000"/>
                </a:solidFill>
              </a:rPr>
              <a:t>唯一性</a:t>
            </a:r>
            <a:r>
              <a:rPr lang="zh-CN" altLang="en-US" sz="2400" dirty="0"/>
              <a:t>索引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</a:rPr>
              <a:t>CREATE UNIQUE INDEX </a:t>
            </a:r>
            <a:r>
              <a:rPr lang="en-US" altLang="zh-CN" sz="2400" dirty="0"/>
              <a:t>IND_STU_UNI 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</a:rPr>
              <a:t>ON</a:t>
            </a:r>
            <a:r>
              <a:rPr lang="en-US" altLang="zh-CN" sz="2400" dirty="0"/>
              <a:t> STU(SNO);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例：针对学生选课关系</a:t>
            </a:r>
            <a:r>
              <a:rPr lang="en-US" altLang="zh-CN" sz="2400" dirty="0"/>
              <a:t>SC</a:t>
            </a:r>
            <a:r>
              <a:rPr lang="zh-CN" altLang="en-US" sz="2400" dirty="0"/>
              <a:t>的学号</a:t>
            </a:r>
            <a:r>
              <a:rPr lang="en-US" altLang="zh-CN" sz="2400" dirty="0"/>
              <a:t>+</a:t>
            </a:r>
            <a:r>
              <a:rPr lang="zh-CN" altLang="en-US" sz="2400" dirty="0"/>
              <a:t>课号属性组合</a:t>
            </a:r>
            <a:r>
              <a:rPr lang="en-US" altLang="zh-CN" sz="2400" dirty="0"/>
              <a:t>(SNO,CNO)</a:t>
            </a:r>
            <a:r>
              <a:rPr lang="zh-CN" altLang="en-US" sz="2400" dirty="0"/>
              <a:t>建立索引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</a:rPr>
              <a:t>CREATE INDEX </a:t>
            </a:r>
            <a:r>
              <a:rPr lang="en-US" altLang="zh-CN" sz="2400" dirty="0"/>
              <a:t>IND_SC </a:t>
            </a:r>
            <a:r>
              <a:rPr lang="en-US" altLang="zh-CN" sz="2400" dirty="0">
                <a:solidFill>
                  <a:srgbClr val="0000FF"/>
                </a:solidFill>
              </a:rPr>
              <a:t>ON</a:t>
            </a:r>
            <a:r>
              <a:rPr lang="en-US" altLang="zh-CN" sz="2400" dirty="0"/>
              <a:t> SC(SNO,CNO);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92138"/>
            <a:ext cx="8642350" cy="64087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例：针对学生选课关系</a:t>
            </a:r>
            <a:r>
              <a:rPr lang="en-US" altLang="zh-CN" sz="2400" dirty="0"/>
              <a:t>SC</a:t>
            </a:r>
            <a:r>
              <a:rPr lang="zh-CN" altLang="en-US" sz="2400" dirty="0"/>
              <a:t>的学号属性</a:t>
            </a:r>
            <a:r>
              <a:rPr lang="en-US" altLang="zh-CN" sz="2400" dirty="0"/>
              <a:t>SNO</a:t>
            </a:r>
            <a:r>
              <a:rPr lang="zh-CN" altLang="en-US" sz="2400" dirty="0"/>
              <a:t>建立</a:t>
            </a:r>
            <a:r>
              <a:rPr lang="zh-CN" altLang="en-US" sz="2400" dirty="0">
                <a:solidFill>
                  <a:srgbClr val="FF0000"/>
                </a:solidFill>
              </a:rPr>
              <a:t>聚簇</a:t>
            </a:r>
            <a:r>
              <a:rPr lang="zh-CN" altLang="en-US" sz="2400" dirty="0"/>
              <a:t>索引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</a:rPr>
              <a:t>CREATE CLUSTER INDEX </a:t>
            </a:r>
            <a:r>
              <a:rPr lang="en-US" altLang="zh-CN" sz="2400" dirty="0"/>
              <a:t>IND_SC_CLU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000FF"/>
                </a:solidFill>
              </a:rPr>
              <a:t>ON</a:t>
            </a:r>
            <a:r>
              <a:rPr lang="en-US" altLang="zh-CN" sz="2400" dirty="0"/>
              <a:t> SC(SNO);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、删除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DROP INDEX  </a:t>
            </a:r>
            <a:r>
              <a:rPr lang="zh-CN" altLang="en-US" sz="2400" dirty="0"/>
              <a:t>索引名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删去一个索引。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AC7E34-5366-4FF0-9458-321B2365A8C1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666750"/>
            <a:ext cx="8569325" cy="419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latin typeface="宋体" pitchFamily="2" charset="-122"/>
              </a:rPr>
              <a:t>3.4  </a:t>
            </a:r>
            <a:r>
              <a:rPr lang="zh-CN" altLang="en-US" sz="2800" b="1" dirty="0">
                <a:latin typeface="宋体" pitchFamily="2" charset="-122"/>
              </a:rPr>
              <a:t>数据查询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latin typeface="宋体" pitchFamily="2" charset="-122"/>
              </a:rPr>
              <a:t>一般格式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SELECT  [ALL|DISTINCT]	</a:t>
            </a:r>
            <a:r>
              <a:rPr lang="zh-CN" altLang="en-US" sz="2400" dirty="0">
                <a:latin typeface="Verdana" panose="020B0604030504040204" pitchFamily="34" charset="0"/>
              </a:rPr>
              <a:t>目标属性名或表达式列表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FROM	    </a:t>
            </a:r>
            <a:r>
              <a:rPr lang="zh-CN" altLang="en-US" sz="2400" dirty="0">
                <a:latin typeface="Verdana" panose="020B0604030504040204" pitchFamily="34" charset="0"/>
              </a:rPr>
              <a:t>关系名或视图名列表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[WHERE	</a:t>
            </a:r>
            <a:r>
              <a:rPr lang="zh-CN" altLang="en-US" sz="2400" dirty="0">
                <a:latin typeface="Verdana" panose="020B0604030504040204" pitchFamily="34" charset="0"/>
              </a:rPr>
              <a:t>条件表达式</a:t>
            </a:r>
            <a:r>
              <a:rPr lang="en-US" altLang="zh-CN" sz="2400" dirty="0">
                <a:latin typeface="Verdana" panose="020B0604030504040204" pitchFamily="34" charset="0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[GROUP BY 	</a:t>
            </a:r>
            <a:r>
              <a:rPr lang="zh-CN" altLang="en-US" sz="2400" dirty="0">
                <a:latin typeface="Verdana" panose="020B0604030504040204" pitchFamily="34" charset="0"/>
              </a:rPr>
              <a:t>分组属性名表达式</a:t>
            </a:r>
            <a:r>
              <a:rPr lang="en-US" altLang="zh-CN" sz="2400" dirty="0">
                <a:latin typeface="Verdana" panose="020B0604030504040204" pitchFamily="34" charset="0"/>
              </a:rPr>
              <a:t>[HAVING  </a:t>
            </a:r>
            <a:r>
              <a:rPr lang="zh-CN" altLang="en-US" sz="2400" dirty="0">
                <a:latin typeface="Verdana" panose="020B0604030504040204" pitchFamily="34" charset="0"/>
              </a:rPr>
              <a:t>条件  </a:t>
            </a:r>
            <a:r>
              <a:rPr lang="en-US" altLang="zh-CN" sz="2400" dirty="0">
                <a:latin typeface="Verdana" panose="020B0604030504040204" pitchFamily="34" charset="0"/>
              </a:rPr>
              <a:t>]  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[ORDER BY	</a:t>
            </a:r>
            <a:r>
              <a:rPr lang="zh-CN" altLang="en-US" sz="2400" dirty="0">
                <a:latin typeface="Verdana" panose="020B0604030504040204" pitchFamily="34" charset="0"/>
              </a:rPr>
              <a:t>排序属性名表  </a:t>
            </a:r>
          </a:p>
        </p:txBody>
      </p:sp>
      <p:graphicFrame>
        <p:nvGraphicFramePr>
          <p:cNvPr id="614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0124826"/>
              </p:ext>
            </p:extLst>
          </p:nvPr>
        </p:nvGraphicFramePr>
        <p:xfrm>
          <a:off x="4211639" y="3357564"/>
          <a:ext cx="1512490" cy="947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5" name="Picture" r:id="rId3" imgW="790560" imgH="495360" progId="Word.Picture.8">
                  <p:embed/>
                </p:oleObj>
              </mc:Choice>
              <mc:Fallback>
                <p:oleObj name="Picture" r:id="rId3" imgW="790560" imgH="495360" progId="Word.Picture.8">
                  <p:embed/>
                  <p:pic>
                    <p:nvPicPr>
                      <p:cNvPr id="0" name="Picture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9" y="3357564"/>
                        <a:ext cx="1512490" cy="9471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E670D-8835-4C2A-82ED-D5DEFAAC9681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8388350" y="2179638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665163"/>
            <a:ext cx="8640763" cy="132367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、说明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）表达式：算术表达式、函数表达式、常量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）目标属性名表：要查找的属性值的属性名集合（投影）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34E564-7B5C-4345-93F3-FC4BB538F21F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23528" y="1916832"/>
            <a:ext cx="8568952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FROM</a:t>
            </a:r>
            <a:r>
              <a:rPr lang="zh-CN" altLang="en-US" dirty="0"/>
              <a:t>：句子中涉及属性名的所在关系或视图名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（</a:t>
            </a:r>
            <a:r>
              <a:rPr lang="en-US" altLang="zh-CN" dirty="0"/>
              <a:t>SELECT</a:t>
            </a:r>
            <a:r>
              <a:rPr lang="zh-CN" altLang="en-US" dirty="0"/>
              <a:t>、</a:t>
            </a:r>
            <a:r>
              <a:rPr lang="en-US" altLang="zh-CN" dirty="0"/>
              <a:t>WHERE</a:t>
            </a:r>
            <a:r>
              <a:rPr lang="zh-CN" altLang="en-US" dirty="0"/>
              <a:t>、</a:t>
            </a:r>
            <a:r>
              <a:rPr lang="en-US" altLang="zh-CN" dirty="0"/>
              <a:t>GROUP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）</a:t>
            </a:r>
          </a:p>
        </p:txBody>
      </p:sp>
      <p:sp>
        <p:nvSpPr>
          <p:cNvPr id="5" name="矩形 4"/>
          <p:cNvSpPr/>
          <p:nvPr/>
        </p:nvSpPr>
        <p:spPr>
          <a:xfrm>
            <a:off x="323528" y="2676976"/>
            <a:ext cx="8496944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WHERE</a:t>
            </a:r>
            <a:r>
              <a:rPr lang="zh-CN" altLang="en-US" dirty="0"/>
              <a:t>：查找元组应满足的条件。</a:t>
            </a:r>
          </a:p>
        </p:txBody>
      </p:sp>
      <p:sp>
        <p:nvSpPr>
          <p:cNvPr id="6" name="矩形 5"/>
          <p:cNvSpPr/>
          <p:nvPr/>
        </p:nvSpPr>
        <p:spPr>
          <a:xfrm>
            <a:off x="323528" y="3068960"/>
            <a:ext cx="85689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GROUP BY</a:t>
            </a:r>
            <a:r>
              <a:rPr lang="zh-CN" altLang="en-US" dirty="0"/>
              <a:t>：输出结果按其指定属性分组，每组输出一行。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如</a:t>
            </a:r>
            <a:r>
              <a:rPr lang="en-US" altLang="zh-CN" dirty="0"/>
              <a:t>GROUP BY SNO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HAVING</a:t>
            </a:r>
            <a:r>
              <a:rPr lang="zh-CN" altLang="en-US" dirty="0"/>
              <a:t>：一个分组的元组应满足的条件：如</a:t>
            </a:r>
            <a:r>
              <a:rPr lang="en-US" altLang="zh-CN" dirty="0"/>
              <a:t>HAVING COUNT(*)&gt;80</a:t>
            </a:r>
          </a:p>
        </p:txBody>
      </p:sp>
      <p:sp>
        <p:nvSpPr>
          <p:cNvPr id="7" name="矩形 6"/>
          <p:cNvSpPr/>
          <p:nvPr/>
        </p:nvSpPr>
        <p:spPr>
          <a:xfrm>
            <a:off x="323528" y="4482986"/>
            <a:ext cx="856895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en-US" altLang="zh-CN" dirty="0"/>
              <a:t>ORDER BY</a:t>
            </a:r>
            <a:r>
              <a:rPr lang="zh-CN" altLang="en-US" dirty="0"/>
              <a:t>：输出结果按其规定的属性值的升或降序排序。</a:t>
            </a:r>
          </a:p>
        </p:txBody>
      </p:sp>
      <p:sp>
        <p:nvSpPr>
          <p:cNvPr id="8" name="矩形 7"/>
          <p:cNvSpPr/>
          <p:nvPr/>
        </p:nvSpPr>
        <p:spPr>
          <a:xfrm>
            <a:off x="323528" y="5013176"/>
            <a:ext cx="8568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、功能：根据</a:t>
            </a:r>
            <a:r>
              <a:rPr lang="en-US" altLang="zh-CN" dirty="0"/>
              <a:t>WHERE</a:t>
            </a:r>
            <a:r>
              <a:rPr lang="zh-CN" altLang="en-US" dirty="0"/>
              <a:t>条件表达式，从表中找出满足条件元组的指定属性值，并按指定（若有</a:t>
            </a:r>
            <a:r>
              <a:rPr lang="en-US" altLang="zh-CN" dirty="0"/>
              <a:t>GROUP</a:t>
            </a:r>
            <a:r>
              <a:rPr lang="zh-CN" altLang="en-US" dirty="0"/>
              <a:t>）的属性分组统计，最后排序（若有</a:t>
            </a:r>
            <a:r>
              <a:rPr lang="en-US" altLang="zh-CN" dirty="0"/>
              <a:t>ORDER BY</a:t>
            </a:r>
            <a:r>
              <a:rPr lang="zh-CN" altLang="en-US" dirty="0"/>
              <a:t>）输出。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665163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3.4.1 </a:t>
            </a:r>
            <a:r>
              <a:rPr lang="zh-CN" altLang="en-US" sz="2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单表查询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241425"/>
            <a:ext cx="8713787" cy="518797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student (sno, sname, ssex, birthyear, sdept)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course (cno, cname, cpno, ccredit</a:t>
            </a:r>
            <a:r>
              <a:rPr lang="zh-CN" altLang="en-US" sz="2400" dirty="0"/>
              <a:t>，</a:t>
            </a:r>
            <a:r>
              <a:rPr lang="en-US" altLang="zh-CN" sz="2400" dirty="0"/>
              <a:t>cdept)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sc(sno, cno, grade)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、简单查询：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例① 查指定列：</a:t>
            </a:r>
            <a:r>
              <a:rPr lang="en-US" altLang="zh-CN" sz="2400" dirty="0"/>
              <a:t>select sno, sname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from student;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例② 全部列：</a:t>
            </a:r>
            <a:r>
              <a:rPr lang="en-US" altLang="zh-CN" sz="2400" dirty="0"/>
              <a:t>select </a:t>
            </a:r>
            <a:r>
              <a:rPr lang="en-US" altLang="zh-CN" sz="2400" dirty="0">
                <a:solidFill>
                  <a:srgbClr val="FF0000"/>
                </a:solidFill>
              </a:rPr>
              <a:t>* </a:t>
            </a:r>
            <a:r>
              <a:rPr lang="en-US" altLang="zh-CN" sz="2400" dirty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from student;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例③去掉重复元祖：</a:t>
            </a:r>
            <a:r>
              <a:rPr lang="en-US" altLang="zh-CN" sz="2400" dirty="0"/>
              <a:t>select </a:t>
            </a:r>
            <a:r>
              <a:rPr lang="en-US" altLang="zh-CN" sz="2400" dirty="0">
                <a:solidFill>
                  <a:srgbClr val="FF0000"/>
                </a:solidFill>
              </a:rPr>
              <a:t>distinct</a:t>
            </a:r>
            <a:r>
              <a:rPr lang="en-US" altLang="zh-CN" sz="2400" dirty="0"/>
              <a:t> sno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      from sc;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例④计算结果：</a:t>
            </a:r>
            <a:r>
              <a:rPr lang="en-US" altLang="zh-CN" sz="2400" dirty="0"/>
              <a:t>select sname, </a:t>
            </a:r>
            <a:r>
              <a:rPr lang="en-US" altLang="zh-CN" sz="2400" dirty="0">
                <a:solidFill>
                  <a:srgbClr val="FF0000"/>
                </a:solidFill>
              </a:rPr>
              <a:t>2010-birthyear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    from student 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使用</a:t>
            </a:r>
            <a:r>
              <a:rPr lang="zh-CN" altLang="en-US" sz="2400" dirty="0">
                <a:solidFill>
                  <a:srgbClr val="0000FF"/>
                </a:solidFill>
              </a:rPr>
              <a:t>别名</a:t>
            </a:r>
            <a:r>
              <a:rPr lang="zh-CN" altLang="en-US" sz="2400" dirty="0"/>
              <a:t>：</a:t>
            </a:r>
            <a:r>
              <a:rPr lang="en-US" altLang="zh-CN" sz="2400" dirty="0"/>
              <a:t>2010-birthyear </a:t>
            </a:r>
            <a:r>
              <a:rPr lang="en-US" altLang="zh-CN" sz="2400" dirty="0">
                <a:solidFill>
                  <a:srgbClr val="FF0000"/>
                </a:solidFill>
              </a:rPr>
              <a:t>as sage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select 2010-birthyear as sage </a:t>
            </a:r>
            <a:r>
              <a:rPr lang="en-US" altLang="zh-CN" sz="2400" dirty="0"/>
              <a:t>from student;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41BF8C-B331-437D-853C-321CEFB73014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763588"/>
            <a:ext cx="8713788" cy="1808156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注：别名的使用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>
                <a:latin typeface="Times New Roman" pitchFamily="18" charset="0"/>
              </a:rPr>
              <a:t>“</a:t>
            </a:r>
            <a:r>
              <a:rPr lang="zh-CN" altLang="en-US" sz="2400" dirty="0"/>
              <a:t>属性名 </a:t>
            </a:r>
            <a:r>
              <a:rPr lang="en-US" altLang="zh-CN" sz="2400" dirty="0"/>
              <a:t>as </a:t>
            </a:r>
            <a:r>
              <a:rPr lang="zh-CN" altLang="en-US" sz="2400" dirty="0"/>
              <a:t>别名</a:t>
            </a:r>
            <a:r>
              <a:rPr lang="zh-CN" altLang="en-US" sz="2400" dirty="0">
                <a:latin typeface="Times New Roman" pitchFamily="18" charset="0"/>
              </a:rPr>
              <a:t>”</a:t>
            </a:r>
            <a:r>
              <a:rPr lang="zh-CN" altLang="en-US" sz="2400" dirty="0"/>
              <a:t> ，例如：</a:t>
            </a:r>
            <a:r>
              <a:rPr lang="en-US" altLang="zh-CN" sz="2400" dirty="0"/>
              <a:t>sname as </a:t>
            </a:r>
            <a:r>
              <a:rPr lang="en-US" altLang="zh-CN" sz="2400" dirty="0" err="1"/>
              <a:t>xingming</a:t>
            </a:r>
            <a:r>
              <a:rPr lang="en-US" altLang="zh-CN" sz="2400" dirty="0"/>
              <a:t> 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“</a:t>
            </a:r>
            <a:r>
              <a:rPr lang="zh-CN" altLang="en-US" sz="2400" dirty="0"/>
              <a:t>表达式 </a:t>
            </a:r>
            <a:r>
              <a:rPr lang="en-US" altLang="zh-CN" sz="2400" dirty="0"/>
              <a:t>as </a:t>
            </a:r>
            <a:r>
              <a:rPr lang="zh-CN" altLang="en-US" sz="2400" dirty="0"/>
              <a:t>别名</a:t>
            </a:r>
            <a:r>
              <a:rPr lang="zh-CN" altLang="en-US" sz="2400" dirty="0">
                <a:latin typeface="Times New Roman" pitchFamily="18" charset="0"/>
              </a:rPr>
              <a:t>”</a:t>
            </a:r>
            <a:r>
              <a:rPr lang="zh-CN" altLang="en-US" sz="2400" dirty="0"/>
              <a:t>，例如 </a:t>
            </a:r>
            <a:r>
              <a:rPr lang="en-US" altLang="zh-CN" sz="2400" dirty="0"/>
              <a:t>2010</a:t>
            </a:r>
            <a:r>
              <a:rPr lang="zh-CN" altLang="en-US" sz="2400" dirty="0"/>
              <a:t>－</a:t>
            </a:r>
            <a:r>
              <a:rPr lang="en-US" altLang="zh-CN" sz="2400" dirty="0" err="1"/>
              <a:t>birthyear</a:t>
            </a:r>
            <a:r>
              <a:rPr lang="en-US" altLang="zh-CN" sz="2400" dirty="0"/>
              <a:t> as sage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“</a:t>
            </a:r>
            <a:r>
              <a:rPr lang="zh-CN" altLang="en-US" sz="2400" dirty="0"/>
              <a:t>表名 别名 </a:t>
            </a:r>
            <a:r>
              <a:rPr lang="zh-CN" altLang="en-US" sz="2400" dirty="0">
                <a:latin typeface="Times New Roman" pitchFamily="18" charset="0"/>
              </a:rPr>
              <a:t>”</a:t>
            </a:r>
            <a:r>
              <a:rPr lang="zh-CN" altLang="en-US" sz="2400" dirty="0"/>
              <a:t>，例如</a:t>
            </a:r>
            <a:r>
              <a:rPr lang="en-US" altLang="zh-CN" sz="2400" dirty="0"/>
              <a:t>dep </a:t>
            </a:r>
            <a:r>
              <a:rPr lang="en-US" altLang="zh-CN" sz="2400" dirty="0">
                <a:solidFill>
                  <a:srgbClr val="FF0000"/>
                </a:solidFill>
              </a:rPr>
              <a:t>depstu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/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323528" y="2708920"/>
            <a:ext cx="14049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Select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324709" y="3170585"/>
            <a:ext cx="86772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From student </a:t>
            </a:r>
            <a:r>
              <a:rPr lang="en-US" altLang="zh-CN" dirty="0">
                <a:solidFill>
                  <a:srgbClr val="0000FF"/>
                </a:solidFill>
              </a:rPr>
              <a:t>t1</a:t>
            </a:r>
            <a:r>
              <a:rPr lang="en-US" altLang="zh-CN" dirty="0"/>
              <a:t>, sc </a:t>
            </a:r>
            <a:r>
              <a:rPr lang="en-US" altLang="zh-CN" dirty="0">
                <a:solidFill>
                  <a:srgbClr val="0000FF"/>
                </a:solidFill>
              </a:rPr>
              <a:t>t2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D90E75-833E-4671-958A-34FE80F73958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324709" y="3649539"/>
            <a:ext cx="19191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Where 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3" name="矩形 2"/>
          <p:cNvSpPr/>
          <p:nvPr/>
        </p:nvSpPr>
        <p:spPr>
          <a:xfrm>
            <a:off x="1512457" y="2726209"/>
            <a:ext cx="5638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t1</a:t>
            </a:r>
            <a:r>
              <a:rPr lang="en-US" altLang="zh-CN" dirty="0"/>
              <a:t>.sno as 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0000FF"/>
                </a:solidFill>
              </a:rPr>
              <a:t>t1</a:t>
            </a:r>
            <a:r>
              <a:rPr lang="en-US" altLang="zh-CN" dirty="0"/>
              <a:t>.sname, </a:t>
            </a:r>
            <a:r>
              <a:rPr lang="en-US" altLang="zh-CN" dirty="0">
                <a:solidFill>
                  <a:srgbClr val="0000FF"/>
                </a:solidFill>
              </a:rPr>
              <a:t>t2</a:t>
            </a:r>
            <a:r>
              <a:rPr lang="en-US" altLang="zh-CN" dirty="0"/>
              <a:t>.sno as 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5292080" y="2071437"/>
            <a:ext cx="1584176" cy="477807"/>
          </a:xfrm>
          <a:prstGeom prst="wedgeRoundRectCallout">
            <a:avLst>
              <a:gd name="adj1" fmla="val -73479"/>
              <a:gd name="adj2" fmla="val -5601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元组变量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804863"/>
            <a:ext cx="8642350" cy="65532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2</a:t>
            </a:r>
            <a:r>
              <a:rPr lang="zh-CN" altLang="en-US" sz="2400" dirty="0"/>
              <a:t>、条件查询（</a:t>
            </a:r>
            <a:r>
              <a:rPr lang="en-US" altLang="zh-CN" sz="2400" dirty="0"/>
              <a:t>where</a:t>
            </a:r>
            <a:r>
              <a:rPr lang="zh-CN" altLang="en-US" sz="2400" dirty="0"/>
              <a:t>）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1</a:t>
            </a:r>
            <a:r>
              <a:rPr lang="zh-CN" altLang="en-US" sz="2400" dirty="0"/>
              <a:t>）比较大小：</a:t>
            </a:r>
            <a:r>
              <a:rPr lang="en-US" altLang="zh-CN" sz="2400" dirty="0"/>
              <a:t>=,&gt;, &lt;, &gt;=, &lt;=,!= (&lt;&gt;), </a:t>
            </a:r>
            <a:r>
              <a:rPr lang="zh-CN" altLang="en-US" sz="2400" dirty="0"/>
              <a:t>前面加</a:t>
            </a:r>
            <a:r>
              <a:rPr lang="en-US" altLang="zh-CN" sz="2400" dirty="0"/>
              <a:t>not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例①查计算机系</a:t>
            </a:r>
            <a:r>
              <a:rPr lang="zh-CN" altLang="en-US" sz="2400" dirty="0">
                <a:solidFill>
                  <a:srgbClr val="0000FF"/>
                </a:solidFill>
              </a:rPr>
              <a:t>学生信息</a:t>
            </a:r>
            <a:r>
              <a:rPr lang="zh-CN" altLang="en-US" sz="2400" dirty="0"/>
              <a:t>：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   </a:t>
            </a:r>
            <a:r>
              <a:rPr lang="en-US" altLang="zh-CN" sz="2400" dirty="0"/>
              <a:t>select  </a:t>
            </a:r>
            <a:r>
              <a:rPr lang="en-US" altLang="zh-CN" sz="2400" dirty="0">
                <a:solidFill>
                  <a:srgbClr val="0000FF"/>
                </a:solidFill>
              </a:rPr>
              <a:t>*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	from student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	where sdept = “</a:t>
            </a:r>
            <a:r>
              <a:rPr lang="zh-CN" altLang="en-US" sz="2400" dirty="0"/>
              <a:t>计算机”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例② 年龄小于</a:t>
            </a:r>
            <a:r>
              <a:rPr lang="en-US" altLang="zh-CN" sz="2400" dirty="0"/>
              <a:t>20</a:t>
            </a:r>
            <a:r>
              <a:rPr lang="zh-CN" altLang="en-US" sz="2400" dirty="0"/>
              <a:t>岁的学生姓名和年龄：	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    </a:t>
            </a:r>
            <a:r>
              <a:rPr lang="en-US" altLang="zh-CN" sz="2400" dirty="0"/>
              <a:t>select sname, sage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	 from student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	 where sage&lt;20; (</a:t>
            </a:r>
            <a:r>
              <a:rPr lang="zh-CN" altLang="en-US" sz="2400" dirty="0"/>
              <a:t>或</a:t>
            </a:r>
            <a:r>
              <a:rPr lang="en-US" altLang="zh-CN" sz="2400" dirty="0"/>
              <a:t>where not sage &gt;=20);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400" dirty="0"/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2</a:t>
            </a:r>
            <a:r>
              <a:rPr lang="zh-CN" altLang="en-US" sz="2400" dirty="0"/>
              <a:t>）范围查询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between … and …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not between … and…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例① 查询</a:t>
            </a:r>
            <a:r>
              <a:rPr lang="en-US" altLang="zh-CN" sz="2400" dirty="0"/>
              <a:t>20~25</a:t>
            </a:r>
            <a:r>
              <a:rPr lang="zh-CN" altLang="en-US" sz="2400" dirty="0"/>
              <a:t>岁间</a:t>
            </a:r>
            <a:r>
              <a:rPr lang="en-US" altLang="zh-CN" sz="2400" dirty="0"/>
              <a:t>(</a:t>
            </a:r>
            <a:r>
              <a:rPr lang="zh-CN" altLang="en-US" sz="2400" dirty="0"/>
              <a:t>包括</a:t>
            </a:r>
            <a:r>
              <a:rPr lang="en-US" altLang="zh-CN" sz="2400" dirty="0"/>
              <a:t>20</a:t>
            </a:r>
            <a:r>
              <a:rPr lang="zh-CN" altLang="en-US" sz="2400" dirty="0"/>
              <a:t>和</a:t>
            </a:r>
            <a:r>
              <a:rPr lang="en-US" altLang="zh-CN" sz="2400" dirty="0"/>
              <a:t>25</a:t>
            </a:r>
            <a:r>
              <a:rPr lang="zh-CN" altLang="en-US" sz="2400" dirty="0"/>
              <a:t>岁</a:t>
            </a:r>
            <a:r>
              <a:rPr lang="en-US" altLang="zh-CN" sz="2400" dirty="0"/>
              <a:t>)</a:t>
            </a:r>
            <a:r>
              <a:rPr lang="zh-CN" altLang="en-US" sz="2400" dirty="0"/>
              <a:t>的学生姓名，年龄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sname, sage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sage between 20 and 25;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3F726-12A5-422B-AEC6-97A3F392AD3A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4" name="圆角矩形标注 3"/>
          <p:cNvSpPr/>
          <p:nvPr/>
        </p:nvSpPr>
        <p:spPr>
          <a:xfrm>
            <a:off x="4071934" y="4286256"/>
            <a:ext cx="1428760" cy="612648"/>
          </a:xfrm>
          <a:prstGeom prst="wedgeRoundRectCallout">
            <a:avLst>
              <a:gd name="adj1" fmla="val -119167"/>
              <a:gd name="adj2" fmla="val 4384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闭区间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8089900" y="4719516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744538"/>
            <a:ext cx="8642350" cy="5113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例②  查年龄不在</a:t>
            </a:r>
            <a:r>
              <a:rPr lang="en-US" altLang="zh-CN" sz="2400" dirty="0"/>
              <a:t>20~25</a:t>
            </a:r>
            <a:r>
              <a:rPr lang="zh-CN" altLang="en-US" sz="2400" dirty="0"/>
              <a:t>间的学生姓名，年龄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sname, sage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sage </a:t>
            </a:r>
            <a:r>
              <a:rPr lang="en-US" altLang="zh-CN" sz="2400" dirty="0">
                <a:solidFill>
                  <a:srgbClr val="FF0000"/>
                </a:solidFill>
              </a:rPr>
              <a:t>not</a:t>
            </a:r>
            <a:r>
              <a:rPr lang="en-US" altLang="zh-CN" sz="2400" dirty="0"/>
              <a:t> between 20 and 25;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）集合查询（</a:t>
            </a:r>
            <a:r>
              <a:rPr lang="en-US" altLang="zh-CN" sz="2400" dirty="0"/>
              <a:t>IN</a:t>
            </a:r>
            <a:r>
              <a:rPr lang="zh-CN" altLang="en-US" sz="2400" dirty="0"/>
              <a:t>查询）（查某属性值属于指定集合的元组）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例：查计算机、管理、控制系的学生姓名与单位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sname, sdept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sdept in (“</a:t>
            </a:r>
            <a:r>
              <a:rPr lang="zh-CN" altLang="en-US" sz="2400" dirty="0"/>
              <a:t>计算机”，“管理”，“控制</a:t>
            </a:r>
            <a:r>
              <a:rPr lang="en-US" altLang="zh-CN" sz="2400" dirty="0"/>
              <a:t>");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A6DF58-AFDB-4E7C-9511-8AC4EEA87EEA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666750"/>
            <a:ext cx="8497888" cy="5905522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4</a:t>
            </a:r>
            <a:r>
              <a:rPr lang="zh-CN" altLang="en-US" sz="2400" dirty="0"/>
              <a:t>）匹配查询（采用</a:t>
            </a:r>
            <a:r>
              <a:rPr lang="en-US" altLang="zh-CN" sz="2400" dirty="0"/>
              <a:t>like</a:t>
            </a:r>
            <a:r>
              <a:rPr lang="zh-CN" altLang="en-US" sz="2400" dirty="0"/>
              <a:t>来进行匹配查询，一般要使用通配符）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例①查询学号为“</a:t>
            </a:r>
            <a:r>
              <a:rPr lang="en-US" altLang="zh-CN" sz="2400" dirty="0"/>
              <a:t>96001”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学生的情况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</a:t>
            </a:r>
            <a:r>
              <a:rPr lang="en-US" altLang="zh-CN" sz="2400" dirty="0">
                <a:solidFill>
                  <a:srgbClr val="0000FF"/>
                </a:solidFill>
              </a:rPr>
              <a:t>*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sno like '96001';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400" dirty="0"/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例② 查所有姓刘的学生的情况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*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sname like ‘</a:t>
            </a:r>
            <a:r>
              <a:rPr lang="zh-CN" altLang="en-US" sz="2400" dirty="0"/>
              <a:t>刘</a:t>
            </a:r>
            <a:r>
              <a:rPr lang="en-US" altLang="zh-CN" sz="2400" dirty="0">
                <a:solidFill>
                  <a:srgbClr val="FF0000"/>
                </a:solidFill>
              </a:rPr>
              <a:t>%</a:t>
            </a:r>
            <a:r>
              <a:rPr lang="en-US" altLang="zh-CN" sz="2400" dirty="0"/>
              <a:t>’</a:t>
            </a:r>
            <a:r>
              <a:rPr lang="zh-CN" altLang="en-US" sz="2400" dirty="0"/>
              <a:t>；（</a:t>
            </a:r>
            <a:r>
              <a:rPr lang="zh-CN" altLang="en-US" sz="2400" dirty="0">
                <a:solidFill>
                  <a:srgbClr val="FF0000"/>
                </a:solidFill>
              </a:rPr>
              <a:t>使用了通配符，代表任意长度字符串匹配</a:t>
            </a:r>
            <a:r>
              <a:rPr lang="zh-CN" altLang="en-US" sz="2400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1B8BBB-1EB1-4B6E-AAF9-0DA02BCC0634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4" name="圆角矩形标注 3"/>
          <p:cNvSpPr/>
          <p:nvPr/>
        </p:nvSpPr>
        <p:spPr>
          <a:xfrm>
            <a:off x="4500562" y="2000240"/>
            <a:ext cx="3357586" cy="1184152"/>
          </a:xfrm>
          <a:prstGeom prst="wedgeRoundRectCallout">
            <a:avLst>
              <a:gd name="adj1" fmla="val -62528"/>
              <a:gd name="adj2" fmla="val 52780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此处没有使用通配符，相当于“等于”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20700"/>
            <a:ext cx="8642350" cy="64087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例③ 查姓刘且全名包含</a:t>
            </a:r>
            <a:r>
              <a:rPr lang="en-US" altLang="zh-CN" sz="2400" dirty="0"/>
              <a:t>3</a:t>
            </a:r>
            <a:r>
              <a:rPr lang="zh-CN" altLang="en-US" sz="2400" dirty="0"/>
              <a:t>个汉字的学生情况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*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sname like '</a:t>
            </a:r>
            <a:r>
              <a:rPr lang="zh-CN" altLang="en-US" sz="2400" dirty="0"/>
              <a:t>刘</a:t>
            </a:r>
            <a:r>
              <a:rPr lang="en-US" altLang="zh-CN" sz="2400" dirty="0"/>
              <a:t>_ _ _ _'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（一个下划线可和任何半个字符匹配，一个汉字占</a:t>
            </a:r>
            <a:r>
              <a:rPr lang="en-US" altLang="zh-CN" sz="2400" dirty="0"/>
              <a:t>2</a:t>
            </a:r>
            <a:r>
              <a:rPr lang="zh-CN" altLang="en-US" sz="2400" dirty="0"/>
              <a:t>个字符）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例④ 查名称中第二个字为</a:t>
            </a:r>
            <a:r>
              <a:rPr lang="zh-CN" altLang="en-US" sz="2400" dirty="0">
                <a:latin typeface="Times New Roman" pitchFamily="18" charset="0"/>
              </a:rPr>
              <a:t>“若”</a:t>
            </a:r>
            <a:r>
              <a:rPr lang="zh-CN" altLang="en-US" sz="2400" dirty="0"/>
              <a:t>的学生情况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*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sname like ‘_ _ </a:t>
            </a:r>
            <a:r>
              <a:rPr lang="zh-CN" altLang="en-US" sz="2400" dirty="0"/>
              <a:t>若</a:t>
            </a:r>
            <a:r>
              <a:rPr lang="en-US" altLang="zh-CN" sz="2400" dirty="0"/>
              <a:t>%'</a:t>
            </a:r>
            <a:r>
              <a:rPr lang="zh-CN" altLang="en-US" sz="2400" dirty="0"/>
              <a:t>；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42EBB5-C691-4E29-93AE-1484046AB600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593725"/>
            <a:ext cx="8110538" cy="61214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例⑤ 查所有不姓刘的学生情况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*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sname </a:t>
            </a:r>
            <a:r>
              <a:rPr lang="en-US" altLang="zh-CN" sz="2400" dirty="0">
                <a:solidFill>
                  <a:srgbClr val="FF0000"/>
                </a:solidFill>
              </a:rPr>
              <a:t>not like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刘</a:t>
            </a:r>
            <a:r>
              <a:rPr lang="en-US" altLang="zh-CN" sz="2400" dirty="0"/>
              <a:t>%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转义字符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>
                <a:solidFill>
                  <a:srgbClr val="FF0000"/>
                </a:solidFill>
              </a:rPr>
              <a:t>使通配符</a:t>
            </a: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%</a:t>
            </a:r>
            <a:r>
              <a:rPr lang="zh-CN" altLang="en-US" sz="2400" dirty="0">
                <a:solidFill>
                  <a:srgbClr val="FF0000"/>
                </a:solidFill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</a:rPr>
              <a:t>_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</a:rPr>
              <a:t>不再表示通配含义，而是表示普通的字符，例如：</a:t>
            </a:r>
            <a:r>
              <a:rPr lang="en-US" altLang="zh-CN" sz="2400" dirty="0"/>
              <a:t>escape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\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，</a:t>
            </a:r>
            <a:r>
              <a:rPr lang="en-US" altLang="zh-CN" sz="2400" dirty="0"/>
              <a:t>escape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/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。。。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  <a:r>
              <a:rPr lang="zh-CN" altLang="en-US" sz="2400" dirty="0"/>
              <a:t> </a:t>
            </a:r>
            <a:r>
              <a:rPr lang="en-US" altLang="zh-CN" sz="2400" dirty="0"/>
              <a:t>select cno, ccredit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 course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cname like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DB\_Design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 escape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\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A9FCC9-799D-43C5-B21B-C258D9B4E285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584792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⑦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/>
              <a:t>select cno, ccredit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/>
              <a:t>from  course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/>
              <a:t>where cname like </a:t>
            </a:r>
            <a:r>
              <a:rPr lang="en-US" altLang="zh-CN" sz="2800" dirty="0">
                <a:latin typeface="Times New Roman" pitchFamily="18" charset="0"/>
              </a:rPr>
              <a:t>‘</a:t>
            </a:r>
            <a:r>
              <a:rPr lang="en-US" altLang="zh-CN" sz="2800" dirty="0"/>
              <a:t>DB</a:t>
            </a:r>
            <a:r>
              <a:rPr lang="en-US" altLang="zh-CN" sz="2800" dirty="0">
                <a:solidFill>
                  <a:srgbClr val="FF0000"/>
                </a:solidFill>
              </a:rPr>
              <a:t>\_</a:t>
            </a:r>
            <a:r>
              <a:rPr lang="en-US" altLang="zh-CN" sz="2800" dirty="0"/>
              <a:t>Design</a:t>
            </a:r>
            <a:r>
              <a:rPr lang="en-US" altLang="zh-CN" sz="2800" dirty="0">
                <a:solidFill>
                  <a:srgbClr val="FF0000"/>
                </a:solidFill>
              </a:rPr>
              <a:t>_</a:t>
            </a:r>
            <a:r>
              <a:rPr lang="en-US" altLang="zh-CN" sz="2800" dirty="0">
                <a:latin typeface="Times New Roman" pitchFamily="18" charset="0"/>
              </a:rPr>
              <a:t>’</a:t>
            </a:r>
            <a:r>
              <a:rPr lang="en-US" altLang="zh-CN" sz="2800" dirty="0"/>
              <a:t> escape 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‘</a:t>
            </a:r>
            <a:r>
              <a:rPr lang="en-US" altLang="zh-CN" sz="2800" dirty="0">
                <a:solidFill>
                  <a:srgbClr val="FF0000"/>
                </a:solidFill>
              </a:rPr>
              <a:t>\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’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5" name="圆角矩形标注 4"/>
          <p:cNvSpPr/>
          <p:nvPr/>
        </p:nvSpPr>
        <p:spPr>
          <a:xfrm>
            <a:off x="3203848" y="3861048"/>
            <a:ext cx="2448272" cy="612648"/>
          </a:xfrm>
          <a:prstGeom prst="wedgeRoundRectCallout">
            <a:avLst>
              <a:gd name="adj1" fmla="val -38481"/>
              <a:gd name="adj2" fmla="val -11299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转？还是不转？</a:t>
            </a:r>
          </a:p>
        </p:txBody>
      </p:sp>
    </p:spTree>
    <p:extLst>
      <p:ext uri="{BB962C8B-B14F-4D97-AF65-F5344CB8AC3E}">
        <p14:creationId xmlns:p14="http://schemas.microsoft.com/office/powerpoint/2010/main" val="206173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601663"/>
            <a:ext cx="8713788" cy="5113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）空值查询（</a:t>
            </a:r>
            <a:r>
              <a:rPr lang="en-US" altLang="zh-CN" sz="2400" dirty="0"/>
              <a:t>is null, is not null</a:t>
            </a:r>
            <a:r>
              <a:rPr lang="zh-CN" altLang="en-US" sz="2400" dirty="0"/>
              <a:t>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例① 查无成绩的学生的学号及课程号（选课未考试）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sno, cno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grade is null;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附注：空值</a:t>
            </a:r>
            <a:r>
              <a:rPr lang="en-US" altLang="zh-CN" sz="2400" dirty="0"/>
              <a:t>——null</a:t>
            </a:r>
            <a:r>
              <a:rPr lang="zh-CN" altLang="en-US" sz="2400" dirty="0"/>
              <a:t>，在数据库中是“</a:t>
            </a:r>
            <a:r>
              <a:rPr lang="zh-CN" altLang="en-US" sz="2400" dirty="0">
                <a:solidFill>
                  <a:srgbClr val="0000FF"/>
                </a:solidFill>
              </a:rPr>
              <a:t>未知类型变量</a:t>
            </a:r>
            <a:r>
              <a:rPr lang="zh-CN" altLang="en-US" sz="2400" dirty="0"/>
              <a:t>”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任何对</a:t>
            </a:r>
            <a:r>
              <a:rPr lang="en-US" altLang="zh-CN" sz="2400" dirty="0"/>
              <a:t>null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逻辑比较运算</a:t>
            </a:r>
            <a:r>
              <a:rPr lang="zh-CN" altLang="en-US" sz="2400" dirty="0"/>
              <a:t>，数据库</a:t>
            </a:r>
            <a:r>
              <a:rPr lang="zh-CN" altLang="en-US" sz="2400" dirty="0">
                <a:solidFill>
                  <a:srgbClr val="0000FF"/>
                </a:solidFill>
              </a:rPr>
              <a:t>不做处理</a:t>
            </a:r>
            <a:r>
              <a:rPr lang="zh-CN" altLang="en-US" sz="2400" dirty="0"/>
              <a:t>。</a:t>
            </a:r>
          </a:p>
        </p:txBody>
      </p:sp>
      <p:sp>
        <p:nvSpPr>
          <p:cNvPr id="52227" name="AutoShape 1028"/>
          <p:cNvSpPr>
            <a:spLocks noChangeArrowheads="1"/>
          </p:cNvSpPr>
          <p:nvPr/>
        </p:nvSpPr>
        <p:spPr bwMode="auto">
          <a:xfrm>
            <a:off x="8243888" y="4491038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9E070-1B88-424F-A767-5617C10B1C8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" name="圆角矩形标注 4"/>
          <p:cNvSpPr/>
          <p:nvPr/>
        </p:nvSpPr>
        <p:spPr>
          <a:xfrm>
            <a:off x="6786578" y="5500702"/>
            <a:ext cx="1928826" cy="571504"/>
          </a:xfrm>
          <a:prstGeom prst="wedgeRoundRectCallout">
            <a:avLst>
              <a:gd name="adj1" fmla="val -59845"/>
              <a:gd name="adj2" fmla="val -8005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跳过该记录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663575"/>
            <a:ext cx="8569325" cy="578976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例② 查全部有成绩的学生学号及课程号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sno, cno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grade is not null;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6</a:t>
            </a:r>
            <a:r>
              <a:rPr lang="zh-CN" altLang="en-US" sz="2400" dirty="0"/>
              <a:t>）复合（条件）查询（</a:t>
            </a:r>
            <a:r>
              <a:rPr lang="en-US" altLang="zh-CN" sz="2400" dirty="0"/>
              <a:t>AND, OR, &lt;, =, &gt;, =, &gt;=, &lt;=, </a:t>
            </a:r>
            <a:r>
              <a:rPr lang="en-US" altLang="zh-CN" sz="2400" dirty="0">
                <a:sym typeface="Symbol" pitchFamily="18" charset="2"/>
              </a:rPr>
              <a:t></a:t>
            </a:r>
            <a:r>
              <a:rPr lang="zh-CN" altLang="en-US" sz="2400" dirty="0"/>
              <a:t>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sno, sname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ssex = '</a:t>
            </a:r>
            <a:r>
              <a:rPr lang="zh-CN" altLang="en-US" sz="2400" dirty="0"/>
              <a:t>女</a:t>
            </a:r>
            <a:r>
              <a:rPr lang="en-US" altLang="zh-CN" sz="2400" dirty="0"/>
              <a:t>' and sage &gt;25</a:t>
            </a:r>
            <a:r>
              <a:rPr lang="zh-CN" altLang="en-US" sz="2400" dirty="0"/>
              <a:t>；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D2DB7-3A70-471A-9980-4AA40AA53167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593725"/>
            <a:ext cx="8569325" cy="6264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例① 查计算机系年龄小于</a:t>
            </a:r>
            <a:r>
              <a:rPr lang="en-US" altLang="zh-CN" sz="2400" dirty="0"/>
              <a:t>20</a:t>
            </a:r>
            <a:r>
              <a:rPr lang="zh-CN" altLang="en-US" sz="2400" dirty="0"/>
              <a:t>岁的学生姓名及年龄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sname, sage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sdept = '</a:t>
            </a:r>
            <a:r>
              <a:rPr lang="zh-CN" altLang="en-US" sz="2400" dirty="0"/>
              <a:t>计算机</a:t>
            </a:r>
            <a:r>
              <a:rPr lang="en-US" altLang="zh-CN" sz="2400" dirty="0"/>
              <a:t>' and sage &lt;20;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例② 查计算机或（和）管理系的学生姓名及年龄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sname, sage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sdept = '</a:t>
            </a:r>
            <a:r>
              <a:rPr lang="zh-CN" altLang="en-US" sz="2400" dirty="0"/>
              <a:t>计算机</a:t>
            </a:r>
            <a:r>
              <a:rPr lang="en-US" altLang="zh-CN" sz="2400" dirty="0"/>
              <a:t>' or sdept = '</a:t>
            </a:r>
            <a:r>
              <a:rPr lang="zh-CN" altLang="en-US" sz="2400" dirty="0"/>
              <a:t>管理</a:t>
            </a:r>
            <a:r>
              <a:rPr lang="en-US" altLang="zh-CN" sz="2400" dirty="0"/>
              <a:t>'</a:t>
            </a:r>
            <a:r>
              <a:rPr lang="zh-CN" altLang="en-US" sz="2400" dirty="0"/>
              <a:t>；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23C876-1A56-462F-B1C1-DE59D41B337F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1027"/>
          <p:cNvSpPr>
            <a:spLocks noGrp="1" noChangeArrowheads="1"/>
          </p:cNvSpPr>
          <p:nvPr>
            <p:ph idx="1"/>
          </p:nvPr>
        </p:nvSpPr>
        <p:spPr>
          <a:xfrm>
            <a:off x="179388" y="548208"/>
            <a:ext cx="8713787" cy="6173267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3</a:t>
            </a:r>
            <a:r>
              <a:rPr lang="zh-CN" altLang="en-US" sz="2400" dirty="0"/>
              <a:t>、排序查询（</a:t>
            </a:r>
            <a:r>
              <a:rPr lang="en-US" altLang="zh-CN" sz="2400" dirty="0"/>
              <a:t>order by …</a:t>
            </a:r>
            <a:r>
              <a:rPr lang="en-US" altLang="zh-CN" sz="2400" dirty="0" err="1"/>
              <a:t>asc</a:t>
            </a:r>
            <a:r>
              <a:rPr lang="zh-CN" altLang="en-US" sz="2400" dirty="0"/>
              <a:t>（升序），</a:t>
            </a:r>
            <a:r>
              <a:rPr lang="en-US" altLang="zh-CN" sz="2400" dirty="0"/>
              <a:t>…</a:t>
            </a:r>
            <a:r>
              <a:rPr lang="en-US" altLang="zh-CN" sz="2400" dirty="0" err="1"/>
              <a:t>desc</a:t>
            </a:r>
            <a:r>
              <a:rPr lang="zh-CN" altLang="en-US" sz="2400" dirty="0"/>
              <a:t>（降序）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400" dirty="0"/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例① 查选修</a:t>
            </a:r>
            <a:r>
              <a:rPr lang="en-US" altLang="zh-CN" sz="2400" dirty="0"/>
              <a:t>3</a:t>
            </a:r>
            <a:r>
              <a:rPr lang="zh-CN" altLang="en-US" sz="2400" dirty="0"/>
              <a:t>号课学生的学号与成绩，结果按</a:t>
            </a:r>
            <a:r>
              <a:rPr lang="en-US" altLang="zh-CN" sz="2400" dirty="0"/>
              <a:t>grade</a:t>
            </a:r>
            <a:r>
              <a:rPr lang="zh-CN" altLang="en-US" sz="2400" dirty="0"/>
              <a:t>降序排列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sno, grade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sc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cno =3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order by grade </a:t>
            </a:r>
            <a:r>
              <a:rPr lang="en-US" altLang="zh-CN" sz="2400" dirty="0" err="1"/>
              <a:t>desc</a:t>
            </a:r>
            <a:r>
              <a:rPr lang="en-US" altLang="zh-CN" sz="2400" dirty="0"/>
              <a:t>;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400" dirty="0"/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例② 查全体学生基本情况，结果按所在系升序排列，</a:t>
            </a:r>
            <a:r>
              <a:rPr lang="zh-CN" altLang="en-US" sz="2400" dirty="0">
                <a:solidFill>
                  <a:srgbClr val="0000FF"/>
                </a:solidFill>
              </a:rPr>
              <a:t>同一系学生按年龄降序排列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*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order by sdept, </a:t>
            </a:r>
            <a:r>
              <a:rPr lang="en-US" altLang="zh-CN" sz="2400" dirty="0">
                <a:solidFill>
                  <a:srgbClr val="0000FF"/>
                </a:solidFill>
              </a:rPr>
              <a:t>sage desc;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DFFF69-6683-42FB-A9CB-315A7657773F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88913"/>
            <a:ext cx="8642350" cy="60483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、集函数查询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集函数：</a:t>
            </a:r>
            <a:r>
              <a:rPr lang="en-US" altLang="zh-CN" sz="2400" dirty="0"/>
              <a:t>count ([distinct | all] *)	</a:t>
            </a:r>
            <a:r>
              <a:rPr lang="zh-CN" altLang="en-US" sz="2400" dirty="0"/>
              <a:t>统计元组数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count ([distinct | all]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 )	</a:t>
            </a:r>
            <a:r>
              <a:rPr lang="zh-CN" altLang="en-US" sz="2400" dirty="0"/>
              <a:t>统计一列中值的个数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sum ([distinct | all]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&gt;)	</a:t>
            </a:r>
            <a:r>
              <a:rPr lang="zh-CN" altLang="en-US" sz="2400" dirty="0"/>
              <a:t>数值字段求和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avg ([distinct | all]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&gt;)	</a:t>
            </a:r>
            <a:r>
              <a:rPr lang="zh-CN" altLang="en-US" sz="2400" dirty="0"/>
              <a:t>列平均值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max ([distinct | all]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&gt;)	</a:t>
            </a:r>
            <a:r>
              <a:rPr lang="zh-CN" altLang="en-US" sz="2400" dirty="0"/>
              <a:t>列取最大值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min ([distinct | all]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&gt;)	</a:t>
            </a:r>
            <a:r>
              <a:rPr lang="zh-CN" altLang="en-US" sz="2400" dirty="0"/>
              <a:t>列取最小值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例① 查学生总人数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select count (*)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例② 查选修了课程的学生总人数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select count (distinct sno)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from sc; (</a:t>
            </a:r>
            <a:r>
              <a:rPr lang="zh-CN" altLang="en-US" sz="2400" dirty="0"/>
              <a:t>一学生选多门课，只统计一个</a:t>
            </a:r>
            <a:r>
              <a:rPr lang="en-US" altLang="zh-CN" sz="2400" dirty="0"/>
              <a:t>) </a:t>
            </a:r>
          </a:p>
        </p:txBody>
      </p:sp>
      <p:sp>
        <p:nvSpPr>
          <p:cNvPr id="56323" name="AutoShape 4"/>
          <p:cNvSpPr>
            <a:spLocks noChangeArrowheads="1"/>
          </p:cNvSpPr>
          <p:nvPr/>
        </p:nvSpPr>
        <p:spPr bwMode="auto">
          <a:xfrm>
            <a:off x="8388350" y="5805488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250825" y="6165850"/>
            <a:ext cx="698500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注：集函数的参数为列名的，遇到取空值的元组？</a:t>
            </a:r>
          </a:p>
        </p:txBody>
      </p:sp>
      <p:sp>
        <p:nvSpPr>
          <p:cNvPr id="159750" name="Rectangle 6"/>
          <p:cNvSpPr>
            <a:spLocks noChangeArrowheads="1"/>
          </p:cNvSpPr>
          <p:nvPr/>
        </p:nvSpPr>
        <p:spPr bwMode="auto">
          <a:xfrm>
            <a:off x="6877050" y="6129338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跳过该元组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B300B7-ACF1-4543-A4E6-5D3FE3FD74B1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9" grpId="0"/>
      <p:bldP spid="15975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520700"/>
            <a:ext cx="8713788" cy="64087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、分组查询（查询结果按一或多列值分组）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1 </a:t>
            </a:r>
            <a:r>
              <a:rPr lang="zh-CN" altLang="en-US" sz="2400" dirty="0"/>
              <a:t>查各个课程号与相应选课人数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cno, count (sno)   </a:t>
            </a:r>
            <a:r>
              <a:rPr lang="en-US" altLang="zh-CN" sz="2400" dirty="0">
                <a:solidFill>
                  <a:srgbClr val="0000FF"/>
                </a:solidFill>
              </a:rPr>
              <a:t>//count(1)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group by cno;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2 </a:t>
            </a:r>
            <a:r>
              <a:rPr lang="zh-CN" altLang="en-US" sz="2400" dirty="0"/>
              <a:t>查每个人的成绩总和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sno, sum (grade)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group by sno;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75ED5A-0879-4E98-884F-B60DDD3F3431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95325"/>
            <a:ext cx="8642350" cy="7921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3 </a:t>
            </a:r>
            <a:r>
              <a:rPr lang="zh-CN" altLang="en-US" sz="2400" dirty="0"/>
              <a:t>查询学号以“</a:t>
            </a:r>
            <a:r>
              <a:rPr lang="en-US" altLang="zh-CN" sz="2400" dirty="0"/>
              <a:t>96”</a:t>
            </a:r>
            <a:r>
              <a:rPr lang="zh-CN" altLang="en-US" sz="2400" dirty="0"/>
              <a:t>开头的每个学生的平均成绩，并将结果按照平均成绩的降序排列。</a:t>
            </a:r>
          </a:p>
        </p:txBody>
      </p:sp>
      <p:sp>
        <p:nvSpPr>
          <p:cNvPr id="215044" name="Rectangle 4"/>
          <p:cNvSpPr>
            <a:spLocks noChangeArrowheads="1"/>
          </p:cNvSpPr>
          <p:nvPr/>
        </p:nvSpPr>
        <p:spPr bwMode="auto">
          <a:xfrm>
            <a:off x="250825" y="1487488"/>
            <a:ext cx="864235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sno, avg(grade)</a:t>
            </a:r>
          </a:p>
          <a:p>
            <a:r>
              <a:rPr lang="en-US" altLang="zh-CN" dirty="0"/>
              <a:t>from sc</a:t>
            </a:r>
          </a:p>
          <a:p>
            <a:endParaRPr lang="en-US" altLang="zh-CN" dirty="0"/>
          </a:p>
          <a:p>
            <a:r>
              <a:rPr lang="en-US" altLang="zh-CN" dirty="0"/>
              <a:t>group by sno</a:t>
            </a:r>
          </a:p>
          <a:p>
            <a:r>
              <a:rPr lang="en-US" altLang="zh-CN" dirty="0"/>
              <a:t>order by avg(grade) desc;</a:t>
            </a:r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250825" y="3575050"/>
            <a:ext cx="85693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例</a:t>
            </a:r>
            <a:r>
              <a:rPr lang="en-US" altLang="zh-CN"/>
              <a:t>4 </a:t>
            </a:r>
            <a:r>
              <a:rPr lang="zh-CN" altLang="en-US"/>
              <a:t>查询学号以“</a:t>
            </a:r>
            <a:r>
              <a:rPr lang="en-US" altLang="zh-CN"/>
              <a:t>96”</a:t>
            </a:r>
            <a:r>
              <a:rPr lang="zh-CN" altLang="en-US"/>
              <a:t>开头的每个学生的</a:t>
            </a:r>
            <a:r>
              <a:rPr lang="zh-CN" altLang="en-US">
                <a:solidFill>
                  <a:srgbClr val="0000FF"/>
                </a:solidFill>
              </a:rPr>
              <a:t>选课门数</a:t>
            </a:r>
            <a:r>
              <a:rPr lang="zh-CN" altLang="en-US"/>
              <a:t>，并将结果按照平均成绩的降序排列。</a:t>
            </a:r>
          </a:p>
        </p:txBody>
      </p:sp>
      <p:sp>
        <p:nvSpPr>
          <p:cNvPr id="215046" name="Rectangle 6"/>
          <p:cNvSpPr>
            <a:spLocks noChangeArrowheads="1"/>
          </p:cNvSpPr>
          <p:nvPr/>
        </p:nvSpPr>
        <p:spPr bwMode="auto">
          <a:xfrm>
            <a:off x="250825" y="4511675"/>
            <a:ext cx="84963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sno, </a:t>
            </a:r>
            <a:r>
              <a:rPr lang="en-US" altLang="zh-CN" dirty="0">
                <a:solidFill>
                  <a:srgbClr val="0000FF"/>
                </a:solidFill>
              </a:rPr>
              <a:t>count</a:t>
            </a:r>
            <a:r>
              <a:rPr lang="en-US" altLang="zh-CN" dirty="0"/>
              <a:t>(cno)</a:t>
            </a:r>
          </a:p>
          <a:p>
            <a:r>
              <a:rPr lang="en-US" altLang="zh-CN" dirty="0"/>
              <a:t>from sc</a:t>
            </a:r>
          </a:p>
          <a:p>
            <a:r>
              <a:rPr lang="en-US" altLang="zh-CN" dirty="0"/>
              <a:t>where sno like ’96%’</a:t>
            </a:r>
          </a:p>
          <a:p>
            <a:r>
              <a:rPr lang="en-US" altLang="zh-CN" dirty="0"/>
              <a:t>group by sno</a:t>
            </a:r>
          </a:p>
          <a:p>
            <a:r>
              <a:rPr lang="en-US" altLang="zh-CN" dirty="0"/>
              <a:t>order by </a:t>
            </a:r>
            <a:r>
              <a:rPr lang="en-US" altLang="zh-CN" dirty="0" err="1">
                <a:solidFill>
                  <a:srgbClr val="0000FF"/>
                </a:solidFill>
              </a:rPr>
              <a:t>avg</a:t>
            </a:r>
            <a:r>
              <a:rPr lang="en-US" altLang="zh-CN" dirty="0"/>
              <a:t>(grade) </a:t>
            </a:r>
            <a:r>
              <a:rPr lang="en-US" altLang="zh-CN" dirty="0" err="1"/>
              <a:t>desc</a:t>
            </a:r>
            <a:r>
              <a:rPr lang="en-US" altLang="zh-CN" dirty="0"/>
              <a:t>;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8F361E-DB7D-4B7B-A76A-05FDDFD3A5E6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214282" y="2285992"/>
            <a:ext cx="34213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where</a:t>
            </a:r>
            <a:r>
              <a:rPr lang="en-US" altLang="zh-CN" dirty="0"/>
              <a:t> sno like ’96%’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4" grpId="0"/>
      <p:bldP spid="215046" grpId="0"/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771525"/>
            <a:ext cx="8569325" cy="6477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2400"/>
              <a:t>例</a:t>
            </a:r>
            <a:r>
              <a:rPr lang="en-US" altLang="zh-CN" sz="2400"/>
              <a:t>5 </a:t>
            </a:r>
            <a:r>
              <a:rPr lang="zh-CN" altLang="en-US" sz="2400"/>
              <a:t>查询每个学生的</a:t>
            </a:r>
            <a:r>
              <a:rPr lang="zh-CN" altLang="en-US" sz="2400">
                <a:solidFill>
                  <a:srgbClr val="0000FF"/>
                </a:solidFill>
              </a:rPr>
              <a:t>及格课程的平均成绩</a:t>
            </a:r>
            <a:r>
              <a:rPr lang="zh-CN" altLang="en-US" sz="2400"/>
              <a:t>。</a:t>
            </a:r>
          </a:p>
        </p:txBody>
      </p:sp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395288" y="6329363"/>
            <a:ext cx="8385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问题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  <a:r>
              <a:rPr lang="zh-CN" altLang="en-US">
                <a:solidFill>
                  <a:srgbClr val="FF0000"/>
                </a:solidFill>
              </a:rPr>
              <a:t>查询</a:t>
            </a:r>
            <a:r>
              <a:rPr lang="en-US" altLang="zh-CN">
                <a:solidFill>
                  <a:srgbClr val="FF0000"/>
                </a:solidFill>
              </a:rPr>
              <a:t>96</a:t>
            </a:r>
            <a:r>
              <a:rPr lang="zh-CN" altLang="en-US">
                <a:solidFill>
                  <a:srgbClr val="FF0000"/>
                </a:solidFill>
              </a:rPr>
              <a:t>级的至少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门课及格的每个学生的平均成绩？</a:t>
            </a:r>
          </a:p>
        </p:txBody>
      </p:sp>
      <p:sp>
        <p:nvSpPr>
          <p:cNvPr id="216069" name="Rectangle 5"/>
          <p:cNvSpPr>
            <a:spLocks noChangeArrowheads="1"/>
          </p:cNvSpPr>
          <p:nvPr/>
        </p:nvSpPr>
        <p:spPr bwMode="auto">
          <a:xfrm>
            <a:off x="323850" y="1276350"/>
            <a:ext cx="85693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sno, avg(grade)</a:t>
            </a:r>
          </a:p>
          <a:p>
            <a:r>
              <a:rPr lang="en-US" altLang="zh-CN" dirty="0"/>
              <a:t>from sc</a:t>
            </a:r>
          </a:p>
          <a:p>
            <a:r>
              <a:rPr lang="en-US" altLang="zh-CN" dirty="0"/>
              <a:t>where grade&gt;=60</a:t>
            </a:r>
          </a:p>
          <a:p>
            <a:r>
              <a:rPr lang="en-US" altLang="zh-CN" dirty="0"/>
              <a:t>group by sno;</a:t>
            </a:r>
          </a:p>
        </p:txBody>
      </p:sp>
      <p:sp>
        <p:nvSpPr>
          <p:cNvPr id="59397" name="Rectangle 6"/>
          <p:cNvSpPr>
            <a:spLocks noChangeArrowheads="1"/>
          </p:cNvSpPr>
          <p:nvPr/>
        </p:nvSpPr>
        <p:spPr bwMode="auto">
          <a:xfrm>
            <a:off x="323850" y="3003550"/>
            <a:ext cx="85693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例</a:t>
            </a:r>
            <a:r>
              <a:rPr lang="en-US" altLang="zh-CN"/>
              <a:t>6 </a:t>
            </a:r>
            <a:r>
              <a:rPr lang="zh-CN" altLang="en-US"/>
              <a:t>查询学号以</a:t>
            </a:r>
            <a:r>
              <a:rPr lang="zh-CN" altLang="en-US">
                <a:latin typeface="Times New Roman" pitchFamily="18" charset="0"/>
              </a:rPr>
              <a:t>’</a:t>
            </a:r>
            <a:r>
              <a:rPr lang="en-US" altLang="zh-CN"/>
              <a:t>96</a:t>
            </a:r>
            <a:r>
              <a:rPr lang="en-US" altLang="zh-CN">
                <a:latin typeface="Times New Roman" pitchFamily="18" charset="0"/>
              </a:rPr>
              <a:t>’</a:t>
            </a:r>
            <a:r>
              <a:rPr lang="zh-CN" altLang="en-US"/>
              <a:t>开头且至少选修了</a:t>
            </a:r>
            <a:r>
              <a:rPr lang="en-US" altLang="zh-CN"/>
              <a:t>5</a:t>
            </a:r>
            <a:r>
              <a:rPr lang="zh-CN" altLang="en-US"/>
              <a:t>门课的每个学生的平均成绩。</a:t>
            </a:r>
          </a:p>
        </p:txBody>
      </p:sp>
      <p:sp>
        <p:nvSpPr>
          <p:cNvPr id="216071" name="Rectangle 7"/>
          <p:cNvSpPr>
            <a:spLocks noChangeArrowheads="1"/>
          </p:cNvSpPr>
          <p:nvPr/>
        </p:nvSpPr>
        <p:spPr bwMode="auto">
          <a:xfrm>
            <a:off x="395288" y="3868738"/>
            <a:ext cx="8497887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sno, avg(grade)</a:t>
            </a:r>
          </a:p>
          <a:p>
            <a:r>
              <a:rPr lang="en-US" altLang="zh-CN" dirty="0"/>
              <a:t>from sc</a:t>
            </a:r>
          </a:p>
          <a:p>
            <a:r>
              <a:rPr lang="en-US" altLang="zh-CN" dirty="0"/>
              <a:t>where sno like </a:t>
            </a:r>
            <a:r>
              <a:rPr lang="en-US" altLang="zh-CN" dirty="0">
                <a:latin typeface="Times New Roman" pitchFamily="18" charset="0"/>
              </a:rPr>
              <a:t>’</a:t>
            </a:r>
            <a:r>
              <a:rPr lang="en-US" altLang="zh-CN" dirty="0"/>
              <a:t>96%</a:t>
            </a:r>
            <a:r>
              <a:rPr lang="en-US" altLang="zh-CN" dirty="0">
                <a:latin typeface="Times New Roman" pitchFamily="18" charset="0"/>
              </a:rPr>
              <a:t>’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group by sno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having</a:t>
            </a:r>
            <a:r>
              <a:rPr lang="en-US" altLang="zh-CN" dirty="0"/>
              <a:t> count(cno)&gt;=5;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7BDB62-F46C-426D-9C66-26034D0120A0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/>
      <p:bldP spid="216069" grpId="0"/>
      <p:bldP spid="21607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735013"/>
            <a:ext cx="8642350" cy="4051309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查询</a:t>
            </a:r>
            <a:r>
              <a:rPr lang="en-US" altLang="zh-CN" sz="2400" dirty="0">
                <a:solidFill>
                  <a:srgbClr val="FF0000"/>
                </a:solidFill>
              </a:rPr>
              <a:t>96</a:t>
            </a:r>
            <a:r>
              <a:rPr lang="zh-CN" altLang="en-US" sz="2400" dirty="0">
                <a:solidFill>
                  <a:srgbClr val="FF0000"/>
                </a:solidFill>
              </a:rPr>
              <a:t>级的至少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>
                <a:solidFill>
                  <a:srgbClr val="FF0000"/>
                </a:solidFill>
              </a:rPr>
              <a:t>门课及格的每个学生的平均成绩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select sno, avg(grade)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from sc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where sno like 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’</a:t>
            </a:r>
            <a:r>
              <a:rPr lang="en-US" altLang="zh-CN" sz="2400" dirty="0">
                <a:solidFill>
                  <a:srgbClr val="FF0000"/>
                </a:solidFill>
              </a:rPr>
              <a:t>96%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’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group by sno;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F9D44C-6E12-4D28-BA34-BB1741219509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71604" y="4929198"/>
          <a:ext cx="6096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sno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avg</a:t>
                      </a:r>
                      <a:r>
                        <a:rPr lang="en-US" altLang="zh-CN" sz="2800" dirty="0"/>
                        <a:t>(grade)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001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70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002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14282" y="2859472"/>
            <a:ext cx="85011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select sno from sc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 Where grade&gt;=60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 group by sno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 having count(cno)&gt;=5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4282" y="2500306"/>
            <a:ext cx="4799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and  sno in (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    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776288"/>
            <a:ext cx="8713788" cy="5762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/>
              <a:t>例</a:t>
            </a:r>
            <a:r>
              <a:rPr lang="en-US" altLang="zh-CN" sz="2400"/>
              <a:t>7 </a:t>
            </a:r>
            <a:r>
              <a:rPr lang="zh-CN" altLang="en-US" sz="2400"/>
              <a:t>查询没有不及格课程的每个学生的平均成绩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323850" y="1352550"/>
            <a:ext cx="85693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1)select sno, avg(grade)</a:t>
            </a:r>
          </a:p>
          <a:p>
            <a:r>
              <a:rPr lang="en-US" altLang="zh-CN" dirty="0"/>
              <a:t>   from sc</a:t>
            </a:r>
          </a:p>
          <a:p>
            <a:r>
              <a:rPr lang="en-US" altLang="zh-CN" dirty="0"/>
              <a:t>   group by sno</a:t>
            </a:r>
          </a:p>
          <a:p>
            <a:r>
              <a:rPr lang="en-US" altLang="zh-CN" dirty="0"/>
              <a:t>   having min(grade)&gt;=60;</a:t>
            </a:r>
          </a:p>
        </p:txBody>
      </p:sp>
      <p:sp>
        <p:nvSpPr>
          <p:cNvPr id="219141" name="Rectangle 5"/>
          <p:cNvSpPr>
            <a:spLocks noChangeArrowheads="1"/>
          </p:cNvSpPr>
          <p:nvPr/>
        </p:nvSpPr>
        <p:spPr bwMode="auto">
          <a:xfrm>
            <a:off x="323850" y="3297238"/>
            <a:ext cx="85693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2)select sno, avg(grade)</a:t>
            </a:r>
          </a:p>
          <a:p>
            <a:r>
              <a:rPr lang="en-US" altLang="zh-CN" dirty="0"/>
              <a:t>   from sc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group by sno;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B5756-8098-43A8-9D30-7E0BCFB5E3D8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642942" y="4014621"/>
            <a:ext cx="65008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where sno not in (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     select sno from sc where grade&lt;60)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/>
      <p:bldP spid="219141" grpId="0"/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7660" y="208007"/>
            <a:ext cx="8679338" cy="704866"/>
          </a:xfrm>
        </p:spPr>
        <p:txBody>
          <a:bodyPr/>
          <a:lstStyle/>
          <a:p>
            <a:r>
              <a:rPr lang="en-US" altLang="zh-CN" sz="4000" dirty="0"/>
              <a:t>Where</a:t>
            </a:r>
            <a:r>
              <a:rPr lang="zh-CN" altLang="en-US" sz="4000" dirty="0"/>
              <a:t>、</a:t>
            </a:r>
            <a:r>
              <a:rPr lang="en-US" altLang="zh-CN" sz="4000" dirty="0"/>
              <a:t>having</a:t>
            </a:r>
            <a:r>
              <a:rPr lang="zh-CN" altLang="en-US" sz="4000" dirty="0"/>
              <a:t>两种方法的区别？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9218" name="Picture 2" descr="https://img1.baidu.com/it/u=3896568126,3186740721&amp;fm=253&amp;fmt=auto&amp;app=120&amp;f=JPEG?w=614&amp;h=500">
            <a:extLst>
              <a:ext uri="{FF2B5EF4-FFF2-40B4-BE49-F238E27FC236}">
                <a16:creationId xmlns:a16="http://schemas.microsoft.com/office/drawing/2014/main" id="{54999966-B829-4A53-9E56-E3DC2323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62" y="2527893"/>
            <a:ext cx="1329858" cy="108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ACB03B-E29F-4AB4-A74C-F67D53579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60" y="4030526"/>
            <a:ext cx="1584176" cy="11881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170E84A-A350-4B77-809A-DE355F13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88" y="5333401"/>
            <a:ext cx="1391816" cy="12026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E99D91-8EF7-4BF3-871A-8EFD33C44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791" y="1162263"/>
            <a:ext cx="1493566" cy="10829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0CF7FD-103A-4831-9F38-9D2975CD3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640" y="3140968"/>
            <a:ext cx="1181871" cy="8895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3F1F10-1B90-4C7C-A04F-152BCF862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5491" y="4388016"/>
            <a:ext cx="1391816" cy="11445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35EB32-043D-43BB-9FE8-6E305AF6D9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0600" y="5045081"/>
            <a:ext cx="1019176" cy="935024"/>
          </a:xfrm>
          <a:prstGeom prst="rect">
            <a:avLst/>
          </a:prstGeom>
        </p:spPr>
      </p:pic>
      <p:pic>
        <p:nvPicPr>
          <p:cNvPr id="16" name="Picture 2" descr="https://img1.baidu.com/it/u=3896568126,3186740721&amp;fm=253&amp;fmt=auto&amp;app=120&amp;f=JPEG?w=614&amp;h=500">
            <a:extLst>
              <a:ext uri="{FF2B5EF4-FFF2-40B4-BE49-F238E27FC236}">
                <a16:creationId xmlns:a16="http://schemas.microsoft.com/office/drawing/2014/main" id="{6D3FD862-F68E-4993-B85E-03003ED69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79" y="4680870"/>
            <a:ext cx="1329858" cy="108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A29464D-4E78-449B-97F5-2C5608EFBD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042046"/>
            <a:ext cx="1584176" cy="11881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198615-3A8F-4D6C-B862-ADC890FCC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300" y="4075992"/>
            <a:ext cx="1391816" cy="12026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D70318-0358-411C-83E6-8BED813FD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733" y="2770622"/>
            <a:ext cx="1493566" cy="10829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820B8D-F9D2-46D3-BFAB-B53E8D4C7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700" y="2462391"/>
            <a:ext cx="1181871" cy="88955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4336CA7-9C11-4453-8119-74A1854C0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9299" y="1127279"/>
            <a:ext cx="1391816" cy="114458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27954AC-DBB7-4058-8DA3-833C5183EF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1345" y="2923348"/>
            <a:ext cx="1019176" cy="93502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229600" cy="704866"/>
          </a:xfrm>
        </p:spPr>
        <p:txBody>
          <a:bodyPr/>
          <a:lstStyle/>
          <a:p>
            <a:r>
              <a:rPr lang="en-US" altLang="zh-CN" sz="4000" dirty="0">
                <a:solidFill>
                  <a:srgbClr val="04617B"/>
                </a:solidFill>
              </a:rPr>
              <a:t>having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  <p:pic>
        <p:nvPicPr>
          <p:cNvPr id="9218" name="Picture 2" descr="https://img1.baidu.com/it/u=3896568126,3186740721&amp;fm=253&amp;fmt=auto&amp;app=120&amp;f=JPEG?w=614&amp;h=500">
            <a:extLst>
              <a:ext uri="{FF2B5EF4-FFF2-40B4-BE49-F238E27FC236}">
                <a16:creationId xmlns:a16="http://schemas.microsoft.com/office/drawing/2014/main" id="{54999966-B829-4A53-9E56-E3DC2323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817" y="1413052"/>
            <a:ext cx="1329858" cy="108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ACB03B-E29F-4AB4-A74C-F67D53579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04" y="2672916"/>
            <a:ext cx="1584176" cy="11881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170E84A-A350-4B77-809A-DE355F13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16" y="1227860"/>
            <a:ext cx="1391816" cy="12026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E99D91-8EF7-4BF3-871A-8EFD33C44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79" y="1343215"/>
            <a:ext cx="1493566" cy="10829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0CF7FD-103A-4831-9F38-9D2975CD3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791" y="4724559"/>
            <a:ext cx="1084523" cy="8162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3F1F10-1B90-4C7C-A04F-152BCF862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28" y="4489548"/>
            <a:ext cx="1292384" cy="10628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35EB32-043D-43BB-9FE8-6E305AF6D9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2158" y="4724560"/>
            <a:ext cx="967794" cy="887885"/>
          </a:xfrm>
          <a:prstGeom prst="rect">
            <a:avLst/>
          </a:prstGeom>
        </p:spPr>
      </p:pic>
      <p:pic>
        <p:nvPicPr>
          <p:cNvPr id="16" name="Picture 2" descr="https://img1.baidu.com/it/u=3896568126,3186740721&amp;fm=253&amp;fmt=auto&amp;app=120&amp;f=JPEG?w=614&amp;h=500">
            <a:extLst>
              <a:ext uri="{FF2B5EF4-FFF2-40B4-BE49-F238E27FC236}">
                <a16:creationId xmlns:a16="http://schemas.microsoft.com/office/drawing/2014/main" id="{6D3FD862-F68E-4993-B85E-03003ED69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721" y="2739261"/>
            <a:ext cx="1329858" cy="108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A29464D-4E78-449B-97F5-2C5608EFBD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375749"/>
            <a:ext cx="1584176" cy="11881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198615-3A8F-4D6C-B862-ADC890FCC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16" y="2619592"/>
            <a:ext cx="1391816" cy="12026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D70318-0358-411C-83E6-8BED813FD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75" y="2765538"/>
            <a:ext cx="1493566" cy="10829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820B8D-F9D2-46D3-BFAB-B53E8D4C7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3790" y="5821629"/>
            <a:ext cx="1084524" cy="81628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4336CA7-9C11-4453-8119-74A1854C0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28" y="5748357"/>
            <a:ext cx="1264402" cy="103980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27954AC-DBB7-4058-8DA3-833C5183EF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2158" y="5841402"/>
            <a:ext cx="917757" cy="841979"/>
          </a:xfrm>
          <a:prstGeom prst="rect">
            <a:avLst/>
          </a:prstGeom>
        </p:spPr>
      </p:pic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D1D8393-AD80-4418-BFCA-DA988F956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214423"/>
            <a:ext cx="1172509" cy="4249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D429299-D414-4BDA-A1B5-285D97040310}"/>
              </a:ext>
            </a:extLst>
          </p:cNvPr>
          <p:cNvGrpSpPr/>
          <p:nvPr/>
        </p:nvGrpSpPr>
        <p:grpSpPr>
          <a:xfrm>
            <a:off x="673131" y="1214423"/>
            <a:ext cx="1880172" cy="3102142"/>
            <a:chOff x="673131" y="1214423"/>
            <a:chExt cx="2019038" cy="310214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3D7387A-23EE-4232-9E99-B0224DD30A2C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CA42AF83-76E9-4C41-B6EC-AA800BF2C580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D7E296A-1DFA-45F3-AD32-878B217C124D}"/>
              </a:ext>
            </a:extLst>
          </p:cNvPr>
          <p:cNvGrpSpPr/>
          <p:nvPr/>
        </p:nvGrpSpPr>
        <p:grpSpPr>
          <a:xfrm>
            <a:off x="2815993" y="1214423"/>
            <a:ext cx="1855330" cy="3102142"/>
            <a:chOff x="673131" y="1214423"/>
            <a:chExt cx="2019038" cy="310214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BEA43BF-E78F-43B7-9DF7-11F137A1D221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2980FB36-3C6C-4125-ACEC-6A4F00C92362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6B594A1-6C81-4A44-9509-D32F1E2CBFA6}"/>
              </a:ext>
            </a:extLst>
          </p:cNvPr>
          <p:cNvGrpSpPr/>
          <p:nvPr/>
        </p:nvGrpSpPr>
        <p:grpSpPr>
          <a:xfrm>
            <a:off x="4817517" y="1223575"/>
            <a:ext cx="1855330" cy="3102142"/>
            <a:chOff x="673131" y="1214423"/>
            <a:chExt cx="2019038" cy="310214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96099BA-E7C8-42B4-9B84-137ADD13B595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A250AC15-0B32-4A07-8827-97DC3F3861AE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8585284-396B-491D-A4B5-2189F56FDC4D}"/>
              </a:ext>
            </a:extLst>
          </p:cNvPr>
          <p:cNvGrpSpPr/>
          <p:nvPr/>
        </p:nvGrpSpPr>
        <p:grpSpPr>
          <a:xfrm>
            <a:off x="6867534" y="1228443"/>
            <a:ext cx="1855330" cy="3102142"/>
            <a:chOff x="673131" y="1214423"/>
            <a:chExt cx="2019038" cy="3102142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4DDE91E-F44D-4A0C-BDAA-FA505E63E484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3B9A8409-1B61-43FB-8247-DFCB4615F428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FD21DAE-97F1-4D73-9E7A-BF5F67D8D53D}"/>
              </a:ext>
            </a:extLst>
          </p:cNvPr>
          <p:cNvGrpSpPr/>
          <p:nvPr/>
        </p:nvGrpSpPr>
        <p:grpSpPr>
          <a:xfrm>
            <a:off x="539552" y="4489548"/>
            <a:ext cx="1880172" cy="2368452"/>
            <a:chOff x="539552" y="4489548"/>
            <a:chExt cx="1880172" cy="2368452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62E75AA2-5B1A-45A7-ADD4-B3B25C453602}"/>
                </a:ext>
              </a:extLst>
            </p:cNvPr>
            <p:cNvSpPr/>
            <p:nvPr/>
          </p:nvSpPr>
          <p:spPr>
            <a:xfrm>
              <a:off x="539552" y="4489548"/>
              <a:ext cx="1880172" cy="236845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C3B9B05A-ACC3-4DED-9F7D-EFDECAF7A30C}"/>
                </a:ext>
              </a:extLst>
            </p:cNvPr>
            <p:cNvGrpSpPr/>
            <p:nvPr/>
          </p:nvGrpSpPr>
          <p:grpSpPr>
            <a:xfrm>
              <a:off x="1938528" y="6172200"/>
              <a:ext cx="365760" cy="521208"/>
              <a:chOff x="1938528" y="6172200"/>
              <a:chExt cx="365760" cy="521208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AF4E2438-8EBC-4B21-9CB6-00CF99F77E50}"/>
                  </a:ext>
                </a:extLst>
              </p:cNvPr>
              <p:cNvSpPr/>
              <p:nvPr/>
            </p:nvSpPr>
            <p:spPr>
              <a:xfrm>
                <a:off x="1938528" y="6172200"/>
                <a:ext cx="292608" cy="484632"/>
              </a:xfrm>
              <a:custGeom>
                <a:avLst/>
                <a:gdLst>
                  <a:gd name="connsiteX0" fmla="*/ 292608 w 292608"/>
                  <a:gd name="connsiteY0" fmla="*/ 0 h 484632"/>
                  <a:gd name="connsiteX1" fmla="*/ 283464 w 292608"/>
                  <a:gd name="connsiteY1" fmla="*/ 82296 h 484632"/>
                  <a:gd name="connsiteX2" fmla="*/ 265176 w 292608"/>
                  <a:gd name="connsiteY2" fmla="*/ 109728 h 484632"/>
                  <a:gd name="connsiteX3" fmla="*/ 256032 w 292608"/>
                  <a:gd name="connsiteY3" fmla="*/ 137160 h 484632"/>
                  <a:gd name="connsiteX4" fmla="*/ 219456 w 292608"/>
                  <a:gd name="connsiteY4" fmla="*/ 201168 h 484632"/>
                  <a:gd name="connsiteX5" fmla="*/ 182880 w 292608"/>
                  <a:gd name="connsiteY5" fmla="*/ 265176 h 484632"/>
                  <a:gd name="connsiteX6" fmla="*/ 137160 w 292608"/>
                  <a:gd name="connsiteY6" fmla="*/ 347472 h 484632"/>
                  <a:gd name="connsiteX7" fmla="*/ 118872 w 292608"/>
                  <a:gd name="connsiteY7" fmla="*/ 374904 h 484632"/>
                  <a:gd name="connsiteX8" fmla="*/ 82296 w 292608"/>
                  <a:gd name="connsiteY8" fmla="*/ 429768 h 484632"/>
                  <a:gd name="connsiteX9" fmla="*/ 27432 w 292608"/>
                  <a:gd name="connsiteY9" fmla="*/ 466344 h 484632"/>
                  <a:gd name="connsiteX10" fmla="*/ 0 w 292608"/>
                  <a:gd name="connsiteY10" fmla="*/ 484632 h 48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2608" h="484632">
                    <a:moveTo>
                      <a:pt x="292608" y="0"/>
                    </a:moveTo>
                    <a:cubicBezTo>
                      <a:pt x="289560" y="27432"/>
                      <a:pt x="290158" y="55519"/>
                      <a:pt x="283464" y="82296"/>
                    </a:cubicBezTo>
                    <a:cubicBezTo>
                      <a:pt x="280799" y="92958"/>
                      <a:pt x="270091" y="99898"/>
                      <a:pt x="265176" y="109728"/>
                    </a:cubicBezTo>
                    <a:cubicBezTo>
                      <a:pt x="260865" y="118349"/>
                      <a:pt x="259829" y="128301"/>
                      <a:pt x="256032" y="137160"/>
                    </a:cubicBezTo>
                    <a:cubicBezTo>
                      <a:pt x="207939" y="249377"/>
                      <a:pt x="265372" y="109336"/>
                      <a:pt x="219456" y="201168"/>
                    </a:cubicBezTo>
                    <a:cubicBezTo>
                      <a:pt x="184548" y="270985"/>
                      <a:pt x="249212" y="176733"/>
                      <a:pt x="182880" y="265176"/>
                    </a:cubicBezTo>
                    <a:cubicBezTo>
                      <a:pt x="166785" y="313460"/>
                      <a:pt x="179083" y="284588"/>
                      <a:pt x="137160" y="347472"/>
                    </a:cubicBezTo>
                    <a:cubicBezTo>
                      <a:pt x="131064" y="356616"/>
                      <a:pt x="122347" y="364478"/>
                      <a:pt x="118872" y="374904"/>
                    </a:cubicBezTo>
                    <a:cubicBezTo>
                      <a:pt x="108191" y="406946"/>
                      <a:pt x="113119" y="405795"/>
                      <a:pt x="82296" y="429768"/>
                    </a:cubicBezTo>
                    <a:cubicBezTo>
                      <a:pt x="64946" y="443262"/>
                      <a:pt x="45720" y="454152"/>
                      <a:pt x="27432" y="466344"/>
                    </a:cubicBezTo>
                    <a:lnTo>
                      <a:pt x="0" y="484632"/>
                    </a:ln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605B72E8-5F09-47F1-8BCC-3D1752381996}"/>
                  </a:ext>
                </a:extLst>
              </p:cNvPr>
              <p:cNvSpPr/>
              <p:nvPr/>
            </p:nvSpPr>
            <p:spPr>
              <a:xfrm>
                <a:off x="1938528" y="6254496"/>
                <a:ext cx="365760" cy="438912"/>
              </a:xfrm>
              <a:custGeom>
                <a:avLst/>
                <a:gdLst>
                  <a:gd name="connsiteX0" fmla="*/ 0 w 365760"/>
                  <a:gd name="connsiteY0" fmla="*/ 0 h 438912"/>
                  <a:gd name="connsiteX1" fmla="*/ 45720 w 365760"/>
                  <a:gd name="connsiteY1" fmla="*/ 45720 h 438912"/>
                  <a:gd name="connsiteX2" fmla="*/ 82296 w 365760"/>
                  <a:gd name="connsiteY2" fmla="*/ 100584 h 438912"/>
                  <a:gd name="connsiteX3" fmla="*/ 100584 w 365760"/>
                  <a:gd name="connsiteY3" fmla="*/ 128016 h 438912"/>
                  <a:gd name="connsiteX4" fmla="*/ 128016 w 365760"/>
                  <a:gd name="connsiteY4" fmla="*/ 146304 h 438912"/>
                  <a:gd name="connsiteX5" fmla="*/ 146304 w 365760"/>
                  <a:gd name="connsiteY5" fmla="*/ 182880 h 438912"/>
                  <a:gd name="connsiteX6" fmla="*/ 155448 w 365760"/>
                  <a:gd name="connsiteY6" fmla="*/ 210312 h 438912"/>
                  <a:gd name="connsiteX7" fmla="*/ 210312 w 365760"/>
                  <a:gd name="connsiteY7" fmla="*/ 256032 h 438912"/>
                  <a:gd name="connsiteX8" fmla="*/ 256032 w 365760"/>
                  <a:gd name="connsiteY8" fmla="*/ 301752 h 438912"/>
                  <a:gd name="connsiteX9" fmla="*/ 301752 w 365760"/>
                  <a:gd name="connsiteY9" fmla="*/ 356616 h 438912"/>
                  <a:gd name="connsiteX10" fmla="*/ 329184 w 365760"/>
                  <a:gd name="connsiteY10" fmla="*/ 384048 h 438912"/>
                  <a:gd name="connsiteX11" fmla="*/ 365760 w 365760"/>
                  <a:gd name="connsiteY11" fmla="*/ 438912 h 438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65760" h="438912">
                    <a:moveTo>
                      <a:pt x="0" y="0"/>
                    </a:moveTo>
                    <a:cubicBezTo>
                      <a:pt x="15240" y="15240"/>
                      <a:pt x="32072" y="29039"/>
                      <a:pt x="45720" y="45720"/>
                    </a:cubicBezTo>
                    <a:cubicBezTo>
                      <a:pt x="59638" y="62731"/>
                      <a:pt x="70104" y="82296"/>
                      <a:pt x="82296" y="100584"/>
                    </a:cubicBezTo>
                    <a:cubicBezTo>
                      <a:pt x="88392" y="109728"/>
                      <a:pt x="91440" y="121920"/>
                      <a:pt x="100584" y="128016"/>
                    </a:cubicBezTo>
                    <a:lnTo>
                      <a:pt x="128016" y="146304"/>
                    </a:lnTo>
                    <a:cubicBezTo>
                      <a:pt x="134112" y="158496"/>
                      <a:pt x="140934" y="170351"/>
                      <a:pt x="146304" y="182880"/>
                    </a:cubicBezTo>
                    <a:cubicBezTo>
                      <a:pt x="150101" y="191739"/>
                      <a:pt x="150101" y="202292"/>
                      <a:pt x="155448" y="210312"/>
                    </a:cubicBezTo>
                    <a:cubicBezTo>
                      <a:pt x="169529" y="231434"/>
                      <a:pt x="190070" y="242538"/>
                      <a:pt x="210312" y="256032"/>
                    </a:cubicBezTo>
                    <a:cubicBezTo>
                      <a:pt x="247181" y="329770"/>
                      <a:pt x="205578" y="268116"/>
                      <a:pt x="256032" y="301752"/>
                    </a:cubicBezTo>
                    <a:cubicBezTo>
                      <a:pt x="286086" y="321788"/>
                      <a:pt x="280667" y="331314"/>
                      <a:pt x="301752" y="356616"/>
                    </a:cubicBezTo>
                    <a:cubicBezTo>
                      <a:pt x="310031" y="366550"/>
                      <a:pt x="320768" y="374230"/>
                      <a:pt x="329184" y="384048"/>
                    </a:cubicBezTo>
                    <a:cubicBezTo>
                      <a:pt x="354401" y="413468"/>
                      <a:pt x="352620" y="412632"/>
                      <a:pt x="365760" y="438912"/>
                    </a:cubicBez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3011403-7678-444F-9508-E0722E856264}"/>
              </a:ext>
            </a:extLst>
          </p:cNvPr>
          <p:cNvGrpSpPr/>
          <p:nvPr/>
        </p:nvGrpSpPr>
        <p:grpSpPr>
          <a:xfrm>
            <a:off x="2763564" y="4450546"/>
            <a:ext cx="1880172" cy="2368452"/>
            <a:chOff x="539552" y="4489548"/>
            <a:chExt cx="1880172" cy="2368452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9CAB47F2-3D6F-443F-A12D-121346200357}"/>
                </a:ext>
              </a:extLst>
            </p:cNvPr>
            <p:cNvSpPr/>
            <p:nvPr/>
          </p:nvSpPr>
          <p:spPr>
            <a:xfrm>
              <a:off x="539552" y="4489548"/>
              <a:ext cx="1880172" cy="236845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DCD7CD9E-EAD2-4A4B-9A53-D534D7454A5C}"/>
                </a:ext>
              </a:extLst>
            </p:cNvPr>
            <p:cNvGrpSpPr/>
            <p:nvPr/>
          </p:nvGrpSpPr>
          <p:grpSpPr>
            <a:xfrm>
              <a:off x="1938528" y="6172200"/>
              <a:ext cx="365760" cy="521208"/>
              <a:chOff x="1938528" y="6172200"/>
              <a:chExt cx="365760" cy="521208"/>
            </a:xfrm>
          </p:grpSpPr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864A88AB-53CB-417F-92CD-0EC70BCBB983}"/>
                  </a:ext>
                </a:extLst>
              </p:cNvPr>
              <p:cNvSpPr/>
              <p:nvPr/>
            </p:nvSpPr>
            <p:spPr>
              <a:xfrm>
                <a:off x="1938528" y="6172200"/>
                <a:ext cx="292608" cy="484632"/>
              </a:xfrm>
              <a:custGeom>
                <a:avLst/>
                <a:gdLst>
                  <a:gd name="connsiteX0" fmla="*/ 292608 w 292608"/>
                  <a:gd name="connsiteY0" fmla="*/ 0 h 484632"/>
                  <a:gd name="connsiteX1" fmla="*/ 283464 w 292608"/>
                  <a:gd name="connsiteY1" fmla="*/ 82296 h 484632"/>
                  <a:gd name="connsiteX2" fmla="*/ 265176 w 292608"/>
                  <a:gd name="connsiteY2" fmla="*/ 109728 h 484632"/>
                  <a:gd name="connsiteX3" fmla="*/ 256032 w 292608"/>
                  <a:gd name="connsiteY3" fmla="*/ 137160 h 484632"/>
                  <a:gd name="connsiteX4" fmla="*/ 219456 w 292608"/>
                  <a:gd name="connsiteY4" fmla="*/ 201168 h 484632"/>
                  <a:gd name="connsiteX5" fmla="*/ 182880 w 292608"/>
                  <a:gd name="connsiteY5" fmla="*/ 265176 h 484632"/>
                  <a:gd name="connsiteX6" fmla="*/ 137160 w 292608"/>
                  <a:gd name="connsiteY6" fmla="*/ 347472 h 484632"/>
                  <a:gd name="connsiteX7" fmla="*/ 118872 w 292608"/>
                  <a:gd name="connsiteY7" fmla="*/ 374904 h 484632"/>
                  <a:gd name="connsiteX8" fmla="*/ 82296 w 292608"/>
                  <a:gd name="connsiteY8" fmla="*/ 429768 h 484632"/>
                  <a:gd name="connsiteX9" fmla="*/ 27432 w 292608"/>
                  <a:gd name="connsiteY9" fmla="*/ 466344 h 484632"/>
                  <a:gd name="connsiteX10" fmla="*/ 0 w 292608"/>
                  <a:gd name="connsiteY10" fmla="*/ 484632 h 48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2608" h="484632">
                    <a:moveTo>
                      <a:pt x="292608" y="0"/>
                    </a:moveTo>
                    <a:cubicBezTo>
                      <a:pt x="289560" y="27432"/>
                      <a:pt x="290158" y="55519"/>
                      <a:pt x="283464" y="82296"/>
                    </a:cubicBezTo>
                    <a:cubicBezTo>
                      <a:pt x="280799" y="92958"/>
                      <a:pt x="270091" y="99898"/>
                      <a:pt x="265176" y="109728"/>
                    </a:cubicBezTo>
                    <a:cubicBezTo>
                      <a:pt x="260865" y="118349"/>
                      <a:pt x="259829" y="128301"/>
                      <a:pt x="256032" y="137160"/>
                    </a:cubicBezTo>
                    <a:cubicBezTo>
                      <a:pt x="207939" y="249377"/>
                      <a:pt x="265372" y="109336"/>
                      <a:pt x="219456" y="201168"/>
                    </a:cubicBezTo>
                    <a:cubicBezTo>
                      <a:pt x="184548" y="270985"/>
                      <a:pt x="249212" y="176733"/>
                      <a:pt x="182880" y="265176"/>
                    </a:cubicBezTo>
                    <a:cubicBezTo>
                      <a:pt x="166785" y="313460"/>
                      <a:pt x="179083" y="284588"/>
                      <a:pt x="137160" y="347472"/>
                    </a:cubicBezTo>
                    <a:cubicBezTo>
                      <a:pt x="131064" y="356616"/>
                      <a:pt x="122347" y="364478"/>
                      <a:pt x="118872" y="374904"/>
                    </a:cubicBezTo>
                    <a:cubicBezTo>
                      <a:pt x="108191" y="406946"/>
                      <a:pt x="113119" y="405795"/>
                      <a:pt x="82296" y="429768"/>
                    </a:cubicBezTo>
                    <a:cubicBezTo>
                      <a:pt x="64946" y="443262"/>
                      <a:pt x="45720" y="454152"/>
                      <a:pt x="27432" y="466344"/>
                    </a:cubicBezTo>
                    <a:lnTo>
                      <a:pt x="0" y="484632"/>
                    </a:ln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86E94880-12AE-43CB-A81E-091852223F7C}"/>
                  </a:ext>
                </a:extLst>
              </p:cNvPr>
              <p:cNvSpPr/>
              <p:nvPr/>
            </p:nvSpPr>
            <p:spPr>
              <a:xfrm>
                <a:off x="1938528" y="6254496"/>
                <a:ext cx="365760" cy="438912"/>
              </a:xfrm>
              <a:custGeom>
                <a:avLst/>
                <a:gdLst>
                  <a:gd name="connsiteX0" fmla="*/ 0 w 365760"/>
                  <a:gd name="connsiteY0" fmla="*/ 0 h 438912"/>
                  <a:gd name="connsiteX1" fmla="*/ 45720 w 365760"/>
                  <a:gd name="connsiteY1" fmla="*/ 45720 h 438912"/>
                  <a:gd name="connsiteX2" fmla="*/ 82296 w 365760"/>
                  <a:gd name="connsiteY2" fmla="*/ 100584 h 438912"/>
                  <a:gd name="connsiteX3" fmla="*/ 100584 w 365760"/>
                  <a:gd name="connsiteY3" fmla="*/ 128016 h 438912"/>
                  <a:gd name="connsiteX4" fmla="*/ 128016 w 365760"/>
                  <a:gd name="connsiteY4" fmla="*/ 146304 h 438912"/>
                  <a:gd name="connsiteX5" fmla="*/ 146304 w 365760"/>
                  <a:gd name="connsiteY5" fmla="*/ 182880 h 438912"/>
                  <a:gd name="connsiteX6" fmla="*/ 155448 w 365760"/>
                  <a:gd name="connsiteY6" fmla="*/ 210312 h 438912"/>
                  <a:gd name="connsiteX7" fmla="*/ 210312 w 365760"/>
                  <a:gd name="connsiteY7" fmla="*/ 256032 h 438912"/>
                  <a:gd name="connsiteX8" fmla="*/ 256032 w 365760"/>
                  <a:gd name="connsiteY8" fmla="*/ 301752 h 438912"/>
                  <a:gd name="connsiteX9" fmla="*/ 301752 w 365760"/>
                  <a:gd name="connsiteY9" fmla="*/ 356616 h 438912"/>
                  <a:gd name="connsiteX10" fmla="*/ 329184 w 365760"/>
                  <a:gd name="connsiteY10" fmla="*/ 384048 h 438912"/>
                  <a:gd name="connsiteX11" fmla="*/ 365760 w 365760"/>
                  <a:gd name="connsiteY11" fmla="*/ 438912 h 438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65760" h="438912">
                    <a:moveTo>
                      <a:pt x="0" y="0"/>
                    </a:moveTo>
                    <a:cubicBezTo>
                      <a:pt x="15240" y="15240"/>
                      <a:pt x="32072" y="29039"/>
                      <a:pt x="45720" y="45720"/>
                    </a:cubicBezTo>
                    <a:cubicBezTo>
                      <a:pt x="59638" y="62731"/>
                      <a:pt x="70104" y="82296"/>
                      <a:pt x="82296" y="100584"/>
                    </a:cubicBezTo>
                    <a:cubicBezTo>
                      <a:pt x="88392" y="109728"/>
                      <a:pt x="91440" y="121920"/>
                      <a:pt x="100584" y="128016"/>
                    </a:cubicBezTo>
                    <a:lnTo>
                      <a:pt x="128016" y="146304"/>
                    </a:lnTo>
                    <a:cubicBezTo>
                      <a:pt x="134112" y="158496"/>
                      <a:pt x="140934" y="170351"/>
                      <a:pt x="146304" y="182880"/>
                    </a:cubicBezTo>
                    <a:cubicBezTo>
                      <a:pt x="150101" y="191739"/>
                      <a:pt x="150101" y="202292"/>
                      <a:pt x="155448" y="210312"/>
                    </a:cubicBezTo>
                    <a:cubicBezTo>
                      <a:pt x="169529" y="231434"/>
                      <a:pt x="190070" y="242538"/>
                      <a:pt x="210312" y="256032"/>
                    </a:cubicBezTo>
                    <a:cubicBezTo>
                      <a:pt x="247181" y="329770"/>
                      <a:pt x="205578" y="268116"/>
                      <a:pt x="256032" y="301752"/>
                    </a:cubicBezTo>
                    <a:cubicBezTo>
                      <a:pt x="286086" y="321788"/>
                      <a:pt x="280667" y="331314"/>
                      <a:pt x="301752" y="356616"/>
                    </a:cubicBezTo>
                    <a:cubicBezTo>
                      <a:pt x="310031" y="366550"/>
                      <a:pt x="320768" y="374230"/>
                      <a:pt x="329184" y="384048"/>
                    </a:cubicBezTo>
                    <a:cubicBezTo>
                      <a:pt x="354401" y="413468"/>
                      <a:pt x="352620" y="412632"/>
                      <a:pt x="365760" y="438912"/>
                    </a:cubicBez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B386B5D-BB32-43D7-B997-F17271083072}"/>
              </a:ext>
            </a:extLst>
          </p:cNvPr>
          <p:cNvGrpSpPr/>
          <p:nvPr/>
        </p:nvGrpSpPr>
        <p:grpSpPr>
          <a:xfrm>
            <a:off x="4817517" y="4462521"/>
            <a:ext cx="1880172" cy="2368452"/>
            <a:chOff x="539552" y="4489548"/>
            <a:chExt cx="1880172" cy="2368452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967F2F2-7626-4B5B-8A54-56886A7A1420}"/>
                </a:ext>
              </a:extLst>
            </p:cNvPr>
            <p:cNvSpPr/>
            <p:nvPr/>
          </p:nvSpPr>
          <p:spPr>
            <a:xfrm>
              <a:off x="539552" y="4489548"/>
              <a:ext cx="1880172" cy="236845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0314C5AC-D685-4911-8DC9-4C5FC2A8DF25}"/>
                </a:ext>
              </a:extLst>
            </p:cNvPr>
            <p:cNvGrpSpPr/>
            <p:nvPr/>
          </p:nvGrpSpPr>
          <p:grpSpPr>
            <a:xfrm>
              <a:off x="1938528" y="6172200"/>
              <a:ext cx="365760" cy="521208"/>
              <a:chOff x="1938528" y="6172200"/>
              <a:chExt cx="365760" cy="521208"/>
            </a:xfrm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17510455-3D83-48B1-BF2E-3B140AF27945}"/>
                  </a:ext>
                </a:extLst>
              </p:cNvPr>
              <p:cNvSpPr/>
              <p:nvPr/>
            </p:nvSpPr>
            <p:spPr>
              <a:xfrm>
                <a:off x="1938528" y="6172200"/>
                <a:ext cx="292608" cy="484632"/>
              </a:xfrm>
              <a:custGeom>
                <a:avLst/>
                <a:gdLst>
                  <a:gd name="connsiteX0" fmla="*/ 292608 w 292608"/>
                  <a:gd name="connsiteY0" fmla="*/ 0 h 484632"/>
                  <a:gd name="connsiteX1" fmla="*/ 283464 w 292608"/>
                  <a:gd name="connsiteY1" fmla="*/ 82296 h 484632"/>
                  <a:gd name="connsiteX2" fmla="*/ 265176 w 292608"/>
                  <a:gd name="connsiteY2" fmla="*/ 109728 h 484632"/>
                  <a:gd name="connsiteX3" fmla="*/ 256032 w 292608"/>
                  <a:gd name="connsiteY3" fmla="*/ 137160 h 484632"/>
                  <a:gd name="connsiteX4" fmla="*/ 219456 w 292608"/>
                  <a:gd name="connsiteY4" fmla="*/ 201168 h 484632"/>
                  <a:gd name="connsiteX5" fmla="*/ 182880 w 292608"/>
                  <a:gd name="connsiteY5" fmla="*/ 265176 h 484632"/>
                  <a:gd name="connsiteX6" fmla="*/ 137160 w 292608"/>
                  <a:gd name="connsiteY6" fmla="*/ 347472 h 484632"/>
                  <a:gd name="connsiteX7" fmla="*/ 118872 w 292608"/>
                  <a:gd name="connsiteY7" fmla="*/ 374904 h 484632"/>
                  <a:gd name="connsiteX8" fmla="*/ 82296 w 292608"/>
                  <a:gd name="connsiteY8" fmla="*/ 429768 h 484632"/>
                  <a:gd name="connsiteX9" fmla="*/ 27432 w 292608"/>
                  <a:gd name="connsiteY9" fmla="*/ 466344 h 484632"/>
                  <a:gd name="connsiteX10" fmla="*/ 0 w 292608"/>
                  <a:gd name="connsiteY10" fmla="*/ 484632 h 48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2608" h="484632">
                    <a:moveTo>
                      <a:pt x="292608" y="0"/>
                    </a:moveTo>
                    <a:cubicBezTo>
                      <a:pt x="289560" y="27432"/>
                      <a:pt x="290158" y="55519"/>
                      <a:pt x="283464" y="82296"/>
                    </a:cubicBezTo>
                    <a:cubicBezTo>
                      <a:pt x="280799" y="92958"/>
                      <a:pt x="270091" y="99898"/>
                      <a:pt x="265176" y="109728"/>
                    </a:cubicBezTo>
                    <a:cubicBezTo>
                      <a:pt x="260865" y="118349"/>
                      <a:pt x="259829" y="128301"/>
                      <a:pt x="256032" y="137160"/>
                    </a:cubicBezTo>
                    <a:cubicBezTo>
                      <a:pt x="207939" y="249377"/>
                      <a:pt x="265372" y="109336"/>
                      <a:pt x="219456" y="201168"/>
                    </a:cubicBezTo>
                    <a:cubicBezTo>
                      <a:pt x="184548" y="270985"/>
                      <a:pt x="249212" y="176733"/>
                      <a:pt x="182880" y="265176"/>
                    </a:cubicBezTo>
                    <a:cubicBezTo>
                      <a:pt x="166785" y="313460"/>
                      <a:pt x="179083" y="284588"/>
                      <a:pt x="137160" y="347472"/>
                    </a:cubicBezTo>
                    <a:cubicBezTo>
                      <a:pt x="131064" y="356616"/>
                      <a:pt x="122347" y="364478"/>
                      <a:pt x="118872" y="374904"/>
                    </a:cubicBezTo>
                    <a:cubicBezTo>
                      <a:pt x="108191" y="406946"/>
                      <a:pt x="113119" y="405795"/>
                      <a:pt x="82296" y="429768"/>
                    </a:cubicBezTo>
                    <a:cubicBezTo>
                      <a:pt x="64946" y="443262"/>
                      <a:pt x="45720" y="454152"/>
                      <a:pt x="27432" y="466344"/>
                    </a:cubicBezTo>
                    <a:lnTo>
                      <a:pt x="0" y="484632"/>
                    </a:ln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42F52DFF-8F7A-4922-8D48-3F5B8DC69093}"/>
                  </a:ext>
                </a:extLst>
              </p:cNvPr>
              <p:cNvSpPr/>
              <p:nvPr/>
            </p:nvSpPr>
            <p:spPr>
              <a:xfrm>
                <a:off x="1938528" y="6254496"/>
                <a:ext cx="365760" cy="438912"/>
              </a:xfrm>
              <a:custGeom>
                <a:avLst/>
                <a:gdLst>
                  <a:gd name="connsiteX0" fmla="*/ 0 w 365760"/>
                  <a:gd name="connsiteY0" fmla="*/ 0 h 438912"/>
                  <a:gd name="connsiteX1" fmla="*/ 45720 w 365760"/>
                  <a:gd name="connsiteY1" fmla="*/ 45720 h 438912"/>
                  <a:gd name="connsiteX2" fmla="*/ 82296 w 365760"/>
                  <a:gd name="connsiteY2" fmla="*/ 100584 h 438912"/>
                  <a:gd name="connsiteX3" fmla="*/ 100584 w 365760"/>
                  <a:gd name="connsiteY3" fmla="*/ 128016 h 438912"/>
                  <a:gd name="connsiteX4" fmla="*/ 128016 w 365760"/>
                  <a:gd name="connsiteY4" fmla="*/ 146304 h 438912"/>
                  <a:gd name="connsiteX5" fmla="*/ 146304 w 365760"/>
                  <a:gd name="connsiteY5" fmla="*/ 182880 h 438912"/>
                  <a:gd name="connsiteX6" fmla="*/ 155448 w 365760"/>
                  <a:gd name="connsiteY6" fmla="*/ 210312 h 438912"/>
                  <a:gd name="connsiteX7" fmla="*/ 210312 w 365760"/>
                  <a:gd name="connsiteY7" fmla="*/ 256032 h 438912"/>
                  <a:gd name="connsiteX8" fmla="*/ 256032 w 365760"/>
                  <a:gd name="connsiteY8" fmla="*/ 301752 h 438912"/>
                  <a:gd name="connsiteX9" fmla="*/ 301752 w 365760"/>
                  <a:gd name="connsiteY9" fmla="*/ 356616 h 438912"/>
                  <a:gd name="connsiteX10" fmla="*/ 329184 w 365760"/>
                  <a:gd name="connsiteY10" fmla="*/ 384048 h 438912"/>
                  <a:gd name="connsiteX11" fmla="*/ 365760 w 365760"/>
                  <a:gd name="connsiteY11" fmla="*/ 438912 h 438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65760" h="438912">
                    <a:moveTo>
                      <a:pt x="0" y="0"/>
                    </a:moveTo>
                    <a:cubicBezTo>
                      <a:pt x="15240" y="15240"/>
                      <a:pt x="32072" y="29039"/>
                      <a:pt x="45720" y="45720"/>
                    </a:cubicBezTo>
                    <a:cubicBezTo>
                      <a:pt x="59638" y="62731"/>
                      <a:pt x="70104" y="82296"/>
                      <a:pt x="82296" y="100584"/>
                    </a:cubicBezTo>
                    <a:cubicBezTo>
                      <a:pt x="88392" y="109728"/>
                      <a:pt x="91440" y="121920"/>
                      <a:pt x="100584" y="128016"/>
                    </a:cubicBezTo>
                    <a:lnTo>
                      <a:pt x="128016" y="146304"/>
                    </a:lnTo>
                    <a:cubicBezTo>
                      <a:pt x="134112" y="158496"/>
                      <a:pt x="140934" y="170351"/>
                      <a:pt x="146304" y="182880"/>
                    </a:cubicBezTo>
                    <a:cubicBezTo>
                      <a:pt x="150101" y="191739"/>
                      <a:pt x="150101" y="202292"/>
                      <a:pt x="155448" y="210312"/>
                    </a:cubicBezTo>
                    <a:cubicBezTo>
                      <a:pt x="169529" y="231434"/>
                      <a:pt x="190070" y="242538"/>
                      <a:pt x="210312" y="256032"/>
                    </a:cubicBezTo>
                    <a:cubicBezTo>
                      <a:pt x="247181" y="329770"/>
                      <a:pt x="205578" y="268116"/>
                      <a:pt x="256032" y="301752"/>
                    </a:cubicBezTo>
                    <a:cubicBezTo>
                      <a:pt x="286086" y="321788"/>
                      <a:pt x="280667" y="331314"/>
                      <a:pt x="301752" y="356616"/>
                    </a:cubicBezTo>
                    <a:cubicBezTo>
                      <a:pt x="310031" y="366550"/>
                      <a:pt x="320768" y="374230"/>
                      <a:pt x="329184" y="384048"/>
                    </a:cubicBezTo>
                    <a:cubicBezTo>
                      <a:pt x="354401" y="413468"/>
                      <a:pt x="352620" y="412632"/>
                      <a:pt x="365760" y="438912"/>
                    </a:cubicBez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83680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229600" cy="704866"/>
          </a:xfrm>
        </p:spPr>
        <p:txBody>
          <a:bodyPr/>
          <a:lstStyle/>
          <a:p>
            <a:r>
              <a:rPr lang="en-US" altLang="zh-CN" sz="4000" dirty="0">
                <a:solidFill>
                  <a:srgbClr val="04617B"/>
                </a:solidFill>
              </a:rPr>
              <a:t>Where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pic>
        <p:nvPicPr>
          <p:cNvPr id="9218" name="Picture 2" descr="https://img1.baidu.com/it/u=3896568126,3186740721&amp;fm=253&amp;fmt=auto&amp;app=120&amp;f=JPEG?w=614&amp;h=500">
            <a:extLst>
              <a:ext uri="{FF2B5EF4-FFF2-40B4-BE49-F238E27FC236}">
                <a16:creationId xmlns:a16="http://schemas.microsoft.com/office/drawing/2014/main" id="{54999966-B829-4A53-9E56-E3DC2323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817" y="1413052"/>
            <a:ext cx="1329858" cy="108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ACB03B-E29F-4AB4-A74C-F67D535798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04" y="2672916"/>
            <a:ext cx="1584176" cy="11881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170E84A-A350-4B77-809A-DE355F13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16" y="1227860"/>
            <a:ext cx="1391816" cy="12026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E99D91-8EF7-4BF3-871A-8EFD33C44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79" y="1343215"/>
            <a:ext cx="1493566" cy="10829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0CF7FD-103A-4831-9F38-9D2975CD3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091" y="5366914"/>
            <a:ext cx="1084523" cy="8162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3F1F10-1B90-4C7C-A04F-152BCF862B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28" y="4489548"/>
            <a:ext cx="1292384" cy="10628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35EB32-043D-43BB-9FE8-6E305AF6D9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8907" y="4820381"/>
            <a:ext cx="967794" cy="887885"/>
          </a:xfrm>
          <a:prstGeom prst="rect">
            <a:avLst/>
          </a:prstGeom>
        </p:spPr>
      </p:pic>
      <p:pic>
        <p:nvPicPr>
          <p:cNvPr id="16" name="Picture 2" descr="https://img1.baidu.com/it/u=3896568126,3186740721&amp;fm=253&amp;fmt=auto&amp;app=120&amp;f=JPEG?w=614&amp;h=500">
            <a:extLst>
              <a:ext uri="{FF2B5EF4-FFF2-40B4-BE49-F238E27FC236}">
                <a16:creationId xmlns:a16="http://schemas.microsoft.com/office/drawing/2014/main" id="{6D3FD862-F68E-4993-B85E-03003ED69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721" y="2739261"/>
            <a:ext cx="1329858" cy="108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A29464D-4E78-449B-97F5-2C5608EFBD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375749"/>
            <a:ext cx="1584176" cy="118813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198615-3A8F-4D6C-B862-ADC890FCC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16" y="2619592"/>
            <a:ext cx="1391816" cy="12026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D70318-0358-411C-83E6-8BED813FD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75" y="2765538"/>
            <a:ext cx="1493566" cy="10829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820B8D-F9D2-46D3-BFAB-B53E8D4C7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675" y="5340213"/>
            <a:ext cx="1084524" cy="81628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4336CA7-9C11-4453-8119-74A1854C0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1591" y="5536324"/>
            <a:ext cx="1264402" cy="103980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27954AC-DBB7-4058-8DA3-833C5183EF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655" y="4694345"/>
            <a:ext cx="917757" cy="841979"/>
          </a:xfrm>
          <a:prstGeom prst="rect">
            <a:avLst/>
          </a:prstGeom>
        </p:spPr>
      </p:pic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D1D8393-AD80-4418-BFCA-DA988F956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214423"/>
            <a:ext cx="1172509" cy="4249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D429299-D414-4BDA-A1B5-285D97040310}"/>
              </a:ext>
            </a:extLst>
          </p:cNvPr>
          <p:cNvGrpSpPr/>
          <p:nvPr/>
        </p:nvGrpSpPr>
        <p:grpSpPr>
          <a:xfrm>
            <a:off x="673131" y="1214423"/>
            <a:ext cx="1880172" cy="3102142"/>
            <a:chOff x="673131" y="1214423"/>
            <a:chExt cx="2019038" cy="310214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3D7387A-23EE-4232-9E99-B0224DD30A2C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CA42AF83-76E9-4C41-B6EC-AA800BF2C580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D7E296A-1DFA-45F3-AD32-878B217C124D}"/>
              </a:ext>
            </a:extLst>
          </p:cNvPr>
          <p:cNvGrpSpPr/>
          <p:nvPr/>
        </p:nvGrpSpPr>
        <p:grpSpPr>
          <a:xfrm>
            <a:off x="2815993" y="1214423"/>
            <a:ext cx="1855330" cy="3102142"/>
            <a:chOff x="673131" y="1214423"/>
            <a:chExt cx="2019038" cy="3102142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BEA43BF-E78F-43B7-9DF7-11F137A1D221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2980FB36-3C6C-4125-ACEC-6A4F00C92362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6B594A1-6C81-4A44-9509-D32F1E2CBFA6}"/>
              </a:ext>
            </a:extLst>
          </p:cNvPr>
          <p:cNvGrpSpPr/>
          <p:nvPr/>
        </p:nvGrpSpPr>
        <p:grpSpPr>
          <a:xfrm>
            <a:off x="4817517" y="1223575"/>
            <a:ext cx="1855330" cy="3102142"/>
            <a:chOff x="673131" y="1214423"/>
            <a:chExt cx="2019038" cy="310214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96099BA-E7C8-42B4-9B84-137ADD13B595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A250AC15-0B32-4A07-8827-97DC3F3861AE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8585284-396B-491D-A4B5-2189F56FDC4D}"/>
              </a:ext>
            </a:extLst>
          </p:cNvPr>
          <p:cNvGrpSpPr/>
          <p:nvPr/>
        </p:nvGrpSpPr>
        <p:grpSpPr>
          <a:xfrm>
            <a:off x="6867534" y="1228443"/>
            <a:ext cx="1855330" cy="3102142"/>
            <a:chOff x="673131" y="1214423"/>
            <a:chExt cx="2019038" cy="3102142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4DDE91E-F44D-4A0C-BDAA-FA505E63E484}"/>
                </a:ext>
              </a:extLst>
            </p:cNvPr>
            <p:cNvSpPr/>
            <p:nvPr/>
          </p:nvSpPr>
          <p:spPr>
            <a:xfrm>
              <a:off x="673131" y="1214423"/>
              <a:ext cx="2019038" cy="310214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3B9A8409-1B61-43FB-8247-DFCB4615F428}"/>
                </a:ext>
              </a:extLst>
            </p:cNvPr>
            <p:cNvSpPr/>
            <p:nvPr/>
          </p:nvSpPr>
          <p:spPr>
            <a:xfrm>
              <a:off x="1435608" y="3861048"/>
              <a:ext cx="886968" cy="403008"/>
            </a:xfrm>
            <a:custGeom>
              <a:avLst/>
              <a:gdLst>
                <a:gd name="connsiteX0" fmla="*/ 0 w 886968"/>
                <a:gd name="connsiteY0" fmla="*/ 201840 h 403008"/>
                <a:gd name="connsiteX1" fmla="*/ 45720 w 886968"/>
                <a:gd name="connsiteY1" fmla="*/ 229272 h 403008"/>
                <a:gd name="connsiteX2" fmla="*/ 91440 w 886968"/>
                <a:gd name="connsiteY2" fmla="*/ 284136 h 403008"/>
                <a:gd name="connsiteX3" fmla="*/ 100584 w 886968"/>
                <a:gd name="connsiteY3" fmla="*/ 311568 h 403008"/>
                <a:gd name="connsiteX4" fmla="*/ 109728 w 886968"/>
                <a:gd name="connsiteY4" fmla="*/ 348144 h 403008"/>
                <a:gd name="connsiteX5" fmla="*/ 146304 w 886968"/>
                <a:gd name="connsiteY5" fmla="*/ 403008 h 403008"/>
                <a:gd name="connsiteX6" fmla="*/ 210312 w 886968"/>
                <a:gd name="connsiteY6" fmla="*/ 393864 h 403008"/>
                <a:gd name="connsiteX7" fmla="*/ 237744 w 886968"/>
                <a:gd name="connsiteY7" fmla="*/ 366432 h 403008"/>
                <a:gd name="connsiteX8" fmla="*/ 265176 w 886968"/>
                <a:gd name="connsiteY8" fmla="*/ 348144 h 403008"/>
                <a:gd name="connsiteX9" fmla="*/ 310896 w 886968"/>
                <a:gd name="connsiteY9" fmla="*/ 311568 h 403008"/>
                <a:gd name="connsiteX10" fmla="*/ 338328 w 886968"/>
                <a:gd name="connsiteY10" fmla="*/ 274992 h 403008"/>
                <a:gd name="connsiteX11" fmla="*/ 374904 w 886968"/>
                <a:gd name="connsiteY11" fmla="*/ 238416 h 403008"/>
                <a:gd name="connsiteX12" fmla="*/ 429768 w 886968"/>
                <a:gd name="connsiteY12" fmla="*/ 174408 h 403008"/>
                <a:gd name="connsiteX13" fmla="*/ 493776 w 886968"/>
                <a:gd name="connsiteY13" fmla="*/ 146976 h 403008"/>
                <a:gd name="connsiteX14" fmla="*/ 521208 w 886968"/>
                <a:gd name="connsiteY14" fmla="*/ 119544 h 403008"/>
                <a:gd name="connsiteX15" fmla="*/ 585216 w 886968"/>
                <a:gd name="connsiteY15" fmla="*/ 101256 h 403008"/>
                <a:gd name="connsiteX16" fmla="*/ 704088 w 886968"/>
                <a:gd name="connsiteY16" fmla="*/ 46392 h 403008"/>
                <a:gd name="connsiteX17" fmla="*/ 749808 w 886968"/>
                <a:gd name="connsiteY17" fmla="*/ 28104 h 403008"/>
                <a:gd name="connsiteX18" fmla="*/ 786384 w 886968"/>
                <a:gd name="connsiteY18" fmla="*/ 18960 h 403008"/>
                <a:gd name="connsiteX19" fmla="*/ 850392 w 886968"/>
                <a:gd name="connsiteY19" fmla="*/ 672 h 403008"/>
                <a:gd name="connsiteX20" fmla="*/ 886968 w 886968"/>
                <a:gd name="connsiteY20" fmla="*/ 672 h 40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86968" h="403008">
                  <a:moveTo>
                    <a:pt x="0" y="201840"/>
                  </a:moveTo>
                  <a:cubicBezTo>
                    <a:pt x="15240" y="210984"/>
                    <a:pt x="31502" y="218608"/>
                    <a:pt x="45720" y="229272"/>
                  </a:cubicBezTo>
                  <a:cubicBezTo>
                    <a:pt x="61898" y="241406"/>
                    <a:pt x="82147" y="265549"/>
                    <a:pt x="91440" y="284136"/>
                  </a:cubicBezTo>
                  <a:cubicBezTo>
                    <a:pt x="95751" y="292757"/>
                    <a:pt x="97936" y="302300"/>
                    <a:pt x="100584" y="311568"/>
                  </a:cubicBezTo>
                  <a:cubicBezTo>
                    <a:pt x="104036" y="323652"/>
                    <a:pt x="104108" y="336904"/>
                    <a:pt x="109728" y="348144"/>
                  </a:cubicBezTo>
                  <a:cubicBezTo>
                    <a:pt x="119558" y="367803"/>
                    <a:pt x="146304" y="403008"/>
                    <a:pt x="146304" y="403008"/>
                  </a:cubicBezTo>
                  <a:cubicBezTo>
                    <a:pt x="167640" y="399960"/>
                    <a:pt x="190301" y="401868"/>
                    <a:pt x="210312" y="393864"/>
                  </a:cubicBezTo>
                  <a:cubicBezTo>
                    <a:pt x="222319" y="389061"/>
                    <a:pt x="227810" y="374711"/>
                    <a:pt x="237744" y="366432"/>
                  </a:cubicBezTo>
                  <a:cubicBezTo>
                    <a:pt x="246187" y="359397"/>
                    <a:pt x="256032" y="354240"/>
                    <a:pt x="265176" y="348144"/>
                  </a:cubicBezTo>
                  <a:cubicBezTo>
                    <a:pt x="321184" y="264132"/>
                    <a:pt x="244645" y="366777"/>
                    <a:pt x="310896" y="311568"/>
                  </a:cubicBezTo>
                  <a:cubicBezTo>
                    <a:pt x="322604" y="301812"/>
                    <a:pt x="328292" y="286461"/>
                    <a:pt x="338328" y="274992"/>
                  </a:cubicBezTo>
                  <a:cubicBezTo>
                    <a:pt x="349682" y="262016"/>
                    <a:pt x="363550" y="251392"/>
                    <a:pt x="374904" y="238416"/>
                  </a:cubicBezTo>
                  <a:cubicBezTo>
                    <a:pt x="395716" y="214631"/>
                    <a:pt x="403761" y="192985"/>
                    <a:pt x="429768" y="174408"/>
                  </a:cubicBezTo>
                  <a:cubicBezTo>
                    <a:pt x="449542" y="160284"/>
                    <a:pt x="471389" y="154438"/>
                    <a:pt x="493776" y="146976"/>
                  </a:cubicBezTo>
                  <a:cubicBezTo>
                    <a:pt x="502920" y="137832"/>
                    <a:pt x="510448" y="126717"/>
                    <a:pt x="521208" y="119544"/>
                  </a:cubicBezTo>
                  <a:cubicBezTo>
                    <a:pt x="529079" y="114297"/>
                    <a:pt x="580339" y="102475"/>
                    <a:pt x="585216" y="101256"/>
                  </a:cubicBezTo>
                  <a:cubicBezTo>
                    <a:pt x="713626" y="20999"/>
                    <a:pt x="607428" y="75390"/>
                    <a:pt x="704088" y="46392"/>
                  </a:cubicBezTo>
                  <a:cubicBezTo>
                    <a:pt x="719810" y="41675"/>
                    <a:pt x="734236" y="33295"/>
                    <a:pt x="749808" y="28104"/>
                  </a:cubicBezTo>
                  <a:cubicBezTo>
                    <a:pt x="761730" y="24130"/>
                    <a:pt x="774300" y="22412"/>
                    <a:pt x="786384" y="18960"/>
                  </a:cubicBezTo>
                  <a:cubicBezTo>
                    <a:pt x="810002" y="12212"/>
                    <a:pt x="824983" y="3848"/>
                    <a:pt x="850392" y="672"/>
                  </a:cubicBezTo>
                  <a:cubicBezTo>
                    <a:pt x="862490" y="-840"/>
                    <a:pt x="874776" y="672"/>
                    <a:pt x="886968" y="672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1285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658813"/>
            <a:ext cx="8569325" cy="1296987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8 </a:t>
            </a:r>
            <a:r>
              <a:rPr lang="zh-CN" altLang="en-US" sz="2400" dirty="0"/>
              <a:t>查学号以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开头、选修了</a:t>
            </a:r>
            <a:r>
              <a:rPr lang="en-US" altLang="zh-CN" sz="2400" dirty="0"/>
              <a:t>2</a:t>
            </a:r>
            <a:r>
              <a:rPr lang="zh-CN" altLang="en-US" sz="2400" dirty="0"/>
              <a:t>号课程且选修了</a:t>
            </a:r>
            <a:r>
              <a:rPr lang="en-US" altLang="zh-CN" sz="2400" dirty="0"/>
              <a:t>5</a:t>
            </a:r>
            <a:r>
              <a:rPr lang="zh-CN" altLang="en-US" sz="2400" dirty="0"/>
              <a:t>门以上课程的学生学号</a:t>
            </a:r>
          </a:p>
        </p:txBody>
      </p:sp>
      <p:sp>
        <p:nvSpPr>
          <p:cNvPr id="207876" name="Rectangle 4"/>
          <p:cNvSpPr>
            <a:spLocks noChangeArrowheads="1"/>
          </p:cNvSpPr>
          <p:nvPr/>
        </p:nvSpPr>
        <p:spPr bwMode="auto">
          <a:xfrm>
            <a:off x="395288" y="2027238"/>
            <a:ext cx="849788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sno</a:t>
            </a:r>
          </a:p>
          <a:p>
            <a:r>
              <a:rPr lang="en-US" altLang="zh-CN" dirty="0"/>
              <a:t>from sc</a:t>
            </a:r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395288" y="2890838"/>
            <a:ext cx="813593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where sno in (</a:t>
            </a:r>
            <a:r>
              <a:rPr lang="en-US" altLang="zh-CN" dirty="0">
                <a:solidFill>
                  <a:srgbClr val="0000FF"/>
                </a:solidFill>
              </a:rPr>
              <a:t>select sno from sc where cno=2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and sno like </a:t>
            </a:r>
            <a:r>
              <a:rPr lang="en-US" altLang="zh-CN" dirty="0">
                <a:latin typeface="Times New Roman" pitchFamily="18" charset="0"/>
              </a:rPr>
              <a:t>’</a:t>
            </a:r>
            <a:r>
              <a:rPr lang="en-US" altLang="zh-CN" dirty="0"/>
              <a:t>96%</a:t>
            </a:r>
            <a:r>
              <a:rPr lang="en-US" altLang="zh-CN" dirty="0">
                <a:latin typeface="Times New Roman" pitchFamily="18" charset="0"/>
              </a:rPr>
              <a:t>’</a:t>
            </a:r>
            <a:endParaRPr lang="en-US" altLang="zh-CN" dirty="0"/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382588" y="3611563"/>
            <a:ext cx="793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group by sno</a:t>
            </a:r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395288" y="4114800"/>
            <a:ext cx="8208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having count (*)&gt;5;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339068-3482-479F-995A-F2EB69C4793F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6" grpId="0"/>
      <p:bldP spid="207877" grpId="0"/>
      <p:bldP spid="207878" grpId="0"/>
      <p:bldP spid="20787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696913"/>
            <a:ext cx="8569325" cy="5746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9 </a:t>
            </a:r>
            <a:r>
              <a:rPr lang="zh-CN" altLang="en-US" sz="2400" dirty="0"/>
              <a:t>查询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r>
              <a:rPr lang="zh-CN" altLang="en-US" sz="2400" dirty="0">
                <a:solidFill>
                  <a:srgbClr val="0000FF"/>
                </a:solidFill>
              </a:rPr>
              <a:t>号院系</a:t>
            </a:r>
            <a:r>
              <a:rPr lang="zh-CN" altLang="en-US" sz="2400" dirty="0"/>
              <a:t>的每个学生的平均成绩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395288" y="1344613"/>
            <a:ext cx="849788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</a:t>
            </a:r>
            <a:r>
              <a:rPr lang="en-US" altLang="zh-CN" dirty="0" err="1"/>
              <a:t>sc.sno</a:t>
            </a:r>
            <a:r>
              <a:rPr lang="en-US" altLang="zh-CN" dirty="0"/>
              <a:t>, avg(grade)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from sc, student</a:t>
            </a:r>
          </a:p>
          <a:p>
            <a:r>
              <a:rPr lang="en-US" altLang="zh-CN" dirty="0"/>
              <a:t>where </a:t>
            </a:r>
            <a:r>
              <a:rPr lang="en-US" altLang="zh-CN" dirty="0" err="1">
                <a:solidFill>
                  <a:srgbClr val="0000FF"/>
                </a:solidFill>
              </a:rPr>
              <a:t>sc.sno</a:t>
            </a:r>
            <a:r>
              <a:rPr lang="en-US" altLang="zh-CN" dirty="0">
                <a:solidFill>
                  <a:srgbClr val="0000FF"/>
                </a:solidFill>
              </a:rPr>
              <a:t>=student.sno</a:t>
            </a:r>
          </a:p>
          <a:p>
            <a:r>
              <a:rPr lang="en-US" altLang="zh-CN" dirty="0"/>
              <a:t>and </a:t>
            </a:r>
            <a:r>
              <a:rPr lang="en-US" altLang="zh-CN" dirty="0" err="1"/>
              <a:t>student.sdept</a:t>
            </a:r>
            <a:r>
              <a:rPr lang="en-US" altLang="zh-CN" dirty="0"/>
              <a:t>=1</a:t>
            </a:r>
          </a:p>
          <a:p>
            <a:r>
              <a:rPr lang="en-US" altLang="zh-CN" dirty="0"/>
              <a:t>group by </a:t>
            </a:r>
            <a:r>
              <a:rPr lang="en-US" altLang="zh-CN" dirty="0" err="1"/>
              <a:t>sc.sno</a:t>
            </a:r>
            <a:r>
              <a:rPr lang="en-US" altLang="zh-CN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E346A8-F3BB-4776-AAF1-9442C4B11204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00034" y="3246075"/>
            <a:ext cx="7572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注</a:t>
            </a:r>
            <a:r>
              <a:rPr lang="en-US" altLang="zh-CN" dirty="0">
                <a:solidFill>
                  <a:srgbClr val="0000FF"/>
                </a:solidFill>
              </a:rPr>
              <a:t>】</a:t>
            </a:r>
            <a:r>
              <a:rPr lang="zh-CN" altLang="en-US" dirty="0">
                <a:solidFill>
                  <a:srgbClr val="0000FF"/>
                </a:solidFill>
              </a:rPr>
              <a:t>学习、掌握分组查询的灵活、严谨应用。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     属性空值的情况</a:t>
            </a:r>
            <a:r>
              <a:rPr lang="en-US" altLang="zh-CN" dirty="0">
                <a:solidFill>
                  <a:srgbClr val="0000FF"/>
                </a:solidFill>
              </a:rPr>
              <a:t>?   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5288" y="4293096"/>
            <a:ext cx="2664544" cy="2376264"/>
            <a:chOff x="571472" y="4143380"/>
            <a:chExt cx="2000264" cy="1414466"/>
          </a:xfrm>
        </p:grpSpPr>
        <p:sp>
          <p:nvSpPr>
            <p:cNvPr id="10" name="六角星 9"/>
            <p:cNvSpPr/>
            <p:nvPr/>
          </p:nvSpPr>
          <p:spPr>
            <a:xfrm>
              <a:off x="571472" y="4357694"/>
              <a:ext cx="2000264" cy="1200152"/>
            </a:xfrm>
            <a:prstGeom prst="star6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在</a:t>
              </a:r>
              <a:r>
                <a:rPr lang="en-US" altLang="zh-CN" dirty="0"/>
                <a:t>group by</a:t>
              </a:r>
              <a:r>
                <a:rPr lang="zh-CN" altLang="en-US" dirty="0"/>
                <a:t>子句中出现</a:t>
              </a:r>
              <a:endParaRPr lang="en-US" altLang="zh-CN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928794" y="4143380"/>
              <a:ext cx="43633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√</a:t>
              </a:r>
            </a:p>
          </p:txBody>
        </p:sp>
      </p:grpSp>
      <p:sp>
        <p:nvSpPr>
          <p:cNvPr id="12" name="横卷形 11"/>
          <p:cNvSpPr/>
          <p:nvPr/>
        </p:nvSpPr>
        <p:spPr>
          <a:xfrm>
            <a:off x="3500429" y="4878268"/>
            <a:ext cx="1821767" cy="1033272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不在分组子句中</a:t>
            </a:r>
          </a:p>
        </p:txBody>
      </p:sp>
      <p:sp>
        <p:nvSpPr>
          <p:cNvPr id="2" name="圆角矩形标注 1"/>
          <p:cNvSpPr/>
          <p:nvPr/>
        </p:nvSpPr>
        <p:spPr>
          <a:xfrm>
            <a:off x="4864996" y="3653723"/>
            <a:ext cx="914400" cy="612648"/>
          </a:xfrm>
          <a:prstGeom prst="wedgeRoundRectCallout">
            <a:avLst>
              <a:gd name="adj1" fmla="val -159897"/>
              <a:gd name="adj2" fmla="val -1679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跳过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5508104" y="3729215"/>
            <a:ext cx="3045903" cy="1665689"/>
            <a:chOff x="5508104" y="3729215"/>
            <a:chExt cx="3045903" cy="1665689"/>
          </a:xfrm>
        </p:grpSpPr>
        <p:sp>
          <p:nvSpPr>
            <p:cNvPr id="14" name="矩形 13"/>
            <p:cNvSpPr/>
            <p:nvPr/>
          </p:nvSpPr>
          <p:spPr>
            <a:xfrm>
              <a:off x="7413619" y="3729215"/>
              <a:ext cx="69545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√</a:t>
              </a:r>
            </a:p>
          </p:txBody>
        </p:sp>
        <p:sp>
          <p:nvSpPr>
            <p:cNvPr id="21" name="横卷形 20"/>
            <p:cNvSpPr/>
            <p:nvPr/>
          </p:nvSpPr>
          <p:spPr>
            <a:xfrm>
              <a:off x="6732240" y="4060296"/>
              <a:ext cx="1821767" cy="1033272"/>
            </a:xfrm>
            <a:prstGeom prst="horizontalScrol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作为集函数参数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5508104" y="4680888"/>
              <a:ext cx="1181172" cy="714016"/>
            </a:xfrm>
            <a:prstGeom prst="straightConnector1">
              <a:avLst/>
            </a:prstGeom>
            <a:ln w="76200"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5508104" y="5379608"/>
            <a:ext cx="3002939" cy="1324012"/>
            <a:chOff x="5508104" y="5379608"/>
            <a:chExt cx="3002939" cy="1324012"/>
          </a:xfrm>
        </p:grpSpPr>
        <p:sp>
          <p:nvSpPr>
            <p:cNvPr id="20" name="矩形 19"/>
            <p:cNvSpPr/>
            <p:nvPr/>
          </p:nvSpPr>
          <p:spPr>
            <a:xfrm>
              <a:off x="7353939" y="5379608"/>
              <a:ext cx="4924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×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横卷形 21"/>
            <p:cNvSpPr/>
            <p:nvPr/>
          </p:nvSpPr>
          <p:spPr>
            <a:xfrm>
              <a:off x="6689276" y="5670348"/>
              <a:ext cx="1821767" cy="1033272"/>
            </a:xfrm>
            <a:prstGeom prst="horizontalScrol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未作为集函数参数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5508104" y="5379608"/>
              <a:ext cx="1080120" cy="807376"/>
            </a:xfrm>
            <a:prstGeom prst="straightConnector1">
              <a:avLst/>
            </a:prstGeom>
            <a:ln w="76200"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>
            <a:off x="587383" y="3933056"/>
            <a:ext cx="3231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select</a:t>
            </a:r>
            <a:r>
              <a:rPr lang="zh-CN" altLang="en-US" dirty="0">
                <a:solidFill>
                  <a:srgbClr val="0000FF"/>
                </a:solidFill>
              </a:rPr>
              <a:t>子句里的属性？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2" grpId="0" animBg="1"/>
      <p:bldP spid="2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95263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例：查学号以</a:t>
            </a:r>
            <a:r>
              <a:rPr lang="zh-CN" altLang="en-US" sz="2800" dirty="0">
                <a:latin typeface="Times New Roman" pitchFamily="18" charset="0"/>
              </a:rPr>
              <a:t>’</a:t>
            </a:r>
            <a:r>
              <a:rPr lang="en-US" altLang="zh-CN" sz="2800" dirty="0"/>
              <a:t>96</a:t>
            </a:r>
            <a:r>
              <a:rPr lang="en-US" altLang="zh-CN" sz="2800" dirty="0">
                <a:latin typeface="Times New Roman" pitchFamily="18" charset="0"/>
              </a:rPr>
              <a:t>’</a:t>
            </a:r>
            <a:r>
              <a:rPr lang="zh-CN" altLang="en-US" sz="2800" dirty="0"/>
              <a:t>开头、选修了</a:t>
            </a:r>
            <a:r>
              <a:rPr lang="en-US" altLang="zh-CN" sz="2800" dirty="0"/>
              <a:t>2</a:t>
            </a:r>
            <a:r>
              <a:rPr lang="zh-CN" altLang="en-US" sz="2800" dirty="0"/>
              <a:t>号课程的学生学号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8AF151-3A7E-497E-82D4-A5C2A7624A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012160" y="1412776"/>
            <a:ext cx="432048" cy="576064"/>
            <a:chOff x="6012160" y="1412776"/>
            <a:chExt cx="432048" cy="576064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012160" y="1412776"/>
              <a:ext cx="432048" cy="57606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6012160" y="1412776"/>
              <a:ext cx="432048" cy="57606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5929322" y="3929066"/>
            <a:ext cx="1008112" cy="864096"/>
            <a:chOff x="5868144" y="4365104"/>
            <a:chExt cx="1008112" cy="86409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5868144" y="4797152"/>
              <a:ext cx="360040" cy="43204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6156176" y="4365104"/>
              <a:ext cx="720080" cy="864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500034" y="1202842"/>
            <a:ext cx="81439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sno,avg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(score)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from sc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group by sno having 2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in (cno)  //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语法错误！！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0034" y="2465856"/>
            <a:ext cx="7143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sno,avg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(score)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from sc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sc1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group by sno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having 2 in (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  select cno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  from sc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sc2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  where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sc2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.sno=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sc1.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sno)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28596" y="2500306"/>
            <a:ext cx="7429552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28596" y="5143512"/>
            <a:ext cx="77153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sno,avg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(grade)  from sc sc1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group by sno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having sno in (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sno from sc sc2 where sc2.cno=2)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072330" y="5500702"/>
            <a:ext cx="1008112" cy="864096"/>
            <a:chOff x="5868144" y="4365104"/>
            <a:chExt cx="1008112" cy="864096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5868144" y="4797152"/>
              <a:ext cx="360040" cy="43204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6156176" y="4365104"/>
              <a:ext cx="720080" cy="864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/>
          <p:cNvCxnSpPr/>
          <p:nvPr/>
        </p:nvCxnSpPr>
        <p:spPr>
          <a:xfrm>
            <a:off x="428596" y="5143512"/>
            <a:ext cx="7429552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0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696913"/>
            <a:ext cx="8569325" cy="5746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10 </a:t>
            </a:r>
            <a:r>
              <a:rPr lang="zh-CN" altLang="en-US" sz="2400" dirty="0"/>
              <a:t>查询</a:t>
            </a:r>
            <a:r>
              <a:rPr lang="en-US" altLang="zh-CN" sz="2400" dirty="0"/>
              <a:t>1</a:t>
            </a:r>
            <a:r>
              <a:rPr lang="zh-CN" altLang="en-US" sz="2400" dirty="0"/>
              <a:t>号院系的每个学生的学号、姓名和平均成绩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395288" y="1344613"/>
            <a:ext cx="849788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</a:t>
            </a:r>
            <a:r>
              <a:rPr lang="en-US" altLang="zh-CN" dirty="0" err="1"/>
              <a:t>sc.sno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student.sname</a:t>
            </a:r>
            <a:r>
              <a:rPr lang="en-US" altLang="zh-CN" dirty="0"/>
              <a:t>, avg(grade)</a:t>
            </a:r>
          </a:p>
          <a:p>
            <a:r>
              <a:rPr lang="en-US" altLang="zh-CN" dirty="0"/>
              <a:t>from sc, student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sc.sno</a:t>
            </a:r>
            <a:r>
              <a:rPr lang="en-US" altLang="zh-CN" dirty="0"/>
              <a:t>=student.sno</a:t>
            </a:r>
          </a:p>
          <a:p>
            <a:r>
              <a:rPr lang="en-US" altLang="zh-CN" dirty="0"/>
              <a:t>and </a:t>
            </a:r>
            <a:r>
              <a:rPr lang="en-US" altLang="zh-CN" dirty="0" err="1"/>
              <a:t>student.sdept</a:t>
            </a:r>
            <a:r>
              <a:rPr lang="en-US" altLang="zh-CN" dirty="0"/>
              <a:t>=1</a:t>
            </a:r>
          </a:p>
          <a:p>
            <a:r>
              <a:rPr lang="en-US" altLang="zh-CN" dirty="0"/>
              <a:t>group by </a:t>
            </a:r>
            <a:r>
              <a:rPr lang="en-US" altLang="zh-CN" dirty="0" err="1"/>
              <a:t>sc.sno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student.sname</a:t>
            </a:r>
            <a:r>
              <a:rPr lang="en-US" altLang="zh-CN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E346A8-F3BB-4776-AAF1-9442C4B11204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98826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162925" cy="51911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</a:rPr>
              <a:t>3.4.2 </a:t>
            </a:r>
            <a:r>
              <a:rPr lang="zh-CN" altLang="en-US" sz="2800" b="1" dirty="0">
                <a:solidFill>
                  <a:schemeClr val="tx1"/>
                </a:solidFill>
              </a:rPr>
              <a:t>连接查询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20713"/>
            <a:ext cx="8642350" cy="3671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什么是连接查询：一个查询涉及两个以上表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为什么？一个表中信息不足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条件：连接相关联的属性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、等值连接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例① 查成绩不及格的学生单位及姓名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select sdept, sname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from student, sc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where </a:t>
            </a:r>
            <a:r>
              <a:rPr lang="en-US" altLang="zh-CN" sz="2400" dirty="0">
                <a:solidFill>
                  <a:srgbClr val="0000FF"/>
                </a:solidFill>
              </a:rPr>
              <a:t>student. sno = </a:t>
            </a:r>
            <a:r>
              <a:rPr lang="en-US" altLang="zh-CN" sz="2400" dirty="0" err="1">
                <a:solidFill>
                  <a:srgbClr val="0000FF"/>
                </a:solidFill>
              </a:rPr>
              <a:t>sc.sno</a:t>
            </a:r>
            <a:r>
              <a:rPr lang="en-US" altLang="zh-CN" sz="2400" dirty="0"/>
              <a:t> and grade &lt; 60;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79388" y="4724400"/>
            <a:ext cx="851693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  select 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en-US" altLang="zh-CN" dirty="0"/>
              <a:t>.sno, sname, sdept</a:t>
            </a:r>
          </a:p>
          <a:p>
            <a:r>
              <a:rPr lang="en-US" altLang="zh-CN" dirty="0"/>
              <a:t>  from student, sc</a:t>
            </a:r>
          </a:p>
          <a:p>
            <a:r>
              <a:rPr lang="en-US" altLang="zh-CN" dirty="0"/>
              <a:t>  where </a:t>
            </a:r>
            <a:r>
              <a:rPr lang="en-US" altLang="zh-CN" dirty="0">
                <a:solidFill>
                  <a:srgbClr val="0000FF"/>
                </a:solidFill>
              </a:rPr>
              <a:t>student. sno = </a:t>
            </a:r>
            <a:r>
              <a:rPr lang="en-US" altLang="zh-CN" dirty="0" err="1">
                <a:solidFill>
                  <a:srgbClr val="0000FF"/>
                </a:solidFill>
              </a:rPr>
              <a:t>sc.sno</a:t>
            </a:r>
            <a:r>
              <a:rPr lang="en-US" altLang="zh-CN" dirty="0"/>
              <a:t> and grade &lt; 60;</a:t>
            </a:r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179388" y="5949950"/>
            <a:ext cx="8640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、自然连接（相同属性，明确写出</a:t>
            </a:r>
            <a:r>
              <a:rPr lang="en-US" altLang="zh-CN"/>
              <a:t>select</a:t>
            </a:r>
            <a:r>
              <a:rPr lang="zh-CN" altLang="en-US"/>
              <a:t>项的来源）</a:t>
            </a:r>
          </a:p>
        </p:txBody>
      </p:sp>
      <p:sp>
        <p:nvSpPr>
          <p:cNvPr id="156679" name="Rectangle 7"/>
          <p:cNvSpPr>
            <a:spLocks noChangeArrowheads="1"/>
          </p:cNvSpPr>
          <p:nvPr/>
        </p:nvSpPr>
        <p:spPr bwMode="auto">
          <a:xfrm>
            <a:off x="250825" y="4292600"/>
            <a:ext cx="8569325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问题：若要查询成绩不及格的学生</a:t>
            </a:r>
            <a:r>
              <a:rPr lang="zh-CN" altLang="en-US" dirty="0">
                <a:solidFill>
                  <a:srgbClr val="FF0000"/>
                </a:solidFill>
              </a:rPr>
              <a:t>学号</a:t>
            </a:r>
            <a:r>
              <a:rPr lang="zh-CN" altLang="en-US" dirty="0"/>
              <a:t>、姓名及单位呢？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937EDD-B32C-4B03-A223-33EBF4A3161B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/>
      <p:bldP spid="156678" grpId="0"/>
      <p:bldP spid="15667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15950"/>
            <a:ext cx="8713788" cy="459898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、自身连接（自己与自己连接，看成两个表）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例：查每一门的间接先修课（即先修课的先修课）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课程表：</a:t>
            </a:r>
            <a:r>
              <a:rPr lang="en-US" altLang="zh-CN" sz="2400" dirty="0"/>
              <a:t>course (cno, cname, cpno, ccredit</a:t>
            </a:r>
            <a:r>
              <a:rPr lang="zh-CN" altLang="en-US" sz="2400" dirty="0"/>
              <a:t>，</a:t>
            </a:r>
            <a:r>
              <a:rPr lang="en-US" altLang="zh-CN" sz="2400" dirty="0"/>
              <a:t>cdept)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>
                <a:solidFill>
                  <a:srgbClr val="0000FF"/>
                </a:solidFill>
              </a:rPr>
              <a:t>first</a:t>
            </a:r>
            <a:r>
              <a:rPr lang="en-US" altLang="zh-CN" sz="2400" dirty="0"/>
              <a:t>.cno, </a:t>
            </a:r>
            <a:r>
              <a:rPr lang="en-US" altLang="zh-CN" sz="2400" dirty="0">
                <a:solidFill>
                  <a:srgbClr val="FF0000"/>
                </a:solidFill>
              </a:rPr>
              <a:t>second</a:t>
            </a:r>
            <a:r>
              <a:rPr lang="en-US" altLang="zh-CN" sz="2400" dirty="0"/>
              <a:t>.pcno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course  </a:t>
            </a:r>
            <a:r>
              <a:rPr lang="en-US" altLang="zh-CN" sz="2400" dirty="0">
                <a:solidFill>
                  <a:srgbClr val="0000FF"/>
                </a:solidFill>
              </a:rPr>
              <a:t>first</a:t>
            </a:r>
            <a:r>
              <a:rPr lang="en-US" altLang="zh-CN" sz="2400" dirty="0"/>
              <a:t>, course </a:t>
            </a:r>
            <a:r>
              <a:rPr lang="en-US" altLang="zh-CN" sz="2400" dirty="0">
                <a:solidFill>
                  <a:srgbClr val="FF0000"/>
                </a:solidFill>
              </a:rPr>
              <a:t>second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</a:t>
            </a:r>
            <a:r>
              <a:rPr lang="en-US" altLang="zh-CN" sz="2400" dirty="0" err="1">
                <a:solidFill>
                  <a:srgbClr val="0000FF"/>
                </a:solidFill>
              </a:rPr>
              <a:t>first</a:t>
            </a:r>
            <a:r>
              <a:rPr lang="en-US" altLang="zh-CN" sz="2400" dirty="0" err="1"/>
              <a:t>.pcno</a:t>
            </a:r>
            <a:r>
              <a:rPr lang="en-US" altLang="zh-CN" sz="2400" dirty="0"/>
              <a:t> = </a:t>
            </a:r>
            <a:r>
              <a:rPr lang="en-US" altLang="zh-CN" sz="2400" dirty="0">
                <a:solidFill>
                  <a:srgbClr val="FF0000"/>
                </a:solidFill>
              </a:rPr>
              <a:t>second</a:t>
            </a:r>
            <a:r>
              <a:rPr lang="en-US" altLang="zh-CN" sz="2400" dirty="0"/>
              <a:t>. cno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将</a:t>
            </a:r>
            <a:r>
              <a:rPr lang="en-US" altLang="zh-CN" sz="2400" dirty="0"/>
              <a:t>course</a:t>
            </a:r>
            <a:r>
              <a:rPr lang="zh-CN" altLang="en-US" sz="2400" dirty="0"/>
              <a:t>分别看成</a:t>
            </a:r>
            <a:r>
              <a:rPr lang="en-US" altLang="zh-CN" sz="2400" dirty="0"/>
              <a:t>first</a:t>
            </a:r>
            <a:r>
              <a:rPr lang="zh-CN" altLang="en-US" sz="2400" dirty="0"/>
              <a:t>和</a:t>
            </a:r>
            <a:r>
              <a:rPr lang="en-US" altLang="zh-CN" sz="2400" dirty="0"/>
              <a:t>second</a:t>
            </a:r>
            <a:r>
              <a:rPr lang="zh-CN" altLang="en-US" sz="2400" dirty="0"/>
              <a:t>两个表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3B2A69-9FAA-49A7-9691-D415EC745E8B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F51C1F7-C2EB-43DF-89B0-0166F7B669E7}"/>
              </a:ext>
            </a:extLst>
          </p:cNvPr>
          <p:cNvSpPr/>
          <p:nvPr/>
        </p:nvSpPr>
        <p:spPr>
          <a:xfrm>
            <a:off x="6218535" y="2708920"/>
            <a:ext cx="2674640" cy="2232248"/>
          </a:xfrm>
          <a:prstGeom prst="wedgeRoundRectCallout">
            <a:avLst>
              <a:gd name="adj1" fmla="val -62522"/>
              <a:gd name="adj2" fmla="val -1612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在</a:t>
            </a:r>
            <a:r>
              <a:rPr lang="en-US" altLang="zh-CN" dirty="0"/>
              <a:t>DBMS</a:t>
            </a:r>
            <a:r>
              <a:rPr lang="zh-CN" altLang="en-US" dirty="0"/>
              <a:t>的查询处理过程中，取了两次别名的表对应两份不同的中间数据，占据不同的缓存资源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66976E-F96E-44C7-A482-EDE6FB2C7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398860"/>
            <a:ext cx="6257817" cy="212648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688975"/>
            <a:ext cx="8642350" cy="4597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、多表连接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查成绩不及格的学生号、姓名及课程名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 err="1"/>
              <a:t>sc.sno</a:t>
            </a:r>
            <a:r>
              <a:rPr lang="en-US" altLang="zh-CN" sz="2400" dirty="0"/>
              <a:t>, sname, cname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student, course, sc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student. sno = sc. sno.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and course. cno = sc. cno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and grade &lt;60;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4FC547-1628-4DD4-977A-178EFE562E44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50825" y="763588"/>
            <a:ext cx="8713788" cy="180815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注：别名的使用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表名 别名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，例如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 depstu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itchFamily="2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查询选修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计算机系开设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号课程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的学生的学号、姓名、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学生所在院系名称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0825" y="2643182"/>
            <a:ext cx="864076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  </a:t>
            </a:r>
            <a:r>
              <a:rPr lang="en-US" altLang="zh-CN" dirty="0" err="1"/>
              <a:t>stu.sno</a:t>
            </a:r>
            <a:r>
              <a:rPr lang="en-US" altLang="zh-CN" dirty="0"/>
              <a:t> as </a:t>
            </a:r>
            <a:r>
              <a:rPr lang="en-US" altLang="zh-CN" dirty="0" err="1"/>
              <a:t>stu_sno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	sname as </a:t>
            </a:r>
            <a:r>
              <a:rPr lang="en-US" altLang="zh-CN" dirty="0" err="1"/>
              <a:t>stu_name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0000FF"/>
                </a:solidFill>
              </a:rPr>
              <a:t>deps.depname</a:t>
            </a:r>
            <a:r>
              <a:rPr lang="en-US" altLang="zh-CN" dirty="0"/>
              <a:t> as </a:t>
            </a:r>
            <a:r>
              <a:rPr lang="en-US" altLang="zh-CN" dirty="0" err="1"/>
              <a:t>stu_dname</a:t>
            </a:r>
            <a:endParaRPr lang="en-US" altLang="zh-CN" dirty="0"/>
          </a:p>
          <a:p>
            <a:r>
              <a:rPr lang="en-US" altLang="zh-CN" dirty="0"/>
              <a:t>from  </a:t>
            </a:r>
            <a:r>
              <a:rPr lang="en-US" altLang="zh-CN" dirty="0" err="1"/>
              <a:t>stu</a:t>
            </a:r>
            <a:r>
              <a:rPr lang="en-US" altLang="zh-CN" dirty="0"/>
              <a:t>,  course,  </a:t>
            </a:r>
            <a:r>
              <a:rPr lang="en-US" altLang="zh-CN" dirty="0">
                <a:solidFill>
                  <a:srgbClr val="0000FF"/>
                </a:solidFill>
              </a:rPr>
              <a:t>dep deps</a:t>
            </a:r>
            <a:r>
              <a:rPr lang="en-US" altLang="zh-CN" dirty="0"/>
              <a:t>,  </a:t>
            </a:r>
            <a:r>
              <a:rPr lang="en-US" altLang="zh-CN" dirty="0">
                <a:solidFill>
                  <a:srgbClr val="FF0000"/>
                </a:solidFill>
              </a:rPr>
              <a:t>dep  </a:t>
            </a:r>
            <a:r>
              <a:rPr lang="en-US" altLang="zh-CN" dirty="0" err="1">
                <a:solidFill>
                  <a:srgbClr val="FF0000"/>
                </a:solidFill>
              </a:rPr>
              <a:t>depc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/>
              <a:t>sc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77800" y="4082045"/>
            <a:ext cx="86772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where </a:t>
            </a:r>
            <a:r>
              <a:rPr lang="en-US" altLang="zh-CN" dirty="0" err="1"/>
              <a:t>stu.sno</a:t>
            </a:r>
            <a:r>
              <a:rPr lang="en-US" altLang="zh-CN" dirty="0"/>
              <a:t>=</a:t>
            </a:r>
            <a:r>
              <a:rPr lang="en-US" altLang="zh-CN" dirty="0" err="1"/>
              <a:t>sc.sno</a:t>
            </a:r>
            <a:endParaRPr lang="en-US" altLang="zh-CN" dirty="0"/>
          </a:p>
          <a:p>
            <a:r>
              <a:rPr lang="en-US" altLang="zh-CN" dirty="0"/>
              <a:t>and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CN" dirty="0" err="1"/>
              <a:t>sc.cno</a:t>
            </a:r>
            <a:r>
              <a:rPr lang="en-US" altLang="zh-CN" dirty="0"/>
              <a:t>=</a:t>
            </a:r>
            <a:r>
              <a:rPr lang="en-US" altLang="zh-CN" dirty="0" err="1"/>
              <a:t>course.cno</a:t>
            </a:r>
            <a:endParaRPr lang="en-US" altLang="zh-CN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FF0000"/>
                </a:solidFill>
              </a:rPr>
              <a:t>course.depno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depc.depno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00FF"/>
                </a:solidFill>
              </a:rPr>
              <a:t>stu.sdeptno</a:t>
            </a:r>
            <a:r>
              <a:rPr lang="en-US" altLang="zh-CN" dirty="0">
                <a:solidFill>
                  <a:srgbClr val="0000FF"/>
                </a:solidFill>
              </a:rPr>
              <a:t>=</a:t>
            </a:r>
            <a:r>
              <a:rPr lang="en-US" altLang="zh-CN" dirty="0" err="1">
                <a:solidFill>
                  <a:srgbClr val="0000FF"/>
                </a:solidFill>
              </a:rPr>
              <a:t>deps.depno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77800" y="5957861"/>
            <a:ext cx="8642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And 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sc.cno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=1 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7164288" y="4204666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7164288" y="4870425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7164288" y="4510385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7164288" y="5157192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77800" y="5559623"/>
            <a:ext cx="5234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FF0000"/>
                </a:solidFill>
              </a:rPr>
              <a:t>depc.depname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“计算机系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”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 animBg="1"/>
      <p:bldP spid="11" grpId="0" animBg="1"/>
      <p:bldP spid="12" grpId="0" animBg="1"/>
      <p:bldP spid="13" grpId="0" animBg="1"/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title"/>
          </p:nvPr>
        </p:nvSpPr>
        <p:spPr>
          <a:xfrm>
            <a:off x="225425" y="548680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</a:rPr>
              <a:t>5</a:t>
            </a:r>
            <a:r>
              <a:rPr lang="zh-CN" altLang="en-US" sz="2400" dirty="0">
                <a:solidFill>
                  <a:schemeClr val="tx1"/>
                </a:solidFill>
              </a:rPr>
              <a:t>、外连接</a:t>
            </a:r>
          </a:p>
        </p:txBody>
      </p:sp>
      <p:sp>
        <p:nvSpPr>
          <p:cNvPr id="69635" name="Rectangle 4"/>
          <p:cNvSpPr>
            <a:spLocks noGrp="1" noChangeArrowheads="1"/>
          </p:cNvSpPr>
          <p:nvPr>
            <p:ph idx="1"/>
          </p:nvPr>
        </p:nvSpPr>
        <p:spPr>
          <a:xfrm>
            <a:off x="225425" y="1157763"/>
            <a:ext cx="8642350" cy="5563711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查询所有学生的基本信息以及选课信息，如果没有选课，则只列出基本信息。</a:t>
            </a: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Sql server</a:t>
            </a:r>
            <a:r>
              <a:rPr lang="zh-CN" altLang="en-US" sz="2400" dirty="0"/>
              <a:t>写法：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 err="1"/>
              <a:t>student.sno,sname,ssex,sage,sdept,cno,grade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</a:t>
            </a:r>
            <a:r>
              <a:rPr lang="en-US" altLang="zh-CN" sz="2400" dirty="0">
                <a:solidFill>
                  <a:srgbClr val="FF0000"/>
                </a:solidFill>
              </a:rPr>
              <a:t>student left outer join sc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on </a:t>
            </a:r>
            <a:r>
              <a:rPr lang="en-US" altLang="zh-CN" sz="2400" dirty="0"/>
              <a:t>student.sno = </a:t>
            </a:r>
            <a:r>
              <a:rPr lang="en-US" altLang="zh-CN" sz="2400" dirty="0" err="1"/>
              <a:t>sc.sno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某些参考书上的写法：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 err="1"/>
              <a:t>student.sno,sname,ssex,sage,sdept,cno,grade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student, sc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student.sno = </a:t>
            </a:r>
            <a:r>
              <a:rPr lang="en-US" altLang="zh-CN" sz="2400" dirty="0" err="1"/>
              <a:t>sc.sno</a:t>
            </a:r>
            <a:r>
              <a:rPr lang="en-US" altLang="zh-CN" sz="2400" dirty="0">
                <a:solidFill>
                  <a:srgbClr val="FF0000"/>
                </a:solidFill>
              </a:rPr>
              <a:t>(*)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097310-9D6C-412D-8C98-8A556B2CE62B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50825" y="620713"/>
            <a:ext cx="8162925" cy="1187450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实例：查询某种商品的顾客反馈意见</a:t>
            </a:r>
            <a:r>
              <a:rPr lang="en-US" altLang="zh-CN" sz="2400" dirty="0">
                <a:solidFill>
                  <a:schemeClr val="tx1"/>
                </a:solidFill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</a:rPr>
              <a:t>顾客意见表（顾客、商品号、对该种商品的意见）、商品表（商品号、商品名称） </a:t>
            </a:r>
            <a:r>
              <a:rPr lang="en-US" altLang="zh-CN" sz="2400" dirty="0">
                <a:solidFill>
                  <a:schemeClr val="tx1"/>
                </a:solidFill>
              </a:rPr>
              <a:t>】</a:t>
            </a:r>
          </a:p>
        </p:txBody>
      </p:sp>
      <p:sp>
        <p:nvSpPr>
          <p:cNvPr id="7172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1258937" y="1556643"/>
            <a:ext cx="7705551" cy="15843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zh-CN" altLang="en-US" sz="2400" dirty="0"/>
              <a:t>商品表</a:t>
            </a:r>
            <a:r>
              <a:rPr lang="en-US" altLang="zh-CN" sz="2400" dirty="0"/>
              <a:t>.</a:t>
            </a:r>
            <a:r>
              <a:rPr lang="zh-CN" altLang="en-US" sz="2400" dirty="0"/>
              <a:t>商品号</a:t>
            </a:r>
            <a:r>
              <a:rPr lang="en-US" altLang="zh-CN" sz="2400" dirty="0"/>
              <a:t>,</a:t>
            </a:r>
            <a:r>
              <a:rPr lang="zh-CN" altLang="en-US" sz="2400" dirty="0"/>
              <a:t>商品名称</a:t>
            </a:r>
            <a:r>
              <a:rPr lang="en-US" altLang="zh-CN" sz="2400" dirty="0"/>
              <a:t>,</a:t>
            </a:r>
            <a:r>
              <a:rPr lang="zh-CN" altLang="en-US" sz="2400" dirty="0"/>
              <a:t>顾客</a:t>
            </a:r>
            <a:r>
              <a:rPr lang="en-US" altLang="zh-CN" sz="2400" dirty="0"/>
              <a:t>,</a:t>
            </a:r>
            <a:r>
              <a:rPr lang="zh-CN" altLang="en-US" sz="2400" dirty="0"/>
              <a:t>对该种商品的意见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 </a:t>
            </a:r>
            <a:r>
              <a:rPr lang="zh-CN" altLang="en-US" sz="2400" dirty="0"/>
              <a:t>商品表 </a:t>
            </a:r>
            <a:r>
              <a:rPr lang="en-US" altLang="zh-CN" sz="2400" dirty="0"/>
              <a:t>left outer join </a:t>
            </a:r>
            <a:r>
              <a:rPr lang="zh-CN" altLang="en-US" sz="2400" dirty="0"/>
              <a:t>顾客意见表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on </a:t>
            </a:r>
            <a:r>
              <a:rPr lang="zh-CN" altLang="en-US" sz="2400" dirty="0"/>
              <a:t>商品表</a:t>
            </a:r>
            <a:r>
              <a:rPr lang="en-US" altLang="zh-CN" sz="2400" dirty="0"/>
              <a:t>.</a:t>
            </a:r>
            <a:r>
              <a:rPr lang="zh-CN" altLang="en-US" sz="2400" dirty="0"/>
              <a:t>商品号 ＝ 顾客意见表</a:t>
            </a:r>
            <a:r>
              <a:rPr lang="en-US" altLang="zh-CN" sz="2400" dirty="0"/>
              <a:t>.</a:t>
            </a:r>
            <a:r>
              <a:rPr lang="zh-CN" altLang="en-US" sz="2400" dirty="0"/>
              <a:t>商品号</a:t>
            </a:r>
          </a:p>
        </p:txBody>
      </p:sp>
      <p:graphicFrame>
        <p:nvGraphicFramePr>
          <p:cNvPr id="165892" name="Object 102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1843074"/>
              </p:ext>
            </p:extLst>
          </p:nvPr>
        </p:nvGraphicFramePr>
        <p:xfrm>
          <a:off x="2268538" y="2927350"/>
          <a:ext cx="291782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Document" r:id="rId3" imgW="4962331" imgH="3607089" progId="Word.Document.8">
                  <p:embed/>
                </p:oleObj>
              </mc:Choice>
              <mc:Fallback>
                <p:oleObj name="Document" r:id="rId3" imgW="4962331" imgH="3607089" progId="Word.Document.8">
                  <p:embed/>
                  <p:pic>
                    <p:nvPicPr>
                      <p:cNvPr id="0" name="Picture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927350"/>
                        <a:ext cx="2917825" cy="212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F25D12-E427-4075-92AA-F08A49758A71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38290881"/>
              </p:ext>
            </p:extLst>
          </p:nvPr>
        </p:nvGraphicFramePr>
        <p:xfrm>
          <a:off x="96838" y="2922588"/>
          <a:ext cx="2309812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Document" r:id="rId5" imgW="3835051" imgH="3667106" progId="Word.Document.8">
                  <p:embed/>
                </p:oleObj>
              </mc:Choice>
              <mc:Fallback>
                <p:oleObj name="Document" r:id="rId5" imgW="3835051" imgH="3667106" progId="Word.Document.8">
                  <p:embed/>
                  <p:pic>
                    <p:nvPicPr>
                      <p:cNvPr id="0" name="Picture 4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8" y="2922588"/>
                        <a:ext cx="2309812" cy="221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69728387"/>
              </p:ext>
            </p:extLst>
          </p:nvPr>
        </p:nvGraphicFramePr>
        <p:xfrm>
          <a:off x="5073651" y="2922588"/>
          <a:ext cx="3659996" cy="2211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name="Document" r:id="rId7" imgW="6919615" imgH="4169214" progId="Word.Document.8">
                  <p:embed/>
                </p:oleObj>
              </mc:Choice>
              <mc:Fallback>
                <p:oleObj name="Document" r:id="rId7" imgW="6919615" imgH="4169214" progId="Word.Document.8">
                  <p:embed/>
                  <p:pic>
                    <p:nvPicPr>
                      <p:cNvPr id="0" name="Picture 4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1" y="2922588"/>
                        <a:ext cx="3659996" cy="221138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爆炸形 2 3"/>
          <p:cNvSpPr/>
          <p:nvPr/>
        </p:nvSpPr>
        <p:spPr>
          <a:xfrm>
            <a:off x="92075" y="5291832"/>
            <a:ext cx="8944421" cy="1249363"/>
          </a:xfrm>
          <a:prstGeom prst="irregularSeal2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 news is      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good news!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title"/>
          </p:nvPr>
        </p:nvSpPr>
        <p:spPr>
          <a:xfrm>
            <a:off x="296863" y="688975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</a:rPr>
              <a:t>3.4.3 </a:t>
            </a:r>
            <a:r>
              <a:rPr lang="zh-CN" altLang="en-US" sz="2800" b="1" dirty="0">
                <a:solidFill>
                  <a:schemeClr val="tx1"/>
                </a:solidFill>
              </a:rPr>
              <a:t>嵌套查询</a:t>
            </a:r>
          </a:p>
        </p:txBody>
      </p:sp>
      <p:sp>
        <p:nvSpPr>
          <p:cNvPr id="70659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1265238"/>
            <a:ext cx="8569325" cy="43068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什么是嵌套</a:t>
            </a:r>
            <a:r>
              <a:rPr lang="en-US" altLang="zh-CN" sz="2400" dirty="0"/>
              <a:t>? </a:t>
            </a:r>
            <a:r>
              <a:rPr lang="zh-CN" altLang="en-US" sz="2400" dirty="0"/>
              <a:t>一个</a:t>
            </a:r>
            <a:r>
              <a:rPr lang="en-US" altLang="zh-CN" sz="2400" dirty="0"/>
              <a:t>select</a:t>
            </a:r>
            <a:r>
              <a:rPr lang="zh-CN" altLang="en-US" sz="2400" dirty="0"/>
              <a:t>嵌套在另一个</a:t>
            </a:r>
            <a:r>
              <a:rPr lang="en-US" altLang="zh-CN" sz="2400" dirty="0"/>
              <a:t>select</a:t>
            </a:r>
            <a:r>
              <a:rPr lang="zh-CN" altLang="en-US" sz="2400" dirty="0"/>
              <a:t>条件中查询。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sname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sno in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	( </a:t>
            </a:r>
            <a:r>
              <a:rPr lang="en-US" altLang="zh-CN" sz="2400" dirty="0">
                <a:solidFill>
                  <a:srgbClr val="0000FF"/>
                </a:solidFill>
              </a:rPr>
              <a:t>select sno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	  from sc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	  where cno = 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r>
              <a:rPr lang="en-US" altLang="zh-CN" sz="2400" dirty="0">
                <a:solidFill>
                  <a:srgbClr val="0000FF"/>
                </a:solidFill>
              </a:rPr>
              <a:t>02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B18D8D-0C1D-4CCA-B947-2B5FFC83C06F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688975"/>
            <a:ext cx="8569325" cy="5740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为什么嵌套？一般是一个关系中找不到条件对应的属性。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属性：公共属性。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执行：先里后外（不相关嵌套查询）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特征：逐步分解，层次分明，易理解，易书写，结构化。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、简单嵌套查询。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例：成绩不及格的学生姓名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select sno, sname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from student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where sno in ( </a:t>
            </a:r>
            <a:r>
              <a:rPr lang="en-US" altLang="zh-CN" sz="2400" dirty="0">
                <a:solidFill>
                  <a:srgbClr val="0000FF"/>
                </a:solidFill>
              </a:rPr>
              <a:t>select sno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                 from sc where grade &lt;60</a:t>
            </a:r>
            <a:r>
              <a:rPr lang="en-US" altLang="zh-CN" sz="2400" dirty="0"/>
              <a:t>);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4BFD60-F95F-4946-8A65-5268F1102824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617538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</a:rPr>
              <a:t>2</a:t>
            </a:r>
            <a:r>
              <a:rPr lang="zh-CN" altLang="en-US" sz="2400">
                <a:solidFill>
                  <a:schemeClr val="tx1"/>
                </a:solidFill>
              </a:rPr>
              <a:t>、多层嵌套查询</a:t>
            </a:r>
          </a:p>
        </p:txBody>
      </p:sp>
      <p:sp>
        <p:nvSpPr>
          <p:cNvPr id="72707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1193800"/>
            <a:ext cx="8110538" cy="48069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/>
              <a:t>例：查选修“</a:t>
            </a:r>
            <a:r>
              <a:rPr lang="en-US" altLang="zh-CN" sz="2000" dirty="0"/>
              <a:t>DBS</a:t>
            </a:r>
            <a:r>
              <a:rPr lang="zh-CN" altLang="en-US" sz="2000" dirty="0"/>
              <a:t>”课程学生的学号及姓名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sno, sname from student where sno in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(</a:t>
            </a:r>
            <a:r>
              <a:rPr lang="en-US" altLang="zh-CN" sz="2400" dirty="0">
                <a:solidFill>
                  <a:srgbClr val="0000FF"/>
                </a:solidFill>
              </a:rPr>
              <a:t>select sno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from sc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where cno in</a:t>
            </a:r>
            <a:r>
              <a:rPr lang="en-US" altLang="zh-CN" sz="2400" dirty="0"/>
              <a:t>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     (</a:t>
            </a:r>
            <a:r>
              <a:rPr lang="en-US" altLang="zh-CN" sz="2400" dirty="0">
                <a:solidFill>
                  <a:srgbClr val="00B050"/>
                </a:solidFill>
              </a:rPr>
              <a:t>select cno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         from course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         where cname=</a:t>
            </a:r>
            <a:r>
              <a:rPr lang="en-US" altLang="zh-CN" sz="2400" dirty="0">
                <a:solidFill>
                  <a:srgbClr val="00B050"/>
                </a:solidFill>
                <a:latin typeface="Times New Roman" pitchFamily="18" charset="0"/>
              </a:rPr>
              <a:t>’</a:t>
            </a:r>
            <a:r>
              <a:rPr lang="en-US" altLang="zh-CN" sz="2400" dirty="0">
                <a:solidFill>
                  <a:srgbClr val="00B050"/>
                </a:solidFill>
              </a:rPr>
              <a:t>DBS</a:t>
            </a:r>
            <a:r>
              <a:rPr lang="en-US" altLang="zh-CN" sz="2400" dirty="0">
                <a:solidFill>
                  <a:srgbClr val="00B050"/>
                </a:solidFill>
                <a:latin typeface="Times New Roman" pitchFamily="18" charset="0"/>
              </a:rPr>
              <a:t>’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)</a:t>
            </a:r>
            <a:r>
              <a:rPr lang="zh-CN" altLang="en-US" sz="2400" dirty="0"/>
              <a:t>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B05527-DFCF-4AEE-90C9-70B898D0B8E4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661988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</a:rPr>
              <a:t>3</a:t>
            </a:r>
            <a:r>
              <a:rPr lang="zh-CN" altLang="en-US" sz="2400">
                <a:solidFill>
                  <a:schemeClr val="tx1"/>
                </a:solidFill>
              </a:rPr>
              <a:t>、同表嵌查询</a:t>
            </a:r>
          </a:p>
        </p:txBody>
      </p:sp>
      <p:sp>
        <p:nvSpPr>
          <p:cNvPr id="73731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1166813"/>
            <a:ext cx="8110538" cy="4191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例：查与</a:t>
            </a:r>
            <a:r>
              <a:rPr lang="zh-CN" altLang="en-US" sz="2400" dirty="0">
                <a:latin typeface="Times New Roman" pitchFamily="18" charset="0"/>
              </a:rPr>
              <a:t>“</a:t>
            </a:r>
            <a:r>
              <a:rPr lang="zh-CN" altLang="en-US" sz="2400" dirty="0"/>
              <a:t>马超</a:t>
            </a:r>
            <a:r>
              <a:rPr lang="zh-CN" altLang="en-US" sz="2400" dirty="0">
                <a:latin typeface="Times New Roman" pitchFamily="18" charset="0"/>
              </a:rPr>
              <a:t>”</a:t>
            </a:r>
            <a:r>
              <a:rPr lang="zh-CN" altLang="en-US" sz="2400" dirty="0"/>
              <a:t>同在一个系的学生的单位及学号，姓名，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sdept, sno, sname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sdept in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00FF"/>
                </a:solidFill>
              </a:rPr>
              <a:t>select sdept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where sname=</a:t>
            </a:r>
            <a:r>
              <a:rPr lang="en-US" altLang="zh-CN" sz="2400" dirty="0"/>
              <a:t>‘ </a:t>
            </a:r>
            <a:r>
              <a:rPr lang="zh-CN" altLang="en-US" sz="2400" dirty="0">
                <a:solidFill>
                  <a:srgbClr val="0000FF"/>
                </a:solidFill>
              </a:rPr>
              <a:t>马超</a:t>
            </a:r>
            <a:r>
              <a:rPr lang="en-US" altLang="zh-CN" sz="2400" dirty="0"/>
              <a:t>’)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and sname!=‘</a:t>
            </a:r>
            <a:r>
              <a:rPr lang="zh-CN" altLang="en-US" sz="2400" dirty="0"/>
              <a:t>马超</a:t>
            </a:r>
            <a:r>
              <a:rPr lang="en-US" altLang="zh-CN" sz="2400" dirty="0"/>
              <a:t>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8924D-6F77-4C4F-B242-5104F7D440B1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</a:rPr>
              <a:t>4</a:t>
            </a:r>
            <a:r>
              <a:rPr lang="zh-CN" altLang="en-US" sz="2400">
                <a:solidFill>
                  <a:schemeClr val="tx1"/>
                </a:solidFill>
              </a:rPr>
              <a:t>、相关嵌套查询</a:t>
            </a:r>
          </a:p>
        </p:txBody>
      </p:sp>
      <p:sp>
        <p:nvSpPr>
          <p:cNvPr id="74755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765175"/>
            <a:ext cx="8713788" cy="5832475"/>
          </a:xfrm>
        </p:spPr>
        <p:txBody>
          <a:bodyPr/>
          <a:lstStyle/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例：查选修了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号课程的学生姓名。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select sname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from 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/>
              <a:t> where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in (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select cno 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from sc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where sno=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>
                <a:solidFill>
                  <a:srgbClr val="0000FF"/>
                </a:solidFill>
              </a:rPr>
              <a:t>.sno</a:t>
            </a:r>
            <a:r>
              <a:rPr lang="en-US" altLang="zh-CN" sz="2400" dirty="0"/>
              <a:t>);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工作过程；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）外层</a:t>
            </a:r>
            <a:r>
              <a:rPr lang="en-US" altLang="zh-CN" sz="2400" dirty="0"/>
              <a:t>student </a:t>
            </a:r>
            <a:r>
              <a:rPr lang="zh-CN" altLang="en-US" sz="2400" dirty="0"/>
              <a:t>找到第一个元组，取出</a:t>
            </a:r>
            <a:r>
              <a:rPr lang="en-US" altLang="zh-CN" sz="2400" dirty="0"/>
              <a:t>sno</a:t>
            </a:r>
            <a:r>
              <a:rPr lang="zh-CN" altLang="en-US" sz="2400" dirty="0"/>
              <a:t>；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）在里层</a:t>
            </a:r>
            <a:r>
              <a:rPr lang="en-US" altLang="zh-CN" sz="2400" dirty="0"/>
              <a:t>SC</a:t>
            </a:r>
            <a:r>
              <a:rPr lang="zh-CN" altLang="en-US" sz="2400" dirty="0"/>
              <a:t>中找</a:t>
            </a:r>
            <a:r>
              <a:rPr lang="en-US" altLang="zh-CN" sz="2400" dirty="0"/>
              <a:t>SNO</a:t>
            </a:r>
            <a:r>
              <a:rPr lang="zh-CN" altLang="en-US" sz="2400" dirty="0"/>
              <a:t>选修课的集合（多门课程，</a:t>
            </a:r>
            <a:r>
              <a:rPr lang="en-US" altLang="zh-CN" sz="2400" dirty="0"/>
              <a:t>01</a:t>
            </a:r>
            <a:r>
              <a:rPr lang="zh-CN" altLang="en-US" sz="2400" dirty="0"/>
              <a:t>，</a:t>
            </a:r>
            <a:r>
              <a:rPr lang="en-US" altLang="zh-CN" sz="2400" dirty="0"/>
              <a:t>02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r>
              <a:rPr lang="zh-CN" altLang="en-US" sz="2400" dirty="0"/>
              <a:t>）；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在该集合中，则取出</a:t>
            </a:r>
            <a:r>
              <a:rPr lang="en-US" altLang="zh-CN" sz="2400" dirty="0"/>
              <a:t>sname</a:t>
            </a:r>
            <a:r>
              <a:rPr lang="zh-CN" altLang="en-US" sz="2400" dirty="0"/>
              <a:t>；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）再取外层第二个元组。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          。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          。</a:t>
            </a:r>
          </a:p>
          <a:p>
            <a:pPr marL="804863" indent="-804863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          。 </a:t>
            </a:r>
          </a:p>
        </p:txBody>
      </p:sp>
      <p:sp>
        <p:nvSpPr>
          <p:cNvPr id="74756" name="AutoShape 1028"/>
          <p:cNvSpPr>
            <a:spLocks noChangeArrowheads="1"/>
          </p:cNvSpPr>
          <p:nvPr/>
        </p:nvSpPr>
        <p:spPr bwMode="auto">
          <a:xfrm>
            <a:off x="8388350" y="2565400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09" name="Text Box 1029"/>
          <p:cNvSpPr txBox="1">
            <a:spLocks noChangeArrowheads="1"/>
          </p:cNvSpPr>
          <p:nvPr/>
        </p:nvSpPr>
        <p:spPr bwMode="auto">
          <a:xfrm>
            <a:off x="395288" y="6165850"/>
            <a:ext cx="54168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注：与之相对应的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不相关嵌套查询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B67831-FE98-49B3-B079-AD62AADA0D00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733425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</a:rPr>
              <a:t>5</a:t>
            </a:r>
            <a:r>
              <a:rPr lang="zh-CN" altLang="en-US" sz="2400">
                <a:solidFill>
                  <a:schemeClr val="tx1"/>
                </a:solidFill>
              </a:rPr>
              <a:t>、比较嵌套查询</a:t>
            </a:r>
          </a:p>
        </p:txBody>
      </p:sp>
      <p:sp>
        <p:nvSpPr>
          <p:cNvPr id="75779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1309688"/>
            <a:ext cx="8110538" cy="419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（当查询结果列值唯一时，可用比较，而不用</a:t>
            </a:r>
            <a:r>
              <a:rPr lang="en-US" altLang="zh-CN" sz="2400" dirty="0"/>
              <a:t>in</a:t>
            </a:r>
            <a:r>
              <a:rPr lang="zh-CN" altLang="en-US" sz="2400" dirty="0"/>
              <a:t>）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sno, sname, sdept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where sdept =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(</a:t>
            </a:r>
            <a:r>
              <a:rPr lang="en-US" altLang="zh-CN" sz="2400" dirty="0">
                <a:solidFill>
                  <a:srgbClr val="0000FF"/>
                </a:solidFill>
              </a:rPr>
              <a:t>select  sdept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	 from   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	 where sname = 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‘</a:t>
            </a:r>
            <a:r>
              <a:rPr lang="zh-CN" altLang="en-US" sz="2400" dirty="0">
                <a:solidFill>
                  <a:srgbClr val="0000FF"/>
                </a:solidFill>
              </a:rPr>
              <a:t>马超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and sname&lt;&gt;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马超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;</a:t>
            </a:r>
          </a:p>
        </p:txBody>
      </p:sp>
      <p:sp>
        <p:nvSpPr>
          <p:cNvPr id="75780" name="AutoShape 5"/>
          <p:cNvSpPr>
            <a:spLocks noChangeArrowheads="1"/>
          </p:cNvSpPr>
          <p:nvPr/>
        </p:nvSpPr>
        <p:spPr bwMode="auto">
          <a:xfrm>
            <a:off x="8388350" y="3038475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149F7-67DE-4F56-9DDC-90FB06CBB481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</a:rPr>
              <a:t>6</a:t>
            </a:r>
            <a:r>
              <a:rPr lang="zh-CN" altLang="en-US" sz="2400">
                <a:solidFill>
                  <a:schemeClr val="tx1"/>
                </a:solidFill>
              </a:rPr>
              <a:t>、</a:t>
            </a:r>
            <a:r>
              <a:rPr lang="en-US" altLang="zh-CN" sz="2400">
                <a:solidFill>
                  <a:schemeClr val="tx1"/>
                </a:solidFill>
              </a:rPr>
              <a:t>any </a:t>
            </a:r>
            <a:r>
              <a:rPr lang="zh-CN" altLang="en-US" sz="2400">
                <a:solidFill>
                  <a:schemeClr val="tx1"/>
                </a:solidFill>
              </a:rPr>
              <a:t>嵌套查询</a:t>
            </a:r>
          </a:p>
        </p:txBody>
      </p:sp>
      <p:sp>
        <p:nvSpPr>
          <p:cNvPr id="76803" name="Rectangle 4"/>
          <p:cNvSpPr>
            <a:spLocks noGrp="1" noChangeArrowheads="1"/>
          </p:cNvSpPr>
          <p:nvPr>
            <p:ph idx="1"/>
          </p:nvPr>
        </p:nvSpPr>
        <p:spPr>
          <a:xfrm>
            <a:off x="107504" y="476250"/>
            <a:ext cx="9036495" cy="61928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&gt;any</a:t>
            </a:r>
            <a:r>
              <a:rPr lang="zh-CN" altLang="en-US" sz="2400" dirty="0"/>
              <a:t>，大于子查询结果中的</a:t>
            </a:r>
            <a:r>
              <a:rPr lang="zh-CN" altLang="en-US" sz="2400" b="1" dirty="0">
                <a:solidFill>
                  <a:srgbClr val="FF0000"/>
                </a:solidFill>
              </a:rPr>
              <a:t>某个</a:t>
            </a:r>
            <a:r>
              <a:rPr lang="zh-CN" altLang="en-US" sz="2400" dirty="0"/>
              <a:t>值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&lt;any</a:t>
            </a:r>
            <a:r>
              <a:rPr lang="zh-CN" altLang="en-US" sz="2400" dirty="0"/>
              <a:t>，小于子查询结果中的某个值。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&gt;=any</a:t>
            </a:r>
            <a:r>
              <a:rPr lang="zh-CN" altLang="en-US" sz="2400" dirty="0"/>
              <a:t>，大于等于子查询结果中的某个值。。。。。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dirty="0"/>
              <a:t>例：查询其它系比</a:t>
            </a:r>
            <a:r>
              <a:rPr lang="zh-CN" altLang="en-US" sz="2200" dirty="0">
                <a:solidFill>
                  <a:srgbClr val="FF0000"/>
                </a:solidFill>
              </a:rPr>
              <a:t>计算机系某一学生</a:t>
            </a:r>
            <a:r>
              <a:rPr lang="zh-CN" altLang="en-US" sz="2200" dirty="0"/>
              <a:t>年龄小的学生名单及其对应年龄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sname, sage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sage &lt;any(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select sage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from student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where sdept =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‘</a:t>
            </a:r>
            <a:r>
              <a:rPr lang="zh-CN" altLang="en-US" sz="2400" dirty="0">
                <a:solidFill>
                  <a:srgbClr val="0000FF"/>
                </a:solidFill>
              </a:rPr>
              <a:t>计算机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r>
              <a:rPr lang="en-US" altLang="zh-CN" sz="2400" dirty="0"/>
              <a:t>)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and sdept&lt;  &gt;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C1FE94-42BC-4C8F-8F5C-767A224238D0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type="title"/>
          </p:nvPr>
        </p:nvSpPr>
        <p:spPr>
          <a:xfrm>
            <a:off x="225425" y="44450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</a:rPr>
              <a:t>7</a:t>
            </a:r>
            <a:r>
              <a:rPr lang="zh-CN" altLang="en-US" sz="2400">
                <a:solidFill>
                  <a:schemeClr val="tx1"/>
                </a:solidFill>
              </a:rPr>
              <a:t>、</a:t>
            </a:r>
            <a:r>
              <a:rPr lang="en-US" altLang="zh-CN" sz="2400">
                <a:solidFill>
                  <a:schemeClr val="tx1"/>
                </a:solidFill>
              </a:rPr>
              <a:t>all </a:t>
            </a:r>
            <a:r>
              <a:rPr lang="zh-CN" altLang="en-US" sz="2400">
                <a:solidFill>
                  <a:schemeClr val="tx1"/>
                </a:solidFill>
              </a:rPr>
              <a:t>嵌套查询</a:t>
            </a:r>
          </a:p>
        </p:txBody>
      </p:sp>
      <p:sp>
        <p:nvSpPr>
          <p:cNvPr id="77827" name="Rectangle 4"/>
          <p:cNvSpPr>
            <a:spLocks noGrp="1" noChangeArrowheads="1"/>
          </p:cNvSpPr>
          <p:nvPr>
            <p:ph idx="1"/>
          </p:nvPr>
        </p:nvSpPr>
        <p:spPr>
          <a:xfrm>
            <a:off x="179388" y="476250"/>
            <a:ext cx="8785225" cy="61928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&gt;all</a:t>
            </a:r>
            <a:r>
              <a:rPr lang="zh-CN" altLang="en-US" sz="2000" dirty="0"/>
              <a:t>大于子查询结果中的</a:t>
            </a:r>
            <a:r>
              <a:rPr lang="zh-CN" altLang="en-US" sz="2000" b="1" dirty="0">
                <a:solidFill>
                  <a:srgbClr val="FF0000"/>
                </a:solidFill>
              </a:rPr>
              <a:t>所有</a:t>
            </a:r>
            <a:r>
              <a:rPr lang="zh-CN" altLang="en-US" sz="2000" dirty="0"/>
              <a:t>值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&lt;all</a:t>
            </a:r>
            <a:r>
              <a:rPr lang="zh-CN" altLang="en-US" sz="2000" dirty="0"/>
              <a:t>小于子查询结果中的所有值。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/>
              <a:t>    。。。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200" dirty="0"/>
              <a:t>例：查询其它系中比</a:t>
            </a:r>
            <a:r>
              <a:rPr lang="zh-CN" altLang="en-US" sz="2200" dirty="0">
                <a:solidFill>
                  <a:srgbClr val="FF0000"/>
                </a:solidFill>
              </a:rPr>
              <a:t>计算机系所有学生</a:t>
            </a:r>
            <a:r>
              <a:rPr lang="zh-CN" altLang="en-US" sz="2200" dirty="0"/>
              <a:t>年龄都小的学生名单及其对应年龄，并且将结果按照年龄的降序排列。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select sname, sage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from student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where sage&lt;all (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select sage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from student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where sdept=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‘</a:t>
            </a:r>
            <a:r>
              <a:rPr lang="zh-CN" altLang="en-US" sz="2000" dirty="0">
                <a:solidFill>
                  <a:srgbClr val="0000FF"/>
                </a:solidFill>
              </a:rPr>
              <a:t>计算机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r>
              <a:rPr lang="en-US" altLang="zh-CN" sz="2000" dirty="0"/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and sdept&lt; &gt;</a:t>
            </a:r>
            <a:r>
              <a:rPr lang="en-US" altLang="zh-CN" sz="2000" dirty="0">
                <a:latin typeface="Times New Roman" pitchFamily="18" charset="0"/>
              </a:rPr>
              <a:t>‘</a:t>
            </a:r>
            <a:r>
              <a:rPr lang="zh-CN" altLang="en-US" sz="2000" dirty="0"/>
              <a:t>计算机</a:t>
            </a:r>
            <a:r>
              <a:rPr lang="zh-CN" altLang="en-US" sz="2000" dirty="0">
                <a:latin typeface="Times New Roman" pitchFamily="18" charset="0"/>
              </a:rPr>
              <a:t>’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dirty="0"/>
              <a:t>order by sage </a:t>
            </a:r>
            <a:r>
              <a:rPr lang="en-US" altLang="zh-CN" sz="2000" dirty="0" err="1"/>
              <a:t>desc</a:t>
            </a:r>
            <a:r>
              <a:rPr lang="en-US" altLang="zh-CN" sz="2000" dirty="0"/>
              <a:t> </a:t>
            </a:r>
            <a:r>
              <a:rPr lang="zh-CN" altLang="en-US" sz="2000" dirty="0"/>
              <a:t>；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58B0B2-95B4-4875-B551-5BC0AC9C8246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</a:rPr>
              <a:t>8</a:t>
            </a:r>
            <a:r>
              <a:rPr lang="zh-CN" altLang="en-US" sz="2400" dirty="0">
                <a:solidFill>
                  <a:schemeClr val="tx1"/>
                </a:solidFill>
              </a:rPr>
              <a:t>、存在量词查询（</a:t>
            </a:r>
            <a:r>
              <a:rPr lang="en-US" altLang="zh-CN" sz="2400" dirty="0">
                <a:solidFill>
                  <a:schemeClr val="tx1"/>
                </a:solidFill>
              </a:rPr>
              <a:t>exists</a:t>
            </a:r>
            <a:r>
              <a:rPr lang="zh-CN" altLang="en-US" sz="2400" dirty="0">
                <a:solidFill>
                  <a:schemeClr val="tx1"/>
                </a:solidFill>
              </a:rPr>
              <a:t>）（一种特殊的相关查询）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476250"/>
            <a:ext cx="8713788" cy="61928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1</a:t>
            </a:r>
            <a:r>
              <a:rPr lang="zh-CN" altLang="en-US" sz="2400" dirty="0"/>
              <a:t>：查选修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课程的学生的姓名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select sname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from 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where exists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(   </a:t>
            </a:r>
            <a:r>
              <a:rPr lang="en-US" altLang="zh-CN" sz="2400" dirty="0">
                <a:solidFill>
                  <a:srgbClr val="0000FF"/>
                </a:solidFill>
              </a:rPr>
              <a:t>select *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from sc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where sno=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>
                <a:solidFill>
                  <a:srgbClr val="0000FF"/>
                </a:solidFill>
              </a:rPr>
              <a:t>.sno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and cno=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r>
              <a:rPr lang="en-US" altLang="zh-CN" sz="2400" dirty="0">
                <a:solidFill>
                  <a:srgbClr val="0000FF"/>
                </a:solidFill>
              </a:rPr>
              <a:t>01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r>
              <a:rPr lang="en-US" altLang="zh-CN" sz="2400" dirty="0"/>
              <a:t>)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特征：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</a:rPr>
              <a:t>*</a:t>
            </a: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</a:rPr>
              <a:t>是因为带</a:t>
            </a:r>
            <a:r>
              <a:rPr lang="en-US" altLang="zh-CN" sz="2400" dirty="0">
                <a:solidFill>
                  <a:srgbClr val="FF0000"/>
                </a:solidFill>
              </a:rPr>
              <a:t>Exists </a:t>
            </a:r>
            <a:r>
              <a:rPr lang="zh-CN" altLang="en-US" sz="2400" dirty="0">
                <a:solidFill>
                  <a:srgbClr val="FF0000"/>
                </a:solidFill>
              </a:rPr>
              <a:t>的子查询不返回实际数据，只返回真假值，给出列名无实际意义。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）子查询条件依赖于外层父查询的某个列值。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（本例即</a:t>
            </a:r>
            <a:r>
              <a:rPr lang="en-US" altLang="zh-CN" sz="2400" dirty="0"/>
              <a:t>student </a:t>
            </a:r>
            <a:r>
              <a:rPr lang="zh-CN" altLang="en-US" sz="2400" dirty="0"/>
              <a:t>中的</a:t>
            </a:r>
            <a:r>
              <a:rPr lang="en-US" altLang="zh-CN" sz="2400" dirty="0"/>
              <a:t>sno</a:t>
            </a:r>
            <a:r>
              <a:rPr lang="zh-CN" altLang="en-US" sz="2400" dirty="0"/>
              <a:t>值）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）子查询为真，（则内层子查询非空），取该元组放入结果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E0C1C-4680-49D5-8C9A-A9C84927C73E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188913"/>
            <a:ext cx="8642350" cy="648017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</a:t>
            </a:r>
            <a:r>
              <a:rPr lang="en-US" altLang="zh-CN" sz="2400" dirty="0"/>
              <a:t>2: </a:t>
            </a:r>
            <a:r>
              <a:rPr lang="zh-CN" altLang="en-US" sz="2400" dirty="0"/>
              <a:t>查询未选修</a:t>
            </a:r>
            <a:r>
              <a:rPr lang="zh-CN" altLang="en-US" sz="2400" dirty="0">
                <a:latin typeface="Times New Roman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/>
              </a:rPr>
              <a:t>’</a:t>
            </a:r>
            <a:r>
              <a:rPr lang="zh-CN" altLang="en-US" sz="2400" dirty="0"/>
              <a:t>课程的学生姓名。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sname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/>
              <a:t>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not exists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(  </a:t>
            </a:r>
            <a:r>
              <a:rPr lang="en-US" altLang="zh-CN" sz="2400" dirty="0">
                <a:solidFill>
                  <a:srgbClr val="0000FF"/>
                </a:solidFill>
              </a:rPr>
              <a:t>select *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from sc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where sno=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>
                <a:solidFill>
                  <a:srgbClr val="0000FF"/>
                </a:solidFill>
              </a:rPr>
              <a:t>.sno and cno=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</a:rPr>
              <a:t>’</a:t>
            </a:r>
            <a:r>
              <a:rPr lang="en-US" altLang="zh-CN" sz="2400" dirty="0">
                <a:solidFill>
                  <a:srgbClr val="0000FF"/>
                </a:solidFill>
              </a:rPr>
              <a:t>01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</a:rPr>
              <a:t>’</a:t>
            </a:r>
            <a:r>
              <a:rPr lang="en-US" altLang="zh-CN" sz="2400" dirty="0"/>
              <a:t>);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400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等价表示：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sname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   where sno&lt; &gt;all (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       </a:t>
            </a:r>
            <a:r>
              <a:rPr lang="en-US" altLang="zh-CN" sz="2400" dirty="0">
                <a:solidFill>
                  <a:srgbClr val="0000FF"/>
                </a:solidFill>
              </a:rPr>
              <a:t>select sno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    from sc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    where cno=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</a:rPr>
              <a:t>‘</a:t>
            </a:r>
            <a:r>
              <a:rPr lang="en-US" altLang="zh-CN" sz="2400" dirty="0">
                <a:solidFill>
                  <a:srgbClr val="0000FF"/>
                </a:solidFill>
              </a:rPr>
              <a:t>01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</a:rPr>
              <a:t>’</a:t>
            </a:r>
            <a:r>
              <a:rPr lang="en-US" altLang="zh-CN" sz="2400" dirty="0"/>
              <a:t>)</a:t>
            </a:r>
            <a:r>
              <a:rPr lang="zh-CN" altLang="en-US" sz="2400" dirty="0"/>
              <a:t>；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FC58C-CB4B-4FD3-810A-BAA5DD7DB7A6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  <p:sp>
        <p:nvSpPr>
          <p:cNvPr id="2" name="圆角矩形标注 1"/>
          <p:cNvSpPr/>
          <p:nvPr/>
        </p:nvSpPr>
        <p:spPr>
          <a:xfrm>
            <a:off x="6588224" y="1268760"/>
            <a:ext cx="1800200" cy="612648"/>
          </a:xfrm>
          <a:prstGeom prst="wedgeRoundRectCallout">
            <a:avLst>
              <a:gd name="adj1" fmla="val -77550"/>
              <a:gd name="adj2" fmla="val 440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Having</a:t>
            </a:r>
            <a:r>
              <a:rPr lang="zh-CN" altLang="en-US" dirty="0"/>
              <a:t>？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1463675"/>
            <a:ext cx="8713788" cy="4892675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sz="2400" dirty="0"/>
              <a:t>查询选修了全部课程的学生姓名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/>
              <a:t>找出这样的学生“不存在一门课，该学生没有选”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解法一：不存在加上</a:t>
            </a:r>
            <a:r>
              <a:rPr lang="en-US" altLang="zh-CN" sz="2400" dirty="0">
                <a:solidFill>
                  <a:srgbClr val="0000FF"/>
                </a:solidFill>
              </a:rPr>
              <a:t>not 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 sname   from student 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where   not   exists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00FF"/>
                </a:solidFill>
              </a:rPr>
              <a:t>select   *   from   course where   cno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not 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(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select   cno   from   sc   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   where  </a:t>
            </a:r>
            <a:r>
              <a:rPr lang="en-US" altLang="zh-CN" sz="2400" dirty="0" err="1">
                <a:solidFill>
                  <a:srgbClr val="FF0000"/>
                </a:solidFill>
              </a:rPr>
              <a:t>A</a:t>
            </a:r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.sno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= </a:t>
            </a:r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B.sno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315BB3-4449-45A7-A69E-1B6F5E53B297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641350"/>
            <a:ext cx="8162925" cy="822325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</a:rPr>
              <a:t>sql</a:t>
            </a:r>
            <a:r>
              <a:rPr lang="zh-CN" altLang="en-US" sz="2400" dirty="0">
                <a:solidFill>
                  <a:schemeClr val="tx1"/>
                </a:solidFill>
              </a:rPr>
              <a:t>语言中没有全称量词，但用存在量词</a:t>
            </a:r>
            <a:r>
              <a:rPr lang="en-US" altLang="zh-CN" sz="2400" dirty="0">
                <a:solidFill>
                  <a:schemeClr val="tx1"/>
                </a:solidFill>
              </a:rPr>
              <a:t>exist</a:t>
            </a:r>
            <a:r>
              <a:rPr lang="zh-CN" altLang="en-US" sz="2400" dirty="0">
                <a:solidFill>
                  <a:schemeClr val="tx1"/>
                </a:solidFill>
              </a:rPr>
              <a:t>等价表示全称量词。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6500826" y="2357430"/>
            <a:ext cx="2071702" cy="857256"/>
          </a:xfrm>
          <a:prstGeom prst="wedgeRoundRectCallout">
            <a:avLst>
              <a:gd name="adj1" fmla="val -62449"/>
              <a:gd name="adj2" fmla="val 4488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关系代数中的除运算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6809505" y="3553623"/>
            <a:ext cx="2071702" cy="1214446"/>
          </a:xfrm>
          <a:prstGeom prst="wedgeRoundRectCallout">
            <a:avLst>
              <a:gd name="adj1" fmla="val -75473"/>
              <a:gd name="adj2" fmla="val -12510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没有一门课不属于</a:t>
            </a:r>
            <a:r>
              <a:rPr lang="en-US" altLang="zh-CN" dirty="0"/>
              <a:t>X</a:t>
            </a:r>
            <a:r>
              <a:rPr lang="zh-CN" altLang="en-US" dirty="0"/>
              <a:t>的像集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3491880" y="5447955"/>
            <a:ext cx="3286148" cy="785818"/>
            <a:chOff x="3500430" y="5214950"/>
            <a:chExt cx="3286148" cy="785818"/>
          </a:xfrm>
        </p:grpSpPr>
        <p:sp>
          <p:nvSpPr>
            <p:cNvPr id="6" name="圆角矩形标注 5"/>
            <p:cNvSpPr/>
            <p:nvPr/>
          </p:nvSpPr>
          <p:spPr>
            <a:xfrm>
              <a:off x="5500694" y="5429264"/>
              <a:ext cx="1285884" cy="571504"/>
            </a:xfrm>
            <a:prstGeom prst="wedgeRoundRectCallout">
              <a:avLst>
                <a:gd name="adj1" fmla="val -169855"/>
                <a:gd name="adj2" fmla="val -96224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X</a:t>
              </a:r>
              <a:r>
                <a:rPr lang="zh-CN" altLang="en-US" dirty="0"/>
                <a:t>属性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500430" y="5214950"/>
              <a:ext cx="642942" cy="158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1907704" y="4160846"/>
            <a:ext cx="4593121" cy="781910"/>
            <a:chOff x="1907704" y="4160846"/>
            <a:chExt cx="4593121" cy="781910"/>
          </a:xfrm>
        </p:grpSpPr>
        <p:sp>
          <p:nvSpPr>
            <p:cNvPr id="7" name="圆角矩形标注 6"/>
            <p:cNvSpPr/>
            <p:nvPr/>
          </p:nvSpPr>
          <p:spPr>
            <a:xfrm>
              <a:off x="4833726" y="4160846"/>
              <a:ext cx="1667099" cy="571504"/>
            </a:xfrm>
            <a:prstGeom prst="wedgeRoundRectCallout">
              <a:avLst>
                <a:gd name="adj1" fmla="val -181008"/>
                <a:gd name="adj2" fmla="val 68545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Y</a:t>
              </a:r>
              <a:r>
                <a:rPr lang="zh-CN" altLang="en-US" dirty="0"/>
                <a:t>属性集合</a:t>
              </a: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1907704" y="4941168"/>
              <a:ext cx="642942" cy="158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E540DD4-D8F8-4B23-95FE-73F8B98F323F}"/>
              </a:ext>
            </a:extLst>
          </p:cNvPr>
          <p:cNvCxnSpPr/>
          <p:nvPr/>
        </p:nvCxnSpPr>
        <p:spPr>
          <a:xfrm>
            <a:off x="5607851" y="4036223"/>
            <a:ext cx="642942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641350"/>
            <a:ext cx="8162925" cy="822325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</a:rPr>
              <a:t>sql</a:t>
            </a:r>
            <a:r>
              <a:rPr lang="zh-CN" altLang="en-US" sz="2400" dirty="0">
                <a:solidFill>
                  <a:schemeClr val="tx1"/>
                </a:solidFill>
              </a:rPr>
              <a:t>语言中没有全称量词，但用存在量词</a:t>
            </a:r>
            <a:r>
              <a:rPr lang="en-US" altLang="zh-CN" sz="2400" dirty="0">
                <a:solidFill>
                  <a:schemeClr val="tx1"/>
                </a:solidFill>
              </a:rPr>
              <a:t>exist</a:t>
            </a:r>
            <a:r>
              <a:rPr lang="zh-CN" altLang="en-US" sz="2400" dirty="0">
                <a:solidFill>
                  <a:schemeClr val="tx1"/>
                </a:solidFill>
              </a:rPr>
              <a:t>等价表示全称量词。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chemeClr val="tx1"/>
                </a:solidFill>
              </a:rPr>
              <a:t>找出这样的学生“不存在一门课，该学生没有选”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936750"/>
            <a:ext cx="8785225" cy="5048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3.64</a:t>
            </a:r>
            <a:r>
              <a:rPr lang="zh-CN" altLang="en-US" sz="2400" dirty="0"/>
              <a:t>：查询选修了全部课程的学生姓名</a:t>
            </a:r>
            <a:r>
              <a:rPr lang="zh-CN" altLang="en-US" sz="2400" dirty="0">
                <a:solidFill>
                  <a:srgbClr val="0000FF"/>
                </a:solidFill>
              </a:rPr>
              <a:t>（两次</a:t>
            </a:r>
            <a:r>
              <a:rPr lang="en-US" altLang="zh-CN" sz="2400" dirty="0">
                <a:solidFill>
                  <a:srgbClr val="0000FF"/>
                </a:solidFill>
              </a:rPr>
              <a:t>not exists</a:t>
            </a:r>
            <a:r>
              <a:rPr lang="zh-CN" altLang="en-US" sz="2400" dirty="0">
                <a:solidFill>
                  <a:srgbClr val="0000FF"/>
                </a:solidFill>
              </a:rPr>
              <a:t>）</a:t>
            </a: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179388" y="3305175"/>
            <a:ext cx="8713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(</a:t>
            </a:r>
            <a:r>
              <a:rPr lang="en-US" altLang="zh-CN">
                <a:solidFill>
                  <a:srgbClr val="0000FF"/>
                </a:solidFill>
              </a:rPr>
              <a:t>select   *   from   course </a:t>
            </a:r>
            <a:endParaRPr lang="en-US" altLang="zh-CN"/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323850" y="3665538"/>
            <a:ext cx="8569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where  not exists</a:t>
            </a:r>
            <a:endParaRPr lang="en-US" altLang="zh-CN"/>
          </a:p>
        </p:txBody>
      </p:sp>
      <p:sp>
        <p:nvSpPr>
          <p:cNvPr id="181255" name="Rectangle 7"/>
          <p:cNvSpPr>
            <a:spLocks noChangeArrowheads="1"/>
          </p:cNvSpPr>
          <p:nvPr/>
        </p:nvSpPr>
        <p:spPr bwMode="auto">
          <a:xfrm>
            <a:off x="468313" y="4097338"/>
            <a:ext cx="8351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>
                <a:solidFill>
                  <a:srgbClr val="00B050"/>
                </a:solidFill>
              </a:rPr>
              <a:t>select  * from sc</a:t>
            </a:r>
          </a:p>
        </p:txBody>
      </p:sp>
      <p:sp>
        <p:nvSpPr>
          <p:cNvPr id="181256" name="Rectangle 8"/>
          <p:cNvSpPr>
            <a:spLocks noChangeArrowheads="1"/>
          </p:cNvSpPr>
          <p:nvPr/>
        </p:nvSpPr>
        <p:spPr bwMode="auto">
          <a:xfrm>
            <a:off x="576263" y="4411663"/>
            <a:ext cx="83169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where  </a:t>
            </a:r>
            <a:r>
              <a:rPr lang="en-US" altLang="zh-CN" dirty="0" err="1">
                <a:solidFill>
                  <a:srgbClr val="00B050"/>
                </a:solidFill>
              </a:rPr>
              <a:t>sc.cno</a:t>
            </a:r>
            <a:r>
              <a:rPr lang="en-US" altLang="zh-CN" dirty="0">
                <a:solidFill>
                  <a:srgbClr val="00B050"/>
                </a:solidFill>
              </a:rPr>
              <a:t> = </a:t>
            </a:r>
            <a:r>
              <a:rPr lang="en-US" altLang="zh-CN" dirty="0" err="1">
                <a:solidFill>
                  <a:srgbClr val="00B050"/>
                </a:solidFill>
              </a:rPr>
              <a:t>course.cno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and </a:t>
            </a:r>
            <a:r>
              <a:rPr lang="en-US" altLang="zh-CN" dirty="0" err="1">
                <a:solidFill>
                  <a:srgbClr val="00B050"/>
                </a:solidFill>
              </a:rPr>
              <a:t>sc.sno</a:t>
            </a:r>
            <a:r>
              <a:rPr lang="en-US" altLang="zh-CN" dirty="0">
                <a:solidFill>
                  <a:srgbClr val="00B050"/>
                </a:solidFill>
              </a:rPr>
              <a:t> = </a:t>
            </a:r>
            <a:r>
              <a:rPr lang="en-US" altLang="zh-CN" dirty="0">
                <a:solidFill>
                  <a:srgbClr val="FF0000"/>
                </a:solidFill>
              </a:rPr>
              <a:t>student.</a:t>
            </a:r>
            <a:r>
              <a:rPr lang="en-US" altLang="zh-CN" dirty="0">
                <a:solidFill>
                  <a:srgbClr val="00B050"/>
                </a:solidFill>
              </a:rPr>
              <a:t>sno</a:t>
            </a:r>
          </a:p>
        </p:txBody>
      </p:sp>
      <p:sp>
        <p:nvSpPr>
          <p:cNvPr id="181257" name="Rectangle 9"/>
          <p:cNvSpPr>
            <a:spLocks noChangeArrowheads="1"/>
          </p:cNvSpPr>
          <p:nvPr/>
        </p:nvSpPr>
        <p:spPr bwMode="auto">
          <a:xfrm>
            <a:off x="242119" y="5257065"/>
            <a:ext cx="86407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   )</a:t>
            </a:r>
          </a:p>
          <a:p>
            <a:r>
              <a:rPr lang="en-US" altLang="zh-CN"/>
              <a:t>)</a:t>
            </a:r>
          </a:p>
        </p:txBody>
      </p:sp>
      <p:sp>
        <p:nvSpPr>
          <p:cNvPr id="181258" name="Rectangle 10"/>
          <p:cNvSpPr>
            <a:spLocks noChangeArrowheads="1"/>
          </p:cNvSpPr>
          <p:nvPr/>
        </p:nvSpPr>
        <p:spPr bwMode="auto">
          <a:xfrm>
            <a:off x="179388" y="2441575"/>
            <a:ext cx="86407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select  sname  from   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where   not   exists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50B5DB-7D5E-47F9-BBEA-B5F48520E2E7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/>
      <p:bldP spid="181254" grpId="0"/>
      <p:bldP spid="181255" grpId="0"/>
      <p:bldP spid="181256" grpId="0"/>
      <p:bldP spid="181257" grpId="0"/>
      <p:bldP spid="18125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760413"/>
            <a:ext cx="8713788" cy="602615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3.64</a:t>
            </a:r>
            <a:r>
              <a:rPr lang="zh-CN" altLang="en-US" sz="2400" dirty="0"/>
              <a:t>思路三：计数加上外连接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select   distinct   sno   from   sc  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where 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( </a:t>
            </a:r>
            <a:r>
              <a:rPr lang="en-US" altLang="zh-CN" sz="2400" dirty="0">
                <a:solidFill>
                  <a:srgbClr val="0000FF"/>
                </a:solidFill>
              </a:rPr>
              <a:t>select count(*) from course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</a:t>
            </a:r>
            <a:r>
              <a:rPr lang="en-US" altLang="zh-CN" sz="2400" dirty="0">
                <a:solidFill>
                  <a:srgbClr val="00B050"/>
                </a:solidFill>
              </a:rPr>
              <a:t>left outer join </a:t>
            </a:r>
            <a:r>
              <a:rPr lang="en-US" altLang="zh-CN" sz="2400" dirty="0">
                <a:solidFill>
                  <a:srgbClr val="0000FF"/>
                </a:solidFill>
              </a:rPr>
              <a:t>sc B on </a:t>
            </a:r>
            <a:r>
              <a:rPr lang="en-US" altLang="zh-CN" sz="2400" dirty="0" err="1">
                <a:solidFill>
                  <a:srgbClr val="00B050"/>
                </a:solidFill>
              </a:rPr>
              <a:t>course.cno</a:t>
            </a:r>
            <a:r>
              <a:rPr lang="en-US" altLang="zh-CN" sz="2400" dirty="0">
                <a:solidFill>
                  <a:srgbClr val="00B050"/>
                </a:solidFill>
              </a:rPr>
              <a:t> = </a:t>
            </a:r>
            <a:r>
              <a:rPr lang="en-US" altLang="zh-CN" sz="2400" dirty="0" err="1">
                <a:solidFill>
                  <a:srgbClr val="00B050"/>
                </a:solidFill>
              </a:rPr>
              <a:t>B.cno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and </a:t>
            </a:r>
            <a:r>
              <a:rPr lang="en-US" altLang="zh-CN" sz="2400" dirty="0" err="1">
                <a:solidFill>
                  <a:srgbClr val="FF0000"/>
                </a:solidFill>
              </a:rPr>
              <a:t>A</a:t>
            </a:r>
            <a:r>
              <a:rPr lang="en-US" altLang="zh-CN" sz="2400" dirty="0" err="1">
                <a:solidFill>
                  <a:srgbClr val="0000FF"/>
                </a:solidFill>
              </a:rPr>
              <a:t>.sno</a:t>
            </a:r>
            <a:r>
              <a:rPr lang="en-US" altLang="zh-CN" sz="2400" dirty="0">
                <a:solidFill>
                  <a:srgbClr val="0000FF"/>
                </a:solidFill>
              </a:rPr>
              <a:t> = </a:t>
            </a:r>
            <a:r>
              <a:rPr lang="en-US" altLang="zh-CN" sz="2400" dirty="0" err="1">
                <a:solidFill>
                  <a:srgbClr val="0000FF"/>
                </a:solidFill>
              </a:rPr>
              <a:t>B.sno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where </a:t>
            </a:r>
            <a:r>
              <a:rPr lang="en-US" altLang="zh-CN" sz="2400" dirty="0" err="1">
                <a:solidFill>
                  <a:srgbClr val="0000FF"/>
                </a:solidFill>
              </a:rPr>
              <a:t>B.sno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is null</a:t>
            </a:r>
            <a:r>
              <a:rPr lang="en-US" altLang="zh-CN" sz="2400" dirty="0"/>
              <a:t>)   =    0  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</a:t>
            </a:r>
            <a:r>
              <a:rPr lang="en-US" altLang="zh-CN" sz="2400" dirty="0"/>
              <a:t>3.63</a:t>
            </a:r>
            <a:r>
              <a:rPr lang="zh-CN" altLang="en-US" sz="2400" dirty="0"/>
              <a:t>思路四：两次计数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select distinct sno from 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where (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select count(*) from course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where (</a:t>
            </a:r>
            <a:r>
              <a:rPr lang="en-US" altLang="zh-CN" sz="2400" dirty="0">
                <a:solidFill>
                  <a:srgbClr val="00B050"/>
                </a:solidFill>
              </a:rPr>
              <a:t>select count(*) from sc where </a:t>
            </a:r>
            <a:r>
              <a:rPr lang="en-US" altLang="zh-CN" sz="2400" dirty="0" err="1">
                <a:solidFill>
                  <a:srgbClr val="00B050"/>
                </a:solidFill>
              </a:rPr>
              <a:t>sc.cno</a:t>
            </a:r>
            <a:r>
              <a:rPr lang="en-US" altLang="zh-CN" sz="2400" dirty="0">
                <a:solidFill>
                  <a:srgbClr val="00B050"/>
                </a:solidFill>
              </a:rPr>
              <a:t> =     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</a:t>
            </a:r>
            <a:r>
              <a:rPr lang="en-US" altLang="zh-CN" sz="2400" dirty="0" err="1">
                <a:solidFill>
                  <a:srgbClr val="00B050"/>
                </a:solidFill>
              </a:rPr>
              <a:t>course.cno</a:t>
            </a:r>
            <a:r>
              <a:rPr lang="en-US" altLang="zh-CN" sz="2400" dirty="0">
                <a:solidFill>
                  <a:srgbClr val="00B050"/>
                </a:solidFill>
              </a:rPr>
              <a:t> and </a:t>
            </a:r>
            <a:r>
              <a:rPr lang="en-US" altLang="zh-CN" sz="2400" dirty="0" err="1">
                <a:solidFill>
                  <a:srgbClr val="00B050"/>
                </a:solidFill>
              </a:rPr>
              <a:t>sc.sno</a:t>
            </a:r>
            <a:r>
              <a:rPr lang="en-US" altLang="zh-CN" sz="2400" dirty="0">
                <a:solidFill>
                  <a:srgbClr val="00B050"/>
                </a:solidFill>
              </a:rPr>
              <a:t> = 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en-US" altLang="zh-CN" sz="2400" dirty="0">
                <a:solidFill>
                  <a:srgbClr val="0066FF"/>
                </a:solidFill>
              </a:rPr>
              <a:t>.sno 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  )=0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)=0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23B6C6-865C-4EC7-982F-8A9F1B814DD3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593875F-EA48-4B3A-8637-D9C3A152D344}"/>
              </a:ext>
            </a:extLst>
          </p:cNvPr>
          <p:cNvSpPr/>
          <p:nvPr/>
        </p:nvSpPr>
        <p:spPr>
          <a:xfrm>
            <a:off x="5940152" y="3212976"/>
            <a:ext cx="1728192" cy="1080120"/>
          </a:xfrm>
          <a:prstGeom prst="wedgeRoundRectCallout">
            <a:avLst>
              <a:gd name="adj1" fmla="val -66865"/>
              <a:gd name="adj2" fmla="val 4472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其他思路？统计总数？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50825" y="684214"/>
            <a:ext cx="8162925" cy="800570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</a:rPr>
              <a:t>3.65  </a:t>
            </a:r>
            <a:r>
              <a:rPr lang="zh-CN" altLang="en-US" sz="2400" dirty="0">
                <a:solidFill>
                  <a:schemeClr val="tx1"/>
                </a:solidFill>
              </a:rPr>
              <a:t>查询至少选修了学生</a:t>
            </a:r>
            <a:r>
              <a:rPr lang="en-US" altLang="zh-CN" sz="2400" dirty="0">
                <a:solidFill>
                  <a:schemeClr val="tx1"/>
                </a:solidFill>
              </a:rPr>
              <a:t>20180002</a:t>
            </a:r>
            <a:r>
              <a:rPr lang="zh-CN" altLang="en-US" sz="2400" dirty="0">
                <a:solidFill>
                  <a:schemeClr val="tx1"/>
                </a:solidFill>
              </a:rPr>
              <a:t>选修的全部课程的学生号码</a:t>
            </a:r>
          </a:p>
        </p:txBody>
      </p:sp>
      <p:sp>
        <p:nvSpPr>
          <p:cNvPr id="83971" name="Rectangle 1027"/>
          <p:cNvSpPr>
            <a:spLocks noGrp="1" noChangeArrowheads="1"/>
          </p:cNvSpPr>
          <p:nvPr>
            <p:ph idx="1"/>
          </p:nvPr>
        </p:nvSpPr>
        <p:spPr>
          <a:xfrm>
            <a:off x="179388" y="1609725"/>
            <a:ext cx="8713787" cy="4176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distinct </a:t>
            </a:r>
            <a:r>
              <a:rPr lang="en-US" altLang="zh-CN" sz="2400" dirty="0">
                <a:solidFill>
                  <a:srgbClr val="FF0000"/>
                </a:solidFill>
              </a:rPr>
              <a:t>sno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 sc </a:t>
            </a:r>
            <a:r>
              <a:rPr lang="en-US" altLang="zh-CN" sz="2400" dirty="0">
                <a:solidFill>
                  <a:srgbClr val="FF0000"/>
                </a:solidFill>
              </a:rPr>
              <a:t>SCX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where not exists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(   </a:t>
            </a:r>
            <a:r>
              <a:rPr lang="en-US" altLang="zh-CN" sz="2400" dirty="0">
                <a:solidFill>
                  <a:srgbClr val="0000FF"/>
                </a:solidFill>
              </a:rPr>
              <a:t>select * from sc SCY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where </a:t>
            </a:r>
            <a:r>
              <a:rPr lang="en-US" altLang="zh-CN" sz="2400" dirty="0" err="1">
                <a:solidFill>
                  <a:srgbClr val="0000FF"/>
                </a:solidFill>
              </a:rPr>
              <a:t>sno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‘</a:t>
            </a:r>
            <a:r>
              <a:rPr lang="en-US" altLang="zh-CN" sz="2400" dirty="0">
                <a:solidFill>
                  <a:srgbClr val="0000FF"/>
                </a:solidFill>
              </a:rPr>
              <a:t>20180002</a:t>
            </a:r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’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and not exists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(  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select  * from sc SCZ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       where </a:t>
            </a:r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SCZ.cno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=</a:t>
            </a:r>
            <a:r>
              <a:rPr lang="en-US" altLang="zh-CN" sz="2400" dirty="0">
                <a:solidFill>
                  <a:srgbClr val="0066FF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</a:rPr>
              <a:t>.cno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66FF"/>
                </a:solidFill>
              </a:rPr>
              <a:t>       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and </a:t>
            </a:r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SCZ.sno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=</a:t>
            </a:r>
            <a:r>
              <a:rPr lang="en-US" altLang="zh-CN" sz="2400" dirty="0">
                <a:solidFill>
                  <a:srgbClr val="0066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      </a:t>
            </a:r>
            <a:r>
              <a:rPr lang="en-US" altLang="zh-CN" sz="2400" dirty="0">
                <a:solidFill>
                  <a:srgbClr val="0066FF"/>
                </a:solidFill>
              </a:rPr>
              <a:t>.</a:t>
            </a:r>
            <a:r>
              <a:rPr lang="en-US" altLang="zh-CN" sz="2400" dirty="0">
                <a:solidFill>
                  <a:srgbClr val="FF0000"/>
                </a:solidFill>
              </a:rPr>
              <a:t>sno</a:t>
            </a:r>
            <a:r>
              <a:rPr lang="en-US" altLang="zh-CN" sz="2400" dirty="0"/>
              <a:t>))</a:t>
            </a:r>
          </a:p>
        </p:txBody>
      </p:sp>
      <p:sp>
        <p:nvSpPr>
          <p:cNvPr id="211972" name="Rectangle 1028"/>
          <p:cNvSpPr>
            <a:spLocks noChangeArrowheads="1"/>
          </p:cNvSpPr>
          <p:nvPr/>
        </p:nvSpPr>
        <p:spPr bwMode="auto">
          <a:xfrm>
            <a:off x="3851275" y="4679950"/>
            <a:ext cx="792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SCY</a:t>
            </a:r>
          </a:p>
        </p:txBody>
      </p:sp>
      <p:sp>
        <p:nvSpPr>
          <p:cNvPr id="211973" name="Rectangle 1029"/>
          <p:cNvSpPr>
            <a:spLocks noChangeArrowheads="1"/>
          </p:cNvSpPr>
          <p:nvPr/>
        </p:nvSpPr>
        <p:spPr bwMode="auto">
          <a:xfrm>
            <a:off x="3492500" y="5113338"/>
            <a:ext cx="814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SCX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875499-9BDF-4D94-BE19-B13D4EFA547D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F6C2C15-C2A7-42C0-81B6-719068E4F24F}"/>
              </a:ext>
            </a:extLst>
          </p:cNvPr>
          <p:cNvSpPr/>
          <p:nvPr/>
        </p:nvSpPr>
        <p:spPr>
          <a:xfrm>
            <a:off x="1403648" y="2060848"/>
            <a:ext cx="129614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1E5C799-83C6-4D86-BDD7-F31C32B2CDAC}"/>
              </a:ext>
            </a:extLst>
          </p:cNvPr>
          <p:cNvSpPr/>
          <p:nvPr/>
        </p:nvSpPr>
        <p:spPr>
          <a:xfrm>
            <a:off x="3203203" y="2903224"/>
            <a:ext cx="129614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E42D140-B292-425F-9FB3-43BDEF41361C}"/>
              </a:ext>
            </a:extLst>
          </p:cNvPr>
          <p:cNvSpPr/>
          <p:nvPr/>
        </p:nvSpPr>
        <p:spPr>
          <a:xfrm>
            <a:off x="3779912" y="4224975"/>
            <a:ext cx="129614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2" grpId="0"/>
      <p:bldP spid="21197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/>
          <p:cNvSpPr>
            <a:spLocks noGrp="1" noChangeArrowheads="1"/>
          </p:cNvSpPr>
          <p:nvPr>
            <p:ph idx="1"/>
          </p:nvPr>
        </p:nvSpPr>
        <p:spPr>
          <a:xfrm>
            <a:off x="179388" y="476672"/>
            <a:ext cx="8713787" cy="6244803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</a:t>
            </a:r>
            <a:r>
              <a:rPr lang="en-US" altLang="zh-CN" sz="2400" dirty="0"/>
              <a:t>3.65</a:t>
            </a:r>
            <a:r>
              <a:rPr lang="zh-CN" altLang="en-US" sz="2400" dirty="0"/>
              <a:t>另解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 distinct   sno    from    sc 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  not   exists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( </a:t>
            </a:r>
            <a:r>
              <a:rPr lang="en-US" altLang="zh-CN" sz="2400" dirty="0">
                <a:solidFill>
                  <a:srgbClr val="0000FF"/>
                </a:solidFill>
              </a:rPr>
              <a:t>select  *   from  sc  B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where   </a:t>
            </a:r>
            <a:r>
              <a:rPr lang="en-US" altLang="zh-CN" sz="2400" dirty="0" err="1">
                <a:solidFill>
                  <a:srgbClr val="0000FF"/>
                </a:solidFill>
              </a:rPr>
              <a:t>B.sno</a:t>
            </a:r>
            <a:r>
              <a:rPr lang="en-US" altLang="zh-CN" sz="2400" dirty="0">
                <a:solidFill>
                  <a:srgbClr val="0000FF"/>
                </a:solidFill>
              </a:rPr>
              <a:t> = 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</a:rPr>
              <a:t>‘</a:t>
            </a:r>
            <a:r>
              <a:rPr lang="en-US" altLang="zh-CN" sz="2400" dirty="0">
                <a:solidFill>
                  <a:srgbClr val="0000FF"/>
                </a:solidFill>
              </a:rPr>
              <a:t>20180002</a:t>
            </a:r>
            <a:r>
              <a:rPr lang="en-US" altLang="zh-CN" sz="2400" dirty="0">
                <a:solidFill>
                  <a:srgbClr val="0000FF"/>
                </a:solidFill>
                <a:latin typeface="Times New Roman"/>
              </a:rPr>
              <a:t>’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and  cno   not   in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( select   cno   from  sc  C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   where   </a:t>
            </a:r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C.sno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 = </a:t>
            </a:r>
            <a:r>
              <a:rPr lang="en-US" altLang="zh-CN" sz="2400" dirty="0" err="1">
                <a:solidFill>
                  <a:srgbClr val="FF0000"/>
                </a:solidFill>
              </a:rPr>
              <a:t>A</a:t>
            </a:r>
            <a:r>
              <a:rPr lang="en-US" altLang="zh-CN" sz="2400" dirty="0" err="1">
                <a:solidFill>
                  <a:srgbClr val="0066FF"/>
                </a:solidFill>
              </a:rPr>
              <a:t>.sno</a:t>
            </a:r>
            <a:endParaRPr lang="en-US" altLang="zh-CN" sz="2400" dirty="0">
              <a:solidFill>
                <a:srgbClr val="0066FF"/>
              </a:solidFill>
            </a:endParaRP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  )</a:t>
            </a:r>
          </a:p>
          <a:p>
            <a:pPr marL="274320" indent="-27432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)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EE7869-05E0-4E2F-92A9-1ABF4796781A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14357"/>
            <a:ext cx="8229600" cy="561024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例：设有关系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OSCAR(YEAR, DNAME, FNAME)</a:t>
            </a:r>
            <a:r>
              <a:rPr lang="zh-CN" altLang="en-US" sz="2400" dirty="0"/>
              <a:t>记录历史上各个年份（</a:t>
            </a:r>
            <a:r>
              <a:rPr lang="en-US" sz="2400" dirty="0"/>
              <a:t>YEAR</a:t>
            </a:r>
            <a:r>
              <a:rPr lang="zh-CN" altLang="en-US" sz="2400" dirty="0"/>
              <a:t>）获得了奥斯卡奖的电影名称</a:t>
            </a:r>
            <a:r>
              <a:rPr lang="en-US" sz="2400" dirty="0"/>
              <a:t>(FNAME)</a:t>
            </a:r>
            <a:r>
              <a:rPr lang="zh-CN" altLang="en-US" sz="2400" dirty="0"/>
              <a:t>及其导演姓名</a:t>
            </a:r>
            <a:r>
              <a:rPr lang="en-US" sz="2400" dirty="0"/>
              <a:t>(DNAME)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另有关系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FILM(DNAME, FNAME, INCOME)</a:t>
            </a:r>
            <a:r>
              <a:rPr lang="zh-CN" altLang="en-US" sz="2400" dirty="0"/>
              <a:t>记录每一部票房收入过千万的电影的导演姓名</a:t>
            </a:r>
            <a:r>
              <a:rPr lang="en-US" sz="2400" dirty="0"/>
              <a:t>(DNAME)</a:t>
            </a:r>
            <a:r>
              <a:rPr lang="zh-CN" altLang="en-US" sz="2400" dirty="0"/>
              <a:t>、电影名称</a:t>
            </a:r>
            <a:r>
              <a:rPr lang="en-US" sz="2400" dirty="0"/>
              <a:t>(FNAME)</a:t>
            </a:r>
            <a:r>
              <a:rPr lang="zh-CN" altLang="en-US" sz="2400" dirty="0"/>
              <a:t>及其票房收入金额</a:t>
            </a:r>
            <a:r>
              <a:rPr lang="en-US" sz="2400" dirty="0"/>
              <a:t>(INCOME)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请分别用一条</a:t>
            </a:r>
            <a:r>
              <a:rPr lang="en-US" sz="2400" dirty="0"/>
              <a:t>SQL</a:t>
            </a:r>
            <a:r>
              <a:rPr lang="zh-CN" altLang="en-US" sz="2400" dirty="0"/>
              <a:t>语句实现下列两小题的查询需求。</a:t>
            </a:r>
          </a:p>
          <a:p>
            <a:pPr marL="0" indent="0">
              <a:buNone/>
            </a:pPr>
            <a:r>
              <a:rPr lang="en-US" sz="2400" dirty="0"/>
              <a:t>1</a:t>
            </a:r>
            <a:r>
              <a:rPr lang="zh-CN" altLang="en-US" sz="2400" dirty="0"/>
              <a:t>）查询每一位获得了奥斯卡奖的导演及其获奖影片数量，并且结果按照获奖数量的降序排列。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2</a:t>
            </a:r>
            <a:r>
              <a:rPr lang="zh-CN" altLang="en-US" sz="2400" dirty="0"/>
              <a:t>）查询</a:t>
            </a:r>
            <a:r>
              <a:rPr lang="en-US" sz="2400" dirty="0"/>
              <a:t>FILM</a:t>
            </a:r>
            <a:r>
              <a:rPr lang="zh-CN" altLang="en-US" sz="2400" dirty="0"/>
              <a:t>表中</a:t>
            </a:r>
            <a:r>
              <a:rPr lang="zh-CN" altLang="en-US" sz="2400" dirty="0">
                <a:solidFill>
                  <a:srgbClr val="FF0000"/>
                </a:solidFill>
              </a:rPr>
              <a:t>得过奥斯卡奖的导演拍摄的</a:t>
            </a:r>
            <a:r>
              <a:rPr lang="zh-CN" altLang="en-US" sz="2400" dirty="0"/>
              <a:t>但未获奖的电影的名称、导演及其票房收入。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604D5FC8-EC79-400A-B8F4-FD17502F3645}"/>
              </a:ext>
            </a:extLst>
          </p:cNvPr>
          <p:cNvSpPr/>
          <p:nvPr/>
        </p:nvSpPr>
        <p:spPr>
          <a:xfrm>
            <a:off x="2339752" y="6232588"/>
            <a:ext cx="5328592" cy="612648"/>
          </a:xfrm>
          <a:prstGeom prst="wedgeRoundRectCallout">
            <a:avLst>
              <a:gd name="adj1" fmla="val -49802"/>
              <a:gd name="adj2" fmla="val -7332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这些电影</a:t>
            </a:r>
            <a:r>
              <a:rPr lang="zh-CN" altLang="en-US" dirty="0">
                <a:solidFill>
                  <a:srgbClr val="FF0000"/>
                </a:solidFill>
              </a:rPr>
              <a:t>可能别的导演拍摄并获奖了</a:t>
            </a:r>
          </a:p>
        </p:txBody>
      </p:sp>
      <p:sp>
        <p:nvSpPr>
          <p:cNvPr id="5" name="圆角矩形标注 5">
            <a:extLst>
              <a:ext uri="{FF2B5EF4-FFF2-40B4-BE49-F238E27FC236}">
                <a16:creationId xmlns:a16="http://schemas.microsoft.com/office/drawing/2014/main" id="{A366EE7E-D9A7-43AE-A9A4-63FB6E41B090}"/>
              </a:ext>
            </a:extLst>
          </p:cNvPr>
          <p:cNvSpPr/>
          <p:nvPr/>
        </p:nvSpPr>
        <p:spPr>
          <a:xfrm>
            <a:off x="3179811" y="404665"/>
            <a:ext cx="5064597" cy="504056"/>
          </a:xfrm>
          <a:prstGeom prst="wedgeRoundRectCallout">
            <a:avLst>
              <a:gd name="adj1" fmla="val -60277"/>
              <a:gd name="adj2" fmla="val 48080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IN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EXISTS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的功能差异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71481"/>
            <a:ext cx="8229600" cy="307354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）查询每一位获得了奥斯卡奖的导演及其获奖影片数量，并且结果按照获奖数量的降序排列。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SELECT</a:t>
            </a:r>
            <a:r>
              <a:rPr lang="en-US" sz="2400" dirty="0"/>
              <a:t> DNAME, COUNT(FNAME)</a:t>
            </a:r>
            <a:endParaRPr lang="zh-CN" alt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FROM</a:t>
            </a:r>
            <a:r>
              <a:rPr lang="en-US" sz="2400" dirty="0"/>
              <a:t> OSCAR</a:t>
            </a:r>
            <a:endParaRPr lang="zh-CN" alt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GROUP BY </a:t>
            </a:r>
            <a:r>
              <a:rPr lang="en-US" sz="2400" dirty="0"/>
              <a:t>DNAME</a:t>
            </a:r>
            <a:endParaRPr lang="zh-CN" alt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ORDER BY </a:t>
            </a:r>
            <a:r>
              <a:rPr lang="en-US" sz="2400" dirty="0"/>
              <a:t>COUNT(FNAME) </a:t>
            </a:r>
            <a:r>
              <a:rPr lang="en-US" sz="2400" dirty="0">
                <a:solidFill>
                  <a:srgbClr val="0000FF"/>
                </a:solidFill>
              </a:rPr>
              <a:t>DESC</a:t>
            </a:r>
            <a:r>
              <a:rPr lang="en-US" sz="2400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FE2F59-5165-4FB6-9076-5A162DFBC9D2}"/>
              </a:ext>
            </a:extLst>
          </p:cNvPr>
          <p:cNvSpPr/>
          <p:nvPr/>
        </p:nvSpPr>
        <p:spPr>
          <a:xfrm>
            <a:off x="395536" y="3429000"/>
            <a:ext cx="144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OSCAR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7AD647-051C-4F76-A6DC-8D5D065572EC}"/>
              </a:ext>
            </a:extLst>
          </p:cNvPr>
          <p:cNvSpPr/>
          <p:nvPr/>
        </p:nvSpPr>
        <p:spPr>
          <a:xfrm>
            <a:off x="4179031" y="3403546"/>
            <a:ext cx="1257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FILM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8CC9299-1E8E-4D8F-8844-DC5CC661D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26766"/>
              </p:ext>
            </p:extLst>
          </p:nvPr>
        </p:nvGraphicFramePr>
        <p:xfrm>
          <a:off x="446805" y="3922982"/>
          <a:ext cx="33843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057603565"/>
                    </a:ext>
                  </a:extLst>
                </a:gridCol>
                <a:gridCol w="1244875">
                  <a:extLst>
                    <a:ext uri="{9D8B030D-6E8A-4147-A177-3AD203B41FA5}">
                      <a16:colId xmlns:a16="http://schemas.microsoft.com/office/drawing/2014/main" val="1194328305"/>
                    </a:ext>
                  </a:extLst>
                </a:gridCol>
                <a:gridCol w="1275405">
                  <a:extLst>
                    <a:ext uri="{9D8B030D-6E8A-4147-A177-3AD203B41FA5}">
                      <a16:colId xmlns:a16="http://schemas.microsoft.com/office/drawing/2014/main" val="2198562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YEAR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DNAME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FNAME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449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ZYM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不太冷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65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XK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林海原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40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XK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飞雪射雕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2232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E60B7FA-0759-4E13-AEA8-9EDCB4FB6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45931"/>
              </p:ext>
            </p:extLst>
          </p:nvPr>
        </p:nvGraphicFramePr>
        <p:xfrm>
          <a:off x="4283968" y="3922982"/>
          <a:ext cx="37444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305760356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1943283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98562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DNAME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FNAME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INCOME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449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ZYM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不太冷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65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ZYM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飞雪射雕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71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XK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林海原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40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XK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飞雪射雕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2232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58479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）查询</a:t>
            </a:r>
            <a:r>
              <a:rPr lang="en-US" altLang="zh-CN" sz="2800" dirty="0"/>
              <a:t>FILM</a:t>
            </a:r>
            <a:r>
              <a:rPr lang="zh-CN" altLang="en-US" sz="2800" dirty="0"/>
              <a:t>表中</a:t>
            </a:r>
            <a:r>
              <a:rPr lang="zh-CN" altLang="en-US" sz="2800" dirty="0">
                <a:solidFill>
                  <a:srgbClr val="FF0000"/>
                </a:solidFill>
              </a:rPr>
              <a:t>得过奥斯卡奖的导演拍摄的</a:t>
            </a:r>
            <a:r>
              <a:rPr lang="zh-CN" altLang="en-US" sz="2800" dirty="0"/>
              <a:t>但未获奖的电影的名称、导演及其票房收入。</a:t>
            </a:r>
          </a:p>
          <a:p>
            <a:pPr marL="0" indent="0">
              <a:buNone/>
            </a:pPr>
            <a:endParaRPr lang="en-US" altLang="zh-CN" sz="28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SELECT</a:t>
            </a:r>
            <a:r>
              <a:rPr lang="en-US" altLang="zh-CN" sz="2800" dirty="0"/>
              <a:t> * </a:t>
            </a:r>
            <a:r>
              <a:rPr lang="en-US" altLang="zh-CN" sz="2800" dirty="0">
                <a:solidFill>
                  <a:srgbClr val="0000FF"/>
                </a:solidFill>
              </a:rPr>
              <a:t>FROM</a:t>
            </a:r>
            <a:r>
              <a:rPr lang="en-US" altLang="zh-CN" sz="2800" dirty="0"/>
              <a:t> FILM</a:t>
            </a:r>
            <a:endParaRPr lang="zh-CN" altLang="en-US" sz="2800" dirty="0"/>
          </a:p>
          <a:p>
            <a:pPr marL="0" indent="0"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WHERE </a:t>
            </a:r>
            <a:r>
              <a:rPr lang="en-US" altLang="zh-CN" sz="2800" dirty="0"/>
              <a:t>DNAME IN (</a:t>
            </a:r>
          </a:p>
          <a:p>
            <a:pPr marL="0" indent="0">
              <a:buNone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0000FF"/>
                </a:solidFill>
              </a:rPr>
              <a:t>SELECT</a:t>
            </a:r>
            <a:r>
              <a:rPr lang="en-US" altLang="zh-CN" sz="2800" dirty="0"/>
              <a:t> DNAME </a:t>
            </a:r>
            <a:r>
              <a:rPr lang="en-US" altLang="zh-CN" sz="2800" dirty="0">
                <a:solidFill>
                  <a:srgbClr val="0000FF"/>
                </a:solidFill>
              </a:rPr>
              <a:t>FROM </a:t>
            </a:r>
            <a:r>
              <a:rPr lang="en-US" altLang="zh-CN" sz="2800" dirty="0"/>
              <a:t>OSCAR)</a:t>
            </a:r>
            <a:endParaRPr lang="zh-CN" altLang="en-US" sz="2800" dirty="0"/>
          </a:p>
          <a:p>
            <a:pPr marL="0" indent="0">
              <a:buNone/>
            </a:pPr>
            <a:r>
              <a:rPr lang="en-US" altLang="zh-CN" sz="2800" dirty="0"/>
              <a:t>AND </a:t>
            </a:r>
            <a:r>
              <a:rPr lang="en-US" altLang="zh-CN" sz="2800" dirty="0">
                <a:solidFill>
                  <a:srgbClr val="0000FF"/>
                </a:solidFill>
              </a:rPr>
              <a:t>NOT EXIST </a:t>
            </a:r>
            <a:r>
              <a:rPr lang="en-US" altLang="zh-CN" sz="2800" dirty="0"/>
              <a:t>(</a:t>
            </a:r>
          </a:p>
          <a:p>
            <a:pPr marL="0" indent="0">
              <a:buNone/>
            </a:pPr>
            <a:r>
              <a:rPr lang="en-US" altLang="zh-CN" sz="2800" dirty="0"/>
              <a:t>     SELECT * FROM OSCAR </a:t>
            </a:r>
          </a:p>
          <a:p>
            <a:pPr marL="0" indent="0">
              <a:buNone/>
            </a:pPr>
            <a:r>
              <a:rPr lang="en-US" altLang="zh-CN" sz="2800" dirty="0"/>
              <a:t>     WHERE OSCAR.DNAME=FILM.DNAME </a:t>
            </a:r>
          </a:p>
          <a:p>
            <a:pPr marL="0" indent="0">
              <a:buNone/>
            </a:pPr>
            <a:r>
              <a:rPr lang="en-US" altLang="zh-CN" sz="2800" dirty="0"/>
              <a:t>     AND OSCAR.FNAME=FILM.FNAME)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  <p:sp>
        <p:nvSpPr>
          <p:cNvPr id="5" name="椭圆形标注 4"/>
          <p:cNvSpPr/>
          <p:nvPr/>
        </p:nvSpPr>
        <p:spPr>
          <a:xfrm>
            <a:off x="6732240" y="2636912"/>
            <a:ext cx="1954560" cy="1207753"/>
          </a:xfrm>
          <a:prstGeom prst="wedgeEllipseCallout">
            <a:avLst>
              <a:gd name="adj1" fmla="val -84084"/>
              <a:gd name="adj2" fmla="val 6774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IN</a:t>
            </a:r>
          </a:p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行不行？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2771800" y="5542433"/>
            <a:ext cx="5976664" cy="1315567"/>
          </a:xfrm>
          <a:prstGeom prst="wedgeRoundRectCallout">
            <a:avLst>
              <a:gd name="adj1" fmla="val -71578"/>
              <a:gd name="adj2" fmla="val -5024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语法可以，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但两次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IN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合起来的意思可能不同。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获奖导演拍的、且从未有导演因此获奖的。</a:t>
            </a:r>
          </a:p>
        </p:txBody>
      </p:sp>
    </p:spTree>
    <p:extLst>
      <p:ext uri="{BB962C8B-B14F-4D97-AF65-F5344CB8AC3E}">
        <p14:creationId xmlns:p14="http://schemas.microsoft.com/office/powerpoint/2010/main" val="14096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/>
          <p:cNvSpPr>
            <a:spLocks noGrp="1" noChangeArrowheads="1"/>
          </p:cNvSpPr>
          <p:nvPr>
            <p:ph idx="1"/>
          </p:nvPr>
        </p:nvSpPr>
        <p:spPr>
          <a:xfrm>
            <a:off x="179388" y="980728"/>
            <a:ext cx="8713787" cy="5740747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/>
              <a:t>3.4.4  </a:t>
            </a:r>
            <a:r>
              <a:rPr lang="zh-CN" altLang="en-US" sz="2800" b="1" dirty="0">
                <a:latin typeface="+mn-ea"/>
              </a:rPr>
              <a:t>集合查询</a:t>
            </a:r>
            <a:r>
              <a:rPr lang="en-US" altLang="zh-CN" sz="2800" b="1" dirty="0">
                <a:latin typeface="+mn-ea"/>
              </a:rPr>
              <a:t>:union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en-US" altLang="zh-CN" sz="2800" b="1" dirty="0">
                <a:latin typeface="+mn-ea"/>
              </a:rPr>
              <a:t>intersect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en-US" altLang="zh-CN" sz="2800" b="1" dirty="0">
                <a:latin typeface="+mn-ea"/>
              </a:rPr>
              <a:t>except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例：查询计算机系的学生以及年龄不大于</a:t>
            </a:r>
            <a:r>
              <a:rPr lang="en-US" altLang="zh-CN" sz="2400" dirty="0"/>
              <a:t>19</a:t>
            </a:r>
            <a:r>
              <a:rPr lang="zh-CN" altLang="en-US" sz="2400" dirty="0"/>
              <a:t>岁的学生</a:t>
            </a:r>
            <a:endParaRPr lang="en-US" altLang="zh-CN" sz="2400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 *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Sdept=‘CS’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UNION        </a:t>
            </a:r>
            <a:r>
              <a:rPr lang="en-US" altLang="zh-CN" sz="2400" dirty="0">
                <a:solidFill>
                  <a:srgbClr val="0000FF"/>
                </a:solidFill>
              </a:rPr>
              <a:t>//INTESECT, EXCEPT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SELECT  *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FROM Student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dirty="0"/>
              <a:t>WHERE Sage&lt;=19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注：若使用</a:t>
            </a:r>
            <a:r>
              <a:rPr lang="en-US" altLang="zh-CN" sz="2400" dirty="0">
                <a:solidFill>
                  <a:srgbClr val="FF0000"/>
                </a:solidFill>
              </a:rPr>
              <a:t>UNION ALL</a:t>
            </a:r>
            <a:r>
              <a:rPr lang="zh-CN" altLang="en-US" sz="2400" dirty="0">
                <a:solidFill>
                  <a:srgbClr val="FF0000"/>
                </a:solidFill>
              </a:rPr>
              <a:t>则会保留重复元组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EE7869-05E0-4E2F-92A9-1ABF4796781A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0539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79934"/>
          </a:xfrm>
        </p:spPr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3.4.5 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基于派生表的查询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1412" y="1916832"/>
            <a:ext cx="8229600" cy="43894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派生表</a:t>
            </a:r>
            <a:r>
              <a:rPr lang="zh-CN" altLang="en-US" dirty="0"/>
              <a:t>：子查询生成的临时表，可以出现在主查询的</a:t>
            </a:r>
            <a:r>
              <a:rPr lang="en-US" altLang="zh-CN" dirty="0"/>
              <a:t>FROM</a:t>
            </a:r>
            <a:r>
              <a:rPr lang="zh-CN" altLang="en-US" dirty="0"/>
              <a:t>子句中，作为主查询的查询对象。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>
                <a:solidFill>
                  <a:srgbClr val="0066FF"/>
                </a:solidFill>
              </a:rPr>
              <a:t>SELECT</a:t>
            </a:r>
            <a:r>
              <a:rPr lang="en-US" altLang="zh-CN" dirty="0"/>
              <a:t> col1,col2,tempcol4</a:t>
            </a:r>
          </a:p>
          <a:p>
            <a:pPr>
              <a:buNone/>
            </a:pPr>
            <a:r>
              <a:rPr lang="en-US" altLang="zh-CN" dirty="0">
                <a:solidFill>
                  <a:srgbClr val="0066FF"/>
                </a:solidFill>
              </a:rPr>
              <a:t>FROM</a:t>
            </a:r>
            <a:r>
              <a:rPr lang="en-US" altLang="zh-CN" dirty="0"/>
              <a:t> TABLE1, </a:t>
            </a:r>
          </a:p>
          <a:p>
            <a:pPr>
              <a:buNone/>
            </a:pPr>
            <a:r>
              <a:rPr lang="en-US" altLang="zh-CN" dirty="0"/>
              <a:t>    (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</a:t>
            </a:r>
            <a:r>
              <a:rPr lang="en-US" altLang="zh-CN" dirty="0"/>
              <a:t>) </a:t>
            </a:r>
            <a:r>
              <a:rPr lang="en-US" altLang="zh-CN" b="1" dirty="0">
                <a:solidFill>
                  <a:srgbClr val="FF0000"/>
                </a:solidFill>
              </a:rPr>
              <a:t>AS </a:t>
            </a:r>
          </a:p>
          <a:p>
            <a:pPr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 TABLE2_TMP(tempcol3,tempcol4)</a:t>
            </a:r>
          </a:p>
          <a:p>
            <a:pPr>
              <a:buNone/>
            </a:pPr>
            <a:r>
              <a:rPr lang="en-US" altLang="zh-CN" dirty="0">
                <a:solidFill>
                  <a:srgbClr val="0066FF"/>
                </a:solidFill>
              </a:rPr>
              <a:t>WHERE</a:t>
            </a:r>
            <a:r>
              <a:rPr lang="en-US" altLang="zh-CN" dirty="0"/>
              <a:t> col1=</a:t>
            </a:r>
            <a:r>
              <a:rPr lang="en-US" altLang="zh-CN" b="1" dirty="0">
                <a:solidFill>
                  <a:srgbClr val="FF0000"/>
                </a:solidFill>
              </a:rPr>
              <a:t>TABLE2_TMP.</a:t>
            </a:r>
            <a:r>
              <a:rPr lang="en-US" altLang="zh-CN" dirty="0"/>
              <a:t>tempcol3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8AF151-3A7E-497E-82D4-A5C2A7624A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4221088"/>
            <a:ext cx="6737176" cy="964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col3,avg(col4)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FROM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TABLE2 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GROUP BY col3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03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132857"/>
            <a:ext cx="8229600" cy="28083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SELECT</a:t>
            </a:r>
            <a:r>
              <a:rPr lang="en-US" altLang="zh-CN" dirty="0"/>
              <a:t> sno, cno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FROM</a:t>
            </a:r>
            <a:r>
              <a:rPr lang="en-US" altLang="zh-CN" dirty="0"/>
              <a:t> sc,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                           )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AS avg_sc(</a:t>
            </a:r>
            <a:r>
              <a:rPr lang="en-US" altLang="zh-CN" b="1" dirty="0" err="1">
                <a:solidFill>
                  <a:srgbClr val="FF0000"/>
                </a:solidFill>
              </a:rPr>
              <a:t>avg_sno</a:t>
            </a:r>
            <a:r>
              <a:rPr lang="en-US" altLang="zh-CN" b="1" dirty="0">
                <a:solidFill>
                  <a:srgbClr val="FF0000"/>
                </a:solidFill>
              </a:rPr>
              <a:t>, avg_grade)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WHERE</a:t>
            </a:r>
            <a:r>
              <a:rPr lang="en-US" altLang="zh-CN" dirty="0"/>
              <a:t> </a:t>
            </a:r>
            <a:r>
              <a:rPr lang="en-US" altLang="zh-CN" dirty="0" err="1"/>
              <a:t>sc.sno</a:t>
            </a:r>
            <a:r>
              <a:rPr lang="en-US" altLang="zh-CN" dirty="0"/>
              <a:t>=</a:t>
            </a:r>
            <a:r>
              <a:rPr lang="en-US" altLang="zh-CN" b="1" dirty="0" err="1">
                <a:solidFill>
                  <a:srgbClr val="FF0000"/>
                </a:solidFill>
              </a:rPr>
              <a:t>avg_sc</a:t>
            </a:r>
            <a:r>
              <a:rPr lang="en-US" altLang="zh-CN" dirty="0" err="1"/>
              <a:t>.avg_sno</a:t>
            </a:r>
            <a:r>
              <a:rPr lang="en-US" altLang="zh-CN" dirty="0"/>
              <a:t> AND sc.grade&gt;=</a:t>
            </a:r>
            <a:r>
              <a:rPr lang="en-US" altLang="zh-CN" b="1" dirty="0">
                <a:solidFill>
                  <a:srgbClr val="FF0000"/>
                </a:solidFill>
              </a:rPr>
              <a:t>avg_sc</a:t>
            </a:r>
            <a:r>
              <a:rPr lang="en-US" altLang="zh-CN" dirty="0"/>
              <a:t>.avg_grade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8AF151-3A7E-497E-82D4-A5C2A7624A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11760" y="2636912"/>
            <a:ext cx="5904656" cy="964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sno,avg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(grade) FROM sc </a:t>
            </a: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GROUP BY sno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16EAE7C-ECA5-4D8A-A17C-7D3CF8036DDA}"/>
              </a:ext>
            </a:extLst>
          </p:cNvPr>
          <p:cNvSpPr txBox="1">
            <a:spLocks/>
          </p:cNvSpPr>
          <p:nvPr/>
        </p:nvSpPr>
        <p:spPr bwMode="auto">
          <a:xfrm>
            <a:off x="457200" y="921211"/>
            <a:ext cx="8229600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 baseline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zh-CN" altLang="en-US" dirty="0"/>
              <a:t>例：查询成绩表中每个学生选的所有课程中自己学的比较好（大于自己的平时成绩）的课程号。</a:t>
            </a:r>
            <a:endParaRPr kumimoji="0" lang="en-US" altLang="zh-CN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C4C9B089-0EA7-41DE-9BC9-090A53686375}"/>
              </a:ext>
            </a:extLst>
          </p:cNvPr>
          <p:cNvSpPr/>
          <p:nvPr/>
        </p:nvSpPr>
        <p:spPr>
          <a:xfrm>
            <a:off x="5580112" y="5475733"/>
            <a:ext cx="2520280" cy="833587"/>
          </a:xfrm>
          <a:prstGeom prst="wedgeRoundRectCallout">
            <a:avLst>
              <a:gd name="adj1" fmla="val -72135"/>
              <a:gd name="adj2" fmla="val -10048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相关嵌套？</a:t>
            </a:r>
            <a:endParaRPr lang="en-US" altLang="zh-CN" dirty="0"/>
          </a:p>
          <a:p>
            <a:pPr algn="ctr"/>
            <a:r>
              <a:rPr lang="zh-CN" altLang="en-US" dirty="0"/>
              <a:t>物化、临时表</a:t>
            </a:r>
          </a:p>
        </p:txBody>
      </p:sp>
    </p:spTree>
    <p:extLst>
      <p:ext uri="{BB962C8B-B14F-4D97-AF65-F5344CB8AC3E}">
        <p14:creationId xmlns:p14="http://schemas.microsoft.com/office/powerpoint/2010/main" val="402481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3894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派生表的属性列何时可省略属性名？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</a:t>
            </a:r>
            <a:r>
              <a:rPr lang="zh-CN" altLang="en-US" dirty="0"/>
              <a:t>子查询中</a:t>
            </a:r>
            <a:r>
              <a:rPr lang="zh-CN" altLang="en-US" dirty="0">
                <a:solidFill>
                  <a:srgbClr val="FF0000"/>
                </a:solidFill>
              </a:rPr>
              <a:t>没有聚集函数</a:t>
            </a:r>
            <a:r>
              <a:rPr lang="zh-CN" altLang="en-US" dirty="0"/>
              <a:t>的情况下可以</a:t>
            </a:r>
            <a:r>
              <a:rPr lang="zh-CN" altLang="en-US" dirty="0">
                <a:solidFill>
                  <a:srgbClr val="FF0000"/>
                </a:solidFill>
              </a:rPr>
              <a:t>不显示命名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SELECT</a:t>
            </a:r>
            <a:r>
              <a:rPr lang="en-US" altLang="zh-CN" dirty="0"/>
              <a:t> sname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FROM</a:t>
            </a:r>
            <a:r>
              <a:rPr lang="en-US" altLang="zh-CN" dirty="0"/>
              <a:t> student, </a:t>
            </a:r>
            <a:r>
              <a:rPr lang="en-US" altLang="zh-CN" dirty="0">
                <a:solidFill>
                  <a:srgbClr val="FF0000"/>
                </a:solidFill>
              </a:rPr>
              <a:t>(SELECT sno FROM sc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WHERE cno=‘1’) AS sc1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WHERE</a:t>
            </a:r>
            <a:r>
              <a:rPr lang="en-US" altLang="zh-CN" dirty="0"/>
              <a:t> student.sno=</a:t>
            </a:r>
            <a:r>
              <a:rPr lang="en-US" altLang="zh-CN" dirty="0">
                <a:solidFill>
                  <a:srgbClr val="FF0000"/>
                </a:solidFill>
              </a:rPr>
              <a:t>sc1.</a:t>
            </a:r>
            <a:r>
              <a:rPr lang="en-US" altLang="zh-CN" dirty="0"/>
              <a:t>sno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8AF151-3A7E-497E-82D4-A5C2A7624A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4184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idx="1"/>
          </p:nvPr>
        </p:nvSpPr>
        <p:spPr>
          <a:xfrm>
            <a:off x="565150" y="188913"/>
            <a:ext cx="8110538" cy="13795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分组查询再举例：</a:t>
            </a:r>
            <a:r>
              <a:rPr lang="en-US" altLang="zh-CN" sz="2400" dirty="0"/>
              <a:t>select cno, max(grade)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       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         group by cno;  </a:t>
            </a:r>
            <a:r>
              <a:rPr lang="zh-CN" altLang="en-US" sz="2400" dirty="0"/>
              <a:t>最高分学生的学号？？？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533400" y="1628775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group by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的局限性：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子句中不允许出现分组、集函数之外的查询列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。</a:t>
            </a: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609600" y="2492375"/>
            <a:ext cx="8305800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ORACLE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例子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substr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(maxsno,1,3) as grade,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	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substr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(maxsno,4,5) as sno, cno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from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select max(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to_string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(grade,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000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)|sno)  as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   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maxsno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, cno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 from sc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  group by cno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);</a:t>
            </a:r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3327400" y="6265863"/>
            <a:ext cx="2012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t>前两名？？？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70D20A-D8BA-4BA9-92C6-D817BE36FC9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25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utoUpdateAnimBg="0"/>
      <p:bldP spid="104453" grpId="0" autoUpdateAnimBg="0"/>
      <p:bldP spid="10445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/>
          <p:cNvSpPr>
            <a:spLocks noGrp="1" noChangeArrowheads="1"/>
          </p:cNvSpPr>
          <p:nvPr>
            <p:ph idx="1"/>
          </p:nvPr>
        </p:nvSpPr>
        <p:spPr>
          <a:xfrm>
            <a:off x="323850" y="188913"/>
            <a:ext cx="8496300" cy="64801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ORACLE</a:t>
            </a:r>
            <a:r>
              <a:rPr lang="zh-CN" altLang="en-US" sz="2400" dirty="0"/>
              <a:t>列子：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*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(select sno, cno, grade, </a:t>
            </a:r>
            <a:r>
              <a:rPr lang="en-US" altLang="zh-CN" sz="2400" dirty="0">
                <a:solidFill>
                  <a:srgbClr val="0000FF"/>
                </a:solidFill>
              </a:rPr>
              <a:t>rank ()  </a:t>
            </a:r>
            <a:r>
              <a:rPr lang="en-US" altLang="zh-CN" sz="2400" dirty="0">
                <a:solidFill>
                  <a:srgbClr val="C00000"/>
                </a:solidFill>
              </a:rPr>
              <a:t>over(partition cno order by grade desc</a:t>
            </a:r>
            <a:r>
              <a:rPr lang="en-US" altLang="zh-CN" sz="2400" dirty="0"/>
              <a:t> ) </a:t>
            </a:r>
            <a:r>
              <a:rPr lang="en-US" altLang="zh-CN" sz="2400" dirty="0">
                <a:solidFill>
                  <a:srgbClr val="0000FF"/>
                </a:solidFill>
              </a:rPr>
              <a:t>as rk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where </a:t>
            </a:r>
            <a:r>
              <a:rPr lang="en-US" altLang="zh-CN" sz="2400" dirty="0">
                <a:solidFill>
                  <a:srgbClr val="0000FF"/>
                </a:solidFill>
              </a:rPr>
              <a:t>rk</a:t>
            </a:r>
            <a:r>
              <a:rPr lang="en-US" altLang="zh-CN" sz="2400" dirty="0"/>
              <a:t> = 1 or </a:t>
            </a:r>
            <a:r>
              <a:rPr lang="en-US" altLang="zh-CN" sz="2400" dirty="0">
                <a:solidFill>
                  <a:srgbClr val="0000FF"/>
                </a:solidFill>
              </a:rPr>
              <a:t>rk</a:t>
            </a:r>
            <a:r>
              <a:rPr lang="en-US" altLang="zh-CN" sz="2400" dirty="0"/>
              <a:t> = 2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Sql server</a:t>
            </a:r>
            <a:r>
              <a:rPr lang="zh-CN" altLang="en-US" sz="2400" dirty="0"/>
              <a:t>例子（针对某一门课程）：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>
                <a:solidFill>
                  <a:srgbClr val="0000FF"/>
                </a:solidFill>
              </a:rPr>
              <a:t>top 3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cno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sno</a:t>
            </a:r>
            <a:r>
              <a:rPr lang="en-US" altLang="zh-CN" sz="2400" dirty="0"/>
              <a:t>, grade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where cno=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order by grade </a:t>
            </a:r>
            <a:r>
              <a:rPr lang="en-US" altLang="zh-CN" sz="2400" dirty="0" err="1">
                <a:solidFill>
                  <a:srgbClr val="0000FF"/>
                </a:solidFill>
              </a:rPr>
              <a:t>desc</a:t>
            </a:r>
            <a:r>
              <a:rPr lang="en-US" altLang="zh-CN" sz="2400" dirty="0"/>
              <a:t>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4585D2-765F-43E9-9CCD-1A2978363C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42408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15888"/>
            <a:ext cx="8090793" cy="519112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</a:rPr>
              <a:t>3.5  </a:t>
            </a:r>
            <a:r>
              <a:rPr lang="zh-CN" altLang="en-US" sz="2800" b="1" dirty="0">
                <a:solidFill>
                  <a:schemeClr val="tx1"/>
                </a:solidFill>
              </a:rPr>
              <a:t>数据更新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692150"/>
            <a:ext cx="8785225" cy="59769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/>
              <a:t>3.5.1 </a:t>
            </a:r>
            <a:r>
              <a:rPr lang="zh-CN" altLang="en-US" sz="2400" b="1" dirty="0"/>
              <a:t>插入数据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、插入单个元组。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）格式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insert into 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&gt;[</a:t>
            </a:r>
            <a:r>
              <a:rPr lang="zh-CN" altLang="en-US" sz="2400" dirty="0"/>
              <a:t>（</a:t>
            </a:r>
            <a:r>
              <a:rPr lang="en-US" altLang="zh-CN" sz="2400" dirty="0"/>
              <a:t>&lt;</a:t>
            </a:r>
            <a:r>
              <a:rPr lang="zh-CN" altLang="en-US" sz="2400" dirty="0"/>
              <a:t>属性名</a:t>
            </a:r>
            <a:r>
              <a:rPr lang="en-US" altLang="zh-CN" sz="2400" dirty="0"/>
              <a:t>1&gt;</a:t>
            </a:r>
            <a:r>
              <a:rPr lang="zh-CN" altLang="en-US" sz="2400" dirty="0"/>
              <a:t>，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r>
              <a:rPr lang="zh-CN" altLang="en-US" sz="2400" dirty="0"/>
              <a:t>）</a:t>
            </a:r>
            <a:r>
              <a:rPr lang="en-US" altLang="zh-CN" sz="2400" dirty="0"/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values (&lt;</a:t>
            </a:r>
            <a:r>
              <a:rPr lang="zh-CN" altLang="en-US" sz="2400" dirty="0"/>
              <a:t>常量</a:t>
            </a:r>
            <a:r>
              <a:rPr lang="en-US" altLang="zh-CN" sz="2400" dirty="0"/>
              <a:t>1&gt;[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常量</a:t>
            </a:r>
            <a:r>
              <a:rPr lang="en-US" altLang="zh-CN" sz="2400" dirty="0"/>
              <a:t>2&gt;]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例：插入一个新生到</a:t>
            </a:r>
            <a:r>
              <a:rPr lang="en-US" altLang="zh-CN" sz="2400" dirty="0"/>
              <a:t>student </a:t>
            </a:r>
            <a:r>
              <a:rPr lang="zh-CN" altLang="en-US" sz="2400" dirty="0"/>
              <a:t>中去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insert into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values(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，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杨柳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，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男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，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25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，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）使用说明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属性与值在类型、个数上须一致；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完全一致可省属性名；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·</a:t>
            </a:r>
            <a:r>
              <a:rPr lang="zh-CN" altLang="en-US" sz="2400" dirty="0"/>
              <a:t>值缺失则送</a:t>
            </a:r>
            <a:r>
              <a:rPr lang="en-US" altLang="zh-CN" sz="2400" dirty="0"/>
              <a:t>null</a:t>
            </a:r>
            <a:r>
              <a:rPr lang="zh-CN" altLang="en-US" sz="2400" dirty="0"/>
              <a:t>，但属性指定了缺省值的例外。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B1D11F-DE6B-4BCF-A659-A448F5380980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666750"/>
            <a:ext cx="8110538" cy="4191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/>
              <a:t>2</a:t>
            </a:r>
            <a:r>
              <a:rPr lang="zh-CN" altLang="en-US" sz="2800" dirty="0"/>
              <a:t>、插入子查询结果（可多个元组）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/>
              <a:t>格式：</a:t>
            </a:r>
            <a:r>
              <a:rPr lang="en-US" altLang="zh-CN" sz="2800" dirty="0"/>
              <a:t>insert into &lt;</a:t>
            </a:r>
            <a:r>
              <a:rPr lang="zh-CN" altLang="en-US" sz="2800" dirty="0"/>
              <a:t>表名</a:t>
            </a:r>
            <a:r>
              <a:rPr lang="en-US" altLang="zh-CN" sz="2800" dirty="0"/>
              <a:t>&gt;[</a:t>
            </a:r>
            <a:r>
              <a:rPr lang="zh-CN" altLang="en-US" sz="2800" dirty="0"/>
              <a:t>（</a:t>
            </a:r>
            <a:r>
              <a:rPr lang="en-US" altLang="zh-CN" sz="2800" dirty="0"/>
              <a:t>&lt; </a:t>
            </a:r>
            <a:r>
              <a:rPr lang="zh-CN" altLang="en-US" sz="2800" dirty="0"/>
              <a:t>属性名</a:t>
            </a:r>
            <a:r>
              <a:rPr lang="en-US" altLang="zh-CN" sz="2800" dirty="0"/>
              <a:t>1&gt;[</a:t>
            </a:r>
            <a:r>
              <a:rPr lang="zh-CN" altLang="en-US" sz="2800" dirty="0"/>
              <a:t>，</a:t>
            </a:r>
            <a:r>
              <a:rPr lang="en-US" altLang="zh-CN" sz="2800" dirty="0"/>
              <a:t>&lt; </a:t>
            </a:r>
            <a:r>
              <a:rPr lang="zh-CN" altLang="en-US" sz="2800" dirty="0"/>
              <a:t>属性名</a:t>
            </a:r>
            <a:r>
              <a:rPr lang="en-US" altLang="zh-CN" sz="2800" dirty="0"/>
              <a:t>2&gt;</a:t>
            </a:r>
            <a:r>
              <a:rPr lang="en-US" altLang="zh-CN" sz="2800" dirty="0">
                <a:latin typeface="Times New Roman" pitchFamily="18" charset="0"/>
              </a:rPr>
              <a:t>……</a:t>
            </a:r>
            <a:r>
              <a:rPr lang="zh-CN" altLang="en-US" sz="2800" dirty="0"/>
              <a:t>）</a:t>
            </a:r>
            <a:r>
              <a:rPr lang="en-US" altLang="zh-CN" sz="2800" dirty="0"/>
              <a:t>]  </a:t>
            </a:r>
            <a:r>
              <a:rPr lang="zh-CN" altLang="en-US" sz="2800" dirty="0"/>
              <a:t>子查询；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/>
              <a:t>例：</a:t>
            </a:r>
            <a:r>
              <a:rPr lang="en-US" altLang="zh-CN" sz="2800" dirty="0"/>
              <a:t>insert into student_female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/>
              <a:t>     select *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/>
              <a:t>     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/>
              <a:t>     where ssex = </a:t>
            </a:r>
            <a:r>
              <a:rPr lang="en-US" altLang="zh-CN" sz="2800" dirty="0">
                <a:latin typeface="Times New Roman" pitchFamily="18" charset="0"/>
              </a:rPr>
              <a:t>‘</a:t>
            </a:r>
            <a:r>
              <a:rPr lang="en-US" altLang="zh-CN" sz="2800" dirty="0"/>
              <a:t> </a:t>
            </a:r>
            <a:r>
              <a:rPr lang="zh-CN" altLang="en-US" sz="2800" dirty="0"/>
              <a:t>女</a:t>
            </a:r>
            <a:r>
              <a:rPr lang="zh-CN" altLang="en-US" sz="2800" dirty="0">
                <a:latin typeface="Times New Roman" pitchFamily="18" charset="0"/>
              </a:rPr>
              <a:t>’</a:t>
            </a:r>
            <a:r>
              <a:rPr lang="en-US" altLang="zh-CN" sz="2800" dirty="0"/>
              <a:t>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11037-D136-45A2-92EB-5F90FB12B952}" type="slidenum">
              <a:rPr lang="en-US" altLang="zh-CN" smtClean="0"/>
              <a:pPr>
                <a:defRPr/>
              </a:pPr>
              <a:t>99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712900"/>
              </p:ext>
            </p:extLst>
          </p:nvPr>
        </p:nvGraphicFramePr>
        <p:xfrm>
          <a:off x="5072067" y="4116080"/>
          <a:ext cx="345279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夏秋冬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。。。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153099"/>
              </p:ext>
            </p:extLst>
          </p:nvPr>
        </p:nvGraphicFramePr>
        <p:xfrm>
          <a:off x="571472" y="4888248"/>
          <a:ext cx="3429024" cy="11125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4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迪丽热巴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。。。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古力娜扎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。。。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冯莫提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。。。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27382E-6 L 0.4941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733425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</a:rPr>
              <a:t>3.5.2 </a:t>
            </a:r>
            <a:r>
              <a:rPr lang="zh-CN" altLang="en-US" sz="2400" b="1" dirty="0">
                <a:solidFill>
                  <a:schemeClr val="tx1"/>
                </a:solidFill>
              </a:rPr>
              <a:t>修改数据</a:t>
            </a:r>
          </a:p>
        </p:txBody>
      </p:sp>
      <p:sp>
        <p:nvSpPr>
          <p:cNvPr id="88067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1309688"/>
            <a:ext cx="8110538" cy="521565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、一般格式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update  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set &lt;</a:t>
            </a:r>
            <a:r>
              <a:rPr lang="zh-CN" altLang="en-US" sz="2400" dirty="0"/>
              <a:t>属性名</a:t>
            </a:r>
            <a:r>
              <a:rPr lang="en-US" altLang="zh-CN" sz="2400" dirty="0"/>
              <a:t>&gt;=&lt;exp&gt;[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属性名</a:t>
            </a:r>
            <a:r>
              <a:rPr lang="en-US" altLang="zh-CN" sz="2400" dirty="0"/>
              <a:t>&gt;=&lt;exp&gt;]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[where &lt;</a:t>
            </a:r>
            <a:r>
              <a:rPr lang="zh-CN" altLang="en-US" sz="2400" dirty="0"/>
              <a:t>条件</a:t>
            </a:r>
            <a:r>
              <a:rPr lang="en-US" altLang="zh-CN" sz="2400" dirty="0"/>
              <a:t>exp&gt;]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、修改一个元组值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update student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set sname 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吴向上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, note=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new name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sname=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吴天天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DFE2D0-E01C-47B2-9F13-E308B2081D91}" type="slidenum">
              <a:rPr lang="en-US" altLang="zh-CN" smtClean="0"/>
              <a:pPr>
                <a:defRPr/>
              </a:pPr>
              <a:t>100</a:t>
            </a:fld>
            <a:endParaRPr lang="en-US" altLang="zh-CN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571500"/>
            <a:ext cx="8569325" cy="62865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、修改多个元组值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update sc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set grade=grade-10; </a:t>
            </a:r>
            <a:r>
              <a:rPr lang="zh-CN" altLang="en-US" sz="2400" dirty="0"/>
              <a:t>所有成绩减</a:t>
            </a:r>
            <a:r>
              <a:rPr lang="en-US" altLang="zh-CN" sz="2400" dirty="0"/>
              <a:t>10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、带子查询修改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例：将</a:t>
            </a:r>
            <a:r>
              <a:rPr lang="zh-CN" altLang="en-US" sz="2400" dirty="0">
                <a:latin typeface="Times New Roman" pitchFamily="18" charset="0"/>
              </a:rPr>
              <a:t>“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”</a:t>
            </a:r>
            <a:r>
              <a:rPr lang="zh-CN" altLang="en-US" sz="2400" dirty="0"/>
              <a:t>系全体学生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号课程的成绩取平方根再乘以</a:t>
            </a:r>
            <a:r>
              <a:rPr lang="en-US" altLang="zh-CN" sz="2400" dirty="0"/>
              <a:t>10</a:t>
            </a:r>
            <a:r>
              <a:rPr lang="zh-CN" altLang="en-US" sz="2400" dirty="0"/>
              <a:t>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update </a:t>
            </a:r>
            <a:r>
              <a:rPr lang="en-US" altLang="zh-CN" sz="2400" dirty="0">
                <a:solidFill>
                  <a:srgbClr val="FF0000"/>
                </a:solidFill>
              </a:rPr>
              <a:t>sc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set grade=sqrt(grade) *10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=</a:t>
            </a: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0000FF"/>
                </a:solidFill>
              </a:rPr>
              <a:t>select sdept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where student. sno=</a:t>
            </a:r>
            <a:r>
              <a:rPr lang="en-US" altLang="zh-CN" sz="2400" dirty="0" err="1">
                <a:solidFill>
                  <a:srgbClr val="FF0000"/>
                </a:solidFill>
              </a:rPr>
              <a:t>sc</a:t>
            </a:r>
            <a:r>
              <a:rPr lang="en-US" altLang="zh-CN" sz="2400" dirty="0" err="1">
                <a:solidFill>
                  <a:srgbClr val="0000FF"/>
                </a:solidFill>
              </a:rPr>
              <a:t>.sno</a:t>
            </a:r>
            <a:r>
              <a:rPr lang="zh-CN" altLang="en-US" sz="2400" dirty="0"/>
              <a:t>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and cno=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；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90DC58-E188-449D-85E1-295C137A3BFF}" type="slidenum">
              <a:rPr lang="en-US" altLang="zh-CN" smtClean="0"/>
              <a:pPr>
                <a:defRPr/>
              </a:pPr>
              <a:t>101</a:t>
            </a:fld>
            <a:endParaRPr lang="en-US" altLang="zh-CN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546100"/>
            <a:ext cx="8713788" cy="5168900"/>
          </a:xfrm>
        </p:spPr>
        <p:txBody>
          <a:bodyPr/>
          <a:lstStyle/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、一致性修改</a:t>
            </a:r>
          </a:p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因为修改一次只对一个表，这就带来问题，如某一个人学号变了，必须同时修改</a:t>
            </a:r>
            <a:r>
              <a:rPr lang="en-US" altLang="zh-CN" sz="2400" dirty="0"/>
              <a:t>student</a:t>
            </a:r>
            <a:r>
              <a:rPr lang="zh-CN" altLang="en-US" sz="2400" dirty="0"/>
              <a:t>和</a:t>
            </a:r>
            <a:r>
              <a:rPr lang="en-US" altLang="zh-CN" sz="2400" dirty="0"/>
              <a:t>sc</a:t>
            </a:r>
            <a:r>
              <a:rPr lang="zh-CN" altLang="en-US" sz="2400" dirty="0"/>
              <a:t>中的</a:t>
            </a:r>
            <a:r>
              <a:rPr lang="en-US" altLang="zh-CN" sz="2400" dirty="0"/>
              <a:t>sno</a:t>
            </a:r>
            <a:r>
              <a:rPr lang="zh-CN" altLang="en-US" sz="2400" dirty="0"/>
              <a:t>，否则就不一致。</a:t>
            </a:r>
          </a:p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必须通过两个</a:t>
            </a:r>
            <a:r>
              <a:rPr lang="en-US" altLang="zh-CN" sz="2400" dirty="0"/>
              <a:t>update</a:t>
            </a:r>
            <a:r>
              <a:rPr lang="zh-CN" altLang="en-US" sz="2400" dirty="0"/>
              <a:t>实现（要么都不执行，要么都执行）</a:t>
            </a:r>
          </a:p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update student           update sc</a:t>
            </a:r>
          </a:p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Set sno=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9610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          Set sno=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9610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sno=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9680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;       where sno=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9680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marL="0" indent="45085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附注：通过</a:t>
            </a:r>
            <a:r>
              <a:rPr lang="en-US" altLang="zh-CN" sz="2400" dirty="0">
                <a:solidFill>
                  <a:srgbClr val="FF0000"/>
                </a:solidFill>
              </a:rPr>
              <a:t>begin transaction 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commit</a:t>
            </a:r>
            <a:r>
              <a:rPr lang="zh-CN" altLang="en-US" sz="2400" dirty="0">
                <a:solidFill>
                  <a:srgbClr val="FF0000"/>
                </a:solidFill>
              </a:rPr>
              <a:t>实现一致性。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648AF9-1D98-4FA0-95BF-8D0320679153}" type="slidenum">
              <a:rPr lang="en-US" altLang="zh-CN" smtClean="0"/>
              <a:pPr>
                <a:defRPr/>
              </a:pPr>
              <a:t>102</a:t>
            </a:fld>
            <a:endParaRPr lang="en-US" altLang="zh-CN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617538"/>
            <a:ext cx="8162925" cy="4572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</a:rPr>
              <a:t>3.5.3 </a:t>
            </a:r>
            <a:r>
              <a:rPr lang="zh-CN" altLang="en-US" sz="2400" b="1" dirty="0">
                <a:solidFill>
                  <a:schemeClr val="tx1"/>
                </a:solidFill>
              </a:rPr>
              <a:t>删除数据</a:t>
            </a:r>
          </a:p>
        </p:txBody>
      </p:sp>
      <p:sp>
        <p:nvSpPr>
          <p:cNvPr id="92163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1193800"/>
            <a:ext cx="8569325" cy="55927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、一般格式；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delete from 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[where &lt;</a:t>
            </a:r>
            <a:r>
              <a:rPr lang="zh-CN" altLang="en-US" sz="2400" dirty="0"/>
              <a:t>条件</a:t>
            </a:r>
            <a:r>
              <a:rPr lang="en-US" altLang="zh-CN" sz="2400" dirty="0"/>
              <a:t>exp&gt;];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、删去一个元组；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删去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9610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选修</a:t>
            </a:r>
            <a:r>
              <a:rPr lang="zh-CN" altLang="en-US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课程元组；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delete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where sno=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9610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 and  cno=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、删去多个元组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/>
              <a:t>例①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delete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where sno 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9620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；（一学生选多门课）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D190F-A299-4FC3-87D3-E68DCDBB1793}" type="slidenum">
              <a:rPr lang="en-US" altLang="zh-CN" smtClean="0"/>
              <a:pPr>
                <a:defRPr/>
              </a:pPr>
              <a:t>103</a:t>
            </a:fld>
            <a:endParaRPr lang="en-US" altLang="zh-C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188913"/>
            <a:ext cx="8642350" cy="64801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例②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delete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</a:t>
            </a:r>
            <a:r>
              <a:rPr lang="en-US" altLang="zh-CN" sz="2400" dirty="0" err="1"/>
              <a:t>sc</a:t>
            </a:r>
            <a:r>
              <a:rPr lang="zh-CN" altLang="en-US" sz="2400" dirty="0"/>
              <a:t>；</a:t>
            </a:r>
            <a:r>
              <a:rPr lang="en-US" altLang="zh-CN" sz="2400" dirty="0"/>
              <a:t>  </a:t>
            </a:r>
            <a:r>
              <a:rPr lang="zh-CN" altLang="en-US" sz="2400" dirty="0"/>
              <a:t>删去所有选课元组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、带子查询删除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例：删去计算机系所有学生选课记录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delete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</a:t>
            </a:r>
            <a:r>
              <a:rPr lang="en-US" altLang="zh-CN" sz="2400" dirty="0">
                <a:solidFill>
                  <a:srgbClr val="FF0000"/>
                </a:solidFill>
              </a:rPr>
              <a:t>sc</a:t>
            </a:r>
            <a:r>
              <a:rPr lang="en-US" altLang="zh-CN" sz="2400" dirty="0"/>
              <a:t>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=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0000FF"/>
                </a:solidFill>
              </a:rPr>
              <a:t>select sdept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from student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where student.sno=</a:t>
            </a:r>
            <a:r>
              <a:rPr lang="en-US" altLang="zh-CN" sz="2400" dirty="0">
                <a:solidFill>
                  <a:srgbClr val="FF0000"/>
                </a:solidFill>
              </a:rPr>
              <a:t>sc</a:t>
            </a:r>
            <a:r>
              <a:rPr lang="en-US" altLang="zh-CN" sz="2400" dirty="0">
                <a:solidFill>
                  <a:srgbClr val="0000FF"/>
                </a:solidFill>
              </a:rPr>
              <a:t>. sno</a:t>
            </a:r>
            <a:r>
              <a:rPr lang="en-US" altLang="zh-CN" sz="2400" dirty="0"/>
              <a:t>)      </a:t>
            </a:r>
          </a:p>
        </p:txBody>
      </p:sp>
      <p:sp>
        <p:nvSpPr>
          <p:cNvPr id="93187" name="AutoShape 5"/>
          <p:cNvSpPr>
            <a:spLocks noChangeArrowheads="1"/>
          </p:cNvSpPr>
          <p:nvPr/>
        </p:nvSpPr>
        <p:spPr bwMode="auto">
          <a:xfrm>
            <a:off x="8243888" y="1052513"/>
            <a:ext cx="431800" cy="358775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5D8F99-598C-4096-A22B-1CF002E4BF49}" type="slidenum">
              <a:rPr lang="en-US" altLang="zh-CN" smtClean="0"/>
              <a:pPr>
                <a:defRPr/>
              </a:pPr>
              <a:t>104</a:t>
            </a:fld>
            <a:endParaRPr lang="en-US" altLang="zh-CN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91902"/>
          </a:xfrm>
        </p:spPr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3.6 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</a:rPr>
              <a:t>空值的处理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4983832"/>
          </a:xfrm>
        </p:spPr>
        <p:txBody>
          <a:bodyPr/>
          <a:lstStyle/>
          <a:p>
            <a:r>
              <a:rPr lang="zh-CN" altLang="en-US" dirty="0"/>
              <a:t>空值（</a:t>
            </a:r>
            <a:r>
              <a:rPr lang="en-US" altLang="zh-CN" dirty="0"/>
              <a:t>NULL</a:t>
            </a:r>
            <a:r>
              <a:rPr lang="zh-CN" altLang="en-US" dirty="0"/>
              <a:t>）表示不知道、不存在、没有意义。</a:t>
            </a:r>
            <a:endParaRPr lang="en-US" altLang="zh-CN" dirty="0"/>
          </a:p>
          <a:p>
            <a:r>
              <a:rPr lang="zh-CN" altLang="en-US" dirty="0"/>
              <a:t>空值含有</a:t>
            </a:r>
            <a:r>
              <a:rPr lang="zh-CN" altLang="en-US" dirty="0">
                <a:solidFill>
                  <a:srgbClr val="FF0000"/>
                </a:solidFill>
              </a:rPr>
              <a:t>不确定性</a:t>
            </a:r>
            <a:r>
              <a:rPr lang="zh-CN" altLang="en-US" dirty="0"/>
              <a:t>（甚至有时被认为是</a:t>
            </a:r>
            <a:r>
              <a:rPr lang="zh-CN" altLang="en-US" dirty="0">
                <a:solidFill>
                  <a:srgbClr val="FF0000"/>
                </a:solidFill>
              </a:rPr>
              <a:t>没有数据类型</a:t>
            </a:r>
            <a:r>
              <a:rPr lang="zh-CN" altLang="en-US" dirty="0"/>
              <a:t>的值）。</a:t>
            </a:r>
            <a:endParaRPr lang="en-US" altLang="zh-CN" dirty="0"/>
          </a:p>
          <a:p>
            <a:r>
              <a:rPr lang="zh-CN" altLang="en-US" dirty="0"/>
              <a:t>空值的算数、比较、逻辑运算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空值与另一个非空值的</a:t>
            </a:r>
            <a:r>
              <a:rPr lang="zh-CN" altLang="en-US" dirty="0">
                <a:solidFill>
                  <a:srgbClr val="FF0000"/>
                </a:solidFill>
              </a:rPr>
              <a:t>算数运算结果为空值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42925" indent="0">
              <a:buNone/>
            </a:pPr>
            <a:r>
              <a:rPr lang="zh-CN" altLang="en-US" dirty="0"/>
              <a:t>空值的比较运算的结果为</a:t>
            </a:r>
            <a:r>
              <a:rPr lang="en-US" altLang="zh-CN" dirty="0"/>
              <a:t>UNKNOWN</a:t>
            </a:r>
            <a:r>
              <a:rPr lang="zh-CN" altLang="en-US" dirty="0"/>
              <a:t>，这将传统的二值逻辑（</a:t>
            </a:r>
            <a:r>
              <a:rPr lang="en-US" altLang="zh-CN" dirty="0"/>
              <a:t>TRUE, FALSE</a:t>
            </a:r>
            <a:r>
              <a:rPr lang="zh-CN" altLang="en-US" dirty="0"/>
              <a:t>）扩展为</a:t>
            </a:r>
            <a:r>
              <a:rPr lang="zh-CN" altLang="en-US" dirty="0">
                <a:solidFill>
                  <a:srgbClr val="FF0000"/>
                </a:solidFill>
              </a:rPr>
              <a:t>三值逻辑</a:t>
            </a:r>
            <a:r>
              <a:rPr lang="zh-CN" altLang="en-US" dirty="0"/>
              <a:t>（</a:t>
            </a:r>
            <a:r>
              <a:rPr lang="en-US" altLang="zh-CN" dirty="0"/>
              <a:t>T, F, U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空值的逻辑运算？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105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973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91902"/>
          </a:xfrm>
        </p:spPr>
        <p:txBody>
          <a:bodyPr/>
          <a:lstStyle/>
          <a:p>
            <a:pPr algn="ctr"/>
            <a:r>
              <a:rPr lang="zh-CN" altLang="en-US" sz="2800" dirty="0"/>
              <a:t>包含空值的逻辑运算符真值表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654489"/>
              </p:ext>
            </p:extLst>
          </p:nvPr>
        </p:nvGraphicFramePr>
        <p:xfrm>
          <a:off x="2154560" y="1268760"/>
          <a:ext cx="4834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796">
                  <a:extLst>
                    <a:ext uri="{9D8B030D-6E8A-4147-A177-3AD203B41FA5}">
                      <a16:colId xmlns:a16="http://schemas.microsoft.com/office/drawing/2014/main" val="4210244410"/>
                    </a:ext>
                  </a:extLst>
                </a:gridCol>
                <a:gridCol w="1297796">
                  <a:extLst>
                    <a:ext uri="{9D8B030D-6E8A-4147-A177-3AD203B41FA5}">
                      <a16:colId xmlns:a16="http://schemas.microsoft.com/office/drawing/2014/main" val="2699096468"/>
                    </a:ext>
                  </a:extLst>
                </a:gridCol>
                <a:gridCol w="1347461">
                  <a:extLst>
                    <a:ext uri="{9D8B030D-6E8A-4147-A177-3AD203B41FA5}">
                      <a16:colId xmlns:a16="http://schemas.microsoft.com/office/drawing/2014/main" val="598224382"/>
                    </a:ext>
                  </a:extLst>
                </a:gridCol>
                <a:gridCol w="1244827">
                  <a:extLst>
                    <a:ext uri="{9D8B030D-6E8A-4147-A177-3AD203B41FA5}">
                      <a16:colId xmlns:a16="http://schemas.microsoft.com/office/drawing/2014/main" val="1739956510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X    y 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X  and y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X  or  y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Not    x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803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    </a:t>
                      </a:r>
                      <a:r>
                        <a:rPr lang="en-US" altLang="zh-CN" cap="all" baseline="0" dirty="0" err="1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60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    </a:t>
                      </a:r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789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    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35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 </a:t>
                      </a:r>
                      <a:r>
                        <a:rPr lang="en-US" altLang="zh-CN" cap="all" baseline="0" dirty="0"/>
                        <a:t>  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T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U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U   </a:t>
                      </a:r>
                      <a:r>
                        <a:rPr lang="en-US" altLang="zh-CN" cap="all" baseline="0" dirty="0" err="1"/>
                        <a:t>U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U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U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U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93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r>
                        <a:rPr lang="en-US" altLang="zh-CN" cap="all" baseline="0" dirty="0"/>
                        <a:t>    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U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027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    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777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    </a:t>
                      </a:r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>
                          <a:solidFill>
                            <a:srgbClr val="FF0000"/>
                          </a:solidFill>
                        </a:rPr>
                        <a:t>U</a:t>
                      </a:r>
                      <a:endParaRPr lang="zh-CN" altLang="en-US" cap="all" baseline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1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    </a:t>
                      </a:r>
                      <a:r>
                        <a:rPr lang="en-US" altLang="zh-CN" cap="all" baseline="0" dirty="0" err="1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F</a:t>
                      </a:r>
                      <a:endParaRPr lang="zh-CN" altLang="en-US" cap="all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cap="all" baseline="0" dirty="0"/>
                        <a:t>T</a:t>
                      </a:r>
                      <a:endParaRPr lang="zh-CN" altLang="en-US" cap="all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487474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106</a:t>
            </a:fld>
            <a:endParaRPr lang="en-US" altLang="zh-CN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B282C7-C374-4F89-95D7-7C4487CEF008}"/>
              </a:ext>
            </a:extLst>
          </p:cNvPr>
          <p:cNvSpPr/>
          <p:nvPr/>
        </p:nvSpPr>
        <p:spPr>
          <a:xfrm>
            <a:off x="1403648" y="2708920"/>
            <a:ext cx="6120680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60753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592138"/>
            <a:ext cx="8162925" cy="519112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</a:rPr>
              <a:t>3.7  </a:t>
            </a:r>
            <a:r>
              <a:rPr lang="zh-CN" altLang="en-US" sz="2800" b="1" dirty="0">
                <a:solidFill>
                  <a:schemeClr val="tx1"/>
                </a:solidFill>
              </a:rPr>
              <a:t>视图定义与操作</a:t>
            </a:r>
          </a:p>
        </p:txBody>
      </p:sp>
      <p:sp>
        <p:nvSpPr>
          <p:cNvPr id="94211" name="Rectangle 4"/>
          <p:cNvSpPr>
            <a:spLocks noGrp="1" noChangeArrowheads="1"/>
          </p:cNvSpPr>
          <p:nvPr>
            <p:ph idx="1"/>
          </p:nvPr>
        </p:nvSpPr>
        <p:spPr>
          <a:xfrm>
            <a:off x="179388" y="1168400"/>
            <a:ext cx="8785225" cy="5903913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/>
              <a:t>3.7.1 </a:t>
            </a:r>
            <a:r>
              <a:rPr lang="zh-CN" altLang="en-US" sz="2400" b="1" dirty="0"/>
              <a:t>建立视图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、一般格式： </a:t>
            </a:r>
            <a:r>
              <a:rPr lang="en-US" altLang="zh-CN" sz="2400" dirty="0"/>
              <a:t>create view &lt;</a:t>
            </a:r>
            <a:r>
              <a:rPr lang="zh-CN" altLang="en-US" sz="2400" dirty="0"/>
              <a:t>视图名</a:t>
            </a:r>
            <a:r>
              <a:rPr lang="en-US" altLang="zh-CN" sz="2400" dirty="0"/>
              <a:t>&gt;[</a:t>
            </a:r>
            <a:r>
              <a:rPr lang="zh-CN" altLang="en-US" sz="2400" dirty="0"/>
              <a:t>（</a:t>
            </a:r>
            <a:r>
              <a:rPr lang="en-US" altLang="zh-CN" sz="2400" dirty="0"/>
              <a:t>&lt;</a:t>
            </a:r>
            <a:r>
              <a:rPr lang="zh-CN" altLang="en-US" sz="2400" dirty="0"/>
              <a:t>属性名</a:t>
            </a:r>
            <a:r>
              <a:rPr lang="en-US" altLang="zh-CN" sz="2400" dirty="0"/>
              <a:t>1&gt;</a:t>
            </a:r>
            <a:r>
              <a:rPr lang="zh-CN" altLang="en-US" sz="2400" dirty="0"/>
              <a:t>，</a:t>
            </a:r>
            <a:r>
              <a:rPr lang="en-US" altLang="zh-CN" sz="2400" dirty="0"/>
              <a:t>[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属性名</a:t>
            </a:r>
            <a:r>
              <a:rPr lang="en-US" altLang="zh-CN" sz="2400" dirty="0"/>
              <a:t>2&gt;</a:t>
            </a:r>
            <a:r>
              <a:rPr lang="zh-CN" altLang="en-US" sz="2400" dirty="0"/>
              <a:t>）</a:t>
            </a:r>
            <a:r>
              <a:rPr lang="en-US" altLang="zh-CN" sz="2400" dirty="0">
                <a:latin typeface="Times New Roman" pitchFamily="18" charset="0"/>
              </a:rPr>
              <a:t>……</a:t>
            </a:r>
            <a:r>
              <a:rPr lang="en-US" altLang="zh-CN" sz="2400" dirty="0"/>
              <a:t>]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as &lt;</a:t>
            </a:r>
            <a:r>
              <a:rPr lang="zh-CN" altLang="en-US" sz="2400" dirty="0"/>
              <a:t>子查询</a:t>
            </a:r>
            <a:r>
              <a:rPr lang="en-US" altLang="zh-CN" sz="2400" dirty="0"/>
              <a:t>&gt;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en-US" altLang="zh-CN" sz="2400" dirty="0">
                <a:solidFill>
                  <a:srgbClr val="0000FF"/>
                </a:solidFill>
              </a:rPr>
              <a:t>with check option </a:t>
            </a:r>
            <a:r>
              <a:rPr lang="en-US" altLang="zh-CN" sz="2400" dirty="0"/>
              <a:t>];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若选用，则此后对视图进行</a:t>
            </a:r>
            <a:r>
              <a:rPr lang="en-US" altLang="zh-CN" sz="2400" dirty="0">
                <a:solidFill>
                  <a:srgbClr val="0000FF"/>
                </a:solidFill>
              </a:rPr>
              <a:t>update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insert </a:t>
            </a:r>
            <a:r>
              <a:rPr lang="zh-CN" altLang="en-US" sz="2400" dirty="0">
                <a:solidFill>
                  <a:srgbClr val="0000FF"/>
                </a:solidFill>
              </a:rPr>
              <a:t>操作时必须满足子查询中</a:t>
            </a:r>
            <a:r>
              <a:rPr lang="en-US" altLang="zh-CN" sz="2400" dirty="0">
                <a:solidFill>
                  <a:srgbClr val="0000FF"/>
                </a:solidFill>
              </a:rPr>
              <a:t>where</a:t>
            </a:r>
            <a:r>
              <a:rPr lang="zh-CN" altLang="en-US" sz="2400" dirty="0">
                <a:solidFill>
                  <a:srgbClr val="0000FF"/>
                </a:solidFill>
              </a:rPr>
              <a:t>子句给出的条件（某些系统自动加上相关条件）。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/>
              <a:t>说明：列名在下列情况下</a:t>
            </a:r>
            <a:r>
              <a:rPr lang="zh-CN" altLang="en-US" sz="2400" b="1" dirty="0">
                <a:solidFill>
                  <a:srgbClr val="FF0000"/>
                </a:solidFill>
              </a:rPr>
              <a:t>不可省</a:t>
            </a:r>
            <a:r>
              <a:rPr lang="zh-CN" altLang="en-US" sz="2400" dirty="0"/>
              <a:t>：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/>
              <a:t>①列非单纯的属性名，而是集函数或表达式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②</a:t>
            </a:r>
            <a:r>
              <a:rPr lang="zh-CN" altLang="en-US" sz="2400" dirty="0"/>
              <a:t>同名属性名作为视图中的属性（多表中定义视图）；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dirty="0"/>
              <a:t>③视图用新的列名。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288F9C-814E-4B3C-AD2B-5456EA0F6FC6}" type="slidenum">
              <a:rPr lang="en-US" altLang="zh-CN" smtClean="0"/>
              <a:pPr>
                <a:defRPr/>
              </a:pPr>
              <a:t>107</a:t>
            </a:fld>
            <a:endParaRPr lang="en-US" altLang="zh-CN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688975"/>
            <a:ext cx="864235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、单表视图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例：① 建立计算机系学生的视图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create view computer-student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as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select sno, sname, ssex, sage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from student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sdept=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；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FD110E-C5B0-437C-9330-A61E9448A224}" type="slidenum">
              <a:rPr lang="en-US" altLang="zh-CN" smtClean="0"/>
              <a:pPr>
                <a:defRPr/>
              </a:pPr>
              <a:t>108</a:t>
            </a:fld>
            <a:endParaRPr lang="en-US" altLang="zh-CN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/>
          <p:cNvSpPr>
            <a:spLocks noGrp="1" noChangeArrowheads="1"/>
          </p:cNvSpPr>
          <p:nvPr>
            <p:ph idx="1"/>
          </p:nvPr>
        </p:nvSpPr>
        <p:spPr>
          <a:xfrm>
            <a:off x="179388" y="688975"/>
            <a:ext cx="8785225" cy="502602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例② </a:t>
            </a:r>
            <a:r>
              <a:rPr lang="en-US" altLang="zh-CN" sz="2400" dirty="0"/>
              <a:t>create view computer-student 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 as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 select sno , sname, ssex, sage 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 from student 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 where sdept=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endParaRPr lang="zh-CN" altLang="en-US" sz="2400" dirty="0"/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       </a:t>
            </a:r>
            <a:r>
              <a:rPr lang="en-US" altLang="zh-CN" sz="2400" dirty="0"/>
              <a:t>with check option </a:t>
            </a:r>
          </a:p>
          <a:p>
            <a:pPr marL="0" indent="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</a:t>
            </a:r>
            <a:r>
              <a:rPr lang="zh-CN" altLang="en-US" sz="2400" dirty="0"/>
              <a:t>以后对</a:t>
            </a:r>
            <a:r>
              <a:rPr lang="en-US" altLang="zh-CN" sz="2400" dirty="0"/>
              <a:t>computer-student</a:t>
            </a:r>
            <a:r>
              <a:rPr lang="zh-CN" altLang="en-US" sz="2400" dirty="0"/>
              <a:t>进入插入、修改和删除操作时，</a:t>
            </a:r>
            <a:r>
              <a:rPr lang="en-US" altLang="zh-CN" sz="2400" dirty="0"/>
              <a:t>(DBMS</a:t>
            </a:r>
            <a:r>
              <a:rPr lang="zh-CN" altLang="en-US" sz="2400" dirty="0"/>
              <a:t>自动加上、校对</a:t>
            </a:r>
            <a:r>
              <a:rPr lang="zh-CN" altLang="en-US" sz="2400" dirty="0">
                <a:latin typeface="Times New Roman" pitchFamily="18" charset="0"/>
              </a:rPr>
              <a:t>“</a:t>
            </a:r>
            <a:r>
              <a:rPr lang="en-US" altLang="zh-CN" sz="2400" dirty="0"/>
              <a:t>sdept =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’”</a:t>
            </a:r>
            <a:r>
              <a:rPr lang="zh-CN" altLang="en-US" sz="2400" dirty="0"/>
              <a:t>的条件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FF978-0088-476B-AD04-C3B62F4948B8}" type="slidenum">
              <a:rPr lang="en-US" altLang="zh-CN" smtClean="0"/>
              <a:pPr>
                <a:defRPr/>
              </a:pPr>
              <a:t>109</a:t>
            </a:fld>
            <a:endParaRPr lang="en-US" altLang="zh-CN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28"/>
          <p:cNvSpPr>
            <a:spLocks noGrp="1" noChangeArrowheads="1"/>
          </p:cNvSpPr>
          <p:nvPr>
            <p:ph idx="1"/>
          </p:nvPr>
        </p:nvSpPr>
        <p:spPr>
          <a:xfrm>
            <a:off x="250825" y="760413"/>
            <a:ext cx="8713788" cy="5240337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、多表视图  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create view computer-sc1 (</a:t>
            </a:r>
            <a:r>
              <a:rPr lang="en-US" altLang="zh-CN" sz="2400" dirty="0">
                <a:solidFill>
                  <a:srgbClr val="FF0000"/>
                </a:solidFill>
              </a:rPr>
              <a:t>sno</a:t>
            </a:r>
            <a:r>
              <a:rPr lang="en-US" altLang="zh-CN" sz="2400" dirty="0"/>
              <a:t>, sname, grade)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as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select student.sno, sname, grade 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from student, sc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where sdept 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 </a:t>
            </a:r>
            <a:r>
              <a:rPr lang="en-US" altLang="zh-CN" sz="2400" dirty="0"/>
              <a:t>and </a:t>
            </a:r>
            <a:r>
              <a:rPr lang="en-US" altLang="zh-CN" sz="2400" dirty="0">
                <a:solidFill>
                  <a:srgbClr val="FF0000"/>
                </a:solidFill>
              </a:rPr>
              <a:t>student. sno </a:t>
            </a:r>
            <a:r>
              <a:rPr lang="en-US" altLang="zh-CN" sz="2400" dirty="0"/>
              <a:t>=</a:t>
            </a:r>
            <a:r>
              <a:rPr lang="en-US" altLang="zh-CN" sz="2400" dirty="0">
                <a:solidFill>
                  <a:srgbClr val="FF0000"/>
                </a:solidFill>
              </a:rPr>
              <a:t>sc. sno 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and sc. cno=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01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建立一个计算机系选修</a:t>
            </a:r>
            <a:r>
              <a:rPr lang="en-US" altLang="zh-CN" sz="2400" dirty="0"/>
              <a:t>01</a:t>
            </a:r>
            <a:r>
              <a:rPr lang="zh-CN" altLang="en-US" sz="2400" dirty="0"/>
              <a:t>号课程的学生视图；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由于</a:t>
            </a:r>
            <a:r>
              <a:rPr lang="en-US" altLang="zh-CN" sz="2400" dirty="0"/>
              <a:t>sno</a:t>
            </a:r>
            <a:r>
              <a:rPr lang="zh-CN" altLang="en-US" sz="2400" dirty="0"/>
              <a:t>为</a:t>
            </a:r>
            <a:r>
              <a:rPr lang="en-US" altLang="zh-CN" sz="2400" dirty="0"/>
              <a:t>student</a:t>
            </a:r>
            <a:r>
              <a:rPr lang="zh-CN" altLang="en-US" sz="2400" dirty="0"/>
              <a:t>及</a:t>
            </a:r>
            <a:r>
              <a:rPr lang="en-US" altLang="zh-CN" sz="2400" dirty="0"/>
              <a:t>sc</a:t>
            </a:r>
            <a:r>
              <a:rPr lang="zh-CN" altLang="en-US" sz="2400" dirty="0"/>
              <a:t>中同名列，故视图名后必须明确说明列名。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DC4F03-3E35-4A81-A09F-15066E827BD4}" type="slidenum">
              <a:rPr lang="en-US" altLang="zh-CN" smtClean="0"/>
              <a:pPr>
                <a:defRPr/>
              </a:pPr>
              <a:t>110</a:t>
            </a:fld>
            <a:endParaRPr lang="en-US" altLang="zh-CN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617538"/>
            <a:ext cx="8642350" cy="509746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、视图上建立视图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上一个视图中成绩</a:t>
            </a:r>
            <a:r>
              <a:rPr lang="en-US" altLang="zh-CN" sz="2400" dirty="0"/>
              <a:t>90</a:t>
            </a:r>
            <a:r>
              <a:rPr lang="zh-CN" altLang="en-US" sz="2400" dirty="0"/>
              <a:t>分及以上的记录。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create view computer</a:t>
            </a:r>
            <a:r>
              <a:rPr lang="en-US" altLang="zh-CN" sz="2400" dirty="0">
                <a:latin typeface="Times New Roman" pitchFamily="18" charset="0"/>
              </a:rPr>
              <a:t>-</a:t>
            </a:r>
            <a:r>
              <a:rPr lang="en-US" altLang="zh-CN" sz="2400" dirty="0"/>
              <a:t>sc2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as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select sno ,sname, grade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from computer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-</a:t>
            </a:r>
            <a:r>
              <a:rPr lang="en-US" altLang="zh-CN" sz="2400" dirty="0">
                <a:solidFill>
                  <a:srgbClr val="FF0000"/>
                </a:solidFill>
              </a:rPr>
              <a:t>sc1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  where grade &gt;=90;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这个视图建立在上一个视图之上。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E8372A-677D-4D8D-B2CD-E1455F56A9F9}" type="slidenum">
              <a:rPr lang="en-US" altLang="zh-CN" smtClean="0"/>
              <a:pPr>
                <a:defRPr/>
              </a:pPr>
              <a:t>111</a:t>
            </a:fld>
            <a:endParaRPr lang="en-US" altLang="zh-CN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88913"/>
            <a:ext cx="8507413" cy="63357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、表达式视图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例：</a:t>
            </a:r>
            <a:r>
              <a:rPr lang="en-US" altLang="zh-CN" sz="2400" dirty="0"/>
              <a:t>create view student-year (sno, sname, </a:t>
            </a:r>
            <a:r>
              <a:rPr lang="en-US" altLang="zh-CN" sz="2400" dirty="0">
                <a:solidFill>
                  <a:srgbClr val="FF0000"/>
                </a:solidFill>
              </a:rPr>
              <a:t>sage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as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sno, sname, </a:t>
            </a:r>
            <a:r>
              <a:rPr lang="en-US" altLang="zh-CN" sz="2400" dirty="0">
                <a:solidFill>
                  <a:srgbClr val="FF0000"/>
                </a:solidFill>
              </a:rPr>
              <a:t>year(sysdate)-sbirth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student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6</a:t>
            </a:r>
            <a:r>
              <a:rPr lang="zh-CN" altLang="en-US" sz="2400" dirty="0"/>
              <a:t>、集函数视图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create view sc-avg(sno, </a:t>
            </a:r>
            <a:r>
              <a:rPr lang="en-US" altLang="zh-CN" sz="2400" dirty="0">
                <a:solidFill>
                  <a:srgbClr val="FF0000"/>
                </a:solidFill>
              </a:rPr>
              <a:t>gavg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as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select sno, </a:t>
            </a:r>
            <a:r>
              <a:rPr lang="en-US" altLang="zh-CN" sz="2400" dirty="0">
                <a:solidFill>
                  <a:srgbClr val="FF0000"/>
                </a:solidFill>
              </a:rPr>
              <a:t>avg(grade)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sc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group by sno;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E3D523-7AAA-46E6-9618-1D7A862B0E25}" type="slidenum">
              <a:rPr lang="en-US" altLang="zh-CN" smtClean="0"/>
              <a:pPr>
                <a:defRPr/>
              </a:pPr>
              <a:t>112</a:t>
            </a:fld>
            <a:endParaRPr lang="en-US" altLang="zh-CN"/>
          </a:p>
        </p:txBody>
      </p:sp>
      <p:sp>
        <p:nvSpPr>
          <p:cNvPr id="4" name="圆角矩形标注 3"/>
          <p:cNvSpPr/>
          <p:nvPr/>
        </p:nvSpPr>
        <p:spPr>
          <a:xfrm>
            <a:off x="6000760" y="2500306"/>
            <a:ext cx="2571768" cy="612648"/>
          </a:xfrm>
          <a:prstGeom prst="wedgeRoundRectCallout">
            <a:avLst>
              <a:gd name="adj1" fmla="val -43195"/>
              <a:gd name="adj2" fmla="val -9919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建立一个虚拟列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27"/>
          <p:cNvSpPr>
            <a:spLocks noGrp="1" noChangeArrowheads="1"/>
          </p:cNvSpPr>
          <p:nvPr>
            <p:ph idx="1"/>
          </p:nvPr>
        </p:nvSpPr>
        <p:spPr>
          <a:xfrm>
            <a:off x="457199" y="908719"/>
            <a:ext cx="8507413" cy="561590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7</a:t>
            </a:r>
            <a:r>
              <a:rPr lang="zh-CN" altLang="en-US" sz="2400" dirty="0"/>
              <a:t>、视图删除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drop view </a:t>
            </a:r>
            <a:r>
              <a:rPr lang="zh-CN" altLang="en-US" sz="2400" dirty="0"/>
              <a:t>视图名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删去该视图（从数据字典中）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删去该视图的视图（可选择）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基本表删去了，则（可选择）相关视图也删去。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1B7E1-4431-43A0-8D65-64A60F34F783}" type="slidenum">
              <a:rPr lang="en-US" altLang="zh-CN" smtClean="0"/>
              <a:pPr>
                <a:defRPr/>
              </a:pPr>
              <a:t>113</a:t>
            </a:fld>
            <a:endParaRPr lang="en-US" altLang="zh-CN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500725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3.7.2 </a:t>
            </a:r>
            <a:r>
              <a:rPr lang="zh-CN" altLang="en-US" sz="2400" b="1" dirty="0"/>
              <a:t>视图查询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400" dirty="0"/>
              <a:t>一般对基表去查询操作均可作用于视图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2400" dirty="0"/>
              <a:t>DBMS</a:t>
            </a:r>
            <a:r>
              <a:rPr lang="zh-CN" altLang="en-US" sz="2400" dirty="0"/>
              <a:t>处理步骤如下：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、有效性检查；（表、视图存在否）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、取出视图定义（从数据字典</a:t>
            </a:r>
            <a:r>
              <a:rPr lang="en-US" altLang="zh-CN" sz="2400" dirty="0"/>
              <a:t>DD</a:t>
            </a:r>
            <a:r>
              <a:rPr lang="zh-CN" altLang="en-US" sz="2400" dirty="0"/>
              <a:t>中，若存在）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、转换（对基本表的查询）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（对视图的查询与定义视图的子查询结合起来）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、执行转换后的查询。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视图消解（</a:t>
            </a:r>
            <a:r>
              <a:rPr lang="en-US" altLang="zh-CN" sz="2400" dirty="0">
                <a:solidFill>
                  <a:srgbClr val="FF0000"/>
                </a:solidFill>
              </a:rPr>
              <a:t>View Resolution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8AF151-3A7E-497E-82D4-A5C2A7624A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4617B">
                    <a:shade val="90000"/>
                  </a:srgbClr>
                </a:solidFill>
                <a:effectLst/>
                <a:uLnTx/>
                <a:uFillTx/>
                <a:latin typeface="Verdana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4617B">
                  <a:shade val="90000"/>
                </a:srgbClr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3184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1052736"/>
            <a:ext cx="8713788" cy="54718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/>
              <a:t>3.7.3 </a:t>
            </a:r>
            <a:r>
              <a:rPr lang="zh-CN" altLang="en-US" sz="2400" b="1" dirty="0"/>
              <a:t>视图更新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、操作分类：</a:t>
            </a:r>
            <a:r>
              <a:rPr lang="en-US" altLang="zh-CN" sz="2400" dirty="0"/>
              <a:t>insert, delete, update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、约束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① </a:t>
            </a:r>
            <a:r>
              <a:rPr lang="en-US" altLang="zh-CN" sz="2400" dirty="0"/>
              <a:t>sql</a:t>
            </a:r>
            <a:r>
              <a:rPr lang="zh-CN" altLang="en-US" sz="2400" dirty="0"/>
              <a:t>通常只允许对</a:t>
            </a:r>
            <a:r>
              <a:rPr lang="zh-CN" altLang="en-US" sz="2400" dirty="0">
                <a:solidFill>
                  <a:srgbClr val="FF0000"/>
                </a:solidFill>
              </a:rPr>
              <a:t>单个表导出的视图</a:t>
            </a:r>
            <a:r>
              <a:rPr lang="zh-CN" altLang="en-US" sz="2400" dirty="0"/>
              <a:t>可更新；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② 若视图属性由</a:t>
            </a:r>
            <a:r>
              <a:rPr lang="zh-CN" altLang="en-US" sz="2400" dirty="0">
                <a:solidFill>
                  <a:srgbClr val="FF0000"/>
                </a:solidFill>
              </a:rPr>
              <a:t>表达式或常数</a:t>
            </a:r>
            <a:r>
              <a:rPr lang="zh-CN" altLang="en-US" sz="2400" dirty="0"/>
              <a:t>组成，则不可对之 </a:t>
            </a:r>
            <a:r>
              <a:rPr lang="en-US" altLang="zh-CN" sz="2400" dirty="0"/>
              <a:t>insert</a:t>
            </a:r>
            <a:r>
              <a:rPr lang="zh-CN" altLang="en-US" sz="2400" dirty="0"/>
              <a:t>、</a:t>
            </a:r>
            <a:r>
              <a:rPr lang="en-US" altLang="zh-CN" sz="2400" dirty="0"/>
              <a:t>update, </a:t>
            </a:r>
            <a:r>
              <a:rPr lang="zh-CN" altLang="en-US" sz="2400" dirty="0"/>
              <a:t>但可 </a:t>
            </a:r>
            <a:r>
              <a:rPr lang="en-US" altLang="zh-CN" sz="2400" dirty="0"/>
              <a:t>delete</a:t>
            </a:r>
            <a:r>
              <a:rPr lang="zh-CN" altLang="en-US" sz="2400" dirty="0"/>
              <a:t>；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1B7E1-4431-43A0-8D65-64A60F34F783}" type="slidenum">
              <a:rPr lang="en-US" altLang="zh-CN" smtClean="0"/>
              <a:pPr>
                <a:defRPr/>
              </a:pPr>
              <a:t>115</a:t>
            </a:fld>
            <a:endParaRPr lang="en-US" altLang="zh-CN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EEA20EF4-91BB-40BF-A91C-1CF1F5E3E834}"/>
              </a:ext>
            </a:extLst>
          </p:cNvPr>
          <p:cNvSpPr/>
          <p:nvPr/>
        </p:nvSpPr>
        <p:spPr>
          <a:xfrm>
            <a:off x="6876256" y="1988840"/>
            <a:ext cx="1512168" cy="612648"/>
          </a:xfrm>
          <a:prstGeom prst="wedgeRoundRectCallout">
            <a:avLst>
              <a:gd name="adj1" fmla="val -45759"/>
              <a:gd name="adj2" fmla="val 7275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行列子集</a:t>
            </a:r>
          </a:p>
        </p:txBody>
      </p:sp>
    </p:spTree>
    <p:extLst>
      <p:ext uri="{BB962C8B-B14F-4D97-AF65-F5344CB8AC3E}">
        <p14:creationId xmlns:p14="http://schemas.microsoft.com/office/powerpoint/2010/main" val="143806027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260350"/>
            <a:ext cx="8642350" cy="63373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③ </a:t>
            </a:r>
            <a:r>
              <a:rPr lang="zh-CN" altLang="en-US" sz="2400" dirty="0"/>
              <a:t>若视图属性为</a:t>
            </a:r>
            <a:r>
              <a:rPr lang="zh-CN" altLang="en-US" sz="2400" dirty="0">
                <a:solidFill>
                  <a:srgbClr val="FF0000"/>
                </a:solidFill>
              </a:rPr>
              <a:t>集函数</a:t>
            </a:r>
            <a:r>
              <a:rPr lang="zh-CN" altLang="en-US" sz="2400" dirty="0"/>
              <a:t>，则不可更新；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④ 若视图中有</a:t>
            </a:r>
            <a:r>
              <a:rPr lang="en-US" altLang="zh-CN" sz="2400" dirty="0">
                <a:solidFill>
                  <a:srgbClr val="FF0000"/>
                </a:solidFill>
              </a:rPr>
              <a:t>group by </a:t>
            </a:r>
            <a:r>
              <a:rPr lang="zh-CN" altLang="en-US" sz="2400" dirty="0"/>
              <a:t>则不可更新；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⑤ 定义中若使用</a:t>
            </a:r>
            <a:r>
              <a:rPr lang="en-US" altLang="zh-CN" sz="2400" dirty="0">
                <a:solidFill>
                  <a:srgbClr val="FF0000"/>
                </a:solidFill>
              </a:rPr>
              <a:t>distinct</a:t>
            </a:r>
            <a:r>
              <a:rPr lang="zh-CN" altLang="en-US" sz="2400" dirty="0"/>
              <a:t>，则不可更新；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⑥ </a:t>
            </a:r>
            <a:r>
              <a:rPr lang="zh-CN" altLang="en-US" sz="2400" dirty="0">
                <a:solidFill>
                  <a:srgbClr val="FF0000"/>
                </a:solidFill>
              </a:rPr>
              <a:t>嵌套子查询</a:t>
            </a:r>
            <a:r>
              <a:rPr lang="zh-CN" altLang="en-US" sz="2400" dirty="0"/>
              <a:t>定义视图时，若</a:t>
            </a:r>
            <a:r>
              <a:rPr lang="zh-CN" altLang="en-US" sz="2400" dirty="0">
                <a:solidFill>
                  <a:srgbClr val="FF0000"/>
                </a:solidFill>
              </a:rPr>
              <a:t>内外层表相同</a:t>
            </a:r>
            <a:r>
              <a:rPr lang="zh-CN" altLang="en-US" sz="2400" dirty="0"/>
              <a:t>，则不可更新；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⑦ </a:t>
            </a:r>
            <a:r>
              <a:rPr lang="zh-CN" altLang="en-US" sz="2400" dirty="0">
                <a:solidFill>
                  <a:srgbClr val="FF0000"/>
                </a:solidFill>
              </a:rPr>
              <a:t>不允许更新的视图</a:t>
            </a:r>
            <a:r>
              <a:rPr lang="zh-CN" altLang="en-US" sz="2400" dirty="0"/>
              <a:t>导出的视图不可更新。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什么样的视图理论上可更新是一个待研究课题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）不可更新：理论上证明不可更新；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）不允许更新：本身可能是可更新的，但实际系统不支持。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A0774-DD2A-4B7C-8CFA-E93108410FA5}" type="slidenum">
              <a:rPr lang="en-US" altLang="zh-CN" smtClean="0"/>
              <a:pPr>
                <a:defRPr/>
              </a:pPr>
              <a:t>116</a:t>
            </a:fld>
            <a:endParaRPr lang="en-US" altLang="zh-CN"/>
          </a:p>
        </p:txBody>
      </p:sp>
      <p:sp>
        <p:nvSpPr>
          <p:cNvPr id="4" name="圆角矩形标注 3"/>
          <p:cNvSpPr/>
          <p:nvPr/>
        </p:nvSpPr>
        <p:spPr>
          <a:xfrm>
            <a:off x="6732240" y="908720"/>
            <a:ext cx="1778496" cy="864096"/>
          </a:xfrm>
          <a:prstGeom prst="wedgeRoundRectCallout">
            <a:avLst>
              <a:gd name="adj1" fmla="val -108414"/>
              <a:gd name="adj2" fmla="val -7618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存在</a:t>
            </a:r>
            <a:endParaRPr lang="en-US" altLang="zh-CN" dirty="0"/>
          </a:p>
          <a:p>
            <a:pPr algn="ctr"/>
            <a:r>
              <a:rPr lang="zh-CN" altLang="en-US" dirty="0"/>
              <a:t>不确定性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6732240" y="908720"/>
            <a:ext cx="1778496" cy="864096"/>
          </a:xfrm>
          <a:prstGeom prst="wedgeRoundRectCallout">
            <a:avLst>
              <a:gd name="adj1" fmla="val -112124"/>
              <a:gd name="adj2" fmla="val -1291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存在</a:t>
            </a:r>
            <a:endParaRPr lang="en-US" altLang="zh-CN" dirty="0"/>
          </a:p>
          <a:p>
            <a:pPr algn="ctr"/>
            <a:r>
              <a:rPr lang="zh-CN" altLang="en-US" dirty="0"/>
              <a:t>不确定性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6743405" y="908720"/>
            <a:ext cx="1778496" cy="864096"/>
          </a:xfrm>
          <a:prstGeom prst="wedgeRoundRectCallout">
            <a:avLst>
              <a:gd name="adj1" fmla="val -108414"/>
              <a:gd name="adj2" fmla="val 5254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存在</a:t>
            </a:r>
            <a:endParaRPr lang="en-US" altLang="zh-CN" dirty="0"/>
          </a:p>
          <a:p>
            <a:pPr algn="ctr"/>
            <a:r>
              <a:rPr lang="zh-CN" altLang="en-US" dirty="0"/>
              <a:t>不确定性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6743405" y="908720"/>
            <a:ext cx="1778496" cy="864096"/>
          </a:xfrm>
          <a:prstGeom prst="wedgeRoundRectCallout">
            <a:avLst>
              <a:gd name="adj1" fmla="val -85092"/>
              <a:gd name="adj2" fmla="val 9945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存在</a:t>
            </a:r>
            <a:endParaRPr lang="en-US" altLang="zh-CN" dirty="0"/>
          </a:p>
          <a:p>
            <a:pPr algn="ctr"/>
            <a:r>
              <a:rPr lang="zh-CN" altLang="en-US" dirty="0"/>
              <a:t>不确定性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642938"/>
            <a:ext cx="8713788" cy="5857896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</a:t>
            </a:r>
            <a:r>
              <a:rPr lang="en-US" altLang="zh-CN" sz="2400" dirty="0"/>
              <a:t>insert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insert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into computer-student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values(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9690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程由之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，</a:t>
            </a:r>
            <a:r>
              <a:rPr lang="en-US" altLang="zh-CN" sz="2400" dirty="0"/>
              <a:t>20)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DBMS</a:t>
            </a:r>
            <a:r>
              <a:rPr lang="zh-CN" altLang="en-US" sz="2400" dirty="0"/>
              <a:t>将其转换为对其本表的更新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insert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into student (sno ,sname , sage ,sdept)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Values (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9690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程由之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,20, 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computer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75E5C-FD21-452F-9DC1-BCFD705C08EB}" type="slidenum">
              <a:rPr lang="en-US" altLang="zh-CN" smtClean="0"/>
              <a:pPr>
                <a:defRPr/>
              </a:pPr>
              <a:t>117</a:t>
            </a:fld>
            <a:endParaRPr lang="en-US" altLang="zh-CN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28"/>
          <p:cNvSpPr>
            <a:spLocks noGrp="1" noChangeArrowheads="1"/>
          </p:cNvSpPr>
          <p:nvPr>
            <p:ph idx="1"/>
          </p:nvPr>
        </p:nvSpPr>
        <p:spPr>
          <a:xfrm>
            <a:off x="323850" y="688975"/>
            <a:ext cx="8569325" cy="574042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/>
              <a:t>update</a:t>
            </a:r>
            <a:r>
              <a:rPr lang="zh-CN" altLang="en-US" sz="2400" dirty="0"/>
              <a:t>更新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update computer-student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set sname=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牛一飞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sno 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9670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检查后转换对基本表更新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update student 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set sname=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牛一飞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where sno=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9670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 and sdept=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CB1DBA-7036-45E9-8403-68273AE19821}" type="slidenum">
              <a:rPr lang="en-US" altLang="zh-CN" smtClean="0"/>
              <a:pPr>
                <a:defRPr/>
              </a:pPr>
              <a:t>118</a:t>
            </a:fld>
            <a:endParaRPr lang="en-US" altLang="zh-CN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27"/>
          <p:cNvSpPr>
            <a:spLocks noGrp="1" noChangeArrowheads="1"/>
          </p:cNvSpPr>
          <p:nvPr>
            <p:ph idx="1"/>
          </p:nvPr>
        </p:nvSpPr>
        <p:spPr>
          <a:xfrm>
            <a:off x="179388" y="188913"/>
            <a:ext cx="8713787" cy="640873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、</a:t>
            </a:r>
            <a:r>
              <a:rPr lang="en-US" altLang="zh-CN" sz="2400" dirty="0"/>
              <a:t>delete</a:t>
            </a:r>
            <a:r>
              <a:rPr lang="zh-CN" altLang="en-US" sz="2400" dirty="0"/>
              <a:t>删除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delete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from computer-student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sno =</a:t>
            </a:r>
            <a:r>
              <a:rPr lang="en-US" altLang="zh-CN" sz="2400" dirty="0">
                <a:latin typeface="Times New Roman" pitchFamily="18" charset="0"/>
              </a:rPr>
              <a:t>‘</a:t>
            </a:r>
            <a:r>
              <a:rPr lang="en-US" altLang="zh-CN" sz="2400" dirty="0"/>
              <a:t>9609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转换：</a:t>
            </a:r>
            <a:r>
              <a:rPr lang="en-US" altLang="zh-CN" sz="2400" dirty="0"/>
              <a:t>delete from student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where sno 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9609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en-US" altLang="zh-CN" sz="2400" dirty="0"/>
              <a:t> and sdept =</a:t>
            </a:r>
            <a:r>
              <a:rPr lang="en-US" altLang="zh-CN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计算机</a:t>
            </a:r>
            <a:r>
              <a:rPr lang="zh-CN" altLang="en-US" sz="2400" dirty="0">
                <a:latin typeface="Times New Roman" pitchFamily="18" charset="0"/>
              </a:rPr>
              <a:t>’</a:t>
            </a:r>
            <a:r>
              <a:rPr lang="zh-CN" altLang="en-US" sz="2400" dirty="0"/>
              <a:t>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8A7C43-3240-4A7E-9BE6-E1D389CE3290}" type="slidenum">
              <a:rPr lang="en-US" altLang="zh-CN" smtClean="0"/>
              <a:pPr>
                <a:defRPr/>
              </a:pPr>
              <a:t>119</a:t>
            </a:fld>
            <a:endParaRPr lang="en-US" altLang="zh-CN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57225"/>
            <a:ext cx="8162925" cy="762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3.7.4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视图的作用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738313"/>
            <a:ext cx="8110538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1.</a:t>
            </a:r>
            <a:r>
              <a:rPr lang="zh-CN" altLang="en-US" dirty="0">
                <a:solidFill>
                  <a:srgbClr val="FF0000"/>
                </a:solidFill>
              </a:rPr>
              <a:t>简化</a:t>
            </a:r>
            <a:r>
              <a:rPr lang="zh-CN" altLang="en-US" dirty="0"/>
              <a:t>用户的操作，更</a:t>
            </a:r>
            <a:r>
              <a:rPr lang="zh-CN" altLang="en-US" dirty="0">
                <a:solidFill>
                  <a:srgbClr val="FF0000"/>
                </a:solidFill>
              </a:rPr>
              <a:t>清晰地表达</a:t>
            </a:r>
            <a:r>
              <a:rPr lang="zh-CN" altLang="en-US" dirty="0"/>
              <a:t>查询（提供逻辑数据集）；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2.</a:t>
            </a:r>
            <a:r>
              <a:rPr lang="zh-CN" altLang="en-US" dirty="0"/>
              <a:t>使用户能以</a:t>
            </a:r>
            <a:r>
              <a:rPr lang="zh-CN" altLang="en-US" dirty="0">
                <a:solidFill>
                  <a:srgbClr val="FF0000"/>
                </a:solidFill>
              </a:rPr>
              <a:t>多种角度</a:t>
            </a:r>
            <a:r>
              <a:rPr lang="zh-CN" altLang="en-US" dirty="0"/>
              <a:t>看待同一数据；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3.</a:t>
            </a:r>
            <a:r>
              <a:rPr lang="zh-CN" altLang="en-US" dirty="0"/>
              <a:t>对重构数据库提供了一定程度的</a:t>
            </a:r>
            <a:r>
              <a:rPr lang="zh-CN" altLang="en-US" dirty="0">
                <a:solidFill>
                  <a:srgbClr val="FF0000"/>
                </a:solidFill>
              </a:rPr>
              <a:t>逻辑独立性；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4.</a:t>
            </a:r>
            <a:r>
              <a:rPr lang="zh-CN" altLang="en-US" dirty="0"/>
              <a:t>对数据提供</a:t>
            </a:r>
            <a:r>
              <a:rPr lang="zh-CN" altLang="en-US" dirty="0">
                <a:solidFill>
                  <a:srgbClr val="FF0000"/>
                </a:solidFill>
              </a:rPr>
              <a:t>安全</a:t>
            </a:r>
            <a:r>
              <a:rPr lang="zh-CN" altLang="en-US" dirty="0"/>
              <a:t>保护。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CEF75-F60C-4C8E-988B-2D9AB1541197}" type="slidenum">
              <a:rPr lang="en-US" altLang="zh-CN" smtClean="0"/>
              <a:pPr>
                <a:defRPr/>
              </a:pPr>
              <a:t>120</a:t>
            </a:fld>
            <a:endParaRPr lang="en-US" altLang="zh-CN"/>
          </a:p>
        </p:txBody>
      </p:sp>
      <p:sp>
        <p:nvSpPr>
          <p:cNvPr id="5" name="圆角矩形标注 4"/>
          <p:cNvSpPr/>
          <p:nvPr/>
        </p:nvSpPr>
        <p:spPr>
          <a:xfrm>
            <a:off x="4357686" y="1071546"/>
            <a:ext cx="1714512" cy="612648"/>
          </a:xfrm>
          <a:prstGeom prst="wedgeRoundRectCallout">
            <a:avLst>
              <a:gd name="adj1" fmla="val -79721"/>
              <a:gd name="adj2" fmla="val -3233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外模式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121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9512" y="-131560"/>
            <a:ext cx="8215313" cy="103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 baseline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Clr>
                <a:schemeClr val="bg1"/>
              </a:buClr>
              <a:buFontTx/>
              <a:buNone/>
            </a:pPr>
            <a:r>
              <a:rPr kumimoji="0" lang="en-US" altLang="zh-CN" sz="2800" dirty="0">
                <a:solidFill>
                  <a:srgbClr val="FF0000"/>
                </a:solidFill>
              </a:rPr>
              <a:t>SQL</a:t>
            </a:r>
            <a:r>
              <a:rPr kumimoji="0" lang="zh-CN" altLang="en-US" sz="2800" dirty="0">
                <a:solidFill>
                  <a:srgbClr val="FF0000"/>
                </a:solidFill>
              </a:rPr>
              <a:t>补充案例：</a:t>
            </a:r>
            <a:endParaRPr kumimoji="0" lang="en-US" altLang="zh-CN" sz="2800" dirty="0">
              <a:solidFill>
                <a:srgbClr val="FF0000"/>
              </a:solidFill>
            </a:endParaRPr>
          </a:p>
          <a:p>
            <a:pPr algn="just" eaLnBrk="1" hangingPunct="1">
              <a:buClr>
                <a:schemeClr val="bg1"/>
              </a:buClr>
              <a:buFontTx/>
              <a:buNone/>
            </a:pPr>
            <a:r>
              <a:rPr kumimoji="0" lang="en-US" altLang="zh-CN" sz="2800" dirty="0">
                <a:solidFill>
                  <a:srgbClr val="FF0000"/>
                </a:solidFill>
              </a:rPr>
              <a:t>[</a:t>
            </a:r>
            <a:r>
              <a:rPr kumimoji="0" lang="zh-CN" altLang="en-US" sz="2800" dirty="0">
                <a:solidFill>
                  <a:srgbClr val="FF0000"/>
                </a:solidFill>
              </a:rPr>
              <a:t>例</a:t>
            </a:r>
            <a:r>
              <a:rPr kumimoji="0" lang="en-US" altLang="zh-CN" sz="2800" dirty="0">
                <a:solidFill>
                  <a:srgbClr val="FF0000"/>
                </a:solidFill>
              </a:rPr>
              <a:t>1]  </a:t>
            </a:r>
            <a:r>
              <a:rPr kumimoji="0" lang="zh-CN" altLang="en-US" sz="2800" dirty="0"/>
              <a:t>查询赊销收入凭证。（用友财务</a:t>
            </a:r>
            <a:r>
              <a:rPr kumimoji="0" lang="en-US" altLang="zh-CN" sz="2800" dirty="0"/>
              <a:t>)</a:t>
            </a:r>
          </a:p>
          <a:p>
            <a:pPr algn="just" eaLnBrk="1" hangingPunct="1">
              <a:buClr>
                <a:schemeClr val="bg1"/>
              </a:buClr>
              <a:buFontTx/>
              <a:buNone/>
            </a:pPr>
            <a:r>
              <a:rPr kumimoji="0" lang="en-US" altLang="zh-CN" sz="2800" dirty="0"/>
              <a:t>gl_accvouch:</a:t>
            </a:r>
            <a:endParaRPr kumimoji="0" lang="en-US" altLang="zh-CN" sz="2800" i="1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30185300"/>
              </p:ext>
            </p:extLst>
          </p:nvPr>
        </p:nvGraphicFramePr>
        <p:xfrm>
          <a:off x="179512" y="1485753"/>
          <a:ext cx="8785225" cy="2863851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75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75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38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会计期间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iperiod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凭证类型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csign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凭证号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ino_id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行号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inid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科目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ccode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摘要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cdigest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借方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贷方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23400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501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20000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221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3400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41"/>
          <p:cNvSpPr>
            <a:spLocks noChangeArrowheads="1"/>
          </p:cNvSpPr>
          <p:nvPr/>
        </p:nvSpPr>
        <p:spPr bwMode="auto">
          <a:xfrm>
            <a:off x="179512" y="4422628"/>
            <a:ext cx="3967163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60000"/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just" fontAlgn="base">
              <a:spcAft>
                <a:spcPct val="0"/>
              </a:spcAft>
              <a:buClr>
                <a:srgbClr val="FFFFFF"/>
              </a:buClr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赊销收入凭证特征：</a:t>
            </a:r>
          </a:p>
          <a:p>
            <a:pPr fontAlgn="base">
              <a:spcAft>
                <a:spcPct val="0"/>
              </a:spcAft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借方：应收账款 </a:t>
            </a:r>
            <a:r>
              <a:rPr lang="en-US" altLang="zh-CN" sz="2800" dirty="0">
                <a:solidFill>
                  <a:srgbClr val="000000"/>
                </a:solidFill>
              </a:rPr>
              <a:t>(113)</a:t>
            </a:r>
          </a:p>
          <a:p>
            <a:pPr fontAlgn="base">
              <a:spcAft>
                <a:spcPct val="0"/>
              </a:spcAft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贷方：销售收入 </a:t>
            </a:r>
            <a:r>
              <a:rPr lang="en-US" altLang="zh-CN" sz="2800" dirty="0">
                <a:solidFill>
                  <a:srgbClr val="000000"/>
                </a:solidFill>
              </a:rPr>
              <a:t>(501)</a:t>
            </a:r>
          </a:p>
          <a:p>
            <a:pPr fontAlgn="base">
              <a:spcAft>
                <a:spcPct val="0"/>
              </a:spcAft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         </a:t>
            </a:r>
            <a:r>
              <a:rPr lang="zh-CN" altLang="en-US" sz="2800" dirty="0">
                <a:solidFill>
                  <a:srgbClr val="000000"/>
                </a:solidFill>
              </a:rPr>
              <a:t>应缴税金 </a:t>
            </a:r>
            <a:r>
              <a:rPr lang="en-US" altLang="zh-CN" sz="2800" dirty="0">
                <a:solidFill>
                  <a:srgbClr val="000000"/>
                </a:solidFill>
              </a:rPr>
              <a:t>(221)</a:t>
            </a: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4176837" y="4498827"/>
            <a:ext cx="4779963" cy="2032000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60000"/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800" dirty="0">
                <a:solidFill>
                  <a:srgbClr val="FFFFFF"/>
                </a:solidFill>
              </a:rPr>
              <a:t>售给天津</a:t>
            </a:r>
            <a:r>
              <a:rPr lang="en-US" altLang="zh-CN" sz="1800" dirty="0">
                <a:solidFill>
                  <a:srgbClr val="FFFFFF"/>
                </a:solidFill>
              </a:rPr>
              <a:t>A</a:t>
            </a:r>
            <a:r>
              <a:rPr lang="zh-CN" altLang="en-US" sz="1800" dirty="0">
                <a:solidFill>
                  <a:srgbClr val="FFFFFF"/>
                </a:solidFill>
              </a:rPr>
              <a:t>公司软件</a:t>
            </a:r>
            <a:r>
              <a:rPr lang="en-US" altLang="zh-CN" sz="1800" dirty="0">
                <a:solidFill>
                  <a:srgbClr val="FFFFFF"/>
                </a:solidFill>
              </a:rPr>
              <a:t>100</a:t>
            </a:r>
            <a:r>
              <a:rPr lang="zh-CN" altLang="en-US" sz="1800" dirty="0">
                <a:solidFill>
                  <a:srgbClr val="FFFFFF"/>
                </a:solidFill>
              </a:rPr>
              <a:t>套，每套不含税价为</a:t>
            </a:r>
            <a:r>
              <a:rPr lang="en-US" altLang="zh-CN" sz="1800" dirty="0">
                <a:solidFill>
                  <a:srgbClr val="FFFFFF"/>
                </a:solidFill>
              </a:rPr>
              <a:t>200</a:t>
            </a:r>
            <a:r>
              <a:rPr lang="zh-CN" altLang="en-US" sz="1800" dirty="0">
                <a:solidFill>
                  <a:srgbClr val="FFFFFF"/>
                </a:solidFill>
              </a:rPr>
              <a:t>元，货款未收</a:t>
            </a:r>
            <a:r>
              <a:rPr lang="en-US" altLang="zh-CN" sz="1800" dirty="0">
                <a:solidFill>
                  <a:srgbClr val="FFFFFF"/>
                </a:solidFill>
              </a:rPr>
              <a:t>, </a:t>
            </a:r>
            <a:r>
              <a:rPr lang="zh-CN" altLang="en-US" sz="1800" dirty="0">
                <a:solidFill>
                  <a:srgbClr val="FFFFFF"/>
                </a:solidFill>
              </a:rPr>
              <a:t>适用税率：</a:t>
            </a:r>
            <a:r>
              <a:rPr lang="en-US" altLang="zh-CN" sz="1800" dirty="0">
                <a:solidFill>
                  <a:srgbClr val="FFFFFF"/>
                </a:solidFill>
              </a:rPr>
              <a:t>17%.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800" dirty="0">
                <a:solidFill>
                  <a:srgbClr val="FFFFFF"/>
                </a:solidFill>
              </a:rPr>
              <a:t>摘要：售</a:t>
            </a:r>
            <a:r>
              <a:rPr lang="en-US" altLang="zh-CN" sz="1800" dirty="0">
                <a:solidFill>
                  <a:srgbClr val="FFFFFF"/>
                </a:solidFill>
              </a:rPr>
              <a:t>A</a:t>
            </a:r>
            <a:r>
              <a:rPr lang="zh-CN" altLang="en-US" sz="1800" dirty="0">
                <a:solidFill>
                  <a:srgbClr val="FFFFFF"/>
                </a:solidFill>
              </a:rPr>
              <a:t>软件，款未收。</a:t>
            </a:r>
            <a:endParaRPr lang="en-US" altLang="zh-CN" sz="1800" dirty="0">
              <a:solidFill>
                <a:srgbClr val="FFFFFF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zh-CN" altLang="en-US" sz="1800" dirty="0">
              <a:solidFill>
                <a:srgbClr val="FFFFFF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800" dirty="0">
                <a:solidFill>
                  <a:srgbClr val="FFFFFF"/>
                </a:solidFill>
              </a:rPr>
              <a:t>借：应收账款             </a:t>
            </a:r>
            <a:r>
              <a:rPr lang="en-US" altLang="zh-CN" sz="1800" dirty="0">
                <a:solidFill>
                  <a:srgbClr val="FFFFFF"/>
                </a:solidFill>
              </a:rPr>
              <a:t>23400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800" dirty="0">
                <a:solidFill>
                  <a:srgbClr val="FFFFFF"/>
                </a:solidFill>
              </a:rPr>
              <a:t>贷：主营业务收入     </a:t>
            </a:r>
            <a:r>
              <a:rPr lang="en-US" altLang="zh-CN" sz="1800" dirty="0">
                <a:solidFill>
                  <a:srgbClr val="FFFFFF"/>
                </a:solidFill>
              </a:rPr>
              <a:t>20000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800" dirty="0">
                <a:solidFill>
                  <a:srgbClr val="FFFFFF"/>
                </a:solidFill>
              </a:rPr>
              <a:t>        </a:t>
            </a:r>
            <a:r>
              <a:rPr lang="zh-CN" altLang="en-US" sz="1800" dirty="0">
                <a:solidFill>
                  <a:srgbClr val="FFFFFF"/>
                </a:solidFill>
              </a:rPr>
              <a:t>应交税金</a:t>
            </a:r>
            <a:r>
              <a:rPr lang="en-US" altLang="zh-CN" sz="1800" dirty="0">
                <a:solidFill>
                  <a:srgbClr val="FFFFFF"/>
                </a:solidFill>
              </a:rPr>
              <a:t>/</a:t>
            </a:r>
            <a:r>
              <a:rPr lang="zh-CN" altLang="en-US" sz="1800" dirty="0">
                <a:solidFill>
                  <a:srgbClr val="FFFFFF"/>
                </a:solidFill>
              </a:rPr>
              <a:t>应交增值税</a:t>
            </a:r>
            <a:r>
              <a:rPr lang="en-US" altLang="zh-CN" sz="1800" dirty="0">
                <a:solidFill>
                  <a:srgbClr val="FFFFFF"/>
                </a:solidFill>
              </a:rPr>
              <a:t>/</a:t>
            </a:r>
            <a:r>
              <a:rPr lang="zh-CN" altLang="en-US" sz="1800" dirty="0">
                <a:solidFill>
                  <a:srgbClr val="FFFFFF"/>
                </a:solidFill>
              </a:rPr>
              <a:t>销项税额    </a:t>
            </a:r>
            <a:r>
              <a:rPr lang="en-US" altLang="zh-CN" sz="1800" dirty="0">
                <a:solidFill>
                  <a:srgbClr val="FFFFFF"/>
                </a:solidFill>
              </a:rPr>
              <a:t>3400</a:t>
            </a: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93A9A40-BAE1-41D0-87CC-3B9EF566E42C}"/>
              </a:ext>
            </a:extLst>
          </p:cNvPr>
          <p:cNvSpPr/>
          <p:nvPr/>
        </p:nvSpPr>
        <p:spPr>
          <a:xfrm>
            <a:off x="2843808" y="2564904"/>
            <a:ext cx="1008112" cy="18577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0369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122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269329"/>
            <a:ext cx="7848600" cy="630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 baseline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>
                <a:solidFill>
                  <a:srgbClr val="0033CC"/>
                </a:solidFill>
              </a:rPr>
              <a:t>select </a:t>
            </a:r>
            <a:r>
              <a:rPr kumimoji="0" lang="en-US" altLang="zh-CN" sz="2200" dirty="0"/>
              <a:t> iperiod,csign,ino_id,inid,ccode, cdigest,md,mc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>
                <a:solidFill>
                  <a:srgbClr val="0033CC"/>
                </a:solidFill>
              </a:rPr>
              <a:t>from</a:t>
            </a:r>
            <a:r>
              <a:rPr kumimoji="0" lang="en-US" altLang="zh-CN" sz="2200" dirty="0"/>
              <a:t>  gl_accvouch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>
                <a:solidFill>
                  <a:srgbClr val="0033CC"/>
                </a:solidFill>
              </a:rPr>
              <a:t>where</a:t>
            </a:r>
            <a:r>
              <a:rPr kumimoji="0" lang="en-US" altLang="zh-CN" sz="2200" dirty="0"/>
              <a:t>  exists (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		</a:t>
            </a:r>
            <a:r>
              <a:rPr kumimoji="0" lang="en-US" altLang="zh-CN" sz="2200" dirty="0">
                <a:solidFill>
                  <a:srgbClr val="0033CC"/>
                </a:solidFill>
              </a:rPr>
              <a:t>select</a:t>
            </a:r>
            <a:r>
              <a:rPr kumimoji="0" lang="en-US" altLang="zh-CN" sz="2200" dirty="0"/>
              <a:t> * </a:t>
            </a:r>
            <a:r>
              <a:rPr kumimoji="0" lang="en-US" altLang="zh-CN" sz="2200" dirty="0">
                <a:solidFill>
                  <a:srgbClr val="0033CC"/>
                </a:solidFill>
              </a:rPr>
              <a:t>from</a:t>
            </a:r>
            <a:r>
              <a:rPr kumimoji="0" lang="en-US" altLang="zh-CN" sz="2200" dirty="0"/>
              <a:t> gl_accvouch B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		</a:t>
            </a:r>
            <a:r>
              <a:rPr kumimoji="0" lang="en-US" altLang="zh-CN" sz="2200" dirty="0">
                <a:solidFill>
                  <a:srgbClr val="0033CC"/>
                </a:solidFill>
              </a:rPr>
              <a:t>where</a:t>
            </a:r>
            <a:r>
              <a:rPr kumimoji="0" lang="en-US" altLang="zh-CN" sz="2200" dirty="0"/>
              <a:t> A.iperiod = B.iperiod and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		A.csign = B.csign and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		</a:t>
            </a:r>
            <a:r>
              <a:rPr kumimoji="0" lang="en-US" altLang="zh-CN" sz="2200" dirty="0">
                <a:solidFill>
                  <a:srgbClr val="FF0000"/>
                </a:solidFill>
              </a:rPr>
              <a:t>A.ino_id = B.ino_id </a:t>
            </a:r>
            <a:r>
              <a:rPr kumimoji="0" lang="en-US" altLang="zh-CN" sz="2200" dirty="0"/>
              <a:t>and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		B.ccode like </a:t>
            </a:r>
            <a:r>
              <a:rPr kumimoji="0" lang="en-US" altLang="zh-CN" sz="2200" dirty="0">
                <a:solidFill>
                  <a:srgbClr val="FF0000"/>
                </a:solidFill>
              </a:rPr>
              <a:t>'113%'</a:t>
            </a:r>
            <a:r>
              <a:rPr kumimoji="0" lang="en-US" altLang="zh-CN" sz="2200" dirty="0"/>
              <a:t> and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		B.md &gt; 0 )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and exists (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		</a:t>
            </a:r>
            <a:r>
              <a:rPr kumimoji="0" lang="en-US" altLang="zh-CN" sz="2200" dirty="0">
                <a:solidFill>
                  <a:srgbClr val="0033CC"/>
                </a:solidFill>
              </a:rPr>
              <a:t>select</a:t>
            </a:r>
            <a:r>
              <a:rPr kumimoji="0" lang="en-US" altLang="zh-CN" sz="2200" dirty="0"/>
              <a:t> * </a:t>
            </a:r>
            <a:r>
              <a:rPr kumimoji="0" lang="en-US" altLang="zh-CN" sz="2200" dirty="0">
                <a:solidFill>
                  <a:srgbClr val="0033CC"/>
                </a:solidFill>
              </a:rPr>
              <a:t>from</a:t>
            </a:r>
            <a:r>
              <a:rPr kumimoji="0" lang="en-US" altLang="zh-CN" sz="2200" dirty="0"/>
              <a:t> gl_accvouch 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		</a:t>
            </a:r>
            <a:r>
              <a:rPr kumimoji="0" lang="en-US" altLang="zh-CN" sz="2200" dirty="0">
                <a:solidFill>
                  <a:srgbClr val="0033CC"/>
                </a:solidFill>
              </a:rPr>
              <a:t>where</a:t>
            </a:r>
            <a:r>
              <a:rPr kumimoji="0" lang="en-US" altLang="zh-CN" sz="2200" dirty="0"/>
              <a:t> A.iperiod = C.iperiod and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 		A.csign = C.csign and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 		</a:t>
            </a:r>
            <a:r>
              <a:rPr kumimoji="0" lang="en-US" altLang="zh-CN" sz="2200" dirty="0">
                <a:solidFill>
                  <a:srgbClr val="FF0000"/>
                </a:solidFill>
              </a:rPr>
              <a:t>A.ino_id = C.ino_id </a:t>
            </a:r>
            <a:r>
              <a:rPr kumimoji="0" lang="en-US" altLang="zh-CN" sz="2200" dirty="0"/>
              <a:t>and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 		C.ccode like </a:t>
            </a:r>
            <a:r>
              <a:rPr kumimoji="0" lang="en-US" altLang="zh-CN" sz="2200" dirty="0">
                <a:solidFill>
                  <a:srgbClr val="FF0000"/>
                </a:solidFill>
              </a:rPr>
              <a:t>'501%' </a:t>
            </a:r>
            <a:r>
              <a:rPr kumimoji="0" lang="en-US" altLang="zh-CN" sz="2200" dirty="0"/>
              <a:t>and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             		C.mc &gt;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/>
              <a:t>and</a:t>
            </a:r>
            <a:r>
              <a:rPr kumimoji="0" lang="zh-CN" altLang="en-US" sz="2200" dirty="0"/>
              <a:t> </a:t>
            </a:r>
            <a:r>
              <a:rPr kumimoji="0" lang="en-US" altLang="zh-CN" sz="2200" dirty="0" err="1"/>
              <a:t>A.ccode</a:t>
            </a:r>
            <a:r>
              <a:rPr kumimoji="0" lang="en-US" altLang="zh-CN" sz="2200" dirty="0"/>
              <a:t> like ‘</a:t>
            </a:r>
            <a:r>
              <a:rPr kumimoji="0" lang="en-US" altLang="zh-CN" sz="2200" dirty="0">
                <a:solidFill>
                  <a:srgbClr val="FF0000"/>
                </a:solidFill>
              </a:rPr>
              <a:t>221%</a:t>
            </a:r>
            <a:r>
              <a:rPr kumimoji="0" lang="en-US" altLang="zh-CN" sz="2200" dirty="0"/>
              <a:t>’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CN" sz="2200" dirty="0">
                <a:solidFill>
                  <a:srgbClr val="0033CC"/>
                </a:solidFill>
              </a:rPr>
              <a:t>order by</a:t>
            </a:r>
            <a:r>
              <a:rPr kumimoji="0" lang="en-US" altLang="zh-CN" sz="2200" dirty="0"/>
              <a:t> iperiod,csign,ino_id,inid</a:t>
            </a:r>
          </a:p>
        </p:txBody>
      </p:sp>
    </p:spTree>
    <p:extLst>
      <p:ext uri="{BB962C8B-B14F-4D97-AF65-F5344CB8AC3E}">
        <p14:creationId xmlns:p14="http://schemas.microsoft.com/office/powerpoint/2010/main" val="14154316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123</a:t>
            </a:fld>
            <a:endParaRPr lang="en-US" altLang="zh-CN"/>
          </a:p>
        </p:txBody>
      </p:sp>
      <p:graphicFrame>
        <p:nvGraphicFramePr>
          <p:cNvPr id="9" name="Group 3">
            <a:extLst>
              <a:ext uri="{FF2B5EF4-FFF2-40B4-BE49-F238E27FC236}">
                <a16:creationId xmlns:a16="http://schemas.microsoft.com/office/drawing/2014/main" id="{CEADB58F-5EA0-42C2-B521-701BE32D7E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5874594"/>
              </p:ext>
            </p:extLst>
          </p:nvPr>
        </p:nvGraphicFramePr>
        <p:xfrm>
          <a:off x="179513" y="466763"/>
          <a:ext cx="8424937" cy="2873760"/>
        </p:xfrm>
        <a:graphic>
          <a:graphicData uri="http://schemas.openxmlformats.org/drawingml/2006/table">
            <a:tbl>
              <a:tblPr/>
              <a:tblGrid>
                <a:gridCol w="1012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20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61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2120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会计期间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iperiod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凭证类型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csign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凭证号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ino_id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行号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inid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科目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ccode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摘要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cdigest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借方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贷方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843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售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软件，款未收</a:t>
                      </a:r>
                      <a:endParaRPr kumimoji="1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23400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40"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501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 kern="12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algn="l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914400" algn="l" rtl="0" eaLnBrk="1" latinLnBrk="0" hangingPunct="1">
                        <a:spcBef>
                          <a:spcPct val="20000"/>
                        </a:spcBef>
                        <a:defRPr kumimoji="1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371600" algn="l" rtl="0" eaLnBrk="1" latinLnBrk="0" hangingPunct="1">
                        <a:spcBef>
                          <a:spcPct val="20000"/>
                        </a:spcBef>
                        <a:buSzPct val="60000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1828800" algn="l" rtl="0" eaLnBrk="1" latinLnBrk="0" hangingPunct="1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marL="22860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marL="27432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marL="32004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marL="3657600" algn="l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20000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4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221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3400</a:t>
                      </a: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矩形 1">
            <a:extLst>
              <a:ext uri="{FF2B5EF4-FFF2-40B4-BE49-F238E27FC236}">
                <a16:creationId xmlns:a16="http://schemas.microsoft.com/office/drawing/2014/main" id="{FD56A49E-F45B-444E-84F8-27472FEE3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1" y="3684495"/>
            <a:ext cx="8568953" cy="175432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60000"/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0" hangingPunct="0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售给天津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公司软件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套，每套不含税价为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200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元，货款未收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适用税率：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17%.</a:t>
            </a:r>
          </a:p>
          <a:p>
            <a:pPr eaLnBrk="0" hangingPunct="0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摘要：售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软件，款未收。</a:t>
            </a:r>
            <a:endParaRPr lang="en-US" altLang="zh-CN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zh-CN" altLang="en-US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0" hangingPunct="0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借：应收账款             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23400</a:t>
            </a:r>
          </a:p>
          <a:p>
            <a:pPr eaLnBrk="0" hangingPunct="0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贷：主营业务收入      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20000</a:t>
            </a:r>
          </a:p>
          <a:p>
            <a:pPr eaLnBrk="0" hangingPunct="0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应交税金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应交增值税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销项税额    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3400</a:t>
            </a:r>
            <a:endParaRPr lang="zh-CN" altLang="en-US" sz="1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765520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124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4DF160-00B5-41C8-8A42-FEC725BEF029}"/>
              </a:ext>
            </a:extLst>
          </p:cNvPr>
          <p:cNvSpPr txBox="1"/>
          <p:nvPr/>
        </p:nvSpPr>
        <p:spPr>
          <a:xfrm>
            <a:off x="251521" y="1500540"/>
            <a:ext cx="8640960" cy="4495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(1)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计提工资时：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借：管理费用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--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工资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贷：应付职工薪酬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--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工资</a:t>
            </a:r>
            <a:endParaRPr lang="en-US" altLang="zh-CN" i="0" dirty="0">
              <a:solidFill>
                <a:srgbClr val="333333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i="0" dirty="0">
              <a:solidFill>
                <a:srgbClr val="333333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(2)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发放工资时：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借：应付职工薪酬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--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工资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贷：应交税费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--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个人所得税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贷：其他应付款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--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社保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个人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贷：其他应付款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--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公积金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zh-CN" altLang="en-US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个人</a:t>
            </a:r>
            <a:r>
              <a:rPr lang="en-US" altLang="zh-CN" i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lang="zh-CN" altLang="en-US" i="0" dirty="0">
                <a:solidFill>
                  <a:srgbClr val="333333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贷：库存现金（或银行存款）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F6A7ED-0A7E-45D8-A747-9F7BD2F42996}"/>
              </a:ext>
            </a:extLst>
          </p:cNvPr>
          <p:cNvSpPr txBox="1"/>
          <p:nvPr/>
        </p:nvSpPr>
        <p:spPr>
          <a:xfrm>
            <a:off x="251520" y="260648"/>
            <a:ext cx="88024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按照会计制度的相关规定，不论是否发放工资，</a:t>
            </a:r>
            <a:endParaRPr lang="en-US" altLang="zh-CN" sz="32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32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每个月都要计提工资。</a:t>
            </a:r>
          </a:p>
        </p:txBody>
      </p:sp>
    </p:spTree>
    <p:extLst>
      <p:ext uri="{BB962C8B-B14F-4D97-AF65-F5344CB8AC3E}">
        <p14:creationId xmlns:p14="http://schemas.microsoft.com/office/powerpoint/2010/main" val="339034236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125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44797" y="476672"/>
            <a:ext cx="85756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 baseline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20000"/>
              </a:lnSpc>
              <a:buClrTx/>
              <a:buFont typeface="Wingdings 2" pitchFamily="18" charset="2"/>
              <a:buNone/>
            </a:pPr>
            <a:r>
              <a:rPr kumimoji="0" lang="en-US" altLang="zh-CN" sz="2800" dirty="0">
                <a:solidFill>
                  <a:srgbClr val="FF0000"/>
                </a:solidFill>
              </a:rPr>
              <a:t>[</a:t>
            </a:r>
            <a:r>
              <a:rPr kumimoji="0" lang="zh-CN" altLang="en-US" sz="2800" dirty="0">
                <a:solidFill>
                  <a:srgbClr val="FF0000"/>
                </a:solidFill>
              </a:rPr>
              <a:t>例</a:t>
            </a:r>
            <a:r>
              <a:rPr kumimoji="0" lang="en-US" altLang="zh-CN" sz="2800" dirty="0">
                <a:solidFill>
                  <a:srgbClr val="FF0000"/>
                </a:solidFill>
              </a:rPr>
              <a:t>2]  </a:t>
            </a:r>
            <a:r>
              <a:rPr kumimoji="0" lang="zh-CN" altLang="en-US" sz="2800" dirty="0"/>
              <a:t>查询</a:t>
            </a:r>
            <a:r>
              <a:rPr kumimoji="0" lang="en-US" altLang="zh-CN" sz="2800" dirty="0"/>
              <a:t>2015-3-20</a:t>
            </a:r>
            <a:r>
              <a:rPr kumimoji="0" lang="zh-CN" altLang="en-US" sz="2800" dirty="0"/>
              <a:t>至</a:t>
            </a:r>
            <a:r>
              <a:rPr kumimoji="0" lang="en-US" altLang="zh-CN" sz="2800" dirty="0"/>
              <a:t>2015-5-1</a:t>
            </a:r>
            <a:r>
              <a:rPr kumimoji="0" lang="zh-CN" altLang="en-US" sz="2800" dirty="0"/>
              <a:t>分别在两个特定区域有通信记录的手机号码。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67944761"/>
              </p:ext>
            </p:extLst>
          </p:nvPr>
        </p:nvGraphicFramePr>
        <p:xfrm>
          <a:off x="244797" y="1740322"/>
          <a:ext cx="8575675" cy="2265363"/>
        </p:xfrm>
        <a:graphic>
          <a:graphicData uri="http://schemas.openxmlformats.org/drawingml/2006/table">
            <a:tbl>
              <a:tblPr/>
              <a:tblGrid>
                <a:gridCol w="1557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3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38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Oid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被叫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开始时间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start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时长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period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区域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基站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cell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33"/>
          <p:cNvSpPr>
            <a:spLocks noChangeArrowheads="1"/>
          </p:cNvSpPr>
          <p:nvPr/>
        </p:nvSpPr>
        <p:spPr bwMode="auto">
          <a:xfrm>
            <a:off x="244796" y="4437485"/>
            <a:ext cx="8351838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60000"/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just" fontAlgn="base">
              <a:spcAft>
                <a:spcPct val="0"/>
              </a:spcAft>
              <a:buClr>
                <a:srgbClr val="FFFFFF"/>
              </a:buClr>
              <a:buNone/>
            </a:pPr>
            <a:r>
              <a:rPr lang="en-US" altLang="zh-CN" sz="2800" dirty="0"/>
              <a:t>2015-3-20 9:00pm – </a:t>
            </a:r>
            <a:r>
              <a:rPr lang="zh-CN" altLang="en-US" sz="2800" dirty="0"/>
              <a:t>次日 </a:t>
            </a:r>
            <a:r>
              <a:rPr lang="en-US" altLang="zh-CN" sz="2800" dirty="0"/>
              <a:t>2:00am</a:t>
            </a:r>
            <a:r>
              <a:rPr lang="zh-CN" altLang="en-US" sz="2800" dirty="0"/>
              <a:t>：</a:t>
            </a:r>
          </a:p>
          <a:p>
            <a:pPr algn="just" fontAlgn="base">
              <a:spcAft>
                <a:spcPct val="0"/>
              </a:spcAft>
              <a:buClr>
                <a:srgbClr val="FFFFFF"/>
              </a:buClr>
              <a:buNone/>
            </a:pPr>
            <a:r>
              <a:rPr lang="zh-CN" altLang="en-US" sz="2800" dirty="0"/>
              <a:t>             中国地质大学区域、基站</a:t>
            </a:r>
            <a:r>
              <a:rPr lang="en-US" altLang="zh-CN" sz="2800" dirty="0"/>
              <a:t>(28991,7202) </a:t>
            </a:r>
          </a:p>
          <a:p>
            <a:pPr algn="just" fontAlgn="base">
              <a:spcAft>
                <a:spcPct val="0"/>
              </a:spcAft>
              <a:buClr>
                <a:srgbClr val="FFFFFF"/>
              </a:buClr>
              <a:buNone/>
            </a:pPr>
            <a:r>
              <a:rPr lang="en-US" altLang="zh-CN" sz="2800" dirty="0"/>
              <a:t>2015-5-1 9:00pm – </a:t>
            </a:r>
            <a:r>
              <a:rPr lang="zh-CN" altLang="en-US" sz="2800" dirty="0"/>
              <a:t>次日 </a:t>
            </a:r>
            <a:r>
              <a:rPr lang="en-US" altLang="zh-CN" sz="2800" dirty="0"/>
              <a:t>2:00am:</a:t>
            </a:r>
          </a:p>
          <a:p>
            <a:pPr algn="just">
              <a:buClr>
                <a:srgbClr val="FFFFFF"/>
              </a:buClr>
              <a:buNone/>
            </a:pPr>
            <a:r>
              <a:rPr lang="en-US" altLang="zh-CN" sz="2800" dirty="0"/>
              <a:t>             </a:t>
            </a:r>
            <a:r>
              <a:rPr lang="zh-CN" altLang="en-US" sz="2800" dirty="0"/>
              <a:t>湖北大学区域、基站</a:t>
            </a:r>
            <a:r>
              <a:rPr lang="en-US" altLang="zh-CN" sz="2800" dirty="0"/>
              <a:t>(28961,10522)</a:t>
            </a:r>
          </a:p>
          <a:p>
            <a:pPr fontAlgn="base">
              <a:spcAft>
                <a:spcPct val="0"/>
              </a:spcAft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81211062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126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9849" y="389933"/>
            <a:ext cx="8281987" cy="630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 baseline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select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oid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tid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start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period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lac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,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cell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from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calling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where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lac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=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28991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cell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=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7202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start 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between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'2015-3-20 21:00'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             </a:t>
            </a:r>
            <a:r>
              <a:rPr kumimoji="0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'2015-3-21 2:00'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exists </a:t>
            </a: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(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</a:t>
            </a: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select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*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from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calling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</a:t>
            </a:r>
            <a:r>
              <a:rPr kumimoji="0"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where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.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oid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=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.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oid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        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lac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=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28961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        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cell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=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10522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          </a:t>
            </a:r>
            <a:r>
              <a:rPr kumimoji="0" lang="en-US" altLang="zh-CN" sz="2400" dirty="0">
                <a:solidFill>
                  <a:srgbClr val="0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start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between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'2015-5-1 21:00'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</a:t>
            </a:r>
          </a:p>
          <a:p>
            <a:pPr marL="0" indent="0"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                         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and</a:t>
            </a:r>
            <a:r>
              <a:rPr kumimoji="0"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'2015-5-2 2:00'</a:t>
            </a:r>
            <a:endParaRPr kumimoji="0" lang="en-US" altLang="zh-CN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kumimoji="0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            </a:t>
            </a:r>
            <a:r>
              <a:rPr kumimoji="0" lang="en-US" altLang="zh-CN" sz="2400" dirty="0">
                <a:solidFill>
                  <a:srgbClr val="80808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)</a:t>
            </a:r>
            <a:endParaRPr kumimoji="0"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 2" pitchFamily="18" charset="2"/>
              <a:buNone/>
            </a:pPr>
            <a:endParaRPr kumimoji="0"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969078D5-6993-479D-B165-124A64EA6D87}"/>
              </a:ext>
            </a:extLst>
          </p:cNvPr>
          <p:cNvSpPr/>
          <p:nvPr/>
        </p:nvSpPr>
        <p:spPr>
          <a:xfrm>
            <a:off x="6516992" y="3284984"/>
            <a:ext cx="1800200" cy="828672"/>
          </a:xfrm>
          <a:prstGeom prst="wedgeRoundRectCallout">
            <a:avLst>
              <a:gd name="adj1" fmla="val -97532"/>
              <a:gd name="adj2" fmla="val 4705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主叫号码是同一个人</a:t>
            </a:r>
          </a:p>
        </p:txBody>
      </p:sp>
    </p:spTree>
    <p:extLst>
      <p:ext uri="{BB962C8B-B14F-4D97-AF65-F5344CB8AC3E}">
        <p14:creationId xmlns:p14="http://schemas.microsoft.com/office/powerpoint/2010/main" val="30445580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127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11125" y="90170"/>
            <a:ext cx="8575675" cy="4490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 baseline="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120000"/>
              </a:lnSpc>
              <a:buClrTx/>
              <a:buFont typeface="Wingdings 2" pitchFamily="18" charset="2"/>
              <a:buNone/>
            </a:pPr>
            <a:r>
              <a:rPr kumimoji="0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kumimoji="0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0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3]  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某男子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年前涉嫌犯罪潜逃，彼时，其一双儿女尚在蹒跚学步。其子女现已长大成家，一个在深圳工作，一位在西安工作。其家人声称从未与该嫌犯有任何联系，但刑侦人员坚信嫌疑人与其子女有电话联系。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ClrTx/>
              <a:buFont typeface="Wingdings 2" pitchFamily="18" charset="2"/>
              <a:buNone/>
            </a:pPr>
            <a:r>
              <a:rPr kumimoji="0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破案过程：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在“清网行动”中，成功通过一条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语句查清嫌犯使用的手机号和使用地，接下来侦察人员前往该地排查时，恰逢该号码联系顺丰快递网点，侦察人员在快递网点守候，抓获嫌犯。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ClrTx/>
              <a:buFont typeface="Wingdings 2" pitchFamily="18" charset="2"/>
              <a:buNone/>
            </a:pPr>
            <a:r>
              <a:rPr kumimoji="0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侦破技术：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设子女手机号分别为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，深圳和西安区号分别为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0755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029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，设嫌犯原籍区号为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0715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。请写出从通话记录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中查询刑侦人员需要重点特别排查的手机号的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语句。</a:t>
            </a:r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97707220"/>
              </p:ext>
            </p:extLst>
          </p:nvPr>
        </p:nvGraphicFramePr>
        <p:xfrm>
          <a:off x="241202" y="4660623"/>
          <a:ext cx="8352928" cy="1088814"/>
        </p:xfrm>
        <a:graphic>
          <a:graphicData uri="http://schemas.openxmlformats.org/drawingml/2006/table">
            <a:tbl>
              <a:tblPr/>
              <a:tblGrid>
                <a:gridCol w="1194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4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13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主叫号码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Oid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被叫号码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通话地区号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area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7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BB4B193-4D88-4D62-97B1-49349E29C994}"/>
              </a:ext>
            </a:extLst>
          </p:cNvPr>
          <p:cNvSpPr txBox="1"/>
          <p:nvPr/>
        </p:nvSpPr>
        <p:spPr>
          <a:xfrm>
            <a:off x="119994" y="5739555"/>
            <a:ext cx="8474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思路：与子女都有通话记录，且通话地既不在二人工作地也不在原籍的号码，为重点侦察范围。</a:t>
            </a:r>
          </a:p>
        </p:txBody>
      </p:sp>
    </p:spTree>
    <p:extLst>
      <p:ext uri="{BB962C8B-B14F-4D97-AF65-F5344CB8AC3E}">
        <p14:creationId xmlns:p14="http://schemas.microsoft.com/office/powerpoint/2010/main" val="99784975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6693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SELECT R1.oid, R1.area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FROM R R1, R R2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WHERE </a:t>
            </a:r>
            <a:r>
              <a:rPr lang="en-US" altLang="zh-CN" sz="2400" dirty="0">
                <a:solidFill>
                  <a:srgbClr val="0000FF"/>
                </a:solidFill>
              </a:rPr>
              <a:t>R1.oid=R2.oid</a:t>
            </a:r>
            <a:endParaRPr lang="zh-CN" altLang="zh-CN" sz="2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AND R1.Tid=1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AND R2.Tid=2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AND R1.area NOT IN </a:t>
            </a:r>
            <a:r>
              <a:rPr lang="en-US" altLang="zh-CN" sz="2400" dirty="0">
                <a:solidFill>
                  <a:srgbClr val="FF0000"/>
                </a:solidFill>
              </a:rPr>
              <a:t>(0715, 0755, 029)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SELECT R1.oid, R1.area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FROM R R1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WHERE R1.Tid=1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AND R1.area NOT IN</a:t>
            </a:r>
            <a:r>
              <a:rPr lang="en-US" altLang="zh-CN" sz="2400" dirty="0">
                <a:solidFill>
                  <a:srgbClr val="FF0000"/>
                </a:solidFill>
              </a:rPr>
              <a:t> (0715, 0755, 029)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AND EXISTS (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SELECT * FROM R R2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WHERE </a:t>
            </a:r>
            <a:r>
              <a:rPr lang="en-US" altLang="zh-CN" sz="2400" dirty="0">
                <a:solidFill>
                  <a:srgbClr val="0000FF"/>
                </a:solidFill>
              </a:rPr>
              <a:t>R1.oid = R2.oid</a:t>
            </a:r>
            <a:endParaRPr lang="zh-CN" altLang="zh-CN" sz="2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AND R2.Tid=2)</a:t>
            </a:r>
            <a:endParaRPr lang="zh-CN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95915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428604"/>
            <a:ext cx="8713788" cy="6286521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/>
              <a:t>3.8 </a:t>
            </a:r>
            <a:r>
              <a:rPr lang="zh-CN" altLang="en-US" sz="2800" b="1" dirty="0"/>
              <a:t>数据库控制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/>
              <a:t>3.8.1</a:t>
            </a:r>
            <a:r>
              <a:rPr lang="zh-CN" altLang="en-US" sz="2400" b="1" dirty="0"/>
              <a:t>安全控制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、功能：控制用户对数据的存取权力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、方法：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① </a:t>
            </a:r>
            <a:r>
              <a:rPr lang="en-US" altLang="zh-CN" sz="2400" dirty="0"/>
              <a:t>DBA</a:t>
            </a:r>
            <a:r>
              <a:rPr lang="zh-CN" altLang="en-US" sz="2400" dirty="0"/>
              <a:t>实施权利授予说明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/>
              <a:t>② </a:t>
            </a:r>
            <a:r>
              <a:rPr lang="en-US" altLang="zh-CN" sz="2400" dirty="0"/>
              <a:t>DBMS</a:t>
            </a:r>
            <a:r>
              <a:rPr lang="zh-CN" altLang="en-US" sz="2400" dirty="0"/>
              <a:t>保存（</a:t>
            </a:r>
            <a:r>
              <a:rPr lang="en-US" altLang="zh-CN" sz="2400" dirty="0"/>
              <a:t>DD</a:t>
            </a:r>
            <a:r>
              <a:rPr lang="zh-CN" altLang="en-US" sz="2400" dirty="0"/>
              <a:t>）、检查、作出决定与处理。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、授权语句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grant </a:t>
            </a:r>
            <a:r>
              <a:rPr lang="zh-CN" altLang="en-US" sz="2400" dirty="0"/>
              <a:t>权力</a:t>
            </a:r>
            <a:r>
              <a:rPr lang="en-US" altLang="zh-CN" sz="2400" dirty="0"/>
              <a:t>[</a:t>
            </a:r>
            <a:r>
              <a:rPr lang="zh-CN" altLang="en-US" sz="2400" dirty="0"/>
              <a:t>，权力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Times New Roman" pitchFamily="18" charset="0"/>
              </a:rPr>
              <a:t>…</a:t>
            </a:r>
            <a:r>
              <a:rPr lang="en-US" altLang="zh-CN" sz="2400" dirty="0"/>
              <a:t>[on </a:t>
            </a:r>
            <a:r>
              <a:rPr lang="zh-CN" altLang="en-US" sz="2400" dirty="0"/>
              <a:t>对象类型   对象名</a:t>
            </a:r>
            <a:r>
              <a:rPr lang="en-US" altLang="zh-CN" sz="2400" dirty="0"/>
              <a:t>] to </a:t>
            </a:r>
            <a:r>
              <a:rPr lang="zh-CN" altLang="en-US" sz="2400" dirty="0"/>
              <a:t>用户</a:t>
            </a:r>
            <a:r>
              <a:rPr lang="en-US" altLang="zh-CN" sz="2400" dirty="0"/>
              <a:t>[</a:t>
            </a:r>
            <a:r>
              <a:rPr lang="zh-CN" altLang="en-US" sz="2400" dirty="0"/>
              <a:t>，用户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Times New Roman" pitchFamily="18" charset="0"/>
              </a:rPr>
              <a:t>…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[with grant option];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、权力撤消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revoke  </a:t>
            </a:r>
            <a:r>
              <a:rPr lang="zh-CN" altLang="en-US" sz="2400" dirty="0"/>
              <a:t>权力</a:t>
            </a:r>
            <a:r>
              <a:rPr lang="en-US" altLang="zh-CN" sz="2400" dirty="0"/>
              <a:t>1[</a:t>
            </a:r>
            <a:r>
              <a:rPr lang="zh-CN" altLang="en-US" sz="2400" dirty="0"/>
              <a:t>，权力</a:t>
            </a:r>
            <a:r>
              <a:rPr lang="en-US" altLang="zh-CN" sz="2400" dirty="0"/>
              <a:t>2]</a:t>
            </a:r>
            <a:r>
              <a:rPr lang="en-US" altLang="zh-CN" sz="2400" dirty="0">
                <a:latin typeface="Times New Roman" pitchFamily="18" charset="0"/>
              </a:rPr>
              <a:t>…</a:t>
            </a:r>
            <a:r>
              <a:rPr lang="en-US" altLang="zh-CN" sz="2400" dirty="0"/>
              <a:t>[on </a:t>
            </a:r>
            <a:r>
              <a:rPr lang="zh-CN" altLang="en-US" sz="2400" dirty="0"/>
              <a:t>对象类型  对象名</a:t>
            </a:r>
            <a:r>
              <a:rPr lang="en-US" altLang="zh-CN" sz="2400" dirty="0"/>
              <a:t>] from </a:t>
            </a:r>
            <a:r>
              <a:rPr lang="zh-CN" altLang="en-US" sz="2400" dirty="0"/>
              <a:t>用户</a:t>
            </a:r>
            <a:r>
              <a:rPr lang="en-US" altLang="zh-CN" sz="2400" dirty="0"/>
              <a:t>1[</a:t>
            </a:r>
            <a:r>
              <a:rPr lang="zh-CN" altLang="en-US" sz="2400" dirty="0"/>
              <a:t>，用户</a:t>
            </a:r>
            <a:r>
              <a:rPr lang="en-US" altLang="zh-CN" sz="2400" dirty="0"/>
              <a:t>2]</a:t>
            </a:r>
            <a:r>
              <a:rPr lang="en-US" altLang="zh-CN" sz="2400" dirty="0">
                <a:latin typeface="Times New Roman" pitchFamily="18" charset="0"/>
              </a:rPr>
              <a:t>…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3F5E8-963B-484C-922B-9037E43E5622}" type="slidenum">
              <a:rPr lang="en-US" altLang="zh-CN" smtClean="0"/>
              <a:pPr>
                <a:defRPr/>
              </a:pPr>
              <a:t>129</a:t>
            </a:fld>
            <a:endParaRPr lang="en-US" altLang="zh-CN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500063" y="796925"/>
          <a:ext cx="8175625" cy="513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3" name="Document" r:id="rId3" imgW="8659368" imgH="5440680" progId="Word.Document.8">
                  <p:embed/>
                </p:oleObj>
              </mc:Choice>
              <mc:Fallback>
                <p:oleObj name="Document" r:id="rId3" imgW="8659368" imgH="5440680" progId="Word.Document.8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796925"/>
                        <a:ext cx="8175625" cy="5132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229C56-FAE0-4B88-A963-E4EA6BF3E352}" type="slidenum">
              <a:rPr lang="en-US" altLang="zh-CN" smtClean="0"/>
              <a:pPr>
                <a:defRPr/>
              </a:pPr>
              <a:t>130</a:t>
            </a:fld>
            <a:endParaRPr lang="en-US" altLang="zh-CN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4"/>
          <p:cNvSpPr>
            <a:spLocks noGrp="1" noChangeArrowheads="1"/>
          </p:cNvSpPr>
          <p:nvPr>
            <p:ph idx="1"/>
          </p:nvPr>
        </p:nvSpPr>
        <p:spPr>
          <a:xfrm>
            <a:off x="250825" y="617538"/>
            <a:ext cx="8066088" cy="366871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b="1" dirty="0"/>
              <a:t>3.8.2</a:t>
            </a:r>
            <a:r>
              <a:rPr lang="zh-CN" altLang="en-US" sz="2400" b="1" dirty="0"/>
              <a:t>完整性控制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/>
              <a:t>1. unique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/>
              <a:t>2. Not null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参照完整性 </a:t>
            </a:r>
            <a:endParaRPr lang="en-US" altLang="zh-CN" sz="2400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/>
              <a:t>4. </a:t>
            </a:r>
            <a:r>
              <a:rPr lang="zh-CN" altLang="en-US" sz="2400" dirty="0"/>
              <a:t>相容性（范围） </a:t>
            </a:r>
            <a:endParaRPr lang="en-US" altLang="zh-CN" sz="2400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400" dirty="0"/>
              <a:t>5. </a:t>
            </a:r>
            <a:r>
              <a:rPr lang="zh-CN" altLang="en-US" sz="2400" dirty="0"/>
              <a:t>函数依赖</a:t>
            </a:r>
            <a:endParaRPr lang="en-US" altLang="zh-CN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734F4-9D9E-4B6E-8B46-7BD96BCBC8DA}" type="slidenum">
              <a:rPr lang="en-US" altLang="zh-CN" smtClean="0"/>
              <a:pPr>
                <a:defRPr/>
              </a:pPr>
              <a:t>131</a:t>
            </a:fld>
            <a:endParaRPr lang="en-US" altLang="zh-CN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慕课讨论题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NoSQL</a:t>
            </a:r>
            <a:r>
              <a:rPr lang="zh-CN" altLang="zh-CN" dirty="0"/>
              <a:t>的时代背景下是否要学好</a:t>
            </a:r>
            <a:r>
              <a:rPr lang="en-US" altLang="zh-CN" dirty="0"/>
              <a:t>SQL?</a:t>
            </a:r>
          </a:p>
          <a:p>
            <a:pPr marL="0" indent="0">
              <a:buNone/>
            </a:pPr>
            <a:r>
              <a:rPr lang="en-US" altLang="zh-CN" sz="2400" dirty="0"/>
              <a:t>     SQL</a:t>
            </a:r>
            <a:r>
              <a:rPr lang="zh-CN" altLang="zh-CN" sz="2400" dirty="0"/>
              <a:t>语言，以其非过程化的特点而简单易用，以其自然化描述能力强而广泛用于关系型数据库中。当前</a:t>
            </a:r>
            <a:r>
              <a:rPr lang="en-US" altLang="zh-CN" sz="2400" dirty="0"/>
              <a:t>NOSQL</a:t>
            </a:r>
            <a:r>
              <a:rPr lang="zh-CN" altLang="zh-CN" sz="2400" dirty="0"/>
              <a:t>型数据库在大数据应用中广泛采用，有人称，</a:t>
            </a:r>
            <a:r>
              <a:rPr lang="en-US" altLang="zh-CN" sz="2400" dirty="0"/>
              <a:t>“</a:t>
            </a:r>
            <a:r>
              <a:rPr lang="zh-CN" altLang="zh-CN" sz="2400" dirty="0"/>
              <a:t>没有必要再学</a:t>
            </a:r>
            <a:r>
              <a:rPr lang="en-US" altLang="zh-CN" sz="2400" dirty="0"/>
              <a:t>SQL</a:t>
            </a:r>
            <a:r>
              <a:rPr lang="zh-CN" altLang="zh-CN" sz="2400" dirty="0"/>
              <a:t>语言</a:t>
            </a:r>
            <a:r>
              <a:rPr lang="en-US" altLang="zh-CN" sz="2400" dirty="0"/>
              <a:t>”</a:t>
            </a:r>
            <a:r>
              <a:rPr lang="zh-CN" altLang="zh-CN" sz="2400" dirty="0"/>
              <a:t>。</a:t>
            </a:r>
            <a:r>
              <a:rPr lang="en-US" altLang="zh-CN" sz="2400" dirty="0"/>
              <a:t> </a:t>
            </a:r>
            <a:r>
              <a:rPr lang="zh-CN" altLang="zh-CN" sz="2400" dirty="0"/>
              <a:t>你如何认为呢？</a:t>
            </a:r>
            <a:endParaRPr lang="en-US" altLang="zh-CN" sz="2400" dirty="0"/>
          </a:p>
          <a:p>
            <a:r>
              <a:rPr lang="zh-CN" altLang="zh-CN" dirty="0"/>
              <a:t>连接查询好还是嵌套查询好？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zh-CN" altLang="zh-CN" sz="2400" dirty="0"/>
              <a:t>对于涉及多表的复杂查询语句，你认为是采用多表连接的方式来实现好呢？还是采用嵌套方式来实现更好？请给出理由。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AF151-3A7E-497E-82D4-A5C2A7624A47}" type="slidenum">
              <a:rPr lang="en-US" altLang="zh-CN" smtClean="0"/>
              <a:pPr>
                <a:defRPr/>
              </a:pPr>
              <a:t>132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59762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L课件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PL课件主题" id="{321C1E6A-3BFE-46D0-85A7-D809A6A7CE93}" vid="{0CBB0123-2792-4BAD-886A-F6CFDE20DC8D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5730</TotalTime>
  <Words>8939</Words>
  <Application>Microsoft Office PowerPoint</Application>
  <PresentationFormat>全屏显示(4:3)</PresentationFormat>
  <Paragraphs>1568</Paragraphs>
  <Slides>132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132</vt:i4>
      </vt:variant>
    </vt:vector>
  </HeadingPairs>
  <TitlesOfParts>
    <vt:vector size="151" baseType="lpstr">
      <vt:lpstr>等线</vt:lpstr>
      <vt:lpstr>黑体</vt:lpstr>
      <vt:lpstr>隶书</vt:lpstr>
      <vt:lpstr>宋体</vt:lpstr>
      <vt:lpstr>微软雅黑</vt:lpstr>
      <vt:lpstr>新宋体</vt:lpstr>
      <vt:lpstr>Arial</vt:lpstr>
      <vt:lpstr>Calibri</vt:lpstr>
      <vt:lpstr>Constantia</vt:lpstr>
      <vt:lpstr>Symbol</vt:lpstr>
      <vt:lpstr>Times New Roman</vt:lpstr>
      <vt:lpstr>Verdana</vt:lpstr>
      <vt:lpstr>Wingdings</vt:lpstr>
      <vt:lpstr>Wingdings 2</vt:lpstr>
      <vt:lpstr>流畅</vt:lpstr>
      <vt:lpstr>PPL课件主题</vt:lpstr>
      <vt:lpstr>位图图像</vt:lpstr>
      <vt:lpstr>Picture</vt:lpstr>
      <vt:lpstr>Document</vt:lpstr>
      <vt:lpstr>第3章  关系数据库标准语言SQL</vt:lpstr>
      <vt:lpstr>PowerPoint 演示文稿</vt:lpstr>
      <vt:lpstr>SQL发展里程碑</vt:lpstr>
      <vt:lpstr>PowerPoint 演示文稿</vt:lpstr>
      <vt:lpstr>PowerPoint 演示文稿</vt:lpstr>
      <vt:lpstr>SQL的产生</vt:lpstr>
      <vt:lpstr>SQL标准</vt:lpstr>
      <vt:lpstr>SQL-89</vt:lpstr>
      <vt:lpstr>SQL92</vt:lpstr>
      <vt:lpstr>SQL3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基本术语</vt:lpstr>
      <vt:lpstr>基本术语（续）</vt:lpstr>
      <vt:lpstr>PowerPoint 演示文稿</vt:lpstr>
      <vt:lpstr>3.3  数据库定义与维护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修改表（删除列）</vt:lpstr>
      <vt:lpstr>修改表（续）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3.4.1 单表查询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Where、having两种方法的区别？</vt:lpstr>
      <vt:lpstr>having</vt:lpstr>
      <vt:lpstr>Where</vt:lpstr>
      <vt:lpstr>PowerPoint 演示文稿</vt:lpstr>
      <vt:lpstr>PowerPoint 演示文稿</vt:lpstr>
      <vt:lpstr>PowerPoint 演示文稿</vt:lpstr>
      <vt:lpstr>PowerPoint 演示文稿</vt:lpstr>
      <vt:lpstr>3.4.2 连接查询</vt:lpstr>
      <vt:lpstr>PowerPoint 演示文稿</vt:lpstr>
      <vt:lpstr>PowerPoint 演示文稿</vt:lpstr>
      <vt:lpstr>PowerPoint 演示文稿</vt:lpstr>
      <vt:lpstr>5、外连接</vt:lpstr>
      <vt:lpstr>实例：查询某种商品的顾客反馈意见【顾客意见表（顾客、商品号、对该种商品的意见）、商品表（商品号、商品名称） 】</vt:lpstr>
      <vt:lpstr>3.4.3 嵌套查询</vt:lpstr>
      <vt:lpstr>PowerPoint 演示文稿</vt:lpstr>
      <vt:lpstr>2、多层嵌套查询</vt:lpstr>
      <vt:lpstr>3、同表嵌查询</vt:lpstr>
      <vt:lpstr>4、相关嵌套查询</vt:lpstr>
      <vt:lpstr>5、比较嵌套查询</vt:lpstr>
      <vt:lpstr>6、any 嵌套查询</vt:lpstr>
      <vt:lpstr>7、all 嵌套查询</vt:lpstr>
      <vt:lpstr>8、存在量词查询（exists）（一种特殊的相关查询）</vt:lpstr>
      <vt:lpstr>PowerPoint 演示文稿</vt:lpstr>
      <vt:lpstr>sql语言中没有全称量词，但用存在量词exist等价表示全称量词。</vt:lpstr>
      <vt:lpstr>sql语言中没有全称量词，但用存在量词exist等价表示全称量词。 ——找出这样的学生“不存在一门课，该学生没有选”</vt:lpstr>
      <vt:lpstr>PowerPoint 演示文稿</vt:lpstr>
      <vt:lpstr>例3.65  查询至少选修了学生20180002选修的全部课程的学生号码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3.4.5 基于派生表的查询</vt:lpstr>
      <vt:lpstr>PowerPoint 演示文稿</vt:lpstr>
      <vt:lpstr>PowerPoint 演示文稿</vt:lpstr>
      <vt:lpstr>PowerPoint 演示文稿</vt:lpstr>
      <vt:lpstr>PowerPoint 演示文稿</vt:lpstr>
      <vt:lpstr>3.5  数据更新</vt:lpstr>
      <vt:lpstr>PowerPoint 演示文稿</vt:lpstr>
      <vt:lpstr>3.5.2 修改数据</vt:lpstr>
      <vt:lpstr>PowerPoint 演示文稿</vt:lpstr>
      <vt:lpstr>PowerPoint 演示文稿</vt:lpstr>
      <vt:lpstr>3.5.3 删除数据</vt:lpstr>
      <vt:lpstr>PowerPoint 演示文稿</vt:lpstr>
      <vt:lpstr>3.6 空值的处理</vt:lpstr>
      <vt:lpstr>包含空值的逻辑运算符真值表</vt:lpstr>
      <vt:lpstr>3.7  视图定义与操作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3.7.4 视图的作用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慕课讨论题</vt:lpstr>
    </vt:vector>
  </TitlesOfParts>
  <Company>lsr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ppl</dc:creator>
  <cp:lastModifiedBy>teacher</cp:lastModifiedBy>
  <cp:revision>900</cp:revision>
  <dcterms:created xsi:type="dcterms:W3CDTF">2005-03-06T12:58:38Z</dcterms:created>
  <dcterms:modified xsi:type="dcterms:W3CDTF">2026-03-31T15:46:09Z</dcterms:modified>
</cp:coreProperties>
</file>