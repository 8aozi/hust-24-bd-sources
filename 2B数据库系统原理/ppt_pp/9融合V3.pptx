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86"/>
  </p:notesMasterIdLst>
  <p:sldIdLst>
    <p:sldId id="256" r:id="rId3"/>
    <p:sldId id="266" r:id="rId4"/>
    <p:sldId id="288" r:id="rId5"/>
    <p:sldId id="277" r:id="rId6"/>
    <p:sldId id="287" r:id="rId7"/>
    <p:sldId id="289" r:id="rId8"/>
    <p:sldId id="267" r:id="rId9"/>
    <p:sldId id="536" r:id="rId10"/>
    <p:sldId id="537" r:id="rId11"/>
    <p:sldId id="538" r:id="rId12"/>
    <p:sldId id="539" r:id="rId13"/>
    <p:sldId id="261" r:id="rId14"/>
    <p:sldId id="265" r:id="rId15"/>
    <p:sldId id="276" r:id="rId16"/>
    <p:sldId id="257" r:id="rId17"/>
    <p:sldId id="258" r:id="rId18"/>
    <p:sldId id="259" r:id="rId19"/>
    <p:sldId id="260" r:id="rId20"/>
    <p:sldId id="298" r:id="rId21"/>
    <p:sldId id="540" r:id="rId22"/>
    <p:sldId id="294" r:id="rId23"/>
    <p:sldId id="299" r:id="rId24"/>
    <p:sldId id="295" r:id="rId25"/>
    <p:sldId id="296" r:id="rId26"/>
    <p:sldId id="297" r:id="rId27"/>
    <p:sldId id="290" r:id="rId28"/>
    <p:sldId id="262" r:id="rId29"/>
    <p:sldId id="263" r:id="rId30"/>
    <p:sldId id="278" r:id="rId31"/>
    <p:sldId id="279" r:id="rId32"/>
    <p:sldId id="280" r:id="rId33"/>
    <p:sldId id="283" r:id="rId34"/>
    <p:sldId id="282" r:id="rId35"/>
    <p:sldId id="541" r:id="rId36"/>
    <p:sldId id="300" r:id="rId37"/>
    <p:sldId id="301" r:id="rId38"/>
    <p:sldId id="302" r:id="rId39"/>
    <p:sldId id="303" r:id="rId40"/>
    <p:sldId id="304" r:id="rId41"/>
    <p:sldId id="305" r:id="rId42"/>
    <p:sldId id="306" r:id="rId43"/>
    <p:sldId id="307" r:id="rId44"/>
    <p:sldId id="268" r:id="rId45"/>
    <p:sldId id="309" r:id="rId46"/>
    <p:sldId id="460" r:id="rId47"/>
    <p:sldId id="271" r:id="rId48"/>
    <p:sldId id="273" r:id="rId49"/>
    <p:sldId id="461" r:id="rId50"/>
    <p:sldId id="462" r:id="rId51"/>
    <p:sldId id="463" r:id="rId52"/>
    <p:sldId id="464" r:id="rId53"/>
    <p:sldId id="466" r:id="rId54"/>
    <p:sldId id="468" r:id="rId55"/>
    <p:sldId id="469" r:id="rId56"/>
    <p:sldId id="471" r:id="rId57"/>
    <p:sldId id="472" r:id="rId58"/>
    <p:sldId id="473" r:id="rId59"/>
    <p:sldId id="474" r:id="rId60"/>
    <p:sldId id="475" r:id="rId61"/>
    <p:sldId id="476" r:id="rId62"/>
    <p:sldId id="477" r:id="rId63"/>
    <p:sldId id="479" r:id="rId64"/>
    <p:sldId id="480" r:id="rId65"/>
    <p:sldId id="531" r:id="rId66"/>
    <p:sldId id="530" r:id="rId67"/>
    <p:sldId id="532" r:id="rId68"/>
    <p:sldId id="533" r:id="rId69"/>
    <p:sldId id="534" r:id="rId70"/>
    <p:sldId id="482" r:id="rId71"/>
    <p:sldId id="483" r:id="rId72"/>
    <p:sldId id="485" r:id="rId73"/>
    <p:sldId id="486" r:id="rId74"/>
    <p:sldId id="535" r:id="rId75"/>
    <p:sldId id="308" r:id="rId76"/>
    <p:sldId id="269" r:id="rId77"/>
    <p:sldId id="270" r:id="rId78"/>
    <p:sldId id="272" r:id="rId79"/>
    <p:sldId id="275" r:id="rId80"/>
    <p:sldId id="264" r:id="rId81"/>
    <p:sldId id="274" r:id="rId82"/>
    <p:sldId id="285" r:id="rId83"/>
    <p:sldId id="292" r:id="rId84"/>
    <p:sldId id="291" r:id="rId85"/>
  </p:sldIdLst>
  <p:sldSz cx="9144000" cy="6858000" type="screen4x3"/>
  <p:notesSz cx="6858000" cy="9144000"/>
  <p:defaultTextStyle>
    <a:defPPr>
      <a:defRPr lang="en-US"/>
    </a:defPPr>
    <a:lvl1pPr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DD9"/>
    <a:srgbClr val="FEED85"/>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6319" autoAdjust="0"/>
  </p:normalViewPr>
  <p:slideViewPr>
    <p:cSldViewPr showGuides="1">
      <p:cViewPr varScale="1">
        <p:scale>
          <a:sx n="55" d="100"/>
          <a:sy n="55" d="100"/>
        </p:scale>
        <p:origin x="16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tableStyles" Target="tableStyles.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stacked"/>
        <c:varyColors val="0"/>
        <c:ser>
          <c:idx val="0"/>
          <c:order val="0"/>
          <c:tx>
            <c:strRef>
              <c:f>Sheet1!$B$1</c:f>
              <c:strCache>
                <c:ptCount val="1"/>
                <c:pt idx="0">
                  <c:v>age的 分布</c:v>
                </c:pt>
              </c:strCache>
            </c:strRef>
          </c:tx>
          <c:spPr>
            <a:solidFill>
              <a:srgbClr val="3333FF"/>
            </a:solidFill>
            <a:ln>
              <a:noFill/>
            </a:ln>
            <a:effectLst/>
          </c:spPr>
          <c:invertIfNegative val="0"/>
          <c:cat>
            <c:numRef>
              <c:f>Sheet1!$A$2:$A$6</c:f>
              <c:numCache>
                <c:formatCode>General</c:formatCode>
                <c:ptCount val="5"/>
                <c:pt idx="0">
                  <c:v>18</c:v>
                </c:pt>
                <c:pt idx="1">
                  <c:v>19</c:v>
                </c:pt>
                <c:pt idx="2">
                  <c:v>20</c:v>
                </c:pt>
                <c:pt idx="3">
                  <c:v>21</c:v>
                </c:pt>
                <c:pt idx="4">
                  <c:v>22</c:v>
                </c:pt>
              </c:numCache>
            </c:num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C5C6-4622-893F-07BA2B49CFF1}"/>
            </c:ext>
          </c:extLst>
        </c:ser>
        <c:dLbls>
          <c:showLegendKey val="0"/>
          <c:showVal val="0"/>
          <c:showCatName val="0"/>
          <c:showSerName val="0"/>
          <c:showPercent val="0"/>
          <c:showBubbleSize val="0"/>
        </c:dLbls>
        <c:gapWidth val="150"/>
        <c:overlap val="100"/>
        <c:axId val="814006112"/>
        <c:axId val="814010048"/>
      </c:barChart>
      <c:catAx>
        <c:axId val="814006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4010048"/>
        <c:crosses val="autoZero"/>
        <c:auto val="1"/>
        <c:lblAlgn val="ctr"/>
        <c:lblOffset val="100"/>
        <c:noMultiLvlLbl val="0"/>
      </c:catAx>
      <c:valAx>
        <c:axId val="814010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4006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30a30b87-7328-49cd-a52d-861ff8e8dd0e}"/>
      </c:ext>
    </c:extLst>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stacked"/>
        <c:varyColors val="0"/>
        <c:ser>
          <c:idx val="0"/>
          <c:order val="0"/>
          <c:tx>
            <c:strRef>
              <c:f>Sheet1!$B$1</c:f>
              <c:strCache>
                <c:ptCount val="1"/>
                <c:pt idx="0">
                  <c:v>age的 分布</c:v>
                </c:pt>
              </c:strCache>
            </c:strRef>
          </c:tx>
          <c:spPr>
            <a:solidFill>
              <a:srgbClr val="3333FF"/>
            </a:solidFill>
            <a:ln>
              <a:noFill/>
            </a:ln>
            <a:effectLst/>
          </c:spPr>
          <c:invertIfNegative val="0"/>
          <c:cat>
            <c:numRef>
              <c:f>Sheet1!$A$2:$A$6</c:f>
              <c:numCache>
                <c:formatCode>General</c:formatCode>
                <c:ptCount val="5"/>
                <c:pt idx="0">
                  <c:v>18</c:v>
                </c:pt>
                <c:pt idx="1">
                  <c:v>19</c:v>
                </c:pt>
                <c:pt idx="2">
                  <c:v>20</c:v>
                </c:pt>
                <c:pt idx="3">
                  <c:v>21</c:v>
                </c:pt>
                <c:pt idx="4">
                  <c:v>22</c:v>
                </c:pt>
              </c:numCache>
            </c:num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01C1-46AE-B763-DAC6B09B55C7}"/>
            </c:ext>
          </c:extLst>
        </c:ser>
        <c:dLbls>
          <c:showLegendKey val="0"/>
          <c:showVal val="0"/>
          <c:showCatName val="0"/>
          <c:showSerName val="0"/>
          <c:showPercent val="0"/>
          <c:showBubbleSize val="0"/>
        </c:dLbls>
        <c:gapWidth val="150"/>
        <c:overlap val="100"/>
        <c:axId val="814006112"/>
        <c:axId val="814010048"/>
      </c:barChart>
      <c:catAx>
        <c:axId val="814006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4010048"/>
        <c:crosses val="autoZero"/>
        <c:auto val="1"/>
        <c:lblAlgn val="ctr"/>
        <c:lblOffset val="100"/>
        <c:noMultiLvlLbl val="0"/>
      </c:catAx>
      <c:valAx>
        <c:axId val="814010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4006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9bc79d6d-e7a9-436f-bd7c-fd192bf796cb}"/>
      </c:ext>
    </c:extLst>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stacked"/>
        <c:varyColors val="0"/>
        <c:ser>
          <c:idx val="0"/>
          <c:order val="0"/>
          <c:tx>
            <c:strRef>
              <c:f>Sheet1!$B$1</c:f>
              <c:strCache>
                <c:ptCount val="1"/>
                <c:pt idx="0">
                  <c:v>age的 分布</c:v>
                </c:pt>
              </c:strCache>
            </c:strRef>
          </c:tx>
          <c:spPr>
            <a:solidFill>
              <a:srgbClr val="3333FF"/>
            </a:solidFill>
            <a:ln>
              <a:noFill/>
            </a:ln>
            <a:effectLst/>
          </c:spPr>
          <c:invertIfNegative val="0"/>
          <c:cat>
            <c:numRef>
              <c:f>Sheet1!$A$2:$A$6</c:f>
              <c:numCache>
                <c:formatCode>General</c:formatCode>
                <c:ptCount val="5"/>
                <c:pt idx="0">
                  <c:v>18</c:v>
                </c:pt>
                <c:pt idx="1">
                  <c:v>19</c:v>
                </c:pt>
                <c:pt idx="2">
                  <c:v>20</c:v>
                </c:pt>
                <c:pt idx="3">
                  <c:v>21</c:v>
                </c:pt>
                <c:pt idx="4">
                  <c:v>22</c:v>
                </c:pt>
              </c:numCache>
            </c:num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2069-410A-8A00-270B8F275AA4}"/>
            </c:ext>
          </c:extLst>
        </c:ser>
        <c:dLbls>
          <c:showLegendKey val="0"/>
          <c:showVal val="0"/>
          <c:showCatName val="0"/>
          <c:showSerName val="0"/>
          <c:showPercent val="0"/>
          <c:showBubbleSize val="0"/>
        </c:dLbls>
        <c:gapWidth val="150"/>
        <c:overlap val="100"/>
        <c:axId val="814006112"/>
        <c:axId val="814010048"/>
      </c:barChart>
      <c:catAx>
        <c:axId val="814006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4010048"/>
        <c:crosses val="autoZero"/>
        <c:auto val="1"/>
        <c:lblAlgn val="ctr"/>
        <c:lblOffset val="100"/>
        <c:noMultiLvlLbl val="0"/>
      </c:catAx>
      <c:valAx>
        <c:axId val="814010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4006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4be9af5e-44d6-47cb-9298-05ae1fe37100}"/>
      </c:ext>
    </c:extLst>
  </c:chart>
  <c:spPr>
    <a:noFill/>
    <a:ln>
      <a:noFill/>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ltLang="en-US" dirty="0"/>
              <a:t>假设分布为均匀分布</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5</c:v>
                </c:pt>
                <c:pt idx="1">
                  <c:v>5</c:v>
                </c:pt>
                <c:pt idx="2">
                  <c:v>5</c:v>
                </c:pt>
                <c:pt idx="3">
                  <c:v>5</c:v>
                </c:pt>
                <c:pt idx="4">
                  <c:v>5</c:v>
                </c:pt>
                <c:pt idx="5">
                  <c:v>5</c:v>
                </c:pt>
                <c:pt idx="6">
                  <c:v>5</c:v>
                </c:pt>
                <c:pt idx="7">
                  <c:v>5</c:v>
                </c:pt>
                <c:pt idx="8">
                  <c:v>5</c:v>
                </c:pt>
                <c:pt idx="9">
                  <c:v>5</c:v>
                </c:pt>
                <c:pt idx="10">
                  <c:v>5</c:v>
                </c:pt>
                <c:pt idx="11">
                  <c:v>5</c:v>
                </c:pt>
                <c:pt idx="12">
                  <c:v>5</c:v>
                </c:pt>
                <c:pt idx="13">
                  <c:v>5</c:v>
                </c:pt>
                <c:pt idx="14">
                  <c:v>5</c:v>
                </c:pt>
              </c:numCache>
            </c:numRef>
          </c:val>
          <c:extLst>
            <c:ext xmlns:c16="http://schemas.microsoft.com/office/drawing/2014/chart" uri="{C3380CC4-5D6E-409C-BE32-E72D297353CC}">
              <c16:uniqueId val="{00000000-51BD-4C4A-B486-1B3EB9A3DE9D}"/>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showDLblsOverMax val="0"/>
    <c:extLst>
      <c:ext uri="{0b15fc19-7d7d-44ad-8c2d-2c3a37ce22c3}">
        <chartProps xmlns="https://web.wps.cn/et/2018/main" chartId="{36d1a6b6-7ae5-43c3-a9ba-d7392635b2d9}"/>
      </c:ext>
    </c:extLst>
  </c:chart>
  <c:spPr>
    <a:noFill/>
    <a:ln>
      <a:noFill/>
    </a:ln>
    <a:effectLst/>
  </c:spPr>
  <c:txPr>
    <a:bodyPr/>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93E-2"/>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2</c:v>
                </c:pt>
                <c:pt idx="4">
                  <c:v>3</c:v>
                </c:pt>
                <c:pt idx="5">
                  <c:v>3</c:v>
                </c:pt>
                <c:pt idx="6">
                  <c:v>6</c:v>
                </c:pt>
                <c:pt idx="7">
                  <c:v>5</c:v>
                </c:pt>
                <c:pt idx="8">
                  <c:v>1</c:v>
                </c:pt>
                <c:pt idx="9">
                  <c:v>1</c:v>
                </c:pt>
                <c:pt idx="10">
                  <c:v>2</c:v>
                </c:pt>
                <c:pt idx="11">
                  <c:v>3</c:v>
                </c:pt>
                <c:pt idx="12">
                  <c:v>4</c:v>
                </c:pt>
                <c:pt idx="13">
                  <c:v>5</c:v>
                </c:pt>
                <c:pt idx="14">
                  <c:v>6</c:v>
                </c:pt>
              </c:numCache>
            </c:numRef>
          </c:val>
          <c:extLst>
            <c:ext xmlns:c16="http://schemas.microsoft.com/office/drawing/2014/chart" uri="{C3380CC4-5D6E-409C-BE32-E72D297353CC}">
              <c16:uniqueId val="{00000000-2974-445A-80F5-ADF466802825}"/>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showDLblsOverMax val="0"/>
    <c:extLst>
      <c:ext uri="{0b15fc19-7d7d-44ad-8c2d-2c3a37ce22c3}">
        <chartProps xmlns="https://web.wps.cn/et/2018/main" chartId="{6290a302-6aa1-41ec-9bbb-b8a08e2a22c3}"/>
      </c:ext>
    </c:extLst>
  </c:chart>
  <c:spPr>
    <a:noFill/>
    <a:ln>
      <a:noFill/>
    </a:ln>
    <a:effectLst/>
  </c:spPr>
  <c:txPr>
    <a:bodyPr/>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93E-2"/>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2</c:v>
                </c:pt>
                <c:pt idx="4">
                  <c:v>3</c:v>
                </c:pt>
                <c:pt idx="5">
                  <c:v>3</c:v>
                </c:pt>
                <c:pt idx="6">
                  <c:v>6</c:v>
                </c:pt>
                <c:pt idx="7">
                  <c:v>5</c:v>
                </c:pt>
                <c:pt idx="8">
                  <c:v>1</c:v>
                </c:pt>
                <c:pt idx="9">
                  <c:v>1</c:v>
                </c:pt>
                <c:pt idx="10">
                  <c:v>2</c:v>
                </c:pt>
                <c:pt idx="11">
                  <c:v>3</c:v>
                </c:pt>
                <c:pt idx="12">
                  <c:v>4</c:v>
                </c:pt>
                <c:pt idx="13">
                  <c:v>5</c:v>
                </c:pt>
                <c:pt idx="14">
                  <c:v>6</c:v>
                </c:pt>
              </c:numCache>
            </c:numRef>
          </c:val>
          <c:extLst>
            <c:ext xmlns:c16="http://schemas.microsoft.com/office/drawing/2014/chart" uri="{C3380CC4-5D6E-409C-BE32-E72D297353CC}">
              <c16:uniqueId val="{00000000-FFEF-45D9-BDC3-E147B40E742A}"/>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showDLblsOverMax val="0"/>
    <c:extLst>
      <c:ext uri="{0b15fc19-7d7d-44ad-8c2d-2c3a37ce22c3}">
        <chartProps xmlns="https://web.wps.cn/et/2018/main" chartId="{e3910d68-9a36-4d95-aca8-1908972f6ae9}"/>
      </c:ext>
    </c:extLst>
  </c:chart>
  <c:spPr>
    <a:noFill/>
    <a:ln>
      <a:noFill/>
    </a:ln>
    <a:effectLst/>
  </c:spPr>
  <c:txPr>
    <a:bodyPr/>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93E-2"/>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strRef>
              <c:f>Sheet1!$A$2:$A$6</c:f>
              <c:strCache>
                <c:ptCount val="5"/>
                <c:pt idx="0">
                  <c:v>1-3</c:v>
                </c:pt>
                <c:pt idx="1">
                  <c:v>4-6</c:v>
                </c:pt>
                <c:pt idx="2">
                  <c:v>7-9</c:v>
                </c:pt>
                <c:pt idx="3">
                  <c:v>10-12</c:v>
                </c:pt>
                <c:pt idx="4">
                  <c:v>13-15</c:v>
                </c:pt>
              </c:strCache>
            </c:strRef>
          </c:cat>
          <c:val>
            <c:numRef>
              <c:f>Sheet1!$B$2:$B$6</c:f>
              <c:numCache>
                <c:formatCode>General</c:formatCode>
                <c:ptCount val="5"/>
                <c:pt idx="0">
                  <c:v>9</c:v>
                </c:pt>
                <c:pt idx="1">
                  <c:v>8</c:v>
                </c:pt>
                <c:pt idx="2">
                  <c:v>12</c:v>
                </c:pt>
                <c:pt idx="3">
                  <c:v>6</c:v>
                </c:pt>
                <c:pt idx="4">
                  <c:v>15</c:v>
                </c:pt>
              </c:numCache>
            </c:numRef>
          </c:val>
          <c:extLst>
            <c:ext xmlns:c16="http://schemas.microsoft.com/office/drawing/2014/chart" uri="{C3380CC4-5D6E-409C-BE32-E72D297353CC}">
              <c16:uniqueId val="{00000000-5B0A-4629-A916-B2B43197BA89}"/>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showDLblsOverMax val="0"/>
    <c:extLst>
      <c:ext uri="{0b15fc19-7d7d-44ad-8c2d-2c3a37ce22c3}">
        <chartProps xmlns="https://web.wps.cn/et/2018/main" chartId="{6d0b55b8-4987-4129-816b-b6d042c89622}"/>
      </c:ext>
    </c:extLst>
  </c:chart>
  <c:spPr>
    <a:noFill/>
    <a:ln>
      <a:noFill/>
    </a:ln>
    <a:effectLst/>
  </c:spPr>
  <c:txPr>
    <a:bodyPr/>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93E-2"/>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2</c:v>
                </c:pt>
                <c:pt idx="4">
                  <c:v>3</c:v>
                </c:pt>
                <c:pt idx="5">
                  <c:v>3</c:v>
                </c:pt>
                <c:pt idx="6">
                  <c:v>6</c:v>
                </c:pt>
                <c:pt idx="7">
                  <c:v>5</c:v>
                </c:pt>
                <c:pt idx="8">
                  <c:v>1</c:v>
                </c:pt>
                <c:pt idx="9">
                  <c:v>1</c:v>
                </c:pt>
                <c:pt idx="10">
                  <c:v>2</c:v>
                </c:pt>
                <c:pt idx="11">
                  <c:v>3</c:v>
                </c:pt>
                <c:pt idx="12">
                  <c:v>4</c:v>
                </c:pt>
                <c:pt idx="13">
                  <c:v>5</c:v>
                </c:pt>
                <c:pt idx="14">
                  <c:v>6</c:v>
                </c:pt>
              </c:numCache>
            </c:numRef>
          </c:val>
          <c:extLst>
            <c:ext xmlns:c16="http://schemas.microsoft.com/office/drawing/2014/chart" uri="{C3380CC4-5D6E-409C-BE32-E72D297353CC}">
              <c16:uniqueId val="{00000000-34E9-4836-BC28-1CF042484827}"/>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showDLblsOverMax val="0"/>
    <c:extLst>
      <c:ext uri="{0b15fc19-7d7d-44ad-8c2d-2c3a37ce22c3}">
        <chartProps xmlns="https://web.wps.cn/et/2018/main" chartId="{b8e9bc7c-91a2-4834-9818-e331256fd98f}"/>
      </c:ext>
    </c:extLst>
  </c:chart>
  <c:spPr>
    <a:noFill/>
    <a:ln>
      <a:noFill/>
    </a:ln>
    <a:effectLst/>
  </c:spPr>
  <c:txPr>
    <a:bodyPr/>
    <a:lstStyle/>
    <a:p>
      <a:pPr>
        <a:defRPr lang="zh-CN"/>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93E-2"/>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strRef>
              <c:f>Sheet1!$A$2:$A$7</c:f>
              <c:strCache>
                <c:ptCount val="6"/>
                <c:pt idx="0">
                  <c:v>1-3</c:v>
                </c:pt>
                <c:pt idx="1">
                  <c:v>4-6</c:v>
                </c:pt>
                <c:pt idx="2">
                  <c:v>7-8</c:v>
                </c:pt>
                <c:pt idx="3">
                  <c:v>9-12</c:v>
                </c:pt>
                <c:pt idx="4">
                  <c:v>13-14</c:v>
                </c:pt>
                <c:pt idx="5">
                  <c:v>15</c:v>
                </c:pt>
              </c:strCache>
            </c:strRef>
          </c:cat>
          <c:val>
            <c:numRef>
              <c:f>Sheet1!$B$2:$B$7</c:f>
              <c:numCache>
                <c:formatCode>General</c:formatCode>
                <c:ptCount val="6"/>
                <c:pt idx="0">
                  <c:v>9</c:v>
                </c:pt>
                <c:pt idx="1">
                  <c:v>8</c:v>
                </c:pt>
                <c:pt idx="2">
                  <c:v>11</c:v>
                </c:pt>
                <c:pt idx="3">
                  <c:v>7</c:v>
                </c:pt>
                <c:pt idx="4">
                  <c:v>9</c:v>
                </c:pt>
                <c:pt idx="5">
                  <c:v>6</c:v>
                </c:pt>
              </c:numCache>
            </c:numRef>
          </c:val>
          <c:extLst>
            <c:ext xmlns:c16="http://schemas.microsoft.com/office/drawing/2014/chart" uri="{C3380CC4-5D6E-409C-BE32-E72D297353CC}">
              <c16:uniqueId val="{00000000-E21E-480C-A120-0652857E26A7}"/>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showDLblsOverMax val="0"/>
    <c:extLst>
      <c:ext uri="{0b15fc19-7d7d-44ad-8c2d-2c3a37ce22c3}">
        <chartProps xmlns="https://web.wps.cn/et/2018/main" chartId="{1f6b1fb4-6d85-4c49-9732-87bf690f4658}"/>
      </c:ext>
    </c:extLst>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a:defRPr/>
            </a:pPr>
            <a:endParaRPr lang="zh-CN" altLang="en-US"/>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a:defRPr/>
            </a:pPr>
            <a:endParaRPr lang="en-US" altLang="zh-CN"/>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a:defRPr/>
            </a:pPr>
            <a:fld id="{EC1BD392-4F8B-4A9F-A2F6-8948CEEED01B}"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t>12</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t>20</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t>21</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t>22</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t>23</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t>24</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t>25</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E2A0251-4BB9-4783-B3B6-2543E339A3C5}" type="slidenum">
              <a:rPr kumimoji="1" lang="zh-CN" altLang="en-US" sz="1200" b="0" i="0" u="none" strike="noStrike" kern="1200" cap="none" spc="0" normalizeH="0" baseline="0" noProof="0" smtClean="0">
                <a:ln>
                  <a:noFill/>
                </a:ln>
                <a:solidFill>
                  <a:prstClr val="black"/>
                </a:solidFill>
                <a:effectLst/>
                <a:uLnTx/>
                <a:uFillTx/>
                <a:latin typeface="Verdana" panose="020B0604030504040204" pitchFamily="34" charset="0"/>
                <a:ea typeface="宋体" panose="02010600030101010101" pitchFamily="2" charset="-122"/>
                <a:cs typeface="+mn-cs"/>
              </a:rPr>
              <a:t>59</a:t>
            </a:fld>
            <a:endParaRPr kumimoji="1" lang="zh-CN" altLang="en-US" sz="12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C1BD392-4F8B-4A9F-A2F6-8948CEEED01B}" type="slidenum">
              <a:rPr lang="zh-CN" altLang="en-US" smtClean="0"/>
              <a:t>64</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第一次选择，保留两个候选分支，</a:t>
            </a:r>
            <a:r>
              <a:rPr lang="en-US" altLang="zh-CN" dirty="0"/>
              <a:t>RS</a:t>
            </a:r>
            <a:r>
              <a:rPr lang="zh-CN" altLang="en-US" dirty="0"/>
              <a:t>一个，</a:t>
            </a:r>
            <a:r>
              <a:rPr lang="en-US" altLang="zh-CN" dirty="0"/>
              <a:t>TS</a:t>
            </a:r>
            <a:r>
              <a:rPr lang="zh-CN" altLang="en-US" dirty="0"/>
              <a:t>一个</a:t>
            </a:r>
          </a:p>
        </p:txBody>
      </p:sp>
      <p:sp>
        <p:nvSpPr>
          <p:cNvPr id="4" name="灯片编号占位符 3"/>
          <p:cNvSpPr>
            <a:spLocks noGrp="1"/>
          </p:cNvSpPr>
          <p:nvPr>
            <p:ph type="sldNum" sz="quarter" idx="5"/>
          </p:nvPr>
        </p:nvSpPr>
        <p:spPr/>
        <p:txBody>
          <a:bodyPr/>
          <a:lstStyle/>
          <a:p>
            <a:pPr>
              <a:defRPr/>
            </a:pPr>
            <a:fld id="{EC1BD392-4F8B-4A9F-A2F6-8948CEEED01B}" type="slidenum">
              <a:rPr lang="zh-CN" altLang="en-US" smtClean="0"/>
              <a:t>70</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以疫情期间在火车上发现新冠检测呈阳性的乘客为例，若按照列存储的方式，那么客户号</a:t>
            </a:r>
            <a:r>
              <a:rPr lang="en-US" altLang="zh-CN" dirty="0" err="1"/>
              <a:t>Cust_no</a:t>
            </a:r>
            <a:r>
              <a:rPr lang="zh-CN" altLang="en-US" dirty="0"/>
              <a:t>这一列的数据便会被存储在一起，通过乘客号码可以找到所有潜在地被感染人群，对其</a:t>
            </a:r>
            <a:r>
              <a:rPr lang="zh-CN" altLang="en-US" sz="1200" dirty="0"/>
              <a:t>进行核酸检测、隔离等措施，尽可能减少对社会危害。列存储之所以高效，是</a:t>
            </a:r>
            <a:r>
              <a:rPr lang="zh-CN" altLang="en-US" dirty="0"/>
              <a:t>因为相关数据可以一次性地被读取出来，而不是先对整行进行读取后再丢弃掉不需要的列。</a:t>
            </a:r>
          </a:p>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t>82</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6850B737-CFE5-4081-B87F-25C39B7293DA}" type="slidenum">
              <a:rPr lang="zh-CN" altLang="en-US"/>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lvl1pPr marL="0" indent="0">
              <a:buNone/>
              <a:defRPr baseline="0">
                <a:latin typeface="Verdana" panose="020B0604030504040204" pitchFamily="34" charset="0"/>
              </a:defRPr>
            </a:lvl1pPr>
            <a:lvl2pPr>
              <a:buNone/>
              <a:defRPr baseline="0">
                <a:latin typeface="Verdana" panose="020B0604030504040204" pitchFamily="34" charset="0"/>
              </a:defRPr>
            </a:lvl2pPr>
            <a:lvl3pPr>
              <a:buNone/>
              <a:defRPr baseline="0">
                <a:latin typeface="Verdana" panose="020B0604030504040204" pitchFamily="34" charset="0"/>
              </a:defRPr>
            </a:lvl3pPr>
            <a:lvl4pPr>
              <a:buNone/>
              <a:defRPr baseline="0">
                <a:latin typeface="Verdana" panose="020B0604030504040204" pitchFamily="34" charset="0"/>
              </a:defRPr>
            </a:lvl4pPr>
            <a:lvl5pPr>
              <a:buNone/>
              <a:defRPr baseline="0">
                <a:latin typeface="Verdana" panose="020B060403050404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6BB73D17-BC85-45FA-9188-AEF243BC8FD2}" type="slidenum">
              <a:rPr lang="zh-CN" altLang="en-US"/>
              <a:t>‹#›</a:t>
            </a:fld>
            <a:endParaRPr lang="en-US" altLang="zh-CN"/>
          </a:p>
        </p:txBody>
      </p:sp>
      <p:sp>
        <p:nvSpPr>
          <p:cNvPr id="7" name="TextBox 6"/>
          <p:cNvSpPr txBox="1"/>
          <p:nvPr userDrawn="1"/>
        </p:nvSpPr>
        <p:spPr>
          <a:xfrm>
            <a:off x="5364088" y="38672"/>
            <a:ext cx="3705245" cy="461665"/>
          </a:xfrm>
          <a:prstGeom prst="rect">
            <a:avLst/>
          </a:prstGeom>
          <a:noFill/>
        </p:spPr>
        <p:txBody>
          <a:bodyPr wrap="none" rtlCol="0">
            <a:spAutoFit/>
          </a:bodyPr>
          <a:lstStyle/>
          <a:p>
            <a:r>
              <a:rPr lang="en-US" altLang="zh-CN" i="1" dirty="0">
                <a:solidFill>
                  <a:schemeClr val="tx2">
                    <a:lumMod val="40000"/>
                    <a:lumOff val="60000"/>
                  </a:schemeClr>
                </a:solidFill>
                <a:effectLst>
                  <a:outerShdw blurRad="38100" dist="38100" dir="2700000" algn="tl">
                    <a:srgbClr val="000000">
                      <a:alpha val="43137"/>
                    </a:srgbClr>
                  </a:outerShdw>
                </a:effectLst>
              </a:rPr>
              <a:t>HUST-CS      PANPENG</a:t>
            </a:r>
            <a:endParaRPr lang="zh-CN" altLang="en-US" i="1" dirty="0">
              <a:solidFill>
                <a:schemeClr val="tx2">
                  <a:lumMod val="40000"/>
                  <a:lumOff val="60000"/>
                </a:schemeClr>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B5EC95C3-D9FD-4E37-A470-07E19BAD8446}" type="slidenum">
              <a:rPr lang="zh-CN" altLang="en-US"/>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88FBCB38-679C-48D4-9D6F-99CF57FB2499}"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88FC4F99-75E0-428D-AF8F-0F4ED0C1CE95}"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DE091AB0-BB8B-4B93-A4EE-06966F4E63C3}"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8B143BE3-1044-4DAC-B965-3803392DBF80}" type="slidenum">
              <a:rPr lang="zh-CN" altLang="en-US"/>
              <a:t>‹#›</a:t>
            </a:fld>
            <a:endParaRPr lang="en-US" altLang="zh-CN"/>
          </a:p>
        </p:txBody>
      </p:sp>
      <p:sp>
        <p:nvSpPr>
          <p:cNvPr id="5" name="TextBox 4"/>
          <p:cNvSpPr txBox="1"/>
          <p:nvPr userDrawn="1"/>
        </p:nvSpPr>
        <p:spPr>
          <a:xfrm>
            <a:off x="5364088" y="38672"/>
            <a:ext cx="3705245" cy="461665"/>
          </a:xfrm>
          <a:prstGeom prst="rect">
            <a:avLst/>
          </a:prstGeom>
          <a:noFill/>
        </p:spPr>
        <p:txBody>
          <a:bodyPr wrap="none" rtlCol="0">
            <a:spAutoFit/>
          </a:bodyPr>
          <a:lstStyle/>
          <a:p>
            <a:r>
              <a:rPr lang="en-US" altLang="zh-CN" i="1" dirty="0">
                <a:solidFill>
                  <a:schemeClr val="tx2">
                    <a:lumMod val="40000"/>
                    <a:lumOff val="60000"/>
                  </a:schemeClr>
                </a:solidFill>
                <a:effectLst>
                  <a:outerShdw blurRad="38100" dist="38100" dir="2700000" algn="tl">
                    <a:srgbClr val="000000">
                      <a:alpha val="43137"/>
                    </a:srgbClr>
                  </a:outerShdw>
                </a:effectLst>
              </a:rPr>
              <a:t>HUST-CS      PANPENG</a:t>
            </a:r>
            <a:endParaRPr lang="zh-CN" altLang="en-US" i="1" dirty="0">
              <a:solidFill>
                <a:schemeClr val="tx2">
                  <a:lumMod val="40000"/>
                  <a:lumOff val="60000"/>
                </a:schemeClr>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A7AB625E-6EB1-44BE-AADC-B312D9D15238}"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59C2B612-6BFF-4DAF-B4A4-CD4953F0952B}"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853D9F1F-B3C3-4E07-9EBC-49C7D0FC3322}"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C4832FE6-4E2B-4DA9-AAB3-CFFA47254464}"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18"/>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2DD1D052-2445-434C-8FE0-299C1DAFA0FD}" type="slidenum">
              <a:rPr lang="zh-CN" altLang="en-US" smtClean="0"/>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灯片编号占位符 17"/>
          <p:cNvSpPr>
            <a:spLocks noGrp="1"/>
          </p:cNvSpPr>
          <p:nvPr>
            <p:ph type="sldNum" sz="quarter" idx="12"/>
          </p:nvPr>
        </p:nvSpPr>
        <p:spPr/>
        <p:txBody>
          <a:bodyPr/>
          <a:lstStyle>
            <a:lvl1pPr>
              <a:defRPr/>
            </a:lvl1pPr>
          </a:lstStyle>
          <a:p>
            <a:pPr>
              <a:defRPr/>
            </a:pPr>
            <a:fld id="{BCABB3B7-40FC-498F-90D6-69ECBA7F181C}" type="slidenum">
              <a:rPr lang="zh-CN" altLang="en-US" smtClean="0"/>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hasCustomPrompt="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编辑母版文本样式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94F5129B-BA46-4AE6-A50B-33BD0D33F6DB}" type="slidenum">
              <a:rPr lang="zh-CN" altLang="en-US" smtClean="0"/>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hasCustomPrompt="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hasCustomPrompt="1"/>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6"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8C4E34D7-5BEF-410D-A7A0-AD3BF805B802}" type="slidenum">
              <a:rPr lang="zh-CN" altLang="en-US" smtClean="0"/>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hasCustomPrompt="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p>
        </p:txBody>
      </p:sp>
      <p:sp>
        <p:nvSpPr>
          <p:cNvPr id="4" name="文本占位符 3"/>
          <p:cNvSpPr>
            <a:spLocks noGrp="1"/>
          </p:cNvSpPr>
          <p:nvPr>
            <p:ph type="body" sz="half" idx="3" hasCustomPrompt="1"/>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p>
        </p:txBody>
      </p:sp>
      <p:sp>
        <p:nvSpPr>
          <p:cNvPr id="5" name="内容占位符 4"/>
          <p:cNvSpPr>
            <a:spLocks noGrp="1"/>
          </p:cNvSpPr>
          <p:nvPr>
            <p:ph sz="quarter" idx="2" hasCustomPrompt="1"/>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hasCustomPrompt="1"/>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8"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60A039B3-F2F0-444C-AE8A-DBAFA8DBAF4D}" type="slidenum">
              <a:rPr lang="zh-CN" altLang="en-US" smtClean="0"/>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4"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50F44237-13B8-4098-A9A2-A81879BAB5A3}" type="slidenum">
              <a:rPr lang="zh-CN" altLang="en-US" smtClean="0"/>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3"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325B0F45-12BC-4D02-B5EC-BFEA3AB24C25}" type="slidenum">
              <a:rPr lang="zh-CN" altLang="en-US" smtClean="0"/>
              <a:t>‹#›</a:t>
            </a:fld>
            <a:endParaRPr lang="en-US" altLang="zh-CN"/>
          </a:p>
        </p:txBody>
      </p:sp>
      <p:sp>
        <p:nvSpPr>
          <p:cNvPr id="5" name="TextBox 6"/>
          <p:cNvSpPr txBox="1"/>
          <p:nvPr/>
        </p:nvSpPr>
        <p:spPr>
          <a:xfrm>
            <a:off x="6019800" y="0"/>
            <a:ext cx="3094117"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9pPr>
          </a:lstStyle>
          <a:p>
            <a:r>
              <a:rPr lang="zh-CN" altLang="en-US" i="1" dirty="0">
                <a:solidFill>
                  <a:srgbClr val="66CCFF"/>
                </a:solidFill>
                <a:effectLst>
                  <a:outerShdw blurRad="38100" dist="38100" dir="2700000" algn="tl">
                    <a:srgbClr val="000000">
                      <a:alpha val="43137"/>
                    </a:srgbClr>
                  </a:outerShdw>
                </a:effectLst>
              </a:rPr>
              <a:t>部分参考</a:t>
            </a:r>
            <a:r>
              <a:rPr lang="en-US" altLang="zh-CN" i="1" dirty="0">
                <a:solidFill>
                  <a:srgbClr val="66CCFF"/>
                </a:solidFill>
                <a:effectLst>
                  <a:outerShdw blurRad="38100" dist="38100" dir="2700000" algn="tl">
                    <a:srgbClr val="000000">
                      <a:alpha val="43137"/>
                    </a:srgbClr>
                  </a:outerShdw>
                </a:effectLst>
              </a:rPr>
              <a:t>CMU15445</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hasCustomPrompt="1"/>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编辑母版文本样式</a:t>
            </a:r>
          </a:p>
        </p:txBody>
      </p:sp>
      <p:sp>
        <p:nvSpPr>
          <p:cNvPr id="4" name="内容占位符 3"/>
          <p:cNvSpPr>
            <a:spLocks noGrp="1"/>
          </p:cNvSpPr>
          <p:nvPr>
            <p:ph sz="half" idx="1" hasCustomPrompt="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6"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0B84509E-9525-4B65-B061-AA26716DFEB4}" type="slidenum">
              <a:rPr lang="zh-CN" altLang="en-US" smtClean="0"/>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hasCustomPrompt="1"/>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10" name="页脚占位符 5"/>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4D53C63E-7CCF-4CB1-8983-190C7AF84CE1}" type="slidenum">
              <a:rPr lang="zh-CN" altLang="en-US" smtClean="0"/>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90AF940A-384C-4881-846C-719C2F3E0525}" type="slidenum">
              <a:rPr lang="zh-CN" altLang="en-US" smtClean="0"/>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hasCustomPrompt="1"/>
          </p:nvPr>
        </p:nvSpPr>
        <p:spPr>
          <a:xfrm>
            <a:off x="457200" y="914401"/>
            <a:ext cx="6019800" cy="521176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6B46C9EC-FB48-4366-8557-0E93B0B2AD47}" type="slidenum">
              <a:rPr lang="zh-CN" altLang="en-US" smtClean="0"/>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1028" name="标题占位符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zh-CN" altLang="en-US"/>
              <a:t>单击此处编辑母版标题样式</a:t>
            </a:r>
          </a:p>
        </p:txBody>
      </p:sp>
      <p:sp>
        <p:nvSpPr>
          <p:cNvPr id="1029" name="文本占位符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061D19D0-7982-4387-A5AF-E58A9F4AC33F}" type="slidenum">
              <a:rPr lang="zh-CN" altLang="en-US"/>
              <a:t>‹#›</a:t>
            </a:fld>
            <a:endParaRPr lang="en-US" altLang="zh-CN"/>
          </a:p>
        </p:txBody>
      </p:sp>
      <p:grpSp>
        <p:nvGrpSpPr>
          <p:cNvPr id="1033"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defRPr>
      </a:lvl2pPr>
      <a:lvl3pPr algn="l" rtl="0" eaLnBrk="0" fontAlgn="base" hangingPunct="0">
        <a:spcBef>
          <a:spcPct val="0"/>
        </a:spcBef>
        <a:spcAft>
          <a:spcPct val="0"/>
        </a:spcAft>
        <a:defRPr sz="5000">
          <a:solidFill>
            <a:schemeClr val="tx2"/>
          </a:solidFill>
          <a:latin typeface="Calibri" panose="020F0502020204030204" pitchFamily="34" charset="0"/>
        </a:defRPr>
      </a:lvl3pPr>
      <a:lvl4pPr algn="l" rtl="0" eaLnBrk="0" fontAlgn="base" hangingPunct="0">
        <a:spcBef>
          <a:spcPct val="0"/>
        </a:spcBef>
        <a:spcAft>
          <a:spcPct val="0"/>
        </a:spcAft>
        <a:defRPr sz="5000">
          <a:solidFill>
            <a:schemeClr val="tx2"/>
          </a:solidFill>
          <a:latin typeface="Calibri" panose="020F0502020204030204" pitchFamily="34" charset="0"/>
        </a:defRPr>
      </a:lvl4pPr>
      <a:lvl5pPr algn="l" rtl="0" eaLnBrk="0" fontAlgn="base" hangingPunct="0">
        <a:spcBef>
          <a:spcPct val="0"/>
        </a:spcBef>
        <a:spcAft>
          <a:spcPct val="0"/>
        </a:spcAft>
        <a:defRPr sz="5000">
          <a:solidFill>
            <a:schemeClr val="tx2"/>
          </a:solidFill>
          <a:latin typeface="Calibri" panose="020F0502020204030204" pitchFamily="34" charset="0"/>
        </a:defRPr>
      </a:lvl5pPr>
      <a:lvl6pPr marL="457200" algn="l" rtl="0" fontAlgn="base">
        <a:spcBef>
          <a:spcPct val="0"/>
        </a:spcBef>
        <a:spcAft>
          <a:spcPct val="0"/>
        </a:spcAft>
        <a:defRPr sz="5000">
          <a:solidFill>
            <a:schemeClr val="tx2"/>
          </a:solidFill>
          <a:latin typeface="Calibri" panose="020F0502020204030204" pitchFamily="34" charset="0"/>
        </a:defRPr>
      </a:lvl6pPr>
      <a:lvl7pPr marL="914400" algn="l" rtl="0" fontAlgn="base">
        <a:spcBef>
          <a:spcPct val="0"/>
        </a:spcBef>
        <a:spcAft>
          <a:spcPct val="0"/>
        </a:spcAft>
        <a:defRPr sz="5000">
          <a:solidFill>
            <a:schemeClr val="tx2"/>
          </a:solidFill>
          <a:latin typeface="Calibri" panose="020F0502020204030204" pitchFamily="34" charset="0"/>
        </a:defRPr>
      </a:lvl7pPr>
      <a:lvl8pPr marL="1371600" algn="l" rtl="0" fontAlgn="base">
        <a:spcBef>
          <a:spcPct val="0"/>
        </a:spcBef>
        <a:spcAft>
          <a:spcPct val="0"/>
        </a:spcAft>
        <a:defRPr sz="5000">
          <a:solidFill>
            <a:schemeClr val="tx2"/>
          </a:solidFill>
          <a:latin typeface="Calibri" panose="020F0502020204030204" pitchFamily="34" charset="0"/>
        </a:defRPr>
      </a:lvl8pPr>
      <a:lvl9pPr marL="1828800" algn="l" rtl="0" fontAlgn="base">
        <a:spcBef>
          <a:spcPct val="0"/>
        </a:spcBef>
        <a:spcAft>
          <a:spcPct val="0"/>
        </a:spcAft>
        <a:defRPr sz="5000">
          <a:solidFill>
            <a:schemeClr val="tx2"/>
          </a:solidFill>
          <a:latin typeface="Calibri" panose="020F0502020204030204"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5604" name="标题占位符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zh-CN" altLang="en-US"/>
              <a:t>单击此处编辑母版标题样式</a:t>
            </a:r>
            <a:endParaRPr lang="en-US"/>
          </a:p>
        </p:txBody>
      </p:sp>
      <p:sp>
        <p:nvSpPr>
          <p:cNvPr id="25605" name="文本占位符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BF7AD738-B0C8-449A-B08F-DBEF1A08797F}" type="slidenum">
              <a:rPr lang="zh-CN" altLang="en-US" smtClean="0"/>
              <a:t>‹#›</a:t>
            </a:fld>
            <a:endParaRPr lang="en-US" altLang="zh-CN"/>
          </a:p>
        </p:txBody>
      </p:sp>
      <p:grpSp>
        <p:nvGrpSpPr>
          <p:cNvPr id="25609"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
        <p:nvSpPr>
          <p:cNvPr id="14" name="TextBox 6"/>
          <p:cNvSpPr txBox="1"/>
          <p:nvPr userDrawn="1"/>
        </p:nvSpPr>
        <p:spPr>
          <a:xfrm>
            <a:off x="6019800" y="0"/>
            <a:ext cx="3094117"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Verdana" panose="020B0604030504040204" pitchFamily="34" charset="0"/>
                <a:ea typeface="宋体" panose="02010600030101010101" pitchFamily="2" charset="-122"/>
                <a:cs typeface="+mn-cs"/>
              </a:defRPr>
            </a:lvl9pPr>
          </a:lstStyle>
          <a:p>
            <a:r>
              <a:rPr lang="zh-CN" altLang="en-US" i="1" dirty="0">
                <a:solidFill>
                  <a:srgbClr val="66CCFF"/>
                </a:solidFill>
                <a:effectLst>
                  <a:outerShdw blurRad="38100" dist="38100" dir="2700000" algn="tl">
                    <a:srgbClr val="000000">
                      <a:alpha val="43137"/>
                    </a:srgbClr>
                  </a:outerShdw>
                </a:effectLst>
              </a:rPr>
              <a:t>部分参考</a:t>
            </a:r>
            <a:r>
              <a:rPr lang="en-US" altLang="zh-CN" i="1" dirty="0">
                <a:solidFill>
                  <a:srgbClr val="66CCFF"/>
                </a:solidFill>
                <a:effectLst>
                  <a:outerShdw blurRad="38100" dist="38100" dir="2700000" algn="tl">
                    <a:srgbClr val="000000">
                      <a:alpha val="43137"/>
                    </a:srgbClr>
                  </a:outerShdw>
                </a:effectLst>
              </a:rPr>
              <a:t>CMU15445</a:t>
            </a:r>
            <a:endParaRPr lang="zh-CN" altLang="en-US" i="1" dirty="0">
              <a:solidFill>
                <a:srgbClr val="66CCFF"/>
              </a:solidFill>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eaLnBrk="1" fontAlgn="base" hangingPunct="1">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eaLnBrk="1" fontAlgn="base" hangingPunct="1">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eaLnBrk="1" fontAlgn="base" hangingPunct="1">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eaLnBrk="1" fontAlgn="base" hangingPunct="1">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eaLnBrk="1" fontAlgn="base" hangingPunct="1">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eaLnBrk="1" fontAlgn="base" hangingPunct="1">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eaLnBrk="1" fontAlgn="base" hangingPunct="1">
        <a:spcBef>
          <a:spcPct val="0"/>
        </a:spcBef>
        <a:spcAft>
          <a:spcPct val="0"/>
        </a:spcAft>
        <a:defRPr sz="5000">
          <a:solidFill>
            <a:schemeClr val="tx2"/>
          </a:solidFill>
          <a:latin typeface="Calibri" panose="020F0502020204030204" pitchFamily="34" charset="0"/>
          <a:ea typeface="隶书" panose="02010509060101010101" pitchFamily="49" charset="-122"/>
        </a:defRPr>
      </a:lvl9pPr>
    </p:titleStyle>
    <p:bodyStyle>
      <a:lvl1pPr marL="273050" indent="-273050" algn="l" rtl="0" eaLnBrk="1" fontAlgn="base" hangingPunct="1">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1" fontAlgn="base" hangingPunct="1">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1" fontAlgn="base" hangingPunct="1">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1" fontAlgn="base" hangingPunct="1">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chart" Target="../charts/char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a:xfrm>
            <a:off x="304800" y="619125"/>
            <a:ext cx="8162925" cy="762000"/>
          </a:xfrm>
        </p:spPr>
        <p:txBody>
          <a:bodyPr>
            <a:normAutofit fontScale="90000"/>
          </a:bodyPr>
          <a:lstStyle/>
          <a:p>
            <a:pPr eaLnBrk="1" fontAlgn="auto" hangingPunct="1">
              <a:spcAft>
                <a:spcPts val="0"/>
              </a:spcAft>
              <a:defRPr/>
            </a:pPr>
            <a:r>
              <a:rPr lang="zh-CN" altLang="en-US" dirty="0">
                <a:effectLst>
                  <a:outerShdw blurRad="38100" dist="38100" dir="2700000" algn="tl">
                    <a:srgbClr val="000000">
                      <a:alpha val="43137"/>
                    </a:srgbClr>
                  </a:outerShdw>
                </a:effectLst>
                <a:latin typeface="隶书" panose="02010509060101010101" pitchFamily="49" charset="-122"/>
              </a:rPr>
              <a:t>第</a:t>
            </a:r>
            <a:r>
              <a:rPr lang="en-US" altLang="zh-CN"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9</a:t>
            </a:r>
            <a:r>
              <a:rPr lang="zh-CN" altLang="en-US" dirty="0">
                <a:effectLst>
                  <a:outerShdw blurRad="38100" dist="38100" dir="2700000" algn="tl">
                    <a:srgbClr val="000000">
                      <a:alpha val="43137"/>
                    </a:srgbClr>
                  </a:outerShdw>
                </a:effectLst>
                <a:latin typeface="隶书" panose="02010509060101010101" pitchFamily="49" charset="-122"/>
              </a:rPr>
              <a:t>章 关系查询处理和查询优化</a:t>
            </a:r>
          </a:p>
        </p:txBody>
      </p:sp>
      <p:sp>
        <p:nvSpPr>
          <p:cNvPr id="14338" name="Rectangle 3"/>
          <p:cNvSpPr>
            <a:spLocks noGrp="1" noChangeArrowheads="1"/>
          </p:cNvSpPr>
          <p:nvPr>
            <p:ph idx="1"/>
          </p:nvPr>
        </p:nvSpPr>
        <p:spPr>
          <a:xfrm>
            <a:off x="323850" y="1676400"/>
            <a:ext cx="8534400" cy="4920952"/>
          </a:xfrm>
        </p:spPr>
        <p:txBody>
          <a:bodyPr/>
          <a:lstStyle/>
          <a:p>
            <a:pPr eaLnBrk="1" hangingPunct="1">
              <a:spcBef>
                <a:spcPct val="0"/>
              </a:spcBef>
              <a:buClrTx/>
              <a:buSzTx/>
              <a:buFontTx/>
              <a:buNone/>
            </a:pPr>
            <a:r>
              <a:rPr lang="en-US" altLang="zh-CN" sz="2800" b="1" dirty="0">
                <a:latin typeface="Arial" panose="020B0604020202020204" pitchFamily="34" charset="0"/>
                <a:cs typeface="Arial" panose="020B0604020202020204" pitchFamily="34" charset="0"/>
              </a:rPr>
              <a:t>9.1  </a:t>
            </a:r>
            <a:r>
              <a:rPr lang="zh-CN" altLang="en-US" sz="2800" b="1" dirty="0">
                <a:latin typeface="Arial" panose="020B0604020202020204" pitchFamily="34" charset="0"/>
                <a:cs typeface="Arial" panose="020B0604020202020204" pitchFamily="34" charset="0"/>
              </a:rPr>
              <a:t>问题的提出</a:t>
            </a:r>
          </a:p>
          <a:p>
            <a:pPr eaLnBrk="1" hangingPunct="1">
              <a:spcBef>
                <a:spcPct val="0"/>
              </a:spcBef>
              <a:buClrTx/>
              <a:buSzTx/>
              <a:buFontTx/>
              <a:buNone/>
            </a:pPr>
            <a:r>
              <a:rPr lang="zh-CN" altLang="en-US" sz="2800" dirty="0">
                <a:latin typeface="Times New Roman" panose="02020603050405020304" pitchFamily="18" charset="0"/>
              </a:rPr>
              <a:t>        非过程化，无需显示指明存取路经。</a:t>
            </a:r>
          </a:p>
        </p:txBody>
      </p:sp>
      <p:sp>
        <p:nvSpPr>
          <p:cNvPr id="4" name="灯片编号占位符 3"/>
          <p:cNvSpPr>
            <a:spLocks noGrp="1"/>
          </p:cNvSpPr>
          <p:nvPr>
            <p:ph type="sldNum" sz="quarter" idx="12"/>
          </p:nvPr>
        </p:nvSpPr>
        <p:spPr/>
        <p:txBody>
          <a:bodyPr/>
          <a:lstStyle/>
          <a:p>
            <a:pPr>
              <a:defRPr/>
            </a:pPr>
            <a:fld id="{699A6364-3AC0-4DFC-8D8B-CA44987122C3}" type="slidenum">
              <a:rPr lang="zh-CN" altLang="en-US" smtClean="0"/>
              <a:t>1</a:t>
            </a:fld>
            <a:endParaRPr lang="en-US" altLang="zh-CN"/>
          </a:p>
        </p:txBody>
      </p:sp>
      <p:sp>
        <p:nvSpPr>
          <p:cNvPr id="6" name="圆角矩形标注 5"/>
          <p:cNvSpPr/>
          <p:nvPr/>
        </p:nvSpPr>
        <p:spPr>
          <a:xfrm>
            <a:off x="539552" y="3414690"/>
            <a:ext cx="7056784" cy="2304256"/>
          </a:xfrm>
          <a:prstGeom prst="wedgeRoundRectCallout">
            <a:avLst>
              <a:gd name="adj1" fmla="val -18148"/>
              <a:gd name="adj2" fmla="val -8297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从非过程化的“用户体验”，到实际的查询执行的处理过程如何（例如两个集合并运算，是先读</a:t>
            </a:r>
            <a:r>
              <a:rPr lang="en-US" altLang="zh-CN" dirty="0">
                <a:latin typeface="Times New Roman" panose="02020603050405020304" pitchFamily="18" charset="0"/>
                <a:cs typeface="Times New Roman" panose="02020603050405020304" pitchFamily="18" charset="0"/>
              </a:rPr>
              <a:t>R1</a:t>
            </a:r>
            <a:r>
              <a:rPr lang="zh-CN" altLang="en-US" dirty="0"/>
              <a:t>集合还是先读</a:t>
            </a:r>
            <a:r>
              <a:rPr lang="en-US" altLang="zh-CN" dirty="0">
                <a:latin typeface="Times New Roman" panose="02020603050405020304" pitchFamily="18" charset="0"/>
                <a:cs typeface="Times New Roman" panose="02020603050405020304" pitchFamily="18" charset="0"/>
              </a:rPr>
              <a:t>R2</a:t>
            </a:r>
            <a:r>
              <a:rPr lang="zh-CN" altLang="en-US" dirty="0"/>
              <a:t>集合就涉及到过程），决策的任务留给了</a:t>
            </a:r>
            <a:r>
              <a:rPr lang="en-US" altLang="zh-CN" dirty="0"/>
              <a:t>DBMS</a:t>
            </a:r>
            <a:r>
              <a:rPr lang="zh-CN" altLang="en-US" dirty="0"/>
              <a:t>（查询优化）。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614363"/>
            <a:ext cx="8162925" cy="762000"/>
          </a:xfrm>
        </p:spPr>
        <p:txBody>
          <a:bodyPr>
            <a:normAutofit fontScale="90000"/>
          </a:bodyPr>
          <a:lstStyle/>
          <a:p>
            <a:pPr eaLnBrk="1" fontAlgn="auto" hangingPunct="1">
              <a:spcAft>
                <a:spcPts val="0"/>
              </a:spcAft>
              <a:defRPr/>
            </a:pPr>
            <a:r>
              <a:rPr lang="zh-CN" altLang="en-US" dirty="0"/>
              <a:t>基本概念</a:t>
            </a:r>
            <a:r>
              <a:rPr lang="en-US" altLang="zh-CN" dirty="0"/>
              <a:t>1</a:t>
            </a:r>
            <a:endParaRPr lang="zh-CN" altLang="en-US" dirty="0"/>
          </a:p>
        </p:txBody>
      </p:sp>
      <p:sp>
        <p:nvSpPr>
          <p:cNvPr id="15362" name="Rectangle 3"/>
          <p:cNvSpPr>
            <a:spLocks noGrp="1" noChangeArrowheads="1"/>
          </p:cNvSpPr>
          <p:nvPr>
            <p:ph idx="1"/>
          </p:nvPr>
        </p:nvSpPr>
        <p:spPr>
          <a:xfrm>
            <a:off x="381000" y="1452563"/>
            <a:ext cx="8110538" cy="4191000"/>
          </a:xfrm>
        </p:spPr>
        <p:txBody>
          <a:bodyPr/>
          <a:lstStyle/>
          <a:p>
            <a:pPr eaLnBrk="1" hangingPunct="1"/>
            <a:r>
              <a:rPr lang="zh-CN" altLang="en-US" dirty="0"/>
              <a:t>查询分析（词法、语法、语义、符号名）</a:t>
            </a:r>
          </a:p>
          <a:p>
            <a:pPr eaLnBrk="1" hangingPunct="1"/>
            <a:r>
              <a:rPr lang="zh-CN" altLang="en-US" dirty="0"/>
              <a:t>查询树（</a:t>
            </a:r>
            <a:r>
              <a:rPr lang="en-US" altLang="zh-CN" dirty="0"/>
              <a:t>query tree</a:t>
            </a:r>
            <a:r>
              <a:rPr lang="zh-CN" altLang="en-US" dirty="0"/>
              <a:t>），</a:t>
            </a:r>
            <a:endParaRPr lang="en-US" altLang="zh-CN" dirty="0"/>
          </a:p>
          <a:p>
            <a:pPr eaLnBrk="1" hangingPunct="1"/>
            <a:r>
              <a:rPr lang="zh-CN" altLang="en-US" dirty="0"/>
              <a:t>语法树、语法分析树（</a:t>
            </a:r>
            <a:r>
              <a:rPr lang="en-US" altLang="zh-CN" dirty="0"/>
              <a:t>syntax tree）</a:t>
            </a:r>
            <a:r>
              <a:rPr lang="zh-CN" altLang="en-US" dirty="0"/>
              <a:t>，</a:t>
            </a:r>
            <a:endParaRPr lang="en-US" altLang="zh-CN" dirty="0"/>
          </a:p>
          <a:p>
            <a:pPr eaLnBrk="1" hangingPunct="1"/>
            <a:r>
              <a:rPr lang="zh-CN" altLang="en-US" dirty="0"/>
              <a:t>关系代数语法树</a:t>
            </a:r>
            <a:endParaRPr lang="en-US" altLang="zh-CN" dirty="0"/>
          </a:p>
          <a:p>
            <a:pPr eaLnBrk="1" hangingPunct="1"/>
            <a:r>
              <a:rPr lang="zh-CN" altLang="en-US" dirty="0"/>
              <a:t>执行树</a:t>
            </a:r>
          </a:p>
          <a:p>
            <a:pPr eaLnBrk="1" hangingPunct="1"/>
            <a:r>
              <a:rPr lang="zh-CN" altLang="en-US" dirty="0"/>
              <a:t>执行计划</a:t>
            </a:r>
          </a:p>
        </p:txBody>
      </p:sp>
      <p:sp>
        <p:nvSpPr>
          <p:cNvPr id="4" name="灯片编号占位符 3"/>
          <p:cNvSpPr>
            <a:spLocks noGrp="1"/>
          </p:cNvSpPr>
          <p:nvPr>
            <p:ph type="sldNum" sz="quarter" idx="12"/>
          </p:nvPr>
        </p:nvSpPr>
        <p:spPr/>
        <p:txBody>
          <a:bodyPr/>
          <a:lstStyle/>
          <a:p>
            <a:pPr>
              <a:defRPr/>
            </a:pPr>
            <a:fld id="{21E27449-AFB2-47B7-AEE3-C3D50A88BD34}" type="slidenum">
              <a:rPr lang="zh-CN" altLang="en-US"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9"/>
            <a:ext cx="8686800" cy="5343872"/>
          </a:xfrm>
        </p:spPr>
        <p:txBody>
          <a:bodyPr/>
          <a:lstStyle/>
          <a:p>
            <a:pPr eaLnBrk="1" hangingPunct="1">
              <a:spcBef>
                <a:spcPct val="0"/>
              </a:spcBef>
              <a:buClrTx/>
              <a:buSzTx/>
            </a:pPr>
            <a:r>
              <a:rPr lang="zh-CN" altLang="en-US" sz="2800" dirty="0">
                <a:latin typeface="宋体" panose="02010600030101010101" pitchFamily="2" charset="-122"/>
              </a:rPr>
              <a:t>代数优化</a:t>
            </a:r>
            <a:r>
              <a:rPr lang="zh-CN" altLang="en-US" sz="2800" dirty="0">
                <a:latin typeface="Times New Roman" panose="02020603050405020304" pitchFamily="18" charset="0"/>
              </a:rPr>
              <a:t>——</a:t>
            </a:r>
            <a:r>
              <a:rPr lang="zh-CN" altLang="en-US" sz="2800" dirty="0">
                <a:latin typeface="宋体" panose="02010600030101010101" pitchFamily="2" charset="-122"/>
              </a:rPr>
              <a:t>优化关系代数表达式</a:t>
            </a:r>
          </a:p>
          <a:p>
            <a:pPr eaLnBrk="1" hangingPunct="1">
              <a:spcBef>
                <a:spcPct val="0"/>
              </a:spcBef>
              <a:buClrTx/>
              <a:buSzTx/>
            </a:pPr>
            <a:endParaRPr lang="en-US" altLang="zh-CN" sz="2800" dirty="0">
              <a:latin typeface="宋体" panose="02010600030101010101" pitchFamily="2" charset="-122"/>
            </a:endParaRPr>
          </a:p>
          <a:p>
            <a:pPr eaLnBrk="1" hangingPunct="1">
              <a:spcBef>
                <a:spcPct val="0"/>
              </a:spcBef>
              <a:buClrTx/>
              <a:buSzTx/>
            </a:pPr>
            <a:r>
              <a:rPr lang="zh-CN" altLang="en-US" sz="2800" dirty="0">
                <a:latin typeface="宋体" panose="02010600030101010101" pitchFamily="2" charset="-122"/>
              </a:rPr>
              <a:t>物理优化</a:t>
            </a:r>
            <a:r>
              <a:rPr lang="zh-CN" altLang="en-US" sz="2800" dirty="0">
                <a:latin typeface="Times New Roman" panose="02020603050405020304" pitchFamily="18" charset="0"/>
              </a:rPr>
              <a:t>——</a:t>
            </a:r>
            <a:r>
              <a:rPr lang="zh-CN" altLang="en-US" sz="2800" dirty="0">
                <a:latin typeface="宋体" panose="02010600030101010101" pitchFamily="2" charset="-122"/>
              </a:rPr>
              <a:t>优化存取路径和底层操作算法，可进一步分为基于规则的（</a:t>
            </a:r>
            <a:r>
              <a:rPr lang="en-US" altLang="zh-CN" sz="2800" dirty="0">
                <a:latin typeface="宋体" panose="02010600030101010101" pitchFamily="2" charset="-122"/>
              </a:rPr>
              <a:t>rule based）、</a:t>
            </a:r>
            <a:r>
              <a:rPr lang="zh-CN" altLang="en-US" sz="2800" dirty="0">
                <a:latin typeface="宋体" panose="02010600030101010101" pitchFamily="2" charset="-122"/>
              </a:rPr>
              <a:t>基于代价的（</a:t>
            </a:r>
            <a:r>
              <a:rPr lang="en-US" altLang="zh-CN" sz="2800" dirty="0">
                <a:latin typeface="宋体" panose="02010600030101010101" pitchFamily="2" charset="-122"/>
              </a:rPr>
              <a:t>cost based</a:t>
            </a:r>
            <a:r>
              <a:rPr lang="zh-CN" altLang="en-US" sz="2800" dirty="0">
                <a:latin typeface="宋体" panose="02010600030101010101" pitchFamily="2" charset="-122"/>
              </a:rPr>
              <a:t>，代价模型</a:t>
            </a:r>
            <a:r>
              <a:rPr lang="en-US" altLang="zh-CN" sz="2800" dirty="0">
                <a:latin typeface="宋体" panose="02010600030101010101" pitchFamily="2" charset="-122"/>
              </a:rPr>
              <a:t>）</a:t>
            </a:r>
            <a:r>
              <a:rPr lang="zh-CN" altLang="en-US" sz="2800" dirty="0">
                <a:latin typeface="宋体" panose="02010600030101010101" pitchFamily="2" charset="-122"/>
              </a:rPr>
              <a:t>和基于语义的（</a:t>
            </a:r>
            <a:r>
              <a:rPr lang="en-US" altLang="zh-CN" sz="2800" dirty="0">
                <a:latin typeface="宋体" panose="02010600030101010101" pitchFamily="2" charset="-122"/>
              </a:rPr>
              <a:t>semantic based）。</a:t>
            </a:r>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3</a:t>
            </a:fld>
            <a:endParaRPr lang="en-US" altLang="zh-CN"/>
          </a:p>
        </p:txBody>
      </p:sp>
      <p:sp>
        <p:nvSpPr>
          <p:cNvPr id="5" name="圆角矩形标注 4"/>
          <p:cNvSpPr/>
          <p:nvPr/>
        </p:nvSpPr>
        <p:spPr>
          <a:xfrm>
            <a:off x="6588224" y="819984"/>
            <a:ext cx="1872208" cy="612648"/>
          </a:xfrm>
          <a:prstGeom prst="wedgeRoundRectCallout">
            <a:avLst>
              <a:gd name="adj1" fmla="val -81884"/>
              <a:gd name="adj2" fmla="val 27674"/>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a:t>基于规则的</a:t>
            </a:r>
          </a:p>
        </p:txBody>
      </p:sp>
      <p:sp>
        <p:nvSpPr>
          <p:cNvPr id="6" name="圆角矩形标注 5"/>
          <p:cNvSpPr/>
          <p:nvPr/>
        </p:nvSpPr>
        <p:spPr>
          <a:xfrm>
            <a:off x="2085246" y="3532164"/>
            <a:ext cx="4502978" cy="472900"/>
          </a:xfrm>
          <a:prstGeom prst="wedgeRoundRectCallout">
            <a:avLst>
              <a:gd name="adj1" fmla="val -34933"/>
              <a:gd name="adj2" fmla="val -92498"/>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en-US" dirty="0">
                <a:latin typeface="+mn-ea"/>
              </a:rPr>
              <a:t>选择存取路径和底层操作算法</a:t>
            </a:r>
            <a:endParaRPr lang="en-US" altLang="zh-CN" dirty="0">
              <a:latin typeface="+mn-ea"/>
            </a:endParaRPr>
          </a:p>
        </p:txBody>
      </p:sp>
      <p:sp>
        <p:nvSpPr>
          <p:cNvPr id="7" name="圆角矩形标注 6"/>
          <p:cNvSpPr/>
          <p:nvPr/>
        </p:nvSpPr>
        <p:spPr>
          <a:xfrm>
            <a:off x="573078" y="3940697"/>
            <a:ext cx="1512168" cy="576064"/>
          </a:xfrm>
          <a:prstGeom prst="wedgeRoundRectCallout">
            <a:avLst>
              <a:gd name="adj1" fmla="val -36659"/>
              <a:gd name="adj2" fmla="val -97428"/>
              <a:gd name="adj3" fmla="val 16667"/>
            </a:avLst>
          </a:prstGeom>
          <a:ln>
            <a:solidFill>
              <a:srgbClr val="009DD9"/>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Cluster</a:t>
            </a:r>
            <a:endParaRPr lang="zh-CN" altLang="en-US"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8" name="圆角矩形标注 5"/>
          <p:cNvSpPr/>
          <p:nvPr/>
        </p:nvSpPr>
        <p:spPr>
          <a:xfrm>
            <a:off x="1295636" y="4712062"/>
            <a:ext cx="6842080" cy="1165209"/>
          </a:xfrm>
          <a:prstGeom prst="wedgeRoundRectCallout">
            <a:avLst>
              <a:gd name="adj1" fmla="val -36507"/>
              <a:gd name="adj2" fmla="val -70068"/>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en-US" dirty="0">
                <a:latin typeface="+mn-ea"/>
              </a:rPr>
              <a:t>语义上组合条件，例如：</a:t>
            </a:r>
          </a:p>
          <a:p>
            <a:r>
              <a:rPr lang="en-US" altLang="zh-CN" dirty="0">
                <a:latin typeface="Arial Unicode MS" panose="020B0604020202020204" pitchFamily="34" charset="-122"/>
              </a:rPr>
              <a:t>WHERE  value  BETWEEN 1 AND 100</a:t>
            </a:r>
          </a:p>
          <a:p>
            <a:r>
              <a:rPr lang="en-US" altLang="zh-CN" dirty="0">
                <a:latin typeface="Arial Unicode MS" panose="020B0604020202020204" pitchFamily="34" charset="-122"/>
              </a:rPr>
              <a:t>OR value BETWEEN 50 AND 150;</a:t>
            </a:r>
            <a:endParaRPr lang="zh-CN" altLang="en-US" dirty="0">
              <a:latin typeface="Arial Unicode MS" panose="020B0604020202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E8293AC-26F0-4A48-9B53-46FB8E5887B1}" type="slidenum">
              <a:rPr lang="zh-CN" altLang="en-US" smtClean="0"/>
              <a:t>4</a:t>
            </a:fld>
            <a:endParaRPr lang="en-US" altLang="zh-CN"/>
          </a:p>
        </p:txBody>
      </p:sp>
      <p:sp>
        <p:nvSpPr>
          <p:cNvPr id="8" name="圆角矩形标注 7"/>
          <p:cNvSpPr/>
          <p:nvPr/>
        </p:nvSpPr>
        <p:spPr>
          <a:xfrm>
            <a:off x="6901188" y="5071775"/>
            <a:ext cx="2000250" cy="1214438"/>
          </a:xfrm>
          <a:prstGeom prst="wedgeRoundRectCallout">
            <a:avLst>
              <a:gd name="adj1" fmla="val -135189"/>
              <a:gd name="adj2" fmla="val -77706"/>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solidFill>
                  <a:srgbClr val="0000FF"/>
                </a:solidFill>
              </a:rPr>
              <a:t>基于规则的</a:t>
            </a:r>
            <a:endParaRPr lang="en-US" altLang="zh-CN" dirty="0">
              <a:solidFill>
                <a:srgbClr val="0000FF"/>
              </a:solidFill>
            </a:endParaRPr>
          </a:p>
          <a:p>
            <a:pPr algn="ctr">
              <a:defRPr/>
            </a:pPr>
            <a:r>
              <a:rPr lang="zh-CN" altLang="en-US" dirty="0">
                <a:solidFill>
                  <a:srgbClr val="0000FF"/>
                </a:solidFill>
              </a:rPr>
              <a:t>基于代价的</a:t>
            </a:r>
            <a:endParaRPr lang="en-US" altLang="zh-CN" dirty="0">
              <a:solidFill>
                <a:srgbClr val="0000FF"/>
              </a:solidFill>
            </a:endParaRPr>
          </a:p>
          <a:p>
            <a:pPr algn="ctr">
              <a:defRPr/>
            </a:pPr>
            <a:r>
              <a:rPr lang="zh-CN" altLang="en-US" dirty="0">
                <a:solidFill>
                  <a:srgbClr val="0000FF"/>
                </a:solidFill>
              </a:rPr>
              <a:t>基于语义的</a:t>
            </a:r>
          </a:p>
        </p:txBody>
      </p:sp>
      <p:sp>
        <p:nvSpPr>
          <p:cNvPr id="10" name="圆角矩形标注 9"/>
          <p:cNvSpPr/>
          <p:nvPr/>
        </p:nvSpPr>
        <p:spPr>
          <a:xfrm>
            <a:off x="6715125" y="3357563"/>
            <a:ext cx="2214563" cy="755650"/>
          </a:xfrm>
          <a:prstGeom prst="wedgeRoundRectCallout">
            <a:avLst>
              <a:gd name="adj1" fmla="val -127637"/>
              <a:gd name="adj2" fmla="val 66480"/>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t>关系代数等价</a:t>
            </a:r>
            <a:endParaRPr lang="en-US" altLang="zh-CN" dirty="0"/>
          </a:p>
          <a:p>
            <a:pPr algn="ctr">
              <a:defRPr/>
            </a:pPr>
            <a:r>
              <a:rPr lang="zh-CN" altLang="en-US" dirty="0"/>
              <a:t>变换规则</a:t>
            </a:r>
          </a:p>
        </p:txBody>
      </p:sp>
      <p:sp>
        <p:nvSpPr>
          <p:cNvPr id="6" name="TextBox 5"/>
          <p:cNvSpPr txBox="1"/>
          <p:nvPr/>
        </p:nvSpPr>
        <p:spPr>
          <a:xfrm>
            <a:off x="251520" y="476672"/>
            <a:ext cx="2656496" cy="584775"/>
          </a:xfrm>
          <a:prstGeom prst="rect">
            <a:avLst/>
          </a:prstGeom>
          <a:noFill/>
        </p:spPr>
        <p:txBody>
          <a:bodyPr wrap="none" rtlCol="0">
            <a:spAutoFit/>
          </a:bodyPr>
          <a:lstStyle/>
          <a:p>
            <a:r>
              <a:rPr lang="zh-CN" altLang="en-US" sz="3200" b="1" dirty="0"/>
              <a:t>查询处理步骤</a:t>
            </a:r>
          </a:p>
        </p:txBody>
      </p:sp>
      <p:sp>
        <p:nvSpPr>
          <p:cNvPr id="2" name="圆角矩形标注 1"/>
          <p:cNvSpPr/>
          <p:nvPr/>
        </p:nvSpPr>
        <p:spPr>
          <a:xfrm>
            <a:off x="6558206" y="4200747"/>
            <a:ext cx="2525191" cy="783377"/>
          </a:xfrm>
          <a:prstGeom prst="wedgeRoundRectCallout">
            <a:avLst>
              <a:gd name="adj1" fmla="val -96854"/>
              <a:gd name="adj2" fmla="val -3058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Exists?</a:t>
            </a:r>
          </a:p>
          <a:p>
            <a:pPr algn="ctr"/>
            <a:r>
              <a:rPr lang="zh-CN" altLang="en-US" dirty="0"/>
              <a:t>可能转化为</a:t>
            </a:r>
            <a:r>
              <a:rPr lang="en-US" altLang="zh-CN" dirty="0"/>
              <a:t>Join</a:t>
            </a:r>
            <a:endParaRPr lang="zh-CN" altLang="en-US" dirty="0"/>
          </a:p>
        </p:txBody>
      </p:sp>
      <p:sp>
        <p:nvSpPr>
          <p:cNvPr id="7" name="Rectangle 5"/>
          <p:cNvSpPr>
            <a:spLocks noChangeArrowheads="1"/>
          </p:cNvSpPr>
          <p:nvPr/>
        </p:nvSpPr>
        <p:spPr bwMode="auto">
          <a:xfrm>
            <a:off x="3862388" y="57785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查询语句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9" name="Rectangle 6"/>
          <p:cNvSpPr>
            <a:spLocks noChangeArrowheads="1"/>
          </p:cNvSpPr>
          <p:nvPr/>
        </p:nvSpPr>
        <p:spPr bwMode="auto">
          <a:xfrm>
            <a:off x="3605213" y="962025"/>
            <a:ext cx="1692275" cy="13811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1" name="Rectangle 7"/>
          <p:cNvSpPr>
            <a:spLocks noChangeArrowheads="1"/>
          </p:cNvSpPr>
          <p:nvPr/>
        </p:nvSpPr>
        <p:spPr bwMode="auto">
          <a:xfrm>
            <a:off x="3605213" y="962025"/>
            <a:ext cx="1692275" cy="1381125"/>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Rectangle 8"/>
          <p:cNvSpPr>
            <a:spLocks noChangeArrowheads="1"/>
          </p:cNvSpPr>
          <p:nvPr/>
        </p:nvSpPr>
        <p:spPr bwMode="auto">
          <a:xfrm>
            <a:off x="3878263" y="9874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词法分析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3" name="Rectangle 9"/>
          <p:cNvSpPr>
            <a:spLocks noChangeArrowheads="1"/>
          </p:cNvSpPr>
          <p:nvPr/>
        </p:nvSpPr>
        <p:spPr bwMode="auto">
          <a:xfrm>
            <a:off x="3878263" y="133350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语法分析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4" name="Rectangle 10"/>
          <p:cNvSpPr>
            <a:spLocks noChangeArrowheads="1"/>
          </p:cNvSpPr>
          <p:nvPr/>
        </p:nvSpPr>
        <p:spPr bwMode="auto">
          <a:xfrm>
            <a:off x="3878263" y="166370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语义分析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11"/>
          <p:cNvSpPr>
            <a:spLocks noChangeArrowheads="1"/>
          </p:cNvSpPr>
          <p:nvPr/>
        </p:nvSpPr>
        <p:spPr bwMode="auto">
          <a:xfrm>
            <a:off x="3736975" y="2009775"/>
            <a:ext cx="895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符号名转换</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6" name="Rectangle 12"/>
          <p:cNvSpPr>
            <a:spLocks noChangeArrowheads="1"/>
          </p:cNvSpPr>
          <p:nvPr/>
        </p:nvSpPr>
        <p:spPr bwMode="auto">
          <a:xfrm>
            <a:off x="3538538" y="2474913"/>
            <a:ext cx="1935163" cy="6238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 name="Rectangle 13"/>
          <p:cNvSpPr>
            <a:spLocks noChangeArrowheads="1"/>
          </p:cNvSpPr>
          <p:nvPr/>
        </p:nvSpPr>
        <p:spPr bwMode="auto">
          <a:xfrm>
            <a:off x="3538538" y="2474913"/>
            <a:ext cx="1935163" cy="623887"/>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8" name="Rectangle 14"/>
          <p:cNvSpPr>
            <a:spLocks noChangeArrowheads="1"/>
          </p:cNvSpPr>
          <p:nvPr/>
        </p:nvSpPr>
        <p:spPr bwMode="auto">
          <a:xfrm>
            <a:off x="3800475" y="2465388"/>
            <a:ext cx="895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安全性检查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9" name="Rectangle 15"/>
          <p:cNvSpPr>
            <a:spLocks noChangeArrowheads="1"/>
          </p:cNvSpPr>
          <p:nvPr/>
        </p:nvSpPr>
        <p:spPr bwMode="auto">
          <a:xfrm>
            <a:off x="3800475" y="2811463"/>
            <a:ext cx="895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完整性检查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0" name="Freeform 16"/>
          <p:cNvSpPr/>
          <p:nvPr/>
        </p:nvSpPr>
        <p:spPr bwMode="auto">
          <a:xfrm>
            <a:off x="1457326" y="3187700"/>
            <a:ext cx="4716462" cy="668337"/>
          </a:xfrm>
          <a:custGeom>
            <a:avLst/>
            <a:gdLst>
              <a:gd name="T0" fmla="*/ 0 w 3771"/>
              <a:gd name="T1" fmla="*/ 421 h 421"/>
              <a:gd name="T2" fmla="*/ 3561 w 3771"/>
              <a:gd name="T3" fmla="*/ 421 h 421"/>
              <a:gd name="T4" fmla="*/ 3771 w 3771"/>
              <a:gd name="T5" fmla="*/ 0 h 421"/>
              <a:gd name="T6" fmla="*/ 210 w 3771"/>
              <a:gd name="T7" fmla="*/ 0 h 421"/>
              <a:gd name="T8" fmla="*/ 0 w 3771"/>
              <a:gd name="T9" fmla="*/ 421 h 421"/>
            </a:gdLst>
            <a:ahLst/>
            <a:cxnLst>
              <a:cxn ang="0">
                <a:pos x="T0" y="T1"/>
              </a:cxn>
              <a:cxn ang="0">
                <a:pos x="T2" y="T3"/>
              </a:cxn>
              <a:cxn ang="0">
                <a:pos x="T4" y="T5"/>
              </a:cxn>
              <a:cxn ang="0">
                <a:pos x="T6" y="T7"/>
              </a:cxn>
              <a:cxn ang="0">
                <a:pos x="T8" y="T9"/>
              </a:cxn>
            </a:cxnLst>
            <a:rect l="0" t="0" r="r" b="b"/>
            <a:pathLst>
              <a:path w="3771" h="421">
                <a:moveTo>
                  <a:pt x="0" y="421"/>
                </a:moveTo>
                <a:lnTo>
                  <a:pt x="3561" y="421"/>
                </a:lnTo>
                <a:lnTo>
                  <a:pt x="3771" y="0"/>
                </a:lnTo>
                <a:lnTo>
                  <a:pt x="210" y="0"/>
                </a:lnTo>
                <a:lnTo>
                  <a:pt x="0" y="42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17"/>
          <p:cNvSpPr/>
          <p:nvPr/>
        </p:nvSpPr>
        <p:spPr bwMode="auto">
          <a:xfrm>
            <a:off x="1547664" y="3187700"/>
            <a:ext cx="4129907" cy="668337"/>
          </a:xfrm>
          <a:custGeom>
            <a:avLst/>
            <a:gdLst>
              <a:gd name="T0" fmla="*/ 0 w 3771"/>
              <a:gd name="T1" fmla="*/ 421 h 421"/>
              <a:gd name="T2" fmla="*/ 3561 w 3771"/>
              <a:gd name="T3" fmla="*/ 421 h 421"/>
              <a:gd name="T4" fmla="*/ 3771 w 3771"/>
              <a:gd name="T5" fmla="*/ 0 h 421"/>
              <a:gd name="T6" fmla="*/ 210 w 3771"/>
              <a:gd name="T7" fmla="*/ 0 h 421"/>
              <a:gd name="T8" fmla="*/ 0 w 3771"/>
              <a:gd name="T9" fmla="*/ 421 h 421"/>
            </a:gdLst>
            <a:ahLst/>
            <a:cxnLst>
              <a:cxn ang="0">
                <a:pos x="T0" y="T1"/>
              </a:cxn>
              <a:cxn ang="0">
                <a:pos x="T2" y="T3"/>
              </a:cxn>
              <a:cxn ang="0">
                <a:pos x="T4" y="T5"/>
              </a:cxn>
              <a:cxn ang="0">
                <a:pos x="T6" y="T7"/>
              </a:cxn>
              <a:cxn ang="0">
                <a:pos x="T8" y="T9"/>
              </a:cxn>
            </a:cxnLst>
            <a:rect l="0" t="0" r="r" b="b"/>
            <a:pathLst>
              <a:path w="3771" h="421">
                <a:moveTo>
                  <a:pt x="0" y="421"/>
                </a:moveTo>
                <a:lnTo>
                  <a:pt x="3561" y="421"/>
                </a:lnTo>
                <a:lnTo>
                  <a:pt x="3771" y="0"/>
                </a:lnTo>
                <a:lnTo>
                  <a:pt x="210" y="0"/>
                </a:lnTo>
                <a:lnTo>
                  <a:pt x="0" y="421"/>
                </a:lnTo>
                <a:close/>
              </a:path>
            </a:pathLst>
          </a:cu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2" name="Rectangle 18"/>
          <p:cNvSpPr>
            <a:spLocks noChangeArrowheads="1"/>
          </p:cNvSpPr>
          <p:nvPr/>
        </p:nvSpPr>
        <p:spPr bwMode="auto">
          <a:xfrm>
            <a:off x="2410519" y="3205163"/>
            <a:ext cx="23399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查询树（query tree）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3" name="Rectangle 19"/>
          <p:cNvSpPr>
            <a:spLocks noChangeArrowheads="1"/>
          </p:cNvSpPr>
          <p:nvPr/>
        </p:nvSpPr>
        <p:spPr bwMode="auto">
          <a:xfrm>
            <a:off x="2064444" y="3535363"/>
            <a:ext cx="2795588"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语法分析树（syntax tree）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4" name="Rectangle 20"/>
          <p:cNvSpPr>
            <a:spLocks noChangeArrowheads="1"/>
          </p:cNvSpPr>
          <p:nvPr/>
        </p:nvSpPr>
        <p:spPr bwMode="auto">
          <a:xfrm>
            <a:off x="3494088" y="4100513"/>
            <a:ext cx="1912938" cy="668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Rectangle 21"/>
          <p:cNvSpPr>
            <a:spLocks noChangeArrowheads="1"/>
          </p:cNvSpPr>
          <p:nvPr/>
        </p:nvSpPr>
        <p:spPr bwMode="auto">
          <a:xfrm>
            <a:off x="3494088" y="4100513"/>
            <a:ext cx="1912938" cy="668337"/>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6" name="Rectangle 22"/>
          <p:cNvSpPr>
            <a:spLocks noChangeArrowheads="1"/>
          </p:cNvSpPr>
          <p:nvPr/>
        </p:nvSpPr>
        <p:spPr bwMode="auto">
          <a:xfrm>
            <a:off x="3878263" y="411797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代数优化</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7" name="Rectangle 23"/>
          <p:cNvSpPr>
            <a:spLocks noChangeArrowheads="1"/>
          </p:cNvSpPr>
          <p:nvPr/>
        </p:nvSpPr>
        <p:spPr bwMode="auto">
          <a:xfrm>
            <a:off x="3736975" y="444817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FF"/>
                </a:solidFill>
                <a:effectLst/>
                <a:latin typeface="宋体" panose="02010600030101010101" pitchFamily="2" charset="-122"/>
                <a:ea typeface="宋体" panose="02010600030101010101" pitchFamily="2" charset="-122"/>
              </a:rPr>
              <a:t>物理优化</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8" name="Rectangle 24"/>
          <p:cNvSpPr>
            <a:spLocks noChangeArrowheads="1"/>
          </p:cNvSpPr>
          <p:nvPr/>
        </p:nvSpPr>
        <p:spPr bwMode="auto">
          <a:xfrm>
            <a:off x="4867275" y="4448175"/>
            <a:ext cx="31432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等</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9" name="Freeform 25"/>
          <p:cNvSpPr/>
          <p:nvPr/>
        </p:nvSpPr>
        <p:spPr bwMode="auto">
          <a:xfrm>
            <a:off x="2836863" y="5057775"/>
            <a:ext cx="3227388" cy="446087"/>
          </a:xfrm>
          <a:custGeom>
            <a:avLst/>
            <a:gdLst>
              <a:gd name="T0" fmla="*/ 0 w 2033"/>
              <a:gd name="T1" fmla="*/ 281 h 281"/>
              <a:gd name="T2" fmla="*/ 1893 w 2033"/>
              <a:gd name="T3" fmla="*/ 281 h 281"/>
              <a:gd name="T4" fmla="*/ 2033 w 2033"/>
              <a:gd name="T5" fmla="*/ 0 h 281"/>
              <a:gd name="T6" fmla="*/ 141 w 2033"/>
              <a:gd name="T7" fmla="*/ 0 h 281"/>
              <a:gd name="T8" fmla="*/ 0 w 2033"/>
              <a:gd name="T9" fmla="*/ 281 h 281"/>
            </a:gdLst>
            <a:ahLst/>
            <a:cxnLst>
              <a:cxn ang="0">
                <a:pos x="T0" y="T1"/>
              </a:cxn>
              <a:cxn ang="0">
                <a:pos x="T2" y="T3"/>
              </a:cxn>
              <a:cxn ang="0">
                <a:pos x="T4" y="T5"/>
              </a:cxn>
              <a:cxn ang="0">
                <a:pos x="T6" y="T7"/>
              </a:cxn>
              <a:cxn ang="0">
                <a:pos x="T8" y="T9"/>
              </a:cxn>
            </a:cxnLst>
            <a:rect l="0" t="0" r="r" b="b"/>
            <a:pathLst>
              <a:path w="2033" h="281">
                <a:moveTo>
                  <a:pt x="0" y="281"/>
                </a:moveTo>
                <a:lnTo>
                  <a:pt x="1893" y="281"/>
                </a:lnTo>
                <a:lnTo>
                  <a:pt x="2033" y="0"/>
                </a:lnTo>
                <a:lnTo>
                  <a:pt x="141" y="0"/>
                </a:lnTo>
                <a:lnTo>
                  <a:pt x="0" y="28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6"/>
          <p:cNvSpPr/>
          <p:nvPr/>
        </p:nvSpPr>
        <p:spPr bwMode="auto">
          <a:xfrm>
            <a:off x="2836863" y="5057775"/>
            <a:ext cx="3227388" cy="446087"/>
          </a:xfrm>
          <a:custGeom>
            <a:avLst/>
            <a:gdLst>
              <a:gd name="T0" fmla="*/ 0 w 2033"/>
              <a:gd name="T1" fmla="*/ 281 h 281"/>
              <a:gd name="T2" fmla="*/ 1893 w 2033"/>
              <a:gd name="T3" fmla="*/ 281 h 281"/>
              <a:gd name="T4" fmla="*/ 2033 w 2033"/>
              <a:gd name="T5" fmla="*/ 0 h 281"/>
              <a:gd name="T6" fmla="*/ 141 w 2033"/>
              <a:gd name="T7" fmla="*/ 0 h 281"/>
              <a:gd name="T8" fmla="*/ 0 w 2033"/>
              <a:gd name="T9" fmla="*/ 281 h 281"/>
            </a:gdLst>
            <a:ahLst/>
            <a:cxnLst>
              <a:cxn ang="0">
                <a:pos x="T0" y="T1"/>
              </a:cxn>
              <a:cxn ang="0">
                <a:pos x="T2" y="T3"/>
              </a:cxn>
              <a:cxn ang="0">
                <a:pos x="T4" y="T5"/>
              </a:cxn>
              <a:cxn ang="0">
                <a:pos x="T6" y="T7"/>
              </a:cxn>
              <a:cxn ang="0">
                <a:pos x="T8" y="T9"/>
              </a:cxn>
            </a:cxnLst>
            <a:rect l="0" t="0" r="r" b="b"/>
            <a:pathLst>
              <a:path w="2033" h="281">
                <a:moveTo>
                  <a:pt x="0" y="281"/>
                </a:moveTo>
                <a:lnTo>
                  <a:pt x="1893" y="281"/>
                </a:lnTo>
                <a:lnTo>
                  <a:pt x="2033" y="0"/>
                </a:lnTo>
                <a:lnTo>
                  <a:pt x="141" y="0"/>
                </a:lnTo>
                <a:lnTo>
                  <a:pt x="0" y="281"/>
                </a:lnTo>
                <a:close/>
              </a:path>
            </a:pathLst>
          </a:cu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1" name="Rectangle 27"/>
          <p:cNvSpPr>
            <a:spLocks noChangeArrowheads="1"/>
          </p:cNvSpPr>
          <p:nvPr/>
        </p:nvSpPr>
        <p:spPr bwMode="auto">
          <a:xfrm>
            <a:off x="3595688" y="5124450"/>
            <a:ext cx="105251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执行策略描述</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2" name="Rectangle 28"/>
          <p:cNvSpPr>
            <a:spLocks noChangeArrowheads="1"/>
          </p:cNvSpPr>
          <p:nvPr/>
        </p:nvSpPr>
        <p:spPr bwMode="auto">
          <a:xfrm>
            <a:off x="3827463" y="5770563"/>
            <a:ext cx="1246188" cy="3571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3" name="Rectangle 29"/>
          <p:cNvSpPr>
            <a:spLocks noChangeArrowheads="1"/>
          </p:cNvSpPr>
          <p:nvPr/>
        </p:nvSpPr>
        <p:spPr bwMode="auto">
          <a:xfrm>
            <a:off x="3827463" y="5770563"/>
            <a:ext cx="1246188" cy="357187"/>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4" name="Rectangle 30"/>
          <p:cNvSpPr>
            <a:spLocks noChangeArrowheads="1"/>
          </p:cNvSpPr>
          <p:nvPr/>
        </p:nvSpPr>
        <p:spPr bwMode="auto">
          <a:xfrm>
            <a:off x="3878263" y="58007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代码生成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5" name="Freeform 31"/>
          <p:cNvSpPr/>
          <p:nvPr/>
        </p:nvSpPr>
        <p:spPr bwMode="auto">
          <a:xfrm>
            <a:off x="2324100" y="6392863"/>
            <a:ext cx="4252913" cy="446087"/>
          </a:xfrm>
          <a:custGeom>
            <a:avLst/>
            <a:gdLst>
              <a:gd name="T0" fmla="*/ 0 w 2679"/>
              <a:gd name="T1" fmla="*/ 281 h 281"/>
              <a:gd name="T2" fmla="*/ 2538 w 2679"/>
              <a:gd name="T3" fmla="*/ 281 h 281"/>
              <a:gd name="T4" fmla="*/ 2679 w 2679"/>
              <a:gd name="T5" fmla="*/ 0 h 281"/>
              <a:gd name="T6" fmla="*/ 141 w 2679"/>
              <a:gd name="T7" fmla="*/ 0 h 281"/>
              <a:gd name="T8" fmla="*/ 0 w 2679"/>
              <a:gd name="T9" fmla="*/ 281 h 281"/>
            </a:gdLst>
            <a:ahLst/>
            <a:cxnLst>
              <a:cxn ang="0">
                <a:pos x="T0" y="T1"/>
              </a:cxn>
              <a:cxn ang="0">
                <a:pos x="T2" y="T3"/>
              </a:cxn>
              <a:cxn ang="0">
                <a:pos x="T4" y="T5"/>
              </a:cxn>
              <a:cxn ang="0">
                <a:pos x="T6" y="T7"/>
              </a:cxn>
              <a:cxn ang="0">
                <a:pos x="T8" y="T9"/>
              </a:cxn>
            </a:cxnLst>
            <a:rect l="0" t="0" r="r" b="b"/>
            <a:pathLst>
              <a:path w="2679" h="281">
                <a:moveTo>
                  <a:pt x="0" y="281"/>
                </a:moveTo>
                <a:lnTo>
                  <a:pt x="2538" y="281"/>
                </a:lnTo>
                <a:lnTo>
                  <a:pt x="2679" y="0"/>
                </a:lnTo>
                <a:lnTo>
                  <a:pt x="141" y="0"/>
                </a:lnTo>
                <a:lnTo>
                  <a:pt x="0" y="28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2"/>
          <p:cNvSpPr/>
          <p:nvPr/>
        </p:nvSpPr>
        <p:spPr bwMode="auto">
          <a:xfrm>
            <a:off x="2324100" y="6392863"/>
            <a:ext cx="4252913" cy="446087"/>
          </a:xfrm>
          <a:custGeom>
            <a:avLst/>
            <a:gdLst>
              <a:gd name="T0" fmla="*/ 0 w 2679"/>
              <a:gd name="T1" fmla="*/ 281 h 281"/>
              <a:gd name="T2" fmla="*/ 2538 w 2679"/>
              <a:gd name="T3" fmla="*/ 281 h 281"/>
              <a:gd name="T4" fmla="*/ 2679 w 2679"/>
              <a:gd name="T5" fmla="*/ 0 h 281"/>
              <a:gd name="T6" fmla="*/ 141 w 2679"/>
              <a:gd name="T7" fmla="*/ 0 h 281"/>
              <a:gd name="T8" fmla="*/ 0 w 2679"/>
              <a:gd name="T9" fmla="*/ 281 h 281"/>
            </a:gdLst>
            <a:ahLst/>
            <a:cxnLst>
              <a:cxn ang="0">
                <a:pos x="T0" y="T1"/>
              </a:cxn>
              <a:cxn ang="0">
                <a:pos x="T2" y="T3"/>
              </a:cxn>
              <a:cxn ang="0">
                <a:pos x="T4" y="T5"/>
              </a:cxn>
              <a:cxn ang="0">
                <a:pos x="T6" y="T7"/>
              </a:cxn>
              <a:cxn ang="0">
                <a:pos x="T8" y="T9"/>
              </a:cxn>
            </a:cxnLst>
            <a:rect l="0" t="0" r="r" b="b"/>
            <a:pathLst>
              <a:path w="2679" h="281">
                <a:moveTo>
                  <a:pt x="0" y="281"/>
                </a:moveTo>
                <a:lnTo>
                  <a:pt x="2538" y="281"/>
                </a:lnTo>
                <a:lnTo>
                  <a:pt x="2679" y="0"/>
                </a:lnTo>
                <a:lnTo>
                  <a:pt x="141" y="0"/>
                </a:lnTo>
                <a:lnTo>
                  <a:pt x="0" y="281"/>
                </a:lnTo>
                <a:close/>
              </a:path>
            </a:pathLst>
          </a:cu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7" name="Rectangle 33"/>
          <p:cNvSpPr>
            <a:spLocks noChangeArrowheads="1"/>
          </p:cNvSpPr>
          <p:nvPr/>
        </p:nvSpPr>
        <p:spPr bwMode="auto">
          <a:xfrm>
            <a:off x="3171825" y="6461125"/>
            <a:ext cx="1492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查询计划的执行代码</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8" name="Rectangle 34"/>
          <p:cNvSpPr>
            <a:spLocks noChangeArrowheads="1"/>
          </p:cNvSpPr>
          <p:nvPr/>
        </p:nvSpPr>
        <p:spPr bwMode="auto">
          <a:xfrm>
            <a:off x="1570038" y="1522413"/>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9" name="Rectangle 35"/>
          <p:cNvSpPr>
            <a:spLocks noChangeArrowheads="1"/>
          </p:cNvSpPr>
          <p:nvPr/>
        </p:nvSpPr>
        <p:spPr bwMode="auto">
          <a:xfrm>
            <a:off x="1506538" y="26384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查询检查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0" name="Rectangle 36"/>
          <p:cNvSpPr>
            <a:spLocks noChangeArrowheads="1"/>
          </p:cNvSpPr>
          <p:nvPr/>
        </p:nvSpPr>
        <p:spPr bwMode="auto">
          <a:xfrm>
            <a:off x="1444625" y="4275138"/>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查询优化</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1" name="Rectangle 37"/>
          <p:cNvSpPr>
            <a:spLocks noChangeArrowheads="1"/>
          </p:cNvSpPr>
          <p:nvPr/>
        </p:nvSpPr>
        <p:spPr bwMode="auto">
          <a:xfrm>
            <a:off x="1444625" y="58007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查询执行</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2" name="Freeform 38"/>
          <p:cNvSpPr/>
          <p:nvPr/>
        </p:nvSpPr>
        <p:spPr bwMode="auto">
          <a:xfrm>
            <a:off x="7032625" y="1917700"/>
            <a:ext cx="1270000" cy="1270000"/>
          </a:xfrm>
          <a:custGeom>
            <a:avLst/>
            <a:gdLst>
              <a:gd name="T0" fmla="*/ 0 w 1294"/>
              <a:gd name="T1" fmla="*/ 162 h 1292"/>
              <a:gd name="T2" fmla="*/ 0 w 1294"/>
              <a:gd name="T3" fmla="*/ 1131 h 1292"/>
              <a:gd name="T4" fmla="*/ 647 w 1294"/>
              <a:gd name="T5" fmla="*/ 1292 h 1292"/>
              <a:gd name="T6" fmla="*/ 1294 w 1294"/>
              <a:gd name="T7" fmla="*/ 1131 h 1292"/>
              <a:gd name="T8" fmla="*/ 1294 w 1294"/>
              <a:gd name="T9" fmla="*/ 1131 h 1292"/>
              <a:gd name="T10" fmla="*/ 1294 w 1294"/>
              <a:gd name="T11" fmla="*/ 1131 h 1292"/>
              <a:gd name="T12" fmla="*/ 1294 w 1294"/>
              <a:gd name="T13" fmla="*/ 162 h 1292"/>
              <a:gd name="T14" fmla="*/ 647 w 1294"/>
              <a:gd name="T15" fmla="*/ 0 h 1292"/>
              <a:gd name="T16" fmla="*/ 0 w 1294"/>
              <a:gd name="T17" fmla="*/ 16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4" h="1292">
                <a:moveTo>
                  <a:pt x="0" y="162"/>
                </a:moveTo>
                <a:lnTo>
                  <a:pt x="0" y="1131"/>
                </a:lnTo>
                <a:cubicBezTo>
                  <a:pt x="0" y="1220"/>
                  <a:pt x="290" y="1292"/>
                  <a:pt x="647" y="1292"/>
                </a:cubicBezTo>
                <a:cubicBezTo>
                  <a:pt x="1005" y="1292"/>
                  <a:pt x="1294" y="1220"/>
                  <a:pt x="1294" y="1131"/>
                </a:cubicBezTo>
                <a:cubicBezTo>
                  <a:pt x="1294" y="1131"/>
                  <a:pt x="1294" y="1131"/>
                  <a:pt x="1294" y="1131"/>
                </a:cubicBezTo>
                <a:lnTo>
                  <a:pt x="1294" y="1131"/>
                </a:lnTo>
                <a:lnTo>
                  <a:pt x="1294" y="162"/>
                </a:lnTo>
                <a:cubicBezTo>
                  <a:pt x="1294" y="73"/>
                  <a:pt x="1005" y="0"/>
                  <a:pt x="647" y="0"/>
                </a:cubicBezTo>
                <a:cubicBezTo>
                  <a:pt x="290" y="0"/>
                  <a:pt x="0" y="73"/>
                  <a:pt x="0" y="162"/>
                </a:cubicBezTo>
                <a:close/>
              </a:path>
            </a:pathLst>
          </a:custGeom>
          <a:solidFill>
            <a:srgbClr val="FFFFFF"/>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3" name="Freeform 39"/>
          <p:cNvSpPr>
            <a:spLocks noEditPoints="1"/>
          </p:cNvSpPr>
          <p:nvPr/>
        </p:nvSpPr>
        <p:spPr bwMode="auto">
          <a:xfrm>
            <a:off x="7032625" y="1917700"/>
            <a:ext cx="1270000" cy="1270000"/>
          </a:xfrm>
          <a:custGeom>
            <a:avLst/>
            <a:gdLst>
              <a:gd name="T0" fmla="*/ 0 w 1294"/>
              <a:gd name="T1" fmla="*/ 162 h 1292"/>
              <a:gd name="T2" fmla="*/ 0 w 1294"/>
              <a:gd name="T3" fmla="*/ 1131 h 1292"/>
              <a:gd name="T4" fmla="*/ 647 w 1294"/>
              <a:gd name="T5" fmla="*/ 1292 h 1292"/>
              <a:gd name="T6" fmla="*/ 1294 w 1294"/>
              <a:gd name="T7" fmla="*/ 1131 h 1292"/>
              <a:gd name="T8" fmla="*/ 1294 w 1294"/>
              <a:gd name="T9" fmla="*/ 1131 h 1292"/>
              <a:gd name="T10" fmla="*/ 1294 w 1294"/>
              <a:gd name="T11" fmla="*/ 1131 h 1292"/>
              <a:gd name="T12" fmla="*/ 1294 w 1294"/>
              <a:gd name="T13" fmla="*/ 162 h 1292"/>
              <a:gd name="T14" fmla="*/ 647 w 1294"/>
              <a:gd name="T15" fmla="*/ 0 h 1292"/>
              <a:gd name="T16" fmla="*/ 0 w 1294"/>
              <a:gd name="T17" fmla="*/ 162 h 1292"/>
              <a:gd name="T18" fmla="*/ 0 w 1294"/>
              <a:gd name="T19" fmla="*/ 162 h 1292"/>
              <a:gd name="T20" fmla="*/ 647 w 1294"/>
              <a:gd name="T21" fmla="*/ 323 h 1292"/>
              <a:gd name="T22" fmla="*/ 1294 w 1294"/>
              <a:gd name="T23" fmla="*/ 162 h 1292"/>
              <a:gd name="T24" fmla="*/ 1294 w 1294"/>
              <a:gd name="T25" fmla="*/ 16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4" h="1292">
                <a:moveTo>
                  <a:pt x="0" y="162"/>
                </a:moveTo>
                <a:lnTo>
                  <a:pt x="0" y="1131"/>
                </a:lnTo>
                <a:cubicBezTo>
                  <a:pt x="0" y="1220"/>
                  <a:pt x="290" y="1292"/>
                  <a:pt x="647" y="1292"/>
                </a:cubicBezTo>
                <a:cubicBezTo>
                  <a:pt x="1005" y="1292"/>
                  <a:pt x="1294" y="1220"/>
                  <a:pt x="1294" y="1131"/>
                </a:cubicBezTo>
                <a:cubicBezTo>
                  <a:pt x="1294" y="1131"/>
                  <a:pt x="1294" y="1131"/>
                  <a:pt x="1294" y="1131"/>
                </a:cubicBezTo>
                <a:lnTo>
                  <a:pt x="1294" y="1131"/>
                </a:lnTo>
                <a:lnTo>
                  <a:pt x="1294" y="162"/>
                </a:lnTo>
                <a:cubicBezTo>
                  <a:pt x="1294" y="73"/>
                  <a:pt x="1005" y="0"/>
                  <a:pt x="647" y="0"/>
                </a:cubicBezTo>
                <a:cubicBezTo>
                  <a:pt x="290" y="0"/>
                  <a:pt x="0" y="73"/>
                  <a:pt x="0" y="162"/>
                </a:cubicBezTo>
                <a:moveTo>
                  <a:pt x="0" y="162"/>
                </a:moveTo>
                <a:cubicBezTo>
                  <a:pt x="0" y="251"/>
                  <a:pt x="290" y="323"/>
                  <a:pt x="647" y="323"/>
                </a:cubicBezTo>
                <a:cubicBezTo>
                  <a:pt x="1005" y="323"/>
                  <a:pt x="1294" y="251"/>
                  <a:pt x="1294" y="162"/>
                </a:cubicBezTo>
                <a:cubicBezTo>
                  <a:pt x="1294" y="162"/>
                  <a:pt x="1294" y="162"/>
                  <a:pt x="1294" y="162"/>
                </a:cubicBezTo>
              </a:path>
            </a:pathLst>
          </a:custGeom>
          <a:noFill/>
          <a:ln w="1111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4" name="Rectangle 40"/>
          <p:cNvSpPr>
            <a:spLocks noChangeArrowheads="1"/>
          </p:cNvSpPr>
          <p:nvPr/>
        </p:nvSpPr>
        <p:spPr bwMode="auto">
          <a:xfrm>
            <a:off x="7239000" y="2308225"/>
            <a:ext cx="5969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数据库</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5" name="Rectangle 41"/>
          <p:cNvSpPr>
            <a:spLocks noChangeArrowheads="1"/>
          </p:cNvSpPr>
          <p:nvPr/>
        </p:nvSpPr>
        <p:spPr bwMode="auto">
          <a:xfrm>
            <a:off x="7097713" y="265430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数据字典</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6" name="Line 42"/>
          <p:cNvSpPr>
            <a:spLocks noChangeShapeType="1"/>
          </p:cNvSpPr>
          <p:nvPr/>
        </p:nvSpPr>
        <p:spPr bwMode="auto">
          <a:xfrm>
            <a:off x="4451350" y="823913"/>
            <a:ext cx="0" cy="60325"/>
          </a:xfrm>
          <a:prstGeom prst="line">
            <a:avLst/>
          </a:prstGeom>
          <a:noFill/>
          <a:ln w="4763"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7" name="Freeform 43"/>
          <p:cNvSpPr/>
          <p:nvPr/>
        </p:nvSpPr>
        <p:spPr bwMode="auto">
          <a:xfrm>
            <a:off x="4406900" y="873125"/>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Line 44"/>
          <p:cNvSpPr>
            <a:spLocks noChangeShapeType="1"/>
          </p:cNvSpPr>
          <p:nvPr/>
        </p:nvSpPr>
        <p:spPr bwMode="auto">
          <a:xfrm>
            <a:off x="4451350" y="2343150"/>
            <a:ext cx="0" cy="12700"/>
          </a:xfrm>
          <a:prstGeom prst="line">
            <a:avLst/>
          </a:prstGeom>
          <a:noFill/>
          <a:ln w="4763"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9" name="Freeform 45"/>
          <p:cNvSpPr/>
          <p:nvPr/>
        </p:nvSpPr>
        <p:spPr bwMode="auto">
          <a:xfrm>
            <a:off x="4406900" y="2346325"/>
            <a:ext cx="87313" cy="128587"/>
          </a:xfrm>
          <a:custGeom>
            <a:avLst/>
            <a:gdLst>
              <a:gd name="T0" fmla="*/ 55 w 55"/>
              <a:gd name="T1" fmla="*/ 0 h 81"/>
              <a:gd name="T2" fmla="*/ 28 w 55"/>
              <a:gd name="T3" fmla="*/ 81 h 81"/>
              <a:gd name="T4" fmla="*/ 0 w 55"/>
              <a:gd name="T5" fmla="*/ 0 h 81"/>
              <a:gd name="T6" fmla="*/ 55 w 55"/>
              <a:gd name="T7" fmla="*/ 0 h 81"/>
            </a:gdLst>
            <a:ahLst/>
            <a:cxnLst>
              <a:cxn ang="0">
                <a:pos x="T0" y="T1"/>
              </a:cxn>
              <a:cxn ang="0">
                <a:pos x="T2" y="T3"/>
              </a:cxn>
              <a:cxn ang="0">
                <a:pos x="T4" y="T5"/>
              </a:cxn>
              <a:cxn ang="0">
                <a:pos x="T6" y="T7"/>
              </a:cxn>
            </a:cxnLst>
            <a:rect l="0" t="0" r="r" b="b"/>
            <a:pathLst>
              <a:path w="55" h="81">
                <a:moveTo>
                  <a:pt x="55" y="0"/>
                </a:moveTo>
                <a:lnTo>
                  <a:pt x="28" y="81"/>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Line 46"/>
          <p:cNvSpPr>
            <a:spLocks noChangeShapeType="1"/>
          </p:cNvSpPr>
          <p:nvPr/>
        </p:nvSpPr>
        <p:spPr bwMode="auto">
          <a:xfrm>
            <a:off x="4451350" y="3143250"/>
            <a:ext cx="0" cy="88900"/>
          </a:xfrm>
          <a:prstGeom prst="line">
            <a:avLst/>
          </a:prstGeom>
          <a:noFill/>
          <a:ln w="4763"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 name="Freeform 47"/>
          <p:cNvSpPr/>
          <p:nvPr/>
        </p:nvSpPr>
        <p:spPr bwMode="auto">
          <a:xfrm>
            <a:off x="4406900" y="3101975"/>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Line 48"/>
          <p:cNvSpPr>
            <a:spLocks noChangeShapeType="1"/>
          </p:cNvSpPr>
          <p:nvPr/>
        </p:nvSpPr>
        <p:spPr bwMode="auto">
          <a:xfrm>
            <a:off x="4451350" y="3856038"/>
            <a:ext cx="0" cy="125412"/>
          </a:xfrm>
          <a:prstGeom prst="line">
            <a:avLst/>
          </a:prstGeom>
          <a:noFill/>
          <a:ln w="4763"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3" name="Freeform 49"/>
          <p:cNvSpPr/>
          <p:nvPr/>
        </p:nvSpPr>
        <p:spPr bwMode="auto">
          <a:xfrm>
            <a:off x="4406900" y="3970338"/>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Line 50"/>
          <p:cNvSpPr>
            <a:spLocks noChangeShapeType="1"/>
          </p:cNvSpPr>
          <p:nvPr/>
        </p:nvSpPr>
        <p:spPr bwMode="auto">
          <a:xfrm>
            <a:off x="4451350" y="4768850"/>
            <a:ext cx="0" cy="169862"/>
          </a:xfrm>
          <a:prstGeom prst="line">
            <a:avLst/>
          </a:prstGeom>
          <a:noFill/>
          <a:ln w="4763"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5" name="Freeform 51"/>
          <p:cNvSpPr/>
          <p:nvPr/>
        </p:nvSpPr>
        <p:spPr bwMode="auto">
          <a:xfrm>
            <a:off x="4406900" y="4929188"/>
            <a:ext cx="87313" cy="128587"/>
          </a:xfrm>
          <a:custGeom>
            <a:avLst/>
            <a:gdLst>
              <a:gd name="T0" fmla="*/ 55 w 55"/>
              <a:gd name="T1" fmla="*/ 0 h 81"/>
              <a:gd name="T2" fmla="*/ 28 w 55"/>
              <a:gd name="T3" fmla="*/ 81 h 81"/>
              <a:gd name="T4" fmla="*/ 0 w 55"/>
              <a:gd name="T5" fmla="*/ 0 h 81"/>
              <a:gd name="T6" fmla="*/ 55 w 55"/>
              <a:gd name="T7" fmla="*/ 0 h 81"/>
            </a:gdLst>
            <a:ahLst/>
            <a:cxnLst>
              <a:cxn ang="0">
                <a:pos x="T0" y="T1"/>
              </a:cxn>
              <a:cxn ang="0">
                <a:pos x="T2" y="T3"/>
              </a:cxn>
              <a:cxn ang="0">
                <a:pos x="T4" y="T5"/>
              </a:cxn>
              <a:cxn ang="0">
                <a:pos x="T6" y="T7"/>
              </a:cxn>
            </a:cxnLst>
            <a:rect l="0" t="0" r="r" b="b"/>
            <a:pathLst>
              <a:path w="55" h="81">
                <a:moveTo>
                  <a:pt x="55" y="0"/>
                </a:moveTo>
                <a:lnTo>
                  <a:pt x="28" y="81"/>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Line 52"/>
          <p:cNvSpPr>
            <a:spLocks noChangeShapeType="1"/>
          </p:cNvSpPr>
          <p:nvPr/>
        </p:nvSpPr>
        <p:spPr bwMode="auto">
          <a:xfrm>
            <a:off x="4451350" y="5503863"/>
            <a:ext cx="0" cy="147637"/>
          </a:xfrm>
          <a:prstGeom prst="line">
            <a:avLst/>
          </a:prstGeom>
          <a:noFill/>
          <a:ln w="4763"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7" name="Freeform 53"/>
          <p:cNvSpPr/>
          <p:nvPr/>
        </p:nvSpPr>
        <p:spPr bwMode="auto">
          <a:xfrm>
            <a:off x="4406900" y="5640388"/>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Line 54"/>
          <p:cNvSpPr>
            <a:spLocks noChangeShapeType="1"/>
          </p:cNvSpPr>
          <p:nvPr/>
        </p:nvSpPr>
        <p:spPr bwMode="auto">
          <a:xfrm>
            <a:off x="4451350" y="6127750"/>
            <a:ext cx="0" cy="146050"/>
          </a:xfrm>
          <a:prstGeom prst="line">
            <a:avLst/>
          </a:prstGeom>
          <a:noFill/>
          <a:ln w="4763"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9" name="Freeform 55"/>
          <p:cNvSpPr/>
          <p:nvPr/>
        </p:nvSpPr>
        <p:spPr bwMode="auto">
          <a:xfrm>
            <a:off x="4406900" y="6264275"/>
            <a:ext cx="87313" cy="128587"/>
          </a:xfrm>
          <a:custGeom>
            <a:avLst/>
            <a:gdLst>
              <a:gd name="T0" fmla="*/ 55 w 55"/>
              <a:gd name="T1" fmla="*/ 0 h 81"/>
              <a:gd name="T2" fmla="*/ 28 w 55"/>
              <a:gd name="T3" fmla="*/ 81 h 81"/>
              <a:gd name="T4" fmla="*/ 0 w 55"/>
              <a:gd name="T5" fmla="*/ 0 h 81"/>
              <a:gd name="T6" fmla="*/ 55 w 55"/>
              <a:gd name="T7" fmla="*/ 0 h 81"/>
            </a:gdLst>
            <a:ahLst/>
            <a:cxnLst>
              <a:cxn ang="0">
                <a:pos x="T0" y="T1"/>
              </a:cxn>
              <a:cxn ang="0">
                <a:pos x="T2" y="T3"/>
              </a:cxn>
              <a:cxn ang="0">
                <a:pos x="T4" y="T5"/>
              </a:cxn>
              <a:cxn ang="0">
                <a:pos x="T6" y="T7"/>
              </a:cxn>
            </a:cxnLst>
            <a:rect l="0" t="0" r="r" b="b"/>
            <a:pathLst>
              <a:path w="55" h="81">
                <a:moveTo>
                  <a:pt x="55" y="0"/>
                </a:moveTo>
                <a:lnTo>
                  <a:pt x="28" y="81"/>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cxnSp>
        <p:nvCxnSpPr>
          <p:cNvPr id="16388" name="直接箭头连接符 16387"/>
          <p:cNvCxnSpPr>
            <a:stCxn id="43" idx="1"/>
          </p:cNvCxnSpPr>
          <p:nvPr/>
        </p:nvCxnSpPr>
        <p:spPr>
          <a:xfrm flipH="1">
            <a:off x="5181600" y="3029441"/>
            <a:ext cx="1851025" cy="10710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90" name="直接箭头连接符 16389"/>
          <p:cNvCxnSpPr/>
          <p:nvPr/>
        </p:nvCxnSpPr>
        <p:spPr>
          <a:xfrm flipH="1">
            <a:off x="5473701" y="2638425"/>
            <a:ext cx="15589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92" name="直接箭头连接符 16391"/>
          <p:cNvCxnSpPr/>
          <p:nvPr/>
        </p:nvCxnSpPr>
        <p:spPr>
          <a:xfrm flipH="1" flipV="1">
            <a:off x="5297488" y="1868488"/>
            <a:ext cx="1735137" cy="5969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5</a:t>
            </a:fld>
            <a:endParaRPr lang="en-US" altLang="zh-CN"/>
          </a:p>
        </p:txBody>
      </p:sp>
      <p:sp>
        <p:nvSpPr>
          <p:cNvPr id="8" name="圆角矩形 7"/>
          <p:cNvSpPr/>
          <p:nvPr/>
        </p:nvSpPr>
        <p:spPr>
          <a:xfrm>
            <a:off x="251520" y="836712"/>
            <a:ext cx="3555424" cy="72008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SQL</a:t>
            </a:r>
            <a:r>
              <a:rPr lang="zh-CN" altLang="en-US" dirty="0"/>
              <a:t>语句（语法成分）</a:t>
            </a:r>
          </a:p>
        </p:txBody>
      </p:sp>
      <p:sp>
        <p:nvSpPr>
          <p:cNvPr id="9" name="圆角矩形 8"/>
          <p:cNvSpPr/>
          <p:nvPr/>
        </p:nvSpPr>
        <p:spPr>
          <a:xfrm>
            <a:off x="251520" y="2055912"/>
            <a:ext cx="3960440" cy="72501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SQL</a:t>
            </a:r>
            <a:r>
              <a:rPr lang="zh-CN" altLang="en-US" dirty="0"/>
              <a:t>语法树（</a:t>
            </a:r>
            <a:r>
              <a:rPr lang="en-US" altLang="zh-CN" dirty="0"/>
              <a:t>structure</a:t>
            </a:r>
            <a:r>
              <a:rPr lang="zh-CN" altLang="en-US" dirty="0"/>
              <a:t>明确）</a:t>
            </a:r>
          </a:p>
        </p:txBody>
      </p:sp>
      <p:sp>
        <p:nvSpPr>
          <p:cNvPr id="12" name="流程图: 顺序访问存储器 11"/>
          <p:cNvSpPr/>
          <p:nvPr/>
        </p:nvSpPr>
        <p:spPr>
          <a:xfrm>
            <a:off x="251520" y="3284984"/>
            <a:ext cx="3744416" cy="1903856"/>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易于设计从明确的</a:t>
            </a:r>
            <a:r>
              <a:rPr lang="en-US" altLang="zh-CN" dirty="0"/>
              <a:t>structure</a:t>
            </a:r>
            <a:r>
              <a:rPr lang="zh-CN" altLang="en-US" dirty="0"/>
              <a:t>到关系代数表达式树状结构的算法</a:t>
            </a:r>
          </a:p>
        </p:txBody>
      </p:sp>
      <p:sp>
        <p:nvSpPr>
          <p:cNvPr id="13" name="圆角矩形 12"/>
          <p:cNvSpPr/>
          <p:nvPr/>
        </p:nvSpPr>
        <p:spPr>
          <a:xfrm>
            <a:off x="251520" y="5728320"/>
            <a:ext cx="3555424" cy="72501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代数语法树（初始状态）</a:t>
            </a:r>
          </a:p>
        </p:txBody>
      </p:sp>
      <p:sp>
        <p:nvSpPr>
          <p:cNvPr id="14" name="流程图: 顺序访问存储器 13"/>
          <p:cNvSpPr/>
          <p:nvPr/>
        </p:nvSpPr>
        <p:spPr>
          <a:xfrm>
            <a:off x="4909552" y="332656"/>
            <a:ext cx="3744416" cy="2851328"/>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latin typeface="宋体" panose="02010600030101010101" pitchFamily="2" charset="-122"/>
              </a:rPr>
              <a:t>实现查询的</a:t>
            </a:r>
            <a:r>
              <a:rPr lang="zh-CN" altLang="en-US" dirty="0">
                <a:solidFill>
                  <a:srgbClr val="FF0000"/>
                </a:solidFill>
                <a:latin typeface="宋体" panose="02010600030101010101" pitchFamily="2" charset="-122"/>
              </a:rPr>
              <a:t>多解性</a:t>
            </a:r>
            <a:r>
              <a:rPr lang="zh-CN" altLang="en-US" dirty="0">
                <a:latin typeface="宋体" panose="02010600030101010101" pitchFamily="2" charset="-122"/>
              </a:rPr>
              <a:t>：一个查询可能存在多种实现途径（</a:t>
            </a:r>
            <a:r>
              <a:rPr lang="zh-CN" altLang="en-US" dirty="0">
                <a:solidFill>
                  <a:srgbClr val="FF0000"/>
                </a:solidFill>
                <a:latin typeface="宋体" panose="02010600030101010101" pitchFamily="2" charset="-122"/>
              </a:rPr>
              <a:t>逻辑顺序不同</a:t>
            </a:r>
            <a:r>
              <a:rPr lang="zh-CN" altLang="en-US" dirty="0">
                <a:latin typeface="宋体" panose="02010600030101010101" pitchFamily="2" charset="-122"/>
              </a:rPr>
              <a:t>、</a:t>
            </a:r>
            <a:r>
              <a:rPr lang="zh-CN" altLang="en-US" dirty="0">
                <a:solidFill>
                  <a:srgbClr val="FF0000"/>
                </a:solidFill>
                <a:latin typeface="宋体" panose="02010600030101010101" pitchFamily="2" charset="-122"/>
              </a:rPr>
              <a:t>算法不同</a:t>
            </a:r>
            <a:r>
              <a:rPr lang="zh-CN" altLang="en-US" dirty="0">
                <a:latin typeface="宋体" panose="02010600030101010101" pitchFamily="2" charset="-122"/>
              </a:rPr>
              <a:t>、</a:t>
            </a:r>
            <a:r>
              <a:rPr lang="zh-CN" altLang="en-US" dirty="0">
                <a:solidFill>
                  <a:srgbClr val="FF0000"/>
                </a:solidFill>
                <a:latin typeface="宋体" panose="02010600030101010101" pitchFamily="2" charset="-122"/>
              </a:rPr>
              <a:t>存取方法</a:t>
            </a:r>
            <a:r>
              <a:rPr lang="zh-CN" altLang="en-US" dirty="0">
                <a:latin typeface="宋体" panose="02010600030101010101" pitchFamily="2" charset="-122"/>
              </a:rPr>
              <a:t>不同）。</a:t>
            </a:r>
            <a:endParaRPr lang="en-US" altLang="zh-CN" dirty="0">
              <a:latin typeface="宋体" panose="02010600030101010101" pitchFamily="2" charset="-122"/>
            </a:endParaRPr>
          </a:p>
        </p:txBody>
      </p:sp>
      <p:sp>
        <p:nvSpPr>
          <p:cNvPr id="16" name="流程图: 顺序访问存储器 15"/>
          <p:cNvSpPr/>
          <p:nvPr/>
        </p:nvSpPr>
        <p:spPr>
          <a:xfrm>
            <a:off x="5076056" y="3636992"/>
            <a:ext cx="3744416" cy="2816344"/>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latin typeface="宋体" panose="02010600030101010101" pitchFamily="2" charset="-122"/>
              </a:rPr>
              <a:t>代数语法树结构可变形</a:t>
            </a:r>
            <a:r>
              <a:rPr lang="zh-CN" altLang="en-US" dirty="0">
                <a:solidFill>
                  <a:srgbClr val="FF0000"/>
                </a:solidFill>
                <a:latin typeface="宋体" panose="02010600030101010101" pitchFamily="2" charset="-122"/>
              </a:rPr>
              <a:t>（逻辑层面）</a:t>
            </a:r>
            <a:r>
              <a:rPr lang="zh-CN" altLang="en-US" dirty="0">
                <a:latin typeface="宋体" panose="02010600030101010101" pitchFamily="2" charset="-122"/>
              </a:rPr>
              <a:t>，节点的执行算法可变换</a:t>
            </a:r>
            <a:r>
              <a:rPr lang="zh-CN" altLang="en-US" dirty="0">
                <a:solidFill>
                  <a:srgbClr val="FF0000"/>
                </a:solidFill>
                <a:latin typeface="宋体" panose="02010600030101010101" pitchFamily="2" charset="-122"/>
              </a:rPr>
              <a:t>（含物理层面）</a:t>
            </a:r>
            <a:r>
              <a:rPr lang="zh-CN" altLang="en-US" dirty="0">
                <a:latin typeface="宋体" panose="02010600030101010101" pitchFamily="2" charset="-122"/>
              </a:rPr>
              <a:t>，如何变？依据什么变？</a:t>
            </a:r>
            <a:endParaRPr lang="en-US" altLang="zh-CN" dirty="0">
              <a:latin typeface="宋体" panose="02010600030101010101" pitchFamily="2" charset="-122"/>
            </a:endParaRPr>
          </a:p>
        </p:txBody>
      </p:sp>
      <p:sp>
        <p:nvSpPr>
          <p:cNvPr id="17" name="下箭头 16"/>
          <p:cNvSpPr/>
          <p:nvPr/>
        </p:nvSpPr>
        <p:spPr>
          <a:xfrm>
            <a:off x="1786916" y="1578146"/>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下箭头 17"/>
          <p:cNvSpPr/>
          <p:nvPr/>
        </p:nvSpPr>
        <p:spPr>
          <a:xfrm>
            <a:off x="1783112" y="2797324"/>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下箭头 18"/>
          <p:cNvSpPr/>
          <p:nvPr/>
        </p:nvSpPr>
        <p:spPr>
          <a:xfrm>
            <a:off x="1783112" y="5188840"/>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下箭头 19"/>
          <p:cNvSpPr/>
          <p:nvPr/>
        </p:nvSpPr>
        <p:spPr>
          <a:xfrm>
            <a:off x="6539444" y="3216394"/>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直角上箭头 20"/>
          <p:cNvSpPr/>
          <p:nvPr/>
        </p:nvSpPr>
        <p:spPr>
          <a:xfrm>
            <a:off x="3806944" y="2067350"/>
            <a:ext cx="850392" cy="4097954"/>
          </a:xfrm>
          <a:prstGeom prst="bentUpArrow">
            <a:avLst>
              <a:gd name="adj1" fmla="val 25000"/>
              <a:gd name="adj2" fmla="val 17708"/>
              <a:gd name="adj3" fmla="val 267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右箭头 21"/>
          <p:cNvSpPr/>
          <p:nvPr/>
        </p:nvSpPr>
        <p:spPr>
          <a:xfrm>
            <a:off x="4369304" y="1916832"/>
            <a:ext cx="63474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6</a:t>
            </a:fld>
            <a:endParaRPr lang="en-US" altLang="zh-CN"/>
          </a:p>
        </p:txBody>
      </p:sp>
      <p:sp>
        <p:nvSpPr>
          <p:cNvPr id="6" name="流程图: 顺序访问存储器 5"/>
          <p:cNvSpPr/>
          <p:nvPr/>
        </p:nvSpPr>
        <p:spPr>
          <a:xfrm>
            <a:off x="179512" y="1265202"/>
            <a:ext cx="3744416" cy="2235806"/>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rgbClr val="FF0000"/>
                </a:solidFill>
                <a:latin typeface="宋体" panose="02010600030101010101" pitchFamily="2" charset="-122"/>
              </a:rPr>
              <a:t>可变项太多：</a:t>
            </a:r>
            <a:endParaRPr lang="en-US" altLang="zh-CN" dirty="0">
              <a:solidFill>
                <a:srgbClr val="FF0000"/>
              </a:solidFill>
              <a:latin typeface="宋体" panose="02010600030101010101" pitchFamily="2" charset="-122"/>
            </a:endParaRPr>
          </a:p>
          <a:p>
            <a:r>
              <a:rPr lang="zh-CN" altLang="en-US" dirty="0">
                <a:latin typeface="宋体" panose="02010600030101010101" pitchFamily="2" charset="-122"/>
              </a:rPr>
              <a:t>语法树结构可变形（逻辑层面），节点的执行算法可变换（含物理层面）。</a:t>
            </a:r>
            <a:endParaRPr lang="en-US" altLang="zh-CN" dirty="0">
              <a:latin typeface="宋体" panose="02010600030101010101" pitchFamily="2" charset="-122"/>
            </a:endParaRPr>
          </a:p>
        </p:txBody>
      </p:sp>
      <p:sp>
        <p:nvSpPr>
          <p:cNvPr id="7" name="流程图: 顺序访问存储器 6"/>
          <p:cNvSpPr/>
          <p:nvPr/>
        </p:nvSpPr>
        <p:spPr>
          <a:xfrm>
            <a:off x="4788024" y="827936"/>
            <a:ext cx="4248472" cy="3369246"/>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优化机制要在一个</a:t>
            </a:r>
            <a:r>
              <a:rPr lang="zh-CN" altLang="en-US" dirty="0">
                <a:solidFill>
                  <a:srgbClr val="FF0000"/>
                </a:solidFill>
              </a:rPr>
              <a:t>策略空间（可能很庞大）</a:t>
            </a:r>
            <a:r>
              <a:rPr lang="zh-CN" altLang="en-US" dirty="0"/>
              <a:t>里找最优解，穷举法不一定可行，</a:t>
            </a:r>
            <a:r>
              <a:rPr lang="zh-CN" altLang="en-US" dirty="0">
                <a:solidFill>
                  <a:srgbClr val="FF0000"/>
                </a:solidFill>
              </a:rPr>
              <a:t>最优解未必保证能找得到</a:t>
            </a:r>
            <a:r>
              <a:rPr lang="zh-CN" altLang="en-US" dirty="0"/>
              <a:t>。</a:t>
            </a:r>
            <a:endParaRPr lang="en-US" altLang="zh-CN" dirty="0"/>
          </a:p>
          <a:p>
            <a:pPr algn="ctr"/>
            <a:r>
              <a:rPr lang="zh-CN" altLang="en-US" dirty="0"/>
              <a:t>（即使理论上最优，实际中也未必最优）</a:t>
            </a:r>
          </a:p>
        </p:txBody>
      </p:sp>
      <p:sp>
        <p:nvSpPr>
          <p:cNvPr id="9" name="圆角矩形 8"/>
          <p:cNvSpPr/>
          <p:nvPr/>
        </p:nvSpPr>
        <p:spPr>
          <a:xfrm>
            <a:off x="5508104" y="4797152"/>
            <a:ext cx="2641808" cy="18002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rgbClr val="FF0000"/>
                </a:solidFill>
              </a:rPr>
              <a:t>启发式</a:t>
            </a:r>
            <a:r>
              <a:rPr lang="zh-CN" altLang="en-US" dirty="0"/>
              <a:t>规则</a:t>
            </a:r>
            <a:endParaRPr lang="en-US" altLang="zh-CN" dirty="0"/>
          </a:p>
          <a:p>
            <a:r>
              <a:rPr lang="zh-CN" altLang="en-US" dirty="0"/>
              <a:t>（代数的、</a:t>
            </a:r>
            <a:endParaRPr lang="en-US" altLang="zh-CN" dirty="0"/>
          </a:p>
          <a:p>
            <a:r>
              <a:rPr lang="zh-CN" altLang="en-US" dirty="0"/>
              <a:t>物理操作的）；</a:t>
            </a:r>
            <a:endParaRPr lang="en-US" altLang="zh-CN" dirty="0"/>
          </a:p>
          <a:p>
            <a:endParaRPr lang="en-US" altLang="zh-CN" dirty="0"/>
          </a:p>
          <a:p>
            <a:r>
              <a:rPr lang="zh-CN" altLang="en-US" dirty="0"/>
              <a:t>代价模型</a:t>
            </a:r>
          </a:p>
        </p:txBody>
      </p:sp>
      <p:sp>
        <p:nvSpPr>
          <p:cNvPr id="11" name="右箭头 10"/>
          <p:cNvSpPr/>
          <p:nvPr/>
        </p:nvSpPr>
        <p:spPr>
          <a:xfrm>
            <a:off x="3995936" y="1772816"/>
            <a:ext cx="79208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下箭头 11"/>
          <p:cNvSpPr/>
          <p:nvPr/>
        </p:nvSpPr>
        <p:spPr>
          <a:xfrm>
            <a:off x="6586692" y="4192920"/>
            <a:ext cx="484632" cy="5760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539552" y="692696"/>
            <a:ext cx="2659702" cy="461665"/>
          </a:xfrm>
          <a:prstGeom prst="rect">
            <a:avLst/>
          </a:prstGeom>
          <a:noFill/>
        </p:spPr>
        <p:txBody>
          <a:bodyPr wrap="none" rtlCol="0">
            <a:spAutoFit/>
          </a:bodyPr>
          <a:lstStyle/>
          <a:p>
            <a:r>
              <a:rPr lang="zh-CN" altLang="en-US" b="1" dirty="0">
                <a:latin typeface="黑体" panose="02010609060101010101" pitchFamily="49" charset="-122"/>
                <a:ea typeface="黑体" panose="02010609060101010101" pitchFamily="49" charset="-122"/>
              </a:rPr>
              <a:t>查询优化的挑战性</a:t>
            </a:r>
          </a:p>
        </p:txBody>
      </p:sp>
      <p:sp>
        <p:nvSpPr>
          <p:cNvPr id="10" name="文本框 9"/>
          <p:cNvSpPr txBox="1"/>
          <p:nvPr/>
        </p:nvSpPr>
        <p:spPr>
          <a:xfrm>
            <a:off x="2195736" y="4705383"/>
            <a:ext cx="2969083" cy="461665"/>
          </a:xfrm>
          <a:prstGeom prst="rect">
            <a:avLst/>
          </a:prstGeom>
          <a:noFill/>
        </p:spPr>
        <p:txBody>
          <a:bodyPr wrap="none" rtlCol="0">
            <a:spAutoFit/>
          </a:bodyPr>
          <a:lstStyle/>
          <a:p>
            <a:r>
              <a:rPr lang="zh-CN" altLang="en-US" b="1" dirty="0">
                <a:latin typeface="黑体" panose="02010609060101010101" pitchFamily="49" charset="-122"/>
                <a:ea typeface="黑体" panose="02010609060101010101" pitchFamily="49" charset="-122"/>
              </a:rPr>
              <a:t>查询优化的一般原理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604838"/>
            <a:ext cx="8162925" cy="762000"/>
          </a:xfrm>
        </p:spPr>
        <p:txBody>
          <a:bodyPr>
            <a:normAutofit fontScale="90000"/>
          </a:bodyPr>
          <a:lstStyle/>
          <a:p>
            <a:pPr eaLnBrk="1" fontAlgn="auto" hangingPunct="1">
              <a:spcAft>
                <a:spcPts val="0"/>
              </a:spcAft>
              <a:defRPr/>
            </a:pPr>
            <a:r>
              <a:rPr lang="zh-CN" altLang="en-US" dirty="0"/>
              <a:t>基本概念2</a:t>
            </a:r>
          </a:p>
        </p:txBody>
      </p:sp>
      <p:sp>
        <p:nvSpPr>
          <p:cNvPr id="23554" name="Rectangle 3"/>
          <p:cNvSpPr>
            <a:spLocks noGrp="1" noChangeArrowheads="1"/>
          </p:cNvSpPr>
          <p:nvPr>
            <p:ph idx="1"/>
          </p:nvPr>
        </p:nvSpPr>
        <p:spPr>
          <a:xfrm>
            <a:off x="381000" y="1628800"/>
            <a:ext cx="8110538" cy="4157638"/>
          </a:xfrm>
        </p:spPr>
        <p:txBody>
          <a:bodyPr/>
          <a:lstStyle/>
          <a:p>
            <a:pPr eaLnBrk="1" hangingPunct="1"/>
            <a:r>
              <a:rPr lang="zh-CN" altLang="en-US" dirty="0"/>
              <a:t>选择运算的实现方法（参见课件第</a:t>
            </a:r>
            <a:r>
              <a:rPr lang="en-US" altLang="zh-CN" dirty="0"/>
              <a:t>8</a:t>
            </a:r>
            <a:r>
              <a:rPr lang="zh-CN" altLang="en-US" dirty="0"/>
              <a:t>章）：</a:t>
            </a:r>
            <a:endParaRPr lang="en-US" altLang="zh-CN" dirty="0"/>
          </a:p>
          <a:p>
            <a:pPr eaLnBrk="1" hangingPunct="1"/>
            <a:r>
              <a:rPr lang="en-US" altLang="zh-CN" dirty="0"/>
              <a:t>     </a:t>
            </a:r>
            <a:r>
              <a:rPr lang="zh-CN" altLang="en-US" dirty="0"/>
              <a:t>全表扫描</a:t>
            </a:r>
          </a:p>
          <a:p>
            <a:pPr eaLnBrk="1" hangingPunct="1"/>
            <a:r>
              <a:rPr lang="zh-CN" altLang="en-US" dirty="0"/>
              <a:t>     索引扫描</a:t>
            </a:r>
          </a:p>
          <a:p>
            <a:pPr eaLnBrk="1" hangingPunct="1"/>
            <a:r>
              <a:rPr lang="zh-CN" altLang="en-US" dirty="0"/>
              <a:t>连接运算的实现方法：</a:t>
            </a:r>
            <a:endParaRPr lang="en-US" altLang="zh-CN" dirty="0"/>
          </a:p>
          <a:p>
            <a:pPr eaLnBrk="1" hangingPunct="1"/>
            <a:r>
              <a:rPr lang="en-US" altLang="zh-CN" dirty="0"/>
              <a:t>     </a:t>
            </a:r>
            <a:r>
              <a:rPr lang="zh-CN" altLang="en-US" dirty="0"/>
              <a:t>嵌套循环连接（</a:t>
            </a:r>
            <a:r>
              <a:rPr lang="en-US" altLang="zh-CN" dirty="0"/>
              <a:t>nested loop）</a:t>
            </a:r>
          </a:p>
          <a:p>
            <a:pPr eaLnBrk="1" hangingPunct="1"/>
            <a:r>
              <a:rPr lang="zh-CN" altLang="en-US" dirty="0"/>
              <a:t>     排序</a:t>
            </a:r>
            <a:r>
              <a:rPr lang="zh-CN" altLang="en-US" dirty="0">
                <a:latin typeface="Times New Roman" panose="02020603050405020304" pitchFamily="18" charset="0"/>
              </a:rPr>
              <a:t>—</a:t>
            </a:r>
            <a:r>
              <a:rPr lang="zh-CN" altLang="en-US" dirty="0"/>
              <a:t>合并连接（</a:t>
            </a:r>
            <a:r>
              <a:rPr lang="en-US" altLang="zh-CN" dirty="0"/>
              <a:t>sort-merge join）</a:t>
            </a:r>
          </a:p>
          <a:p>
            <a:pPr eaLnBrk="1" hangingPunct="1"/>
            <a:r>
              <a:rPr lang="en-US" altLang="zh-CN" dirty="0"/>
              <a:t>     Hash</a:t>
            </a:r>
            <a:r>
              <a:rPr lang="zh-CN" altLang="en-US" dirty="0"/>
              <a:t>连接（</a:t>
            </a:r>
            <a:r>
              <a:rPr lang="en-US" altLang="zh-CN" dirty="0"/>
              <a:t>hash join）</a:t>
            </a:r>
          </a:p>
          <a:p>
            <a:pPr eaLnBrk="1" hangingPunct="1"/>
            <a:r>
              <a:rPr lang="zh-CN" altLang="en-US" dirty="0"/>
              <a:t>     索引连接（</a:t>
            </a:r>
            <a:r>
              <a:rPr lang="en-US" altLang="zh-CN" dirty="0"/>
              <a:t>index join）</a:t>
            </a:r>
          </a:p>
        </p:txBody>
      </p:sp>
      <p:sp>
        <p:nvSpPr>
          <p:cNvPr id="23555" name="AutoShape 4"/>
          <p:cNvSpPr>
            <a:spLocks noChangeArrowheads="1"/>
          </p:cNvSpPr>
          <p:nvPr/>
        </p:nvSpPr>
        <p:spPr bwMode="auto">
          <a:xfrm>
            <a:off x="8027988" y="271462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23556" name="AutoShape 5"/>
          <p:cNvSpPr>
            <a:spLocks noChangeArrowheads="1"/>
          </p:cNvSpPr>
          <p:nvPr/>
        </p:nvSpPr>
        <p:spPr bwMode="auto">
          <a:xfrm>
            <a:off x="8027988" y="4572000"/>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23557" name="AutoShape 6"/>
          <p:cNvSpPr>
            <a:spLocks noChangeArrowheads="1"/>
          </p:cNvSpPr>
          <p:nvPr/>
        </p:nvSpPr>
        <p:spPr bwMode="auto">
          <a:xfrm>
            <a:off x="8027988" y="357028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23558" name="AutoShape 7"/>
          <p:cNvSpPr>
            <a:spLocks noChangeArrowheads="1"/>
          </p:cNvSpPr>
          <p:nvPr/>
        </p:nvSpPr>
        <p:spPr bwMode="auto">
          <a:xfrm>
            <a:off x="8027988" y="42148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8" name="灯片编号占位符 7"/>
          <p:cNvSpPr>
            <a:spLocks noGrp="1"/>
          </p:cNvSpPr>
          <p:nvPr>
            <p:ph type="sldNum" sz="quarter" idx="12"/>
          </p:nvPr>
        </p:nvSpPr>
        <p:spPr/>
        <p:txBody>
          <a:bodyPr/>
          <a:lstStyle/>
          <a:p>
            <a:pPr>
              <a:defRPr/>
            </a:pPr>
            <a:fld id="{6DE50BEB-C4F5-407B-B2BA-BCE1E6A4E019}" type="slidenum">
              <a:rPr lang="zh-CN" altLang="en-US" smtClean="0"/>
              <a:t>7</a:t>
            </a:fld>
            <a:endParaRPr lang="en-US" altLang="zh-CN"/>
          </a:p>
        </p:txBody>
      </p:sp>
      <p:sp>
        <p:nvSpPr>
          <p:cNvPr id="23560" name="AutoShape 7"/>
          <p:cNvSpPr>
            <a:spLocks noChangeArrowheads="1"/>
          </p:cNvSpPr>
          <p:nvPr/>
        </p:nvSpPr>
        <p:spPr bwMode="auto">
          <a:xfrm>
            <a:off x="8069263" y="500062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10" name="圆角矩形标注 9"/>
          <p:cNvSpPr/>
          <p:nvPr/>
        </p:nvSpPr>
        <p:spPr>
          <a:xfrm>
            <a:off x="1331640" y="5445224"/>
            <a:ext cx="7056784" cy="1340768"/>
          </a:xfrm>
          <a:prstGeom prst="wedgeRoundRectCallout">
            <a:avLst>
              <a:gd name="adj1" fmla="val 14417"/>
              <a:gd name="adj2" fmla="val -12466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两个关系是否只扫描一次？</a:t>
            </a:r>
            <a:endParaRPr lang="en-US" altLang="zh-CN" dirty="0"/>
          </a:p>
          <a:p>
            <a:r>
              <a:rPr lang="zh-CN" altLang="en-US" dirty="0"/>
              <a:t>如果两个关系的连接属性均存在重复值又会如何？</a:t>
            </a:r>
            <a:endParaRPr lang="en-US" altLang="zh-CN" dirty="0"/>
          </a:p>
          <a:p>
            <a:r>
              <a:rPr lang="en-US" altLang="zh-CN" dirty="0"/>
              <a:t>HASH</a:t>
            </a:r>
            <a:r>
              <a:rPr lang="zh-CN" altLang="en-US" dirty="0"/>
              <a:t>连接</a:t>
            </a:r>
          </a:p>
        </p:txBody>
      </p:sp>
      <p:sp>
        <p:nvSpPr>
          <p:cNvPr id="2" name="圆角矩形标注 1"/>
          <p:cNvSpPr/>
          <p:nvPr/>
        </p:nvSpPr>
        <p:spPr>
          <a:xfrm>
            <a:off x="4404250" y="2178921"/>
            <a:ext cx="3496816" cy="1004810"/>
          </a:xfrm>
          <a:prstGeom prst="wedgeRoundRectCallout">
            <a:avLst>
              <a:gd name="adj1" fmla="val -70047"/>
              <a:gd name="adj2" fmla="val 59054"/>
              <a:gd name="adj3" fmla="val 1666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mn-ea"/>
              </a:rPr>
              <a:t>教材</a:t>
            </a:r>
            <a:r>
              <a:rPr lang="en-US" altLang="zh-CN" dirty="0">
                <a:solidFill>
                  <a:srgbClr val="FF0000"/>
                </a:solidFill>
                <a:latin typeface="+mn-ea"/>
              </a:rPr>
              <a:t>10.1.2</a:t>
            </a:r>
            <a:r>
              <a:rPr lang="zh-CN" altLang="en-US" dirty="0">
                <a:solidFill>
                  <a:srgbClr val="FF0000"/>
                </a:solidFill>
                <a:latin typeface="+mn-ea"/>
              </a:rPr>
              <a:t>节算法具体实现过程，掌握原理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779934"/>
          </a:xfrm>
        </p:spPr>
        <p:txBody>
          <a:bodyPr/>
          <a:lstStyle/>
          <a:p>
            <a:r>
              <a:rPr lang="zh-CN" altLang="en-US" sz="3600" dirty="0"/>
              <a:t>嵌套循环连接算法（</a:t>
            </a:r>
            <a:r>
              <a:rPr lang="en-US" altLang="zh-CN" sz="3600" dirty="0"/>
              <a:t>nested loop）</a:t>
            </a:r>
            <a:endParaRPr lang="zh-CN" altLang="en-US" sz="3600" dirty="0"/>
          </a:p>
        </p:txBody>
      </p:sp>
      <p:sp>
        <p:nvSpPr>
          <p:cNvPr id="3" name="内容占位符 2"/>
          <p:cNvSpPr>
            <a:spLocks noGrp="1"/>
          </p:cNvSpPr>
          <p:nvPr>
            <p:ph idx="1"/>
          </p:nvPr>
        </p:nvSpPr>
        <p:spPr/>
        <p:txBody>
          <a:bodyPr/>
          <a:lstStyle/>
          <a:p>
            <a:r>
              <a:rPr lang="en-US" altLang="zh-CN" dirty="0"/>
              <a:t>For </a:t>
            </a:r>
            <a:r>
              <a:rPr lang="zh-CN" altLang="en-US" dirty="0"/>
              <a:t>外层循环对应关系</a:t>
            </a:r>
            <a:r>
              <a:rPr lang="en-US" altLang="zh-CN" dirty="0"/>
              <a:t>R</a:t>
            </a:r>
            <a:r>
              <a:rPr lang="zh-CN" altLang="en-US" dirty="0"/>
              <a:t>的每个元组</a:t>
            </a:r>
            <a:r>
              <a:rPr lang="en-US" altLang="zh-CN" dirty="0"/>
              <a:t>r </a:t>
            </a:r>
            <a:r>
              <a:rPr lang="zh-CN" altLang="en-US" dirty="0"/>
              <a:t>：</a:t>
            </a:r>
            <a:endParaRPr lang="en-US" altLang="zh-CN" dirty="0"/>
          </a:p>
          <a:p>
            <a:r>
              <a:rPr lang="zh-CN" altLang="en-US" dirty="0"/>
              <a:t>    </a:t>
            </a:r>
            <a:r>
              <a:rPr lang="en-US" altLang="zh-CN" dirty="0"/>
              <a:t>for </a:t>
            </a:r>
            <a:r>
              <a:rPr lang="zh-CN" altLang="en-US" dirty="0"/>
              <a:t>内存循环对应关系</a:t>
            </a:r>
            <a:r>
              <a:rPr lang="en-US" altLang="zh-CN" dirty="0"/>
              <a:t>S</a:t>
            </a:r>
            <a:r>
              <a:rPr lang="zh-CN" altLang="en-US" dirty="0"/>
              <a:t>中的每一个元组</a:t>
            </a:r>
            <a:r>
              <a:rPr lang="en-US" altLang="zh-CN" dirty="0"/>
              <a:t>s</a:t>
            </a:r>
            <a:r>
              <a:rPr lang="zh-CN" altLang="en-US" dirty="0"/>
              <a:t>：</a:t>
            </a:r>
            <a:endParaRPr lang="en-US" altLang="zh-CN" dirty="0"/>
          </a:p>
          <a:p>
            <a:pPr marL="897255" indent="-897255"/>
            <a:r>
              <a:rPr lang="en-US" altLang="zh-CN" dirty="0"/>
              <a:t>        if r</a:t>
            </a:r>
            <a:r>
              <a:rPr lang="zh-CN" altLang="en-US" dirty="0"/>
              <a:t>和</a:t>
            </a:r>
            <a:r>
              <a:rPr lang="en-US" altLang="zh-CN" dirty="0"/>
              <a:t>s</a:t>
            </a:r>
            <a:r>
              <a:rPr lang="zh-CN" altLang="en-US" dirty="0"/>
              <a:t>满足连接条件：将</a:t>
            </a:r>
            <a:r>
              <a:rPr lang="en-US" altLang="zh-CN" dirty="0"/>
              <a:t>r</a:t>
            </a:r>
            <a:r>
              <a:rPr lang="zh-CN" altLang="en-US" dirty="0"/>
              <a:t>和</a:t>
            </a:r>
            <a:r>
              <a:rPr lang="en-US" altLang="zh-CN" dirty="0"/>
              <a:t>s</a:t>
            </a:r>
            <a:r>
              <a:rPr lang="zh-CN" altLang="en-US" dirty="0"/>
              <a:t>连接结果添加至临时结果集合 </a:t>
            </a:r>
            <a:r>
              <a:rPr lang="en-US" altLang="zh-CN" dirty="0"/>
              <a:t>result</a:t>
            </a:r>
            <a:r>
              <a:rPr lang="zh-CN" altLang="en-US" dirty="0"/>
              <a:t>；</a:t>
            </a:r>
            <a:endParaRPr lang="en-US" altLang="zh-CN" dirty="0"/>
          </a:p>
          <a:p>
            <a:pPr marL="897255" indent="-897255"/>
            <a:r>
              <a:rPr lang="en-US" altLang="zh-CN" dirty="0"/>
              <a:t>Return </a:t>
            </a:r>
            <a:r>
              <a:rPr lang="zh-CN" altLang="en-US" dirty="0"/>
              <a:t> </a:t>
            </a:r>
            <a:r>
              <a:rPr lang="en-US" altLang="zh-CN" dirty="0"/>
              <a:t>result</a:t>
            </a:r>
            <a:r>
              <a:rPr lang="zh-CN" altLang="en-US" dirty="0"/>
              <a:t>；</a:t>
            </a:r>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8</a:t>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1527" y="21577"/>
            <a:ext cx="8229600" cy="707926"/>
          </a:xfrm>
        </p:spPr>
        <p:txBody>
          <a:bodyPr/>
          <a:lstStyle/>
          <a:p>
            <a:r>
              <a:rPr lang="zh-CN" altLang="en-US" sz="3600" dirty="0"/>
              <a:t>排序</a:t>
            </a:r>
            <a:r>
              <a:rPr lang="zh-CN" altLang="en-US" sz="3600" dirty="0">
                <a:latin typeface="Times New Roman" panose="02020603050405020304" pitchFamily="18" charset="0"/>
              </a:rPr>
              <a:t>—</a:t>
            </a:r>
            <a:r>
              <a:rPr lang="zh-CN" altLang="en-US" sz="3600" dirty="0"/>
              <a:t>合并连接（</a:t>
            </a:r>
            <a:r>
              <a:rPr lang="en-US" altLang="zh-CN" sz="3600" dirty="0"/>
              <a:t>sort-merge join）</a:t>
            </a:r>
            <a:endParaRPr lang="zh-CN" altLang="en-US" sz="3600" dirty="0"/>
          </a:p>
        </p:txBody>
      </p:sp>
      <p:sp>
        <p:nvSpPr>
          <p:cNvPr id="3" name="内容占位符 2"/>
          <p:cNvSpPr>
            <a:spLocks noGrp="1"/>
          </p:cNvSpPr>
          <p:nvPr>
            <p:ph idx="1"/>
          </p:nvPr>
        </p:nvSpPr>
        <p:spPr>
          <a:xfrm>
            <a:off x="451526" y="836711"/>
            <a:ext cx="8440953" cy="5884763"/>
          </a:xfrm>
        </p:spPr>
        <p:txBody>
          <a:bodyPr/>
          <a:lstStyle/>
          <a:p>
            <a:r>
              <a:rPr lang="en-US" altLang="zh-CN" sz="2200" dirty="0">
                <a:solidFill>
                  <a:srgbClr val="0000FF"/>
                </a:solidFill>
              </a:rPr>
              <a:t>1 If </a:t>
            </a:r>
            <a:r>
              <a:rPr lang="zh-CN" altLang="en-US" sz="2200" dirty="0">
                <a:solidFill>
                  <a:srgbClr val="0000FF"/>
                </a:solidFill>
              </a:rPr>
              <a:t>参与连接的关系</a:t>
            </a:r>
            <a:r>
              <a:rPr lang="en-US" altLang="zh-CN" sz="2200" dirty="0">
                <a:solidFill>
                  <a:srgbClr val="0000FF"/>
                </a:solidFill>
              </a:rPr>
              <a:t>R</a:t>
            </a:r>
            <a:r>
              <a:rPr lang="zh-CN" altLang="en-US" sz="2200" dirty="0">
                <a:solidFill>
                  <a:srgbClr val="0000FF"/>
                </a:solidFill>
              </a:rPr>
              <a:t>和</a:t>
            </a:r>
            <a:r>
              <a:rPr lang="en-US" altLang="zh-CN" sz="2200" dirty="0">
                <a:solidFill>
                  <a:srgbClr val="0000FF"/>
                </a:solidFill>
              </a:rPr>
              <a:t>S</a:t>
            </a:r>
            <a:r>
              <a:rPr lang="zh-CN" altLang="en-US" sz="2200" dirty="0">
                <a:solidFill>
                  <a:srgbClr val="0000FF"/>
                </a:solidFill>
              </a:rPr>
              <a:t>没有排好序： 先按照连接属性对它们排序（升序）；</a:t>
            </a:r>
            <a:endParaRPr lang="en-US" altLang="zh-CN" sz="2200" dirty="0">
              <a:solidFill>
                <a:srgbClr val="0000FF"/>
              </a:solidFill>
            </a:endParaRPr>
          </a:p>
          <a:p>
            <a:r>
              <a:rPr lang="en-US" altLang="zh-CN" sz="2200" dirty="0">
                <a:solidFill>
                  <a:srgbClr val="0000FF"/>
                </a:solidFill>
              </a:rPr>
              <a:t>2 </a:t>
            </a:r>
            <a:r>
              <a:rPr lang="zh-CN" altLang="en-US" sz="2200" dirty="0">
                <a:solidFill>
                  <a:srgbClr val="0000FF"/>
                </a:solidFill>
              </a:rPr>
              <a:t>初始化两个扫描指针</a:t>
            </a:r>
            <a:r>
              <a:rPr lang="en-US" altLang="zh-CN" sz="2200" dirty="0">
                <a:solidFill>
                  <a:srgbClr val="0000FF"/>
                </a:solidFill>
              </a:rPr>
              <a:t>CUR</a:t>
            </a:r>
            <a:r>
              <a:rPr lang="en-US" altLang="zh-CN" sz="2200" baseline="-25000" dirty="0">
                <a:solidFill>
                  <a:srgbClr val="0000FF"/>
                </a:solidFill>
              </a:rPr>
              <a:t>R</a:t>
            </a:r>
            <a:r>
              <a:rPr lang="zh-CN" altLang="en-US" sz="2200" dirty="0">
                <a:solidFill>
                  <a:srgbClr val="0000FF"/>
                </a:solidFill>
              </a:rPr>
              <a:t>和</a:t>
            </a:r>
            <a:r>
              <a:rPr lang="en-US" altLang="zh-CN" sz="2200" dirty="0">
                <a:solidFill>
                  <a:srgbClr val="0000FF"/>
                </a:solidFill>
              </a:rPr>
              <a:t>CUR</a:t>
            </a:r>
            <a:r>
              <a:rPr lang="en-US" altLang="zh-CN" sz="2200" baseline="-25000" dirty="0">
                <a:solidFill>
                  <a:srgbClr val="0000FF"/>
                </a:solidFill>
              </a:rPr>
              <a:t>S</a:t>
            </a:r>
            <a:r>
              <a:rPr lang="zh-CN" altLang="en-US" sz="2200" dirty="0">
                <a:solidFill>
                  <a:srgbClr val="0000FF"/>
                </a:solidFill>
              </a:rPr>
              <a:t>分别指向</a:t>
            </a:r>
            <a:r>
              <a:rPr lang="en-US" altLang="zh-CN" sz="2200" dirty="0">
                <a:solidFill>
                  <a:srgbClr val="0000FF"/>
                </a:solidFill>
              </a:rPr>
              <a:t>R</a:t>
            </a:r>
            <a:r>
              <a:rPr lang="zh-CN" altLang="en-US" sz="2200" dirty="0">
                <a:solidFill>
                  <a:srgbClr val="0000FF"/>
                </a:solidFill>
              </a:rPr>
              <a:t>和</a:t>
            </a:r>
            <a:r>
              <a:rPr lang="en-US" altLang="zh-CN" sz="2200" dirty="0">
                <a:solidFill>
                  <a:srgbClr val="0000FF"/>
                </a:solidFill>
              </a:rPr>
              <a:t>S</a:t>
            </a:r>
            <a:r>
              <a:rPr lang="zh-CN" altLang="en-US" sz="2200" dirty="0">
                <a:solidFill>
                  <a:srgbClr val="0000FF"/>
                </a:solidFill>
              </a:rPr>
              <a:t>的第一个元组；</a:t>
            </a:r>
            <a:endParaRPr lang="en-US" altLang="zh-CN" sz="2200" dirty="0">
              <a:solidFill>
                <a:srgbClr val="0000FF"/>
              </a:solidFill>
            </a:endParaRPr>
          </a:p>
          <a:p>
            <a:r>
              <a:rPr lang="en-US" altLang="zh-CN" sz="2200" dirty="0">
                <a:solidFill>
                  <a:srgbClr val="0000FF"/>
                </a:solidFill>
              </a:rPr>
              <a:t>3 If CUR</a:t>
            </a:r>
            <a:r>
              <a:rPr lang="en-US" altLang="zh-CN" sz="2200" baseline="-25000" dirty="0">
                <a:solidFill>
                  <a:srgbClr val="0000FF"/>
                </a:solidFill>
              </a:rPr>
              <a:t>S</a:t>
            </a:r>
            <a:r>
              <a:rPr lang="zh-CN" altLang="en-US" sz="2200" dirty="0">
                <a:solidFill>
                  <a:srgbClr val="0000FF"/>
                </a:solidFill>
              </a:rPr>
              <a:t>的连接属性</a:t>
            </a:r>
            <a:r>
              <a:rPr lang="en-US" altLang="zh-CN" sz="2200" dirty="0">
                <a:solidFill>
                  <a:srgbClr val="0000FF"/>
                </a:solidFill>
              </a:rPr>
              <a:t>A</a:t>
            </a:r>
            <a:r>
              <a:rPr lang="zh-CN" altLang="en-US" sz="2200" dirty="0">
                <a:solidFill>
                  <a:srgbClr val="0000FF"/>
                </a:solidFill>
              </a:rPr>
              <a:t>小于</a:t>
            </a:r>
            <a:r>
              <a:rPr lang="en-US" altLang="zh-CN" sz="2200" dirty="0">
                <a:solidFill>
                  <a:srgbClr val="0000FF"/>
                </a:solidFill>
              </a:rPr>
              <a:t>CUR</a:t>
            </a:r>
            <a:r>
              <a:rPr lang="en-US" altLang="zh-CN" sz="2200" baseline="-25000" dirty="0">
                <a:solidFill>
                  <a:srgbClr val="0000FF"/>
                </a:solidFill>
              </a:rPr>
              <a:t>R</a:t>
            </a:r>
            <a:r>
              <a:rPr lang="zh-CN" altLang="en-US" sz="2200" dirty="0">
                <a:solidFill>
                  <a:srgbClr val="0000FF"/>
                </a:solidFill>
              </a:rPr>
              <a:t>的连接属性</a:t>
            </a:r>
            <a:r>
              <a:rPr lang="en-US" altLang="zh-CN" sz="2200" dirty="0">
                <a:solidFill>
                  <a:srgbClr val="0000FF"/>
                </a:solidFill>
              </a:rPr>
              <a:t>A</a:t>
            </a:r>
            <a:r>
              <a:rPr lang="zh-CN" altLang="en-US" sz="2200" dirty="0">
                <a:solidFill>
                  <a:srgbClr val="0000FF"/>
                </a:solidFill>
              </a:rPr>
              <a:t>：将扫描指针</a:t>
            </a:r>
            <a:r>
              <a:rPr lang="en-US" altLang="zh-CN" sz="2200" dirty="0">
                <a:solidFill>
                  <a:srgbClr val="0000FF"/>
                </a:solidFill>
              </a:rPr>
              <a:t>CUR</a:t>
            </a:r>
            <a:r>
              <a:rPr lang="en-US" altLang="zh-CN" sz="2200" baseline="-25000" dirty="0">
                <a:solidFill>
                  <a:srgbClr val="0000FF"/>
                </a:solidFill>
              </a:rPr>
              <a:t>S</a:t>
            </a:r>
            <a:r>
              <a:rPr lang="zh-CN" altLang="en-US" sz="2200" dirty="0">
                <a:solidFill>
                  <a:srgbClr val="0000FF"/>
                </a:solidFill>
              </a:rPr>
              <a:t>向后移动直至指向的</a:t>
            </a:r>
            <a:r>
              <a:rPr lang="en-US" altLang="zh-CN" sz="2200" dirty="0">
                <a:solidFill>
                  <a:srgbClr val="0000FF"/>
                </a:solidFill>
              </a:rPr>
              <a:t>S</a:t>
            </a:r>
            <a:r>
              <a:rPr lang="zh-CN" altLang="en-US" sz="2200" dirty="0">
                <a:solidFill>
                  <a:srgbClr val="0000FF"/>
                </a:solidFill>
              </a:rPr>
              <a:t>元组满足和</a:t>
            </a:r>
            <a:r>
              <a:rPr lang="en-US" altLang="zh-CN" sz="2200" dirty="0">
                <a:solidFill>
                  <a:srgbClr val="0000FF"/>
                </a:solidFill>
              </a:rPr>
              <a:t>CUR</a:t>
            </a:r>
            <a:r>
              <a:rPr lang="en-US" altLang="zh-CN" sz="2200" baseline="-25000" dirty="0">
                <a:solidFill>
                  <a:srgbClr val="0000FF"/>
                </a:solidFill>
              </a:rPr>
              <a:t>R</a:t>
            </a:r>
            <a:r>
              <a:rPr lang="zh-CN" altLang="en-US" sz="2200" dirty="0">
                <a:solidFill>
                  <a:srgbClr val="0000FF"/>
                </a:solidFill>
              </a:rPr>
              <a:t>的连接条件；</a:t>
            </a:r>
            <a:endParaRPr lang="en-US" altLang="zh-CN" sz="2200" dirty="0">
              <a:solidFill>
                <a:srgbClr val="0000FF"/>
              </a:solidFill>
            </a:endParaRPr>
          </a:p>
          <a:p>
            <a:r>
              <a:rPr lang="en-US" altLang="zh-CN" sz="2200" dirty="0"/>
              <a:t>4 </a:t>
            </a:r>
            <a:r>
              <a:rPr lang="zh-CN" altLang="en-US" sz="2200" dirty="0"/>
              <a:t>将当前</a:t>
            </a:r>
            <a:r>
              <a:rPr lang="en-US" altLang="zh-CN" sz="2200" dirty="0"/>
              <a:t>CUR</a:t>
            </a:r>
            <a:r>
              <a:rPr lang="en-US" altLang="zh-CN" sz="2200" baseline="-25000" dirty="0"/>
              <a:t>R</a:t>
            </a:r>
            <a:r>
              <a:rPr lang="zh-CN" altLang="en-US" sz="2200" dirty="0"/>
              <a:t>和</a:t>
            </a:r>
            <a:r>
              <a:rPr lang="en-US" altLang="zh-CN" sz="2200" dirty="0"/>
              <a:t>CUR</a:t>
            </a:r>
            <a:r>
              <a:rPr lang="en-US" altLang="zh-CN" sz="2200" baseline="-25000" dirty="0"/>
              <a:t>S</a:t>
            </a:r>
            <a:r>
              <a:rPr lang="zh-CN" altLang="en-US" sz="2200" dirty="0"/>
              <a:t>的元组连接后保存至临时结果集合</a:t>
            </a:r>
            <a:r>
              <a:rPr lang="en-US" altLang="zh-CN" sz="2200" dirty="0"/>
              <a:t>result</a:t>
            </a:r>
            <a:r>
              <a:rPr lang="zh-CN" altLang="en-US" sz="2200" dirty="0"/>
              <a:t>；</a:t>
            </a:r>
            <a:endParaRPr lang="en-US" altLang="zh-CN" sz="2200" dirty="0"/>
          </a:p>
          <a:p>
            <a:r>
              <a:rPr lang="en-US" altLang="zh-CN" sz="2200" dirty="0"/>
              <a:t>5 While R</a:t>
            </a:r>
            <a:r>
              <a:rPr lang="zh-CN" altLang="en-US" sz="2200" dirty="0"/>
              <a:t>未扫描完</a:t>
            </a:r>
            <a:r>
              <a:rPr lang="en-US" altLang="zh-CN" sz="2200" dirty="0"/>
              <a:t>{ </a:t>
            </a:r>
          </a:p>
          <a:p>
            <a:r>
              <a:rPr lang="en-US" altLang="zh-CN" sz="2200" dirty="0"/>
              <a:t>6    while CUR</a:t>
            </a:r>
            <a:r>
              <a:rPr lang="en-US" altLang="zh-CN" sz="2200" baseline="-25000" dirty="0"/>
              <a:t>S</a:t>
            </a:r>
            <a:r>
              <a:rPr lang="zh-CN" altLang="en-US" sz="2200" dirty="0"/>
              <a:t>满足与</a:t>
            </a:r>
            <a:r>
              <a:rPr lang="en-US" altLang="zh-CN" sz="2200" dirty="0"/>
              <a:t>CUR</a:t>
            </a:r>
            <a:r>
              <a:rPr lang="en-US" altLang="zh-CN" sz="2200" baseline="-25000" dirty="0"/>
              <a:t>R</a:t>
            </a:r>
            <a:r>
              <a:rPr lang="zh-CN" altLang="en-US" sz="2200" dirty="0"/>
              <a:t>的连接条件</a:t>
            </a:r>
            <a:r>
              <a:rPr lang="en-US" altLang="zh-CN" sz="2200" dirty="0"/>
              <a:t>{</a:t>
            </a:r>
          </a:p>
          <a:p>
            <a:pPr marL="805180" indent="-805180"/>
            <a:r>
              <a:rPr lang="en-US" altLang="zh-CN" sz="2200" dirty="0"/>
              <a:t>7      </a:t>
            </a:r>
            <a:r>
              <a:rPr lang="zh-CN" altLang="en-US" sz="2200" dirty="0"/>
              <a:t>将当前</a:t>
            </a:r>
            <a:r>
              <a:rPr lang="en-US" altLang="zh-CN" sz="2200" dirty="0"/>
              <a:t>CUR</a:t>
            </a:r>
            <a:r>
              <a:rPr lang="en-US" altLang="zh-CN" sz="2200" baseline="-25000" dirty="0"/>
              <a:t>R</a:t>
            </a:r>
            <a:r>
              <a:rPr lang="zh-CN" altLang="en-US" sz="2200" dirty="0"/>
              <a:t>和</a:t>
            </a:r>
            <a:r>
              <a:rPr lang="en-US" altLang="zh-CN" sz="2200" dirty="0"/>
              <a:t>CUR</a:t>
            </a:r>
            <a:r>
              <a:rPr lang="en-US" altLang="zh-CN" sz="2200" baseline="-25000" dirty="0"/>
              <a:t>S</a:t>
            </a:r>
            <a:r>
              <a:rPr lang="zh-CN" altLang="en-US" sz="2200" dirty="0"/>
              <a:t>的元组连接后保存至临时结果集合</a:t>
            </a:r>
            <a:r>
              <a:rPr lang="en-US" altLang="zh-CN" sz="2200" dirty="0"/>
              <a:t>result</a:t>
            </a:r>
            <a:r>
              <a:rPr lang="zh-CN" altLang="en-US" sz="2200" dirty="0"/>
              <a:t>；</a:t>
            </a:r>
            <a:endParaRPr lang="en-US" altLang="zh-CN" sz="2200" dirty="0"/>
          </a:p>
          <a:p>
            <a:pPr marL="805180" indent="-805180"/>
            <a:r>
              <a:rPr lang="en-US" altLang="zh-CN" sz="2200" dirty="0"/>
              <a:t>8      </a:t>
            </a:r>
            <a:r>
              <a:rPr lang="en-US" altLang="zh-CN" sz="2200" dirty="0">
                <a:solidFill>
                  <a:srgbClr val="FF0000"/>
                </a:solidFill>
              </a:rPr>
              <a:t>CUR</a:t>
            </a:r>
            <a:r>
              <a:rPr lang="en-US" altLang="zh-CN" sz="2200" baseline="-25000" dirty="0">
                <a:solidFill>
                  <a:srgbClr val="FF0000"/>
                </a:solidFill>
              </a:rPr>
              <a:t>S</a:t>
            </a:r>
            <a:r>
              <a:rPr lang="zh-CN" altLang="en-US" sz="2200" dirty="0">
                <a:solidFill>
                  <a:srgbClr val="FF0000"/>
                </a:solidFill>
              </a:rPr>
              <a:t>向后移动</a:t>
            </a:r>
            <a:r>
              <a:rPr lang="en-US" altLang="zh-CN" sz="2200" dirty="0"/>
              <a:t>;</a:t>
            </a:r>
          </a:p>
          <a:p>
            <a:pPr marL="805180" indent="-805180"/>
            <a:r>
              <a:rPr lang="en-US" altLang="zh-CN" sz="2200" dirty="0"/>
              <a:t>      }</a:t>
            </a:r>
          </a:p>
          <a:p>
            <a:pPr marL="805180" indent="-805180"/>
            <a:r>
              <a:rPr lang="en-US" altLang="zh-CN" sz="2200" dirty="0"/>
              <a:t>9      </a:t>
            </a:r>
            <a:r>
              <a:rPr lang="en-US" altLang="zh-CN" sz="2200" dirty="0">
                <a:solidFill>
                  <a:srgbClr val="FF0000"/>
                </a:solidFill>
              </a:rPr>
              <a:t>CUR</a:t>
            </a:r>
            <a:r>
              <a:rPr lang="en-US" altLang="zh-CN" sz="2200" baseline="-25000" dirty="0">
                <a:solidFill>
                  <a:srgbClr val="FF0000"/>
                </a:solidFill>
              </a:rPr>
              <a:t>R</a:t>
            </a:r>
            <a:r>
              <a:rPr lang="zh-CN" altLang="en-US" sz="2200" dirty="0">
                <a:solidFill>
                  <a:srgbClr val="FF0000"/>
                </a:solidFill>
              </a:rPr>
              <a:t>向后移动</a:t>
            </a:r>
            <a:r>
              <a:rPr lang="en-US" altLang="zh-CN" sz="2200" dirty="0"/>
              <a:t>;</a:t>
            </a:r>
          </a:p>
          <a:p>
            <a:r>
              <a:rPr lang="en-US" altLang="zh-CN" sz="2200" dirty="0"/>
              <a:t>   }</a:t>
            </a:r>
          </a:p>
          <a:p>
            <a:r>
              <a:rPr lang="en-US" altLang="zh-CN" sz="2200" dirty="0"/>
              <a:t>10 Return result;</a:t>
            </a:r>
            <a:endParaRPr lang="zh-CN" altLang="en-US" sz="2200" dirty="0"/>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9</a:t>
            </a:fld>
            <a:endParaRPr lang="en-US" altLang="zh-CN"/>
          </a:p>
        </p:txBody>
      </p:sp>
      <p:sp>
        <p:nvSpPr>
          <p:cNvPr id="5" name="对话气泡: 圆角矩形 4"/>
          <p:cNvSpPr/>
          <p:nvPr/>
        </p:nvSpPr>
        <p:spPr>
          <a:xfrm>
            <a:off x="5076056" y="5414873"/>
            <a:ext cx="2520280" cy="612648"/>
          </a:xfrm>
          <a:prstGeom prst="wedgeRoundRectCallout">
            <a:avLst>
              <a:gd name="adj1" fmla="val -66816"/>
              <a:gd name="adj2" fmla="val -5007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小孩牵手组合</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707926"/>
          </a:xfrm>
        </p:spPr>
        <p:txBody>
          <a:bodyPr/>
          <a:lstStyle/>
          <a:p>
            <a:r>
              <a:rPr lang="en-US" altLang="zh-CN" sz="3600" dirty="0"/>
              <a:t>Hash</a:t>
            </a:r>
            <a:r>
              <a:rPr lang="zh-CN" altLang="en-US" sz="3600" dirty="0"/>
              <a:t>连接（</a:t>
            </a:r>
            <a:r>
              <a:rPr lang="en-US" altLang="zh-CN" sz="3600" dirty="0"/>
              <a:t>hash join）</a:t>
            </a:r>
            <a:endParaRPr lang="zh-CN" altLang="en-US" sz="3600" dirty="0"/>
          </a:p>
        </p:txBody>
      </p:sp>
      <p:sp>
        <p:nvSpPr>
          <p:cNvPr id="3" name="内容占位符 2"/>
          <p:cNvSpPr>
            <a:spLocks noGrp="1"/>
          </p:cNvSpPr>
          <p:nvPr>
            <p:ph idx="1"/>
          </p:nvPr>
        </p:nvSpPr>
        <p:spPr>
          <a:xfrm>
            <a:off x="457200" y="1570038"/>
            <a:ext cx="8229600" cy="4389437"/>
          </a:xfrm>
        </p:spPr>
        <p:txBody>
          <a:bodyPr/>
          <a:lstStyle/>
          <a:p>
            <a:r>
              <a:rPr lang="zh-CN" altLang="en-US" dirty="0"/>
              <a:t>将连接属性作为</a:t>
            </a:r>
            <a:r>
              <a:rPr lang="en-US" altLang="zh-CN" dirty="0"/>
              <a:t>hash</a:t>
            </a:r>
            <a:r>
              <a:rPr lang="zh-CN" altLang="en-US" dirty="0"/>
              <a:t>码。</a:t>
            </a:r>
            <a:endParaRPr lang="en-US" altLang="zh-CN" dirty="0"/>
          </a:p>
          <a:p>
            <a:r>
              <a:rPr lang="zh-CN" altLang="en-US" dirty="0"/>
              <a:t>第一步，划分（</a:t>
            </a:r>
            <a:r>
              <a:rPr lang="en-US" altLang="zh-CN" dirty="0"/>
              <a:t>building phase</a:t>
            </a:r>
            <a:r>
              <a:rPr lang="zh-CN" altLang="en-US" dirty="0"/>
              <a:t>），对包含</a:t>
            </a:r>
            <a:r>
              <a:rPr lang="zh-CN" altLang="en-US" dirty="0">
                <a:solidFill>
                  <a:srgbClr val="FF0000"/>
                </a:solidFill>
              </a:rPr>
              <a:t>较少元组的关系</a:t>
            </a:r>
            <a:r>
              <a:rPr lang="en-US" altLang="zh-CN" dirty="0">
                <a:solidFill>
                  <a:srgbClr val="FF0000"/>
                </a:solidFill>
              </a:rPr>
              <a:t>R</a:t>
            </a:r>
            <a:r>
              <a:rPr lang="zh-CN" altLang="en-US" dirty="0"/>
              <a:t>进行一遍处理，将其元组分散到</a:t>
            </a:r>
            <a:r>
              <a:rPr lang="en-US" altLang="zh-CN" dirty="0"/>
              <a:t>hash</a:t>
            </a:r>
            <a:r>
              <a:rPr lang="zh-CN" altLang="en-US" dirty="0"/>
              <a:t>通中；</a:t>
            </a:r>
            <a:endParaRPr lang="en-US" altLang="zh-CN" dirty="0"/>
          </a:p>
          <a:p>
            <a:r>
              <a:rPr lang="zh-CN" altLang="en-US" dirty="0"/>
              <a:t>第二步，试探（</a:t>
            </a:r>
            <a:r>
              <a:rPr lang="en-US" altLang="zh-CN" dirty="0"/>
              <a:t>probing phase</a:t>
            </a:r>
            <a:r>
              <a:rPr lang="zh-CN" altLang="en-US" dirty="0"/>
              <a:t>），对另一个关系</a:t>
            </a:r>
            <a:r>
              <a:rPr lang="en-US" altLang="zh-CN" dirty="0"/>
              <a:t>S</a:t>
            </a:r>
            <a:r>
              <a:rPr lang="zh-CN" altLang="en-US" dirty="0"/>
              <a:t>进行一遍处理，将其元组按照同一个</a:t>
            </a:r>
            <a:r>
              <a:rPr lang="en-US" altLang="zh-CN" dirty="0"/>
              <a:t>hash</a:t>
            </a:r>
            <a:r>
              <a:rPr lang="zh-CN" altLang="en-US" dirty="0"/>
              <a:t>函数</a:t>
            </a:r>
            <a:r>
              <a:rPr lang="zh-CN" altLang="en-US" dirty="0">
                <a:solidFill>
                  <a:srgbClr val="FF0000"/>
                </a:solidFill>
              </a:rPr>
              <a:t>寻找所属的</a:t>
            </a:r>
            <a:r>
              <a:rPr lang="en-US" altLang="zh-CN" dirty="0">
                <a:solidFill>
                  <a:srgbClr val="FF0000"/>
                </a:solidFill>
              </a:rPr>
              <a:t>hash</a:t>
            </a:r>
            <a:r>
              <a:rPr lang="zh-CN" altLang="en-US" dirty="0">
                <a:solidFill>
                  <a:srgbClr val="FF0000"/>
                </a:solidFill>
              </a:rPr>
              <a:t>桶里的</a:t>
            </a:r>
            <a:r>
              <a:rPr lang="en-US" altLang="zh-CN" dirty="0">
                <a:solidFill>
                  <a:srgbClr val="FF0000"/>
                </a:solidFill>
              </a:rPr>
              <a:t>R</a:t>
            </a:r>
            <a:r>
              <a:rPr lang="zh-CN" altLang="en-US" dirty="0">
                <a:solidFill>
                  <a:srgbClr val="FF0000"/>
                </a:solidFill>
              </a:rPr>
              <a:t>元组，补充相应的连接结果</a:t>
            </a:r>
            <a:r>
              <a:rPr lang="zh-CN" altLang="en-US" dirty="0"/>
              <a:t>，直至</a:t>
            </a:r>
            <a:r>
              <a:rPr lang="en-US" altLang="zh-CN" dirty="0"/>
              <a:t>S</a:t>
            </a:r>
            <a:r>
              <a:rPr lang="zh-CN" altLang="en-US" dirty="0"/>
              <a:t>的全部元组处理完成后，输出所有的连接结果。</a:t>
            </a:r>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10</a:t>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635918"/>
          </a:xfrm>
        </p:spPr>
        <p:txBody>
          <a:bodyPr/>
          <a:lstStyle/>
          <a:p>
            <a:r>
              <a:rPr lang="zh-CN" altLang="en-US" sz="3600" dirty="0"/>
              <a:t>索引连接（</a:t>
            </a:r>
            <a:r>
              <a:rPr lang="en-US" altLang="zh-CN" sz="3600" dirty="0"/>
              <a:t>index join）</a:t>
            </a:r>
            <a:endParaRPr lang="zh-CN" altLang="en-US" sz="3600" dirty="0"/>
          </a:p>
        </p:txBody>
      </p:sp>
      <p:sp>
        <p:nvSpPr>
          <p:cNvPr id="3" name="内容占位符 2"/>
          <p:cNvSpPr>
            <a:spLocks noGrp="1"/>
          </p:cNvSpPr>
          <p:nvPr>
            <p:ph idx="1"/>
          </p:nvPr>
        </p:nvSpPr>
        <p:spPr>
          <a:xfrm>
            <a:off x="457200" y="1484785"/>
            <a:ext cx="8229600" cy="4839816"/>
          </a:xfrm>
        </p:spPr>
        <p:txBody>
          <a:bodyPr/>
          <a:lstStyle/>
          <a:p>
            <a:r>
              <a:rPr lang="zh-CN" altLang="en-US" dirty="0"/>
              <a:t>在连接</a:t>
            </a:r>
            <a:r>
              <a:rPr lang="zh-CN" altLang="en-US" dirty="0">
                <a:solidFill>
                  <a:srgbClr val="FF0000"/>
                </a:solidFill>
              </a:rPr>
              <a:t>关系</a:t>
            </a:r>
            <a:r>
              <a:rPr lang="en-US" altLang="zh-CN" dirty="0">
                <a:solidFill>
                  <a:srgbClr val="FF0000"/>
                </a:solidFill>
              </a:rPr>
              <a:t>S</a:t>
            </a:r>
            <a:r>
              <a:rPr lang="zh-CN" altLang="en-US" dirty="0"/>
              <a:t>的连接属性上已经</a:t>
            </a:r>
            <a:r>
              <a:rPr lang="zh-CN" altLang="en-US" dirty="0">
                <a:solidFill>
                  <a:srgbClr val="FF0000"/>
                </a:solidFill>
              </a:rPr>
              <a:t>建立了索引</a:t>
            </a:r>
            <a:r>
              <a:rPr lang="zh-CN" altLang="en-US" dirty="0"/>
              <a:t>。</a:t>
            </a:r>
            <a:endParaRPr lang="en-US" altLang="zh-CN" dirty="0"/>
          </a:p>
          <a:p>
            <a:r>
              <a:rPr lang="en-US" altLang="zh-CN" dirty="0"/>
              <a:t>For </a:t>
            </a:r>
            <a:r>
              <a:rPr lang="zh-CN" altLang="en-US" dirty="0"/>
              <a:t>关系</a:t>
            </a:r>
            <a:r>
              <a:rPr lang="en-US" altLang="zh-CN" dirty="0"/>
              <a:t>R</a:t>
            </a:r>
            <a:r>
              <a:rPr lang="zh-CN" altLang="en-US" dirty="0"/>
              <a:t>的</a:t>
            </a:r>
            <a:r>
              <a:rPr lang="zh-CN" altLang="en-US" dirty="0">
                <a:solidFill>
                  <a:srgbClr val="FF0000"/>
                </a:solidFill>
              </a:rPr>
              <a:t>每个元组</a:t>
            </a:r>
            <a:r>
              <a:rPr lang="en-US" altLang="zh-CN" dirty="0">
                <a:solidFill>
                  <a:srgbClr val="FF0000"/>
                </a:solidFill>
              </a:rPr>
              <a:t>r</a:t>
            </a:r>
            <a:r>
              <a:rPr lang="zh-CN" altLang="en-US" dirty="0"/>
              <a:t>：</a:t>
            </a:r>
            <a:endParaRPr lang="en-US" altLang="zh-CN" dirty="0"/>
          </a:p>
          <a:p>
            <a:r>
              <a:rPr lang="en-US" altLang="zh-CN" dirty="0"/>
              <a:t>   </a:t>
            </a:r>
            <a:r>
              <a:rPr lang="zh-CN" altLang="en-US" dirty="0"/>
              <a:t>通过</a:t>
            </a:r>
            <a:r>
              <a:rPr lang="en-US" altLang="zh-CN" dirty="0">
                <a:solidFill>
                  <a:srgbClr val="FF0000"/>
                </a:solidFill>
              </a:rPr>
              <a:t>S</a:t>
            </a:r>
            <a:r>
              <a:rPr lang="zh-CN" altLang="en-US" dirty="0">
                <a:solidFill>
                  <a:srgbClr val="FF0000"/>
                </a:solidFill>
              </a:rPr>
              <a:t>的索引</a:t>
            </a:r>
            <a:r>
              <a:rPr lang="zh-CN" altLang="en-US" dirty="0"/>
              <a:t>查找相应的满足连接条件的元组并补充连接结果；</a:t>
            </a:r>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11</a:t>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p:cNvSpPr>
            <a:spLocks noGrp="1" noChangeArrowheads="1"/>
          </p:cNvSpPr>
          <p:nvPr>
            <p:ph idx="1"/>
          </p:nvPr>
        </p:nvSpPr>
        <p:spPr>
          <a:xfrm>
            <a:off x="381000" y="548680"/>
            <a:ext cx="8458200" cy="3384376"/>
          </a:xfrm>
        </p:spPr>
        <p:txBody>
          <a:bodyPr/>
          <a:lstStyle/>
          <a:p>
            <a:pPr eaLnBrk="1" hangingPunct="1">
              <a:spcBef>
                <a:spcPct val="0"/>
              </a:spcBef>
              <a:buClrTx/>
              <a:buSzTx/>
              <a:buFontTx/>
              <a:buNone/>
            </a:pPr>
            <a:r>
              <a:rPr lang="en-US" altLang="zh-CN" sz="2400" b="1" dirty="0">
                <a:latin typeface="Arial" panose="020B0604020202020204" pitchFamily="34" charset="0"/>
                <a:cs typeface="Arial" panose="020B0604020202020204" pitchFamily="34" charset="0"/>
              </a:rPr>
              <a:t>9.2  </a:t>
            </a:r>
            <a:r>
              <a:rPr lang="zh-CN" altLang="en-US" sz="2400" b="1" dirty="0">
                <a:latin typeface="Arial" panose="020B0604020202020204" pitchFamily="34" charset="0"/>
                <a:cs typeface="Arial" panose="020B0604020202020204" pitchFamily="34" charset="0"/>
              </a:rPr>
              <a:t>查询优化的</a:t>
            </a:r>
            <a:r>
              <a:rPr lang="zh-CN" altLang="en-US" sz="2400" b="1" dirty="0">
                <a:latin typeface="Arial" panose="020B0604020202020204" pitchFamily="34" charset="0"/>
                <a:ea typeface="黑体" panose="02010609060101010101" pitchFamily="49" charset="-122"/>
                <a:cs typeface="Arial" panose="020B0604020202020204" pitchFamily="34" charset="0"/>
              </a:rPr>
              <a:t>任务：提高速度（</a:t>
            </a:r>
            <a:r>
              <a:rPr lang="en-US" altLang="zh-CN" sz="2400" b="1" dirty="0">
                <a:latin typeface="Arial" panose="020B0604020202020204" pitchFamily="34" charset="0"/>
                <a:cs typeface="Arial" panose="020B0604020202020204" pitchFamily="34" charset="0"/>
              </a:rPr>
              <a:t>DBMS</a:t>
            </a:r>
            <a:r>
              <a:rPr lang="en-US" altLang="zh-CN" sz="2400" b="1" dirty="0">
                <a:latin typeface="Arial" panose="020B0604020202020204" pitchFamily="34" charset="0"/>
                <a:ea typeface="黑体" panose="02010609060101010101" pitchFamily="49" charset="-122"/>
              </a:rPr>
              <a:t>）</a:t>
            </a:r>
            <a:endParaRPr lang="en-US" altLang="zh-CN" sz="2400" b="1" dirty="0">
              <a:latin typeface="Arial" panose="020B0604020202020204" pitchFamily="34" charset="0"/>
            </a:endParaRPr>
          </a:p>
          <a:p>
            <a:pPr eaLnBrk="1" hangingPunct="1">
              <a:spcBef>
                <a:spcPct val="0"/>
              </a:spcBef>
              <a:buClrTx/>
              <a:buSzTx/>
              <a:buFontTx/>
              <a:buNone/>
            </a:pPr>
            <a:r>
              <a:rPr lang="zh-CN" altLang="en-US" sz="2400" dirty="0">
                <a:latin typeface="Arial" panose="020B0604020202020204" pitchFamily="34" charset="0"/>
              </a:rPr>
              <a:t>具体目标：</a:t>
            </a:r>
          </a:p>
          <a:p>
            <a:pPr eaLnBrk="1" hangingPunct="1">
              <a:spcBef>
                <a:spcPct val="0"/>
              </a:spcBef>
              <a:buClrTx/>
              <a:buSzTx/>
              <a:buFontTx/>
              <a:buNone/>
            </a:pPr>
            <a:r>
              <a:rPr lang="zh-CN" altLang="en-US" sz="2400" dirty="0"/>
              <a:t>1</a:t>
            </a:r>
            <a:r>
              <a:rPr lang="zh-CN" altLang="en-US" sz="2400" dirty="0">
                <a:latin typeface="Times New Roman" panose="02020603050405020304" pitchFamily="18" charset="0"/>
              </a:rPr>
              <a:t>、减少中间关系规模</a:t>
            </a:r>
            <a:endParaRPr lang="zh-CN" altLang="en-US" sz="2400" dirty="0"/>
          </a:p>
          <a:p>
            <a:pPr eaLnBrk="1" hangingPunct="1">
              <a:spcBef>
                <a:spcPct val="0"/>
              </a:spcBef>
              <a:buClrTx/>
              <a:buSzTx/>
              <a:buFontTx/>
              <a:buNone/>
            </a:pPr>
            <a:r>
              <a:rPr lang="zh-CN" altLang="en-US" sz="2400" dirty="0"/>
              <a:t>2</a:t>
            </a:r>
            <a:r>
              <a:rPr lang="zh-CN" altLang="en-US" sz="2400" dirty="0">
                <a:latin typeface="Times New Roman" panose="02020603050405020304" pitchFamily="18" charset="0"/>
              </a:rPr>
              <a:t>、减少</a:t>
            </a:r>
            <a:r>
              <a:rPr lang="en-US" altLang="zh-CN" sz="2400" dirty="0"/>
              <a:t>I/O</a:t>
            </a:r>
          </a:p>
          <a:p>
            <a:pPr eaLnBrk="1" hangingPunct="1">
              <a:spcBef>
                <a:spcPct val="0"/>
              </a:spcBef>
              <a:buClrTx/>
              <a:buSzTx/>
            </a:pPr>
            <a:endParaRPr lang="en-US" altLang="zh-CN" sz="800" b="1" dirty="0">
              <a:latin typeface="Arial" panose="020B0604020202020204" pitchFamily="34" charset="0"/>
            </a:endParaRPr>
          </a:p>
          <a:p>
            <a:pPr marL="342900" lvl="0" indent="-342900" eaLnBrk="1" hangingPunct="1">
              <a:spcBef>
                <a:spcPct val="0"/>
              </a:spcBef>
              <a:buClrTx/>
              <a:buSzTx/>
              <a:defRPr/>
            </a:pPr>
            <a:r>
              <a:rPr kumimoji="1" lang="zh-CN" altLang="en-US" sz="2400" b="1" dirty="0">
                <a:solidFill>
                  <a:prstClr val="black"/>
                </a:solidFill>
                <a:latin typeface="黑体" panose="02010609060101010101" pitchFamily="49" charset="-122"/>
                <a:ea typeface="黑体" panose="02010609060101010101" pitchFamily="49" charset="-122"/>
              </a:rPr>
              <a:t>例：</a:t>
            </a:r>
            <a:r>
              <a:rPr kumimoji="1" lang="zh-CN" altLang="en-US" sz="2400" dirty="0">
                <a:solidFill>
                  <a:prstClr val="black"/>
                </a:solidFill>
                <a:latin typeface="宋体" panose="02010600030101010101" pitchFamily="2" charset="-122"/>
              </a:rPr>
              <a:t>设有如下关系：</a:t>
            </a:r>
          </a:p>
          <a:p>
            <a:pPr marL="342900" lvl="0" indent="-342900" algn="just" eaLnBrk="1" hangingPunct="1">
              <a:buClr>
                <a:srgbClr val="04617B"/>
              </a:buClr>
              <a:buSzPct val="90000"/>
              <a:defRPr/>
            </a:pPr>
            <a:r>
              <a:rPr kumimoji="1" lang="zh-CN" altLang="en-US" sz="2400" dirty="0">
                <a:solidFill>
                  <a:prstClr val="black"/>
                </a:solidFill>
                <a:latin typeface="宋体" panose="02010600030101010101" pitchFamily="2" charset="-122"/>
              </a:rPr>
              <a:t>   </a:t>
            </a:r>
            <a:r>
              <a:rPr kumimoji="1" lang="zh-CN" altLang="en-US" sz="2400" b="1" dirty="0">
                <a:solidFill>
                  <a:prstClr val="black"/>
                </a:solidFill>
                <a:latin typeface="微软雅黑" panose="020B0503020204020204" charset="-122"/>
                <a:ea typeface="微软雅黑" panose="020B0503020204020204" charset="-122"/>
              </a:rPr>
              <a:t>学生</a:t>
            </a:r>
            <a:r>
              <a:rPr kumimoji="1" lang="zh-CN" altLang="en-US" sz="2400" dirty="0">
                <a:solidFill>
                  <a:prstClr val="black"/>
                </a:solidFill>
                <a:latin typeface="宋体" panose="02010600030101010101" pitchFamily="2" charset="-122"/>
              </a:rPr>
              <a:t>（学号，姓名，性别，出生日期，所在系），</a:t>
            </a:r>
          </a:p>
          <a:p>
            <a:pPr marL="342900" lvl="0" indent="-342900" algn="just" eaLnBrk="1" hangingPunct="1">
              <a:buClr>
                <a:srgbClr val="04617B"/>
              </a:buClr>
              <a:buSzPct val="90000"/>
              <a:defRPr/>
            </a:pPr>
            <a:r>
              <a:rPr kumimoji="1" lang="zh-CN" altLang="en-US" sz="2400" dirty="0">
                <a:solidFill>
                  <a:prstClr val="black"/>
                </a:solidFill>
                <a:latin typeface="宋体" panose="02010600030101010101" pitchFamily="2" charset="-122"/>
              </a:rPr>
              <a:t>   </a:t>
            </a:r>
            <a:r>
              <a:rPr kumimoji="1" lang="zh-CN" altLang="en-US" sz="2400" b="1" dirty="0">
                <a:solidFill>
                  <a:prstClr val="black"/>
                </a:solidFill>
                <a:latin typeface="微软雅黑" panose="020B0503020204020204" charset="-122"/>
                <a:ea typeface="微软雅黑" panose="020B0503020204020204" charset="-122"/>
              </a:rPr>
              <a:t>课程</a:t>
            </a:r>
            <a:r>
              <a:rPr kumimoji="1" lang="zh-CN" altLang="en-US" sz="2400" dirty="0">
                <a:solidFill>
                  <a:prstClr val="black"/>
                </a:solidFill>
                <a:latin typeface="宋体" panose="02010600030101010101" pitchFamily="2" charset="-122"/>
              </a:rPr>
              <a:t>（课号，名称，学分）， </a:t>
            </a:r>
            <a:r>
              <a:rPr kumimoji="1" lang="zh-CN" altLang="en-US" sz="2400" b="1" dirty="0">
                <a:solidFill>
                  <a:prstClr val="black"/>
                </a:solidFill>
                <a:latin typeface="微软雅黑" panose="020B0503020204020204" charset="-122"/>
                <a:ea typeface="微软雅黑" panose="020B0503020204020204" charset="-122"/>
              </a:rPr>
              <a:t>成绩</a:t>
            </a:r>
            <a:r>
              <a:rPr kumimoji="1" lang="zh-CN" altLang="en-US" sz="2400" dirty="0">
                <a:solidFill>
                  <a:prstClr val="black"/>
                </a:solidFill>
                <a:latin typeface="宋体" panose="02010600030101010101" pitchFamily="2" charset="-122"/>
              </a:rPr>
              <a:t>（学号，课号，成绩）</a:t>
            </a:r>
          </a:p>
          <a:p>
            <a:pPr marL="342900" lvl="0" indent="-342900" algn="just" eaLnBrk="1" hangingPunct="1">
              <a:buClr>
                <a:srgbClr val="04617B"/>
              </a:buClr>
              <a:buSzPct val="90000"/>
              <a:defRPr/>
            </a:pPr>
            <a:r>
              <a:rPr kumimoji="1" lang="zh-CN" altLang="en-US" sz="2400" dirty="0">
                <a:solidFill>
                  <a:prstClr val="black"/>
                </a:solidFill>
                <a:latin typeface="宋体" panose="02010600030101010101" pitchFamily="2" charset="-122"/>
              </a:rPr>
              <a:t>   要求查询选修了2号课程的学生姓名。</a:t>
            </a:r>
            <a:endParaRPr lang="en-US" altLang="zh-CN" sz="2400" b="1" dirty="0">
              <a:latin typeface="Arial" panose="020B0604020202020204" pitchFamily="34" charset="0"/>
            </a:endParaRPr>
          </a:p>
        </p:txBody>
      </p:sp>
      <p:sp>
        <p:nvSpPr>
          <p:cNvPr id="3" name="灯片编号占位符 2"/>
          <p:cNvSpPr>
            <a:spLocks noGrp="1"/>
          </p:cNvSpPr>
          <p:nvPr>
            <p:ph type="sldNum" sz="quarter" idx="12"/>
          </p:nvPr>
        </p:nvSpPr>
        <p:spPr/>
        <p:txBody>
          <a:bodyPr/>
          <a:lstStyle/>
          <a:p>
            <a:pPr>
              <a:defRPr/>
            </a:pPr>
            <a:fld id="{028B86EC-45FD-4CA7-BDD1-57ED47EDD013}" type="slidenum">
              <a:rPr lang="zh-CN" altLang="en-US" smtClean="0"/>
              <a:t>12</a:t>
            </a:fld>
            <a:endParaRPr lang="en-US" altLang="zh-CN"/>
          </a:p>
        </p:txBody>
      </p:sp>
      <p:graphicFrame>
        <p:nvGraphicFramePr>
          <p:cNvPr id="2" name="表格 1"/>
          <p:cNvGraphicFramePr>
            <a:graphicFrameLocks noGrp="1"/>
          </p:cNvGraphicFramePr>
          <p:nvPr/>
        </p:nvGraphicFramePr>
        <p:xfrm>
          <a:off x="253676" y="4221088"/>
          <a:ext cx="3526236" cy="1478280"/>
        </p:xfrm>
        <a:graphic>
          <a:graphicData uri="http://schemas.openxmlformats.org/drawingml/2006/table">
            <a:tbl>
              <a:tblPr firstRow="1" bandRow="1">
                <a:tableStyleId>{5C22544A-7EE6-4342-B048-85BDC9FD1C3A}</a:tableStyleId>
              </a:tblPr>
              <a:tblGrid>
                <a:gridCol w="645916">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1944216">
                  <a:extLst>
                    <a:ext uri="{9D8B030D-6E8A-4147-A177-3AD203B41FA5}">
                      <a16:colId xmlns:a16="http://schemas.microsoft.com/office/drawing/2014/main" val="20002"/>
                    </a:ext>
                  </a:extLst>
                </a:gridCol>
              </a:tblGrid>
              <a:tr h="307213">
                <a:tc>
                  <a:txBody>
                    <a:bodyPr/>
                    <a:lstStyle/>
                    <a:p>
                      <a:r>
                        <a:rPr lang="zh-CN" altLang="en-US" dirty="0"/>
                        <a:t>学号</a:t>
                      </a:r>
                    </a:p>
                  </a:txBody>
                  <a:tcPr/>
                </a:tc>
                <a:tc>
                  <a:txBody>
                    <a:bodyPr/>
                    <a:lstStyle/>
                    <a:p>
                      <a:r>
                        <a:rPr lang="zh-CN" altLang="en-US" dirty="0"/>
                        <a:t>姓名</a:t>
                      </a:r>
                    </a:p>
                  </a:txBody>
                  <a:tcPr/>
                </a:tc>
                <a:tc>
                  <a:txBody>
                    <a:bodyPr/>
                    <a:lstStyle/>
                    <a:p>
                      <a:r>
                        <a:rPr lang="en-US" altLang="zh-CN" dirty="0"/>
                        <a:t>…</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a:t>1</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2</a:t>
                      </a:r>
                      <a:endParaRPr lang="zh-CN" altLang="en-US" dirty="0"/>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a:t>…</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3"/>
                  </a:ext>
                </a:extLst>
              </a:tr>
            </a:tbl>
          </a:graphicData>
        </a:graphic>
      </p:graphicFrame>
      <p:graphicFrame>
        <p:nvGraphicFramePr>
          <p:cNvPr id="5" name="表格 4"/>
          <p:cNvGraphicFramePr>
            <a:graphicFrameLocks noGrp="1"/>
          </p:cNvGraphicFramePr>
          <p:nvPr/>
        </p:nvGraphicFramePr>
        <p:xfrm>
          <a:off x="7236296" y="4221088"/>
          <a:ext cx="1675589" cy="1849120"/>
        </p:xfrm>
        <a:graphic>
          <a:graphicData uri="http://schemas.openxmlformats.org/drawingml/2006/table">
            <a:tbl>
              <a:tblPr firstRow="1" bandRow="1">
                <a:tableStyleId>{5C22544A-7EE6-4342-B048-85BDC9FD1C3A}</a:tableStyleId>
              </a:tblPr>
              <a:tblGrid>
                <a:gridCol w="909955">
                  <a:extLst>
                    <a:ext uri="{9D8B030D-6E8A-4147-A177-3AD203B41FA5}">
                      <a16:colId xmlns:a16="http://schemas.microsoft.com/office/drawing/2014/main" val="20000"/>
                    </a:ext>
                  </a:extLst>
                </a:gridCol>
                <a:gridCol w="765634">
                  <a:extLst>
                    <a:ext uri="{9D8B030D-6E8A-4147-A177-3AD203B41FA5}">
                      <a16:colId xmlns:a16="http://schemas.microsoft.com/office/drawing/2014/main" val="20001"/>
                    </a:ext>
                  </a:extLst>
                </a:gridCol>
              </a:tblGrid>
              <a:tr h="307213">
                <a:tc>
                  <a:txBody>
                    <a:bodyPr/>
                    <a:lstStyle/>
                    <a:p>
                      <a:r>
                        <a:rPr lang="zh-CN" altLang="en-US" dirty="0"/>
                        <a:t>课号</a:t>
                      </a:r>
                    </a:p>
                  </a:txBody>
                  <a:tcPr/>
                </a:tc>
                <a:tc>
                  <a:txBody>
                    <a:bodyPr/>
                    <a:lstStyle/>
                    <a:p>
                      <a:r>
                        <a:rPr lang="zh-CN" altLang="en-US" dirty="0"/>
                        <a:t>。。。</a:t>
                      </a:r>
                    </a:p>
                  </a:txBody>
                  <a:tcPr/>
                </a:tc>
                <a:extLst>
                  <a:ext uri="{0D108BD9-81ED-4DB2-BD59-A6C34878D82A}">
                    <a16:rowId xmlns:a16="http://schemas.microsoft.com/office/drawing/2014/main" val="10000"/>
                  </a:ext>
                </a:extLst>
              </a:tr>
              <a:tr h="370840">
                <a:tc>
                  <a:txBody>
                    <a:bodyPr/>
                    <a:lstStyle/>
                    <a:p>
                      <a:r>
                        <a:rPr lang="en-US" altLang="zh-CN" dirty="0"/>
                        <a:t>1</a:t>
                      </a:r>
                      <a:endParaRPr lang="zh-CN" altLang="en-US" dirty="0"/>
                    </a:p>
                  </a:txBody>
                  <a:tcPr/>
                </a:tc>
                <a:tc>
                  <a:txBody>
                    <a:bodyPr/>
                    <a:lstStyle/>
                    <a:p>
                      <a:endParaRPr lang="zh-CN" altLang="en-US"/>
                    </a:p>
                  </a:txBody>
                  <a:tcPr/>
                </a:tc>
                <a:extLst>
                  <a:ext uri="{0D108BD9-81ED-4DB2-BD59-A6C34878D82A}">
                    <a16:rowId xmlns:a16="http://schemas.microsoft.com/office/drawing/2014/main" val="10001"/>
                  </a:ext>
                </a:extLst>
              </a:tr>
              <a:tr h="370840">
                <a:tc>
                  <a:txBody>
                    <a:bodyPr/>
                    <a:lstStyle/>
                    <a:p>
                      <a:r>
                        <a:rPr lang="en-US" altLang="zh-CN" dirty="0"/>
                        <a:t>2</a:t>
                      </a:r>
                      <a:endParaRPr lang="zh-CN" altLang="en-US" dirty="0"/>
                    </a:p>
                  </a:txBody>
                  <a:tcPr/>
                </a:tc>
                <a:tc>
                  <a:txBody>
                    <a:bodyPr/>
                    <a:lstStyle/>
                    <a:p>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a:t>3</a:t>
                      </a:r>
                      <a:endParaRPr lang="zh-CN" altLang="en-US" dirty="0"/>
                    </a:p>
                  </a:txBody>
                  <a:tcPr/>
                </a:tc>
                <a:tc>
                  <a:txBody>
                    <a:bodyPr/>
                    <a:lstStyle/>
                    <a:p>
                      <a:endParaRPr lang="zh-CN" altLang="en-US"/>
                    </a:p>
                  </a:txBody>
                  <a:tcPr/>
                </a:tc>
                <a:extLst>
                  <a:ext uri="{0D108BD9-81ED-4DB2-BD59-A6C34878D82A}">
                    <a16:rowId xmlns:a16="http://schemas.microsoft.com/office/drawing/2014/main" val="10003"/>
                  </a:ext>
                </a:extLst>
              </a:tr>
              <a:tr h="370840">
                <a:tc>
                  <a:txBody>
                    <a:bodyPr/>
                    <a:lstStyle/>
                    <a:p>
                      <a:r>
                        <a:rPr lang="en-US" altLang="zh-CN" dirty="0"/>
                        <a:t>…</a:t>
                      </a:r>
                      <a:endParaRPr lang="zh-CN" altLang="en-US" dirty="0"/>
                    </a:p>
                  </a:txBody>
                  <a:tcPr/>
                </a:tc>
                <a:tc>
                  <a:txBody>
                    <a:bodyPr/>
                    <a:lstStyle/>
                    <a:p>
                      <a:endParaRPr lang="zh-CN" altLang="en-US" dirty="0"/>
                    </a:p>
                  </a:txBody>
                  <a:tcPr/>
                </a:tc>
                <a:extLst>
                  <a:ext uri="{0D108BD9-81ED-4DB2-BD59-A6C34878D82A}">
                    <a16:rowId xmlns:a16="http://schemas.microsoft.com/office/drawing/2014/main" val="10004"/>
                  </a:ext>
                </a:extLst>
              </a:tr>
            </a:tbl>
          </a:graphicData>
        </a:graphic>
      </p:graphicFrame>
      <p:graphicFrame>
        <p:nvGraphicFramePr>
          <p:cNvPr id="6" name="表格 5"/>
          <p:cNvGraphicFramePr>
            <a:graphicFrameLocks noGrp="1"/>
          </p:cNvGraphicFramePr>
          <p:nvPr/>
        </p:nvGraphicFramePr>
        <p:xfrm>
          <a:off x="4211960" y="4221088"/>
          <a:ext cx="2664296" cy="2590800"/>
        </p:xfrm>
        <a:graphic>
          <a:graphicData uri="http://schemas.openxmlformats.org/drawingml/2006/table">
            <a:tbl>
              <a:tblPr firstRow="1" bandRow="1">
                <a:tableStyleId>{5C22544A-7EE6-4342-B048-85BDC9FD1C3A}</a:tableStyleId>
              </a:tblPr>
              <a:tblGrid>
                <a:gridCol w="816091">
                  <a:extLst>
                    <a:ext uri="{9D8B030D-6E8A-4147-A177-3AD203B41FA5}">
                      <a16:colId xmlns:a16="http://schemas.microsoft.com/office/drawing/2014/main" val="20000"/>
                    </a:ext>
                  </a:extLst>
                </a:gridCol>
                <a:gridCol w="912101">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307213">
                <a:tc>
                  <a:txBody>
                    <a:bodyPr/>
                    <a:lstStyle/>
                    <a:p>
                      <a:r>
                        <a:rPr lang="zh-CN" altLang="en-US" dirty="0"/>
                        <a:t>学号</a:t>
                      </a:r>
                    </a:p>
                  </a:txBody>
                  <a:tcPr/>
                </a:tc>
                <a:tc>
                  <a:txBody>
                    <a:bodyPr/>
                    <a:lstStyle/>
                    <a:p>
                      <a:r>
                        <a:rPr lang="zh-CN" altLang="en-US" dirty="0"/>
                        <a:t>课号</a:t>
                      </a:r>
                    </a:p>
                  </a:txBody>
                  <a:tcPr/>
                </a:tc>
                <a:tc>
                  <a:txBody>
                    <a:bodyPr/>
                    <a:lstStyle/>
                    <a:p>
                      <a:r>
                        <a:rPr lang="zh-CN" altLang="en-US" dirty="0"/>
                        <a:t>成绩</a:t>
                      </a:r>
                    </a:p>
                  </a:txBody>
                  <a:tcPr/>
                </a:tc>
                <a:extLst>
                  <a:ext uri="{0D108BD9-81ED-4DB2-BD59-A6C34878D82A}">
                    <a16:rowId xmlns:a16="http://schemas.microsoft.com/office/drawing/2014/main" val="10000"/>
                  </a:ext>
                </a:extLst>
              </a:tr>
              <a:tr h="370840">
                <a:tc>
                  <a:txBody>
                    <a:bodyPr/>
                    <a:lstStyle/>
                    <a:p>
                      <a:r>
                        <a:rPr lang="en-US" altLang="zh-CN" dirty="0"/>
                        <a:t>1</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1</a:t>
                      </a:r>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2"/>
                  </a:ext>
                </a:extLst>
              </a:tr>
              <a:tr h="370840">
                <a:tc>
                  <a:txBody>
                    <a:bodyPr/>
                    <a:lstStyle/>
                    <a:p>
                      <a:r>
                        <a:rPr lang="en-US" altLang="zh-CN" dirty="0"/>
                        <a:t>1</a:t>
                      </a:r>
                      <a:endParaRPr lang="zh-CN" altLang="en-US" dirty="0"/>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3"/>
                  </a:ext>
                </a:extLst>
              </a:tr>
              <a:tr h="370840">
                <a:tc>
                  <a:txBody>
                    <a:bodyPr/>
                    <a:lstStyle/>
                    <a:p>
                      <a:r>
                        <a:rPr lang="en-US" altLang="zh-CN" dirty="0"/>
                        <a:t>2</a:t>
                      </a:r>
                      <a:endParaRPr lang="zh-CN" altLang="en-US" dirty="0"/>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4"/>
                  </a:ext>
                </a:extLst>
              </a:tr>
              <a:tr h="370840">
                <a:tc>
                  <a:txBody>
                    <a:bodyPr/>
                    <a:lstStyle/>
                    <a:p>
                      <a:r>
                        <a:rPr lang="en-US" altLang="zh-CN" dirty="0"/>
                        <a:t>2</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5"/>
                  </a:ext>
                </a:extLst>
              </a:tr>
              <a:tr h="370840">
                <a:tc>
                  <a:txBody>
                    <a:bodyPr/>
                    <a:lstStyle/>
                    <a:p>
                      <a:r>
                        <a:rPr lang="en-US" altLang="zh-CN" dirty="0"/>
                        <a:t>…</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6"/>
                  </a:ext>
                </a:extLst>
              </a:tr>
            </a:tbl>
          </a:graphicData>
        </a:graphic>
      </p:graphicFrame>
      <p:sp>
        <p:nvSpPr>
          <p:cNvPr id="4" name="文本框 3"/>
          <p:cNvSpPr txBox="1"/>
          <p:nvPr/>
        </p:nvSpPr>
        <p:spPr>
          <a:xfrm>
            <a:off x="443540" y="3789818"/>
            <a:ext cx="792480" cy="460375"/>
          </a:xfrm>
          <a:prstGeom prst="rect">
            <a:avLst/>
          </a:prstGeom>
          <a:noFill/>
        </p:spPr>
        <p:txBody>
          <a:bodyPr wrap="none" rtlCol="0">
            <a:spAutoFit/>
          </a:bodyPr>
          <a:lstStyle/>
          <a:p>
            <a:r>
              <a:rPr lang="zh-CN" altLang="en-US" dirty="0"/>
              <a:t>学生</a:t>
            </a:r>
          </a:p>
        </p:txBody>
      </p:sp>
      <p:sp>
        <p:nvSpPr>
          <p:cNvPr id="8" name="文本框 7"/>
          <p:cNvSpPr txBox="1"/>
          <p:nvPr/>
        </p:nvSpPr>
        <p:spPr>
          <a:xfrm>
            <a:off x="4322578" y="3808336"/>
            <a:ext cx="792480" cy="460375"/>
          </a:xfrm>
          <a:prstGeom prst="rect">
            <a:avLst/>
          </a:prstGeom>
          <a:noFill/>
        </p:spPr>
        <p:txBody>
          <a:bodyPr wrap="none" rtlCol="0">
            <a:spAutoFit/>
          </a:bodyPr>
          <a:lstStyle/>
          <a:p>
            <a:r>
              <a:rPr lang="zh-CN" altLang="en-US" dirty="0"/>
              <a:t>成绩</a:t>
            </a:r>
          </a:p>
        </p:txBody>
      </p:sp>
      <p:sp>
        <p:nvSpPr>
          <p:cNvPr id="9" name="文本框 8"/>
          <p:cNvSpPr txBox="1"/>
          <p:nvPr/>
        </p:nvSpPr>
        <p:spPr>
          <a:xfrm>
            <a:off x="7268876" y="3808336"/>
            <a:ext cx="792480" cy="460375"/>
          </a:xfrm>
          <a:prstGeom prst="rect">
            <a:avLst/>
          </a:prstGeom>
          <a:noFill/>
        </p:spPr>
        <p:txBody>
          <a:bodyPr wrap="none" rtlCol="0">
            <a:spAutoFit/>
          </a:bodyPr>
          <a:lstStyle/>
          <a:p>
            <a:r>
              <a:rPr lang="zh-CN" altLang="en-US" dirty="0"/>
              <a:t>课程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p:cNvSpPr>
            <a:spLocks noChangeArrowheads="1"/>
          </p:cNvSpPr>
          <p:nvPr/>
        </p:nvSpPr>
        <p:spPr bwMode="auto">
          <a:xfrm>
            <a:off x="304800" y="533400"/>
            <a:ext cx="8534400" cy="5703912"/>
          </a:xfrm>
          <a:prstGeom prst="rect">
            <a:avLst/>
          </a:prstGeom>
          <a:noFill/>
          <a:ln w="9525">
            <a:noFill/>
            <a:miter lim="800000"/>
          </a:ln>
        </p:spPr>
        <p:txBody>
          <a:bodyPr/>
          <a:lstStyle/>
          <a:p>
            <a:pPr marL="342900" marR="0" lvl="0" indent="-34290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查询的</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SQL</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语句：</a:t>
            </a:r>
            <a:endPar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SELECT  Student.Sname</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anose="05000000000000000000" pitchFamily="2" charset="2"/>
              <a:buNone/>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FROM    Student, SC</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anose="05000000000000000000" pitchFamily="2" charset="2"/>
              <a:buNone/>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WHERE   Student.Sno=SC.Sno</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anose="05000000000000000000" pitchFamily="2" charset="2"/>
              <a:buNone/>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AND     SC.Cno=‘C2'; </a:t>
            </a:r>
            <a:endPar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anose="05000000000000000000" pitchFamily="2" charset="2"/>
              <a:buNone/>
              <a:defRPr/>
            </a:pPr>
            <a:r>
              <a:rPr kumimoji="1" lang="zh-CN" altLang="en-US" sz="1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endParaRPr kumimoji="1" lang="en-US" altLang="zh-CN" sz="1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anose="05000000000000000000" pitchFamily="2" charset="2"/>
              <a:buNone/>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可用如下等价的代数表达式来完成这一查询：</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anose="05000000000000000000" pitchFamily="2" charset="2"/>
              <a:buNone/>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Q1＝π</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姓名</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σ</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学生.学号=成绩.学号∧课号=’2’</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a:t>
            </a:r>
            <a:r>
              <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成绩））</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anose="05000000000000000000" pitchFamily="2" charset="2"/>
              <a:buNone/>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Q2＝π</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姓名</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σ</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课号=’2’</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(学生 </a:t>
            </a:r>
            <a:r>
              <a:rPr kumimoji="1" lang="en-US" altLang="zh-CN"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Arial Unicode MS"/>
              </a:rPr>
              <a:t>⋈</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成绩））</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anose="05000000000000000000" pitchFamily="2" charset="2"/>
              <a:buNone/>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Q3＝π</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姓名</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 </a:t>
            </a:r>
            <a:r>
              <a:rPr kumimoji="1" lang="en-US" altLang="zh-CN"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Arial Unicode MS"/>
              </a:rPr>
              <a:t>⋈</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σ</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课号=’2’</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（成绩））</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anose="05000000000000000000" pitchFamily="2" charset="2"/>
              <a:buNone/>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由于查询执行的策略不同,查询时间相差很大。</a:t>
            </a:r>
            <a:endParaRPr kumimoji="1" lang="zh-CN" altLang="en-US" sz="3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400E503-3F4A-4479-9F26-C169001EBA51}"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anose="020B0604030504040204" pitchFamily="34" charset="0"/>
                <a:ea typeface="宋体" panose="02010600030101010101" pitchFamily="2" charset="-122"/>
                <a:cs typeface="+mn-cs"/>
              </a:rPr>
              <a:t>13</a:t>
            </a:fld>
            <a:endParaRPr kumimoji="0" lang="en-US" altLang="zh-CN" sz="1200" b="0" i="0" u="none" strike="noStrike" kern="1200" cap="none" spc="0" normalizeH="0" baseline="0" noProof="0">
              <a:ln>
                <a:noFill/>
              </a:ln>
              <a:solidFill>
                <a:srgbClr val="04617B">
                  <a:shade val="90000"/>
                </a:srgbClr>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2"/>
          <p:cNvSpPr>
            <a:spLocks noGrp="1"/>
          </p:cNvSpPr>
          <p:nvPr>
            <p:ph type="title"/>
          </p:nvPr>
        </p:nvSpPr>
        <p:spPr>
          <a:xfrm>
            <a:off x="457200" y="380007"/>
            <a:ext cx="8229600" cy="776288"/>
          </a:xfrm>
        </p:spPr>
        <p:txBody>
          <a:bodyPr/>
          <a:lstStyle/>
          <a:p>
            <a:r>
              <a:rPr lang="zh-CN" altLang="en-US" dirty="0"/>
              <a:t>统计量：</a:t>
            </a:r>
          </a:p>
        </p:txBody>
      </p:sp>
      <p:sp>
        <p:nvSpPr>
          <p:cNvPr id="18434" name="内容占位符 3"/>
          <p:cNvSpPr>
            <a:spLocks noGrp="1"/>
          </p:cNvSpPr>
          <p:nvPr>
            <p:ph idx="1"/>
          </p:nvPr>
        </p:nvSpPr>
        <p:spPr>
          <a:xfrm>
            <a:off x="457200" y="1165820"/>
            <a:ext cx="8229600" cy="5143500"/>
          </a:xfrm>
        </p:spPr>
        <p:txBody>
          <a:bodyPr/>
          <a:lstStyle/>
          <a:p>
            <a:r>
              <a:rPr lang="zh-CN" altLang="en-US" sz="2400" dirty="0">
                <a:solidFill>
                  <a:srgbClr val="0000FF"/>
                </a:solidFill>
                <a:latin typeface="宋体" panose="02010600030101010101" pitchFamily="2" charset="-122"/>
              </a:rPr>
              <a:t>学生记录</a:t>
            </a:r>
            <a:r>
              <a:rPr lang="en-US" altLang="zh-CN" sz="2400" dirty="0">
                <a:latin typeface="宋体" panose="02010600030101010101" pitchFamily="2" charset="-122"/>
              </a:rPr>
              <a:t>——</a:t>
            </a:r>
            <a:r>
              <a:rPr lang="zh-CN" altLang="en-US" sz="2400" dirty="0">
                <a:latin typeface="宋体" panose="02010600030101010101" pitchFamily="2" charset="-122"/>
              </a:rPr>
              <a:t>1000条；</a:t>
            </a:r>
            <a:endParaRPr lang="en-US" altLang="zh-CN" sz="2400" dirty="0">
              <a:latin typeface="宋体" panose="02010600030101010101" pitchFamily="2" charset="-122"/>
            </a:endParaRPr>
          </a:p>
          <a:p>
            <a:r>
              <a:rPr lang="zh-CN" altLang="en-US" sz="2400" dirty="0">
                <a:solidFill>
                  <a:srgbClr val="0000FF"/>
                </a:solidFill>
                <a:latin typeface="宋体" panose="02010600030101010101" pitchFamily="2" charset="-122"/>
              </a:rPr>
              <a:t>成绩记录</a:t>
            </a:r>
            <a:r>
              <a:rPr lang="en-US" altLang="zh-CN" sz="2400" dirty="0">
                <a:latin typeface="宋体" panose="02010600030101010101" pitchFamily="2" charset="-122"/>
              </a:rPr>
              <a:t>——</a:t>
            </a:r>
            <a:r>
              <a:rPr lang="zh-CN" altLang="en-US" sz="2400" dirty="0">
                <a:latin typeface="宋体" panose="02010600030101010101" pitchFamily="2" charset="-122"/>
              </a:rPr>
              <a:t>10000条；</a:t>
            </a:r>
            <a:endParaRPr lang="en-US" altLang="zh-CN" sz="2400" dirty="0">
              <a:latin typeface="宋体" panose="02010600030101010101" pitchFamily="2" charset="-122"/>
            </a:endParaRPr>
          </a:p>
          <a:p>
            <a:r>
              <a:rPr lang="zh-CN" altLang="en-US" sz="2400" dirty="0">
                <a:solidFill>
                  <a:srgbClr val="0000FF"/>
                </a:solidFill>
                <a:latin typeface="宋体" panose="02010600030101010101" pitchFamily="2" charset="-122"/>
              </a:rPr>
              <a:t>选修了2号课程的记录</a:t>
            </a:r>
            <a:r>
              <a:rPr lang="en-US" altLang="zh-CN" sz="2400" dirty="0">
                <a:latin typeface="宋体" panose="02010600030101010101" pitchFamily="2" charset="-122"/>
              </a:rPr>
              <a:t>——</a:t>
            </a:r>
            <a:r>
              <a:rPr lang="zh-CN" altLang="en-US" sz="2400" dirty="0">
                <a:solidFill>
                  <a:srgbClr val="FF0000"/>
                </a:solidFill>
                <a:latin typeface="宋体" panose="02010600030101010101" pitchFamily="2" charset="-122"/>
              </a:rPr>
              <a:t>50条</a:t>
            </a:r>
            <a:r>
              <a:rPr lang="zh-CN" altLang="en-US" sz="2400" dirty="0">
                <a:latin typeface="宋体" panose="02010600030101010101" pitchFamily="2" charset="-122"/>
              </a:rPr>
              <a:t>。</a:t>
            </a:r>
            <a:endParaRPr lang="en-US" altLang="zh-CN" sz="2400" dirty="0">
              <a:latin typeface="宋体" panose="02010600030101010101" pitchFamily="2" charset="-122"/>
            </a:endParaRPr>
          </a:p>
          <a:p>
            <a:r>
              <a:rPr lang="zh-CN" altLang="en-US" sz="2400" dirty="0">
                <a:solidFill>
                  <a:srgbClr val="0000FF"/>
                </a:solidFill>
                <a:latin typeface="宋体" panose="02010600030101010101" pitchFamily="2" charset="-122"/>
              </a:rPr>
              <a:t>一个物理块（页面）</a:t>
            </a:r>
            <a:r>
              <a:rPr lang="zh-CN" altLang="en-US" sz="2400" dirty="0">
                <a:latin typeface="宋体" panose="02010600030101010101" pitchFamily="2" charset="-122"/>
              </a:rPr>
              <a:t>能容纳：</a:t>
            </a:r>
            <a:endParaRPr lang="en-US" altLang="zh-CN" sz="2400" dirty="0">
              <a:latin typeface="宋体" panose="02010600030101010101" pitchFamily="2" charset="-122"/>
            </a:endParaRPr>
          </a:p>
          <a:p>
            <a:r>
              <a:rPr lang="en-US" altLang="zh-CN" sz="2400" dirty="0">
                <a:latin typeface="宋体" panose="02010600030101010101" pitchFamily="2" charset="-122"/>
              </a:rPr>
              <a:t>    </a:t>
            </a:r>
            <a:r>
              <a:rPr lang="zh-CN" altLang="en-US" sz="2400" dirty="0">
                <a:latin typeface="宋体" panose="02010600030101010101" pitchFamily="2" charset="-122"/>
              </a:rPr>
              <a:t>10条学生记录      </a:t>
            </a:r>
            <a:r>
              <a:rPr lang="en-US" altLang="zh-CN" sz="2400" dirty="0">
                <a:solidFill>
                  <a:srgbClr val="0000FF"/>
                </a:solidFill>
                <a:latin typeface="宋体" panose="02010600030101010101" pitchFamily="2" charset="-122"/>
              </a:rPr>
              <a:t>1000/10=100</a:t>
            </a:r>
            <a:r>
              <a:rPr lang="zh-CN" altLang="en-US" sz="2400" dirty="0">
                <a:solidFill>
                  <a:srgbClr val="0000FF"/>
                </a:solidFill>
                <a:latin typeface="宋体" panose="02010600030101010101" pitchFamily="2" charset="-122"/>
              </a:rPr>
              <a:t>块</a:t>
            </a:r>
            <a:endParaRPr lang="en-US" altLang="zh-CN" sz="2400" dirty="0">
              <a:solidFill>
                <a:srgbClr val="0000FF"/>
              </a:solidFill>
              <a:latin typeface="宋体" panose="02010600030101010101" pitchFamily="2" charset="-122"/>
            </a:endParaRPr>
          </a:p>
          <a:p>
            <a:r>
              <a:rPr lang="en-US" altLang="zh-CN" sz="2400" dirty="0">
                <a:latin typeface="宋体" panose="02010600030101010101" pitchFamily="2" charset="-122"/>
              </a:rPr>
              <a:t>    </a:t>
            </a:r>
            <a:r>
              <a:rPr lang="zh-CN" altLang="en-US" sz="2400" dirty="0">
                <a:latin typeface="宋体" panose="02010600030101010101" pitchFamily="2" charset="-122"/>
              </a:rPr>
              <a:t>或100条成绩记录   </a:t>
            </a:r>
            <a:r>
              <a:rPr lang="en-US" altLang="zh-CN" sz="2400" dirty="0">
                <a:solidFill>
                  <a:srgbClr val="0000FF"/>
                </a:solidFill>
                <a:latin typeface="宋体" panose="02010600030101010101" pitchFamily="2" charset="-122"/>
              </a:rPr>
              <a:t>10000/100=100</a:t>
            </a:r>
            <a:r>
              <a:rPr lang="zh-CN" altLang="en-US" sz="2400" dirty="0">
                <a:solidFill>
                  <a:srgbClr val="0000FF"/>
                </a:solidFill>
                <a:latin typeface="宋体" panose="02010600030101010101" pitchFamily="2" charset="-122"/>
              </a:rPr>
              <a:t>块</a:t>
            </a:r>
            <a:r>
              <a:rPr lang="zh-CN" altLang="en-US" sz="2400" dirty="0">
                <a:latin typeface="宋体" panose="02010600030101010101" pitchFamily="2" charset="-122"/>
              </a:rPr>
              <a:t>。</a:t>
            </a:r>
            <a:endParaRPr lang="en-US" altLang="zh-CN" sz="2400" dirty="0">
              <a:latin typeface="宋体" panose="02010600030101010101" pitchFamily="2" charset="-122"/>
            </a:endParaRPr>
          </a:p>
          <a:p>
            <a:endParaRPr lang="en-US" altLang="zh-CN" sz="2400" dirty="0">
              <a:latin typeface="宋体" panose="02010600030101010101" pitchFamily="2" charset="-122"/>
            </a:endParaRPr>
          </a:p>
          <a:p>
            <a:r>
              <a:rPr lang="en-US" altLang="zh-CN" sz="2400" dirty="0">
                <a:latin typeface="宋体" panose="02010600030101010101" pitchFamily="2" charset="-122"/>
              </a:rPr>
              <a:t>    </a:t>
            </a:r>
            <a:r>
              <a:rPr lang="zh-CN" altLang="en-US" sz="2400" dirty="0">
                <a:latin typeface="宋体" panose="02010600030101010101" pitchFamily="2" charset="-122"/>
              </a:rPr>
              <a:t>内存仅提供7个存储页面，其中</a:t>
            </a:r>
            <a:r>
              <a:rPr lang="zh-CN" altLang="en-US" sz="2400" dirty="0">
                <a:solidFill>
                  <a:srgbClr val="FF0000"/>
                </a:solidFill>
                <a:latin typeface="宋体" panose="02010600030101010101" pitchFamily="2" charset="-122"/>
              </a:rPr>
              <a:t>5页存放学生</a:t>
            </a:r>
            <a:r>
              <a:rPr lang="zh-CN" altLang="en-US" sz="2400" dirty="0">
                <a:latin typeface="宋体" panose="02010600030101010101" pitchFamily="2" charset="-122"/>
              </a:rPr>
              <a:t>记录，</a:t>
            </a:r>
            <a:r>
              <a:rPr lang="zh-CN" altLang="en-US" sz="2400" dirty="0">
                <a:solidFill>
                  <a:srgbClr val="FF0000"/>
                </a:solidFill>
                <a:latin typeface="宋体" panose="02010600030101010101" pitchFamily="2" charset="-122"/>
              </a:rPr>
              <a:t>1页存放成绩</a:t>
            </a:r>
            <a:r>
              <a:rPr lang="zh-CN" altLang="en-US" sz="2400" dirty="0">
                <a:latin typeface="宋体" panose="02010600030101010101" pitchFamily="2" charset="-122"/>
              </a:rPr>
              <a:t>记录，</a:t>
            </a:r>
            <a:r>
              <a:rPr lang="zh-CN" altLang="en-US" sz="2400" dirty="0">
                <a:solidFill>
                  <a:srgbClr val="FF0000"/>
                </a:solidFill>
                <a:latin typeface="宋体" panose="02010600030101010101" pitchFamily="2" charset="-122"/>
              </a:rPr>
              <a:t>1页存放中间结果</a:t>
            </a:r>
            <a:r>
              <a:rPr lang="zh-CN" altLang="en-US" sz="2400" dirty="0">
                <a:latin typeface="宋体" panose="02010600030101010101" pitchFamily="2" charset="-122"/>
              </a:rPr>
              <a:t>。</a:t>
            </a:r>
            <a:endParaRPr lang="en-US" altLang="zh-CN" sz="2400" dirty="0">
              <a:latin typeface="宋体" panose="02010600030101010101" pitchFamily="2" charset="-122"/>
            </a:endParaRPr>
          </a:p>
          <a:p>
            <a:r>
              <a:rPr lang="zh-CN" altLang="en-US" sz="2400" dirty="0">
                <a:solidFill>
                  <a:srgbClr val="0000FF"/>
                </a:solidFill>
                <a:latin typeface="宋体" panose="02010600030101010101" pitchFamily="2" charset="-122"/>
              </a:rPr>
              <a:t>磁盘每秒钟读/写</a:t>
            </a:r>
            <a:r>
              <a:rPr lang="zh-CN" altLang="en-US" sz="2400" dirty="0">
                <a:latin typeface="宋体" panose="02010600030101010101" pitchFamily="2" charset="-122"/>
              </a:rPr>
              <a:t>20块数据记录。</a:t>
            </a:r>
            <a:endParaRPr lang="en-US" altLang="zh-CN" sz="2400" dirty="0">
              <a:latin typeface="宋体" panose="02010600030101010101" pitchFamily="2" charset="-122"/>
            </a:endParaRPr>
          </a:p>
          <a:p>
            <a:r>
              <a:rPr lang="zh-CN" altLang="en-US" sz="2400" dirty="0">
                <a:latin typeface="宋体" panose="02010600030101010101" pitchFamily="2" charset="-122"/>
              </a:rPr>
              <a:t>采用</a:t>
            </a:r>
            <a:r>
              <a:rPr lang="zh-CN" altLang="en-US" sz="2400" dirty="0">
                <a:solidFill>
                  <a:srgbClr val="0000FF"/>
                </a:solidFill>
                <a:latin typeface="宋体" panose="02010600030101010101" pitchFamily="2" charset="-122"/>
              </a:rPr>
              <a:t>嵌套循环</a:t>
            </a:r>
            <a:r>
              <a:rPr lang="zh-CN" altLang="en-US" sz="2400" dirty="0">
                <a:latin typeface="宋体" panose="02010600030101010101" pitchFamily="2" charset="-122"/>
              </a:rPr>
              <a:t>实现方式。</a:t>
            </a:r>
            <a:endParaRPr lang="en-US" altLang="zh-CN" sz="2400" dirty="0">
              <a:latin typeface="宋体" panose="02010600030101010101" pitchFamily="2" charset="-122"/>
            </a:endParaRPr>
          </a:p>
          <a:p>
            <a:r>
              <a:rPr lang="zh-CN" altLang="en-US" sz="2400" dirty="0">
                <a:latin typeface="宋体" panose="02010600030101010101" pitchFamily="2" charset="-122"/>
              </a:rPr>
              <a:t>查询执行方法采用物化模型。</a:t>
            </a:r>
            <a:endParaRPr lang="zh-CN" altLang="en-US" sz="2400" dirty="0"/>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E1A76D5-1EB5-4B0B-A853-3B5C38814211}"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anose="020B0604030504040204" pitchFamily="34" charset="0"/>
                <a:ea typeface="宋体" panose="02010600030101010101" pitchFamily="2" charset="-122"/>
                <a:cs typeface="+mn-cs"/>
              </a:rPr>
              <a:t>14</a:t>
            </a:fld>
            <a:endParaRPr kumimoji="0" lang="en-US" altLang="zh-CN" sz="1200" b="0" i="0" u="none" strike="noStrike" kern="1200" cap="none" spc="0" normalizeH="0" baseline="0" noProof="0">
              <a:ln>
                <a:noFill/>
              </a:ln>
              <a:solidFill>
                <a:srgbClr val="04617B">
                  <a:shade val="90000"/>
                </a:srgbClr>
              </a:solidFill>
              <a:effectLst/>
              <a:uLnTx/>
              <a:uFillTx/>
              <a:latin typeface="Verdana" panose="020B0604030504040204" pitchFamily="34" charset="0"/>
              <a:ea typeface="宋体" panose="02010600030101010101" pitchFamily="2" charset="-122"/>
              <a:cs typeface="+mn-cs"/>
            </a:endParaRPr>
          </a:p>
        </p:txBody>
      </p:sp>
      <p:sp>
        <p:nvSpPr>
          <p:cNvPr id="18437" name="AutoShape 5"/>
          <p:cNvSpPr>
            <a:spLocks noChangeArrowheads="1"/>
          </p:cNvSpPr>
          <p:nvPr/>
        </p:nvSpPr>
        <p:spPr bwMode="auto">
          <a:xfrm>
            <a:off x="6516688" y="5110757"/>
            <a:ext cx="2159000" cy="852488"/>
          </a:xfrm>
          <a:prstGeom prst="wedgeRoundRectCallout">
            <a:avLst>
              <a:gd name="adj1" fmla="val -139560"/>
              <a:gd name="adj2" fmla="val 45532"/>
              <a:gd name="adj3" fmla="val 16667"/>
            </a:avLst>
          </a:prstGeom>
          <a:solidFill>
            <a:schemeClr val="bg1"/>
          </a:solidFill>
          <a:ln w="9525">
            <a:solidFill>
              <a:schemeClr val="accent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外表</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学生表</a:t>
            </a: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内表</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成绩表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3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3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43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43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8437"/>
                                        </p:tgtEl>
                                        <p:attrNameLst>
                                          <p:attrName>style.visibility</p:attrName>
                                        </p:attrNameLst>
                                      </p:cBhvr>
                                      <p:to>
                                        <p:strVal val="visible"/>
                                      </p:to>
                                    </p:set>
                                    <p:anim calcmode="lin" valueType="num">
                                      <p:cBhvr additive="base">
                                        <p:cTn id="47" dur="500" fill="hold"/>
                                        <p:tgtEl>
                                          <p:spTgt spid="18437"/>
                                        </p:tgtEl>
                                        <p:attrNameLst>
                                          <p:attrName>ppt_x</p:attrName>
                                        </p:attrNameLst>
                                      </p:cBhvr>
                                      <p:tavLst>
                                        <p:tav tm="0">
                                          <p:val>
                                            <p:strVal val="#ppt_x"/>
                                          </p:val>
                                        </p:tav>
                                        <p:tav tm="100000">
                                          <p:val>
                                            <p:strVal val="#ppt_x"/>
                                          </p:val>
                                        </p:tav>
                                      </p:tavLst>
                                    </p:anim>
                                    <p:anim calcmode="lin" valueType="num">
                                      <p:cBhvr additive="base">
                                        <p:cTn id="48" dur="500" fill="hold"/>
                                        <p:tgtEl>
                                          <p:spTgt spid="184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P spid="184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3"/>
          <p:cNvSpPr>
            <a:spLocks noGrp="1" noChangeArrowheads="1"/>
          </p:cNvSpPr>
          <p:nvPr>
            <p:ph idx="1"/>
          </p:nvPr>
        </p:nvSpPr>
        <p:spPr>
          <a:xfrm>
            <a:off x="323850" y="980729"/>
            <a:ext cx="8458200" cy="4029422"/>
          </a:xfrm>
        </p:spPr>
        <p:txBody>
          <a:bodyPr/>
          <a:lstStyle/>
          <a:p>
            <a:pPr eaLnBrk="1" hangingPunct="1">
              <a:buClr>
                <a:schemeClr val="tx2"/>
              </a:buClr>
              <a:buSzPct val="90000"/>
              <a:buFont typeface="Wingdings" panose="05000000000000000000" pitchFamily="2" charset="2"/>
              <a:buNone/>
            </a:pPr>
            <a:r>
              <a:rPr lang="zh-CN" altLang="en-US" sz="2400" dirty="0">
                <a:latin typeface="黑体" panose="02010609060101010101" pitchFamily="49" charset="-122"/>
                <a:ea typeface="黑体" panose="02010609060101010101" pitchFamily="49" charset="-122"/>
              </a:rPr>
              <a:t>第一种情况： </a:t>
            </a:r>
          </a:p>
          <a:p>
            <a:pPr eaLnBrk="1" hangingPunct="1">
              <a:buClr>
                <a:schemeClr val="tx2"/>
              </a:buClr>
              <a:buSzPct val="90000"/>
              <a:buFont typeface="Wingdings" panose="05000000000000000000" pitchFamily="2" charset="2"/>
              <a:buNone/>
            </a:pPr>
            <a:r>
              <a:rPr lang="en-US" altLang="zh-CN" sz="2400" dirty="0">
                <a:latin typeface="黑体" panose="02010609060101010101" pitchFamily="49" charset="-122"/>
                <a:ea typeface="黑体" panose="02010609060101010101" pitchFamily="49" charset="-122"/>
              </a:rPr>
              <a:t>Q1＝π</a:t>
            </a:r>
            <a:r>
              <a:rPr lang="zh-CN" altLang="en-US" sz="2400" baseline="-25000" dirty="0">
                <a:latin typeface="黑体" panose="02010609060101010101" pitchFamily="49" charset="-122"/>
                <a:ea typeface="黑体" panose="02010609060101010101" pitchFamily="49" charset="-122"/>
              </a:rPr>
              <a:t>姓名</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σ</a:t>
            </a:r>
            <a:r>
              <a:rPr lang="zh-CN" altLang="en-US" sz="2400" baseline="-25000" dirty="0">
                <a:latin typeface="黑体" panose="02010609060101010101" pitchFamily="49" charset="-122"/>
                <a:ea typeface="黑体" panose="02010609060101010101" pitchFamily="49" charset="-122"/>
              </a:rPr>
              <a:t>学生.学号=成绩.学号∧课号=</a:t>
            </a:r>
            <a:r>
              <a:rPr lang="zh-CN" altLang="en-US" sz="2400" baseline="-25000" dirty="0">
                <a:latin typeface="Times New Roman" panose="02020603050405020304" pitchFamily="18" charset="0"/>
                <a:ea typeface="黑体" panose="02010609060101010101" pitchFamily="49" charset="-122"/>
              </a:rPr>
              <a:t>’</a:t>
            </a:r>
            <a:r>
              <a:rPr lang="zh-CN" altLang="en-US" sz="2400" baseline="-25000" dirty="0">
                <a:latin typeface="黑体" panose="02010609060101010101" pitchFamily="49" charset="-122"/>
                <a:ea typeface="黑体" panose="02010609060101010101" pitchFamily="49" charset="-122"/>
              </a:rPr>
              <a:t>2</a:t>
            </a:r>
            <a:r>
              <a:rPr lang="zh-CN" altLang="en-US" sz="2400" baseline="-25000" dirty="0">
                <a:latin typeface="Times New Roman" panose="02020603050405020304" pitchFamily="18" charset="0"/>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（学生×成绩））</a:t>
            </a:r>
          </a:p>
          <a:p>
            <a:pPr eaLnBrk="1" hangingPunct="1">
              <a:buClr>
                <a:schemeClr val="tx2"/>
              </a:buClr>
              <a:buSzPct val="90000"/>
              <a:buFont typeface="Wingdings" panose="05000000000000000000" pitchFamily="2" charset="2"/>
              <a:buNone/>
            </a:pPr>
            <a:r>
              <a:rPr lang="zh-CN" altLang="en-US" sz="2400" dirty="0">
                <a:latin typeface="宋体" panose="02010600030101010101" pitchFamily="2" charset="-122"/>
              </a:rPr>
              <a:t>  1．计算：学生×成绩</a:t>
            </a:r>
          </a:p>
          <a:p>
            <a:pPr eaLnBrk="1" hangingPunct="1">
              <a:buClr>
                <a:schemeClr val="tx2"/>
              </a:buClr>
              <a:buSzPct val="90000"/>
              <a:buFont typeface="Wingdings" panose="05000000000000000000" pitchFamily="2" charset="2"/>
              <a:buNone/>
            </a:pPr>
            <a:r>
              <a:rPr lang="zh-CN" altLang="en-US" sz="2400" dirty="0">
                <a:latin typeface="宋体" panose="02010600030101010101" pitchFamily="2" charset="-122"/>
              </a:rPr>
              <a:t>     读取的总块数为：</a:t>
            </a:r>
          </a:p>
          <a:p>
            <a:pPr eaLnBrk="1" hangingPunct="1">
              <a:buClr>
                <a:schemeClr val="tx2"/>
              </a:buClr>
              <a:buSzPct val="90000"/>
              <a:buFont typeface="Wingdings" panose="05000000000000000000" pitchFamily="2" charset="2"/>
              <a:buNone/>
            </a:pPr>
            <a:r>
              <a:rPr lang="zh-CN" altLang="en-US" sz="2400" dirty="0">
                <a:latin typeface="宋体" panose="02010600030101010101" pitchFamily="2" charset="-122"/>
              </a:rPr>
              <a:t>       1000/10+1000/(10×5)×10000/100=2100(块)</a:t>
            </a:r>
          </a:p>
          <a:p>
            <a:pPr eaLnBrk="1" hangingPunct="1">
              <a:buClr>
                <a:schemeClr val="tx2"/>
              </a:buClr>
              <a:buSzPct val="90000"/>
              <a:buFont typeface="Wingdings" panose="05000000000000000000" pitchFamily="2" charset="2"/>
              <a:buNone/>
            </a:pPr>
            <a:r>
              <a:rPr lang="zh-CN" altLang="en-US" sz="2400" dirty="0">
                <a:latin typeface="宋体" panose="02010600030101010101" pitchFamily="2" charset="-122"/>
              </a:rPr>
              <a:t>     </a:t>
            </a:r>
            <a:endParaRPr lang="en-US" altLang="zh-CN" sz="2400" dirty="0">
              <a:latin typeface="宋体" panose="02010600030101010101" pitchFamily="2" charset="-122"/>
            </a:endParaRPr>
          </a:p>
          <a:p>
            <a:pPr eaLnBrk="1" hangingPunct="1">
              <a:buClr>
                <a:schemeClr val="tx2"/>
              </a:buClr>
              <a:buSzPct val="90000"/>
              <a:buFont typeface="Wingdings" panose="05000000000000000000" pitchFamily="2" charset="2"/>
              <a:buNone/>
            </a:pPr>
            <a:r>
              <a:rPr lang="en-US" altLang="zh-CN" sz="2400" dirty="0">
                <a:latin typeface="宋体" panose="02010600030101010101" pitchFamily="2" charset="-122"/>
              </a:rPr>
              <a:t>      </a:t>
            </a:r>
            <a:r>
              <a:rPr lang="zh-CN" altLang="en-US" sz="2400" dirty="0">
                <a:latin typeface="宋体" panose="02010600030101010101" pitchFamily="2" charset="-122"/>
              </a:rPr>
              <a:t>所需时      </a:t>
            </a:r>
            <a:r>
              <a:rPr lang="en-US" altLang="zh-CN" sz="2400" dirty="0">
                <a:solidFill>
                  <a:srgbClr val="FF0000"/>
                </a:solidFill>
                <a:latin typeface="宋体" panose="02010600030101010101" pitchFamily="2" charset="-122"/>
              </a:rPr>
              <a:t>T1</a:t>
            </a:r>
            <a:r>
              <a:rPr lang="en-US" altLang="zh-CN" sz="2400" dirty="0">
                <a:latin typeface="宋体" panose="02010600030101010101" pitchFamily="2" charset="-122"/>
              </a:rPr>
              <a:t>=2100/20=105(</a:t>
            </a:r>
            <a:r>
              <a:rPr lang="zh-CN" altLang="en-US" sz="2400" dirty="0">
                <a:latin typeface="宋体" panose="02010600030101010101" pitchFamily="2" charset="-122"/>
              </a:rPr>
              <a:t>秒)</a:t>
            </a:r>
          </a:p>
          <a:p>
            <a:pPr eaLnBrk="1" hangingPunct="1">
              <a:buClr>
                <a:schemeClr val="tx2"/>
              </a:buClr>
              <a:buSzPct val="90000"/>
            </a:pPr>
            <a:r>
              <a:rPr lang="zh-CN" altLang="en-US" sz="2400" dirty="0">
                <a:latin typeface="宋体" panose="02010600030101010101" pitchFamily="2" charset="-122"/>
              </a:rPr>
              <a:t>      </a:t>
            </a:r>
            <a:endParaRPr lang="en-US" altLang="zh-CN" sz="2400" dirty="0">
              <a:latin typeface="宋体" panose="02010600030101010101" pitchFamily="2" charset="-122"/>
            </a:endParaRPr>
          </a:p>
          <a:p>
            <a:pPr eaLnBrk="1" hangingPunct="1">
              <a:buClr>
                <a:schemeClr val="tx2"/>
              </a:buClr>
              <a:buSzPct val="90000"/>
            </a:pPr>
            <a:r>
              <a:rPr lang="en-US" altLang="zh-CN" sz="2400" dirty="0">
                <a:solidFill>
                  <a:srgbClr val="FF0000"/>
                </a:solidFill>
                <a:latin typeface="宋体" panose="02010600030101010101" pitchFamily="2" charset="-122"/>
              </a:rPr>
              <a:t>      </a:t>
            </a:r>
            <a:r>
              <a:rPr lang="zh-CN" altLang="en-US" sz="2400" dirty="0">
                <a:solidFill>
                  <a:srgbClr val="FF0000"/>
                </a:solidFill>
                <a:latin typeface="宋体" panose="02010600030101010101" pitchFamily="2" charset="-122"/>
              </a:rPr>
              <a:t>笛卡儿积的元组个数</a:t>
            </a:r>
            <a:r>
              <a:rPr lang="zh-CN" altLang="en-US" sz="2400" dirty="0">
                <a:latin typeface="宋体" panose="02010600030101010101" pitchFamily="2" charset="-122"/>
              </a:rPr>
              <a:t>为10</a:t>
            </a:r>
            <a:r>
              <a:rPr lang="zh-CN" altLang="en-US" sz="2400" baseline="30000" dirty="0">
                <a:latin typeface="宋体" panose="02010600030101010101" pitchFamily="2" charset="-122"/>
              </a:rPr>
              <a:t>3</a:t>
            </a:r>
            <a:r>
              <a:rPr lang="zh-CN" altLang="en-US" sz="2400" dirty="0">
                <a:latin typeface="宋体" panose="02010600030101010101" pitchFamily="2" charset="-122"/>
              </a:rPr>
              <a:t>×10</a:t>
            </a:r>
            <a:r>
              <a:rPr lang="zh-CN" altLang="en-US" sz="2400" baseline="30000" dirty="0">
                <a:latin typeface="宋体" panose="02010600030101010101" pitchFamily="2" charset="-122"/>
              </a:rPr>
              <a:t>4</a:t>
            </a:r>
            <a:r>
              <a:rPr lang="zh-CN" altLang="en-US" sz="2400" dirty="0">
                <a:latin typeface="宋体" panose="02010600030101010101" pitchFamily="2" charset="-122"/>
              </a:rPr>
              <a:t>＝10</a:t>
            </a:r>
            <a:r>
              <a:rPr lang="zh-CN" altLang="en-US" sz="2400" baseline="30000" dirty="0">
                <a:latin typeface="宋体" panose="02010600030101010101" pitchFamily="2" charset="-122"/>
              </a:rPr>
              <a:t>7</a:t>
            </a:r>
            <a:r>
              <a:rPr lang="zh-CN" altLang="en-US" sz="2400" dirty="0">
                <a:latin typeface="宋体" panose="02010600030101010101" pitchFamily="2" charset="-122"/>
              </a:rPr>
              <a:t>，设每块能装10个元组，则</a:t>
            </a:r>
            <a:r>
              <a:rPr lang="zh-CN" altLang="en-US" sz="2400" dirty="0">
                <a:solidFill>
                  <a:srgbClr val="FF0000"/>
                </a:solidFill>
                <a:latin typeface="宋体" panose="02010600030101010101" pitchFamily="2" charset="-122"/>
              </a:rPr>
              <a:t>写出</a:t>
            </a:r>
            <a:r>
              <a:rPr lang="zh-CN" altLang="en-US" sz="2400" dirty="0">
                <a:latin typeface="宋体" panose="02010600030101010101" pitchFamily="2" charset="-122"/>
              </a:rPr>
              <a:t>这些块所需的时间</a:t>
            </a:r>
            <a:r>
              <a:rPr lang="en-US" altLang="zh-CN" sz="2400" dirty="0">
                <a:solidFill>
                  <a:srgbClr val="FF0000"/>
                </a:solidFill>
                <a:latin typeface="宋体" panose="02010600030101010101" pitchFamily="2" charset="-122"/>
              </a:rPr>
              <a:t>T2</a:t>
            </a:r>
            <a:r>
              <a:rPr lang="en-US" altLang="zh-CN" sz="2400" dirty="0">
                <a:latin typeface="宋体" panose="02010600030101010101" pitchFamily="2" charset="-122"/>
              </a:rPr>
              <a:t>=</a:t>
            </a:r>
            <a:r>
              <a:rPr lang="zh-CN" altLang="en-US" sz="2400" dirty="0">
                <a:latin typeface="宋体" panose="02010600030101010101" pitchFamily="2" charset="-122"/>
              </a:rPr>
              <a:t> 10</a:t>
            </a:r>
            <a:r>
              <a:rPr lang="zh-CN" altLang="en-US" sz="2400" baseline="30000" dirty="0">
                <a:latin typeface="宋体" panose="02010600030101010101" pitchFamily="2" charset="-122"/>
              </a:rPr>
              <a:t>7</a:t>
            </a:r>
            <a:r>
              <a:rPr lang="en-US" altLang="zh-CN" sz="2400" dirty="0">
                <a:latin typeface="宋体" panose="02010600030101010101" pitchFamily="2" charset="-122"/>
              </a:rPr>
              <a:t>/10/20=5×10</a:t>
            </a:r>
            <a:r>
              <a:rPr lang="en-US" altLang="zh-CN" sz="2400" baseline="30000" dirty="0">
                <a:latin typeface="宋体" panose="02010600030101010101" pitchFamily="2" charset="-122"/>
              </a:rPr>
              <a:t>4</a:t>
            </a:r>
            <a:r>
              <a:rPr lang="en-US" altLang="zh-CN" sz="2400" dirty="0">
                <a:latin typeface="宋体" panose="02010600030101010101" pitchFamily="2" charset="-122"/>
              </a:rPr>
              <a:t>(</a:t>
            </a:r>
            <a:r>
              <a:rPr lang="zh-CN" altLang="en-US" sz="2400" dirty="0">
                <a:latin typeface="宋体" panose="02010600030101010101" pitchFamily="2" charset="-122"/>
              </a:rPr>
              <a:t>秒) </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2C3693E-B000-451A-A4D9-FD4313441039}"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anose="020B0604030504040204" pitchFamily="34" charset="0"/>
                <a:ea typeface="宋体" panose="02010600030101010101" pitchFamily="2" charset="-122"/>
                <a:cs typeface="+mn-cs"/>
              </a:rPr>
              <a:t>15</a:t>
            </a:fld>
            <a:endParaRPr kumimoji="0" lang="en-US" altLang="zh-CN" sz="1200" b="0" i="0" u="none" strike="noStrike" kern="1200" cap="none" spc="0" normalizeH="0" baseline="0" noProof="0">
              <a:ln>
                <a:noFill/>
              </a:ln>
              <a:solidFill>
                <a:srgbClr val="04617B">
                  <a:shade val="90000"/>
                </a:srgbClr>
              </a:solidFill>
              <a:effectLst/>
              <a:uLnTx/>
              <a:uFillTx/>
              <a:latin typeface="Verdana" panose="020B0604030504040204" pitchFamily="34" charset="0"/>
              <a:ea typeface="宋体" panose="02010600030101010101" pitchFamily="2" charset="-122"/>
              <a:cs typeface="+mn-cs"/>
            </a:endParaRPr>
          </a:p>
        </p:txBody>
      </p:sp>
      <p:grpSp>
        <p:nvGrpSpPr>
          <p:cNvPr id="19464" name="Group 8"/>
          <p:cNvGrpSpPr/>
          <p:nvPr/>
        </p:nvGrpSpPr>
        <p:grpSpPr bwMode="auto">
          <a:xfrm>
            <a:off x="0" y="2536825"/>
            <a:ext cx="2555875" cy="892175"/>
            <a:chOff x="0" y="1598"/>
            <a:chExt cx="1610" cy="562"/>
          </a:xfrm>
        </p:grpSpPr>
        <p:sp>
          <p:nvSpPr>
            <p:cNvPr id="19460" name="AutoShape 4"/>
            <p:cNvSpPr>
              <a:spLocks noChangeArrowheads="1"/>
            </p:cNvSpPr>
            <p:nvPr/>
          </p:nvSpPr>
          <p:spPr bwMode="auto">
            <a:xfrm>
              <a:off x="0" y="1598"/>
              <a:ext cx="793" cy="562"/>
            </a:xfrm>
            <a:prstGeom prst="wedgeRoundRectCallout">
              <a:avLst>
                <a:gd name="adj1" fmla="val 61219"/>
                <a:gd name="adj2" fmla="val 14593"/>
                <a:gd name="adj3" fmla="val 16667"/>
              </a:avLst>
            </a:prstGeom>
            <a:solidFill>
              <a:schemeClr val="bg1">
                <a:alpha val="0"/>
              </a:schemeClr>
            </a:solidFill>
            <a:ln w="9525">
              <a:solidFill>
                <a:srgbClr val="0000FF"/>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学生表</a:t>
              </a:r>
              <a:endPar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块数</a:t>
              </a:r>
            </a:p>
          </p:txBody>
        </p:sp>
        <p:sp>
          <p:nvSpPr>
            <p:cNvPr id="19463" name="AutoShape 7"/>
            <p:cNvSpPr>
              <a:spLocks noChangeArrowheads="1"/>
            </p:cNvSpPr>
            <p:nvPr/>
          </p:nvSpPr>
          <p:spPr bwMode="auto">
            <a:xfrm>
              <a:off x="884" y="1752"/>
              <a:ext cx="726" cy="301"/>
            </a:xfrm>
            <a:prstGeom prst="roundRect">
              <a:avLst>
                <a:gd name="adj" fmla="val 16667"/>
              </a:avLst>
            </a:prstGeom>
            <a:solidFill>
              <a:schemeClr val="bg1">
                <a:alpha val="0"/>
              </a:schemeClr>
            </a:solidFill>
            <a:ln w="9525">
              <a:solidFill>
                <a:srgbClr val="0000FF"/>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grpSp>
      <p:grpSp>
        <p:nvGrpSpPr>
          <p:cNvPr id="19467" name="Group 11"/>
          <p:cNvGrpSpPr/>
          <p:nvPr/>
        </p:nvGrpSpPr>
        <p:grpSpPr bwMode="auto">
          <a:xfrm>
            <a:off x="2700338" y="1916112"/>
            <a:ext cx="2857500" cy="1343259"/>
            <a:chOff x="1701" y="1207"/>
            <a:chExt cx="1800" cy="862"/>
          </a:xfrm>
        </p:grpSpPr>
        <p:sp>
          <p:nvSpPr>
            <p:cNvPr id="19461" name="AutoShape 5"/>
            <p:cNvSpPr>
              <a:spLocks noChangeArrowheads="1"/>
            </p:cNvSpPr>
            <p:nvPr/>
          </p:nvSpPr>
          <p:spPr bwMode="auto">
            <a:xfrm>
              <a:off x="2367" y="1207"/>
              <a:ext cx="1134" cy="529"/>
            </a:xfrm>
            <a:prstGeom prst="wedgeRoundRectCallout">
              <a:avLst>
                <a:gd name="adj1" fmla="val -37612"/>
                <a:gd name="adj2" fmla="val 66761"/>
                <a:gd name="adj3" fmla="val 16667"/>
              </a:avLst>
            </a:prstGeom>
            <a:solidFill>
              <a:schemeClr val="bg1">
                <a:alpha val="0"/>
              </a:schemeClr>
            </a:solidFill>
            <a:ln w="9525">
              <a:solidFill>
                <a:srgbClr val="0000FF"/>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学生表</a:t>
              </a: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批量读次数</a:t>
              </a:r>
            </a:p>
          </p:txBody>
        </p:sp>
        <p:sp>
          <p:nvSpPr>
            <p:cNvPr id="19465" name="AutoShape 9"/>
            <p:cNvSpPr>
              <a:spLocks noChangeArrowheads="1"/>
            </p:cNvSpPr>
            <p:nvPr/>
          </p:nvSpPr>
          <p:spPr bwMode="auto">
            <a:xfrm>
              <a:off x="1701" y="1752"/>
              <a:ext cx="1134" cy="317"/>
            </a:xfrm>
            <a:prstGeom prst="roundRect">
              <a:avLst>
                <a:gd name="adj" fmla="val 16667"/>
              </a:avLst>
            </a:prstGeom>
            <a:solidFill>
              <a:schemeClr val="bg1">
                <a:alpha val="0"/>
              </a:schemeClr>
            </a:solidFill>
            <a:ln w="9525">
              <a:solidFill>
                <a:srgbClr val="0000FF"/>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grpSp>
      <p:grpSp>
        <p:nvGrpSpPr>
          <p:cNvPr id="19468" name="Group 12"/>
          <p:cNvGrpSpPr/>
          <p:nvPr/>
        </p:nvGrpSpPr>
        <p:grpSpPr bwMode="auto">
          <a:xfrm>
            <a:off x="4787901" y="1956034"/>
            <a:ext cx="3929063" cy="1303338"/>
            <a:chOff x="3016" y="1248"/>
            <a:chExt cx="2475" cy="821"/>
          </a:xfrm>
        </p:grpSpPr>
        <p:sp>
          <p:nvSpPr>
            <p:cNvPr id="19462" name="AutoShape 6"/>
            <p:cNvSpPr>
              <a:spLocks noChangeArrowheads="1"/>
            </p:cNvSpPr>
            <p:nvPr/>
          </p:nvSpPr>
          <p:spPr bwMode="auto">
            <a:xfrm>
              <a:off x="4266" y="1248"/>
              <a:ext cx="1225" cy="384"/>
            </a:xfrm>
            <a:prstGeom prst="wedgeRoundRectCallout">
              <a:avLst>
                <a:gd name="adj1" fmla="val -79076"/>
                <a:gd name="adj2" fmla="val 77931"/>
                <a:gd name="adj3" fmla="val 16667"/>
              </a:avLst>
            </a:prstGeom>
            <a:solidFill>
              <a:schemeClr val="bg1">
                <a:alpha val="0"/>
              </a:schemeClr>
            </a:solidFill>
            <a:ln w="9525">
              <a:solidFill>
                <a:srgbClr val="0000FF"/>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成绩表块数</a:t>
              </a:r>
            </a:p>
          </p:txBody>
        </p:sp>
        <p:sp>
          <p:nvSpPr>
            <p:cNvPr id="19466" name="AutoShape 10"/>
            <p:cNvSpPr>
              <a:spLocks noChangeArrowheads="1"/>
            </p:cNvSpPr>
            <p:nvPr/>
          </p:nvSpPr>
          <p:spPr bwMode="auto">
            <a:xfrm>
              <a:off x="3016" y="1752"/>
              <a:ext cx="907" cy="317"/>
            </a:xfrm>
            <a:prstGeom prst="roundRect">
              <a:avLst>
                <a:gd name="adj" fmla="val 16667"/>
              </a:avLst>
            </a:prstGeom>
            <a:solidFill>
              <a:schemeClr val="bg1">
                <a:alpha val="0"/>
              </a:schemeClr>
            </a:solidFill>
            <a:ln w="9525">
              <a:solidFill>
                <a:srgbClr val="0000FF"/>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grpSp>
      <p:sp>
        <p:nvSpPr>
          <p:cNvPr id="19469" name="AutoShape 13"/>
          <p:cNvSpPr>
            <a:spLocks noChangeArrowheads="1"/>
          </p:cNvSpPr>
          <p:nvPr/>
        </p:nvSpPr>
        <p:spPr bwMode="auto">
          <a:xfrm>
            <a:off x="2123728" y="5395435"/>
            <a:ext cx="4393232" cy="1295400"/>
          </a:xfrm>
          <a:prstGeom prst="irregularSeal1">
            <a:avLst/>
          </a:prstGeom>
          <a:solidFill>
            <a:schemeClr val="bg1"/>
          </a:solidFill>
          <a:ln w="9525">
            <a:solidFill>
              <a:srgbClr val="0000FF"/>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注意</a:t>
            </a:r>
            <a:r>
              <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笛卡尔积写出</a:t>
            </a:r>
            <a:r>
              <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p>
        </p:txBody>
      </p:sp>
      <p:sp>
        <p:nvSpPr>
          <p:cNvPr id="2" name="椭圆 1"/>
          <p:cNvSpPr/>
          <p:nvPr/>
        </p:nvSpPr>
        <p:spPr>
          <a:xfrm>
            <a:off x="7308304" y="4400551"/>
            <a:ext cx="1696692"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64"/>
                                        </p:tgtEl>
                                        <p:attrNameLst>
                                          <p:attrName>style.visibility</p:attrName>
                                        </p:attrNameLst>
                                      </p:cBhvr>
                                      <p:to>
                                        <p:strVal val="visible"/>
                                      </p:to>
                                    </p:set>
                                    <p:anim calcmode="lin" valueType="num">
                                      <p:cBhvr additive="base">
                                        <p:cTn id="7" dur="500" fill="hold"/>
                                        <p:tgtEl>
                                          <p:spTgt spid="19464"/>
                                        </p:tgtEl>
                                        <p:attrNameLst>
                                          <p:attrName>ppt_x</p:attrName>
                                        </p:attrNameLst>
                                      </p:cBhvr>
                                      <p:tavLst>
                                        <p:tav tm="0">
                                          <p:val>
                                            <p:strVal val="#ppt_x"/>
                                          </p:val>
                                        </p:tav>
                                        <p:tav tm="100000">
                                          <p:val>
                                            <p:strVal val="#ppt_x"/>
                                          </p:val>
                                        </p:tav>
                                      </p:tavLst>
                                    </p:anim>
                                    <p:anim calcmode="lin" valueType="num">
                                      <p:cBhvr additive="base">
                                        <p:cTn id="8" dur="500" fill="hold"/>
                                        <p:tgtEl>
                                          <p:spTgt spid="194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67"/>
                                        </p:tgtEl>
                                        <p:attrNameLst>
                                          <p:attrName>style.visibility</p:attrName>
                                        </p:attrNameLst>
                                      </p:cBhvr>
                                      <p:to>
                                        <p:strVal val="visible"/>
                                      </p:to>
                                    </p:set>
                                    <p:anim calcmode="lin" valueType="num">
                                      <p:cBhvr additive="base">
                                        <p:cTn id="13" dur="500" fill="hold"/>
                                        <p:tgtEl>
                                          <p:spTgt spid="19467"/>
                                        </p:tgtEl>
                                        <p:attrNameLst>
                                          <p:attrName>ppt_x</p:attrName>
                                        </p:attrNameLst>
                                      </p:cBhvr>
                                      <p:tavLst>
                                        <p:tav tm="0">
                                          <p:val>
                                            <p:strVal val="#ppt_x"/>
                                          </p:val>
                                        </p:tav>
                                        <p:tav tm="100000">
                                          <p:val>
                                            <p:strVal val="#ppt_x"/>
                                          </p:val>
                                        </p:tav>
                                      </p:tavLst>
                                    </p:anim>
                                    <p:anim calcmode="lin" valueType="num">
                                      <p:cBhvr additive="base">
                                        <p:cTn id="14" dur="500" fill="hold"/>
                                        <p:tgtEl>
                                          <p:spTgt spid="1946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468"/>
                                        </p:tgtEl>
                                        <p:attrNameLst>
                                          <p:attrName>style.visibility</p:attrName>
                                        </p:attrNameLst>
                                      </p:cBhvr>
                                      <p:to>
                                        <p:strVal val="visible"/>
                                      </p:to>
                                    </p:set>
                                    <p:anim calcmode="lin" valueType="num">
                                      <p:cBhvr additive="base">
                                        <p:cTn id="19" dur="500" fill="hold"/>
                                        <p:tgtEl>
                                          <p:spTgt spid="19468"/>
                                        </p:tgtEl>
                                        <p:attrNameLst>
                                          <p:attrName>ppt_x</p:attrName>
                                        </p:attrNameLst>
                                      </p:cBhvr>
                                      <p:tavLst>
                                        <p:tav tm="0">
                                          <p:val>
                                            <p:strVal val="#ppt_x"/>
                                          </p:val>
                                        </p:tav>
                                        <p:tav tm="100000">
                                          <p:val>
                                            <p:strVal val="#ppt_x"/>
                                          </p:val>
                                        </p:tav>
                                      </p:tavLst>
                                    </p:anim>
                                    <p:anim calcmode="lin" valueType="num">
                                      <p:cBhvr additive="base">
                                        <p:cTn id="20" dur="500" fill="hold"/>
                                        <p:tgtEl>
                                          <p:spTgt spid="1946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69"/>
                                        </p:tgtEl>
                                        <p:attrNameLst>
                                          <p:attrName>style.visibility</p:attrName>
                                        </p:attrNameLst>
                                      </p:cBhvr>
                                      <p:to>
                                        <p:strVal val="visible"/>
                                      </p:to>
                                    </p:set>
                                    <p:anim calcmode="lin" valueType="num">
                                      <p:cBhvr additive="base">
                                        <p:cTn id="25" dur="500" fill="hold"/>
                                        <p:tgtEl>
                                          <p:spTgt spid="19469"/>
                                        </p:tgtEl>
                                        <p:attrNameLst>
                                          <p:attrName>ppt_x</p:attrName>
                                        </p:attrNameLst>
                                      </p:cBhvr>
                                      <p:tavLst>
                                        <p:tav tm="0">
                                          <p:val>
                                            <p:strVal val="#ppt_x"/>
                                          </p:val>
                                        </p:tav>
                                        <p:tav tm="100000">
                                          <p:val>
                                            <p:strVal val="#ppt_x"/>
                                          </p:val>
                                        </p:tav>
                                      </p:tavLst>
                                    </p:anim>
                                    <p:anim calcmode="lin" valueType="num">
                                      <p:cBhvr additive="base">
                                        <p:cTn id="26" dur="500" fill="hold"/>
                                        <p:tgtEl>
                                          <p:spTgt spid="1946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9" grpId="0" animBg="1"/>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3"/>
          <p:cNvSpPr>
            <a:spLocks noGrp="1" noChangeArrowheads="1"/>
          </p:cNvSpPr>
          <p:nvPr>
            <p:ph idx="1"/>
          </p:nvPr>
        </p:nvSpPr>
        <p:spPr>
          <a:xfrm>
            <a:off x="381000" y="928688"/>
            <a:ext cx="8458200" cy="5524648"/>
          </a:xfrm>
        </p:spPr>
        <p:txBody>
          <a:bodyPr/>
          <a:lstStyle/>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2．作选择</a:t>
            </a:r>
            <a:r>
              <a:rPr lang="en-US" altLang="zh-CN" sz="2400" dirty="0">
                <a:latin typeface="宋体" panose="02010600030101010101" pitchFamily="2" charset="-122"/>
              </a:rPr>
              <a:t>σ</a:t>
            </a:r>
          </a:p>
          <a:p>
            <a:pPr eaLnBrk="1" hangingPunct="1">
              <a:spcBef>
                <a:spcPct val="50000"/>
              </a:spcBef>
              <a:buClr>
                <a:schemeClr val="tx2"/>
              </a:buClr>
              <a:buSzPct val="90000"/>
              <a:buFont typeface="Wingdings" panose="05000000000000000000" pitchFamily="2" charset="2"/>
              <a:buNone/>
            </a:pPr>
            <a:r>
              <a:rPr lang="en-US" altLang="zh-CN" sz="2400" dirty="0">
                <a:latin typeface="宋体" panose="02010600030101010101" pitchFamily="2" charset="-122"/>
              </a:rPr>
              <a:t>    </a:t>
            </a:r>
            <a:r>
              <a:rPr lang="zh-CN" altLang="en-US" sz="2400" dirty="0">
                <a:latin typeface="宋体" panose="02010600030101010101" pitchFamily="2" charset="-122"/>
              </a:rPr>
              <a:t>依次</a:t>
            </a:r>
            <a:r>
              <a:rPr lang="zh-CN" altLang="en-US" sz="2400" dirty="0">
                <a:solidFill>
                  <a:srgbClr val="FF0000"/>
                </a:solidFill>
                <a:latin typeface="宋体" panose="02010600030101010101" pitchFamily="2" charset="-122"/>
              </a:rPr>
              <a:t>读入笛卡尔积连串后的结果</a:t>
            </a:r>
            <a:r>
              <a:rPr lang="zh-CN" altLang="en-US" sz="2400" dirty="0">
                <a:latin typeface="宋体" panose="02010600030101010101" pitchFamily="2" charset="-122"/>
              </a:rPr>
              <a:t>，选择满足条件的记录，假定内存处理时间忽略不计，则读取中间结果的时间</a:t>
            </a:r>
            <a:r>
              <a:rPr lang="en-US" altLang="zh-CN" sz="2400" dirty="0">
                <a:latin typeface="宋体" panose="02010600030101010101" pitchFamily="2" charset="-122"/>
              </a:rPr>
              <a:t>T3</a:t>
            </a:r>
            <a:r>
              <a:rPr lang="zh-CN" altLang="en-US" sz="2400" dirty="0">
                <a:latin typeface="宋体" panose="02010600030101010101" pitchFamily="2" charset="-122"/>
              </a:rPr>
              <a:t>与</a:t>
            </a:r>
            <a:r>
              <a:rPr lang="en-US" altLang="zh-CN" sz="2400" dirty="0">
                <a:latin typeface="宋体" panose="02010600030101010101" pitchFamily="2" charset="-122"/>
              </a:rPr>
              <a:t>T2</a:t>
            </a:r>
            <a:r>
              <a:rPr lang="zh-CN" altLang="en-US" sz="2400" dirty="0">
                <a:latin typeface="宋体" panose="02010600030101010101" pitchFamily="2" charset="-122"/>
              </a:rPr>
              <a:t>相等，即</a:t>
            </a:r>
            <a:endParaRPr lang="en-US" altLang="zh-CN" sz="2400" dirty="0">
              <a:latin typeface="宋体" panose="02010600030101010101" pitchFamily="2" charset="-122"/>
            </a:endParaRPr>
          </a:p>
          <a:p>
            <a:pPr eaLnBrk="1" hangingPunct="1">
              <a:spcBef>
                <a:spcPct val="50000"/>
              </a:spcBef>
              <a:buClr>
                <a:schemeClr val="tx2"/>
              </a:buClr>
              <a:buSzPct val="90000"/>
              <a:buFont typeface="Wingdings" panose="05000000000000000000" pitchFamily="2" charset="2"/>
              <a:buNone/>
            </a:pPr>
            <a:r>
              <a:rPr lang="en-US" altLang="zh-CN" sz="2400" dirty="0">
                <a:solidFill>
                  <a:srgbClr val="FF0000"/>
                </a:solidFill>
                <a:latin typeface="宋体" panose="02010600030101010101" pitchFamily="2" charset="-122"/>
              </a:rPr>
              <a:t>           T3</a:t>
            </a:r>
            <a:r>
              <a:rPr lang="en-US" altLang="zh-CN" sz="2400" dirty="0">
                <a:latin typeface="宋体" panose="02010600030101010101" pitchFamily="2" charset="-122"/>
              </a:rPr>
              <a:t>=5×10</a:t>
            </a:r>
            <a:r>
              <a:rPr lang="en-US" altLang="zh-CN" sz="2400" baseline="30000" dirty="0">
                <a:latin typeface="宋体" panose="02010600030101010101" pitchFamily="2" charset="-122"/>
              </a:rPr>
              <a:t>4</a:t>
            </a:r>
            <a:r>
              <a:rPr lang="en-US" altLang="zh-CN" sz="2400" dirty="0">
                <a:latin typeface="宋体" panose="02010600030101010101" pitchFamily="2" charset="-122"/>
              </a:rPr>
              <a:t> (</a:t>
            </a:r>
            <a:r>
              <a:rPr lang="zh-CN" altLang="en-US" sz="2400" dirty="0">
                <a:latin typeface="宋体" panose="02010600030101010101" pitchFamily="2" charset="-122"/>
              </a:rPr>
              <a:t>秒)</a:t>
            </a:r>
            <a:endParaRPr lang="en-US" altLang="zh-CN" sz="2400" dirty="0">
              <a:latin typeface="宋体" panose="02010600030101010101" pitchFamily="2" charset="-122"/>
            </a:endParaRP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    满足条件的记录仅有50条，</a:t>
            </a:r>
            <a:r>
              <a:rPr lang="zh-CN" altLang="en-US" sz="2400" dirty="0">
                <a:solidFill>
                  <a:srgbClr val="FF0000"/>
                </a:solidFill>
                <a:latin typeface="宋体" panose="02010600030101010101" pitchFamily="2" charset="-122"/>
              </a:rPr>
              <a:t>结果直接驻留内存</a:t>
            </a:r>
            <a:r>
              <a:rPr lang="zh-CN" altLang="en-US" sz="2400" dirty="0">
                <a:latin typeface="宋体" panose="02010600030101010101" pitchFamily="2" charset="-122"/>
              </a:rPr>
              <a:t>。</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3．作投影</a:t>
            </a:r>
            <a:r>
              <a:rPr lang="en-US" altLang="zh-CN" sz="2400" dirty="0">
                <a:latin typeface="宋体" panose="02010600030101010101" pitchFamily="2" charset="-122"/>
              </a:rPr>
              <a:t>π</a:t>
            </a:r>
          </a:p>
          <a:p>
            <a:pPr eaLnBrk="1" hangingPunct="1">
              <a:spcBef>
                <a:spcPct val="50000"/>
              </a:spcBef>
              <a:buClr>
                <a:schemeClr val="tx2"/>
              </a:buClr>
              <a:buSzPct val="90000"/>
              <a:buFont typeface="Wingdings" panose="05000000000000000000" pitchFamily="2" charset="2"/>
              <a:buNone/>
            </a:pPr>
            <a:r>
              <a:rPr lang="en-US" altLang="zh-CN" sz="2400" dirty="0">
                <a:latin typeface="宋体" panose="02010600030101010101" pitchFamily="2" charset="-122"/>
              </a:rPr>
              <a:t>    </a:t>
            </a:r>
            <a:r>
              <a:rPr lang="zh-CN" altLang="en-US" sz="2400" dirty="0">
                <a:latin typeface="宋体" panose="02010600030101010101" pitchFamily="2" charset="-122"/>
              </a:rPr>
              <a:t>将内存中的结果在</a:t>
            </a:r>
            <a:r>
              <a:rPr lang="zh-CN" altLang="en-US" sz="2400" dirty="0">
                <a:latin typeface="Times New Roman" panose="02020603050405020304" pitchFamily="18" charset="0"/>
              </a:rPr>
              <a:t>“</a:t>
            </a:r>
            <a:r>
              <a:rPr lang="zh-CN" altLang="en-US" sz="2400" dirty="0">
                <a:latin typeface="宋体" panose="02010600030101010101" pitchFamily="2" charset="-122"/>
              </a:rPr>
              <a:t>姓名</a:t>
            </a:r>
            <a:r>
              <a:rPr lang="zh-CN" altLang="en-US" sz="2400" dirty="0">
                <a:latin typeface="Times New Roman" panose="02020603050405020304" pitchFamily="18" charset="0"/>
              </a:rPr>
              <a:t>”</a:t>
            </a:r>
            <a:r>
              <a:rPr lang="zh-CN" altLang="en-US" sz="2400" dirty="0">
                <a:latin typeface="宋体" panose="02010600030101010101" pitchFamily="2" charset="-122"/>
              </a:rPr>
              <a:t>上作投影，得最终结果，因此第一种情况下执行查询的总时间为：</a:t>
            </a:r>
            <a:endParaRPr lang="en-US" altLang="zh-CN" sz="2400" dirty="0">
              <a:latin typeface="宋体" panose="02010600030101010101" pitchFamily="2" charset="-122"/>
            </a:endParaRPr>
          </a:p>
          <a:p>
            <a:pPr eaLnBrk="1" hangingPunct="1">
              <a:spcBef>
                <a:spcPct val="50000"/>
              </a:spcBef>
              <a:buClr>
                <a:schemeClr val="tx2"/>
              </a:buClr>
              <a:buSzPct val="90000"/>
              <a:buFont typeface="Wingdings" panose="05000000000000000000" pitchFamily="2" charset="2"/>
              <a:buNone/>
            </a:pPr>
            <a:r>
              <a:rPr lang="en-US" altLang="zh-CN" sz="2400" dirty="0">
                <a:latin typeface="宋体" panose="02010600030101010101" pitchFamily="2" charset="-122"/>
              </a:rPr>
              <a:t>           </a:t>
            </a:r>
            <a:r>
              <a:rPr lang="en-US" altLang="zh-CN" sz="2400" dirty="0">
                <a:solidFill>
                  <a:srgbClr val="FF0000"/>
                </a:solidFill>
                <a:latin typeface="宋体" panose="02010600030101010101" pitchFamily="2" charset="-122"/>
              </a:rPr>
              <a:t>T</a:t>
            </a:r>
            <a:r>
              <a:rPr lang="en-US" altLang="zh-CN" sz="2400" dirty="0">
                <a:latin typeface="宋体" panose="02010600030101010101" pitchFamily="2" charset="-122"/>
              </a:rPr>
              <a:t>=T1+T2+T3≈10</a:t>
            </a:r>
            <a:r>
              <a:rPr lang="en-US" altLang="zh-CN" sz="2400" baseline="30000" dirty="0">
                <a:latin typeface="宋体" panose="02010600030101010101" pitchFamily="2" charset="-122"/>
              </a:rPr>
              <a:t>5</a:t>
            </a:r>
            <a:r>
              <a:rPr lang="en-US" altLang="zh-CN" sz="2400" dirty="0">
                <a:latin typeface="宋体" panose="02010600030101010101" pitchFamily="2" charset="-122"/>
              </a:rPr>
              <a:t>(</a:t>
            </a:r>
            <a:r>
              <a:rPr lang="zh-CN" altLang="en-US" sz="2400" dirty="0">
                <a:latin typeface="宋体" panose="02010600030101010101" pitchFamily="2" charset="-122"/>
              </a:rPr>
              <a:t>秒)</a:t>
            </a:r>
          </a:p>
          <a:p>
            <a:pPr eaLnBrk="1" hangingPunct="1">
              <a:spcBef>
                <a:spcPct val="50000"/>
              </a:spcBef>
              <a:buClr>
                <a:schemeClr val="tx2"/>
              </a:buClr>
              <a:buSzPct val="90000"/>
              <a:buFont typeface="Wingdings" panose="05000000000000000000" pitchFamily="2" charset="2"/>
              <a:buNone/>
            </a:pPr>
            <a:r>
              <a:rPr lang="zh-CN" altLang="en-US" sz="2400" dirty="0">
                <a:solidFill>
                  <a:srgbClr val="0000FF"/>
                </a:solidFill>
                <a:latin typeface="宋体" panose="02010600030101010101" pitchFamily="2" charset="-122"/>
              </a:rPr>
              <a:t>（总时间约28小时）</a:t>
            </a:r>
            <a:endParaRPr lang="zh-CN" altLang="en-US" dirty="0">
              <a:solidFill>
                <a:srgbClr val="0000FF"/>
              </a:solidFill>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72B8FD-8F01-4523-9F9D-FC7C12C1F180}"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anose="020B0604030504040204" pitchFamily="34" charset="0"/>
                <a:ea typeface="宋体" panose="02010600030101010101" pitchFamily="2" charset="-122"/>
                <a:cs typeface="+mn-cs"/>
              </a:rPr>
              <a:t>16</a:t>
            </a:fld>
            <a:endParaRPr kumimoji="0" lang="en-US" altLang="zh-CN" sz="1200" b="0" i="0" u="none" strike="noStrike" kern="1200" cap="none" spc="0" normalizeH="0" baseline="0" noProof="0">
              <a:ln>
                <a:noFill/>
              </a:ln>
              <a:solidFill>
                <a:srgbClr val="04617B">
                  <a:shade val="90000"/>
                </a:srgbClr>
              </a:solidFill>
              <a:effectLst/>
              <a:uLnTx/>
              <a:uFillTx/>
              <a:latin typeface="Verdana" panose="020B0604030504040204" pitchFamily="34" charset="0"/>
              <a:ea typeface="宋体" panose="02010600030101010101" pitchFamily="2" charset="-122"/>
              <a:cs typeface="+mn-cs"/>
            </a:endParaRPr>
          </a:p>
        </p:txBody>
      </p:sp>
      <p:sp>
        <p:nvSpPr>
          <p:cNvPr id="4" name="AutoShape 13"/>
          <p:cNvSpPr>
            <a:spLocks noChangeArrowheads="1"/>
          </p:cNvSpPr>
          <p:nvPr/>
        </p:nvSpPr>
        <p:spPr bwMode="auto">
          <a:xfrm>
            <a:off x="2411760" y="476672"/>
            <a:ext cx="3816424" cy="1080120"/>
          </a:xfrm>
          <a:prstGeom prst="irregularSeal1">
            <a:avLst/>
          </a:prstGeom>
          <a:solidFill>
            <a:schemeClr val="bg1"/>
          </a:solidFill>
          <a:ln w="9525">
            <a:solidFill>
              <a:srgbClr val="0000FF"/>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注意</a:t>
            </a:r>
            <a:r>
              <a:rPr kumimoji="1" lang="en-US" altLang="zh-CN" sz="20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r>
              <a:rPr kumimoji="1" lang="zh-CN" altLang="en-US" sz="20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笛卡尔积读入</a:t>
            </a:r>
            <a:r>
              <a:rPr kumimoji="1" lang="en-US" altLang="zh-CN" sz="20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3"/>
          <p:cNvSpPr>
            <a:spLocks noGrp="1" noChangeArrowheads="1"/>
          </p:cNvSpPr>
          <p:nvPr>
            <p:ph idx="1"/>
          </p:nvPr>
        </p:nvSpPr>
        <p:spPr>
          <a:xfrm>
            <a:off x="381000" y="752475"/>
            <a:ext cx="8534400" cy="5748338"/>
          </a:xfrm>
        </p:spPr>
        <p:txBody>
          <a:bodyPr/>
          <a:lstStyle/>
          <a:p>
            <a:pPr eaLnBrk="1" hangingPunct="1">
              <a:spcBef>
                <a:spcPct val="50000"/>
              </a:spcBef>
              <a:buClr>
                <a:schemeClr val="tx2"/>
              </a:buClr>
              <a:buSzPct val="90000"/>
            </a:pPr>
            <a:r>
              <a:rPr lang="zh-CN" altLang="en-US" sz="2400" dirty="0">
                <a:latin typeface="黑体" panose="02010609060101010101" pitchFamily="49" charset="-122"/>
                <a:ea typeface="黑体" panose="02010609060101010101" pitchFamily="49" charset="-122"/>
              </a:rPr>
              <a:t>第二种情况 </a:t>
            </a:r>
            <a:r>
              <a:rPr lang="en-US" altLang="zh-CN" sz="2400" dirty="0">
                <a:latin typeface="黑体" panose="02010609060101010101" pitchFamily="49" charset="-122"/>
                <a:ea typeface="黑体" panose="02010609060101010101" pitchFamily="49" charset="-122"/>
              </a:rPr>
              <a:t>Q2＝π</a:t>
            </a:r>
            <a:r>
              <a:rPr lang="zh-CN" altLang="en-US" sz="2400" baseline="-25000" dirty="0">
                <a:latin typeface="黑体" panose="02010609060101010101" pitchFamily="49" charset="-122"/>
                <a:ea typeface="黑体" panose="02010609060101010101" pitchFamily="49" charset="-122"/>
              </a:rPr>
              <a:t>姓名</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σ</a:t>
            </a:r>
            <a:r>
              <a:rPr lang="zh-CN" altLang="en-US" sz="2400" baseline="-25000" dirty="0">
                <a:latin typeface="黑体" panose="02010609060101010101" pitchFamily="49" charset="-122"/>
                <a:ea typeface="黑体" panose="02010609060101010101" pitchFamily="49" charset="-122"/>
              </a:rPr>
              <a:t>课号=</a:t>
            </a:r>
            <a:r>
              <a:rPr lang="zh-CN" altLang="en-US" sz="2400" baseline="-25000" dirty="0">
                <a:latin typeface="Times New Roman" panose="02020603050405020304" pitchFamily="18" charset="0"/>
                <a:ea typeface="黑体" panose="02010609060101010101" pitchFamily="49" charset="-122"/>
              </a:rPr>
              <a:t>’</a:t>
            </a:r>
            <a:r>
              <a:rPr lang="zh-CN" altLang="en-US" sz="2400" baseline="-25000" dirty="0">
                <a:latin typeface="黑体" panose="02010609060101010101" pitchFamily="49" charset="-122"/>
                <a:ea typeface="黑体" panose="02010609060101010101" pitchFamily="49" charset="-122"/>
              </a:rPr>
              <a:t>2</a:t>
            </a:r>
            <a:r>
              <a:rPr lang="zh-CN" altLang="en-US" sz="2400" baseline="-25000" dirty="0">
                <a:latin typeface="Times New Roman" panose="02020603050405020304" pitchFamily="18" charset="0"/>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 (学生 </a:t>
            </a:r>
            <a:r>
              <a:rPr lang="en-US" altLang="zh-CN" sz="2400" dirty="0">
                <a:latin typeface="Arial Unicode MS"/>
                <a:ea typeface="Arial Unicode MS"/>
                <a:cs typeface="Arial Unicode MS"/>
              </a:rPr>
              <a:t>⋈</a:t>
            </a:r>
            <a:r>
              <a:rPr lang="zh-CN" altLang="en-US" sz="2400" dirty="0">
                <a:latin typeface="黑体" panose="02010609060101010101" pitchFamily="49" charset="-122"/>
                <a:ea typeface="黑体" panose="02010609060101010101" pitchFamily="49" charset="-122"/>
              </a:rPr>
              <a:t> 成绩））</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1．计算自然连接</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   读取学生表和成绩表的策略不变，总的读取时间仍105秒，但</a:t>
            </a:r>
            <a:r>
              <a:rPr lang="zh-CN" altLang="en-US" sz="2400" dirty="0">
                <a:solidFill>
                  <a:srgbClr val="FF0000"/>
                </a:solidFill>
                <a:latin typeface="宋体" panose="02010600030101010101" pitchFamily="2" charset="-122"/>
              </a:rPr>
              <a:t>自然连接的结果</a:t>
            </a:r>
            <a:r>
              <a:rPr lang="zh-CN" altLang="en-US" sz="2400" dirty="0">
                <a:latin typeface="宋体" panose="02010600030101010101" pitchFamily="2" charset="-122"/>
              </a:rPr>
              <a:t>比第一种情况大大减少，为10</a:t>
            </a:r>
            <a:r>
              <a:rPr lang="zh-CN" altLang="en-US" sz="2400" baseline="30000" dirty="0">
                <a:latin typeface="宋体" panose="02010600030101010101" pitchFamily="2" charset="-122"/>
              </a:rPr>
              <a:t>4</a:t>
            </a:r>
            <a:r>
              <a:rPr lang="zh-CN" altLang="en-US" sz="2400" dirty="0">
                <a:latin typeface="宋体" panose="02010600030101010101" pitchFamily="2" charset="-122"/>
              </a:rPr>
              <a:t>条，因此，写出这些元组所需时间为10</a:t>
            </a:r>
            <a:r>
              <a:rPr lang="zh-CN" altLang="en-US" sz="2400" baseline="30000" dirty="0">
                <a:latin typeface="宋体" panose="02010600030101010101" pitchFamily="2" charset="-122"/>
              </a:rPr>
              <a:t>4</a:t>
            </a:r>
            <a:r>
              <a:rPr lang="zh-CN" altLang="en-US" sz="2400" dirty="0">
                <a:latin typeface="宋体" panose="02010600030101010101" pitchFamily="2" charset="-122"/>
              </a:rPr>
              <a:t>/10/20＝50（秒）。</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2．作选择</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   读取中间结果所需的时间仍为50（秒），符合条件的记录为50条。</a:t>
            </a:r>
            <a:endParaRPr lang="en-US" altLang="zh-CN" sz="2400" dirty="0">
              <a:latin typeface="宋体" panose="02010600030101010101" pitchFamily="2" charset="-122"/>
            </a:endParaRP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3．作投影</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   将中间结果投影输出。</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   </a:t>
            </a:r>
            <a:r>
              <a:rPr lang="zh-CN" altLang="en-US" sz="2400" dirty="0">
                <a:solidFill>
                  <a:srgbClr val="0000FF"/>
                </a:solidFill>
                <a:latin typeface="宋体" panose="02010600030101010101" pitchFamily="2" charset="-122"/>
              </a:rPr>
              <a:t>第二种情况总的执行时间为：105＋50＋50＝205（秒）</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EB834E7-1DB6-443D-97DD-0EBB226E0E4B}"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anose="020B0604030504040204" pitchFamily="34" charset="0"/>
                <a:ea typeface="宋体" panose="02010600030101010101" pitchFamily="2" charset="-122"/>
                <a:cs typeface="+mn-cs"/>
              </a:rPr>
              <a:t>17</a:t>
            </a:fld>
            <a:endParaRPr kumimoji="0" lang="en-US" altLang="zh-CN" sz="1200" b="0" i="0" u="none" strike="noStrike" kern="1200" cap="none" spc="0" normalizeH="0" baseline="0" noProof="0">
              <a:ln>
                <a:noFill/>
              </a:ln>
              <a:solidFill>
                <a:srgbClr val="04617B">
                  <a:shade val="90000"/>
                </a:srgbClr>
              </a:solidFill>
              <a:effectLst/>
              <a:uLnTx/>
              <a:uFillTx/>
              <a:latin typeface="Verdana" panose="020B0604030504040204" pitchFamily="34" charset="0"/>
              <a:ea typeface="宋体" panose="02010600030101010101" pitchFamily="2" charset="-122"/>
              <a:cs typeface="+mn-cs"/>
            </a:endParaRPr>
          </a:p>
        </p:txBody>
      </p:sp>
      <p:sp>
        <p:nvSpPr>
          <p:cNvPr id="5" name="圆角矩形标注 4"/>
          <p:cNvSpPr/>
          <p:nvPr/>
        </p:nvSpPr>
        <p:spPr>
          <a:xfrm>
            <a:off x="6858016" y="2928934"/>
            <a:ext cx="1785950" cy="755524"/>
          </a:xfrm>
          <a:prstGeom prst="wedgeRoundRectCallout">
            <a:avLst>
              <a:gd name="adj1" fmla="val -60750"/>
              <a:gd name="adj2" fmla="val -92256"/>
              <a:gd name="adj3" fmla="val 1666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mn-ea"/>
                <a:cs typeface="+mn-cs"/>
              </a:rPr>
              <a:t>10000</a:t>
            </a:r>
            <a:r>
              <a:rPr kumimoji="1" lang="zh-CN" altLang="en-US" sz="2400" b="0" i="0" u="none" strike="noStrike" kern="1200" cap="none" spc="0" normalizeH="0" baseline="0" noProof="0" dirty="0">
                <a:ln>
                  <a:noFill/>
                </a:ln>
                <a:solidFill>
                  <a:srgbClr val="FF0000"/>
                </a:solidFill>
                <a:effectLst/>
                <a:uLnTx/>
                <a:uFillTx/>
                <a:latin typeface="+mn-ea"/>
                <a:cs typeface="+mn-cs"/>
              </a:rPr>
              <a:t>条成绩记录</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a:spLocks noGrp="1" noChangeArrowheads="1"/>
          </p:cNvSpPr>
          <p:nvPr>
            <p:ph idx="1"/>
          </p:nvPr>
        </p:nvSpPr>
        <p:spPr>
          <a:xfrm>
            <a:off x="381000" y="752475"/>
            <a:ext cx="8458200" cy="4548733"/>
          </a:xfrm>
        </p:spPr>
        <p:txBody>
          <a:bodyPr/>
          <a:lstStyle/>
          <a:p>
            <a:pPr eaLnBrk="1" hangingPunct="1">
              <a:spcBef>
                <a:spcPct val="50000"/>
              </a:spcBef>
              <a:buClr>
                <a:schemeClr val="tx2"/>
              </a:buClr>
              <a:buSzPct val="90000"/>
              <a:buFont typeface="Wingdings" panose="05000000000000000000" pitchFamily="2" charset="2"/>
              <a:buNone/>
            </a:pPr>
            <a:r>
              <a:rPr lang="zh-CN" altLang="en-US" sz="2400" dirty="0">
                <a:latin typeface="黑体" panose="02010609060101010101" pitchFamily="49" charset="-122"/>
                <a:ea typeface="黑体" panose="02010609060101010101" pitchFamily="49" charset="-122"/>
              </a:rPr>
              <a:t>第三种情况 </a:t>
            </a:r>
            <a:r>
              <a:rPr lang="en-US" altLang="zh-CN" sz="2400" dirty="0">
                <a:latin typeface="黑体" panose="02010609060101010101" pitchFamily="49" charset="-122"/>
                <a:ea typeface="黑体" panose="02010609060101010101" pitchFamily="49" charset="-122"/>
              </a:rPr>
              <a:t>Q3＝π</a:t>
            </a:r>
            <a:r>
              <a:rPr lang="zh-CN" altLang="en-US" sz="2400" baseline="-25000" dirty="0">
                <a:latin typeface="黑体" panose="02010609060101010101" pitchFamily="49" charset="-122"/>
                <a:ea typeface="黑体" panose="02010609060101010101" pitchFamily="49" charset="-122"/>
              </a:rPr>
              <a:t>姓名</a:t>
            </a:r>
            <a:r>
              <a:rPr lang="zh-CN" altLang="en-US" sz="2400" dirty="0">
                <a:latin typeface="黑体" panose="02010609060101010101" pitchFamily="49" charset="-122"/>
                <a:ea typeface="黑体" panose="02010609060101010101" pitchFamily="49" charset="-122"/>
              </a:rPr>
              <a:t>（学生    </a:t>
            </a:r>
            <a:r>
              <a:rPr lang="en-US" altLang="zh-CN" sz="2400" dirty="0">
                <a:latin typeface="黑体" panose="02010609060101010101" pitchFamily="49" charset="-122"/>
                <a:ea typeface="黑体" panose="02010609060101010101" pitchFamily="49" charset="-122"/>
              </a:rPr>
              <a:t>σ</a:t>
            </a:r>
            <a:r>
              <a:rPr lang="zh-CN" altLang="en-US" sz="2400" baseline="-25000" dirty="0">
                <a:latin typeface="黑体" panose="02010609060101010101" pitchFamily="49" charset="-122"/>
                <a:ea typeface="黑体" panose="02010609060101010101" pitchFamily="49" charset="-122"/>
              </a:rPr>
              <a:t>课号=</a:t>
            </a:r>
            <a:r>
              <a:rPr lang="zh-CN" altLang="en-US" sz="2400" baseline="-25000" dirty="0">
                <a:latin typeface="Times New Roman" panose="02020603050405020304" pitchFamily="18" charset="0"/>
                <a:ea typeface="黑体" panose="02010609060101010101" pitchFamily="49" charset="-122"/>
              </a:rPr>
              <a:t>’</a:t>
            </a:r>
            <a:r>
              <a:rPr lang="zh-CN" altLang="en-US" sz="2400" baseline="-25000" dirty="0">
                <a:latin typeface="黑体" panose="02010609060101010101" pitchFamily="49" charset="-122"/>
                <a:ea typeface="黑体" panose="02010609060101010101" pitchFamily="49" charset="-122"/>
              </a:rPr>
              <a:t>2</a:t>
            </a:r>
            <a:r>
              <a:rPr lang="zh-CN" altLang="en-US" sz="2400" baseline="-25000" dirty="0">
                <a:latin typeface="Times New Roman" panose="02020603050405020304" pitchFamily="18" charset="0"/>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（成绩））</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1．先对成绩表作选择运算，只读取一遍成绩表，存取花费时间为</a:t>
            </a:r>
            <a:r>
              <a:rPr lang="zh-CN" altLang="en-US" sz="2400" dirty="0">
                <a:solidFill>
                  <a:srgbClr val="FF0000"/>
                </a:solidFill>
                <a:latin typeface="宋体" panose="02010600030101010101" pitchFamily="2" charset="-122"/>
              </a:rPr>
              <a:t>5秒</a:t>
            </a:r>
            <a:r>
              <a:rPr lang="zh-CN" altLang="en-US" sz="2400" dirty="0">
                <a:latin typeface="宋体" panose="02010600030101010101" pitchFamily="2" charset="-122"/>
              </a:rPr>
              <a:t>，因满足条件的记录为50条，</a:t>
            </a:r>
            <a:r>
              <a:rPr lang="zh-CN" altLang="en-US" sz="2400" dirty="0">
                <a:solidFill>
                  <a:srgbClr val="FF0000"/>
                </a:solidFill>
                <a:latin typeface="宋体" panose="02010600030101010101" pitchFamily="2" charset="-122"/>
              </a:rPr>
              <a:t>不必使用中间文件</a:t>
            </a:r>
            <a:r>
              <a:rPr lang="zh-CN" altLang="en-US" sz="2400" dirty="0">
                <a:latin typeface="宋体" panose="02010600030101010101" pitchFamily="2" charset="-122"/>
              </a:rPr>
              <a:t>。</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2．读取学生表并</a:t>
            </a:r>
            <a:r>
              <a:rPr lang="zh-CN" altLang="en-US" sz="2400" dirty="0">
                <a:solidFill>
                  <a:srgbClr val="FF0000"/>
                </a:solidFill>
                <a:latin typeface="宋体" panose="02010600030101010101" pitchFamily="2" charset="-122"/>
              </a:rPr>
              <a:t>与</a:t>
            </a:r>
            <a:r>
              <a:rPr lang="zh-CN" altLang="en-US" sz="2400" b="1" dirty="0">
                <a:solidFill>
                  <a:srgbClr val="FF0000"/>
                </a:solidFill>
                <a:latin typeface="微软雅黑" panose="020B0503020204020204" charset="-122"/>
                <a:ea typeface="微软雅黑" panose="020B0503020204020204" charset="-122"/>
              </a:rPr>
              <a:t>内存中</a:t>
            </a:r>
            <a:r>
              <a:rPr lang="zh-CN" altLang="en-US" sz="2400" dirty="0">
                <a:solidFill>
                  <a:srgbClr val="FF0000"/>
                </a:solidFill>
                <a:latin typeface="宋体" panose="02010600030101010101" pitchFamily="2" charset="-122"/>
              </a:rPr>
              <a:t>的成绩记录</a:t>
            </a:r>
            <a:r>
              <a:rPr lang="zh-CN" altLang="en-US" sz="2400" dirty="0">
                <a:latin typeface="宋体" panose="02010600030101010101" pitchFamily="2" charset="-122"/>
              </a:rPr>
              <a:t>作连接，花费时间</a:t>
            </a:r>
            <a:r>
              <a:rPr lang="zh-CN" altLang="en-US" sz="2400" dirty="0">
                <a:solidFill>
                  <a:srgbClr val="FF0000"/>
                </a:solidFill>
                <a:latin typeface="宋体" panose="02010600030101010101" pitchFamily="2" charset="-122"/>
              </a:rPr>
              <a:t>5秒</a:t>
            </a:r>
            <a:r>
              <a:rPr lang="zh-CN" altLang="en-US" sz="2400" dirty="0">
                <a:latin typeface="宋体" panose="02010600030101010101" pitchFamily="2" charset="-122"/>
              </a:rPr>
              <a:t>。</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3．输出投影结果。</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   </a:t>
            </a:r>
            <a:r>
              <a:rPr lang="zh-CN" altLang="en-US" sz="2400" dirty="0">
                <a:solidFill>
                  <a:srgbClr val="0000FF"/>
                </a:solidFill>
                <a:latin typeface="宋体" panose="02010600030101010101" pitchFamily="2" charset="-122"/>
              </a:rPr>
              <a:t>第三种情况总的执行时间为10秒。</a:t>
            </a:r>
          </a:p>
          <a:p>
            <a:pPr eaLnBrk="1" hangingPunct="1">
              <a:spcBef>
                <a:spcPct val="50000"/>
              </a:spcBef>
              <a:buClr>
                <a:schemeClr val="tx2"/>
              </a:buClr>
              <a:buSzPct val="90000"/>
              <a:buFont typeface="Wingdings" panose="05000000000000000000" pitchFamily="2" charset="2"/>
              <a:buNone/>
            </a:pPr>
            <a:endParaRPr lang="en-US" altLang="zh-CN" sz="2400" dirty="0">
              <a:latin typeface="宋体" panose="02010600030101010101" pitchFamily="2" charset="-122"/>
            </a:endParaRP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   上例充分说明查询优化的必要性，同时给出一些查询优化方法的基本思想。</a:t>
            </a:r>
          </a:p>
        </p:txBody>
      </p:sp>
      <p:sp>
        <p:nvSpPr>
          <p:cNvPr id="22530" name="AutoShape 4"/>
          <p:cNvSpPr>
            <a:spLocks noChangeArrowheads="1"/>
          </p:cNvSpPr>
          <p:nvPr/>
        </p:nvSpPr>
        <p:spPr bwMode="auto">
          <a:xfrm rot="16200000" flipV="1">
            <a:off x="4572000" y="904875"/>
            <a:ext cx="228600" cy="228600"/>
          </a:xfrm>
          <a:prstGeom prst="flowChartCollate">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A2353D4-4A31-4208-8C13-5226EF41ACAD}"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anose="020B0604030504040204" pitchFamily="34" charset="0"/>
                <a:ea typeface="宋体" panose="02010600030101010101" pitchFamily="2" charset="-122"/>
                <a:cs typeface="+mn-cs"/>
              </a:rPr>
              <a:t>18</a:t>
            </a:fld>
            <a:endParaRPr kumimoji="0" lang="en-US" altLang="zh-CN" sz="1200" b="0" i="0" u="none" strike="noStrike" kern="1200" cap="none" spc="0" normalizeH="0" baseline="0" noProof="0">
              <a:ln>
                <a:noFill/>
              </a:ln>
              <a:solidFill>
                <a:srgbClr val="04617B">
                  <a:shade val="90000"/>
                </a:srgbClr>
              </a:solidFill>
              <a:effectLst/>
              <a:uLnTx/>
              <a:uFillTx/>
              <a:latin typeface="Verdana" panose="020B0604030504040204" pitchFamily="34" charset="0"/>
              <a:ea typeface="宋体" panose="02010600030101010101" pitchFamily="2" charset="-122"/>
              <a:cs typeface="+mn-cs"/>
            </a:endParaRPr>
          </a:p>
        </p:txBody>
      </p:sp>
      <p:sp>
        <p:nvSpPr>
          <p:cNvPr id="5" name="圆角矩形标注 4"/>
          <p:cNvSpPr/>
          <p:nvPr/>
        </p:nvSpPr>
        <p:spPr>
          <a:xfrm>
            <a:off x="6215074" y="3286124"/>
            <a:ext cx="2000264" cy="612648"/>
          </a:xfrm>
          <a:prstGeom prst="wedgeRoundRectCallout">
            <a:avLst>
              <a:gd name="adj1" fmla="val 38536"/>
              <a:gd name="adj2" fmla="val -160411"/>
              <a:gd name="adj3" fmla="val 1666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mn-ea"/>
                <a:cs typeface="+mn-cs"/>
              </a:rPr>
              <a:t>1000/10/20</a:t>
            </a:r>
            <a:endParaRPr kumimoji="1" lang="zh-CN" altLang="en-US" sz="2400" b="0" i="0" u="none" strike="noStrike" kern="1200" cap="none" spc="0" normalizeH="0" baseline="0" noProof="0" dirty="0">
              <a:ln>
                <a:noFill/>
              </a:ln>
              <a:solidFill>
                <a:srgbClr val="FF0000"/>
              </a:solidFill>
              <a:effectLst/>
              <a:uLnTx/>
              <a:uFillTx/>
              <a:latin typeface="+mn-ea"/>
              <a:cs typeface="+mn-cs"/>
            </a:endParaRPr>
          </a:p>
        </p:txBody>
      </p:sp>
      <p:sp>
        <p:nvSpPr>
          <p:cNvPr id="2" name="圆角矩形标注 1"/>
          <p:cNvSpPr/>
          <p:nvPr/>
        </p:nvSpPr>
        <p:spPr>
          <a:xfrm>
            <a:off x="2915816" y="5314131"/>
            <a:ext cx="5688632" cy="792088"/>
          </a:xfrm>
          <a:prstGeom prst="wedgeRoundRectCallout">
            <a:avLst>
              <a:gd name="adj1" fmla="val -50270"/>
              <a:gd name="adj2" fmla="val -94150"/>
              <a:gd name="adj3" fmla="val 16667"/>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避免笛卡儿积；</a:t>
            </a:r>
            <a:endParaRPr kumimoji="0" lang="en-US" altLang="zh-CN"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尽量让选择运算在连接运算之前执行</a:t>
            </a:r>
            <a:endParaRPr kumimoji="1" lang="zh-CN" altLang="en-US" sz="2400" b="0" i="0" u="none" strike="noStrike" kern="1200" cap="none" spc="0" normalizeH="0" baseline="0" noProof="0" dirty="0">
              <a:ln>
                <a:noFill/>
              </a:ln>
              <a:solidFill>
                <a:srgbClr val="FF0000"/>
              </a:solidFill>
              <a:effectLst/>
              <a:uLnTx/>
              <a:uFillTx/>
              <a:latin typeface="Constantia" panose="02030602050306030303"/>
              <a:ea typeface="宋体" panose="0201060003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a:spLocks noGrp="1" noChangeArrowheads="1"/>
          </p:cNvSpPr>
          <p:nvPr>
            <p:ph idx="1"/>
          </p:nvPr>
        </p:nvSpPr>
        <p:spPr>
          <a:xfrm>
            <a:off x="342900" y="404664"/>
            <a:ext cx="8458200" cy="4548733"/>
          </a:xfrm>
        </p:spPr>
        <p:txBody>
          <a:bodyPr/>
          <a:lstStyle/>
          <a:p>
            <a:pPr eaLnBrk="1" hangingPunct="1">
              <a:spcBef>
                <a:spcPct val="50000"/>
              </a:spcBef>
              <a:buClr>
                <a:schemeClr val="tx2"/>
              </a:buClr>
              <a:buSzPct val="90000"/>
            </a:pPr>
            <a:r>
              <a:rPr lang="zh-CN" altLang="en-US" sz="2400" dirty="0">
                <a:latin typeface="黑体" panose="02010609060101010101" pitchFamily="49" charset="-122"/>
                <a:ea typeface="黑体" panose="02010609060101010101" pitchFamily="49" charset="-122"/>
              </a:rPr>
              <a:t>第四种情况 </a:t>
            </a:r>
            <a:r>
              <a:rPr lang="en-US" altLang="zh-CN" sz="2400" dirty="0">
                <a:latin typeface="黑体" panose="02010609060101010101" pitchFamily="49" charset="-122"/>
                <a:ea typeface="黑体" panose="02010609060101010101" pitchFamily="49" charset="-122"/>
              </a:rPr>
              <a:t>Q4＝π</a:t>
            </a:r>
            <a:r>
              <a:rPr lang="zh-CN" altLang="en-US" sz="2400" baseline="-25000" dirty="0">
                <a:latin typeface="黑体" panose="02010609060101010101" pitchFamily="49" charset="-122"/>
                <a:ea typeface="黑体" panose="02010609060101010101" pitchFamily="49" charset="-122"/>
              </a:rPr>
              <a:t>姓名</a:t>
            </a:r>
            <a:r>
              <a:rPr lang="zh-CN" altLang="en-US" sz="2400" dirty="0">
                <a:latin typeface="黑体" panose="02010609060101010101" pitchFamily="49" charset="-122"/>
                <a:ea typeface="黑体" panose="02010609060101010101" pitchFamily="49" charset="-122"/>
              </a:rPr>
              <a:t>（学生 </a:t>
            </a:r>
            <a:r>
              <a:rPr lang="en-US" altLang="zh-CN" sz="2400" dirty="0">
                <a:latin typeface="Arial Unicode MS"/>
                <a:ea typeface="Arial Unicode MS"/>
                <a:cs typeface="Arial Unicode MS"/>
              </a:rPr>
              <a:t>⋈</a:t>
            </a: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σ</a:t>
            </a:r>
            <a:r>
              <a:rPr lang="zh-CN" altLang="en-US" sz="2400" baseline="-25000" dirty="0">
                <a:latin typeface="黑体" panose="02010609060101010101" pitchFamily="49" charset="-122"/>
                <a:ea typeface="黑体" panose="02010609060101010101" pitchFamily="49" charset="-122"/>
              </a:rPr>
              <a:t>课号=</a:t>
            </a:r>
            <a:r>
              <a:rPr lang="zh-CN" altLang="en-US" sz="2400" baseline="-25000" dirty="0">
                <a:latin typeface="Times New Roman" panose="02020603050405020304" pitchFamily="18" charset="0"/>
                <a:ea typeface="黑体" panose="02010609060101010101" pitchFamily="49" charset="-122"/>
              </a:rPr>
              <a:t>’</a:t>
            </a:r>
            <a:r>
              <a:rPr lang="zh-CN" altLang="en-US" sz="2400" baseline="-25000" dirty="0">
                <a:latin typeface="黑体" panose="02010609060101010101" pitchFamily="49" charset="-122"/>
                <a:ea typeface="黑体" panose="02010609060101010101" pitchFamily="49" charset="-122"/>
              </a:rPr>
              <a:t>2</a:t>
            </a:r>
            <a:r>
              <a:rPr lang="zh-CN" altLang="en-US" sz="2400" baseline="-25000" dirty="0">
                <a:latin typeface="Times New Roman" panose="02020603050405020304" pitchFamily="18" charset="0"/>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（成绩））</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    假设成绩表在</a:t>
            </a:r>
            <a:r>
              <a:rPr lang="zh-CN" altLang="en-US" sz="2400" dirty="0">
                <a:solidFill>
                  <a:srgbClr val="FF0000"/>
                </a:solidFill>
                <a:latin typeface="宋体" panose="02010600030101010101" pitchFamily="2" charset="-122"/>
              </a:rPr>
              <a:t>课号属性上建有索引</a:t>
            </a:r>
            <a:r>
              <a:rPr lang="zh-CN" altLang="en-US" sz="2400" dirty="0">
                <a:latin typeface="宋体" panose="02010600030101010101" pitchFamily="2" charset="-122"/>
              </a:rPr>
              <a:t>，学生表</a:t>
            </a:r>
            <a:r>
              <a:rPr lang="zh-CN" altLang="en-US" sz="2400" dirty="0">
                <a:solidFill>
                  <a:srgbClr val="FF0000"/>
                </a:solidFill>
                <a:latin typeface="宋体" panose="02010600030101010101" pitchFamily="2" charset="-122"/>
              </a:rPr>
              <a:t>在学号属性上建有索引</a:t>
            </a:r>
            <a:r>
              <a:rPr lang="zh-CN" altLang="en-US" sz="2400" dirty="0">
                <a:latin typeface="宋体" panose="02010600030101010101" pitchFamily="2" charset="-122"/>
              </a:rPr>
              <a:t>。</a:t>
            </a:r>
            <a:endParaRPr lang="en-US" altLang="zh-CN" sz="2400" dirty="0">
              <a:latin typeface="宋体" panose="02010600030101010101" pitchFamily="2" charset="-122"/>
            </a:endParaRPr>
          </a:p>
          <a:p>
            <a:pPr eaLnBrk="1" hangingPunct="1">
              <a:spcBef>
                <a:spcPct val="50000"/>
              </a:spcBef>
              <a:buClr>
                <a:schemeClr val="tx2"/>
              </a:buClr>
              <a:buSzPct val="90000"/>
            </a:pPr>
            <a:r>
              <a:rPr lang="zh-CN" altLang="en-US" sz="2400" dirty="0">
                <a:latin typeface="宋体" panose="02010600030101010101" pitchFamily="2" charset="-122"/>
              </a:rPr>
              <a:t>1．先对成绩表作</a:t>
            </a:r>
            <a:r>
              <a:rPr lang="zh-CN" altLang="en-US" sz="2400" dirty="0">
                <a:solidFill>
                  <a:srgbClr val="FF0000"/>
                </a:solidFill>
                <a:latin typeface="宋体" panose="02010600030101010101" pitchFamily="2" charset="-122"/>
              </a:rPr>
              <a:t>索引扫描</a:t>
            </a:r>
            <a:r>
              <a:rPr lang="zh-CN" altLang="en-US" sz="2400" dirty="0">
                <a:latin typeface="宋体" panose="02010600030101010101" pitchFamily="2" charset="-122"/>
              </a:rPr>
              <a:t>，获取课号为</a:t>
            </a:r>
            <a:r>
              <a:rPr lang="en-US" altLang="zh-CN" sz="2400" dirty="0">
                <a:latin typeface="宋体" panose="02010600030101010101" pitchFamily="2" charset="-122"/>
              </a:rPr>
              <a:t>2</a:t>
            </a:r>
            <a:r>
              <a:rPr lang="zh-CN" altLang="en-US" sz="2400" dirty="0">
                <a:latin typeface="宋体" panose="02010600030101010101" pitchFamily="2" charset="-122"/>
              </a:rPr>
              <a:t>的成绩</a:t>
            </a:r>
            <a:r>
              <a:rPr lang="zh-CN" altLang="en-US" sz="2400" dirty="0">
                <a:solidFill>
                  <a:srgbClr val="FF0000"/>
                </a:solidFill>
                <a:latin typeface="宋体" panose="02010600030101010101" pitchFamily="2" charset="-122"/>
              </a:rPr>
              <a:t>元组指针</a:t>
            </a:r>
            <a:r>
              <a:rPr lang="zh-CN" altLang="en-US" sz="2400" dirty="0">
                <a:latin typeface="宋体" panose="02010600030101010101" pitchFamily="2" charset="-122"/>
              </a:rPr>
              <a:t>，关联获取</a:t>
            </a:r>
            <a:r>
              <a:rPr lang="en-US" altLang="zh-CN" sz="2400" dirty="0">
                <a:solidFill>
                  <a:srgbClr val="FF0000"/>
                </a:solidFill>
                <a:latin typeface="宋体" panose="02010600030101010101" pitchFamily="2" charset="-122"/>
              </a:rPr>
              <a:t>50</a:t>
            </a:r>
            <a:r>
              <a:rPr lang="zh-CN" altLang="en-US" sz="2400" dirty="0">
                <a:solidFill>
                  <a:srgbClr val="FF0000"/>
                </a:solidFill>
                <a:latin typeface="宋体" panose="02010600030101010101" pitchFamily="2" charset="-122"/>
              </a:rPr>
              <a:t>条</a:t>
            </a:r>
            <a:r>
              <a:rPr lang="en-US" altLang="zh-CN" sz="2400" dirty="0">
                <a:solidFill>
                  <a:srgbClr val="FF0000"/>
                </a:solidFill>
                <a:latin typeface="宋体" panose="02010600030101010101" pitchFamily="2" charset="-122"/>
              </a:rPr>
              <a:t>2</a:t>
            </a:r>
            <a:r>
              <a:rPr lang="zh-CN" altLang="en-US" sz="2400" dirty="0">
                <a:solidFill>
                  <a:srgbClr val="FF0000"/>
                </a:solidFill>
                <a:latin typeface="宋体" panose="02010600030101010101" pitchFamily="2" charset="-122"/>
              </a:rPr>
              <a:t>号课程成绩记录</a:t>
            </a:r>
            <a:r>
              <a:rPr lang="zh-CN" altLang="en-US" sz="2400" dirty="0">
                <a:latin typeface="宋体" panose="02010600030101010101" pitchFamily="2" charset="-122"/>
              </a:rPr>
              <a:t>，</a:t>
            </a:r>
            <a:r>
              <a:rPr lang="en-US" altLang="zh-CN" sz="2400" dirty="0">
                <a:latin typeface="宋体" panose="02010600030101010101" pitchFamily="2" charset="-122"/>
              </a:rPr>
              <a:t>50</a:t>
            </a:r>
            <a:r>
              <a:rPr lang="zh-CN" altLang="en-US" sz="2400" dirty="0">
                <a:latin typeface="宋体" panose="02010600030101010101" pitchFamily="2" charset="-122"/>
              </a:rPr>
              <a:t>条记录的规模可能只需读取一个数据块（</a:t>
            </a:r>
            <a:r>
              <a:rPr lang="zh-CN" altLang="en-US" sz="2400" dirty="0">
                <a:solidFill>
                  <a:srgbClr val="FF0000"/>
                </a:solidFill>
                <a:latin typeface="宋体" panose="02010600030101010101" pitchFamily="2" charset="-122"/>
              </a:rPr>
              <a:t>聚簇索引</a:t>
            </a:r>
            <a:r>
              <a:rPr lang="zh-CN" altLang="en-US" sz="2400" dirty="0">
                <a:latin typeface="宋体" panose="02010600030101010101" pitchFamily="2" charset="-122"/>
              </a:rPr>
              <a:t>），读取数据时间</a:t>
            </a:r>
            <a:r>
              <a:rPr lang="en-US" altLang="zh-CN" sz="2400" dirty="0">
                <a:solidFill>
                  <a:srgbClr val="FF0000"/>
                </a:solidFill>
                <a:latin typeface="宋体" panose="02010600030101010101" pitchFamily="2" charset="-122"/>
              </a:rPr>
              <a:t>1/20</a:t>
            </a:r>
            <a:r>
              <a:rPr lang="zh-CN" altLang="en-US" sz="2400" dirty="0">
                <a:solidFill>
                  <a:srgbClr val="FF0000"/>
                </a:solidFill>
                <a:latin typeface="宋体" panose="02010600030101010101" pitchFamily="2" charset="-122"/>
              </a:rPr>
              <a:t>秒</a:t>
            </a:r>
            <a:r>
              <a:rPr lang="zh-CN" altLang="en-US" sz="2400" dirty="0">
                <a:latin typeface="宋体" panose="02010600030101010101" pitchFamily="2" charset="-122"/>
              </a:rPr>
              <a:t>。因满足条件的记录为50条，</a:t>
            </a:r>
            <a:r>
              <a:rPr lang="zh-CN" altLang="en-US" sz="2400" dirty="0">
                <a:solidFill>
                  <a:srgbClr val="FF0000"/>
                </a:solidFill>
                <a:latin typeface="宋体" panose="02010600030101010101" pitchFamily="2" charset="-122"/>
              </a:rPr>
              <a:t>不必使用中间文件</a:t>
            </a:r>
            <a:r>
              <a:rPr lang="zh-CN" altLang="en-US" sz="2400" dirty="0">
                <a:latin typeface="宋体" panose="02010600030101010101" pitchFamily="2" charset="-122"/>
              </a:rPr>
              <a:t>。</a:t>
            </a:r>
          </a:p>
          <a:p>
            <a:pPr eaLnBrk="1" hangingPunct="1">
              <a:spcBef>
                <a:spcPct val="50000"/>
              </a:spcBef>
              <a:buClr>
                <a:schemeClr val="tx2"/>
              </a:buClr>
              <a:buSzPct val="90000"/>
            </a:pPr>
            <a:r>
              <a:rPr lang="zh-CN" altLang="en-US" sz="2400" dirty="0">
                <a:latin typeface="宋体" panose="02010600030101010101" pitchFamily="2" charset="-122"/>
              </a:rPr>
              <a:t>2．对学生表进行索引扫描并</a:t>
            </a:r>
            <a:r>
              <a:rPr lang="zh-CN" altLang="en-US" sz="2400" dirty="0">
                <a:solidFill>
                  <a:srgbClr val="FF0000"/>
                </a:solidFill>
                <a:latin typeface="宋体" panose="02010600030101010101" pitchFamily="2" charset="-122"/>
              </a:rPr>
              <a:t>与</a:t>
            </a:r>
            <a:r>
              <a:rPr lang="zh-CN" altLang="en-US" sz="2400" b="1" dirty="0">
                <a:solidFill>
                  <a:srgbClr val="FF0000"/>
                </a:solidFill>
                <a:latin typeface="微软雅黑" panose="020B0503020204020204" charset="-122"/>
                <a:ea typeface="微软雅黑" panose="020B0503020204020204" charset="-122"/>
              </a:rPr>
              <a:t>内存中</a:t>
            </a:r>
            <a:r>
              <a:rPr lang="zh-CN" altLang="en-US" sz="2400" dirty="0">
                <a:solidFill>
                  <a:srgbClr val="FF0000"/>
                </a:solidFill>
                <a:latin typeface="宋体" panose="02010600030101010101" pitchFamily="2" charset="-122"/>
              </a:rPr>
              <a:t>的成绩记录</a:t>
            </a:r>
            <a:r>
              <a:rPr lang="zh-CN" altLang="en-US" sz="2400" dirty="0">
                <a:latin typeface="宋体" panose="02010600030101010101" pitchFamily="2" charset="-122"/>
              </a:rPr>
              <a:t>作连接，</a:t>
            </a:r>
            <a:r>
              <a:rPr lang="en-US" altLang="zh-CN" sz="2400" dirty="0">
                <a:solidFill>
                  <a:srgbClr val="FF0000"/>
                </a:solidFill>
                <a:latin typeface="宋体" panose="02010600030101010101" pitchFamily="2" charset="-122"/>
              </a:rPr>
              <a:t>50</a:t>
            </a:r>
            <a:r>
              <a:rPr lang="zh-CN" altLang="en-US" sz="2400" dirty="0">
                <a:solidFill>
                  <a:srgbClr val="FF0000"/>
                </a:solidFill>
                <a:latin typeface="宋体" panose="02010600030101010101" pitchFamily="2" charset="-122"/>
              </a:rPr>
              <a:t>个学生</a:t>
            </a:r>
            <a:r>
              <a:rPr lang="zh-CN" altLang="en-US" sz="2400" dirty="0">
                <a:latin typeface="宋体" panose="02010600030101010101" pitchFamily="2" charset="-122"/>
              </a:rPr>
              <a:t>理想状况下可能只需读取</a:t>
            </a:r>
            <a:r>
              <a:rPr lang="en-US" altLang="zh-CN" sz="2400" dirty="0">
                <a:solidFill>
                  <a:srgbClr val="FF0000"/>
                </a:solidFill>
                <a:latin typeface="宋体" panose="02010600030101010101" pitchFamily="2" charset="-122"/>
              </a:rPr>
              <a:t>5</a:t>
            </a:r>
            <a:r>
              <a:rPr lang="zh-CN" altLang="en-US" sz="2400" dirty="0">
                <a:solidFill>
                  <a:srgbClr val="FF0000"/>
                </a:solidFill>
                <a:latin typeface="宋体" panose="02010600030101010101" pitchFamily="2" charset="-122"/>
              </a:rPr>
              <a:t>个数据块</a:t>
            </a:r>
            <a:r>
              <a:rPr lang="zh-CN" altLang="en-US" sz="2400" dirty="0">
                <a:latin typeface="宋体" panose="02010600030101010101" pitchFamily="2" charset="-122"/>
              </a:rPr>
              <a:t>（</a:t>
            </a:r>
            <a:r>
              <a:rPr lang="zh-CN" altLang="en-US" sz="2400" dirty="0">
                <a:solidFill>
                  <a:srgbClr val="FF0000"/>
                </a:solidFill>
                <a:latin typeface="宋体" panose="02010600030101010101" pitchFamily="2" charset="-122"/>
              </a:rPr>
              <a:t>聚簇索引</a:t>
            </a:r>
            <a:r>
              <a:rPr lang="zh-CN" altLang="en-US" sz="2400" dirty="0">
                <a:latin typeface="宋体" panose="02010600030101010101" pitchFamily="2" charset="-122"/>
              </a:rPr>
              <a:t>，每页</a:t>
            </a:r>
            <a:r>
              <a:rPr lang="en-US" altLang="zh-CN" sz="2400" dirty="0">
                <a:latin typeface="宋体" panose="02010600030101010101" pitchFamily="2" charset="-122"/>
              </a:rPr>
              <a:t>10</a:t>
            </a:r>
            <a:r>
              <a:rPr lang="zh-CN" altLang="en-US" sz="2400" dirty="0">
                <a:latin typeface="宋体" panose="02010600030101010101" pitchFamily="2" charset="-122"/>
              </a:rPr>
              <a:t>条学生记录），花费时间</a:t>
            </a:r>
            <a:r>
              <a:rPr lang="zh-CN" altLang="en-US" sz="2400" dirty="0">
                <a:solidFill>
                  <a:srgbClr val="FF0000"/>
                </a:solidFill>
                <a:latin typeface="宋体" panose="02010600030101010101" pitchFamily="2" charset="-122"/>
              </a:rPr>
              <a:t>5</a:t>
            </a:r>
            <a:r>
              <a:rPr lang="en-US" altLang="zh-CN" sz="2400" dirty="0">
                <a:solidFill>
                  <a:srgbClr val="FF0000"/>
                </a:solidFill>
                <a:latin typeface="宋体" panose="02010600030101010101" pitchFamily="2" charset="-122"/>
              </a:rPr>
              <a:t>/20</a:t>
            </a:r>
            <a:r>
              <a:rPr lang="zh-CN" altLang="en-US" sz="2400" dirty="0">
                <a:solidFill>
                  <a:srgbClr val="FF0000"/>
                </a:solidFill>
                <a:latin typeface="宋体" panose="02010600030101010101" pitchFamily="2" charset="-122"/>
              </a:rPr>
              <a:t>秒</a:t>
            </a:r>
            <a:r>
              <a:rPr lang="zh-CN" altLang="en-US" sz="2400" dirty="0">
                <a:latin typeface="宋体" panose="02010600030101010101" pitchFamily="2" charset="-122"/>
              </a:rPr>
              <a:t>。</a:t>
            </a:r>
            <a:r>
              <a:rPr lang="en-US" altLang="zh-CN" sz="2400" dirty="0">
                <a:latin typeface="宋体" panose="02010600030101010101" pitchFamily="2" charset="-122"/>
              </a:rPr>
              <a:t> </a:t>
            </a:r>
            <a:endParaRPr lang="zh-CN" altLang="en-US" sz="2400" dirty="0">
              <a:latin typeface="宋体" panose="02010600030101010101" pitchFamily="2" charset="-122"/>
            </a:endParaRP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3．输出投影结果。</a:t>
            </a: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   </a:t>
            </a:r>
            <a:r>
              <a:rPr lang="zh-CN" altLang="en-US" sz="2400" dirty="0">
                <a:solidFill>
                  <a:srgbClr val="0000FF"/>
                </a:solidFill>
                <a:latin typeface="宋体" panose="02010600030101010101" pitchFamily="2" charset="-122"/>
              </a:rPr>
              <a:t>第四种情况总的执行时间约为</a:t>
            </a:r>
            <a:r>
              <a:rPr lang="en-US" altLang="zh-CN" sz="2400" dirty="0">
                <a:solidFill>
                  <a:srgbClr val="0000FF"/>
                </a:solidFill>
                <a:latin typeface="宋体" panose="02010600030101010101" pitchFamily="2" charset="-122"/>
              </a:rPr>
              <a:t>(1+5)/2</a:t>
            </a:r>
            <a:r>
              <a:rPr lang="zh-CN" altLang="en-US" sz="2400" dirty="0">
                <a:solidFill>
                  <a:srgbClr val="0000FF"/>
                </a:solidFill>
                <a:latin typeface="宋体" panose="02010600030101010101" pitchFamily="2" charset="-122"/>
              </a:rPr>
              <a:t>0秒。</a:t>
            </a:r>
            <a:endParaRPr lang="en-US" altLang="zh-CN" sz="2400" dirty="0">
              <a:solidFill>
                <a:srgbClr val="0000FF"/>
              </a:solidFill>
              <a:latin typeface="宋体" panose="02010600030101010101" pitchFamily="2" charset="-122"/>
            </a:endParaRPr>
          </a:p>
          <a:p>
            <a:pPr eaLnBrk="1" hangingPunct="1">
              <a:spcBef>
                <a:spcPct val="50000"/>
              </a:spcBef>
              <a:buClr>
                <a:schemeClr val="tx2"/>
              </a:buClr>
              <a:buSzPct val="90000"/>
              <a:buFont typeface="Wingdings" panose="05000000000000000000" pitchFamily="2" charset="2"/>
              <a:buNone/>
            </a:pPr>
            <a:r>
              <a:rPr lang="zh-CN" altLang="en-US" sz="2400" dirty="0">
                <a:latin typeface="宋体" panose="02010600030101010101" pitchFamily="2" charset="-122"/>
              </a:rPr>
              <a:t>  </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A2353D4-4A31-4208-8C13-5226EF41ACAD}"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anose="020B0604030504040204" pitchFamily="34" charset="0"/>
                <a:ea typeface="宋体" panose="02010600030101010101" pitchFamily="2" charset="-122"/>
                <a:cs typeface="+mn-cs"/>
              </a:rPr>
              <a:t>19</a:t>
            </a:fld>
            <a:endParaRPr kumimoji="0" lang="en-US" altLang="zh-CN" sz="1200" b="0" i="0" u="none" strike="noStrike" kern="1200" cap="none" spc="0" normalizeH="0" baseline="0" noProof="0">
              <a:ln>
                <a:noFill/>
              </a:ln>
              <a:solidFill>
                <a:srgbClr val="04617B">
                  <a:shade val="90000"/>
                </a:srgbClr>
              </a:solidFill>
              <a:effectLst/>
              <a:uLnTx/>
              <a:uFillTx/>
              <a:latin typeface="Verdana" panose="020B0604030504040204" pitchFamily="34" charset="0"/>
              <a:ea typeface="宋体" panose="02010600030101010101" pitchFamily="2" charset="-122"/>
              <a:cs typeface="+mn-cs"/>
            </a:endParaRPr>
          </a:p>
        </p:txBody>
      </p:sp>
      <p:sp>
        <p:nvSpPr>
          <p:cNvPr id="2" name="圆角矩形标注 1"/>
          <p:cNvSpPr/>
          <p:nvPr/>
        </p:nvSpPr>
        <p:spPr>
          <a:xfrm>
            <a:off x="1727684" y="6237312"/>
            <a:ext cx="4572508" cy="479676"/>
          </a:xfrm>
          <a:prstGeom prst="wedgeRoundRectCallout">
            <a:avLst>
              <a:gd name="adj1" fmla="val -41518"/>
              <a:gd name="adj2" fmla="val -65931"/>
              <a:gd name="adj3" fmla="val 16667"/>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说明关系数据库中索引的重要性</a:t>
            </a:r>
            <a:endParaRPr kumimoji="1" lang="zh-CN" altLang="en-US" sz="2400" b="0" i="0" u="none" strike="noStrike" kern="1200" cap="none" spc="0" normalizeH="0" baseline="0" noProof="0" dirty="0">
              <a:ln>
                <a:noFill/>
              </a:ln>
              <a:solidFill>
                <a:srgbClr val="FF0000"/>
              </a:solidFill>
              <a:effectLst/>
              <a:uLnTx/>
              <a:uFillTx/>
              <a:latin typeface="Constantia" panose="02030602050306030303"/>
              <a:ea typeface="宋体" panose="02010600030101010101" pitchFamily="2"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p:cNvSpPr>
            <a:spLocks noGrp="1" noChangeArrowheads="1"/>
          </p:cNvSpPr>
          <p:nvPr>
            <p:ph idx="1"/>
          </p:nvPr>
        </p:nvSpPr>
        <p:spPr>
          <a:xfrm>
            <a:off x="381000" y="908720"/>
            <a:ext cx="8458200" cy="936104"/>
          </a:xfrm>
        </p:spPr>
        <p:txBody>
          <a:bodyPr/>
          <a:lstStyle/>
          <a:p>
            <a:pPr eaLnBrk="1" hangingPunct="1">
              <a:spcBef>
                <a:spcPct val="0"/>
              </a:spcBef>
              <a:buClrTx/>
              <a:buSzTx/>
            </a:pPr>
            <a:r>
              <a:rPr lang="en-US" altLang="zh-CN" sz="2400" b="1" dirty="0">
                <a:latin typeface="Arial" panose="020B0604020202020204" pitchFamily="34" charset="0"/>
              </a:rPr>
              <a:t>9.3  </a:t>
            </a:r>
            <a:r>
              <a:rPr lang="zh-CN" altLang="en-US" sz="2400" b="1" dirty="0">
                <a:latin typeface="Arial" panose="020B0604020202020204" pitchFamily="34" charset="0"/>
              </a:rPr>
              <a:t>代数优化</a:t>
            </a:r>
            <a:endParaRPr lang="en-US" altLang="zh-CN" sz="2400" b="1" dirty="0">
              <a:latin typeface="Arial" panose="020B0604020202020204" pitchFamily="34" charset="0"/>
            </a:endParaRPr>
          </a:p>
          <a:p>
            <a:pPr eaLnBrk="1" hangingPunct="1">
              <a:spcBef>
                <a:spcPct val="0"/>
              </a:spcBef>
              <a:buClrTx/>
              <a:buSzTx/>
            </a:pPr>
            <a:r>
              <a:rPr lang="en-US" altLang="zh-CN" sz="2400" b="1" dirty="0">
                <a:latin typeface="Arial" panose="020B0604020202020204" pitchFamily="34" charset="0"/>
              </a:rPr>
              <a:t>9.3.1 </a:t>
            </a:r>
            <a:r>
              <a:rPr lang="zh-CN" altLang="en-US" sz="2400" dirty="0"/>
              <a:t>关系代数表达式的等价变换规则</a:t>
            </a:r>
            <a:endParaRPr lang="en-US" altLang="zh-CN" sz="2400" dirty="0"/>
          </a:p>
        </p:txBody>
      </p:sp>
      <p:sp>
        <p:nvSpPr>
          <p:cNvPr id="3" name="灯片编号占位符 2"/>
          <p:cNvSpPr>
            <a:spLocks noGrp="1"/>
          </p:cNvSpPr>
          <p:nvPr>
            <p:ph type="sldNum" sz="quarter" idx="12"/>
          </p:nvPr>
        </p:nvSpPr>
        <p:spPr/>
        <p:txBody>
          <a:bodyPr/>
          <a:lstStyle/>
          <a:p>
            <a:pPr>
              <a:defRPr/>
            </a:pPr>
            <a:fld id="{028B86EC-45FD-4CA7-BDD1-57ED47EDD013}" type="slidenum">
              <a:rPr lang="zh-CN" altLang="en-US" smtClean="0"/>
              <a:t>20</a:t>
            </a:fld>
            <a:endParaRPr lang="en-US" altLang="zh-CN"/>
          </a:p>
        </p:txBody>
      </p:sp>
      <p:sp>
        <p:nvSpPr>
          <p:cNvPr id="6" name="内容占位符 2"/>
          <p:cNvSpPr txBox="1"/>
          <p:nvPr/>
        </p:nvSpPr>
        <p:spPr bwMode="auto">
          <a:xfrm>
            <a:off x="381000" y="1844824"/>
            <a:ext cx="8229600" cy="3413895"/>
          </a:xfrm>
          <a:prstGeom prst="rect">
            <a:avLst/>
          </a:prstGeom>
          <a:noFill/>
          <a:ln w="9525">
            <a:noFill/>
            <a:miter lim="800000"/>
          </a:ln>
        </p:spPr>
        <p:txBody>
          <a:bodyPr vert="horz" wrap="square" lIns="91440" tIns="45720" rIns="91440" bIns="45720" numCol="1" anchor="t" anchorCtr="0" compatLnSpc="1"/>
          <a:lstStyle>
            <a:lvl1pPr marL="0" indent="0" algn="l" rtl="0" eaLnBrk="0" fontAlgn="base" hangingPunct="0">
              <a:spcBef>
                <a:spcPct val="20000"/>
              </a:spcBef>
              <a:spcAft>
                <a:spcPct val="0"/>
              </a:spcAft>
              <a:buClr>
                <a:srgbClr val="0BD0D9"/>
              </a:buClr>
              <a:buSzPct val="95000"/>
              <a:buFont typeface="Wingdings 2" panose="05020102010507070707" pitchFamily="18" charset="2"/>
              <a:buNone/>
              <a:defRPr sz="2600" kern="1200" baseline="0">
                <a:solidFill>
                  <a:schemeClr val="tx1"/>
                </a:solidFill>
                <a:latin typeface="Verdana" panose="020B0604030504040204" pitchFamily="34" charset="0"/>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None/>
              <a:defRPr sz="2400" kern="1200" baseline="0">
                <a:solidFill>
                  <a:schemeClr val="tx1"/>
                </a:solidFill>
                <a:latin typeface="Verdana" panose="020B0604030504040204" pitchFamily="34" charset="0"/>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None/>
              <a:defRPr sz="2100" kern="1200" baseline="0">
                <a:solidFill>
                  <a:schemeClr val="tx1"/>
                </a:solidFill>
                <a:latin typeface="Verdana" panose="020B0604030504040204" pitchFamily="34" charset="0"/>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None/>
              <a:defRPr sz="2000" kern="1200" baseline="0">
                <a:solidFill>
                  <a:schemeClr val="tx1"/>
                </a:solidFill>
                <a:latin typeface="Verdana" panose="020B0604030504040204" pitchFamily="34" charset="0"/>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None/>
              <a:defRPr sz="2000" kern="1200" baseline="0">
                <a:solidFill>
                  <a:schemeClr val="tx1"/>
                </a:solidFill>
                <a:latin typeface="Verdana" panose="020B0604030504040204" pitchFamily="34" charset="0"/>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kumimoji="0" lang="en-US" altLang="zh-CN" sz="2400" dirty="0">
                <a:solidFill>
                  <a:srgbClr val="0000FF"/>
                </a:solidFill>
              </a:rPr>
              <a:t>1 </a:t>
            </a:r>
            <a:r>
              <a:rPr kumimoji="0" lang="zh-CN" altLang="en-US" sz="2400" dirty="0">
                <a:solidFill>
                  <a:srgbClr val="0000FF"/>
                </a:solidFill>
              </a:rPr>
              <a:t>连接</a:t>
            </a:r>
            <a:r>
              <a:rPr kumimoji="0" lang="en-US" altLang="zh-CN" sz="2400" dirty="0">
                <a:solidFill>
                  <a:srgbClr val="0000FF"/>
                </a:solidFill>
              </a:rPr>
              <a:t>/</a:t>
            </a:r>
            <a:r>
              <a:rPr kumimoji="0" lang="zh-CN" altLang="en-US" sz="2400" dirty="0">
                <a:solidFill>
                  <a:srgbClr val="0000FF"/>
                </a:solidFill>
              </a:rPr>
              <a:t>笛卡尔积的交换律</a:t>
            </a:r>
            <a:endParaRPr kumimoji="0" lang="en-US" altLang="zh-CN" sz="2400" dirty="0">
              <a:solidFill>
                <a:srgbClr val="0000FF"/>
              </a:solidFill>
            </a:endParaRPr>
          </a:p>
          <a:p>
            <a:pPr algn="just" eaLnBrk="1" hangingPunct="1">
              <a:buClrTx/>
            </a:pPr>
            <a:r>
              <a:rPr lang="en-US" altLang="zh-CN" sz="2400" dirty="0"/>
              <a:t>     E1× E2≡ E2×E1</a:t>
            </a:r>
          </a:p>
          <a:p>
            <a:pPr algn="just" eaLnBrk="1" hangingPunct="1">
              <a:buClrTx/>
            </a:pPr>
            <a:r>
              <a:rPr lang="en-US" altLang="zh-CN" sz="2400" dirty="0"/>
              <a:t>     E1 </a:t>
            </a:r>
            <a:r>
              <a:rPr lang="en-US" altLang="zh-CN" sz="2400" dirty="0">
                <a:solidFill>
                  <a:prstClr val="black"/>
                </a:solidFill>
                <a:latin typeface="Arial Unicode MS"/>
                <a:ea typeface="Arial Unicode MS"/>
                <a:cs typeface="Arial Unicode MS"/>
              </a:rPr>
              <a:t>⋈</a:t>
            </a:r>
            <a:r>
              <a:rPr lang="en-US" altLang="zh-CN" sz="2400" dirty="0"/>
              <a:t> E2≡E2 </a:t>
            </a:r>
            <a:r>
              <a:rPr lang="en-US" altLang="zh-CN" sz="2400" dirty="0">
                <a:solidFill>
                  <a:prstClr val="black"/>
                </a:solidFill>
                <a:latin typeface="Arial Unicode MS"/>
                <a:ea typeface="Arial Unicode MS"/>
                <a:cs typeface="Arial Unicode MS"/>
              </a:rPr>
              <a:t>⋈</a:t>
            </a:r>
            <a:r>
              <a:rPr lang="en-US" altLang="zh-CN" sz="2400" dirty="0"/>
              <a:t> E1         </a:t>
            </a:r>
          </a:p>
          <a:p>
            <a:pPr algn="just" eaLnBrk="1" hangingPunct="1">
              <a:buClrTx/>
            </a:pPr>
            <a:r>
              <a:rPr lang="en-US" altLang="zh-CN" sz="2400" dirty="0"/>
              <a:t>     E1 </a:t>
            </a:r>
            <a:r>
              <a:rPr lang="en-US" altLang="zh-CN" sz="2400" dirty="0">
                <a:solidFill>
                  <a:prstClr val="black"/>
                </a:solidFill>
                <a:latin typeface="Arial Unicode MS"/>
                <a:ea typeface="Arial Unicode MS"/>
                <a:cs typeface="Arial Unicode MS"/>
              </a:rPr>
              <a:t>⋈</a:t>
            </a:r>
            <a:r>
              <a:rPr lang="en-US" altLang="zh-CN" sz="2000" baseline="-24000" dirty="0"/>
              <a:t> </a:t>
            </a:r>
            <a:r>
              <a:rPr lang="en-US" altLang="zh-CN" sz="2400" dirty="0"/>
              <a:t>E2≡E2 </a:t>
            </a:r>
            <a:r>
              <a:rPr lang="en-US" altLang="zh-CN" sz="2400" dirty="0">
                <a:solidFill>
                  <a:prstClr val="black"/>
                </a:solidFill>
                <a:latin typeface="Arial Unicode MS"/>
                <a:ea typeface="Arial Unicode MS"/>
                <a:cs typeface="Arial Unicode MS"/>
              </a:rPr>
              <a:t>⋈</a:t>
            </a:r>
            <a:r>
              <a:rPr lang="en-US" altLang="zh-CN" sz="2400" dirty="0"/>
              <a:t> E1</a:t>
            </a:r>
          </a:p>
          <a:p>
            <a:pPr algn="just" eaLnBrk="1" hangingPunct="1">
              <a:spcBef>
                <a:spcPts val="0"/>
              </a:spcBef>
              <a:buClrTx/>
            </a:pPr>
            <a:r>
              <a:rPr kumimoji="0" lang="en-US" altLang="zh-CN" sz="1000" dirty="0"/>
              <a:t>                         F                             </a:t>
            </a:r>
            <a:r>
              <a:rPr kumimoji="0" lang="en-US" altLang="zh-CN" sz="1000" dirty="0" err="1"/>
              <a:t>F</a:t>
            </a:r>
            <a:endParaRPr kumimoji="0" lang="zh-CN" altLang="en-US" sz="1000" dirty="0"/>
          </a:p>
        </p:txBody>
      </p:sp>
      <p:sp>
        <p:nvSpPr>
          <p:cNvPr id="5" name="矩形 4"/>
          <p:cNvSpPr/>
          <p:nvPr/>
        </p:nvSpPr>
        <p:spPr>
          <a:xfrm>
            <a:off x="381000" y="3861048"/>
            <a:ext cx="6445962" cy="2040559"/>
          </a:xfrm>
          <a:prstGeom prst="rect">
            <a:avLst/>
          </a:prstGeom>
        </p:spPr>
        <p:txBody>
          <a:bodyPr wrap="square">
            <a:spAutoFit/>
          </a:bodyPr>
          <a:lstStyle/>
          <a:p>
            <a:r>
              <a:rPr lang="en-US" altLang="zh-CN" dirty="0">
                <a:solidFill>
                  <a:srgbClr val="0000FF"/>
                </a:solidFill>
              </a:rPr>
              <a:t>2 </a:t>
            </a:r>
            <a:r>
              <a:rPr lang="zh-CN" altLang="en-US" dirty="0">
                <a:solidFill>
                  <a:srgbClr val="0000FF"/>
                </a:solidFill>
              </a:rPr>
              <a:t>连接</a:t>
            </a:r>
            <a:r>
              <a:rPr lang="en-US" altLang="zh-CN" dirty="0">
                <a:solidFill>
                  <a:srgbClr val="0000FF"/>
                </a:solidFill>
              </a:rPr>
              <a:t>/</a:t>
            </a:r>
            <a:r>
              <a:rPr lang="zh-CN" altLang="en-US" dirty="0">
                <a:solidFill>
                  <a:srgbClr val="0000FF"/>
                </a:solidFill>
              </a:rPr>
              <a:t>笛卡尔积的结合律</a:t>
            </a:r>
            <a:endParaRPr lang="en-US" altLang="zh-CN" dirty="0">
              <a:solidFill>
                <a:srgbClr val="0000FF"/>
              </a:solidFill>
            </a:endParaRPr>
          </a:p>
          <a:p>
            <a:pPr algn="just" eaLnBrk="1" hangingPunct="1">
              <a:lnSpc>
                <a:spcPct val="130000"/>
              </a:lnSpc>
              <a:buClrTx/>
              <a:buFont typeface="Wingdings" panose="05000000000000000000" pitchFamily="2" charset="2"/>
              <a:buNone/>
            </a:pPr>
            <a:r>
              <a:rPr lang="zh-CN" altLang="en-US" dirty="0"/>
              <a:t> </a:t>
            </a:r>
            <a:r>
              <a:rPr lang="en-US" altLang="zh-CN" dirty="0"/>
              <a:t>(E1×E2) × E3 ≡ E1 × (E2×E3)</a:t>
            </a:r>
          </a:p>
          <a:p>
            <a:pPr algn="just" eaLnBrk="1" hangingPunct="1">
              <a:lnSpc>
                <a:spcPct val="130000"/>
              </a:lnSpc>
              <a:buClrTx/>
              <a:buFont typeface="Wingdings" panose="05000000000000000000" pitchFamily="2" charset="2"/>
              <a:buNone/>
            </a:pPr>
            <a:r>
              <a:rPr lang="en-US" altLang="zh-CN" dirty="0"/>
              <a:t>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 ≡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a:t>
            </a:r>
          </a:p>
          <a:p>
            <a:pPr eaLnBrk="1" hangingPunct="1">
              <a:lnSpc>
                <a:spcPct val="130000"/>
              </a:lnSpc>
              <a:buClrTx/>
              <a:buFont typeface="Wingdings" panose="05000000000000000000" pitchFamily="2" charset="2"/>
              <a:buNone/>
            </a:pPr>
            <a:r>
              <a:rPr lang="en-US" altLang="zh-CN" dirty="0"/>
              <a:t>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 ≡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 </a:t>
            </a:r>
          </a:p>
          <a:p>
            <a:pPr eaLnBrk="1" hangingPunct="1">
              <a:lnSpc>
                <a:spcPct val="90000"/>
              </a:lnSpc>
              <a:buClrTx/>
              <a:buFont typeface="Wingdings" panose="05000000000000000000" pitchFamily="2" charset="2"/>
              <a:buNone/>
            </a:pPr>
            <a:r>
              <a:rPr lang="en-US" altLang="zh-CN" sz="1000" dirty="0"/>
              <a:t>                  F                    F                                   F                   F</a:t>
            </a:r>
            <a:endParaRPr lang="zh-CN" alt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21</a:t>
            </a:fld>
            <a:endParaRPr lang="en-US" altLang="zh-CN"/>
          </a:p>
        </p:txBody>
      </p:sp>
      <p:sp>
        <p:nvSpPr>
          <p:cNvPr id="7" name="内容占位符 2"/>
          <p:cNvSpPr>
            <a:spLocks noGrp="1"/>
          </p:cNvSpPr>
          <p:nvPr>
            <p:ph idx="1"/>
          </p:nvPr>
        </p:nvSpPr>
        <p:spPr>
          <a:xfrm>
            <a:off x="395536" y="1124744"/>
            <a:ext cx="8229600" cy="4320480"/>
          </a:xfrm>
        </p:spPr>
        <p:txBody>
          <a:bodyPr/>
          <a:lstStyle/>
          <a:p>
            <a:pPr eaLnBrk="1" hangingPunct="1">
              <a:spcBef>
                <a:spcPct val="0"/>
              </a:spcBef>
              <a:buClrTx/>
              <a:buSzTx/>
            </a:pPr>
            <a:r>
              <a:rPr lang="en-US" altLang="zh-CN" sz="2400" dirty="0">
                <a:solidFill>
                  <a:srgbClr val="0000FF"/>
                </a:solidFill>
              </a:rPr>
              <a:t>3 </a:t>
            </a:r>
            <a:r>
              <a:rPr lang="zh-CN" altLang="en-US" sz="2400" dirty="0">
                <a:solidFill>
                  <a:srgbClr val="0000FF"/>
                </a:solidFill>
              </a:rPr>
              <a:t>投影的串接律</a:t>
            </a:r>
            <a:endParaRPr lang="en-US" altLang="zh-CN" sz="2400" dirty="0">
              <a:solidFill>
                <a:srgbClr val="0000FF"/>
              </a:solidFill>
            </a:endParaRPr>
          </a:p>
          <a:p>
            <a:pPr marL="273050" lvl="0" indent="-273050" algn="just" eaLnBrk="1" hangingPunct="1"/>
            <a:r>
              <a:rPr lang="zh-CN" altLang="en-US" sz="2800" dirty="0">
                <a:solidFill>
                  <a:prstClr val="black"/>
                </a:solidFill>
                <a:latin typeface="Constantia" panose="02030602050306030303"/>
              </a:rPr>
              <a:t> </a:t>
            </a:r>
            <a:r>
              <a:rPr lang="en-US" altLang="zh-CN" dirty="0">
                <a:solidFill>
                  <a:prstClr val="black"/>
                </a:solidFill>
                <a:latin typeface="Constantia" panose="02030602050306030303"/>
              </a:rPr>
              <a:t>π</a:t>
            </a:r>
            <a:r>
              <a:rPr lang="en-US" altLang="zh-CN" sz="2400" dirty="0">
                <a:solidFill>
                  <a:prstClr val="black"/>
                </a:solidFill>
                <a:latin typeface="Constantia" panose="02030602050306030303"/>
              </a:rPr>
              <a:t> </a:t>
            </a:r>
            <a:r>
              <a:rPr lang="en-US" altLang="zh-CN" sz="2800" baseline="-25000" dirty="0">
                <a:solidFill>
                  <a:prstClr val="black"/>
                </a:solidFill>
                <a:latin typeface="Constantia" panose="02030602050306030303"/>
              </a:rPr>
              <a:t>A1,A2,</a:t>
            </a:r>
            <a:r>
              <a:rPr lang="en-US" altLang="zh-CN" sz="2800" baseline="-25000" dirty="0">
                <a:solidFill>
                  <a:prstClr val="black"/>
                </a:solidFill>
                <a:latin typeface="Constantia" panose="02030602050306030303"/>
                <a:sym typeface="Symbol" panose="05050102010706020507" pitchFamily="18" charset="2"/>
              </a:rPr>
              <a:t> </a:t>
            </a:r>
            <a:r>
              <a:rPr lang="en-US" altLang="zh-CN" sz="2800" baseline="-25000" dirty="0">
                <a:solidFill>
                  <a:prstClr val="black"/>
                </a:solidFill>
                <a:latin typeface="Constantia" panose="02030602050306030303"/>
                <a:sym typeface="MT Extra" panose="05050102010205020202" pitchFamily="18" charset="2"/>
              </a:rPr>
              <a:t></a:t>
            </a:r>
            <a:r>
              <a:rPr lang="en-US" altLang="zh-CN" sz="2800" baseline="-25000" dirty="0">
                <a:solidFill>
                  <a:prstClr val="black"/>
                </a:solidFill>
                <a:latin typeface="Constantia" panose="02030602050306030303"/>
              </a:rPr>
              <a:t>,An</a:t>
            </a:r>
            <a:r>
              <a:rPr lang="en-US" altLang="zh-CN" sz="2800" dirty="0">
                <a:solidFill>
                  <a:prstClr val="black"/>
                </a:solidFill>
                <a:latin typeface="Constantia" panose="02030602050306030303"/>
              </a:rPr>
              <a:t>(</a:t>
            </a:r>
            <a:r>
              <a:rPr lang="en-US" altLang="zh-CN" dirty="0">
                <a:solidFill>
                  <a:prstClr val="black"/>
                </a:solidFill>
                <a:latin typeface="Constantia" panose="02030602050306030303"/>
              </a:rPr>
              <a:t>π</a:t>
            </a:r>
            <a:r>
              <a:rPr lang="en-US" altLang="zh-CN" sz="2800" dirty="0">
                <a:solidFill>
                  <a:prstClr val="black"/>
                </a:solidFill>
                <a:latin typeface="Constantia" panose="02030602050306030303"/>
              </a:rPr>
              <a:t> </a:t>
            </a:r>
            <a:r>
              <a:rPr lang="en-US" altLang="zh-CN" sz="2800" baseline="-25000" dirty="0">
                <a:solidFill>
                  <a:prstClr val="black"/>
                </a:solidFill>
                <a:latin typeface="Constantia" panose="02030602050306030303"/>
              </a:rPr>
              <a:t>B1,B2, </a:t>
            </a:r>
            <a:r>
              <a:rPr lang="en-US" altLang="zh-CN" sz="2800" baseline="-25000" dirty="0">
                <a:solidFill>
                  <a:prstClr val="black"/>
                </a:solidFill>
                <a:latin typeface="Constantia" panose="02030602050306030303"/>
                <a:sym typeface="MT Extra" panose="05050102010205020202" pitchFamily="18" charset="2"/>
              </a:rPr>
              <a:t></a:t>
            </a:r>
            <a:r>
              <a:rPr lang="en-US" altLang="zh-CN" sz="2800" baseline="-25000" dirty="0">
                <a:solidFill>
                  <a:prstClr val="black"/>
                </a:solidFill>
                <a:latin typeface="Constantia" panose="02030602050306030303"/>
              </a:rPr>
              <a:t>,</a:t>
            </a:r>
            <a:r>
              <a:rPr lang="en-US" altLang="zh-CN" sz="2800" baseline="-25000" dirty="0" err="1">
                <a:solidFill>
                  <a:prstClr val="black"/>
                </a:solidFill>
                <a:latin typeface="Constantia" panose="02030602050306030303"/>
              </a:rPr>
              <a:t>Bm</a:t>
            </a:r>
            <a:r>
              <a:rPr lang="en-US" altLang="zh-CN" sz="2800" dirty="0">
                <a:solidFill>
                  <a:prstClr val="black"/>
                </a:solidFill>
                <a:latin typeface="Constantia" panose="02030602050306030303"/>
              </a:rPr>
              <a:t>(E))≡ </a:t>
            </a:r>
            <a:r>
              <a:rPr lang="en-US" altLang="zh-CN" dirty="0">
                <a:solidFill>
                  <a:prstClr val="black"/>
                </a:solidFill>
                <a:latin typeface="Constantia" panose="02030602050306030303"/>
              </a:rPr>
              <a:t>π</a:t>
            </a:r>
            <a:r>
              <a:rPr lang="en-US" altLang="zh-CN" sz="2400" dirty="0">
                <a:solidFill>
                  <a:prstClr val="black"/>
                </a:solidFill>
                <a:latin typeface="Constantia" panose="02030602050306030303"/>
              </a:rPr>
              <a:t> </a:t>
            </a:r>
            <a:r>
              <a:rPr lang="en-US" altLang="zh-CN" sz="2800" baseline="-25000" dirty="0">
                <a:solidFill>
                  <a:prstClr val="black"/>
                </a:solidFill>
                <a:latin typeface="Constantia" panose="02030602050306030303"/>
              </a:rPr>
              <a:t>A1,A2, </a:t>
            </a:r>
            <a:r>
              <a:rPr lang="en-US" altLang="zh-CN" sz="2800" baseline="-25000" dirty="0">
                <a:solidFill>
                  <a:prstClr val="black"/>
                </a:solidFill>
                <a:latin typeface="Constantia" panose="02030602050306030303"/>
                <a:sym typeface="MT Extra" panose="05050102010205020202" pitchFamily="18" charset="2"/>
              </a:rPr>
              <a:t></a:t>
            </a:r>
            <a:r>
              <a:rPr lang="en-US" altLang="zh-CN" sz="2800" baseline="-25000" dirty="0">
                <a:solidFill>
                  <a:prstClr val="black"/>
                </a:solidFill>
                <a:latin typeface="Constantia" panose="02030602050306030303"/>
              </a:rPr>
              <a:t>,An</a:t>
            </a:r>
            <a:r>
              <a:rPr lang="en-US" altLang="zh-CN" sz="2800" dirty="0">
                <a:solidFill>
                  <a:prstClr val="black"/>
                </a:solidFill>
                <a:latin typeface="Constantia" panose="02030602050306030303"/>
              </a:rPr>
              <a:t> (E)</a:t>
            </a:r>
          </a:p>
          <a:p>
            <a:pPr algn="just" eaLnBrk="1" hangingPunct="1"/>
            <a:endParaRPr lang="en-US" altLang="zh-CN" sz="2400" dirty="0"/>
          </a:p>
          <a:p>
            <a:pPr algn="just" eaLnBrk="1" hangingPunct="1"/>
            <a:endParaRPr lang="en-US" altLang="zh-CN" sz="2400" dirty="0"/>
          </a:p>
          <a:p>
            <a:pPr algn="just" eaLnBrk="1" hangingPunct="1"/>
            <a:endParaRPr lang="en-US" altLang="zh-CN" sz="2400" dirty="0"/>
          </a:p>
          <a:p>
            <a:pPr algn="just" eaLnBrk="1" hangingPunct="1"/>
            <a:r>
              <a:rPr lang="zh-CN" altLang="en-US" sz="2400" dirty="0"/>
              <a:t>假设：</a:t>
            </a:r>
          </a:p>
          <a:p>
            <a:pPr algn="just" eaLnBrk="1" hangingPunct="1">
              <a:lnSpc>
                <a:spcPct val="110000"/>
              </a:lnSpc>
            </a:pPr>
            <a:r>
              <a:rPr lang="en-US" altLang="zh-CN" sz="2400" dirty="0"/>
              <a:t>1) E</a:t>
            </a:r>
            <a:r>
              <a:rPr lang="zh-CN" altLang="en-US" sz="2400" dirty="0"/>
              <a:t>是关系代数表达式</a:t>
            </a:r>
          </a:p>
          <a:p>
            <a:pPr algn="just" eaLnBrk="1" hangingPunct="1">
              <a:lnSpc>
                <a:spcPct val="110000"/>
              </a:lnSpc>
            </a:pPr>
            <a:r>
              <a:rPr lang="en-US" altLang="zh-CN" sz="2400" dirty="0"/>
              <a:t>2) A</a:t>
            </a:r>
            <a:r>
              <a:rPr lang="en-US" altLang="zh-CN" sz="2400" baseline="-25000" dirty="0"/>
              <a:t>i</a:t>
            </a:r>
            <a:r>
              <a:rPr lang="en-US" altLang="zh-CN" sz="2400" dirty="0"/>
              <a:t>(</a:t>
            </a:r>
            <a:r>
              <a:rPr lang="en-US" altLang="zh-CN" sz="2400" dirty="0" err="1"/>
              <a:t>i</a:t>
            </a:r>
            <a:r>
              <a:rPr lang="en-US" altLang="zh-CN" sz="2400" dirty="0"/>
              <a:t>=1</a:t>
            </a:r>
            <a:r>
              <a:rPr lang="zh-CN" altLang="en-US" sz="2400" dirty="0"/>
              <a:t>，</a:t>
            </a:r>
            <a:r>
              <a:rPr lang="en-US" altLang="zh-CN" sz="2400" dirty="0"/>
              <a:t>2</a:t>
            </a:r>
            <a:r>
              <a:rPr lang="zh-CN" altLang="en-US" sz="2400" dirty="0"/>
              <a:t>，</a:t>
            </a:r>
            <a:r>
              <a:rPr lang="en-US" altLang="zh-CN" sz="2400" dirty="0">
                <a:latin typeface="Courier New" panose="02070309020205020404" pitchFamily="49" charset="0"/>
              </a:rPr>
              <a:t>…</a:t>
            </a:r>
            <a:r>
              <a:rPr lang="zh-CN" altLang="en-US" sz="2400" dirty="0"/>
              <a:t>，</a:t>
            </a:r>
            <a:r>
              <a:rPr lang="en-US" altLang="zh-CN" sz="2400" dirty="0"/>
              <a:t>n), </a:t>
            </a:r>
            <a:r>
              <a:rPr lang="en-US" altLang="zh-CN" sz="2400" dirty="0" err="1"/>
              <a:t>B</a:t>
            </a:r>
            <a:r>
              <a:rPr lang="en-US" altLang="zh-CN" sz="2400" baseline="-25000" dirty="0" err="1"/>
              <a:t>j</a:t>
            </a:r>
            <a:r>
              <a:rPr lang="en-US" altLang="zh-CN" sz="2400" dirty="0"/>
              <a:t>(j=l</a:t>
            </a:r>
            <a:r>
              <a:rPr lang="zh-CN" altLang="en-US" sz="2400" dirty="0"/>
              <a:t>，</a:t>
            </a:r>
            <a:r>
              <a:rPr lang="en-US" altLang="zh-CN" sz="2400" dirty="0"/>
              <a:t>2</a:t>
            </a:r>
            <a:r>
              <a:rPr lang="zh-CN" altLang="en-US" sz="2400" dirty="0"/>
              <a:t>，</a:t>
            </a:r>
            <a:r>
              <a:rPr lang="en-US" altLang="zh-CN" sz="2400" dirty="0"/>
              <a:t>…</a:t>
            </a:r>
            <a:r>
              <a:rPr lang="zh-CN" altLang="en-US" sz="2400" dirty="0"/>
              <a:t>，</a:t>
            </a:r>
            <a:r>
              <a:rPr lang="en-US" altLang="zh-CN" sz="2400" dirty="0"/>
              <a:t>m)</a:t>
            </a:r>
            <a:r>
              <a:rPr lang="zh-CN" altLang="en-US" sz="2400" dirty="0"/>
              <a:t>是属性名</a:t>
            </a:r>
          </a:p>
          <a:p>
            <a:pPr algn="just" eaLnBrk="1" hangingPunct="1">
              <a:lnSpc>
                <a:spcPct val="110000"/>
              </a:lnSpc>
            </a:pPr>
            <a:r>
              <a:rPr lang="en-US" altLang="zh-CN" sz="2400" dirty="0"/>
              <a:t>3)</a:t>
            </a:r>
            <a:r>
              <a:rPr lang="en-US" altLang="zh-CN" sz="2400" dirty="0">
                <a:solidFill>
                  <a:srgbClr val="FF0000"/>
                </a:solidFill>
              </a:rPr>
              <a:t>{A</a:t>
            </a:r>
            <a:r>
              <a:rPr lang="en-US" altLang="zh-CN" sz="2400" baseline="-25000" dirty="0">
                <a:solidFill>
                  <a:srgbClr val="FF0000"/>
                </a:solidFill>
              </a:rPr>
              <a:t>1</a:t>
            </a:r>
            <a:r>
              <a:rPr lang="en-US" altLang="zh-CN" sz="2400" dirty="0">
                <a:solidFill>
                  <a:srgbClr val="FF0000"/>
                </a:solidFill>
              </a:rPr>
              <a:t>, A</a:t>
            </a:r>
            <a:r>
              <a:rPr lang="en-US" altLang="zh-CN" sz="2400" baseline="-25000" dirty="0">
                <a:solidFill>
                  <a:srgbClr val="FF0000"/>
                </a:solidFill>
              </a:rPr>
              <a:t>2</a:t>
            </a:r>
            <a:r>
              <a:rPr lang="en-US" altLang="zh-CN" sz="2400" dirty="0">
                <a:solidFill>
                  <a:srgbClr val="FF0000"/>
                </a:solidFill>
              </a:rPr>
              <a:t>, …, A</a:t>
            </a:r>
            <a:r>
              <a:rPr lang="en-US" altLang="zh-CN" sz="2400" baseline="-25000" dirty="0">
                <a:solidFill>
                  <a:srgbClr val="FF0000"/>
                </a:solidFill>
              </a:rPr>
              <a:t>n</a:t>
            </a:r>
            <a:r>
              <a:rPr lang="en-US" altLang="zh-CN" sz="2400" dirty="0">
                <a:solidFill>
                  <a:srgbClr val="FF0000"/>
                </a:solidFill>
              </a:rPr>
              <a:t>}</a:t>
            </a:r>
            <a:r>
              <a:rPr lang="zh-CN" altLang="en-US" sz="2400" dirty="0">
                <a:solidFill>
                  <a:srgbClr val="FF0000"/>
                </a:solidFill>
              </a:rPr>
              <a:t>构成</a:t>
            </a:r>
            <a:r>
              <a:rPr lang="en-US" altLang="zh-CN" sz="2400" dirty="0">
                <a:solidFill>
                  <a:srgbClr val="FF0000"/>
                </a:solidFill>
              </a:rPr>
              <a:t>{B</a:t>
            </a:r>
            <a:r>
              <a:rPr lang="en-US" altLang="zh-CN" sz="2400" baseline="-25000" dirty="0">
                <a:solidFill>
                  <a:srgbClr val="FF0000"/>
                </a:solidFill>
              </a:rPr>
              <a:t>l</a:t>
            </a:r>
            <a:r>
              <a:rPr lang="zh-CN" altLang="en-US" sz="2400" dirty="0">
                <a:solidFill>
                  <a:srgbClr val="FF0000"/>
                </a:solidFill>
              </a:rPr>
              <a:t>，</a:t>
            </a:r>
            <a:r>
              <a:rPr lang="en-US" altLang="zh-CN" sz="2400" dirty="0">
                <a:solidFill>
                  <a:srgbClr val="FF0000"/>
                </a:solidFill>
              </a:rPr>
              <a:t>B</a:t>
            </a:r>
            <a:r>
              <a:rPr lang="en-US" altLang="zh-CN" sz="2400" baseline="-25000" dirty="0">
                <a:solidFill>
                  <a:srgbClr val="FF0000"/>
                </a:solidFill>
              </a:rPr>
              <a:t>2</a:t>
            </a:r>
            <a:r>
              <a:rPr lang="zh-CN" altLang="en-US" sz="2400" dirty="0">
                <a:solidFill>
                  <a:srgbClr val="FF0000"/>
                </a:solidFill>
              </a:rPr>
              <a:t>，</a:t>
            </a:r>
            <a:r>
              <a:rPr lang="en-US" altLang="zh-CN" sz="2400" dirty="0">
                <a:solidFill>
                  <a:srgbClr val="FF0000"/>
                </a:solidFill>
              </a:rPr>
              <a:t>…</a:t>
            </a:r>
            <a:r>
              <a:rPr lang="zh-CN" altLang="en-US" sz="2400" dirty="0">
                <a:solidFill>
                  <a:srgbClr val="FF0000"/>
                </a:solidFill>
              </a:rPr>
              <a:t>，</a:t>
            </a:r>
            <a:r>
              <a:rPr lang="en-US" altLang="zh-CN" sz="2400" dirty="0" err="1">
                <a:solidFill>
                  <a:srgbClr val="FF0000"/>
                </a:solidFill>
              </a:rPr>
              <a:t>B</a:t>
            </a:r>
            <a:r>
              <a:rPr lang="en-US" altLang="zh-CN" sz="2400" baseline="-25000" dirty="0" err="1">
                <a:solidFill>
                  <a:srgbClr val="FF0000"/>
                </a:solidFill>
              </a:rPr>
              <a:t>m</a:t>
            </a:r>
            <a:r>
              <a:rPr lang="en-US" altLang="zh-CN" sz="2400" dirty="0">
                <a:solidFill>
                  <a:srgbClr val="FF0000"/>
                </a:solidFill>
              </a:rPr>
              <a:t>}</a:t>
            </a:r>
            <a:r>
              <a:rPr lang="zh-CN" altLang="en-US" sz="2400" dirty="0">
                <a:solidFill>
                  <a:srgbClr val="FF0000"/>
                </a:solidFill>
              </a:rPr>
              <a:t>的子集 </a:t>
            </a:r>
          </a:p>
          <a:p>
            <a:pPr eaLnBrk="1" hangingPunct="1">
              <a:spcBef>
                <a:spcPct val="0"/>
              </a:spcBef>
              <a:buClrTx/>
              <a:buSzTx/>
            </a:pPr>
            <a:endParaRPr lang="en-US" altLang="zh-CN" sz="2400" dirty="0">
              <a:solidFill>
                <a:srgbClr val="0000FF"/>
              </a:solidFill>
            </a:endParaRPr>
          </a:p>
        </p:txBody>
      </p:sp>
      <p:sp>
        <p:nvSpPr>
          <p:cNvPr id="2" name="矩形: 圆角 1"/>
          <p:cNvSpPr/>
          <p:nvPr/>
        </p:nvSpPr>
        <p:spPr>
          <a:xfrm>
            <a:off x="5076056" y="2276872"/>
            <a:ext cx="2088232" cy="3600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0000"/>
                </a:solidFill>
              </a:rPr>
              <a:t>A</a:t>
            </a:r>
            <a:r>
              <a:rPr lang="en-US" altLang="zh-CN" baseline="-25000" dirty="0">
                <a:solidFill>
                  <a:srgbClr val="FF0000"/>
                </a:solidFill>
              </a:rPr>
              <a:t>1</a:t>
            </a:r>
            <a:r>
              <a:rPr lang="en-US" altLang="zh-CN" dirty="0">
                <a:solidFill>
                  <a:srgbClr val="FF0000"/>
                </a:solidFill>
              </a:rPr>
              <a:t>, A</a:t>
            </a:r>
            <a:r>
              <a:rPr lang="en-US" altLang="zh-CN" baseline="-25000" dirty="0">
                <a:solidFill>
                  <a:srgbClr val="FF0000"/>
                </a:solidFill>
              </a:rPr>
              <a:t>2</a:t>
            </a:r>
            <a:r>
              <a:rPr lang="en-US" altLang="zh-CN" dirty="0">
                <a:solidFill>
                  <a:srgbClr val="FF0000"/>
                </a:solidFill>
              </a:rPr>
              <a:t>, …, A</a:t>
            </a:r>
            <a:r>
              <a:rPr lang="en-US" altLang="zh-CN" baseline="-25000" dirty="0">
                <a:solidFill>
                  <a:srgbClr val="FF0000"/>
                </a:solidFill>
              </a:rPr>
              <a:t>n</a:t>
            </a:r>
            <a:endParaRPr lang="zh-CN" altLang="en-US" dirty="0"/>
          </a:p>
        </p:txBody>
      </p:sp>
      <p:sp>
        <p:nvSpPr>
          <p:cNvPr id="5" name="矩形: 圆角 4"/>
          <p:cNvSpPr/>
          <p:nvPr/>
        </p:nvSpPr>
        <p:spPr>
          <a:xfrm>
            <a:off x="3923928" y="2923059"/>
            <a:ext cx="3272444" cy="3600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0000"/>
                </a:solidFill>
              </a:rPr>
              <a:t>B</a:t>
            </a:r>
            <a:r>
              <a:rPr lang="en-US" altLang="zh-CN" baseline="-25000" dirty="0">
                <a:solidFill>
                  <a:srgbClr val="FF0000"/>
                </a:solidFill>
              </a:rPr>
              <a:t>l</a:t>
            </a:r>
            <a:r>
              <a:rPr lang="zh-CN" altLang="en-US" dirty="0">
                <a:solidFill>
                  <a:srgbClr val="FF0000"/>
                </a:solidFill>
              </a:rPr>
              <a:t>，    </a:t>
            </a:r>
            <a:r>
              <a:rPr lang="en-US" altLang="zh-CN" dirty="0">
                <a:solidFill>
                  <a:srgbClr val="FF0000"/>
                </a:solidFill>
              </a:rPr>
              <a:t>B</a:t>
            </a:r>
            <a:r>
              <a:rPr lang="en-US" altLang="zh-CN" baseline="-25000" dirty="0">
                <a:solidFill>
                  <a:srgbClr val="FF0000"/>
                </a:solidFill>
              </a:rPr>
              <a:t>2</a:t>
            </a:r>
            <a:r>
              <a:rPr lang="zh-CN" altLang="en-US" dirty="0">
                <a:solidFill>
                  <a:srgbClr val="FF0000"/>
                </a:solidFill>
              </a:rPr>
              <a:t>， </a:t>
            </a:r>
            <a:r>
              <a:rPr lang="en-US" altLang="zh-CN" dirty="0">
                <a:solidFill>
                  <a:srgbClr val="FF0000"/>
                </a:solidFill>
              </a:rPr>
              <a:t>…</a:t>
            </a:r>
            <a:r>
              <a:rPr lang="zh-CN" altLang="en-US" dirty="0">
                <a:solidFill>
                  <a:srgbClr val="FF0000"/>
                </a:solidFill>
              </a:rPr>
              <a:t>，      </a:t>
            </a:r>
            <a:r>
              <a:rPr lang="en-US" altLang="zh-CN" dirty="0" err="1">
                <a:solidFill>
                  <a:srgbClr val="FF0000"/>
                </a:solidFill>
              </a:rPr>
              <a:t>B</a:t>
            </a:r>
            <a:r>
              <a:rPr lang="en-US" altLang="zh-CN" baseline="-25000" dirty="0" err="1">
                <a:solidFill>
                  <a:srgbClr val="FF0000"/>
                </a:solidFill>
              </a:rPr>
              <a:t>m</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22</a:t>
            </a:fld>
            <a:endParaRPr lang="en-US" altLang="zh-CN"/>
          </a:p>
        </p:txBody>
      </p:sp>
      <p:sp>
        <p:nvSpPr>
          <p:cNvPr id="3" name="内容占位符 2"/>
          <p:cNvSpPr>
            <a:spLocks noGrp="1"/>
          </p:cNvSpPr>
          <p:nvPr>
            <p:ph idx="1"/>
          </p:nvPr>
        </p:nvSpPr>
        <p:spPr>
          <a:xfrm>
            <a:off x="376300" y="911897"/>
            <a:ext cx="8229600" cy="3453207"/>
          </a:xfrm>
        </p:spPr>
        <p:txBody>
          <a:bodyPr/>
          <a:lstStyle/>
          <a:p>
            <a:r>
              <a:rPr lang="en-US" altLang="zh-CN" dirty="0">
                <a:solidFill>
                  <a:srgbClr val="0000FF"/>
                </a:solidFill>
              </a:rPr>
              <a:t>4 </a:t>
            </a:r>
            <a:r>
              <a:rPr lang="zh-CN" altLang="en-US" dirty="0">
                <a:solidFill>
                  <a:srgbClr val="0000FF"/>
                </a:solidFill>
              </a:rPr>
              <a:t>选择的串接律</a:t>
            </a:r>
            <a:endParaRPr lang="en-US" altLang="zh-CN" dirty="0">
              <a:solidFill>
                <a:srgbClr val="0000FF"/>
              </a:solidFill>
            </a:endParaRPr>
          </a:p>
          <a:p>
            <a:pPr algn="just" eaLnBrk="1" hangingPunct="1">
              <a:lnSpc>
                <a:spcPct val="90000"/>
              </a:lnSpc>
            </a:pPr>
            <a:r>
              <a:rPr lang="en-US" altLang="zh-CN" sz="2800" b="1" dirty="0">
                <a:latin typeface="Arial" panose="020B0604020202020204" pitchFamily="34" charset="0"/>
                <a:cs typeface="Arial" panose="020B0604020202020204" pitchFamily="34" charset="0"/>
              </a:rPr>
              <a:t>    σ</a:t>
            </a:r>
            <a:r>
              <a:rPr lang="en-US" altLang="zh-CN" sz="2800" b="1" baseline="-25000" dirty="0">
                <a:latin typeface="+mn-ea"/>
              </a:rPr>
              <a:t>F1</a:t>
            </a:r>
            <a:r>
              <a:rPr lang="en-US" altLang="zh-CN" dirty="0"/>
              <a:t>(</a:t>
            </a:r>
            <a:r>
              <a:rPr lang="en-US" altLang="zh-CN" sz="2800" b="1" dirty="0">
                <a:latin typeface="Arial" panose="020B0604020202020204" pitchFamily="34" charset="0"/>
                <a:cs typeface="Arial" panose="020B0604020202020204" pitchFamily="34" charset="0"/>
              </a:rPr>
              <a:t>σ</a:t>
            </a:r>
            <a:r>
              <a:rPr lang="en-US" altLang="zh-CN" sz="2800" b="1" baseline="-25000" dirty="0">
                <a:latin typeface="+mn-ea"/>
              </a:rPr>
              <a:t>F2</a:t>
            </a:r>
            <a:r>
              <a:rPr lang="en-US" altLang="zh-CN" dirty="0"/>
              <a:t>(E) </a:t>
            </a:r>
            <a:r>
              <a:rPr lang="zh-CN" altLang="en-US" dirty="0"/>
              <a:t>≡ </a:t>
            </a:r>
            <a:r>
              <a:rPr lang="en-US" altLang="zh-CN" sz="2800" b="1" dirty="0">
                <a:latin typeface="Arial" panose="020B0604020202020204" pitchFamily="34" charset="0"/>
                <a:cs typeface="Arial" panose="020B0604020202020204" pitchFamily="34" charset="0"/>
              </a:rPr>
              <a:t>σ</a:t>
            </a:r>
            <a:r>
              <a:rPr lang="en-US" altLang="zh-CN" sz="2800" b="1" baseline="-25000" dirty="0">
                <a:latin typeface="+mn-ea"/>
              </a:rPr>
              <a:t>F1 </a:t>
            </a:r>
            <a:r>
              <a:rPr lang="en-US" altLang="zh-CN" sz="2800" baseline="-25000" dirty="0"/>
              <a:t>∧ </a:t>
            </a:r>
            <a:r>
              <a:rPr lang="en-US" altLang="zh-CN" sz="2800" b="1" baseline="-25000" dirty="0">
                <a:latin typeface="+mn-ea"/>
              </a:rPr>
              <a:t>F2</a:t>
            </a:r>
            <a:r>
              <a:rPr lang="en-US" altLang="zh-CN" dirty="0"/>
              <a:t>(E)</a:t>
            </a:r>
          </a:p>
          <a:p>
            <a:pPr lvl="1" algn="just" eaLnBrk="1" hangingPunct="1">
              <a:lnSpc>
                <a:spcPct val="160000"/>
              </a:lnSpc>
            </a:pPr>
            <a:r>
              <a:rPr lang="zh-CN" altLang="en-US" dirty="0"/>
              <a:t>选择条件可以合并，一次可检查全部条件。</a:t>
            </a:r>
            <a:endParaRPr lang="en-US" altLang="zh-CN" b="1" dirty="0"/>
          </a:p>
          <a:p>
            <a:pPr marL="0" lvl="1" indent="0" algn="just" eaLnBrk="1" hangingPunct="1">
              <a:lnSpc>
                <a:spcPct val="160000"/>
              </a:lnSpc>
            </a:pPr>
            <a:r>
              <a:rPr lang="en-US" altLang="zh-CN" dirty="0">
                <a:solidFill>
                  <a:srgbClr val="0000FF"/>
                </a:solidFill>
              </a:rPr>
              <a:t>5 </a:t>
            </a:r>
            <a:r>
              <a:rPr lang="zh-CN" altLang="en-US" dirty="0">
                <a:solidFill>
                  <a:srgbClr val="0000FF"/>
                </a:solidFill>
              </a:rPr>
              <a:t>选择与投影的交换律</a:t>
            </a:r>
            <a:endParaRPr lang="en-US" altLang="zh-CN" dirty="0">
              <a:solidFill>
                <a:srgbClr val="0000FF"/>
              </a:solidFill>
            </a:endParaRPr>
          </a:p>
          <a:p>
            <a:pPr marL="273050" lvl="0" indent="-273050" algn="just" eaLnBrk="1" hangingPunct="1">
              <a:lnSpc>
                <a:spcPct val="170000"/>
              </a:lnSpc>
              <a:spcBef>
                <a:spcPts val="0"/>
              </a:spcBef>
            </a:pPr>
            <a:r>
              <a:rPr lang="en-US" altLang="zh-CN" sz="2400" dirty="0">
                <a:solidFill>
                  <a:prstClr val="black"/>
                </a:solidFill>
                <a:latin typeface="+mn-ea"/>
              </a:rPr>
              <a:t>(1)</a:t>
            </a:r>
            <a:r>
              <a:rPr lang="zh-CN" altLang="en-US" sz="2400" dirty="0">
                <a:solidFill>
                  <a:prstClr val="black"/>
                </a:solidFill>
                <a:latin typeface="+mn-ea"/>
              </a:rPr>
              <a:t>假设</a:t>
            </a:r>
            <a:r>
              <a:rPr lang="en-US" altLang="zh-CN" sz="2400" dirty="0">
                <a:solidFill>
                  <a:prstClr val="black"/>
                </a:solidFill>
                <a:latin typeface="Constantia" panose="02030602050306030303"/>
              </a:rPr>
              <a:t>: </a:t>
            </a:r>
            <a:r>
              <a:rPr lang="zh-CN" altLang="en-US" sz="2400" dirty="0">
                <a:solidFill>
                  <a:prstClr val="black"/>
                </a:solidFill>
                <a:latin typeface="Constantia" panose="02030602050306030303"/>
              </a:rPr>
              <a:t>选择条件</a:t>
            </a:r>
            <a:r>
              <a:rPr lang="en-US" altLang="zh-CN" sz="2400" dirty="0">
                <a:solidFill>
                  <a:srgbClr val="FF0000"/>
                </a:solidFill>
                <a:latin typeface="Constantia" panose="02030602050306030303"/>
              </a:rPr>
              <a:t>F</a:t>
            </a:r>
            <a:r>
              <a:rPr lang="zh-CN" altLang="en-US" sz="2400" dirty="0">
                <a:solidFill>
                  <a:srgbClr val="FF0000"/>
                </a:solidFill>
                <a:latin typeface="Constantia" panose="02030602050306030303"/>
              </a:rPr>
              <a:t>只涉及属性</a:t>
            </a:r>
            <a:r>
              <a:rPr lang="en-US" altLang="zh-CN" sz="2400" dirty="0">
                <a:solidFill>
                  <a:srgbClr val="FF0000"/>
                </a:solidFill>
                <a:latin typeface="Constantia" panose="02030602050306030303"/>
              </a:rPr>
              <a:t>A1</a:t>
            </a:r>
            <a:r>
              <a:rPr lang="zh-CN" altLang="en-US" sz="2400" dirty="0">
                <a:solidFill>
                  <a:srgbClr val="FF0000"/>
                </a:solidFill>
                <a:latin typeface="Constantia" panose="02030602050306030303"/>
              </a:rPr>
              <a:t>，</a:t>
            </a:r>
            <a:r>
              <a:rPr lang="en-US" altLang="zh-CN" sz="2400" dirty="0">
                <a:solidFill>
                  <a:srgbClr val="FF0000"/>
                </a:solidFill>
                <a:latin typeface="Courier New" panose="02070309020205020404" pitchFamily="49" charset="0"/>
              </a:rPr>
              <a:t>…</a:t>
            </a:r>
            <a:r>
              <a:rPr lang="zh-CN" altLang="en-US" sz="2400" dirty="0">
                <a:solidFill>
                  <a:srgbClr val="FF0000"/>
                </a:solidFill>
                <a:latin typeface="Constantia" panose="02030602050306030303"/>
              </a:rPr>
              <a:t>，</a:t>
            </a:r>
            <a:r>
              <a:rPr lang="en-US" altLang="zh-CN" sz="2400" dirty="0">
                <a:solidFill>
                  <a:srgbClr val="FF0000"/>
                </a:solidFill>
                <a:latin typeface="Constantia" panose="02030602050306030303"/>
              </a:rPr>
              <a:t>An</a:t>
            </a:r>
          </a:p>
          <a:p>
            <a:pPr marL="273050" lvl="0" indent="-273050" algn="just" eaLnBrk="1" hangingPunct="1">
              <a:lnSpc>
                <a:spcPct val="110000"/>
              </a:lnSpc>
              <a:spcBef>
                <a:spcPts val="0"/>
              </a:spcBef>
            </a:pPr>
            <a:r>
              <a:rPr lang="en-US" altLang="zh-CN" sz="2800" dirty="0">
                <a:solidFill>
                  <a:prstClr val="black"/>
                </a:solidFill>
                <a:latin typeface="Constantia" panose="02030602050306030303"/>
              </a:rPr>
              <a:t>    </a:t>
            </a:r>
            <a:r>
              <a:rPr lang="en-US" altLang="zh-CN" sz="2800" b="1" dirty="0" err="1">
                <a:latin typeface="Arial" panose="020B0604020202020204" pitchFamily="34" charset="0"/>
                <a:cs typeface="Arial" panose="020B0604020202020204" pitchFamily="34" charset="0"/>
              </a:rPr>
              <a:t>σ</a:t>
            </a:r>
            <a:r>
              <a:rPr lang="en-US" altLang="zh-CN" sz="2800" b="1" baseline="-25000" dirty="0" err="1">
                <a:latin typeface="+mn-ea"/>
              </a:rPr>
              <a:t>F</a:t>
            </a:r>
            <a:r>
              <a:rPr lang="en-US" altLang="zh-CN" sz="2800" dirty="0">
                <a:solidFill>
                  <a:prstClr val="black"/>
                </a:solidFill>
                <a:latin typeface="Constantia" panose="02030602050306030303"/>
              </a:rPr>
              <a:t> (</a:t>
            </a:r>
            <a:r>
              <a:rPr lang="en-US" altLang="zh-CN" dirty="0">
                <a:solidFill>
                  <a:prstClr val="black"/>
                </a:solidFill>
                <a:latin typeface="Constantia" panose="02030602050306030303"/>
              </a:rPr>
              <a:t>π</a:t>
            </a:r>
            <a:r>
              <a:rPr lang="en-US" altLang="zh-CN" sz="2800" baseline="-25000" dirty="0">
                <a:solidFill>
                  <a:prstClr val="black"/>
                </a:solidFill>
                <a:latin typeface="Constantia" panose="02030602050306030303"/>
              </a:rPr>
              <a:t>A1,A2, </a:t>
            </a:r>
            <a:r>
              <a:rPr lang="en-US" altLang="zh-CN" sz="2800" baseline="-25000" dirty="0">
                <a:solidFill>
                  <a:prstClr val="black"/>
                </a:solidFill>
                <a:latin typeface="Constantia" panose="02030602050306030303"/>
                <a:sym typeface="MT Extra" panose="05050102010205020202" pitchFamily="18" charset="2"/>
              </a:rPr>
              <a:t></a:t>
            </a:r>
            <a:r>
              <a:rPr lang="en-US" altLang="zh-CN" sz="2800" baseline="-25000" dirty="0">
                <a:solidFill>
                  <a:prstClr val="black"/>
                </a:solidFill>
                <a:latin typeface="Constantia" panose="02030602050306030303"/>
              </a:rPr>
              <a:t>,An</a:t>
            </a:r>
            <a:r>
              <a:rPr lang="en-US" altLang="zh-CN" sz="2000" i="1" dirty="0">
                <a:solidFill>
                  <a:prstClr val="black"/>
                </a:solidFill>
                <a:latin typeface="Constantia" panose="02030602050306030303"/>
              </a:rPr>
              <a:t>(</a:t>
            </a:r>
            <a:r>
              <a:rPr lang="en-US" altLang="zh-CN" sz="2800" dirty="0">
                <a:solidFill>
                  <a:prstClr val="black"/>
                </a:solidFill>
                <a:latin typeface="Constantia" panose="02030602050306030303"/>
              </a:rPr>
              <a:t>E))≡ </a:t>
            </a:r>
            <a:r>
              <a:rPr lang="en-US" altLang="zh-CN" dirty="0">
                <a:solidFill>
                  <a:prstClr val="black"/>
                </a:solidFill>
                <a:latin typeface="Constantia" panose="02030602050306030303"/>
              </a:rPr>
              <a:t>π</a:t>
            </a:r>
            <a:r>
              <a:rPr lang="en-US" altLang="zh-CN" sz="2800" baseline="-25000" dirty="0">
                <a:solidFill>
                  <a:prstClr val="black"/>
                </a:solidFill>
                <a:latin typeface="Constantia" panose="02030602050306030303"/>
              </a:rPr>
              <a:t>A1,A2, </a:t>
            </a:r>
            <a:r>
              <a:rPr lang="en-US" altLang="zh-CN" sz="2800" baseline="-25000" dirty="0">
                <a:solidFill>
                  <a:prstClr val="black"/>
                </a:solidFill>
                <a:latin typeface="Constantia" panose="02030602050306030303"/>
                <a:sym typeface="MT Extra" panose="05050102010205020202" pitchFamily="18" charset="2"/>
              </a:rPr>
              <a:t></a:t>
            </a:r>
            <a:r>
              <a:rPr lang="en-US" altLang="zh-CN" sz="2800" baseline="-25000" dirty="0">
                <a:solidFill>
                  <a:prstClr val="black"/>
                </a:solidFill>
                <a:latin typeface="Constantia" panose="02030602050306030303"/>
              </a:rPr>
              <a:t>,An</a:t>
            </a:r>
            <a:r>
              <a:rPr lang="en-US" altLang="zh-CN" sz="2800" dirty="0">
                <a:solidFill>
                  <a:prstClr val="black"/>
                </a:solidFill>
                <a:latin typeface="Constantia" panose="02030602050306030303"/>
              </a:rPr>
              <a:t>(</a:t>
            </a:r>
            <a:r>
              <a:rPr lang="en-US" altLang="zh-CN" sz="2800" b="1" dirty="0" err="1">
                <a:latin typeface="Arial" panose="020B0604020202020204" pitchFamily="34" charset="0"/>
                <a:cs typeface="Arial" panose="020B0604020202020204" pitchFamily="34" charset="0"/>
              </a:rPr>
              <a:t>σ</a:t>
            </a:r>
            <a:r>
              <a:rPr lang="en-US" altLang="zh-CN" sz="2800" b="1" baseline="-25000" dirty="0" err="1">
                <a:latin typeface="+mn-ea"/>
              </a:rPr>
              <a:t>F</a:t>
            </a:r>
            <a:r>
              <a:rPr lang="en-US" altLang="zh-CN" sz="2800" dirty="0">
                <a:solidFill>
                  <a:prstClr val="black"/>
                </a:solidFill>
                <a:latin typeface="Constantia" panose="02030602050306030303"/>
              </a:rPr>
              <a:t>(E))</a:t>
            </a:r>
            <a:r>
              <a:rPr lang="en-US" altLang="zh-CN" sz="2400" dirty="0">
                <a:solidFill>
                  <a:prstClr val="black"/>
                </a:solidFill>
                <a:latin typeface="Courier New" panose="02070309020205020404" pitchFamily="49" charset="0"/>
              </a:rPr>
              <a:t> </a:t>
            </a:r>
            <a:endParaRPr lang="en-US" altLang="zh-CN" sz="2400" dirty="0">
              <a:solidFill>
                <a:prstClr val="black"/>
              </a:solidFill>
              <a:latin typeface="Constantia" panose="02030602050306030303"/>
            </a:endParaRPr>
          </a:p>
        </p:txBody>
      </p:sp>
      <p:sp>
        <p:nvSpPr>
          <p:cNvPr id="11" name="圆角矩形标注 4"/>
          <p:cNvSpPr/>
          <p:nvPr/>
        </p:nvSpPr>
        <p:spPr>
          <a:xfrm>
            <a:off x="467544" y="4293096"/>
            <a:ext cx="7713337" cy="722623"/>
          </a:xfrm>
          <a:prstGeom prst="wedgeRoundRectCallout">
            <a:avLst>
              <a:gd name="adj1" fmla="val -5544"/>
              <a:gd name="adj2" fmla="val 6959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注意选择条件是否超出投影范围，若超出，则应用更一般的规则，</a:t>
            </a:r>
            <a:r>
              <a:rPr lang="zh-CN" altLang="en-US" dirty="0">
                <a:solidFill>
                  <a:srgbClr val="FF0000"/>
                </a:solidFill>
              </a:rPr>
              <a:t>先扩充投影属性</a:t>
            </a:r>
          </a:p>
        </p:txBody>
      </p:sp>
      <p:sp>
        <p:nvSpPr>
          <p:cNvPr id="5" name="矩形 4"/>
          <p:cNvSpPr/>
          <p:nvPr/>
        </p:nvSpPr>
        <p:spPr>
          <a:xfrm>
            <a:off x="376300" y="5211703"/>
            <a:ext cx="7274260" cy="1468800"/>
          </a:xfrm>
          <a:prstGeom prst="rect">
            <a:avLst/>
          </a:prstGeom>
        </p:spPr>
        <p:txBody>
          <a:bodyPr wrap="square">
            <a:spAutoFit/>
          </a:bodyPr>
          <a:lstStyle/>
          <a:p>
            <a:pPr marL="273050" indent="-273050" algn="just">
              <a:lnSpc>
                <a:spcPct val="110000"/>
              </a:lnSpc>
              <a:spcBef>
                <a:spcPct val="20000"/>
              </a:spcBef>
              <a:buClr>
                <a:srgbClr val="0BD0D9"/>
              </a:buClr>
              <a:buSzPct val="95000"/>
            </a:pPr>
            <a:r>
              <a:rPr lang="en-US" altLang="zh-CN" dirty="0">
                <a:solidFill>
                  <a:prstClr val="black"/>
                </a:solidFill>
                <a:latin typeface="+mn-ea"/>
                <a:ea typeface="+mn-ea"/>
              </a:rPr>
              <a:t>(2)</a:t>
            </a:r>
            <a:r>
              <a:rPr lang="zh-CN" altLang="en-US" dirty="0">
                <a:solidFill>
                  <a:prstClr val="black"/>
                </a:solidFill>
                <a:latin typeface="+mn-ea"/>
                <a:ea typeface="+mn-ea"/>
              </a:rPr>
              <a:t>假设</a:t>
            </a:r>
            <a:r>
              <a:rPr lang="en-US" altLang="zh-CN" dirty="0">
                <a:solidFill>
                  <a:srgbClr val="FF0000"/>
                </a:solidFill>
                <a:latin typeface="+mn-ea"/>
                <a:ea typeface="+mn-ea"/>
              </a:rPr>
              <a:t>: F</a:t>
            </a:r>
            <a:r>
              <a:rPr lang="zh-CN" altLang="en-US" dirty="0">
                <a:solidFill>
                  <a:srgbClr val="FF0000"/>
                </a:solidFill>
                <a:latin typeface="Constantia" panose="02030602050306030303"/>
              </a:rPr>
              <a:t>中有不属于</a:t>
            </a:r>
            <a:r>
              <a:rPr lang="en-US" altLang="zh-CN" dirty="0">
                <a:solidFill>
                  <a:srgbClr val="FF0000"/>
                </a:solidFill>
                <a:latin typeface="Constantia" panose="02030602050306030303"/>
              </a:rPr>
              <a:t>A1, </a:t>
            </a:r>
            <a:r>
              <a:rPr lang="en-US" altLang="zh-CN" dirty="0">
                <a:solidFill>
                  <a:srgbClr val="FF0000"/>
                </a:solidFill>
                <a:latin typeface="Courier New" panose="02070309020205020404" pitchFamily="49" charset="0"/>
              </a:rPr>
              <a:t>…</a:t>
            </a:r>
            <a:r>
              <a:rPr lang="en-US" altLang="zh-CN" dirty="0">
                <a:solidFill>
                  <a:srgbClr val="FF0000"/>
                </a:solidFill>
                <a:latin typeface="Constantia" panose="02030602050306030303"/>
              </a:rPr>
              <a:t>,An</a:t>
            </a:r>
            <a:r>
              <a:rPr lang="zh-CN" altLang="en-US" dirty="0">
                <a:solidFill>
                  <a:srgbClr val="FF0000"/>
                </a:solidFill>
                <a:latin typeface="Constantia" panose="02030602050306030303"/>
              </a:rPr>
              <a:t>的属性</a:t>
            </a:r>
            <a:r>
              <a:rPr lang="en-US" altLang="zh-CN" dirty="0">
                <a:solidFill>
                  <a:srgbClr val="FF0000"/>
                </a:solidFill>
                <a:latin typeface="Constantia" panose="02030602050306030303"/>
              </a:rPr>
              <a:t>B1,</a:t>
            </a:r>
            <a:r>
              <a:rPr lang="en-US" altLang="zh-CN" dirty="0">
                <a:solidFill>
                  <a:srgbClr val="FF0000"/>
                </a:solidFill>
                <a:latin typeface="Courier New" panose="02070309020205020404" pitchFamily="49" charset="0"/>
              </a:rPr>
              <a:t>…</a:t>
            </a:r>
            <a:r>
              <a:rPr lang="en-US" altLang="zh-CN" dirty="0">
                <a:solidFill>
                  <a:srgbClr val="FF0000"/>
                </a:solidFill>
                <a:latin typeface="Constantia" panose="02030602050306030303"/>
              </a:rPr>
              <a:t>,</a:t>
            </a:r>
            <a:r>
              <a:rPr lang="en-US" altLang="zh-CN" dirty="0" err="1">
                <a:solidFill>
                  <a:srgbClr val="FF0000"/>
                </a:solidFill>
                <a:latin typeface="Constantia" panose="02030602050306030303"/>
              </a:rPr>
              <a:t>Bm</a:t>
            </a:r>
            <a:endParaRPr lang="en-US" altLang="zh-CN" dirty="0">
              <a:solidFill>
                <a:srgbClr val="FF0000"/>
              </a:solidFill>
              <a:latin typeface="Constantia" panose="02030602050306030303"/>
            </a:endParaRPr>
          </a:p>
          <a:p>
            <a:pPr marL="273050" lvl="0" indent="-273050" algn="just">
              <a:lnSpc>
                <a:spcPct val="110000"/>
              </a:lnSpc>
              <a:spcBef>
                <a:spcPct val="20000"/>
              </a:spcBef>
              <a:buClr>
                <a:srgbClr val="0BD0D9"/>
              </a:buClr>
              <a:buSzPct val="95000"/>
            </a:pPr>
            <a:r>
              <a:rPr kumimoji="0" lang="en-US" altLang="zh-CN" dirty="0">
                <a:solidFill>
                  <a:prstClr val="black"/>
                </a:solidFill>
                <a:latin typeface="Constantia" panose="02030602050306030303"/>
              </a:rPr>
              <a:t>π </a:t>
            </a:r>
            <a:r>
              <a:rPr kumimoji="0" lang="en-US" altLang="zh-CN" baseline="-25000" dirty="0">
                <a:solidFill>
                  <a:prstClr val="black"/>
                </a:solidFill>
                <a:latin typeface="Constantia" panose="02030602050306030303"/>
              </a:rPr>
              <a:t>A1,A2, </a:t>
            </a:r>
            <a:r>
              <a:rPr kumimoji="0" lang="en-US" altLang="zh-CN" baseline="-25000" dirty="0">
                <a:solidFill>
                  <a:prstClr val="black"/>
                </a:solidFill>
                <a:latin typeface="Constantia" panose="02030602050306030303"/>
                <a:sym typeface="MT Extra" panose="05050102010205020202" pitchFamily="18" charset="2"/>
              </a:rPr>
              <a:t></a:t>
            </a:r>
            <a:r>
              <a:rPr kumimoji="0" lang="en-US" altLang="zh-CN" baseline="-25000" dirty="0">
                <a:solidFill>
                  <a:prstClr val="black"/>
                </a:solidFill>
                <a:latin typeface="Constantia" panose="02030602050306030303"/>
              </a:rPr>
              <a:t>,An</a:t>
            </a:r>
            <a:r>
              <a:rPr kumimoji="0" lang="en-US" altLang="zh-CN" i="1" dirty="0">
                <a:solidFill>
                  <a:prstClr val="black"/>
                </a:solidFill>
                <a:latin typeface="Constantia" panose="02030602050306030303"/>
              </a:rPr>
              <a:t> </a:t>
            </a:r>
            <a:r>
              <a:rPr kumimoji="0" lang="en-US" altLang="zh-CN" dirty="0">
                <a:solidFill>
                  <a:prstClr val="black"/>
                </a:solidFill>
                <a:latin typeface="Constantia" panose="02030602050306030303"/>
              </a:rPr>
              <a:t>(</a:t>
            </a:r>
            <a:r>
              <a:rPr kumimoji="0" lang="en-US" altLang="zh-CN" b="1" dirty="0" err="1">
                <a:solidFill>
                  <a:prstClr val="black"/>
                </a:solidFill>
                <a:latin typeface="Arial" panose="020B0604020202020204" pitchFamily="34" charset="0"/>
                <a:cs typeface="Arial" panose="020B0604020202020204" pitchFamily="34" charset="0"/>
              </a:rPr>
              <a:t>σ</a:t>
            </a:r>
            <a:r>
              <a:rPr kumimoji="0" lang="en-US" altLang="zh-CN" b="1" baseline="-25000" dirty="0" err="1">
                <a:solidFill>
                  <a:prstClr val="black"/>
                </a:solidFill>
                <a:latin typeface="宋体" panose="02010600030101010101" pitchFamily="2" charset="-122"/>
              </a:rPr>
              <a:t>F</a:t>
            </a:r>
            <a:r>
              <a:rPr kumimoji="0" lang="en-US" altLang="zh-CN" dirty="0">
                <a:solidFill>
                  <a:prstClr val="black"/>
                </a:solidFill>
                <a:latin typeface="Constantia" panose="02030602050306030303"/>
              </a:rPr>
              <a:t>(E))≡ </a:t>
            </a:r>
          </a:p>
          <a:p>
            <a:pPr marL="273050" lvl="0" indent="-273050" algn="just">
              <a:lnSpc>
                <a:spcPct val="110000"/>
              </a:lnSpc>
              <a:spcBef>
                <a:spcPct val="20000"/>
              </a:spcBef>
              <a:buClr>
                <a:srgbClr val="0BD0D9"/>
              </a:buClr>
              <a:buSzPct val="95000"/>
            </a:pPr>
            <a:r>
              <a:rPr kumimoji="0" lang="en-US" altLang="zh-CN" dirty="0">
                <a:solidFill>
                  <a:prstClr val="black"/>
                </a:solidFill>
                <a:latin typeface="Constantia" panose="02030602050306030303"/>
              </a:rPr>
              <a:t>	       π</a:t>
            </a:r>
            <a:r>
              <a:rPr kumimoji="0" lang="en-US" altLang="zh-CN" baseline="-25000" dirty="0">
                <a:solidFill>
                  <a:prstClr val="black"/>
                </a:solidFill>
                <a:latin typeface="Constantia" panose="02030602050306030303"/>
              </a:rPr>
              <a:t>A1,A2, </a:t>
            </a:r>
            <a:r>
              <a:rPr kumimoji="0" lang="en-US" altLang="zh-CN" baseline="-25000" dirty="0">
                <a:solidFill>
                  <a:prstClr val="black"/>
                </a:solidFill>
                <a:latin typeface="Constantia" panose="02030602050306030303"/>
                <a:sym typeface="MT Extra" panose="05050102010205020202" pitchFamily="18" charset="2"/>
              </a:rPr>
              <a:t></a:t>
            </a:r>
            <a:r>
              <a:rPr kumimoji="0" lang="en-US" altLang="zh-CN" baseline="-25000" dirty="0">
                <a:solidFill>
                  <a:prstClr val="black"/>
                </a:solidFill>
                <a:latin typeface="Constantia" panose="02030602050306030303"/>
              </a:rPr>
              <a:t>,An</a:t>
            </a:r>
            <a:r>
              <a:rPr kumimoji="0" lang="en-US" altLang="zh-CN" dirty="0">
                <a:solidFill>
                  <a:prstClr val="black"/>
                </a:solidFill>
                <a:latin typeface="Constantia" panose="02030602050306030303"/>
              </a:rPr>
              <a:t>(</a:t>
            </a:r>
            <a:r>
              <a:rPr kumimoji="0" lang="en-US" altLang="zh-CN" b="1" dirty="0" err="1">
                <a:solidFill>
                  <a:prstClr val="black"/>
                </a:solidFill>
                <a:latin typeface="Arial" panose="020B0604020202020204" pitchFamily="34" charset="0"/>
                <a:cs typeface="Arial" panose="020B0604020202020204" pitchFamily="34" charset="0"/>
              </a:rPr>
              <a:t>σ</a:t>
            </a:r>
            <a:r>
              <a:rPr kumimoji="0" lang="en-US" altLang="zh-CN" b="1" baseline="-25000" dirty="0" err="1">
                <a:solidFill>
                  <a:prstClr val="black"/>
                </a:solidFill>
                <a:latin typeface="宋体" panose="02010600030101010101" pitchFamily="2" charset="-122"/>
              </a:rPr>
              <a:t>F</a:t>
            </a:r>
            <a:r>
              <a:rPr kumimoji="0" lang="en-US" altLang="zh-CN" i="1" dirty="0">
                <a:solidFill>
                  <a:prstClr val="black"/>
                </a:solidFill>
                <a:latin typeface="Constantia" panose="02030602050306030303"/>
              </a:rPr>
              <a:t> </a:t>
            </a:r>
            <a:r>
              <a:rPr kumimoji="0" lang="en-US" altLang="zh-CN" dirty="0">
                <a:solidFill>
                  <a:prstClr val="black"/>
                </a:solidFill>
                <a:latin typeface="Constantia" panose="02030602050306030303"/>
              </a:rPr>
              <a:t>(π</a:t>
            </a:r>
            <a:r>
              <a:rPr kumimoji="0" lang="en-US" altLang="zh-CN" baseline="-25000" dirty="0">
                <a:solidFill>
                  <a:prstClr val="black"/>
                </a:solidFill>
                <a:latin typeface="Constantia" panose="02030602050306030303"/>
              </a:rPr>
              <a:t>A1,A2, </a:t>
            </a:r>
            <a:r>
              <a:rPr kumimoji="0" lang="en-US" altLang="zh-CN" baseline="-25000" dirty="0">
                <a:solidFill>
                  <a:prstClr val="black"/>
                </a:solidFill>
                <a:latin typeface="Constantia" panose="02030602050306030303"/>
                <a:sym typeface="MT Extra" panose="05050102010205020202" pitchFamily="18" charset="2"/>
              </a:rPr>
              <a:t></a:t>
            </a:r>
            <a:r>
              <a:rPr kumimoji="0" lang="en-US" altLang="zh-CN" baseline="-25000" dirty="0">
                <a:solidFill>
                  <a:prstClr val="black"/>
                </a:solidFill>
                <a:latin typeface="Constantia" panose="02030602050306030303"/>
              </a:rPr>
              <a:t>,An,</a:t>
            </a:r>
            <a:r>
              <a:rPr kumimoji="0" lang="en-US" altLang="zh-CN" baseline="-25000" dirty="0">
                <a:solidFill>
                  <a:srgbClr val="FF0000"/>
                </a:solidFill>
                <a:latin typeface="Constantia" panose="02030602050306030303"/>
              </a:rPr>
              <a:t>B1,B2, </a:t>
            </a:r>
            <a:r>
              <a:rPr kumimoji="0" lang="en-US" altLang="zh-CN" baseline="-25000" dirty="0">
                <a:solidFill>
                  <a:srgbClr val="FF0000"/>
                </a:solidFill>
                <a:latin typeface="Constantia" panose="02030602050306030303"/>
                <a:sym typeface="MT Extra" panose="05050102010205020202" pitchFamily="18" charset="2"/>
              </a:rPr>
              <a:t></a:t>
            </a:r>
            <a:r>
              <a:rPr kumimoji="0" lang="en-US" altLang="zh-CN" baseline="-25000" dirty="0">
                <a:solidFill>
                  <a:srgbClr val="FF0000"/>
                </a:solidFill>
                <a:latin typeface="Constantia" panose="02030602050306030303"/>
              </a:rPr>
              <a:t>,</a:t>
            </a:r>
            <a:r>
              <a:rPr kumimoji="0" lang="en-US" altLang="zh-CN" baseline="-25000" dirty="0" err="1">
                <a:solidFill>
                  <a:srgbClr val="FF0000"/>
                </a:solidFill>
                <a:latin typeface="Constantia" panose="02030602050306030303"/>
              </a:rPr>
              <a:t>Bm</a:t>
            </a:r>
            <a:r>
              <a:rPr kumimoji="0" lang="en-US" altLang="zh-CN" dirty="0">
                <a:solidFill>
                  <a:prstClr val="black"/>
                </a:solidFill>
                <a:latin typeface="Constantia" panose="02030602050306030303"/>
              </a:rPr>
              <a:t>(E)))</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23</a:t>
            </a:fld>
            <a:endParaRPr lang="en-US" altLang="zh-CN"/>
          </a:p>
        </p:txBody>
      </p:sp>
      <p:sp>
        <p:nvSpPr>
          <p:cNvPr id="10" name="内容占位符 9"/>
          <p:cNvSpPr>
            <a:spLocks noGrp="1"/>
          </p:cNvSpPr>
          <p:nvPr>
            <p:ph idx="1"/>
          </p:nvPr>
        </p:nvSpPr>
        <p:spPr>
          <a:xfrm>
            <a:off x="457200" y="908720"/>
            <a:ext cx="8229600" cy="5544616"/>
          </a:xfrm>
        </p:spPr>
        <p:txBody>
          <a:bodyPr/>
          <a:lstStyle/>
          <a:p>
            <a:r>
              <a:rPr lang="en-US" altLang="zh-CN" dirty="0">
                <a:solidFill>
                  <a:srgbClr val="0000FF"/>
                </a:solidFill>
              </a:rPr>
              <a:t>6 </a:t>
            </a:r>
            <a:r>
              <a:rPr lang="zh-CN" altLang="en-US" dirty="0">
                <a:solidFill>
                  <a:srgbClr val="0000FF"/>
                </a:solidFill>
              </a:rPr>
              <a:t>选择与笛卡尔积的交换律</a:t>
            </a:r>
            <a:endParaRPr lang="zh-CN" altLang="en-US" sz="1800" dirty="0"/>
          </a:p>
          <a:p>
            <a:pPr algn="just" eaLnBrk="1" hangingPunct="1">
              <a:lnSpc>
                <a:spcPct val="120000"/>
              </a:lnSpc>
            </a:pPr>
            <a:r>
              <a:rPr lang="en-US" altLang="zh-CN" sz="2400" dirty="0"/>
              <a:t>(1) </a:t>
            </a:r>
            <a:r>
              <a:rPr lang="zh-CN" altLang="en-US" sz="2400" dirty="0"/>
              <a:t>若</a:t>
            </a:r>
            <a:r>
              <a:rPr lang="en-US" altLang="zh-CN" sz="2400" dirty="0">
                <a:solidFill>
                  <a:srgbClr val="FF0000"/>
                </a:solidFill>
              </a:rPr>
              <a:t>F</a:t>
            </a:r>
            <a:r>
              <a:rPr lang="zh-CN" altLang="en-US" sz="2400" dirty="0">
                <a:solidFill>
                  <a:srgbClr val="FF0000"/>
                </a:solidFill>
              </a:rPr>
              <a:t>中涉及的属性都是</a:t>
            </a:r>
            <a:r>
              <a:rPr lang="en-US" altLang="zh-CN" sz="2400" dirty="0">
                <a:solidFill>
                  <a:srgbClr val="FF0000"/>
                </a:solidFill>
              </a:rPr>
              <a:t>E1</a:t>
            </a:r>
            <a:r>
              <a:rPr lang="zh-CN" altLang="en-US" sz="2400" dirty="0">
                <a:solidFill>
                  <a:srgbClr val="FF0000"/>
                </a:solidFill>
              </a:rPr>
              <a:t>中的属性</a:t>
            </a:r>
          </a:p>
          <a:p>
            <a:pPr algn="just" eaLnBrk="1" hangingPunct="1">
              <a:lnSpc>
                <a:spcPct val="120000"/>
              </a:lnSpc>
            </a:pPr>
            <a:r>
              <a:rPr lang="zh-CN" altLang="en-US" sz="2400" dirty="0"/>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a:t>
            </a:r>
            <a:r>
              <a:rPr lang="en-US" altLang="zh-CN" sz="2400" dirty="0">
                <a:latin typeface="Courier New" panose="02070309020205020404" pitchFamily="49" charset="0"/>
              </a:rPr>
              <a:t> </a:t>
            </a:r>
            <a:endParaRPr lang="en-US" altLang="zh-CN" sz="2400" dirty="0"/>
          </a:p>
          <a:p>
            <a:pPr algn="just" eaLnBrk="1" hangingPunct="1">
              <a:lnSpc>
                <a:spcPct val="120000"/>
              </a:lnSpc>
            </a:pPr>
            <a:r>
              <a:rPr lang="en-US" altLang="zh-CN" sz="2400" dirty="0"/>
              <a:t>(2)</a:t>
            </a:r>
            <a:r>
              <a:rPr lang="zh-CN" altLang="en-US" sz="2400" dirty="0"/>
              <a:t>若</a:t>
            </a:r>
            <a:r>
              <a:rPr lang="en-US" altLang="zh-CN" sz="2400" dirty="0"/>
              <a:t>F=F1∧F2</a:t>
            </a:r>
            <a:r>
              <a:rPr lang="zh-CN" altLang="en-US" sz="2400" dirty="0"/>
              <a:t>，并且</a:t>
            </a:r>
            <a:r>
              <a:rPr lang="en-US" altLang="zh-CN" sz="2400" dirty="0">
                <a:solidFill>
                  <a:srgbClr val="FF0000"/>
                </a:solidFill>
              </a:rPr>
              <a:t>F1</a:t>
            </a:r>
            <a:r>
              <a:rPr lang="zh-CN" altLang="en-US" sz="2400" dirty="0">
                <a:solidFill>
                  <a:srgbClr val="FF0000"/>
                </a:solidFill>
              </a:rPr>
              <a:t>只涉及</a:t>
            </a:r>
            <a:r>
              <a:rPr lang="en-US" altLang="zh-CN" sz="2400" dirty="0">
                <a:solidFill>
                  <a:srgbClr val="FF0000"/>
                </a:solidFill>
              </a:rPr>
              <a:t>E1</a:t>
            </a:r>
            <a:r>
              <a:rPr lang="zh-CN" altLang="en-US" sz="2400" dirty="0"/>
              <a:t>中的属性，                 </a:t>
            </a:r>
            <a:r>
              <a:rPr lang="en-US" altLang="zh-CN" sz="2400" dirty="0">
                <a:solidFill>
                  <a:srgbClr val="FF0000"/>
                </a:solidFill>
              </a:rPr>
              <a:t>F2</a:t>
            </a:r>
            <a:r>
              <a:rPr lang="zh-CN" altLang="en-US" sz="2400" dirty="0">
                <a:solidFill>
                  <a:srgbClr val="FF0000"/>
                </a:solidFill>
              </a:rPr>
              <a:t>只涉及</a:t>
            </a:r>
            <a:r>
              <a:rPr lang="en-US" altLang="zh-CN" sz="2400" dirty="0">
                <a:solidFill>
                  <a:srgbClr val="FF0000"/>
                </a:solidFill>
              </a:rPr>
              <a:t>E2</a:t>
            </a:r>
            <a:r>
              <a:rPr lang="zh-CN" altLang="en-US" sz="2400" dirty="0"/>
              <a:t>中的属性，则由上面的等价变换规则</a:t>
            </a:r>
            <a:r>
              <a:rPr lang="en-US" altLang="zh-CN" sz="2400" dirty="0"/>
              <a:t>1</a:t>
            </a:r>
            <a:r>
              <a:rPr lang="zh-CN" altLang="en-US" sz="2400" dirty="0"/>
              <a:t>，</a:t>
            </a:r>
            <a:r>
              <a:rPr lang="en-US" altLang="zh-CN" sz="2400" dirty="0"/>
              <a:t>4</a:t>
            </a:r>
            <a:r>
              <a:rPr lang="zh-CN" altLang="en-US" sz="2400" dirty="0"/>
              <a:t>，</a:t>
            </a:r>
            <a:r>
              <a:rPr lang="en-US" altLang="zh-CN" sz="2400" dirty="0"/>
              <a:t>6</a:t>
            </a:r>
            <a:r>
              <a:rPr lang="zh-CN" altLang="en-US" sz="2400" dirty="0"/>
              <a:t>可推出：</a:t>
            </a:r>
          </a:p>
          <a:p>
            <a:pPr algn="just" eaLnBrk="1" hangingPunct="1">
              <a:lnSpc>
                <a:spcPct val="120000"/>
              </a:lnSpc>
            </a:pPr>
            <a:r>
              <a:rPr lang="zh-CN" altLang="en-US" sz="2400" dirty="0"/>
              <a:t>       	</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 ≡</a:t>
            </a:r>
            <a:r>
              <a:rPr lang="en-US" altLang="zh-CN" sz="2400" b="1" dirty="0">
                <a:latin typeface="Arial" panose="020B0604020202020204" pitchFamily="34" charset="0"/>
                <a:cs typeface="Arial" panose="020B0604020202020204" pitchFamily="34" charset="0"/>
              </a:rPr>
              <a:t> σ</a:t>
            </a:r>
            <a:r>
              <a:rPr lang="en-US" altLang="zh-CN" sz="2400" b="1" baseline="-25000" dirty="0">
                <a:latin typeface="+mn-ea"/>
              </a:rPr>
              <a:t>F1</a:t>
            </a:r>
            <a:r>
              <a:rPr lang="en-US" altLang="zh-CN" sz="2400" dirty="0"/>
              <a:t>(E1)×</a:t>
            </a:r>
            <a:r>
              <a:rPr lang="en-US" altLang="zh-CN" sz="2400" b="1" dirty="0">
                <a:latin typeface="Arial" panose="020B0604020202020204" pitchFamily="34" charset="0"/>
                <a:cs typeface="Arial" panose="020B0604020202020204" pitchFamily="34" charset="0"/>
              </a:rPr>
              <a:t> σ</a:t>
            </a:r>
            <a:r>
              <a:rPr lang="en-US" altLang="zh-CN" sz="2400" b="1" baseline="-25000" dirty="0">
                <a:latin typeface="+mn-ea"/>
              </a:rPr>
              <a:t>F2 </a:t>
            </a:r>
            <a:r>
              <a:rPr lang="en-US" altLang="zh-CN" sz="2400" dirty="0"/>
              <a:t>(E2)</a:t>
            </a:r>
            <a:r>
              <a:rPr lang="en-US" altLang="zh-CN" sz="2400" dirty="0">
                <a:latin typeface="Courier New" panose="02070309020205020404" pitchFamily="49" charset="0"/>
              </a:rPr>
              <a:t> </a:t>
            </a:r>
            <a:endParaRPr lang="en-US" altLang="zh-CN" sz="2400" dirty="0"/>
          </a:p>
          <a:p>
            <a:pPr algn="just" eaLnBrk="1" hangingPunct="1">
              <a:lnSpc>
                <a:spcPct val="120000"/>
              </a:lnSpc>
            </a:pPr>
            <a:r>
              <a:rPr lang="en-US" altLang="zh-CN" sz="2400" dirty="0"/>
              <a:t>(3)</a:t>
            </a:r>
            <a:r>
              <a:rPr lang="zh-CN" altLang="en-US" sz="2400" dirty="0"/>
              <a:t>若</a:t>
            </a:r>
            <a:r>
              <a:rPr lang="en-US" altLang="zh-CN" sz="2400" dirty="0"/>
              <a:t>F=F1∧F2</a:t>
            </a:r>
            <a:r>
              <a:rPr lang="zh-CN" altLang="en-US" sz="2400" dirty="0"/>
              <a:t>，</a:t>
            </a:r>
            <a:r>
              <a:rPr lang="en-US" altLang="zh-CN" sz="2400" dirty="0">
                <a:solidFill>
                  <a:srgbClr val="FF0000"/>
                </a:solidFill>
              </a:rPr>
              <a:t>F1</a:t>
            </a:r>
            <a:r>
              <a:rPr lang="zh-CN" altLang="en-US" sz="2400" dirty="0">
                <a:solidFill>
                  <a:srgbClr val="FF0000"/>
                </a:solidFill>
              </a:rPr>
              <a:t>只涉及</a:t>
            </a:r>
            <a:r>
              <a:rPr lang="en-US" altLang="zh-CN" sz="2400" dirty="0">
                <a:solidFill>
                  <a:srgbClr val="FF0000"/>
                </a:solidFill>
              </a:rPr>
              <a:t>E1</a:t>
            </a:r>
            <a:r>
              <a:rPr lang="zh-CN" altLang="en-US" sz="2400" dirty="0"/>
              <a:t>中的属性，                   </a:t>
            </a:r>
            <a:r>
              <a:rPr lang="en-US" altLang="zh-CN" sz="2400" dirty="0"/>
              <a:t>F2</a:t>
            </a:r>
            <a:r>
              <a:rPr lang="zh-CN" altLang="en-US" sz="2400" dirty="0"/>
              <a:t>涉及</a:t>
            </a:r>
            <a:r>
              <a:rPr lang="en-US" altLang="zh-CN" sz="2400" dirty="0"/>
              <a:t>E1</a:t>
            </a:r>
            <a:r>
              <a:rPr lang="zh-CN" altLang="en-US" sz="2400" dirty="0"/>
              <a:t>和</a:t>
            </a:r>
            <a:r>
              <a:rPr lang="en-US" altLang="zh-CN" sz="2400" dirty="0"/>
              <a:t>E2</a:t>
            </a:r>
            <a:r>
              <a:rPr lang="zh-CN" altLang="en-US" sz="2400" dirty="0"/>
              <a:t>两者的属性，则：</a:t>
            </a:r>
          </a:p>
          <a:p>
            <a:pPr algn="just" eaLnBrk="1" hangingPunct="1">
              <a:lnSpc>
                <a:spcPct val="120000"/>
              </a:lnSpc>
              <a:buClrTx/>
            </a:pPr>
            <a:r>
              <a:rPr lang="zh-CN" altLang="en-US" sz="2800" dirty="0"/>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a:t>
            </a:r>
            <a:r>
              <a:rPr lang="en-US" altLang="zh-CN" sz="2400" b="1" dirty="0">
                <a:latin typeface="Arial" panose="020B0604020202020204" pitchFamily="34" charset="0"/>
                <a:cs typeface="Arial" panose="020B0604020202020204" pitchFamily="34" charset="0"/>
              </a:rPr>
              <a:t> σ</a:t>
            </a:r>
            <a:r>
              <a:rPr lang="en-US" altLang="zh-CN" sz="2400" b="1" baseline="-25000" dirty="0">
                <a:latin typeface="+mn-ea"/>
              </a:rPr>
              <a:t>F2</a:t>
            </a:r>
            <a:r>
              <a:rPr lang="en-US" altLang="zh-CN" sz="2400" dirty="0"/>
              <a:t>(</a:t>
            </a:r>
            <a:r>
              <a:rPr lang="en-US" altLang="zh-CN" sz="2400" b="1" dirty="0">
                <a:latin typeface="Arial" panose="020B0604020202020204" pitchFamily="34" charset="0"/>
                <a:cs typeface="Arial" panose="020B0604020202020204" pitchFamily="34" charset="0"/>
              </a:rPr>
              <a:t>σ</a:t>
            </a:r>
            <a:r>
              <a:rPr lang="en-US" altLang="zh-CN" sz="2400" b="1" baseline="-25000" dirty="0">
                <a:latin typeface="+mn-ea"/>
              </a:rPr>
              <a:t>F1</a:t>
            </a:r>
            <a:r>
              <a:rPr lang="en-US" altLang="zh-CN" sz="2400" baseline="-25000" dirty="0">
                <a:solidFill>
                  <a:schemeClr val="accent2"/>
                </a:solidFill>
              </a:rPr>
              <a:t> </a:t>
            </a:r>
            <a:r>
              <a:rPr lang="en-US" altLang="zh-CN" sz="2400" dirty="0"/>
              <a:t>(E1)×E2)      </a:t>
            </a:r>
          </a:p>
          <a:p>
            <a:pPr algn="just" eaLnBrk="1" hangingPunct="1">
              <a:lnSpc>
                <a:spcPct val="120000"/>
              </a:lnSpc>
              <a:buClrTx/>
            </a:pPr>
            <a:r>
              <a:rPr lang="zh-CN" altLang="en-US" sz="2400" dirty="0"/>
              <a:t>       部分选择在笛卡尔积前先做。</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24</a:t>
            </a:fld>
            <a:endParaRPr lang="en-US" altLang="zh-CN"/>
          </a:p>
        </p:txBody>
      </p:sp>
      <p:sp>
        <p:nvSpPr>
          <p:cNvPr id="5" name="矩形 4"/>
          <p:cNvSpPr/>
          <p:nvPr/>
        </p:nvSpPr>
        <p:spPr>
          <a:xfrm>
            <a:off x="251520" y="836712"/>
            <a:ext cx="8496944" cy="4496872"/>
          </a:xfrm>
          <a:prstGeom prst="rect">
            <a:avLst/>
          </a:prstGeom>
        </p:spPr>
        <p:txBody>
          <a:bodyPr wrap="square">
            <a:spAutoFit/>
          </a:bodyPr>
          <a:lstStyle/>
          <a:p>
            <a:r>
              <a:rPr lang="en-US" altLang="zh-CN" dirty="0">
                <a:solidFill>
                  <a:srgbClr val="0000FF"/>
                </a:solidFill>
              </a:rPr>
              <a:t>7 </a:t>
            </a:r>
            <a:r>
              <a:rPr lang="zh-CN" altLang="en-US" dirty="0">
                <a:solidFill>
                  <a:srgbClr val="0000FF"/>
                </a:solidFill>
              </a:rPr>
              <a:t>选择与并的分配率</a:t>
            </a:r>
            <a:endParaRPr lang="en-US" altLang="zh-CN" dirty="0">
              <a:solidFill>
                <a:srgbClr val="0000FF"/>
              </a:solidFill>
            </a:endParaRPr>
          </a:p>
          <a:p>
            <a:pPr algn="just" eaLnBrk="1" hangingPunct="1">
              <a:buFont typeface="Wingdings" panose="05000000000000000000" pitchFamily="2" charset="2"/>
              <a:buNone/>
            </a:pPr>
            <a:r>
              <a:rPr lang="zh-CN" altLang="en-US" dirty="0"/>
              <a:t>假设：</a:t>
            </a:r>
            <a:r>
              <a:rPr lang="en-US" altLang="zh-CN" dirty="0"/>
              <a:t>E=E1∪E2</a:t>
            </a:r>
            <a:r>
              <a:rPr lang="zh-CN" altLang="en-US" dirty="0"/>
              <a:t>，</a:t>
            </a:r>
            <a:r>
              <a:rPr lang="en-US" altLang="zh-CN" dirty="0"/>
              <a:t>E1</a:t>
            </a:r>
            <a:r>
              <a:rPr lang="zh-CN" altLang="en-US" dirty="0"/>
              <a:t>，</a:t>
            </a:r>
            <a:r>
              <a:rPr lang="en-US" altLang="zh-CN" dirty="0"/>
              <a:t>E2</a:t>
            </a:r>
            <a:r>
              <a:rPr lang="zh-CN" altLang="en-US" dirty="0"/>
              <a:t>有相同的属性名</a:t>
            </a:r>
          </a:p>
          <a:p>
            <a:pPr algn="just" eaLnBrk="1" hangingPunct="1">
              <a:buFont typeface="Wingdings" panose="05000000000000000000" pitchFamily="2" charset="2"/>
              <a:buNone/>
            </a:pPr>
            <a:r>
              <a:rPr lang="zh-CN" altLang="en-US" dirty="0"/>
              <a:t>	</a:t>
            </a:r>
            <a:r>
              <a:rPr lang="en-US" altLang="zh-CN" b="1" dirty="0">
                <a:latin typeface="Arial" panose="020B0604020202020204" pitchFamily="34" charset="0"/>
                <a:cs typeface="Arial" panose="020B0604020202020204" pitchFamily="34" charset="0"/>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(E1∪E2)≡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(E2)</a:t>
            </a:r>
          </a:p>
          <a:p>
            <a:pPr algn="just" eaLnBrk="1" hangingPunct="1">
              <a:buFont typeface="Wingdings" panose="05000000000000000000" pitchFamily="2" charset="2"/>
              <a:buNone/>
            </a:pPr>
            <a:endParaRPr lang="en-US" altLang="zh-CN" dirty="0">
              <a:solidFill>
                <a:srgbClr val="0000FF"/>
              </a:solidFill>
            </a:endParaRPr>
          </a:p>
          <a:p>
            <a:pPr algn="just"/>
            <a:r>
              <a:rPr lang="en-US" altLang="zh-CN" dirty="0">
                <a:solidFill>
                  <a:srgbClr val="0000FF"/>
                </a:solidFill>
              </a:rPr>
              <a:t>8 </a:t>
            </a:r>
            <a:r>
              <a:rPr lang="zh-CN" altLang="en-US" dirty="0">
                <a:solidFill>
                  <a:srgbClr val="0000FF"/>
                </a:solidFill>
              </a:rPr>
              <a:t>选择与差的分配率</a:t>
            </a:r>
            <a:endParaRPr lang="en-US" altLang="zh-CN" dirty="0">
              <a:solidFill>
                <a:srgbClr val="0000FF"/>
              </a:solidFill>
            </a:endParaRPr>
          </a:p>
          <a:p>
            <a:pPr algn="just" eaLnBrk="1" hangingPunct="1">
              <a:buFont typeface="Wingdings" panose="05000000000000000000" pitchFamily="2" charset="2"/>
              <a:buNone/>
            </a:pPr>
            <a:r>
              <a:rPr lang="zh-CN" altLang="en-US" dirty="0"/>
              <a:t>	假设：</a:t>
            </a:r>
            <a:r>
              <a:rPr lang="en-US" altLang="zh-CN" dirty="0"/>
              <a:t>E1</a:t>
            </a:r>
            <a:r>
              <a:rPr lang="zh-CN" altLang="en-US" dirty="0"/>
              <a:t>与</a:t>
            </a:r>
            <a:r>
              <a:rPr lang="en-US" altLang="zh-CN" dirty="0"/>
              <a:t>E2</a:t>
            </a:r>
            <a:r>
              <a:rPr lang="zh-CN" altLang="en-US" dirty="0"/>
              <a:t>有相同的属性名</a:t>
            </a:r>
          </a:p>
          <a:p>
            <a:pPr algn="just" eaLnBrk="1" hangingPunct="1">
              <a:buFont typeface="Wingdings" panose="05000000000000000000" pitchFamily="2" charset="2"/>
              <a:buNone/>
            </a:pPr>
            <a:r>
              <a:rPr lang="zh-CN" altLang="en-US" dirty="0"/>
              <a:t>	</a:t>
            </a:r>
            <a:r>
              <a:rPr lang="en-US" altLang="zh-CN" b="1" dirty="0">
                <a:latin typeface="Arial" panose="020B0604020202020204" pitchFamily="34" charset="0"/>
                <a:cs typeface="Arial" panose="020B0604020202020204" pitchFamily="34" charset="0"/>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(E1-E2)≡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 -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(E2) </a:t>
            </a:r>
          </a:p>
          <a:p>
            <a:pPr algn="just" eaLnBrk="1" hangingPunct="1">
              <a:buFont typeface="Wingdings" panose="05000000000000000000" pitchFamily="2" charset="2"/>
              <a:buNone/>
            </a:pPr>
            <a:endParaRPr lang="en-US" altLang="zh-CN" dirty="0">
              <a:solidFill>
                <a:srgbClr val="0000FF"/>
              </a:solidFill>
            </a:endParaRPr>
          </a:p>
          <a:p>
            <a:pPr algn="just"/>
            <a:r>
              <a:rPr lang="en-US" altLang="zh-CN" dirty="0">
                <a:solidFill>
                  <a:srgbClr val="0000FF"/>
                </a:solidFill>
              </a:rPr>
              <a:t>9 </a:t>
            </a:r>
            <a:r>
              <a:rPr lang="zh-CN" altLang="en-US" dirty="0">
                <a:solidFill>
                  <a:srgbClr val="0000FF"/>
                </a:solidFill>
              </a:rPr>
              <a:t>选择与自然连接的分配率</a:t>
            </a:r>
            <a:endParaRPr lang="en-US" altLang="zh-CN" dirty="0">
              <a:solidFill>
                <a:srgbClr val="0000FF"/>
              </a:solidFill>
            </a:endParaRPr>
          </a:p>
          <a:p>
            <a:pPr algn="just" eaLnBrk="1" hangingPunct="1">
              <a:lnSpc>
                <a:spcPct val="140000"/>
              </a:lnSpc>
              <a:buFont typeface="Wingdings" panose="05000000000000000000" pitchFamily="2" charset="2"/>
              <a:buNone/>
            </a:pPr>
            <a:r>
              <a:rPr lang="zh-CN" altLang="en-US" dirty="0"/>
              <a:t>	假设：</a:t>
            </a:r>
            <a:r>
              <a:rPr lang="en-US" altLang="zh-CN" dirty="0"/>
              <a:t>E1</a:t>
            </a:r>
            <a:r>
              <a:rPr lang="zh-CN" altLang="en-US" dirty="0"/>
              <a:t>和</a:t>
            </a:r>
            <a:r>
              <a:rPr lang="en-US" altLang="zh-CN" dirty="0"/>
              <a:t>E2</a:t>
            </a:r>
            <a:r>
              <a:rPr lang="zh-CN" altLang="en-US" dirty="0"/>
              <a:t>是两个关系表达式，</a:t>
            </a:r>
          </a:p>
          <a:p>
            <a:pPr algn="just" eaLnBrk="1" hangingPunct="1">
              <a:lnSpc>
                <a:spcPct val="150000"/>
              </a:lnSpc>
              <a:buFont typeface="Wingdings" panose="05000000000000000000" pitchFamily="2" charset="2"/>
              <a:buNone/>
            </a:pPr>
            <a:r>
              <a:rPr lang="en-US" altLang="zh-CN" dirty="0"/>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 </a:t>
            </a:r>
            <a:r>
              <a:rPr lang="en-US" altLang="zh-CN" dirty="0">
                <a:solidFill>
                  <a:prstClr val="black"/>
                </a:solidFill>
                <a:latin typeface="Arial Unicode MS"/>
                <a:ea typeface="Arial Unicode MS"/>
                <a:cs typeface="Arial Unicode MS"/>
              </a:rPr>
              <a:t>⋈ </a:t>
            </a:r>
            <a:r>
              <a:rPr lang="en-US" altLang="zh-CN" dirty="0"/>
              <a:t>E2)≡</a:t>
            </a:r>
            <a:r>
              <a:rPr lang="en-US" altLang="zh-CN" b="1" dirty="0">
                <a:latin typeface="Arial" panose="020B0604020202020204" pitchFamily="34" charset="0"/>
                <a:cs typeface="Arial" panose="020B0604020202020204" pitchFamily="34" charset="0"/>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a:t>
            </a:r>
            <a:r>
              <a:rPr lang="en-US" altLang="zh-CN" b="1" dirty="0">
                <a:latin typeface="+mn-ea"/>
                <a:cs typeface="Arial Unicode MS"/>
              </a:rPr>
              <a:t> </a:t>
            </a:r>
            <a:r>
              <a:rPr lang="en-US" altLang="zh-CN" dirty="0">
                <a:solidFill>
                  <a:prstClr val="black"/>
                </a:solidFill>
                <a:latin typeface="Arial Unicode MS"/>
                <a:ea typeface="Arial Unicode MS"/>
                <a:cs typeface="Arial Unicode MS"/>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(E2)</a:t>
            </a:r>
            <a:endParaRPr lang="en-US" altLang="zh-CN" dirty="0">
              <a:solidFill>
                <a:srgbClr val="0000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25</a:t>
            </a:fld>
            <a:endParaRPr lang="en-US" altLang="zh-CN"/>
          </a:p>
        </p:txBody>
      </p:sp>
      <p:sp>
        <p:nvSpPr>
          <p:cNvPr id="5" name="矩形 4"/>
          <p:cNvSpPr/>
          <p:nvPr/>
        </p:nvSpPr>
        <p:spPr>
          <a:xfrm>
            <a:off x="303881" y="655750"/>
            <a:ext cx="8516592" cy="4801314"/>
          </a:xfrm>
          <a:prstGeom prst="rect">
            <a:avLst/>
          </a:prstGeom>
        </p:spPr>
        <p:txBody>
          <a:bodyPr wrap="square">
            <a:spAutoFit/>
          </a:bodyPr>
          <a:lstStyle/>
          <a:p>
            <a:r>
              <a:rPr lang="en-US" altLang="zh-CN" dirty="0">
                <a:solidFill>
                  <a:srgbClr val="0000FF"/>
                </a:solidFill>
              </a:rPr>
              <a:t>10 </a:t>
            </a:r>
            <a:r>
              <a:rPr lang="zh-CN" altLang="en-US" dirty="0">
                <a:solidFill>
                  <a:srgbClr val="0000FF"/>
                </a:solidFill>
              </a:rPr>
              <a:t>投影与笛卡尔积的分配率</a:t>
            </a:r>
            <a:endParaRPr lang="en-US" altLang="zh-CN" dirty="0">
              <a:solidFill>
                <a:srgbClr val="0000FF"/>
              </a:solidFill>
            </a:endParaRPr>
          </a:p>
          <a:p>
            <a:pPr algn="just" eaLnBrk="1" hangingPunct="1">
              <a:lnSpc>
                <a:spcPct val="150000"/>
              </a:lnSpc>
              <a:buFont typeface="Wingdings" panose="05000000000000000000" pitchFamily="2" charset="2"/>
              <a:buNone/>
            </a:pPr>
            <a:r>
              <a:rPr lang="zh-CN" altLang="en-US" sz="2800" dirty="0"/>
              <a:t>	</a:t>
            </a:r>
            <a:r>
              <a:rPr lang="zh-CN" altLang="en-US" dirty="0"/>
              <a:t>设</a:t>
            </a:r>
            <a:r>
              <a:rPr lang="en-US" altLang="zh-CN" dirty="0"/>
              <a:t>E1</a:t>
            </a:r>
            <a:r>
              <a:rPr lang="zh-CN" altLang="en-US" dirty="0"/>
              <a:t>和</a:t>
            </a:r>
            <a:r>
              <a:rPr lang="en-US" altLang="zh-CN" dirty="0"/>
              <a:t>E2</a:t>
            </a:r>
            <a:r>
              <a:rPr lang="zh-CN" altLang="en-US" dirty="0"/>
              <a:t>是两个关系表达式，</a:t>
            </a:r>
            <a:r>
              <a:rPr lang="en-US" altLang="zh-CN" dirty="0">
                <a:solidFill>
                  <a:srgbClr val="FF0000"/>
                </a:solidFill>
              </a:rPr>
              <a:t>A1</a:t>
            </a:r>
            <a:r>
              <a:rPr lang="zh-CN" altLang="en-US" dirty="0">
                <a:solidFill>
                  <a:srgbClr val="FF0000"/>
                </a:solidFill>
              </a:rPr>
              <a:t>，</a:t>
            </a:r>
            <a:r>
              <a:rPr lang="en-US" altLang="zh-CN" dirty="0">
                <a:solidFill>
                  <a:srgbClr val="FF0000"/>
                </a:solidFill>
                <a:latin typeface="Courier New" panose="02070309020205020404" pitchFamily="49" charset="0"/>
              </a:rPr>
              <a:t>…</a:t>
            </a:r>
            <a:r>
              <a:rPr lang="zh-CN" altLang="en-US" dirty="0">
                <a:solidFill>
                  <a:srgbClr val="FF0000"/>
                </a:solidFill>
              </a:rPr>
              <a:t>，</a:t>
            </a:r>
            <a:r>
              <a:rPr lang="en-US" altLang="zh-CN" dirty="0">
                <a:solidFill>
                  <a:srgbClr val="FF0000"/>
                </a:solidFill>
              </a:rPr>
              <a:t>An</a:t>
            </a:r>
            <a:r>
              <a:rPr lang="zh-CN" altLang="en-US" dirty="0">
                <a:solidFill>
                  <a:srgbClr val="FF0000"/>
                </a:solidFill>
              </a:rPr>
              <a:t>是</a:t>
            </a:r>
            <a:r>
              <a:rPr lang="en-US" altLang="zh-CN" dirty="0">
                <a:solidFill>
                  <a:srgbClr val="FF0000"/>
                </a:solidFill>
              </a:rPr>
              <a:t>E1</a:t>
            </a:r>
            <a:r>
              <a:rPr lang="zh-CN" altLang="en-US" dirty="0">
                <a:solidFill>
                  <a:srgbClr val="FF0000"/>
                </a:solidFill>
              </a:rPr>
              <a:t>的属性</a:t>
            </a:r>
            <a:r>
              <a:rPr lang="zh-CN" altLang="en-US" dirty="0"/>
              <a:t>，</a:t>
            </a:r>
            <a:r>
              <a:rPr lang="en-US" altLang="zh-CN" dirty="0">
                <a:solidFill>
                  <a:srgbClr val="FF0000"/>
                </a:solidFill>
              </a:rPr>
              <a:t>B1</a:t>
            </a:r>
            <a:r>
              <a:rPr lang="zh-CN" altLang="en-US" dirty="0">
                <a:solidFill>
                  <a:srgbClr val="FF0000"/>
                </a:solidFill>
              </a:rPr>
              <a:t>，</a:t>
            </a:r>
            <a:r>
              <a:rPr lang="en-US" altLang="zh-CN" dirty="0">
                <a:solidFill>
                  <a:srgbClr val="FF0000"/>
                </a:solidFill>
                <a:latin typeface="Courier New" panose="02070309020205020404" pitchFamily="49" charset="0"/>
              </a:rPr>
              <a:t>…</a:t>
            </a:r>
            <a:r>
              <a:rPr lang="zh-CN" altLang="en-US" dirty="0">
                <a:solidFill>
                  <a:srgbClr val="FF0000"/>
                </a:solidFill>
              </a:rPr>
              <a:t>，</a:t>
            </a:r>
            <a:r>
              <a:rPr lang="en-US" altLang="zh-CN" dirty="0" err="1">
                <a:solidFill>
                  <a:srgbClr val="FF0000"/>
                </a:solidFill>
              </a:rPr>
              <a:t>Bm</a:t>
            </a:r>
            <a:r>
              <a:rPr lang="zh-CN" altLang="en-US" dirty="0">
                <a:solidFill>
                  <a:srgbClr val="FF0000"/>
                </a:solidFill>
              </a:rPr>
              <a:t>是</a:t>
            </a:r>
            <a:r>
              <a:rPr lang="en-US" altLang="zh-CN" dirty="0">
                <a:solidFill>
                  <a:srgbClr val="FF0000"/>
                </a:solidFill>
              </a:rPr>
              <a:t>E2</a:t>
            </a:r>
            <a:r>
              <a:rPr lang="zh-CN" altLang="en-US" dirty="0">
                <a:solidFill>
                  <a:srgbClr val="FF0000"/>
                </a:solidFill>
              </a:rPr>
              <a:t>的属性</a:t>
            </a:r>
            <a:r>
              <a:rPr lang="zh-CN" altLang="en-US" dirty="0"/>
              <a:t>，则：</a:t>
            </a:r>
            <a:endParaRPr lang="zh-CN" altLang="en-US" sz="2000" dirty="0"/>
          </a:p>
          <a:p>
            <a:pPr algn="just" eaLnBrk="1" hangingPunct="1">
              <a:buFont typeface="Wingdings" panose="05000000000000000000" pitchFamily="2" charset="2"/>
              <a:buNone/>
            </a:pPr>
            <a:r>
              <a:rPr lang="zh-CN" altLang="en-US" dirty="0">
                <a:latin typeface="+mn-lt"/>
              </a:rPr>
              <a:t>    </a:t>
            </a:r>
            <a:r>
              <a:rPr lang="en-US" altLang="zh-CN" dirty="0">
                <a:latin typeface="+mn-lt"/>
              </a:rPr>
              <a:t>π </a:t>
            </a:r>
            <a:r>
              <a:rPr lang="en-US" altLang="zh-CN" baseline="-25000" dirty="0">
                <a:latin typeface="+mn-lt"/>
              </a:rPr>
              <a:t>A1,A2, </a:t>
            </a:r>
            <a:r>
              <a:rPr lang="en-US" altLang="zh-CN" dirty="0">
                <a:latin typeface="+mn-lt"/>
              </a:rPr>
              <a:t>…</a:t>
            </a:r>
            <a:r>
              <a:rPr lang="en-US" altLang="zh-CN" baseline="-25000" dirty="0">
                <a:latin typeface="+mn-lt"/>
              </a:rPr>
              <a:t>,An,B1,B2, </a:t>
            </a:r>
            <a:r>
              <a:rPr lang="en-US" altLang="zh-CN" dirty="0">
                <a:latin typeface="+mn-lt"/>
              </a:rPr>
              <a:t>…</a:t>
            </a:r>
            <a:r>
              <a:rPr lang="en-US" altLang="zh-CN" baseline="-25000" dirty="0">
                <a:latin typeface="+mn-lt"/>
              </a:rPr>
              <a:t>,</a:t>
            </a:r>
            <a:r>
              <a:rPr lang="en-US" altLang="zh-CN" baseline="-25000" dirty="0" err="1">
                <a:latin typeface="+mn-lt"/>
              </a:rPr>
              <a:t>Bm</a:t>
            </a:r>
            <a:r>
              <a:rPr lang="en-US" altLang="zh-CN" dirty="0">
                <a:latin typeface="+mn-lt"/>
              </a:rPr>
              <a:t> </a:t>
            </a:r>
            <a:r>
              <a:rPr lang="zh-CN" altLang="en-US" dirty="0">
                <a:latin typeface="+mn-lt"/>
              </a:rPr>
              <a:t>（</a:t>
            </a:r>
            <a:r>
              <a:rPr lang="en-US" altLang="zh-CN" dirty="0">
                <a:latin typeface="+mn-lt"/>
              </a:rPr>
              <a:t>E1×E2)≡</a:t>
            </a:r>
          </a:p>
          <a:p>
            <a:pPr algn="just" eaLnBrk="1" hangingPunct="1">
              <a:buFont typeface="Wingdings" panose="05000000000000000000" pitchFamily="2" charset="2"/>
              <a:buNone/>
            </a:pPr>
            <a:r>
              <a:rPr lang="en-US" altLang="zh-CN" dirty="0">
                <a:latin typeface="+mn-lt"/>
              </a:rPr>
              <a:t>	π </a:t>
            </a:r>
            <a:r>
              <a:rPr lang="en-US" altLang="zh-CN" baseline="-25000" dirty="0">
                <a:latin typeface="+mn-lt"/>
              </a:rPr>
              <a:t>A1,A2, </a:t>
            </a:r>
            <a:r>
              <a:rPr lang="en-US" altLang="zh-CN" dirty="0">
                <a:latin typeface="+mn-lt"/>
              </a:rPr>
              <a:t>…</a:t>
            </a:r>
            <a:r>
              <a:rPr lang="en-US" altLang="zh-CN" baseline="-25000" dirty="0">
                <a:latin typeface="+mn-lt"/>
              </a:rPr>
              <a:t>,An</a:t>
            </a:r>
            <a:r>
              <a:rPr lang="zh-CN" altLang="en-US" dirty="0">
                <a:latin typeface="+mn-lt"/>
              </a:rPr>
              <a:t>（</a:t>
            </a:r>
            <a:r>
              <a:rPr lang="en-US" altLang="zh-CN" dirty="0">
                <a:latin typeface="+mn-lt"/>
              </a:rPr>
              <a:t>E1)× π </a:t>
            </a:r>
            <a:r>
              <a:rPr lang="en-US" altLang="zh-CN" baseline="-25000" dirty="0">
                <a:latin typeface="+mn-lt"/>
              </a:rPr>
              <a:t>B1,B2, </a:t>
            </a:r>
            <a:r>
              <a:rPr lang="en-US" altLang="zh-CN" dirty="0">
                <a:latin typeface="+mn-lt"/>
              </a:rPr>
              <a:t>…</a:t>
            </a:r>
            <a:r>
              <a:rPr lang="en-US" altLang="zh-CN" baseline="-25000" dirty="0">
                <a:latin typeface="+mn-lt"/>
              </a:rPr>
              <a:t>,</a:t>
            </a:r>
            <a:r>
              <a:rPr lang="en-US" altLang="zh-CN" baseline="-25000" dirty="0" err="1">
                <a:latin typeface="+mn-lt"/>
              </a:rPr>
              <a:t>Bm</a:t>
            </a:r>
            <a:r>
              <a:rPr lang="en-US" altLang="zh-CN" dirty="0">
                <a:latin typeface="+mn-lt"/>
              </a:rPr>
              <a:t>(E2)</a:t>
            </a:r>
          </a:p>
          <a:p>
            <a:endParaRPr lang="en-US" altLang="zh-CN" dirty="0">
              <a:solidFill>
                <a:srgbClr val="0000FF"/>
              </a:solidFill>
            </a:endParaRPr>
          </a:p>
          <a:p>
            <a:r>
              <a:rPr lang="en-US" altLang="zh-CN" dirty="0">
                <a:solidFill>
                  <a:srgbClr val="0000FF"/>
                </a:solidFill>
              </a:rPr>
              <a:t>11 </a:t>
            </a:r>
            <a:r>
              <a:rPr lang="zh-CN" altLang="en-US" dirty="0">
                <a:solidFill>
                  <a:srgbClr val="0000FF"/>
                </a:solidFill>
              </a:rPr>
              <a:t>投影与并的分配率</a:t>
            </a:r>
          </a:p>
          <a:p>
            <a:pPr marL="273050" lvl="0" indent="-273050" algn="just">
              <a:spcBef>
                <a:spcPts val="0"/>
              </a:spcBef>
              <a:buClr>
                <a:srgbClr val="0BD0D9"/>
              </a:buClr>
              <a:buSzPct val="95000"/>
            </a:pPr>
            <a:r>
              <a:rPr kumimoji="0" lang="zh-CN" altLang="en-US" sz="2800" dirty="0">
                <a:solidFill>
                  <a:prstClr val="black"/>
                </a:solidFill>
                <a:latin typeface="Constantia" panose="02030602050306030303"/>
              </a:rPr>
              <a:t>	</a:t>
            </a:r>
            <a:r>
              <a:rPr kumimoji="0" lang="zh-CN" altLang="en-US" dirty="0">
                <a:solidFill>
                  <a:prstClr val="black"/>
                </a:solidFill>
                <a:latin typeface="Constantia" panose="02030602050306030303"/>
              </a:rPr>
              <a:t>设</a:t>
            </a:r>
            <a:r>
              <a:rPr kumimoji="0" lang="en-US" altLang="zh-CN" dirty="0">
                <a:solidFill>
                  <a:prstClr val="black"/>
                </a:solidFill>
                <a:latin typeface="Constantia" panose="02030602050306030303"/>
              </a:rPr>
              <a:t>E1</a:t>
            </a:r>
            <a:r>
              <a:rPr kumimoji="0" lang="zh-CN" altLang="en-US" dirty="0">
                <a:solidFill>
                  <a:prstClr val="black"/>
                </a:solidFill>
                <a:latin typeface="Constantia" panose="02030602050306030303"/>
              </a:rPr>
              <a:t>和</a:t>
            </a:r>
            <a:r>
              <a:rPr kumimoji="0" lang="en-US" altLang="zh-CN" dirty="0">
                <a:solidFill>
                  <a:prstClr val="black"/>
                </a:solidFill>
                <a:latin typeface="Constantia" panose="02030602050306030303"/>
              </a:rPr>
              <a:t>E2 </a:t>
            </a:r>
            <a:r>
              <a:rPr kumimoji="0" lang="zh-CN" altLang="en-US" dirty="0">
                <a:solidFill>
                  <a:prstClr val="black"/>
                </a:solidFill>
                <a:latin typeface="Constantia" panose="02030602050306030303"/>
              </a:rPr>
              <a:t>有相同的属性名</a:t>
            </a:r>
            <a:endParaRPr kumimoji="0" lang="zh-CN" altLang="en-US" sz="2800" dirty="0">
              <a:solidFill>
                <a:prstClr val="black"/>
              </a:solidFill>
              <a:latin typeface="Constantia" panose="02030602050306030303"/>
            </a:endParaRPr>
          </a:p>
          <a:p>
            <a:pPr marL="273050" lvl="0" indent="-273050" algn="just">
              <a:spcBef>
                <a:spcPts val="0"/>
              </a:spcBef>
              <a:buClr>
                <a:srgbClr val="0BD0D9"/>
              </a:buClr>
              <a:buSzPct val="95000"/>
            </a:pPr>
            <a:r>
              <a:rPr kumimoji="0" lang="zh-CN" altLang="en-US" sz="2800" dirty="0">
                <a:solidFill>
                  <a:prstClr val="black"/>
                </a:solidFill>
                <a:latin typeface="Constantia" panose="02030602050306030303"/>
              </a:rPr>
              <a:t> 	     </a:t>
            </a:r>
            <a:r>
              <a:rPr kumimoji="0" lang="en-US" altLang="zh-CN" sz="2800" dirty="0">
                <a:solidFill>
                  <a:prstClr val="black"/>
                </a:solidFill>
                <a:latin typeface="Constantia" panose="02030602050306030303"/>
              </a:rPr>
              <a:t>π </a:t>
            </a:r>
            <a:r>
              <a:rPr kumimoji="0" lang="en-US" altLang="zh-CN" sz="2800" baseline="-25000" dirty="0">
                <a:solidFill>
                  <a:prstClr val="black"/>
                </a:solidFill>
                <a:latin typeface="Constantia" panose="02030602050306030303"/>
              </a:rPr>
              <a:t>A1,A2, </a:t>
            </a:r>
            <a:r>
              <a:rPr kumimoji="0" lang="en-US" altLang="zh-CN" sz="2800" dirty="0">
                <a:solidFill>
                  <a:prstClr val="black"/>
                </a:solidFill>
                <a:latin typeface="Courier New" panose="02070309020205020404" pitchFamily="49" charset="0"/>
              </a:rPr>
              <a:t>…</a:t>
            </a:r>
            <a:r>
              <a:rPr kumimoji="0" lang="en-US" altLang="zh-CN" sz="2800" baseline="-25000" dirty="0">
                <a:solidFill>
                  <a:prstClr val="black"/>
                </a:solidFill>
                <a:latin typeface="Constantia" panose="02030602050306030303"/>
              </a:rPr>
              <a:t>,An</a:t>
            </a:r>
            <a:r>
              <a:rPr kumimoji="0" lang="en-US" altLang="zh-CN" sz="2800" dirty="0">
                <a:solidFill>
                  <a:prstClr val="black"/>
                </a:solidFill>
                <a:latin typeface="Constantia" panose="02030602050306030303"/>
              </a:rPr>
              <a:t>(E1∪E2)≡</a:t>
            </a:r>
          </a:p>
          <a:p>
            <a:pPr marL="273050" lvl="0" indent="-273050" algn="just">
              <a:spcBef>
                <a:spcPts val="0"/>
              </a:spcBef>
              <a:buClr>
                <a:srgbClr val="0BD0D9"/>
              </a:buClr>
              <a:buSzPct val="95000"/>
            </a:pPr>
            <a:r>
              <a:rPr kumimoji="0" lang="en-US" altLang="zh-CN" sz="2800" dirty="0">
                <a:solidFill>
                  <a:prstClr val="black"/>
                </a:solidFill>
                <a:latin typeface="Constantia" panose="02030602050306030303"/>
              </a:rPr>
              <a:t>	             π </a:t>
            </a:r>
            <a:r>
              <a:rPr kumimoji="0" lang="en-US" altLang="zh-CN" sz="2800" baseline="-25000" dirty="0">
                <a:solidFill>
                  <a:prstClr val="black"/>
                </a:solidFill>
                <a:latin typeface="Constantia" panose="02030602050306030303"/>
              </a:rPr>
              <a:t>A1,A2, </a:t>
            </a:r>
            <a:r>
              <a:rPr kumimoji="0" lang="en-US" altLang="zh-CN" sz="2800" dirty="0">
                <a:solidFill>
                  <a:prstClr val="black"/>
                </a:solidFill>
                <a:latin typeface="Courier New" panose="02070309020205020404" pitchFamily="49" charset="0"/>
              </a:rPr>
              <a:t>…</a:t>
            </a:r>
            <a:r>
              <a:rPr kumimoji="0" lang="en-US" altLang="zh-CN" sz="2800" baseline="-25000" dirty="0">
                <a:solidFill>
                  <a:prstClr val="black"/>
                </a:solidFill>
                <a:latin typeface="Constantia" panose="02030602050306030303"/>
              </a:rPr>
              <a:t>,An</a:t>
            </a:r>
            <a:r>
              <a:rPr kumimoji="0" lang="en-US" altLang="zh-CN" sz="2800" dirty="0">
                <a:solidFill>
                  <a:prstClr val="black"/>
                </a:solidFill>
                <a:latin typeface="Constantia" panose="02030602050306030303"/>
              </a:rPr>
              <a:t>(E1)∪ π </a:t>
            </a:r>
            <a:r>
              <a:rPr kumimoji="0" lang="en-US" altLang="zh-CN" sz="2800" baseline="-25000" dirty="0">
                <a:solidFill>
                  <a:prstClr val="black"/>
                </a:solidFill>
                <a:latin typeface="Constantia" panose="02030602050306030303"/>
              </a:rPr>
              <a:t>A1,A2, </a:t>
            </a:r>
            <a:r>
              <a:rPr kumimoji="0" lang="en-US" altLang="zh-CN" sz="2800" dirty="0">
                <a:solidFill>
                  <a:prstClr val="black"/>
                </a:solidFill>
                <a:latin typeface="Courier New" panose="02070309020205020404" pitchFamily="49" charset="0"/>
              </a:rPr>
              <a:t>…</a:t>
            </a:r>
            <a:r>
              <a:rPr kumimoji="0" lang="en-US" altLang="zh-CN" sz="2800" baseline="-25000" dirty="0">
                <a:solidFill>
                  <a:prstClr val="black"/>
                </a:solidFill>
                <a:latin typeface="Constantia" panose="02030602050306030303"/>
              </a:rPr>
              <a:t>,An</a:t>
            </a:r>
            <a:r>
              <a:rPr kumimoji="0" lang="en-US" altLang="zh-CN" sz="2800" dirty="0">
                <a:solidFill>
                  <a:prstClr val="black"/>
                </a:solidFill>
                <a:latin typeface="Constantia" panose="02030602050306030303"/>
              </a:rPr>
              <a:t>(E2) </a:t>
            </a:r>
          </a:p>
          <a:p>
            <a:endParaRPr lang="zh-CN" altLang="en-US" dirty="0">
              <a:solidFill>
                <a:srgbClr val="0000FF"/>
              </a:solidFill>
            </a:endParaRPr>
          </a:p>
        </p:txBody>
      </p:sp>
      <p:sp>
        <p:nvSpPr>
          <p:cNvPr id="9" name="圆角矩形标注 8"/>
          <p:cNvSpPr/>
          <p:nvPr/>
        </p:nvSpPr>
        <p:spPr>
          <a:xfrm>
            <a:off x="6300192" y="3450170"/>
            <a:ext cx="2664296" cy="844203"/>
          </a:xfrm>
          <a:prstGeom prst="wedgeRoundRectCallout">
            <a:avLst>
              <a:gd name="adj1" fmla="val -84902"/>
              <a:gd name="adj2" fmla="val 5621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rgbClr val="FF0000"/>
                </a:solidFill>
              </a:rPr>
              <a:t>注意：没有投影和交的分配率</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4389437"/>
          </a:xfrm>
        </p:spPr>
        <p:txBody>
          <a:bodyPr/>
          <a:lstStyle/>
          <a:p>
            <a:pPr eaLnBrk="1" hangingPunct="1">
              <a:spcBef>
                <a:spcPct val="0"/>
              </a:spcBef>
              <a:buClrTx/>
              <a:buSzTx/>
            </a:pPr>
            <a:r>
              <a:rPr lang="en-US" altLang="zh-CN" sz="2800" b="1" dirty="0">
                <a:latin typeface="Arial" panose="020B0604020202020204" pitchFamily="34" charset="0"/>
                <a:ea typeface="黑体" panose="02010609060101010101" pitchFamily="49" charset="-122"/>
              </a:rPr>
              <a:t>9.3.2 </a:t>
            </a:r>
            <a:r>
              <a:rPr lang="zh-CN" altLang="en-US" sz="2800" b="1" dirty="0">
                <a:latin typeface="Arial" panose="020B0604020202020204" pitchFamily="34" charset="0"/>
                <a:ea typeface="黑体" panose="02010609060101010101" pitchFamily="49" charset="-122"/>
              </a:rPr>
              <a:t>一般策略（</a:t>
            </a:r>
            <a:r>
              <a:rPr lang="zh-CN" altLang="en-US" sz="2800" b="1" dirty="0">
                <a:solidFill>
                  <a:srgbClr val="FF0000"/>
                </a:solidFill>
                <a:latin typeface="Arial" panose="020B0604020202020204" pitchFamily="34" charset="0"/>
                <a:ea typeface="黑体" panose="02010609060101010101" pitchFamily="49" charset="-122"/>
              </a:rPr>
              <a:t>查询树的启发式</a:t>
            </a:r>
            <a:r>
              <a:rPr lang="zh-CN" altLang="en-US" sz="2800" b="1" dirty="0">
                <a:latin typeface="Arial" panose="020B0604020202020204" pitchFamily="34" charset="0"/>
                <a:ea typeface="黑体" panose="02010609060101010101" pitchFamily="49" charset="-122"/>
              </a:rPr>
              <a:t>优化）</a:t>
            </a:r>
            <a:endParaRPr lang="zh-CN" altLang="en-US" sz="2800" b="1" dirty="0">
              <a:latin typeface="Arial" panose="020B0604020202020204" pitchFamily="34" charset="0"/>
            </a:endParaRPr>
          </a:p>
          <a:p>
            <a:pPr eaLnBrk="1" hangingPunct="1">
              <a:spcBef>
                <a:spcPct val="50000"/>
              </a:spcBef>
              <a:buClrTx/>
              <a:buSzTx/>
            </a:pPr>
            <a:r>
              <a:rPr lang="zh-CN" altLang="en-US" sz="2800" dirty="0"/>
              <a:t>1</a:t>
            </a:r>
            <a:r>
              <a:rPr lang="zh-CN" altLang="en-US" sz="2800" dirty="0">
                <a:latin typeface="Times New Roman" panose="02020603050405020304" pitchFamily="18" charset="0"/>
              </a:rPr>
              <a:t>、“选择”尽可能提前执行；</a:t>
            </a:r>
            <a:endParaRPr lang="zh-CN" altLang="en-US" sz="2800" dirty="0"/>
          </a:p>
          <a:p>
            <a:pPr eaLnBrk="1" hangingPunct="1">
              <a:spcBef>
                <a:spcPct val="50000"/>
              </a:spcBef>
              <a:buClrTx/>
              <a:buSzTx/>
            </a:pPr>
            <a:r>
              <a:rPr lang="zh-CN" altLang="en-US" sz="2800" dirty="0">
                <a:latin typeface="Times New Roman" panose="02020603050405020304" pitchFamily="18" charset="0"/>
              </a:rPr>
              <a:t>这是最基本一条，因为“选择”使中间结果变小。</a:t>
            </a:r>
            <a:endParaRPr lang="zh-CN" altLang="en-US" sz="2800" dirty="0"/>
          </a:p>
          <a:p>
            <a:pPr eaLnBrk="1" hangingPunct="1">
              <a:spcBef>
                <a:spcPct val="50000"/>
              </a:spcBef>
              <a:buClrTx/>
              <a:buSzTx/>
            </a:pPr>
            <a:r>
              <a:rPr lang="zh-CN" altLang="en-US" sz="2800" dirty="0"/>
              <a:t>2</a:t>
            </a:r>
            <a:r>
              <a:rPr lang="zh-CN" altLang="en-US" sz="2800" dirty="0">
                <a:latin typeface="Times New Roman" panose="02020603050405020304" pitchFamily="18" charset="0"/>
              </a:rPr>
              <a:t>、索引和排序</a:t>
            </a:r>
            <a:endParaRPr lang="zh-CN" altLang="en-US" sz="2800" dirty="0"/>
          </a:p>
          <a:p>
            <a:pPr eaLnBrk="1" hangingPunct="1">
              <a:spcBef>
                <a:spcPct val="50000"/>
              </a:spcBef>
              <a:buClrTx/>
              <a:buSzTx/>
            </a:pPr>
            <a:r>
              <a:rPr lang="zh-CN" altLang="en-US" sz="2800" dirty="0">
                <a:latin typeface="Times New Roman" panose="02020603050405020304" pitchFamily="18" charset="0"/>
              </a:rPr>
              <a:t>特别是对连接运算，连接前“先排序”或“建立”索引，提高速度。</a:t>
            </a:r>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26</a:t>
            </a:fld>
            <a:endParaRPr lang="en-US" altLang="zh-CN"/>
          </a:p>
        </p:txBody>
      </p:sp>
      <p:sp>
        <p:nvSpPr>
          <p:cNvPr id="2" name="对话气泡: 圆角矩形 1"/>
          <p:cNvSpPr/>
          <p:nvPr/>
        </p:nvSpPr>
        <p:spPr>
          <a:xfrm>
            <a:off x="6444208" y="548680"/>
            <a:ext cx="2592288" cy="612648"/>
          </a:xfrm>
          <a:prstGeom prst="wedgeRoundRectCallout">
            <a:avLst>
              <a:gd name="adj1" fmla="val -74005"/>
              <a:gd name="adj2" fmla="val 6660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主要是代数优化</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p:cNvSpPr>
            <a:spLocks noGrp="1" noChangeArrowheads="1"/>
          </p:cNvSpPr>
          <p:nvPr>
            <p:ph idx="1"/>
          </p:nvPr>
        </p:nvSpPr>
        <p:spPr>
          <a:xfrm>
            <a:off x="152400" y="547855"/>
            <a:ext cx="8991600" cy="6172200"/>
          </a:xfrm>
        </p:spPr>
        <p:txBody>
          <a:bodyPr/>
          <a:lstStyle/>
          <a:p>
            <a:pPr eaLnBrk="1" hangingPunct="1">
              <a:spcBef>
                <a:spcPct val="50000"/>
              </a:spcBef>
              <a:buClrTx/>
              <a:buSzTx/>
              <a:buFontTx/>
              <a:buNone/>
            </a:pPr>
            <a:r>
              <a:rPr lang="zh-CN" altLang="en-US" sz="2400" dirty="0">
                <a:latin typeface="Times New Roman" panose="02020603050405020304" pitchFamily="18" charset="0"/>
              </a:rPr>
              <a:t>例：对贷款者表</a:t>
            </a:r>
            <a:r>
              <a:rPr lang="en-US" altLang="zh-CN" sz="2400" dirty="0"/>
              <a:t>Borrower </a:t>
            </a:r>
            <a:r>
              <a:rPr lang="zh-CN" altLang="en-US" sz="2400" dirty="0">
                <a:latin typeface="Times New Roman" panose="02020603050405020304" pitchFamily="18" charset="0"/>
              </a:rPr>
              <a:t>与贷款记录表</a:t>
            </a:r>
            <a:r>
              <a:rPr lang="en-US" altLang="zh-CN" sz="2400" dirty="0"/>
              <a:t>Loans</a:t>
            </a:r>
            <a:r>
              <a:rPr lang="zh-CN" altLang="en-US" sz="2400" dirty="0">
                <a:latin typeface="Times New Roman" panose="02020603050405020304" pitchFamily="18" charset="0"/>
              </a:rPr>
              <a:t>进行自然连接</a:t>
            </a:r>
            <a:endParaRPr lang="zh-CN" altLang="en-US" sz="2400" dirty="0"/>
          </a:p>
          <a:p>
            <a:pPr eaLnBrk="1" hangingPunct="1">
              <a:spcBef>
                <a:spcPct val="50000"/>
              </a:spcBef>
              <a:buClrTx/>
              <a:buSzTx/>
              <a:buFontTx/>
              <a:buNone/>
            </a:pPr>
            <a:r>
              <a:rPr lang="zh-CN" altLang="en-US" sz="2400" dirty="0"/>
              <a:t>① </a:t>
            </a:r>
            <a:r>
              <a:rPr lang="zh-CN" altLang="en-US" sz="2400" dirty="0">
                <a:latin typeface="Times New Roman" panose="02020603050405020304" pitchFamily="18" charset="0"/>
              </a:rPr>
              <a:t>对</a:t>
            </a:r>
            <a:r>
              <a:rPr lang="zh-CN" altLang="en-US" sz="2400" dirty="0">
                <a:solidFill>
                  <a:srgbClr val="0000FF"/>
                </a:solidFill>
                <a:latin typeface="Times New Roman" panose="02020603050405020304" pitchFamily="18" charset="0"/>
              </a:rPr>
              <a:t>贷款记录</a:t>
            </a:r>
            <a:r>
              <a:rPr lang="en-US" altLang="zh-CN" sz="2400" dirty="0"/>
              <a:t>loans </a:t>
            </a:r>
            <a:r>
              <a:rPr lang="zh-CN" altLang="en-US" sz="2400" dirty="0">
                <a:latin typeface="Times New Roman" panose="02020603050405020304" pitchFamily="18" charset="0"/>
              </a:rPr>
              <a:t>按贷款者身份证号</a:t>
            </a:r>
            <a:r>
              <a:rPr lang="en-US" altLang="zh-CN" sz="2400" dirty="0">
                <a:latin typeface="Times New Roman" panose="02020603050405020304" pitchFamily="18" charset="0"/>
              </a:rPr>
              <a:t>ID</a:t>
            </a:r>
            <a:r>
              <a:rPr lang="zh-CN" altLang="en-US" sz="2400" dirty="0">
                <a:solidFill>
                  <a:srgbClr val="0000FF"/>
                </a:solidFill>
                <a:latin typeface="Times New Roman" panose="02020603050405020304" pitchFamily="18" charset="0"/>
              </a:rPr>
              <a:t>建立索引</a:t>
            </a:r>
            <a:r>
              <a:rPr lang="zh-CN" altLang="en-US" sz="2400" dirty="0">
                <a:latin typeface="Times New Roman" panose="02020603050405020304" pitchFamily="18" charset="0"/>
              </a:rPr>
              <a:t>；</a:t>
            </a:r>
            <a:endParaRPr lang="zh-CN" altLang="en-US" sz="2400" dirty="0"/>
          </a:p>
          <a:p>
            <a:pPr eaLnBrk="1" hangingPunct="1">
              <a:spcBef>
                <a:spcPct val="50000"/>
              </a:spcBef>
              <a:buClrTx/>
              <a:buSzTx/>
              <a:buFontTx/>
              <a:buNone/>
            </a:pPr>
            <a:r>
              <a:rPr lang="zh-CN" altLang="en-US" sz="2400" dirty="0"/>
              <a:t>② </a:t>
            </a:r>
            <a:r>
              <a:rPr lang="zh-CN" altLang="en-US" sz="2400" dirty="0">
                <a:latin typeface="Times New Roman" panose="02020603050405020304" pitchFamily="18" charset="0"/>
              </a:rPr>
              <a:t>对贷款者表</a:t>
            </a:r>
            <a:r>
              <a:rPr lang="en-US" altLang="zh-CN" sz="2400" dirty="0"/>
              <a:t>Borrower </a:t>
            </a:r>
            <a:r>
              <a:rPr lang="zh-CN" altLang="en-US" sz="2400" dirty="0"/>
              <a:t>满足条件的</a:t>
            </a:r>
            <a:r>
              <a:rPr lang="zh-CN" altLang="en-US" sz="2400" dirty="0">
                <a:latin typeface="Times New Roman" panose="02020603050405020304" pitchFamily="18" charset="0"/>
              </a:rPr>
              <a:t>元组的</a:t>
            </a:r>
            <a:r>
              <a:rPr lang="en-US" altLang="zh-CN" sz="2400" dirty="0">
                <a:latin typeface="Times New Roman" panose="02020603050405020304" pitchFamily="18" charset="0"/>
              </a:rPr>
              <a:t>ID</a:t>
            </a:r>
            <a:r>
              <a:rPr lang="zh-CN" altLang="en-US" sz="2400" dirty="0">
                <a:latin typeface="Times New Roman" panose="02020603050405020304" pitchFamily="18" charset="0"/>
              </a:rPr>
              <a:t>值：</a:t>
            </a:r>
            <a:endParaRPr lang="zh-CN" altLang="en-US" sz="2400" dirty="0"/>
          </a:p>
          <a:p>
            <a:pPr marL="342900" indent="-342900" eaLnBrk="1" hangingPunct="1">
              <a:spcBef>
                <a:spcPct val="50000"/>
              </a:spcBef>
              <a:buClrTx/>
              <a:buSzTx/>
              <a:buFont typeface="Wingdings" panose="05000000000000000000" pitchFamily="2" charset="2"/>
              <a:buChar char="Ø"/>
            </a:pPr>
            <a:r>
              <a:rPr lang="zh-CN" altLang="en-US" sz="2400" dirty="0">
                <a:latin typeface="Times New Roman" panose="02020603050405020304" pitchFamily="18" charset="0"/>
              </a:rPr>
              <a:t>通过</a:t>
            </a:r>
            <a:r>
              <a:rPr lang="en-US" altLang="zh-CN" sz="2400" dirty="0"/>
              <a:t>loans </a:t>
            </a:r>
            <a:r>
              <a:rPr lang="zh-CN" altLang="en-US" sz="2400" dirty="0">
                <a:latin typeface="Times New Roman" panose="02020603050405020304" pitchFamily="18" charset="0"/>
              </a:rPr>
              <a:t>索引查元组</a:t>
            </a:r>
            <a:endParaRPr lang="zh-CN" altLang="en-US" sz="2400" dirty="0"/>
          </a:p>
          <a:p>
            <a:pPr marL="342900" indent="-342900" eaLnBrk="1" hangingPunct="1">
              <a:spcBef>
                <a:spcPct val="50000"/>
              </a:spcBef>
              <a:buClrTx/>
              <a:buSzTx/>
              <a:buFont typeface="Wingdings" panose="05000000000000000000" pitchFamily="2" charset="2"/>
              <a:buChar char="Ø"/>
            </a:pPr>
            <a:r>
              <a:rPr lang="en-US" altLang="zh-CN" sz="2400" dirty="0"/>
              <a:t>Borrower </a:t>
            </a:r>
            <a:r>
              <a:rPr lang="zh-CN" altLang="en-US" sz="2400" dirty="0">
                <a:latin typeface="Times New Roman" panose="02020603050405020304" pitchFamily="18" charset="0"/>
              </a:rPr>
              <a:t>元组与相应元组连接起来</a:t>
            </a:r>
            <a:endParaRPr lang="zh-CN" altLang="en-US" sz="2400" dirty="0"/>
          </a:p>
          <a:p>
            <a:pPr eaLnBrk="1" hangingPunct="1">
              <a:spcBef>
                <a:spcPct val="50000"/>
              </a:spcBef>
              <a:buClrTx/>
              <a:buSzTx/>
              <a:buFontTx/>
              <a:buNone/>
            </a:pPr>
            <a:r>
              <a:rPr lang="zh-CN" altLang="en-US" sz="2400" dirty="0">
                <a:solidFill>
                  <a:srgbClr val="0000FF"/>
                </a:solidFill>
                <a:latin typeface="Times New Roman" panose="02020603050405020304" pitchFamily="18" charset="0"/>
              </a:rPr>
              <a:t>无需反复扫描</a:t>
            </a:r>
            <a:r>
              <a:rPr lang="en-US" altLang="zh-CN" sz="2400" dirty="0">
                <a:solidFill>
                  <a:srgbClr val="0000FF"/>
                </a:solidFill>
              </a:rPr>
              <a:t>loans</a:t>
            </a:r>
            <a:r>
              <a:rPr lang="zh-CN" altLang="en-US" sz="2400" dirty="0">
                <a:solidFill>
                  <a:srgbClr val="0000FF"/>
                </a:solidFill>
              </a:rPr>
              <a:t>表本身</a:t>
            </a:r>
            <a:endParaRPr lang="en-US" altLang="zh-CN" sz="2400" dirty="0">
              <a:solidFill>
                <a:srgbClr val="0000FF"/>
              </a:solidFill>
            </a:endParaRPr>
          </a:p>
          <a:p>
            <a:pPr eaLnBrk="1" hangingPunct="1">
              <a:spcBef>
                <a:spcPct val="50000"/>
              </a:spcBef>
              <a:buClrTx/>
              <a:buSzTx/>
              <a:buFontTx/>
              <a:buNone/>
            </a:pPr>
            <a:endParaRPr lang="en-US" altLang="zh-CN" sz="2400" dirty="0"/>
          </a:p>
          <a:p>
            <a:pPr eaLnBrk="1" hangingPunct="1">
              <a:spcBef>
                <a:spcPct val="50000"/>
              </a:spcBef>
              <a:buClrTx/>
              <a:buSzTx/>
              <a:buFontTx/>
              <a:buNone/>
            </a:pPr>
            <a:r>
              <a:rPr lang="en-US" altLang="zh-CN" sz="2800" dirty="0"/>
              <a:t>3</a:t>
            </a:r>
            <a:r>
              <a:rPr lang="en-US" altLang="zh-CN" sz="2400" dirty="0">
                <a:latin typeface="+mn-ea"/>
              </a:rPr>
              <a:t>、</a:t>
            </a:r>
            <a:r>
              <a:rPr lang="en-US" altLang="zh-CN" sz="2400" dirty="0">
                <a:latin typeface="Times New Roman" panose="02020603050405020304" pitchFamily="18" charset="0"/>
              </a:rPr>
              <a:t>“</a:t>
            </a:r>
            <a:r>
              <a:rPr lang="zh-CN" altLang="en-US" sz="2400" dirty="0">
                <a:latin typeface="Times New Roman" panose="02020603050405020304" pitchFamily="18" charset="0"/>
              </a:rPr>
              <a:t>投影”和“选择”</a:t>
            </a:r>
            <a:r>
              <a:rPr lang="zh-CN" altLang="en-US" sz="2400" dirty="0">
                <a:solidFill>
                  <a:srgbClr val="FF0000"/>
                </a:solidFill>
                <a:latin typeface="Times New Roman" panose="02020603050405020304" pitchFamily="18" charset="0"/>
              </a:rPr>
              <a:t>同时进行</a:t>
            </a:r>
            <a:r>
              <a:rPr lang="zh-CN" altLang="en-US" sz="2400" dirty="0">
                <a:latin typeface="Times New Roman" panose="02020603050405020304" pitchFamily="18" charset="0"/>
              </a:rPr>
              <a:t>（避免多次扫描关系，即避免投影和选择各扫描一次关系）。</a:t>
            </a:r>
            <a:endParaRPr lang="zh-CN" altLang="en-US" sz="2400" dirty="0"/>
          </a:p>
          <a:p>
            <a:pPr eaLnBrk="1" hangingPunct="1">
              <a:spcBef>
                <a:spcPct val="50000"/>
              </a:spcBef>
              <a:buClrTx/>
              <a:buSzTx/>
              <a:buFontTx/>
              <a:buNone/>
            </a:pPr>
            <a:r>
              <a:rPr lang="zh-CN" altLang="en-US" sz="2400" dirty="0">
                <a:solidFill>
                  <a:srgbClr val="0000FF"/>
                </a:solidFill>
                <a:latin typeface="Times New Roman" panose="02020603050405020304" pitchFamily="18" charset="0"/>
              </a:rPr>
              <a:t>前提是两种运算对同一关系实施才成立。</a:t>
            </a:r>
            <a:endParaRPr lang="zh-CN" altLang="en-US" dirty="0">
              <a:solidFill>
                <a:srgbClr val="0000FF"/>
              </a:solidFill>
            </a:endParaRPr>
          </a:p>
        </p:txBody>
      </p:sp>
      <p:sp>
        <p:nvSpPr>
          <p:cNvPr id="3" name="灯片编号占位符 2"/>
          <p:cNvSpPr>
            <a:spLocks noGrp="1"/>
          </p:cNvSpPr>
          <p:nvPr>
            <p:ph type="sldNum" sz="quarter" idx="12"/>
          </p:nvPr>
        </p:nvSpPr>
        <p:spPr/>
        <p:txBody>
          <a:bodyPr/>
          <a:lstStyle/>
          <a:p>
            <a:pPr>
              <a:defRPr/>
            </a:pPr>
            <a:fld id="{458C06CB-5756-4553-A594-499C3DA58AA1}" type="slidenum">
              <a:rPr lang="zh-CN" altLang="en-US" smtClean="0"/>
              <a:t>27</a:t>
            </a:fld>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3"/>
          <p:cNvSpPr>
            <a:spLocks noGrp="1" noChangeArrowheads="1"/>
          </p:cNvSpPr>
          <p:nvPr>
            <p:ph idx="1"/>
          </p:nvPr>
        </p:nvSpPr>
        <p:spPr>
          <a:xfrm>
            <a:off x="381000" y="966788"/>
            <a:ext cx="8382000" cy="5391170"/>
          </a:xfrm>
        </p:spPr>
        <p:txBody>
          <a:bodyPr/>
          <a:lstStyle/>
          <a:p>
            <a:pPr eaLnBrk="1" hangingPunct="1">
              <a:lnSpc>
                <a:spcPct val="90000"/>
              </a:lnSpc>
              <a:spcBef>
                <a:spcPct val="50000"/>
              </a:spcBef>
              <a:buClrTx/>
              <a:buSzTx/>
            </a:pPr>
            <a:r>
              <a:rPr lang="en-US" altLang="zh-CN" sz="2400" dirty="0"/>
              <a:t>4</a:t>
            </a:r>
            <a:r>
              <a:rPr lang="zh-CN" altLang="en-US" sz="2400" dirty="0">
                <a:latin typeface="Times New Roman" panose="02020603050405020304" pitchFamily="18" charset="0"/>
              </a:rPr>
              <a:t>、投影</a:t>
            </a:r>
            <a:r>
              <a:rPr lang="zh-CN" altLang="en-US" sz="2400" dirty="0">
                <a:solidFill>
                  <a:srgbClr val="FF0000"/>
                </a:solidFill>
                <a:latin typeface="Times New Roman" panose="02020603050405020304" pitchFamily="18" charset="0"/>
              </a:rPr>
              <a:t>与其前后的其它双目运算</a:t>
            </a:r>
            <a:r>
              <a:rPr lang="zh-CN" altLang="en-US" sz="2400" dirty="0">
                <a:latin typeface="Times New Roman" panose="02020603050405020304" pitchFamily="18" charset="0"/>
              </a:rPr>
              <a:t>同时进行，避免重复扫描关系（没有必要为了去掉某些字段而扫描一遍关系）。</a:t>
            </a:r>
            <a:endParaRPr lang="zh-CN" altLang="en-US" sz="2400" dirty="0"/>
          </a:p>
          <a:p>
            <a:pPr eaLnBrk="1" hangingPunct="1">
              <a:lnSpc>
                <a:spcPct val="90000"/>
              </a:lnSpc>
              <a:spcBef>
                <a:spcPct val="50000"/>
              </a:spcBef>
              <a:buClrTx/>
              <a:buSzTx/>
              <a:buFontTx/>
              <a:buNone/>
            </a:pPr>
            <a:r>
              <a:rPr lang="en-US" altLang="zh-CN" sz="2400" dirty="0"/>
              <a:t>5</a:t>
            </a:r>
            <a:r>
              <a:rPr lang="zh-CN" altLang="en-US" sz="2400" dirty="0">
                <a:latin typeface="Times New Roman" panose="02020603050405020304" pitchFamily="18" charset="0"/>
              </a:rPr>
              <a:t>、 （某些）选择与选择前的笛卡尔积结合</a:t>
            </a:r>
            <a:endParaRPr lang="zh-CN" altLang="en-US" sz="2400" dirty="0"/>
          </a:p>
          <a:p>
            <a:pPr eaLnBrk="1" hangingPunct="1">
              <a:lnSpc>
                <a:spcPct val="90000"/>
              </a:lnSpc>
              <a:spcBef>
                <a:spcPct val="50000"/>
              </a:spcBef>
              <a:buClrTx/>
              <a:buSzTx/>
              <a:buFontTx/>
              <a:buNone/>
            </a:pPr>
            <a:r>
              <a:rPr lang="zh-CN" altLang="en-US" sz="2400" dirty="0">
                <a:latin typeface="Times New Roman" panose="02020603050405020304" pitchFamily="18" charset="0"/>
              </a:rPr>
              <a:t>扫描得到的元组立即与参与计算的另一元组做匹配条件过滤，将这种</a:t>
            </a:r>
            <a:r>
              <a:rPr lang="zh-CN" altLang="en-US" sz="2400" dirty="0">
                <a:solidFill>
                  <a:srgbClr val="FF0000"/>
                </a:solidFill>
                <a:latin typeface="Times New Roman" panose="02020603050405020304" pitchFamily="18" charset="0"/>
              </a:rPr>
              <a:t>笛卡尔积转变为连接</a:t>
            </a:r>
            <a:r>
              <a:rPr lang="zh-CN" altLang="en-US" sz="2400" dirty="0">
                <a:latin typeface="Times New Roman" panose="02020603050405020304" pitchFamily="18" charset="0"/>
              </a:rPr>
              <a:t>运算。</a:t>
            </a:r>
            <a:endParaRPr lang="zh-CN" altLang="en-US" sz="2400" dirty="0"/>
          </a:p>
          <a:p>
            <a:pPr eaLnBrk="1" hangingPunct="1">
              <a:lnSpc>
                <a:spcPct val="90000"/>
              </a:lnSpc>
              <a:spcBef>
                <a:spcPct val="50000"/>
              </a:spcBef>
              <a:buClrTx/>
              <a:buSzTx/>
              <a:buFontTx/>
              <a:buNone/>
            </a:pPr>
            <a:r>
              <a:rPr lang="zh-CN" altLang="en-US" sz="2400" dirty="0">
                <a:latin typeface="Times New Roman" panose="02020603050405020304" pitchFamily="18" charset="0"/>
              </a:rPr>
              <a:t>连接运算（特别是等值连接运算）比笛卡尔积快。</a:t>
            </a:r>
          </a:p>
          <a:p>
            <a:pPr eaLnBrk="1" hangingPunct="1">
              <a:lnSpc>
                <a:spcPct val="90000"/>
              </a:lnSpc>
              <a:spcBef>
                <a:spcPct val="50000"/>
              </a:spcBef>
              <a:buClrTx/>
              <a:buSzTx/>
              <a:buFontTx/>
              <a:buNone/>
            </a:pPr>
            <a:r>
              <a:rPr lang="zh-CN" altLang="en-US" sz="2400" dirty="0"/>
              <a:t>6</a:t>
            </a:r>
            <a:r>
              <a:rPr lang="zh-CN" altLang="en-US" sz="2400" dirty="0">
                <a:latin typeface="Times New Roman" panose="02020603050405020304" pitchFamily="18" charset="0"/>
              </a:rPr>
              <a:t>、提取公共子表达式。</a:t>
            </a:r>
            <a:endParaRPr lang="zh-CN" altLang="en-US" sz="2400" dirty="0"/>
          </a:p>
          <a:p>
            <a:pPr eaLnBrk="1" hangingPunct="1">
              <a:lnSpc>
                <a:spcPct val="90000"/>
              </a:lnSpc>
              <a:spcBef>
                <a:spcPct val="50000"/>
              </a:spcBef>
              <a:buClrTx/>
              <a:buSzTx/>
            </a:pPr>
            <a:r>
              <a:rPr lang="zh-CN" altLang="en-US" sz="2400" dirty="0"/>
              <a:t>① </a:t>
            </a:r>
            <a:r>
              <a:rPr lang="zh-CN" altLang="en-US" sz="2400" dirty="0">
                <a:latin typeface="Times New Roman" panose="02020603050405020304" pitchFamily="18" charset="0"/>
              </a:rPr>
              <a:t>计算公共子表达式结果</a:t>
            </a:r>
            <a:endParaRPr lang="zh-CN" altLang="en-US" sz="2400" dirty="0"/>
          </a:p>
          <a:p>
            <a:pPr eaLnBrk="1" hangingPunct="1">
              <a:lnSpc>
                <a:spcPct val="90000"/>
              </a:lnSpc>
              <a:spcBef>
                <a:spcPct val="50000"/>
              </a:spcBef>
              <a:buClrTx/>
              <a:buSzTx/>
              <a:buFontTx/>
              <a:buNone/>
            </a:pPr>
            <a:r>
              <a:rPr lang="zh-CN" altLang="en-US" sz="2400" dirty="0"/>
              <a:t>② </a:t>
            </a:r>
            <a:r>
              <a:rPr lang="zh-CN" altLang="en-US" sz="2400" dirty="0">
                <a:latin typeface="Times New Roman" panose="02020603050405020304" pitchFamily="18" charset="0"/>
              </a:rPr>
              <a:t>结果存入外存</a:t>
            </a:r>
            <a:endParaRPr lang="zh-CN" altLang="en-US" sz="2400" dirty="0"/>
          </a:p>
          <a:p>
            <a:pPr eaLnBrk="1" hangingPunct="1">
              <a:lnSpc>
                <a:spcPct val="90000"/>
              </a:lnSpc>
              <a:spcBef>
                <a:spcPct val="50000"/>
              </a:spcBef>
              <a:buClrTx/>
              <a:buSzTx/>
              <a:buFontTx/>
              <a:buNone/>
            </a:pPr>
            <a:r>
              <a:rPr lang="zh-CN" altLang="en-US" sz="2400" dirty="0"/>
              <a:t>③ 需要时从外存调入内存使用（无需重计算）</a:t>
            </a:r>
          </a:p>
          <a:p>
            <a:pPr eaLnBrk="1" hangingPunct="1">
              <a:lnSpc>
                <a:spcPct val="90000"/>
              </a:lnSpc>
              <a:spcBef>
                <a:spcPct val="50000"/>
              </a:spcBef>
              <a:buClrTx/>
              <a:buSzTx/>
              <a:buFontTx/>
              <a:buNone/>
            </a:pPr>
            <a:r>
              <a:rPr lang="zh-CN" altLang="en-US" sz="2400" dirty="0">
                <a:latin typeface="Times New Roman" panose="02020603050405020304" pitchFamily="18" charset="0"/>
              </a:rPr>
              <a:t>④</a:t>
            </a:r>
            <a:r>
              <a:rPr lang="zh-CN" altLang="en-US" sz="2400" dirty="0"/>
              <a:t> </a:t>
            </a:r>
            <a:r>
              <a:rPr lang="zh-CN" altLang="en-US" sz="2400" dirty="0">
                <a:latin typeface="Times New Roman" panose="02020603050405020304" pitchFamily="18" charset="0"/>
              </a:rPr>
              <a:t>前提：外存调入内存的时间</a:t>
            </a:r>
            <a:r>
              <a:rPr lang="zh-CN" altLang="en-US" sz="2400" dirty="0">
                <a:solidFill>
                  <a:srgbClr val="FF0000"/>
                </a:solidFill>
                <a:latin typeface="Times New Roman" panose="02020603050405020304" pitchFamily="18" charset="0"/>
              </a:rPr>
              <a:t>远远少于计算</a:t>
            </a:r>
            <a:r>
              <a:rPr lang="zh-CN" altLang="en-US" sz="2400" dirty="0">
                <a:latin typeface="Times New Roman" panose="02020603050405020304" pitchFamily="18" charset="0"/>
              </a:rPr>
              <a:t>公共表达式时间</a:t>
            </a:r>
          </a:p>
        </p:txBody>
      </p:sp>
      <p:sp>
        <p:nvSpPr>
          <p:cNvPr id="3" name="灯片编号占位符 2"/>
          <p:cNvSpPr>
            <a:spLocks noGrp="1"/>
          </p:cNvSpPr>
          <p:nvPr>
            <p:ph type="sldNum" sz="quarter" idx="12"/>
          </p:nvPr>
        </p:nvSpPr>
        <p:spPr/>
        <p:txBody>
          <a:bodyPr/>
          <a:lstStyle/>
          <a:p>
            <a:pPr>
              <a:defRPr/>
            </a:pPr>
            <a:fld id="{CB5E52F1-89D8-4FC0-B735-A03EC5246EFA}" type="slidenum">
              <a:rPr lang="zh-CN" altLang="en-US" smtClean="0"/>
              <a:t>28</a:t>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a:xfrm>
            <a:off x="457200" y="306859"/>
            <a:ext cx="8229600" cy="636588"/>
          </a:xfrm>
        </p:spPr>
        <p:txBody>
          <a:bodyPr/>
          <a:lstStyle/>
          <a:p>
            <a:r>
              <a:rPr lang="zh-CN" altLang="en-US" sz="3600" dirty="0"/>
              <a:t>关系表达式</a:t>
            </a:r>
            <a:r>
              <a:rPr lang="zh-CN" altLang="en-US" sz="3600" dirty="0">
                <a:solidFill>
                  <a:srgbClr val="FF0000"/>
                </a:solidFill>
              </a:rPr>
              <a:t>代数优化</a:t>
            </a:r>
            <a:r>
              <a:rPr lang="zh-CN" altLang="en-US" sz="3600" dirty="0"/>
              <a:t>算法</a:t>
            </a:r>
          </a:p>
        </p:txBody>
      </p:sp>
      <p:sp>
        <p:nvSpPr>
          <p:cNvPr id="27650" name="内容占位符 2"/>
          <p:cNvSpPr>
            <a:spLocks noGrp="1"/>
          </p:cNvSpPr>
          <p:nvPr>
            <p:ph idx="1"/>
          </p:nvPr>
        </p:nvSpPr>
        <p:spPr>
          <a:xfrm>
            <a:off x="444602" y="1164108"/>
            <a:ext cx="8507288" cy="5387033"/>
          </a:xfrm>
        </p:spPr>
        <p:txBody>
          <a:bodyPr/>
          <a:lstStyle/>
          <a:p>
            <a:r>
              <a:rPr lang="zh-CN" altLang="en-US" sz="2400" b="1" dirty="0">
                <a:latin typeface="微软雅黑" panose="020B0503020204020204" charset="-122"/>
                <a:ea typeface="微软雅黑" panose="020B0503020204020204" charset="-122"/>
              </a:rPr>
              <a:t>输入：关系代数表达式的查询树（语法树）</a:t>
            </a:r>
            <a:endParaRPr lang="en-US" altLang="zh-CN" sz="2400" b="1" dirty="0">
              <a:latin typeface="微软雅黑" panose="020B0503020204020204" charset="-122"/>
              <a:ea typeface="微软雅黑" panose="020B0503020204020204" charset="-122"/>
            </a:endParaRPr>
          </a:p>
          <a:p>
            <a:r>
              <a:rPr lang="zh-CN" altLang="en-US" sz="2400" b="1" dirty="0">
                <a:latin typeface="微软雅黑" panose="020B0503020204020204" charset="-122"/>
                <a:ea typeface="微软雅黑" panose="020B0503020204020204" charset="-122"/>
              </a:rPr>
              <a:t>输出：优化后的查询树（语法树）</a:t>
            </a:r>
            <a:endParaRPr lang="en-US" altLang="zh-CN" sz="2400" b="1" dirty="0">
              <a:latin typeface="微软雅黑" panose="020B0503020204020204" charset="-122"/>
              <a:ea typeface="微软雅黑" panose="020B0503020204020204" charset="-122"/>
            </a:endParaRPr>
          </a:p>
          <a:p>
            <a:r>
              <a:rPr lang="en-US" altLang="zh-CN" sz="2400" dirty="0"/>
              <a:t>1</a:t>
            </a:r>
            <a:r>
              <a:rPr lang="zh-CN" altLang="en-US" sz="2400" dirty="0"/>
              <a:t>）运用选择的串接定律，得到选择运算“串”；</a:t>
            </a:r>
            <a:endParaRPr lang="en-US" altLang="zh-CN" sz="2400" dirty="0"/>
          </a:p>
          <a:p>
            <a:r>
              <a:rPr lang="en-US" altLang="zh-CN" sz="2400" dirty="0"/>
              <a:t>2</a:t>
            </a:r>
            <a:r>
              <a:rPr lang="zh-CN" altLang="en-US" sz="2400" dirty="0"/>
              <a:t>）对每个选择运算符，利用等价变换尽量将其移至树的叶端（规则</a:t>
            </a:r>
            <a:r>
              <a:rPr lang="en-US" altLang="zh-CN" sz="2400" dirty="0"/>
              <a:t>4~9</a:t>
            </a:r>
            <a:r>
              <a:rPr lang="zh-CN" altLang="en-US" sz="2400" dirty="0"/>
              <a:t>）；</a:t>
            </a:r>
            <a:endParaRPr lang="en-US" altLang="zh-CN" sz="2400" dirty="0"/>
          </a:p>
          <a:p>
            <a:r>
              <a:rPr lang="en-US" altLang="zh-CN" sz="2400" dirty="0"/>
              <a:t>3</a:t>
            </a:r>
            <a:r>
              <a:rPr lang="zh-CN" altLang="en-US" sz="2400" dirty="0"/>
              <a:t>）对每个投影运算符，利用等价变换尽量将其移至树的叶端（规则</a:t>
            </a:r>
            <a:r>
              <a:rPr lang="en-US" altLang="zh-CN" sz="2400" dirty="0"/>
              <a:t>3</a:t>
            </a:r>
            <a:r>
              <a:rPr lang="zh-CN" altLang="en-US" sz="2400" dirty="0"/>
              <a:t>、</a:t>
            </a:r>
            <a:r>
              <a:rPr lang="en-US" altLang="zh-CN" sz="2400" dirty="0"/>
              <a:t>5</a:t>
            </a:r>
            <a:r>
              <a:rPr lang="zh-CN" altLang="en-US" sz="2400" dirty="0"/>
              <a:t>、</a:t>
            </a:r>
            <a:r>
              <a:rPr lang="en-US" altLang="zh-CN" sz="2400" dirty="0"/>
              <a:t>10</a:t>
            </a:r>
            <a:r>
              <a:rPr lang="zh-CN" altLang="en-US" sz="2400" dirty="0"/>
              <a:t>、</a:t>
            </a:r>
            <a:r>
              <a:rPr lang="en-US" altLang="zh-CN" sz="2400" dirty="0"/>
              <a:t>11</a:t>
            </a:r>
            <a:r>
              <a:rPr lang="zh-CN" altLang="en-US" sz="2400" dirty="0"/>
              <a:t>）；</a:t>
            </a:r>
            <a:endParaRPr lang="en-US" altLang="zh-CN" sz="2400" dirty="0"/>
          </a:p>
          <a:p>
            <a:r>
              <a:rPr lang="en-US" altLang="zh-CN" sz="2400" dirty="0"/>
              <a:t>4</a:t>
            </a:r>
            <a:r>
              <a:rPr lang="zh-CN" altLang="en-US" sz="2400" dirty="0"/>
              <a:t>）尝试将“选择”和“投影”</a:t>
            </a:r>
            <a:r>
              <a:rPr lang="zh-CN" altLang="en-US" sz="2400" dirty="0">
                <a:solidFill>
                  <a:srgbClr val="FF0000"/>
                </a:solidFill>
              </a:rPr>
              <a:t>串接合并</a:t>
            </a:r>
            <a:r>
              <a:rPr lang="zh-CN" altLang="en-US" sz="2400" dirty="0"/>
              <a:t>成单个“选择”或“投影”，或“选择”后跟一个“投影”（规则</a:t>
            </a:r>
            <a:r>
              <a:rPr lang="en-US" altLang="zh-CN" sz="2400" dirty="0"/>
              <a:t>3~5</a:t>
            </a:r>
            <a:r>
              <a:rPr lang="zh-CN" altLang="en-US" sz="2400" dirty="0"/>
              <a:t>）；</a:t>
            </a:r>
            <a:endParaRPr lang="en-US" altLang="zh-CN" sz="2400" dirty="0"/>
          </a:p>
          <a:p>
            <a:r>
              <a:rPr lang="en-US" altLang="zh-CN" sz="2400" dirty="0"/>
              <a:t>5</a:t>
            </a:r>
            <a:r>
              <a:rPr lang="zh-CN" altLang="en-US" sz="2400" dirty="0"/>
              <a:t>）上述得到的语法</a:t>
            </a:r>
            <a:r>
              <a:rPr lang="zh-CN" altLang="en-US" sz="2400" dirty="0">
                <a:solidFill>
                  <a:srgbClr val="FF0000"/>
                </a:solidFill>
              </a:rPr>
              <a:t>树内结点分组</a:t>
            </a:r>
            <a:r>
              <a:rPr lang="zh-CN" altLang="en-US" sz="2400" dirty="0"/>
              <a:t>：</a:t>
            </a:r>
            <a:r>
              <a:rPr lang="zh-CN" altLang="en-US" sz="2400" dirty="0">
                <a:solidFill>
                  <a:srgbClr val="FF0000"/>
                </a:solidFill>
              </a:rPr>
              <a:t>双目运算</a:t>
            </a:r>
            <a:r>
              <a:rPr lang="zh-CN" altLang="en-US" sz="2400" dirty="0"/>
              <a:t>和它的</a:t>
            </a:r>
            <a:r>
              <a:rPr lang="zh-CN" altLang="en-US" sz="2400" dirty="0">
                <a:solidFill>
                  <a:srgbClr val="FF0000"/>
                </a:solidFill>
              </a:rPr>
              <a:t>父节点（选择、投影运算）</a:t>
            </a:r>
            <a:r>
              <a:rPr lang="zh-CN" altLang="en-US" sz="2400" dirty="0"/>
              <a:t>为一组。若其</a:t>
            </a:r>
            <a:r>
              <a:rPr lang="zh-CN" altLang="en-US" sz="2400" dirty="0">
                <a:solidFill>
                  <a:srgbClr val="FF0000"/>
                </a:solidFill>
              </a:rPr>
              <a:t>后代直至叶节点</a:t>
            </a:r>
            <a:r>
              <a:rPr lang="zh-CN" altLang="en-US" sz="2400" dirty="0"/>
              <a:t>全是单目运算，也合并为一组。笛卡尔积的子节点若是不能组合成等值连接的“选择”，则二者不合并。</a:t>
            </a:r>
          </a:p>
        </p:txBody>
      </p:sp>
      <p:sp>
        <p:nvSpPr>
          <p:cNvPr id="4" name="灯片编号占位符 3"/>
          <p:cNvSpPr>
            <a:spLocks noGrp="1"/>
          </p:cNvSpPr>
          <p:nvPr>
            <p:ph type="sldNum" sz="quarter" idx="12"/>
          </p:nvPr>
        </p:nvSpPr>
        <p:spPr/>
        <p:txBody>
          <a:bodyPr/>
          <a:lstStyle/>
          <a:p>
            <a:pPr>
              <a:defRPr/>
            </a:pPr>
            <a:fld id="{AA02D76B-A12E-4F25-BFF0-51E243B29340}" type="slidenum">
              <a:rPr lang="zh-CN" altLang="en-US" smtClean="0"/>
              <a:t>29</a:t>
            </a:fld>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a:xfrm>
            <a:off x="457200" y="1124744"/>
            <a:ext cx="8229600" cy="704850"/>
          </a:xfrm>
        </p:spPr>
        <p:txBody>
          <a:bodyPr/>
          <a:lstStyle/>
          <a:p>
            <a:r>
              <a:rPr lang="zh-CN" altLang="en-US" dirty="0"/>
              <a:t>语法树</a:t>
            </a:r>
          </a:p>
        </p:txBody>
      </p:sp>
      <p:pic>
        <p:nvPicPr>
          <p:cNvPr id="28674" name="内容占位符 4" descr="查询树.emf"/>
          <p:cNvPicPr>
            <a:picLocks noGrp="1" noChangeAspect="1"/>
          </p:cNvPicPr>
          <p:nvPr>
            <p:ph idx="1"/>
          </p:nvPr>
        </p:nvPicPr>
        <p:blipFill>
          <a:blip r:embed="rId2" cstate="print"/>
          <a:srcRect/>
          <a:stretch>
            <a:fillRect/>
          </a:stretch>
        </p:blipFill>
        <p:spPr>
          <a:xfrm>
            <a:off x="318293" y="1670017"/>
            <a:ext cx="8507413" cy="5214937"/>
          </a:xfrm>
        </p:spPr>
      </p:pic>
      <p:sp>
        <p:nvSpPr>
          <p:cNvPr id="4" name="灯片编号占位符 3"/>
          <p:cNvSpPr>
            <a:spLocks noGrp="1"/>
          </p:cNvSpPr>
          <p:nvPr>
            <p:ph type="sldNum" sz="quarter" idx="12"/>
          </p:nvPr>
        </p:nvSpPr>
        <p:spPr/>
        <p:txBody>
          <a:bodyPr/>
          <a:lstStyle/>
          <a:p>
            <a:pPr>
              <a:defRPr/>
            </a:pPr>
            <a:fld id="{E35E23AC-069F-4801-95EA-CDC6DE497506}" type="slidenum">
              <a:rPr lang="zh-CN" altLang="en-US" smtClean="0"/>
              <a:t>30</a:t>
            </a:fld>
            <a:endParaRPr lang="en-US" altLang="zh-CN"/>
          </a:p>
        </p:txBody>
      </p:sp>
      <p:sp>
        <p:nvSpPr>
          <p:cNvPr id="2" name="矩形 1"/>
          <p:cNvSpPr/>
          <p:nvPr/>
        </p:nvSpPr>
        <p:spPr>
          <a:xfrm>
            <a:off x="467544" y="663079"/>
            <a:ext cx="7344816" cy="461665"/>
          </a:xfrm>
          <a:prstGeom prst="rect">
            <a:avLst/>
          </a:prstGeom>
        </p:spPr>
        <p:txBody>
          <a:bodyPr wrap="square">
            <a:spAutoFit/>
          </a:bodyPr>
          <a:lstStyle/>
          <a:p>
            <a:r>
              <a:rPr lang="en-US" altLang="zh-CN" dirty="0">
                <a:solidFill>
                  <a:srgbClr val="0000FF"/>
                </a:solidFill>
              </a:rPr>
              <a:t>SQL</a:t>
            </a:r>
            <a:r>
              <a:rPr lang="zh-CN" altLang="en-US" dirty="0">
                <a:solidFill>
                  <a:srgbClr val="0000FF"/>
                </a:solidFill>
              </a:rPr>
              <a:t>查询的代数处理过程（课本图</a:t>
            </a:r>
            <a:r>
              <a:rPr lang="en-US" altLang="zh-CN" dirty="0">
                <a:solidFill>
                  <a:srgbClr val="0000FF"/>
                </a:solidFill>
              </a:rPr>
              <a:t>9.3~9.5</a:t>
            </a:r>
            <a:r>
              <a:rPr lang="zh-CN" altLang="en-US" dirty="0">
                <a:solidFill>
                  <a:srgbClr val="0000FF"/>
                </a:solidFill>
              </a:rPr>
              <a:t>）</a:t>
            </a:r>
            <a:endParaRPr lang="en-US" altLang="zh-CN" b="1" dirty="0">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p:cNvSpPr>
          <p:nvPr>
            <p:ph type="title"/>
          </p:nvPr>
        </p:nvSpPr>
        <p:spPr>
          <a:xfrm>
            <a:off x="457200" y="642938"/>
            <a:ext cx="8229600" cy="776287"/>
          </a:xfrm>
        </p:spPr>
        <p:txBody>
          <a:bodyPr/>
          <a:lstStyle/>
          <a:p>
            <a:r>
              <a:rPr lang="zh-CN" altLang="en-US"/>
              <a:t>关系代数语法树</a:t>
            </a:r>
          </a:p>
        </p:txBody>
      </p:sp>
      <p:pic>
        <p:nvPicPr>
          <p:cNvPr id="29698" name="内容占位符 4" descr="关系代数语法树.emf"/>
          <p:cNvPicPr>
            <a:picLocks noGrp="1" noChangeAspect="1"/>
          </p:cNvPicPr>
          <p:nvPr>
            <p:ph idx="1"/>
          </p:nvPr>
        </p:nvPicPr>
        <p:blipFill>
          <a:blip r:embed="rId2" cstate="print"/>
          <a:srcRect/>
          <a:stretch>
            <a:fillRect/>
          </a:stretch>
        </p:blipFill>
        <p:spPr>
          <a:xfrm>
            <a:off x="2378075" y="1357313"/>
            <a:ext cx="4194175" cy="4786312"/>
          </a:xfrm>
        </p:spPr>
      </p:pic>
      <p:sp>
        <p:nvSpPr>
          <p:cNvPr id="4" name="灯片编号占位符 3"/>
          <p:cNvSpPr>
            <a:spLocks noGrp="1"/>
          </p:cNvSpPr>
          <p:nvPr>
            <p:ph type="sldNum" sz="quarter" idx="12"/>
          </p:nvPr>
        </p:nvSpPr>
        <p:spPr/>
        <p:txBody>
          <a:bodyPr/>
          <a:lstStyle/>
          <a:p>
            <a:pPr>
              <a:defRPr/>
            </a:pPr>
            <a:fld id="{797101B1-B727-4917-97AC-B32019BC7F82}" type="slidenum">
              <a:rPr lang="zh-CN" altLang="en-US" smtClean="0"/>
              <a:t>31</a:t>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a:xfrm>
            <a:off x="457200" y="795338"/>
            <a:ext cx="8229600" cy="704850"/>
          </a:xfrm>
        </p:spPr>
        <p:txBody>
          <a:bodyPr/>
          <a:lstStyle/>
          <a:p>
            <a:r>
              <a:rPr lang="zh-CN" altLang="en-US" dirty="0"/>
              <a:t>代数优化后的语法树</a:t>
            </a:r>
            <a:r>
              <a:rPr lang="en-US" altLang="zh-CN" dirty="0"/>
              <a:t>1</a:t>
            </a:r>
            <a:endParaRPr lang="zh-CN" altLang="en-US" dirty="0"/>
          </a:p>
        </p:txBody>
      </p:sp>
      <p:pic>
        <p:nvPicPr>
          <p:cNvPr id="31746" name="内容占位符 4" descr="代数优化后的查询树笛卡尔积转连接.emf"/>
          <p:cNvPicPr>
            <a:picLocks noGrp="1" noChangeAspect="1"/>
          </p:cNvPicPr>
          <p:nvPr>
            <p:ph idx="1"/>
          </p:nvPr>
        </p:nvPicPr>
        <p:blipFill>
          <a:blip r:embed="rId2" cstate="print"/>
          <a:srcRect/>
          <a:stretch>
            <a:fillRect/>
          </a:stretch>
        </p:blipFill>
        <p:spPr>
          <a:xfrm>
            <a:off x="1663700" y="1500188"/>
            <a:ext cx="5980113" cy="4572000"/>
          </a:xfrm>
        </p:spPr>
      </p:pic>
      <p:sp>
        <p:nvSpPr>
          <p:cNvPr id="4" name="灯片编号占位符 3"/>
          <p:cNvSpPr>
            <a:spLocks noGrp="1"/>
          </p:cNvSpPr>
          <p:nvPr>
            <p:ph type="sldNum" sz="quarter" idx="12"/>
          </p:nvPr>
        </p:nvSpPr>
        <p:spPr/>
        <p:txBody>
          <a:bodyPr/>
          <a:lstStyle/>
          <a:p>
            <a:pPr>
              <a:defRPr/>
            </a:pPr>
            <a:fld id="{82BB22E3-EB89-428A-9961-CBE45C8D5934}" type="slidenum">
              <a:rPr lang="zh-CN" altLang="en-US" smtClean="0"/>
              <a:t>32</a:t>
            </a:fld>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代数优化后的语法树</a:t>
            </a:r>
            <a:r>
              <a:rPr lang="en-US" altLang="zh-CN" dirty="0"/>
              <a:t>2</a:t>
            </a:r>
            <a:endParaRPr lang="zh-CN" altLang="en-US" dirty="0"/>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t>33</a:t>
            </a:fld>
            <a:endParaRPr lang="en-US" altLang="zh-CN"/>
          </a:p>
        </p:txBody>
      </p:sp>
      <p:pic>
        <p:nvPicPr>
          <p:cNvPr id="32771" name="内容占位符 10" descr="代数优化后的查询树笛卡尔积转连接.emf"/>
          <p:cNvPicPr>
            <a:picLocks noGrp="1" noChangeAspect="1"/>
          </p:cNvPicPr>
          <p:nvPr>
            <p:ph idx="1"/>
          </p:nvPr>
        </p:nvPicPr>
        <p:blipFill>
          <a:blip r:embed="rId2" cstate="print"/>
          <a:srcRect/>
          <a:stretch>
            <a:fillRect/>
          </a:stretch>
        </p:blipFill>
        <p:spPr>
          <a:xfrm>
            <a:off x="899592" y="1535113"/>
            <a:ext cx="6719887" cy="4786312"/>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a:xfrm>
            <a:off x="457200" y="489952"/>
            <a:ext cx="8229600" cy="704850"/>
          </a:xfrm>
        </p:spPr>
        <p:txBody>
          <a:bodyPr/>
          <a:lstStyle/>
          <a:p>
            <a:r>
              <a:rPr lang="zh-CN" altLang="en-US" dirty="0"/>
              <a:t>代数优化后的语法树</a:t>
            </a:r>
            <a:r>
              <a:rPr lang="en-US" altLang="zh-CN" dirty="0"/>
              <a:t>3</a:t>
            </a:r>
            <a:endParaRPr lang="zh-CN" altLang="en-US" dirty="0"/>
          </a:p>
        </p:txBody>
      </p:sp>
      <p:pic>
        <p:nvPicPr>
          <p:cNvPr id="31746" name="内容占位符 4" descr="代数优化后的查询树笛卡尔积转连接.emf"/>
          <p:cNvPicPr>
            <a:picLocks noGrp="1" noChangeAspect="1"/>
          </p:cNvPicPr>
          <p:nvPr>
            <p:ph idx="1"/>
          </p:nvPr>
        </p:nvPicPr>
        <p:blipFill>
          <a:blip r:embed="rId2" cstate="print"/>
          <a:srcRect/>
          <a:stretch>
            <a:fillRect/>
          </a:stretch>
        </p:blipFill>
        <p:spPr>
          <a:xfrm>
            <a:off x="1663700" y="1500188"/>
            <a:ext cx="5980113" cy="4572000"/>
          </a:xfrm>
        </p:spPr>
      </p:pic>
      <p:sp>
        <p:nvSpPr>
          <p:cNvPr id="4" name="灯片编号占位符 3"/>
          <p:cNvSpPr>
            <a:spLocks noGrp="1"/>
          </p:cNvSpPr>
          <p:nvPr>
            <p:ph type="sldNum" sz="quarter" idx="12"/>
          </p:nvPr>
        </p:nvSpPr>
        <p:spPr/>
        <p:txBody>
          <a:bodyPr/>
          <a:lstStyle/>
          <a:p>
            <a:pPr>
              <a:defRPr/>
            </a:pPr>
            <a:fld id="{82BB22E3-EB89-428A-9961-CBE45C8D5934}" type="slidenum">
              <a:rPr lang="zh-CN" altLang="en-US" smtClean="0"/>
              <a:t>34</a:t>
            </a:fld>
            <a:endParaRPr lang="en-US" altLang="zh-CN"/>
          </a:p>
        </p:txBody>
      </p:sp>
      <p:sp>
        <p:nvSpPr>
          <p:cNvPr id="2" name="椭圆 1"/>
          <p:cNvSpPr/>
          <p:nvPr/>
        </p:nvSpPr>
        <p:spPr>
          <a:xfrm rot="1082848">
            <a:off x="1102800" y="1509589"/>
            <a:ext cx="7056784" cy="2986846"/>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t>35</a:t>
            </a:fld>
            <a:endParaRPr lang="en-US" altLang="zh-CN"/>
          </a:p>
        </p:txBody>
      </p:sp>
      <p:sp>
        <p:nvSpPr>
          <p:cNvPr id="3" name="内容占位符 2"/>
          <p:cNvSpPr>
            <a:spLocks noGrp="1"/>
          </p:cNvSpPr>
          <p:nvPr>
            <p:ph idx="1"/>
          </p:nvPr>
        </p:nvSpPr>
        <p:spPr>
          <a:xfrm>
            <a:off x="323528" y="1570038"/>
            <a:ext cx="8229600" cy="485725"/>
          </a:xfrm>
        </p:spPr>
        <p:txBody>
          <a:bodyPr/>
          <a:lstStyle/>
          <a:p>
            <a:r>
              <a:rPr lang="zh-CN" altLang="en-US" dirty="0"/>
              <a:t>（</a:t>
            </a:r>
            <a:r>
              <a:rPr lang="en-US" altLang="zh-CN" dirty="0"/>
              <a:t>1</a:t>
            </a:r>
            <a:r>
              <a:rPr lang="zh-CN" altLang="en-US" dirty="0"/>
              <a:t>）查询树</a:t>
            </a:r>
            <a:r>
              <a:rPr lang="en-US" altLang="zh-CN" dirty="0"/>
              <a:t>——</a:t>
            </a:r>
            <a:r>
              <a:rPr lang="zh-CN" altLang="en-US" dirty="0"/>
              <a:t>语法树</a:t>
            </a:r>
          </a:p>
        </p:txBody>
      </p:sp>
      <p:grpSp>
        <p:nvGrpSpPr>
          <p:cNvPr id="7" name="组合 6"/>
          <p:cNvGrpSpPr/>
          <p:nvPr/>
        </p:nvGrpSpPr>
        <p:grpSpPr>
          <a:xfrm>
            <a:off x="1905000" y="2286000"/>
            <a:ext cx="5257800" cy="4114800"/>
            <a:chOff x="1905000" y="2286000"/>
            <a:chExt cx="5257800" cy="4114800"/>
          </a:xfrm>
        </p:grpSpPr>
        <p:sp>
          <p:nvSpPr>
            <p:cNvPr id="8" name="Rectangle 3"/>
            <p:cNvSpPr>
              <a:spLocks noChangeArrowheads="1"/>
            </p:cNvSpPr>
            <p:nvPr/>
          </p:nvSpPr>
          <p:spPr bwMode="auto">
            <a:xfrm>
              <a:off x="3505200" y="2286000"/>
              <a:ext cx="1371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400" dirty="0"/>
                <a:t>结果</a:t>
              </a:r>
              <a:endParaRPr kumimoji="0" lang="zh-CN" altLang="en-US" sz="2400" b="0" dirty="0"/>
            </a:p>
          </p:txBody>
        </p:sp>
        <p:sp>
          <p:nvSpPr>
            <p:cNvPr id="9" name="Line 4"/>
            <p:cNvSpPr>
              <a:spLocks noChangeShapeType="1"/>
            </p:cNvSpPr>
            <p:nvPr/>
          </p:nvSpPr>
          <p:spPr bwMode="auto">
            <a:xfrm>
              <a:off x="4191000" y="2743200"/>
              <a:ext cx="0" cy="5334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 name="Rectangle 5"/>
            <p:cNvSpPr>
              <a:spLocks noChangeArrowheads="1"/>
            </p:cNvSpPr>
            <p:nvPr/>
          </p:nvSpPr>
          <p:spPr bwMode="auto">
            <a:xfrm>
              <a:off x="3276600" y="32766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project(Sname)</a:t>
              </a:r>
              <a:r>
                <a:rPr kumimoji="0" lang="en-US" altLang="zh-CN" sz="2400" b="0" dirty="0"/>
                <a:t> </a:t>
              </a:r>
            </a:p>
          </p:txBody>
        </p:sp>
        <p:sp>
          <p:nvSpPr>
            <p:cNvPr id="11" name="Line 6"/>
            <p:cNvSpPr>
              <a:spLocks noChangeShapeType="1"/>
            </p:cNvSpPr>
            <p:nvPr/>
          </p:nvSpPr>
          <p:spPr bwMode="auto">
            <a:xfrm>
              <a:off x="4267200" y="3810000"/>
              <a:ext cx="0" cy="3810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 name="Rectangle 7"/>
            <p:cNvSpPr>
              <a:spLocks noChangeArrowheads="1"/>
            </p:cNvSpPr>
            <p:nvPr/>
          </p:nvSpPr>
          <p:spPr bwMode="auto">
            <a:xfrm>
              <a:off x="3200400" y="4114800"/>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select(</a:t>
              </a:r>
              <a:r>
                <a:rPr kumimoji="0" lang="en-US" altLang="zh-CN" sz="2400" dirty="0" err="1"/>
                <a:t>SC.Cno</a:t>
              </a:r>
              <a:r>
                <a:rPr kumimoji="0" lang="en-US" altLang="zh-CN" sz="2400" dirty="0"/>
                <a:t>=</a:t>
              </a:r>
              <a:r>
                <a:rPr kumimoji="0" lang="en-US" altLang="zh-CN" sz="2400" dirty="0">
                  <a:sym typeface="Symbol" panose="05050102010706020507" pitchFamily="18" charset="2"/>
                </a:rPr>
                <a:t></a:t>
              </a:r>
              <a:r>
                <a:rPr kumimoji="0" lang="en-US" altLang="zh-CN" sz="2400" dirty="0"/>
                <a:t>2</a:t>
              </a:r>
              <a:r>
                <a:rPr kumimoji="0" lang="en-US" altLang="zh-CN" sz="2400" dirty="0">
                  <a:sym typeface="Symbol" panose="05050102010706020507" pitchFamily="18" charset="2"/>
                </a:rPr>
                <a:t> and </a:t>
              </a:r>
              <a:r>
                <a:rPr kumimoji="0" lang="en-US" altLang="zh-CN" sz="2400" dirty="0" err="1"/>
                <a:t>Student.Sno</a:t>
              </a:r>
              <a:r>
                <a:rPr kumimoji="0" lang="en-US" altLang="zh-CN" sz="2400" dirty="0"/>
                <a:t>=</a:t>
              </a:r>
              <a:r>
                <a:rPr kumimoji="0" lang="en-US" altLang="zh-CN" sz="2400" dirty="0" err="1"/>
                <a:t>SC.Sno</a:t>
              </a:r>
              <a:r>
                <a:rPr kumimoji="0" lang="en-US" altLang="zh-CN" sz="2400" dirty="0"/>
                <a:t>) </a:t>
              </a:r>
            </a:p>
          </p:txBody>
        </p:sp>
        <p:sp>
          <p:nvSpPr>
            <p:cNvPr id="13" name="Rectangle 9"/>
            <p:cNvSpPr>
              <a:spLocks noChangeArrowheads="1"/>
            </p:cNvSpPr>
            <p:nvPr/>
          </p:nvSpPr>
          <p:spPr bwMode="auto">
            <a:xfrm>
              <a:off x="1905000" y="5791200"/>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Student</a:t>
              </a:r>
              <a:endParaRPr kumimoji="0" lang="en-US" altLang="zh-CN" sz="2400" b="0"/>
            </a:p>
          </p:txBody>
        </p:sp>
        <p:sp>
          <p:nvSpPr>
            <p:cNvPr id="14" name="Rectangle 10"/>
            <p:cNvSpPr>
              <a:spLocks noChangeArrowheads="1"/>
            </p:cNvSpPr>
            <p:nvPr/>
          </p:nvSpPr>
          <p:spPr bwMode="auto">
            <a:xfrm>
              <a:off x="6019800" y="5791200"/>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SC</a:t>
              </a:r>
              <a:endParaRPr kumimoji="0" lang="en-US" altLang="zh-CN" sz="2400" b="0"/>
            </a:p>
          </p:txBody>
        </p:sp>
        <p:sp>
          <p:nvSpPr>
            <p:cNvPr id="15" name="Line 11"/>
            <p:cNvSpPr>
              <a:spLocks noChangeShapeType="1"/>
            </p:cNvSpPr>
            <p:nvPr/>
          </p:nvSpPr>
          <p:spPr bwMode="auto">
            <a:xfrm>
              <a:off x="4267200" y="4648200"/>
              <a:ext cx="0" cy="3048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6" name="Line 12"/>
            <p:cNvSpPr>
              <a:spLocks noChangeShapeType="1"/>
            </p:cNvSpPr>
            <p:nvPr/>
          </p:nvSpPr>
          <p:spPr bwMode="auto">
            <a:xfrm flipH="1">
              <a:off x="2514600" y="5410200"/>
              <a:ext cx="1600200" cy="4572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7" name="Line 13"/>
            <p:cNvSpPr>
              <a:spLocks noChangeShapeType="1"/>
            </p:cNvSpPr>
            <p:nvPr/>
          </p:nvSpPr>
          <p:spPr bwMode="auto">
            <a:xfrm>
              <a:off x="4953000" y="5486400"/>
              <a:ext cx="1371600" cy="4572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8" name="文本框 17"/>
            <p:cNvSpPr txBox="1"/>
            <p:nvPr/>
          </p:nvSpPr>
          <p:spPr>
            <a:xfrm>
              <a:off x="3390901" y="4923566"/>
              <a:ext cx="1904998" cy="461665"/>
            </a:xfrm>
            <a:prstGeom prst="rect">
              <a:avLst/>
            </a:prstGeom>
            <a:noFill/>
          </p:spPr>
          <p:txBody>
            <a:bodyPr wrap="square">
              <a:spAutoFit/>
            </a:bodyPr>
            <a:lstStyle/>
            <a:p>
              <a:r>
                <a:rPr kumimoji="0" lang="en-US" altLang="zh-CN" sz="2400" dirty="0"/>
                <a:t>Cross join</a:t>
              </a:r>
              <a:endParaRPr lang="zh-CN" altLang="en-US" dirty="0"/>
            </a:p>
          </p:txBody>
        </p:sp>
      </p:grpSp>
      <p:sp>
        <p:nvSpPr>
          <p:cNvPr id="19" name="矩形 18"/>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t>36</a:t>
            </a:fld>
            <a:endParaRPr lang="en-US" altLang="zh-CN"/>
          </a:p>
        </p:txBody>
      </p:sp>
      <p:sp>
        <p:nvSpPr>
          <p:cNvPr id="3" name="内容占位符 2"/>
          <p:cNvSpPr>
            <a:spLocks noGrp="1"/>
          </p:cNvSpPr>
          <p:nvPr>
            <p:ph idx="1"/>
          </p:nvPr>
        </p:nvSpPr>
        <p:spPr>
          <a:xfrm>
            <a:off x="323528" y="1570038"/>
            <a:ext cx="8229600" cy="485725"/>
          </a:xfrm>
        </p:spPr>
        <p:txBody>
          <a:bodyPr/>
          <a:lstStyle/>
          <a:p>
            <a:r>
              <a:rPr lang="zh-CN" altLang="en-US" dirty="0"/>
              <a:t>（</a:t>
            </a:r>
            <a:r>
              <a:rPr lang="en-US" altLang="zh-CN" dirty="0"/>
              <a:t>2</a:t>
            </a:r>
            <a:r>
              <a:rPr lang="zh-CN" altLang="en-US" dirty="0"/>
              <a:t>）关系代数语法树</a:t>
            </a:r>
          </a:p>
        </p:txBody>
      </p:sp>
      <p:grpSp>
        <p:nvGrpSpPr>
          <p:cNvPr id="19" name="Group 3"/>
          <p:cNvGrpSpPr/>
          <p:nvPr/>
        </p:nvGrpSpPr>
        <p:grpSpPr bwMode="auto">
          <a:xfrm>
            <a:off x="1961828" y="1767101"/>
            <a:ext cx="4953000" cy="4267200"/>
            <a:chOff x="0" y="0"/>
            <a:chExt cx="3120" cy="2688"/>
          </a:xfrm>
        </p:grpSpPr>
        <p:sp>
          <p:nvSpPr>
            <p:cNvPr id="20" name="Rectangle 4"/>
            <p:cNvSpPr>
              <a:spLocks noChangeArrowheads="1"/>
            </p:cNvSpPr>
            <p:nvPr/>
          </p:nvSpPr>
          <p:spPr bwMode="auto">
            <a:xfrm>
              <a:off x="1008" y="0"/>
              <a:ext cx="86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a:t>π</a:t>
              </a:r>
              <a:r>
                <a:rPr kumimoji="0" lang="en-US" altLang="zh-CN" baseline="-30000"/>
                <a:t>Sname</a:t>
              </a:r>
              <a:r>
                <a:rPr kumimoji="0" lang="en-US" altLang="zh-CN" sz="2400"/>
                <a:t> </a:t>
              </a:r>
              <a:endParaRPr kumimoji="0" lang="en-US" altLang="zh-CN" sz="2400" b="0"/>
            </a:p>
          </p:txBody>
        </p:sp>
        <p:sp>
          <p:nvSpPr>
            <p:cNvPr id="21" name="Line 5"/>
            <p:cNvSpPr>
              <a:spLocks noChangeShapeType="1"/>
            </p:cNvSpPr>
            <p:nvPr/>
          </p:nvSpPr>
          <p:spPr bwMode="auto">
            <a:xfrm>
              <a:off x="1440" y="384"/>
              <a:ext cx="0" cy="3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2" name="Rectangle 6"/>
            <p:cNvSpPr>
              <a:spLocks noChangeArrowheads="1"/>
            </p:cNvSpPr>
            <p:nvPr/>
          </p:nvSpPr>
          <p:spPr bwMode="auto">
            <a:xfrm>
              <a:off x="74" y="686"/>
              <a:ext cx="27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SC.Cno=’2’ and </a:t>
              </a:r>
              <a:r>
                <a:rPr kumimoji="0" lang="en-US" altLang="zh-CN" sz="2400" baseline="-30000" dirty="0"/>
                <a:t>Student.Sno=SC.Sno</a:t>
              </a:r>
              <a:r>
                <a:rPr kumimoji="0" lang="en-US" altLang="zh-CN" sz="2400" dirty="0"/>
                <a:t> </a:t>
              </a:r>
            </a:p>
          </p:txBody>
        </p:sp>
        <p:sp>
          <p:nvSpPr>
            <p:cNvPr id="23" name="Line 7"/>
            <p:cNvSpPr>
              <a:spLocks noChangeShapeType="1"/>
            </p:cNvSpPr>
            <p:nvPr/>
          </p:nvSpPr>
          <p:spPr bwMode="auto">
            <a:xfrm>
              <a:off x="1440" y="1056"/>
              <a:ext cx="0" cy="76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4" name="Rectangle 9"/>
            <p:cNvSpPr>
              <a:spLocks noChangeArrowheads="1"/>
            </p:cNvSpPr>
            <p:nvPr/>
          </p:nvSpPr>
          <p:spPr bwMode="auto">
            <a:xfrm>
              <a:off x="1200" y="1776"/>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25" name="Rectangle 10"/>
            <p:cNvSpPr>
              <a:spLocks noChangeArrowheads="1"/>
            </p:cNvSpPr>
            <p:nvPr/>
          </p:nvSpPr>
          <p:spPr bwMode="auto">
            <a:xfrm>
              <a:off x="0" y="2304"/>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Student</a:t>
              </a:r>
              <a:endParaRPr kumimoji="0" lang="en-US" altLang="zh-CN" sz="2400" b="0"/>
            </a:p>
          </p:txBody>
        </p:sp>
        <p:sp>
          <p:nvSpPr>
            <p:cNvPr id="26" name="Rectangle 11"/>
            <p:cNvSpPr>
              <a:spLocks noChangeArrowheads="1"/>
            </p:cNvSpPr>
            <p:nvPr/>
          </p:nvSpPr>
          <p:spPr bwMode="auto">
            <a:xfrm>
              <a:off x="2400" y="2304"/>
              <a:ext cx="7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SC</a:t>
              </a:r>
            </a:p>
          </p:txBody>
        </p:sp>
        <p:sp>
          <p:nvSpPr>
            <p:cNvPr id="27" name="Line 12"/>
            <p:cNvSpPr>
              <a:spLocks noChangeShapeType="1"/>
            </p:cNvSpPr>
            <p:nvPr/>
          </p:nvSpPr>
          <p:spPr bwMode="auto">
            <a:xfrm>
              <a:off x="1440" y="1632"/>
              <a:ext cx="0"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8" name="Line 13"/>
            <p:cNvSpPr>
              <a:spLocks noChangeShapeType="1"/>
            </p:cNvSpPr>
            <p:nvPr/>
          </p:nvSpPr>
          <p:spPr bwMode="auto">
            <a:xfrm flipH="1">
              <a:off x="432" y="2016"/>
              <a:ext cx="864"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9" name="Line 14"/>
            <p:cNvSpPr>
              <a:spLocks noChangeShapeType="1"/>
            </p:cNvSpPr>
            <p:nvPr/>
          </p:nvSpPr>
          <p:spPr bwMode="auto">
            <a:xfrm>
              <a:off x="1680" y="2016"/>
              <a:ext cx="864" cy="28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6" name="矩形 15"/>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t>37</a:t>
            </a:fld>
            <a:endParaRPr lang="en-US" altLang="zh-CN"/>
          </a:p>
        </p:txBody>
      </p:sp>
      <p:sp>
        <p:nvSpPr>
          <p:cNvPr id="3" name="内容占位符 2"/>
          <p:cNvSpPr>
            <a:spLocks noGrp="1"/>
          </p:cNvSpPr>
          <p:nvPr>
            <p:ph idx="1"/>
          </p:nvPr>
        </p:nvSpPr>
        <p:spPr>
          <a:xfrm>
            <a:off x="323528" y="1570038"/>
            <a:ext cx="8229600" cy="485725"/>
          </a:xfrm>
        </p:spPr>
        <p:txBody>
          <a:bodyPr/>
          <a:lstStyle/>
          <a:p>
            <a:r>
              <a:rPr lang="zh-CN" altLang="en-US" dirty="0"/>
              <a:t>（</a:t>
            </a:r>
            <a:r>
              <a:rPr lang="en-US" altLang="zh-CN" dirty="0"/>
              <a:t>3</a:t>
            </a:r>
            <a:r>
              <a:rPr lang="zh-CN" altLang="en-US" dirty="0"/>
              <a:t>）分解选择运算</a:t>
            </a:r>
          </a:p>
        </p:txBody>
      </p:sp>
      <p:grpSp>
        <p:nvGrpSpPr>
          <p:cNvPr id="16" name="Group 3"/>
          <p:cNvGrpSpPr/>
          <p:nvPr/>
        </p:nvGrpSpPr>
        <p:grpSpPr bwMode="auto">
          <a:xfrm>
            <a:off x="2057400" y="1828800"/>
            <a:ext cx="4953000" cy="4267200"/>
            <a:chOff x="0" y="0"/>
            <a:chExt cx="3120" cy="2688"/>
          </a:xfrm>
        </p:grpSpPr>
        <p:sp>
          <p:nvSpPr>
            <p:cNvPr id="17" name="Rectangle 4"/>
            <p:cNvSpPr>
              <a:spLocks noChangeArrowheads="1"/>
            </p:cNvSpPr>
            <p:nvPr/>
          </p:nvSpPr>
          <p:spPr bwMode="auto">
            <a:xfrm>
              <a:off x="1008" y="0"/>
              <a:ext cx="86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a:t>Sname</a:t>
              </a:r>
              <a:r>
                <a:rPr kumimoji="0" lang="en-US" altLang="zh-CN" sz="2400" dirty="0"/>
                <a:t> </a:t>
              </a:r>
              <a:endParaRPr kumimoji="0" lang="en-US" altLang="zh-CN" sz="2400" b="0" dirty="0"/>
            </a:p>
          </p:txBody>
        </p:sp>
        <p:sp>
          <p:nvSpPr>
            <p:cNvPr id="18" name="Line 5"/>
            <p:cNvSpPr>
              <a:spLocks noChangeShapeType="1"/>
            </p:cNvSpPr>
            <p:nvPr/>
          </p:nvSpPr>
          <p:spPr bwMode="auto">
            <a:xfrm>
              <a:off x="1440" y="384"/>
              <a:ext cx="0" cy="3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0" name="Rectangle 6"/>
            <p:cNvSpPr>
              <a:spLocks noChangeArrowheads="1"/>
            </p:cNvSpPr>
            <p:nvPr/>
          </p:nvSpPr>
          <p:spPr bwMode="auto">
            <a:xfrm>
              <a:off x="864" y="720"/>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SC.Cno=’2’</a:t>
              </a:r>
              <a:r>
                <a:rPr kumimoji="0" lang="en-US" altLang="zh-CN" sz="2400" dirty="0"/>
                <a:t> </a:t>
              </a:r>
            </a:p>
          </p:txBody>
        </p:sp>
        <p:sp>
          <p:nvSpPr>
            <p:cNvPr id="31" name="Line 7"/>
            <p:cNvSpPr>
              <a:spLocks noChangeShapeType="1"/>
            </p:cNvSpPr>
            <p:nvPr/>
          </p:nvSpPr>
          <p:spPr bwMode="auto">
            <a:xfrm>
              <a:off x="1440" y="1056"/>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2" name="Rectangle 8"/>
            <p:cNvSpPr>
              <a:spLocks noChangeArrowheads="1"/>
            </p:cNvSpPr>
            <p:nvPr/>
          </p:nvSpPr>
          <p:spPr bwMode="auto">
            <a:xfrm>
              <a:off x="768" y="1200"/>
              <a:ext cx="16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Student.Sno=SC.Sno</a:t>
              </a:r>
              <a:r>
                <a:rPr kumimoji="0" lang="en-US" altLang="zh-CN" sz="2400" dirty="0"/>
                <a:t> </a:t>
              </a:r>
            </a:p>
          </p:txBody>
        </p:sp>
        <p:sp>
          <p:nvSpPr>
            <p:cNvPr id="33" name="Rectangle 9"/>
            <p:cNvSpPr>
              <a:spLocks noChangeArrowheads="1"/>
            </p:cNvSpPr>
            <p:nvPr/>
          </p:nvSpPr>
          <p:spPr bwMode="auto">
            <a:xfrm>
              <a:off x="1200" y="1776"/>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34" name="Rectangle 10"/>
            <p:cNvSpPr>
              <a:spLocks noChangeArrowheads="1"/>
            </p:cNvSpPr>
            <p:nvPr/>
          </p:nvSpPr>
          <p:spPr bwMode="auto">
            <a:xfrm>
              <a:off x="0" y="2304"/>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Student</a:t>
              </a:r>
              <a:endParaRPr kumimoji="0" lang="en-US" altLang="zh-CN" sz="2400" b="0"/>
            </a:p>
          </p:txBody>
        </p:sp>
        <p:sp>
          <p:nvSpPr>
            <p:cNvPr id="35" name="Rectangle 11"/>
            <p:cNvSpPr>
              <a:spLocks noChangeArrowheads="1"/>
            </p:cNvSpPr>
            <p:nvPr/>
          </p:nvSpPr>
          <p:spPr bwMode="auto">
            <a:xfrm>
              <a:off x="2400" y="2304"/>
              <a:ext cx="7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SC</a:t>
              </a:r>
            </a:p>
          </p:txBody>
        </p:sp>
        <p:sp>
          <p:nvSpPr>
            <p:cNvPr id="36" name="Line 12"/>
            <p:cNvSpPr>
              <a:spLocks noChangeShapeType="1"/>
            </p:cNvSpPr>
            <p:nvPr/>
          </p:nvSpPr>
          <p:spPr bwMode="auto">
            <a:xfrm>
              <a:off x="1440" y="1632"/>
              <a:ext cx="0"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7" name="Line 13"/>
            <p:cNvSpPr>
              <a:spLocks noChangeShapeType="1"/>
            </p:cNvSpPr>
            <p:nvPr/>
          </p:nvSpPr>
          <p:spPr bwMode="auto">
            <a:xfrm flipH="1">
              <a:off x="432" y="2016"/>
              <a:ext cx="864"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8" name="Line 14"/>
            <p:cNvSpPr>
              <a:spLocks noChangeShapeType="1"/>
            </p:cNvSpPr>
            <p:nvPr/>
          </p:nvSpPr>
          <p:spPr bwMode="auto">
            <a:xfrm>
              <a:off x="1680" y="2016"/>
              <a:ext cx="864" cy="28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9" name="矩形 18"/>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t>38</a:t>
            </a:fld>
            <a:endParaRPr lang="en-US" altLang="zh-CN"/>
          </a:p>
        </p:txBody>
      </p:sp>
      <p:sp>
        <p:nvSpPr>
          <p:cNvPr id="3" name="内容占位符 2"/>
          <p:cNvSpPr>
            <a:spLocks noGrp="1"/>
          </p:cNvSpPr>
          <p:nvPr>
            <p:ph idx="1"/>
          </p:nvPr>
        </p:nvSpPr>
        <p:spPr>
          <a:xfrm>
            <a:off x="323528" y="1570038"/>
            <a:ext cx="8229600" cy="485725"/>
          </a:xfrm>
        </p:spPr>
        <p:txBody>
          <a:bodyPr/>
          <a:lstStyle/>
          <a:p>
            <a:r>
              <a:rPr lang="zh-CN" altLang="en-US" dirty="0"/>
              <a:t>（</a:t>
            </a:r>
            <a:r>
              <a:rPr lang="en-US" altLang="zh-CN" dirty="0"/>
              <a:t>4</a:t>
            </a:r>
            <a:r>
              <a:rPr lang="zh-CN" altLang="en-US" dirty="0"/>
              <a:t>）选择下移</a:t>
            </a:r>
          </a:p>
        </p:txBody>
      </p:sp>
      <p:grpSp>
        <p:nvGrpSpPr>
          <p:cNvPr id="19" name="组合 18"/>
          <p:cNvGrpSpPr/>
          <p:nvPr/>
        </p:nvGrpSpPr>
        <p:grpSpPr>
          <a:xfrm>
            <a:off x="2444689" y="1828800"/>
            <a:ext cx="4870511" cy="4585320"/>
            <a:chOff x="2444689" y="1828800"/>
            <a:chExt cx="4870511" cy="4585320"/>
          </a:xfrm>
        </p:grpSpPr>
        <p:sp>
          <p:nvSpPr>
            <p:cNvPr id="20" name="Rectangle 4"/>
            <p:cNvSpPr>
              <a:spLocks noChangeArrowheads="1"/>
            </p:cNvSpPr>
            <p:nvPr/>
          </p:nvSpPr>
          <p:spPr bwMode="auto">
            <a:xfrm>
              <a:off x="3657600" y="1828800"/>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21" name="Rectangle 6"/>
            <p:cNvSpPr>
              <a:spLocks noChangeArrowheads="1"/>
            </p:cNvSpPr>
            <p:nvPr/>
          </p:nvSpPr>
          <p:spPr bwMode="auto">
            <a:xfrm>
              <a:off x="5181600" y="48006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22" name="Rectangle 8"/>
            <p:cNvSpPr>
              <a:spLocks noChangeArrowheads="1"/>
            </p:cNvSpPr>
            <p:nvPr/>
          </p:nvSpPr>
          <p:spPr bwMode="auto">
            <a:xfrm>
              <a:off x="3276600" y="3061320"/>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Student.Sno</a:t>
              </a:r>
              <a:r>
                <a:rPr kumimoji="0" lang="en-US" altLang="zh-CN" sz="2800" baseline="-30000" dirty="0"/>
                <a:t>=</a:t>
              </a:r>
              <a:r>
                <a:rPr kumimoji="0" lang="en-US" altLang="zh-CN" sz="2800" baseline="-30000" dirty="0" err="1"/>
                <a:t>SC.Sno</a:t>
              </a:r>
              <a:r>
                <a:rPr kumimoji="0" lang="en-US" altLang="zh-CN" sz="2400" dirty="0"/>
                <a:t> </a:t>
              </a:r>
            </a:p>
          </p:txBody>
        </p:sp>
        <p:sp>
          <p:nvSpPr>
            <p:cNvPr id="23" name="Rectangle 9"/>
            <p:cNvSpPr>
              <a:spLocks noChangeArrowheads="1"/>
            </p:cNvSpPr>
            <p:nvPr/>
          </p:nvSpPr>
          <p:spPr bwMode="auto">
            <a:xfrm>
              <a:off x="3962400" y="3975720"/>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a:t>
              </a:r>
              <a:r>
                <a:rPr kumimoji="0" lang="en-US" altLang="zh-CN" sz="2400" b="0" dirty="0"/>
                <a:t> </a:t>
              </a:r>
            </a:p>
          </p:txBody>
        </p:sp>
        <p:sp>
          <p:nvSpPr>
            <p:cNvPr id="24" name="Rectangle 10"/>
            <p:cNvSpPr>
              <a:spLocks noChangeArrowheads="1"/>
            </p:cNvSpPr>
            <p:nvPr/>
          </p:nvSpPr>
          <p:spPr bwMode="auto">
            <a:xfrm>
              <a:off x="2444689" y="517461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25" name="Rectangle 11"/>
            <p:cNvSpPr>
              <a:spLocks noChangeArrowheads="1"/>
            </p:cNvSpPr>
            <p:nvPr/>
          </p:nvSpPr>
          <p:spPr bwMode="auto">
            <a:xfrm>
              <a:off x="5683188" y="5804520"/>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26" name="Line 12"/>
            <p:cNvSpPr>
              <a:spLocks noChangeShapeType="1"/>
            </p:cNvSpPr>
            <p:nvPr/>
          </p:nvSpPr>
          <p:spPr bwMode="auto">
            <a:xfrm>
              <a:off x="4343400" y="3747120"/>
              <a:ext cx="0" cy="3048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7" name="Line 13"/>
            <p:cNvSpPr>
              <a:spLocks noChangeShapeType="1"/>
            </p:cNvSpPr>
            <p:nvPr/>
          </p:nvSpPr>
          <p:spPr bwMode="auto">
            <a:xfrm flipH="1">
              <a:off x="3048000" y="4513513"/>
              <a:ext cx="1181100" cy="6096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8" name="Line 14"/>
            <p:cNvSpPr>
              <a:spLocks noChangeShapeType="1"/>
            </p:cNvSpPr>
            <p:nvPr/>
          </p:nvSpPr>
          <p:spPr bwMode="auto">
            <a:xfrm>
              <a:off x="4495800" y="4509120"/>
              <a:ext cx="1371600" cy="4572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9" name="Line 12"/>
            <p:cNvSpPr>
              <a:spLocks noChangeShapeType="1"/>
            </p:cNvSpPr>
            <p:nvPr/>
          </p:nvSpPr>
          <p:spPr bwMode="auto">
            <a:xfrm flipH="1">
              <a:off x="4343400" y="2764160"/>
              <a:ext cx="12576" cy="52576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9" name="Line 12"/>
            <p:cNvSpPr>
              <a:spLocks noChangeShapeType="1"/>
            </p:cNvSpPr>
            <p:nvPr/>
          </p:nvSpPr>
          <p:spPr bwMode="auto">
            <a:xfrm flipH="1">
              <a:off x="6242112" y="5410200"/>
              <a:ext cx="12576" cy="52576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7" name="矩形 16"/>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t>39</a:t>
            </a:fld>
            <a:endParaRPr lang="en-US" altLang="zh-CN"/>
          </a:p>
        </p:txBody>
      </p:sp>
      <p:sp>
        <p:nvSpPr>
          <p:cNvPr id="3" name="内容占位符 2"/>
          <p:cNvSpPr>
            <a:spLocks noGrp="1"/>
          </p:cNvSpPr>
          <p:nvPr>
            <p:ph idx="1"/>
          </p:nvPr>
        </p:nvSpPr>
        <p:spPr>
          <a:xfrm>
            <a:off x="323528" y="1570038"/>
            <a:ext cx="8229600" cy="485725"/>
          </a:xfrm>
        </p:spPr>
        <p:txBody>
          <a:bodyPr/>
          <a:lstStyle/>
          <a:p>
            <a:r>
              <a:rPr lang="zh-CN" altLang="en-US" dirty="0">
                <a:solidFill>
                  <a:srgbClr val="FF0000"/>
                </a:solidFill>
              </a:rPr>
              <a:t>（</a:t>
            </a:r>
            <a:r>
              <a:rPr lang="en-US" altLang="zh-CN" dirty="0">
                <a:solidFill>
                  <a:srgbClr val="FF0000"/>
                </a:solidFill>
              </a:rPr>
              <a:t>5</a:t>
            </a:r>
            <a:r>
              <a:rPr lang="zh-CN" altLang="en-US" dirty="0">
                <a:solidFill>
                  <a:srgbClr val="FF0000"/>
                </a:solidFill>
              </a:rPr>
              <a:t>）投影下移</a:t>
            </a:r>
          </a:p>
        </p:txBody>
      </p:sp>
      <p:grpSp>
        <p:nvGrpSpPr>
          <p:cNvPr id="17" name="组合 16"/>
          <p:cNvGrpSpPr/>
          <p:nvPr/>
        </p:nvGrpSpPr>
        <p:grpSpPr>
          <a:xfrm>
            <a:off x="2289448" y="1412776"/>
            <a:ext cx="5025752" cy="5105852"/>
            <a:chOff x="2289448" y="1412776"/>
            <a:chExt cx="5025752" cy="5105852"/>
          </a:xfrm>
        </p:grpSpPr>
        <p:sp>
          <p:nvSpPr>
            <p:cNvPr id="18" name="Rectangle 4"/>
            <p:cNvSpPr>
              <a:spLocks noChangeArrowheads="1"/>
            </p:cNvSpPr>
            <p:nvPr/>
          </p:nvSpPr>
          <p:spPr bwMode="auto">
            <a:xfrm>
              <a:off x="3657600" y="141277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a:solidFill>
                    <a:srgbClr val="FF0000"/>
                  </a:solidFill>
                </a:rPr>
                <a:t>Sname</a:t>
              </a:r>
              <a:r>
                <a:rPr kumimoji="0" lang="en-US" altLang="zh-CN" sz="2400" dirty="0"/>
                <a:t> </a:t>
              </a:r>
              <a:endParaRPr kumimoji="0" lang="en-US" altLang="zh-CN" sz="2400" b="0" dirty="0"/>
            </a:p>
          </p:txBody>
        </p:sp>
        <p:sp>
          <p:nvSpPr>
            <p:cNvPr id="30" name="Rectangle 6"/>
            <p:cNvSpPr>
              <a:spLocks noChangeArrowheads="1"/>
            </p:cNvSpPr>
            <p:nvPr/>
          </p:nvSpPr>
          <p:spPr bwMode="auto">
            <a:xfrm>
              <a:off x="5181600" y="4555976"/>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31" name="Rectangle 8"/>
            <p:cNvSpPr>
              <a:spLocks noChangeArrowheads="1"/>
            </p:cNvSpPr>
            <p:nvPr/>
          </p:nvSpPr>
          <p:spPr bwMode="auto">
            <a:xfrm>
              <a:off x="3276600" y="2645296"/>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Student.Sno</a:t>
              </a:r>
              <a:r>
                <a:rPr kumimoji="0" lang="en-US" altLang="zh-CN" sz="2800" baseline="-30000" dirty="0"/>
                <a:t>=</a:t>
              </a:r>
              <a:r>
                <a:rPr kumimoji="0" lang="en-US" altLang="zh-CN" sz="2800" baseline="-30000" dirty="0" err="1"/>
                <a:t>SC.Sno</a:t>
              </a:r>
              <a:r>
                <a:rPr kumimoji="0" lang="en-US" altLang="zh-CN" sz="2400" dirty="0"/>
                <a:t> </a:t>
              </a:r>
            </a:p>
          </p:txBody>
        </p:sp>
        <p:sp>
          <p:nvSpPr>
            <p:cNvPr id="32" name="Rectangle 9"/>
            <p:cNvSpPr>
              <a:spLocks noChangeArrowheads="1"/>
            </p:cNvSpPr>
            <p:nvPr/>
          </p:nvSpPr>
          <p:spPr bwMode="auto">
            <a:xfrm>
              <a:off x="3962400" y="35596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33" name="Rectangle 10"/>
            <p:cNvSpPr>
              <a:spLocks noChangeArrowheads="1"/>
            </p:cNvSpPr>
            <p:nvPr/>
          </p:nvSpPr>
          <p:spPr bwMode="auto">
            <a:xfrm>
              <a:off x="2289448" y="55598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34" name="Rectangle 11"/>
            <p:cNvSpPr>
              <a:spLocks noChangeArrowheads="1"/>
            </p:cNvSpPr>
            <p:nvPr/>
          </p:nvSpPr>
          <p:spPr bwMode="auto">
            <a:xfrm>
              <a:off x="5670612" y="5909028"/>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35" name="Line 12"/>
            <p:cNvSpPr>
              <a:spLocks noChangeShapeType="1"/>
            </p:cNvSpPr>
            <p:nvPr/>
          </p:nvSpPr>
          <p:spPr bwMode="auto">
            <a:xfrm>
              <a:off x="4343400" y="3331096"/>
              <a:ext cx="0" cy="3048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6" name="Line 13"/>
            <p:cNvSpPr>
              <a:spLocks noChangeShapeType="1"/>
            </p:cNvSpPr>
            <p:nvPr/>
          </p:nvSpPr>
          <p:spPr bwMode="auto">
            <a:xfrm flipH="1">
              <a:off x="3048000" y="4097489"/>
              <a:ext cx="1181100" cy="6096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7" name="Line 14"/>
            <p:cNvSpPr>
              <a:spLocks noChangeShapeType="1"/>
            </p:cNvSpPr>
            <p:nvPr/>
          </p:nvSpPr>
          <p:spPr bwMode="auto">
            <a:xfrm>
              <a:off x="4495800" y="4093096"/>
              <a:ext cx="1174812" cy="14567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8" name="Line 12"/>
            <p:cNvSpPr>
              <a:spLocks noChangeShapeType="1"/>
            </p:cNvSpPr>
            <p:nvPr/>
          </p:nvSpPr>
          <p:spPr bwMode="auto">
            <a:xfrm flipH="1">
              <a:off x="4343400" y="2348136"/>
              <a:ext cx="12576" cy="52576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0" name="Line 12"/>
            <p:cNvSpPr>
              <a:spLocks noChangeShapeType="1"/>
            </p:cNvSpPr>
            <p:nvPr/>
          </p:nvSpPr>
          <p:spPr bwMode="auto">
            <a:xfrm flipH="1">
              <a:off x="6228184" y="5121796"/>
              <a:ext cx="0" cy="36626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1" name="Rectangle 4"/>
            <p:cNvSpPr>
              <a:spLocks noChangeArrowheads="1"/>
            </p:cNvSpPr>
            <p:nvPr/>
          </p:nvSpPr>
          <p:spPr bwMode="auto">
            <a:xfrm>
              <a:off x="2339752" y="4415408"/>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baseline="-30000" dirty="0" err="1">
                  <a:solidFill>
                    <a:srgbClr val="FF0000"/>
                  </a:solidFill>
                </a:rPr>
                <a:t>sno</a:t>
              </a:r>
              <a:r>
                <a:rPr kumimoji="0" lang="en-US" altLang="zh-CN" sz="2400" dirty="0"/>
                <a:t> </a:t>
              </a:r>
              <a:endParaRPr kumimoji="0" lang="en-US" altLang="zh-CN" sz="2400" b="0" dirty="0"/>
            </a:p>
          </p:txBody>
        </p:sp>
        <p:sp>
          <p:nvSpPr>
            <p:cNvPr id="42" name="Rectangle 4"/>
            <p:cNvSpPr>
              <a:spLocks noChangeArrowheads="1"/>
            </p:cNvSpPr>
            <p:nvPr/>
          </p:nvSpPr>
          <p:spPr bwMode="auto">
            <a:xfrm>
              <a:off x="5537801" y="5184216"/>
              <a:ext cx="1598374" cy="60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t"/>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solidFill>
                    <a:srgbClr val="FF0000"/>
                  </a:solidFill>
                </a:rPr>
                <a:t>Cno</a:t>
              </a:r>
              <a:r>
                <a:rPr kumimoji="0" lang="en-US" altLang="zh-CN" baseline="-30000" dirty="0" err="1"/>
                <a:t>,sno</a:t>
              </a:r>
              <a:r>
                <a:rPr kumimoji="0" lang="en-US" altLang="zh-CN" sz="2400" dirty="0"/>
                <a:t> </a:t>
              </a:r>
              <a:endParaRPr kumimoji="0" lang="en-US" altLang="zh-CN" sz="2400" b="0" dirty="0"/>
            </a:p>
          </p:txBody>
        </p:sp>
        <p:sp>
          <p:nvSpPr>
            <p:cNvPr id="43" name="Line 12"/>
            <p:cNvSpPr>
              <a:spLocks noChangeShapeType="1"/>
            </p:cNvSpPr>
            <p:nvPr/>
          </p:nvSpPr>
          <p:spPr bwMode="auto">
            <a:xfrm flipH="1">
              <a:off x="6228184" y="5818459"/>
              <a:ext cx="0" cy="25412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4" name="Rectangle 4"/>
            <p:cNvSpPr>
              <a:spLocks noChangeArrowheads="1"/>
            </p:cNvSpPr>
            <p:nvPr/>
          </p:nvSpPr>
          <p:spPr bwMode="auto">
            <a:xfrm>
              <a:off x="5664373" y="4127376"/>
              <a:ext cx="1475681"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45" name="Line 12"/>
            <p:cNvSpPr>
              <a:spLocks noChangeShapeType="1"/>
            </p:cNvSpPr>
            <p:nvPr/>
          </p:nvSpPr>
          <p:spPr bwMode="auto">
            <a:xfrm flipH="1">
              <a:off x="6228184" y="4509120"/>
              <a:ext cx="0" cy="25412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6" name="Line 12"/>
            <p:cNvSpPr>
              <a:spLocks noChangeShapeType="1"/>
            </p:cNvSpPr>
            <p:nvPr/>
          </p:nvSpPr>
          <p:spPr bwMode="auto">
            <a:xfrm flipH="1">
              <a:off x="2770507" y="5085184"/>
              <a:ext cx="1293" cy="47471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23" name="矩形 22"/>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t>40</a:t>
            </a:fld>
            <a:endParaRPr lang="en-US" altLang="zh-CN"/>
          </a:p>
        </p:txBody>
      </p:sp>
      <p:sp>
        <p:nvSpPr>
          <p:cNvPr id="3" name="内容占位符 2"/>
          <p:cNvSpPr>
            <a:spLocks noGrp="1"/>
          </p:cNvSpPr>
          <p:nvPr>
            <p:ph idx="1"/>
          </p:nvPr>
        </p:nvSpPr>
        <p:spPr>
          <a:xfrm>
            <a:off x="323528" y="1570038"/>
            <a:ext cx="8229600" cy="485725"/>
          </a:xfrm>
        </p:spPr>
        <p:txBody>
          <a:bodyPr/>
          <a:lstStyle/>
          <a:p>
            <a:r>
              <a:rPr lang="zh-CN" altLang="en-US" dirty="0">
                <a:solidFill>
                  <a:srgbClr val="FF0000"/>
                </a:solidFill>
              </a:rPr>
              <a:t>（</a:t>
            </a:r>
            <a:r>
              <a:rPr lang="en-US" altLang="zh-CN" dirty="0">
                <a:solidFill>
                  <a:srgbClr val="FF0000"/>
                </a:solidFill>
              </a:rPr>
              <a:t>6</a:t>
            </a:r>
            <a:r>
              <a:rPr lang="zh-CN" altLang="en-US" dirty="0">
                <a:solidFill>
                  <a:srgbClr val="FF0000"/>
                </a:solidFill>
              </a:rPr>
              <a:t>）串接合并与分组</a:t>
            </a:r>
          </a:p>
        </p:txBody>
      </p:sp>
      <p:grpSp>
        <p:nvGrpSpPr>
          <p:cNvPr id="23" name="组合 22"/>
          <p:cNvGrpSpPr/>
          <p:nvPr/>
        </p:nvGrpSpPr>
        <p:grpSpPr>
          <a:xfrm>
            <a:off x="2267744" y="1685638"/>
            <a:ext cx="5025752" cy="4680520"/>
            <a:chOff x="2289448" y="1412776"/>
            <a:chExt cx="5025752" cy="4680520"/>
          </a:xfrm>
        </p:grpSpPr>
        <p:sp>
          <p:nvSpPr>
            <p:cNvPr id="24" name="Rectangle 4"/>
            <p:cNvSpPr>
              <a:spLocks noChangeArrowheads="1"/>
            </p:cNvSpPr>
            <p:nvPr/>
          </p:nvSpPr>
          <p:spPr bwMode="auto">
            <a:xfrm>
              <a:off x="3657600" y="141277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25" name="Rectangle 6"/>
            <p:cNvSpPr>
              <a:spLocks noChangeArrowheads="1"/>
            </p:cNvSpPr>
            <p:nvPr/>
          </p:nvSpPr>
          <p:spPr bwMode="auto">
            <a:xfrm>
              <a:off x="5181600" y="4555976"/>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26" name="Rectangle 8"/>
            <p:cNvSpPr>
              <a:spLocks noChangeArrowheads="1"/>
            </p:cNvSpPr>
            <p:nvPr/>
          </p:nvSpPr>
          <p:spPr bwMode="auto">
            <a:xfrm>
              <a:off x="3276600" y="2645296"/>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Student.Sno</a:t>
              </a:r>
              <a:r>
                <a:rPr kumimoji="0" lang="en-US" altLang="zh-CN" sz="2800" baseline="-30000" dirty="0"/>
                <a:t>=</a:t>
              </a:r>
              <a:r>
                <a:rPr kumimoji="0" lang="en-US" altLang="zh-CN" sz="2800" baseline="-30000" dirty="0" err="1"/>
                <a:t>SC.Sno</a:t>
              </a:r>
              <a:r>
                <a:rPr kumimoji="0" lang="en-US" altLang="zh-CN" sz="2400" dirty="0"/>
                <a:t> </a:t>
              </a:r>
            </a:p>
          </p:txBody>
        </p:sp>
        <p:sp>
          <p:nvSpPr>
            <p:cNvPr id="27" name="Rectangle 9"/>
            <p:cNvSpPr>
              <a:spLocks noChangeArrowheads="1"/>
            </p:cNvSpPr>
            <p:nvPr/>
          </p:nvSpPr>
          <p:spPr bwMode="auto">
            <a:xfrm>
              <a:off x="3962400" y="35596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a:t>
              </a:r>
              <a:r>
                <a:rPr kumimoji="0" lang="en-US" altLang="zh-CN" sz="2400" b="0" dirty="0"/>
                <a:t> </a:t>
              </a:r>
            </a:p>
          </p:txBody>
        </p:sp>
        <p:sp>
          <p:nvSpPr>
            <p:cNvPr id="28" name="Rectangle 10"/>
            <p:cNvSpPr>
              <a:spLocks noChangeArrowheads="1"/>
            </p:cNvSpPr>
            <p:nvPr/>
          </p:nvSpPr>
          <p:spPr bwMode="auto">
            <a:xfrm>
              <a:off x="2289448" y="55598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29" name="Rectangle 11"/>
            <p:cNvSpPr>
              <a:spLocks noChangeArrowheads="1"/>
            </p:cNvSpPr>
            <p:nvPr/>
          </p:nvSpPr>
          <p:spPr bwMode="auto">
            <a:xfrm>
              <a:off x="5670612" y="5391777"/>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39" name="Line 12"/>
            <p:cNvSpPr>
              <a:spLocks noChangeShapeType="1"/>
            </p:cNvSpPr>
            <p:nvPr/>
          </p:nvSpPr>
          <p:spPr bwMode="auto">
            <a:xfrm>
              <a:off x="4343400" y="3331096"/>
              <a:ext cx="0" cy="3048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7" name="Line 13"/>
            <p:cNvSpPr>
              <a:spLocks noChangeShapeType="1"/>
            </p:cNvSpPr>
            <p:nvPr/>
          </p:nvSpPr>
          <p:spPr bwMode="auto">
            <a:xfrm flipH="1">
              <a:off x="3048000" y="4097489"/>
              <a:ext cx="1181100" cy="6096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8" name="Line 14"/>
            <p:cNvSpPr>
              <a:spLocks noChangeShapeType="1"/>
            </p:cNvSpPr>
            <p:nvPr/>
          </p:nvSpPr>
          <p:spPr bwMode="auto">
            <a:xfrm>
              <a:off x="4495800" y="4093096"/>
              <a:ext cx="1174812" cy="14567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9" name="Line 12"/>
            <p:cNvSpPr>
              <a:spLocks noChangeShapeType="1"/>
            </p:cNvSpPr>
            <p:nvPr/>
          </p:nvSpPr>
          <p:spPr bwMode="auto">
            <a:xfrm flipH="1">
              <a:off x="4343400" y="2348136"/>
              <a:ext cx="12576" cy="52576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0" name="Rectangle 4"/>
            <p:cNvSpPr>
              <a:spLocks noChangeArrowheads="1"/>
            </p:cNvSpPr>
            <p:nvPr/>
          </p:nvSpPr>
          <p:spPr bwMode="auto">
            <a:xfrm>
              <a:off x="2339752" y="4415408"/>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Sname,sno</a:t>
              </a:r>
              <a:r>
                <a:rPr kumimoji="0" lang="en-US" altLang="zh-CN" sz="2400" dirty="0"/>
                <a:t> </a:t>
              </a:r>
              <a:endParaRPr kumimoji="0" lang="en-US" altLang="zh-CN" sz="2400" b="0" dirty="0"/>
            </a:p>
          </p:txBody>
        </p:sp>
        <p:sp>
          <p:nvSpPr>
            <p:cNvPr id="51" name="Line 12"/>
            <p:cNvSpPr>
              <a:spLocks noChangeShapeType="1"/>
            </p:cNvSpPr>
            <p:nvPr/>
          </p:nvSpPr>
          <p:spPr bwMode="auto">
            <a:xfrm flipH="1">
              <a:off x="6228184" y="5301208"/>
              <a:ext cx="0" cy="25412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2" name="Rectangle 4"/>
            <p:cNvSpPr>
              <a:spLocks noChangeArrowheads="1"/>
            </p:cNvSpPr>
            <p:nvPr/>
          </p:nvSpPr>
          <p:spPr bwMode="auto">
            <a:xfrm>
              <a:off x="5580112" y="4221088"/>
              <a:ext cx="1475681" cy="1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53" name="Line 12"/>
            <p:cNvSpPr>
              <a:spLocks noChangeShapeType="1"/>
            </p:cNvSpPr>
            <p:nvPr/>
          </p:nvSpPr>
          <p:spPr bwMode="auto">
            <a:xfrm flipH="1">
              <a:off x="6228184" y="4605054"/>
              <a:ext cx="0" cy="20726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4" name="Line 12"/>
            <p:cNvSpPr>
              <a:spLocks noChangeShapeType="1"/>
            </p:cNvSpPr>
            <p:nvPr/>
          </p:nvSpPr>
          <p:spPr bwMode="auto">
            <a:xfrm flipH="1">
              <a:off x="2770507" y="5085184"/>
              <a:ext cx="1293" cy="47471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21" name="矩形 20"/>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t>41</a:t>
            </a:fld>
            <a:endParaRPr lang="en-US" altLang="zh-CN"/>
          </a:p>
        </p:txBody>
      </p:sp>
      <p:sp>
        <p:nvSpPr>
          <p:cNvPr id="3" name="内容占位符 2"/>
          <p:cNvSpPr>
            <a:spLocks noGrp="1"/>
          </p:cNvSpPr>
          <p:nvPr>
            <p:ph idx="1"/>
          </p:nvPr>
        </p:nvSpPr>
        <p:spPr>
          <a:xfrm>
            <a:off x="323528" y="1570038"/>
            <a:ext cx="8229600" cy="485725"/>
          </a:xfrm>
        </p:spPr>
        <p:txBody>
          <a:bodyPr/>
          <a:lstStyle/>
          <a:p>
            <a:r>
              <a:rPr lang="zh-CN" altLang="en-US" dirty="0">
                <a:solidFill>
                  <a:srgbClr val="FF0000"/>
                </a:solidFill>
              </a:rPr>
              <a:t>（</a:t>
            </a:r>
            <a:r>
              <a:rPr lang="en-US" altLang="zh-CN" dirty="0">
                <a:solidFill>
                  <a:srgbClr val="FF0000"/>
                </a:solidFill>
              </a:rPr>
              <a:t>6</a:t>
            </a:r>
            <a:r>
              <a:rPr lang="zh-CN" altLang="en-US" dirty="0">
                <a:solidFill>
                  <a:srgbClr val="FF0000"/>
                </a:solidFill>
              </a:rPr>
              <a:t>）串接合并与分组</a:t>
            </a:r>
          </a:p>
        </p:txBody>
      </p:sp>
      <p:grpSp>
        <p:nvGrpSpPr>
          <p:cNvPr id="21" name="组合 20"/>
          <p:cNvGrpSpPr/>
          <p:nvPr/>
        </p:nvGrpSpPr>
        <p:grpSpPr>
          <a:xfrm>
            <a:off x="1475656" y="1700808"/>
            <a:ext cx="7056784" cy="5105852"/>
            <a:chOff x="1475656" y="1707524"/>
            <a:chExt cx="7056784" cy="5105852"/>
          </a:xfrm>
        </p:grpSpPr>
        <p:sp>
          <p:nvSpPr>
            <p:cNvPr id="22" name="Rectangle 4"/>
            <p:cNvSpPr>
              <a:spLocks noChangeArrowheads="1"/>
            </p:cNvSpPr>
            <p:nvPr/>
          </p:nvSpPr>
          <p:spPr bwMode="auto">
            <a:xfrm>
              <a:off x="3657600" y="1707524"/>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30" name="Rectangle 6"/>
            <p:cNvSpPr>
              <a:spLocks noChangeArrowheads="1"/>
            </p:cNvSpPr>
            <p:nvPr/>
          </p:nvSpPr>
          <p:spPr bwMode="auto">
            <a:xfrm>
              <a:off x="5181600" y="4850724"/>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31" name="Rectangle 8"/>
            <p:cNvSpPr>
              <a:spLocks noChangeArrowheads="1"/>
            </p:cNvSpPr>
            <p:nvPr/>
          </p:nvSpPr>
          <p:spPr bwMode="auto">
            <a:xfrm>
              <a:off x="3276600" y="2940044"/>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Student.Sno</a:t>
              </a:r>
              <a:r>
                <a:rPr kumimoji="0" lang="en-US" altLang="zh-CN" sz="2800" baseline="-30000" dirty="0"/>
                <a:t>=</a:t>
              </a:r>
              <a:r>
                <a:rPr kumimoji="0" lang="en-US" altLang="zh-CN" sz="2800" baseline="-30000" dirty="0" err="1"/>
                <a:t>SC.Sno</a:t>
              </a:r>
              <a:r>
                <a:rPr kumimoji="0" lang="en-US" altLang="zh-CN" sz="2400" dirty="0"/>
                <a:t> </a:t>
              </a:r>
            </a:p>
          </p:txBody>
        </p:sp>
        <p:sp>
          <p:nvSpPr>
            <p:cNvPr id="32" name="Rectangle 9"/>
            <p:cNvSpPr>
              <a:spLocks noChangeArrowheads="1"/>
            </p:cNvSpPr>
            <p:nvPr/>
          </p:nvSpPr>
          <p:spPr bwMode="auto">
            <a:xfrm>
              <a:off x="3962400" y="3854444"/>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33" name="Rectangle 10"/>
            <p:cNvSpPr>
              <a:spLocks noChangeArrowheads="1"/>
            </p:cNvSpPr>
            <p:nvPr/>
          </p:nvSpPr>
          <p:spPr bwMode="auto">
            <a:xfrm>
              <a:off x="2289448" y="5854644"/>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34" name="Rectangle 11"/>
            <p:cNvSpPr>
              <a:spLocks noChangeArrowheads="1"/>
            </p:cNvSpPr>
            <p:nvPr/>
          </p:nvSpPr>
          <p:spPr bwMode="auto">
            <a:xfrm>
              <a:off x="5670612" y="6203776"/>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35" name="Line 12"/>
            <p:cNvSpPr>
              <a:spLocks noChangeShapeType="1"/>
            </p:cNvSpPr>
            <p:nvPr/>
          </p:nvSpPr>
          <p:spPr bwMode="auto">
            <a:xfrm>
              <a:off x="4343400" y="3625844"/>
              <a:ext cx="0" cy="3048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6" name="Line 13"/>
            <p:cNvSpPr>
              <a:spLocks noChangeShapeType="1"/>
            </p:cNvSpPr>
            <p:nvPr/>
          </p:nvSpPr>
          <p:spPr bwMode="auto">
            <a:xfrm flipH="1">
              <a:off x="3048000" y="4392237"/>
              <a:ext cx="1181100" cy="6096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7" name="Line 14"/>
            <p:cNvSpPr>
              <a:spLocks noChangeShapeType="1"/>
            </p:cNvSpPr>
            <p:nvPr/>
          </p:nvSpPr>
          <p:spPr bwMode="auto">
            <a:xfrm>
              <a:off x="4495800" y="4387844"/>
              <a:ext cx="1174812" cy="14567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8" name="Line 12"/>
            <p:cNvSpPr>
              <a:spLocks noChangeShapeType="1"/>
            </p:cNvSpPr>
            <p:nvPr/>
          </p:nvSpPr>
          <p:spPr bwMode="auto">
            <a:xfrm flipH="1">
              <a:off x="4343400" y="2642884"/>
              <a:ext cx="12576" cy="52576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0" name="Line 12"/>
            <p:cNvSpPr>
              <a:spLocks noChangeShapeType="1"/>
            </p:cNvSpPr>
            <p:nvPr/>
          </p:nvSpPr>
          <p:spPr bwMode="auto">
            <a:xfrm flipH="1">
              <a:off x="6228184" y="5416543"/>
              <a:ext cx="0" cy="78272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1" name="Rectangle 4"/>
            <p:cNvSpPr>
              <a:spLocks noChangeArrowheads="1"/>
            </p:cNvSpPr>
            <p:nvPr/>
          </p:nvSpPr>
          <p:spPr bwMode="auto">
            <a:xfrm>
              <a:off x="2339752" y="471015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Sname,sno</a:t>
              </a:r>
              <a:r>
                <a:rPr kumimoji="0" lang="en-US" altLang="zh-CN" sz="2400" dirty="0"/>
                <a:t> </a:t>
              </a:r>
              <a:endParaRPr kumimoji="0" lang="en-US" altLang="zh-CN" sz="2400" b="0" dirty="0"/>
            </a:p>
          </p:txBody>
        </p:sp>
        <p:sp>
          <p:nvSpPr>
            <p:cNvPr id="42" name="Rectangle 4"/>
            <p:cNvSpPr>
              <a:spLocks noChangeArrowheads="1"/>
            </p:cNvSpPr>
            <p:nvPr/>
          </p:nvSpPr>
          <p:spPr bwMode="auto">
            <a:xfrm>
              <a:off x="5580112" y="4515836"/>
              <a:ext cx="1475681" cy="1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43" name="Line 12"/>
            <p:cNvSpPr>
              <a:spLocks noChangeShapeType="1"/>
            </p:cNvSpPr>
            <p:nvPr/>
          </p:nvSpPr>
          <p:spPr bwMode="auto">
            <a:xfrm flipH="1">
              <a:off x="6228184" y="4909784"/>
              <a:ext cx="0" cy="14394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4" name="Line 12"/>
            <p:cNvSpPr>
              <a:spLocks noChangeShapeType="1"/>
            </p:cNvSpPr>
            <p:nvPr/>
          </p:nvSpPr>
          <p:spPr bwMode="auto">
            <a:xfrm flipH="1">
              <a:off x="2770507" y="5379932"/>
              <a:ext cx="1293" cy="47471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5" name="椭圆 44"/>
            <p:cNvSpPr/>
            <p:nvPr/>
          </p:nvSpPr>
          <p:spPr bwMode="auto">
            <a:xfrm>
              <a:off x="1475656" y="2852011"/>
              <a:ext cx="7056784" cy="1555205"/>
            </a:xfrm>
            <a:prstGeom prst="ellipse">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grpSp>
      <p:sp>
        <p:nvSpPr>
          <p:cNvPr id="23" name="矩形 22"/>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t>42</a:t>
            </a:fld>
            <a:endParaRPr lang="en-US" altLang="zh-CN"/>
          </a:p>
        </p:txBody>
      </p:sp>
      <p:sp>
        <p:nvSpPr>
          <p:cNvPr id="3" name="内容占位符 2"/>
          <p:cNvSpPr>
            <a:spLocks noGrp="1"/>
          </p:cNvSpPr>
          <p:nvPr>
            <p:ph idx="1"/>
          </p:nvPr>
        </p:nvSpPr>
        <p:spPr>
          <a:xfrm>
            <a:off x="323528" y="1570038"/>
            <a:ext cx="8229600" cy="485725"/>
          </a:xfrm>
        </p:spPr>
        <p:txBody>
          <a:bodyPr/>
          <a:lstStyle/>
          <a:p>
            <a:r>
              <a:rPr lang="zh-CN" altLang="en-US" dirty="0"/>
              <a:t>（</a:t>
            </a:r>
            <a:r>
              <a:rPr lang="en-US" altLang="zh-CN" dirty="0"/>
              <a:t>7</a:t>
            </a:r>
            <a:r>
              <a:rPr lang="zh-CN" altLang="en-US" dirty="0"/>
              <a:t>）优化后的查询树</a:t>
            </a:r>
          </a:p>
        </p:txBody>
      </p:sp>
      <p:grpSp>
        <p:nvGrpSpPr>
          <p:cNvPr id="19" name="组合 18"/>
          <p:cNvGrpSpPr/>
          <p:nvPr/>
        </p:nvGrpSpPr>
        <p:grpSpPr>
          <a:xfrm>
            <a:off x="2289448" y="1894558"/>
            <a:ext cx="5025752" cy="4493486"/>
            <a:chOff x="2289448" y="1894558"/>
            <a:chExt cx="5025752" cy="4493486"/>
          </a:xfrm>
        </p:grpSpPr>
        <p:sp>
          <p:nvSpPr>
            <p:cNvPr id="20" name="Rectangle 4"/>
            <p:cNvSpPr>
              <a:spLocks noChangeArrowheads="1"/>
            </p:cNvSpPr>
            <p:nvPr/>
          </p:nvSpPr>
          <p:spPr bwMode="auto">
            <a:xfrm>
              <a:off x="3616087" y="1894558"/>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21" name="Rectangle 6"/>
            <p:cNvSpPr>
              <a:spLocks noChangeArrowheads="1"/>
            </p:cNvSpPr>
            <p:nvPr/>
          </p:nvSpPr>
          <p:spPr bwMode="auto">
            <a:xfrm>
              <a:off x="5181600" y="4850724"/>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22" name="Rectangle 10"/>
            <p:cNvSpPr>
              <a:spLocks noChangeArrowheads="1"/>
            </p:cNvSpPr>
            <p:nvPr/>
          </p:nvSpPr>
          <p:spPr bwMode="auto">
            <a:xfrm>
              <a:off x="2289448" y="5854644"/>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23" name="Rectangle 11"/>
            <p:cNvSpPr>
              <a:spLocks noChangeArrowheads="1"/>
            </p:cNvSpPr>
            <p:nvPr/>
          </p:nvSpPr>
          <p:spPr bwMode="auto">
            <a:xfrm>
              <a:off x="5670612" y="5589240"/>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24" name="Line 13"/>
            <p:cNvSpPr>
              <a:spLocks noChangeShapeType="1"/>
            </p:cNvSpPr>
            <p:nvPr/>
          </p:nvSpPr>
          <p:spPr bwMode="auto">
            <a:xfrm flipH="1">
              <a:off x="3048000" y="4392237"/>
              <a:ext cx="1181100" cy="6096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5" name="Line 14"/>
            <p:cNvSpPr>
              <a:spLocks noChangeShapeType="1"/>
            </p:cNvSpPr>
            <p:nvPr/>
          </p:nvSpPr>
          <p:spPr bwMode="auto">
            <a:xfrm>
              <a:off x="4495800" y="4387844"/>
              <a:ext cx="1174812" cy="14567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6" name="Line 12"/>
            <p:cNvSpPr>
              <a:spLocks noChangeShapeType="1"/>
            </p:cNvSpPr>
            <p:nvPr/>
          </p:nvSpPr>
          <p:spPr bwMode="auto">
            <a:xfrm flipH="1">
              <a:off x="4229100" y="2696146"/>
              <a:ext cx="0" cy="109895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7" name="Line 12"/>
            <p:cNvSpPr>
              <a:spLocks noChangeShapeType="1"/>
            </p:cNvSpPr>
            <p:nvPr/>
          </p:nvSpPr>
          <p:spPr bwMode="auto">
            <a:xfrm flipH="1">
              <a:off x="6228184" y="5416544"/>
              <a:ext cx="0" cy="36626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8" name="Rectangle 4"/>
            <p:cNvSpPr>
              <a:spLocks noChangeArrowheads="1"/>
            </p:cNvSpPr>
            <p:nvPr/>
          </p:nvSpPr>
          <p:spPr bwMode="auto">
            <a:xfrm>
              <a:off x="2339752" y="471015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Sname,sno</a:t>
              </a:r>
              <a:r>
                <a:rPr kumimoji="0" lang="en-US" altLang="zh-CN" sz="2400" dirty="0"/>
                <a:t> </a:t>
              </a:r>
              <a:endParaRPr kumimoji="0" lang="en-US" altLang="zh-CN" sz="2400" b="0" dirty="0"/>
            </a:p>
          </p:txBody>
        </p:sp>
        <p:sp>
          <p:nvSpPr>
            <p:cNvPr id="29" name="Rectangle 4"/>
            <p:cNvSpPr>
              <a:spLocks noChangeArrowheads="1"/>
            </p:cNvSpPr>
            <p:nvPr/>
          </p:nvSpPr>
          <p:spPr bwMode="auto">
            <a:xfrm>
              <a:off x="5580112" y="4387832"/>
              <a:ext cx="1475681" cy="288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39" name="Line 12"/>
            <p:cNvSpPr>
              <a:spLocks noChangeShapeType="1"/>
            </p:cNvSpPr>
            <p:nvPr/>
          </p:nvSpPr>
          <p:spPr bwMode="auto">
            <a:xfrm flipH="1">
              <a:off x="6228184" y="4803868"/>
              <a:ext cx="0" cy="25412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0" name="Line 12"/>
            <p:cNvSpPr>
              <a:spLocks noChangeShapeType="1"/>
            </p:cNvSpPr>
            <p:nvPr/>
          </p:nvSpPr>
          <p:spPr bwMode="auto">
            <a:xfrm flipH="1">
              <a:off x="2770507" y="5379932"/>
              <a:ext cx="1293" cy="47471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1" name="AutoShape 4"/>
            <p:cNvSpPr>
              <a:spLocks noChangeArrowheads="1"/>
            </p:cNvSpPr>
            <p:nvPr/>
          </p:nvSpPr>
          <p:spPr bwMode="auto">
            <a:xfrm rot="5400000">
              <a:off x="4139551" y="3941268"/>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0" name="矩形 29"/>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31" name="椭圆 30"/>
          <p:cNvSpPr/>
          <p:nvPr/>
        </p:nvSpPr>
        <p:spPr bwMode="auto">
          <a:xfrm>
            <a:off x="457200" y="2055764"/>
            <a:ext cx="7931224" cy="3727040"/>
          </a:xfrm>
          <a:prstGeom prst="ellipse">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ChangeArrowheads="1"/>
          </p:cNvSpPr>
          <p:nvPr/>
        </p:nvSpPr>
        <p:spPr bwMode="auto">
          <a:xfrm>
            <a:off x="318025" y="483435"/>
            <a:ext cx="8382000" cy="5632311"/>
          </a:xfrm>
          <a:prstGeom prst="rect">
            <a:avLst/>
          </a:prstGeom>
          <a:noFill/>
          <a:ln w="9525">
            <a:noFill/>
            <a:miter lim="800000"/>
          </a:ln>
        </p:spPr>
        <p:txBody>
          <a:bodyPr>
            <a:spAutoFit/>
          </a:bodyPr>
          <a:lstStyle/>
          <a:p>
            <a:pPr>
              <a:spcBef>
                <a:spcPct val="50000"/>
              </a:spcBef>
            </a:pPr>
            <a:r>
              <a:rPr lang="en-US" altLang="zh-CN" b="1" dirty="0">
                <a:latin typeface="Arial" panose="020B0604020202020204" pitchFamily="34" charset="0"/>
                <a:cs typeface="Arial" panose="020B0604020202020204" pitchFamily="34" charset="0"/>
              </a:rPr>
              <a:t>9.4  </a:t>
            </a:r>
            <a:r>
              <a:rPr lang="zh-CN" altLang="en-US" b="1" dirty="0">
                <a:latin typeface="Arial" panose="020B0604020202020204" pitchFamily="34" charset="0"/>
                <a:ea typeface="黑体" panose="02010609060101010101" pitchFamily="49" charset="-122"/>
              </a:rPr>
              <a:t>物理优化</a:t>
            </a:r>
          </a:p>
          <a:p>
            <a:pPr>
              <a:spcBef>
                <a:spcPct val="50000"/>
              </a:spcBef>
            </a:pPr>
            <a:r>
              <a:rPr lang="zh-CN" altLang="en-US" dirty="0">
                <a:latin typeface="Arial" panose="020B0604020202020204" pitchFamily="34" charset="0"/>
              </a:rPr>
              <a:t>       常常先使用</a:t>
            </a:r>
            <a:r>
              <a:rPr lang="zh-CN" altLang="en-US" dirty="0">
                <a:solidFill>
                  <a:srgbClr val="FF0000"/>
                </a:solidFill>
                <a:latin typeface="Arial" panose="020B0604020202020204" pitchFamily="34" charset="0"/>
              </a:rPr>
              <a:t>启发式规则</a:t>
            </a:r>
            <a:r>
              <a:rPr lang="zh-CN" altLang="en-US" dirty="0">
                <a:latin typeface="Arial" panose="020B0604020202020204" pitchFamily="34" charset="0"/>
              </a:rPr>
              <a:t>选取若干较优的</a:t>
            </a:r>
            <a:r>
              <a:rPr lang="zh-CN" altLang="en-US" dirty="0">
                <a:solidFill>
                  <a:srgbClr val="FF0000"/>
                </a:solidFill>
                <a:latin typeface="Arial" panose="020B0604020202020204" pitchFamily="34" charset="0"/>
              </a:rPr>
              <a:t>候选查询方案</a:t>
            </a:r>
            <a:r>
              <a:rPr lang="zh-CN" altLang="en-US" dirty="0">
                <a:latin typeface="Arial" panose="020B0604020202020204" pitchFamily="34" charset="0"/>
              </a:rPr>
              <a:t>，然后分别估算这些候选方案的</a:t>
            </a:r>
            <a:r>
              <a:rPr lang="zh-CN" altLang="en-US" dirty="0">
                <a:solidFill>
                  <a:srgbClr val="FF0000"/>
                </a:solidFill>
                <a:latin typeface="Arial" panose="020B0604020202020204" pitchFamily="34" charset="0"/>
              </a:rPr>
              <a:t>执行代价</a:t>
            </a:r>
            <a:r>
              <a:rPr lang="zh-CN" altLang="en-US" dirty="0">
                <a:latin typeface="Arial" panose="020B0604020202020204" pitchFamily="34" charset="0"/>
              </a:rPr>
              <a:t>，从而选取代价最小的作为执行计划。</a:t>
            </a:r>
          </a:p>
          <a:p>
            <a:pPr>
              <a:spcBef>
                <a:spcPct val="50000"/>
              </a:spcBef>
            </a:pPr>
            <a:r>
              <a:rPr lang="zh-CN" altLang="en-US" b="1" dirty="0">
                <a:latin typeface="Arial" panose="020B0604020202020204" pitchFamily="34" charset="0"/>
                <a:ea typeface="黑体" panose="02010609060101010101" pitchFamily="49" charset="-122"/>
              </a:rPr>
              <a:t>       总代价＝</a:t>
            </a:r>
            <a:r>
              <a:rPr lang="en-US" altLang="zh-CN" b="1" dirty="0">
                <a:latin typeface="Arial" panose="020B0604020202020204" pitchFamily="34" charset="0"/>
                <a:ea typeface="黑体" panose="02010609060101010101" pitchFamily="49" charset="-122"/>
              </a:rPr>
              <a:t>I/O</a:t>
            </a:r>
            <a:r>
              <a:rPr lang="zh-CN" altLang="en-US" b="1" dirty="0">
                <a:latin typeface="Arial" panose="020B0604020202020204" pitchFamily="34" charset="0"/>
                <a:ea typeface="黑体" panose="02010609060101010101" pitchFamily="49" charset="-122"/>
              </a:rPr>
              <a:t>代价＋</a:t>
            </a:r>
            <a:r>
              <a:rPr lang="en-US" altLang="zh-CN" b="1" dirty="0">
                <a:latin typeface="Arial" panose="020B0604020202020204" pitchFamily="34" charset="0"/>
                <a:ea typeface="黑体" panose="02010609060101010101" pitchFamily="49" charset="-122"/>
              </a:rPr>
              <a:t>CPU</a:t>
            </a:r>
            <a:r>
              <a:rPr lang="zh-CN" altLang="en-US" b="1" dirty="0">
                <a:latin typeface="Arial" panose="020B0604020202020204" pitchFamily="34" charset="0"/>
                <a:ea typeface="黑体" panose="02010609060101010101" pitchFamily="49" charset="-122"/>
              </a:rPr>
              <a:t>代价＋内存代价＋通信代价</a:t>
            </a:r>
          </a:p>
          <a:p>
            <a:endParaRPr lang="en-US" altLang="zh-CN" dirty="0"/>
          </a:p>
          <a:p>
            <a:r>
              <a:rPr lang="zh-CN" altLang="en-US" b="1" dirty="0">
                <a:latin typeface="微软雅黑" panose="020B0503020204020204" charset="-122"/>
                <a:ea typeface="微软雅黑" panose="020B0503020204020204" charset="-122"/>
              </a:rPr>
              <a:t>代价模型</a:t>
            </a:r>
            <a:endParaRPr lang="en-US" altLang="zh-CN" b="1" dirty="0">
              <a:latin typeface="微软雅黑" panose="020B0503020204020204" charset="-122"/>
              <a:ea typeface="微软雅黑" panose="020B0503020204020204" charset="-122"/>
            </a:endParaRPr>
          </a:p>
          <a:p>
            <a:pPr marL="800100" lvl="1" indent="-342900">
              <a:buClr>
                <a:schemeClr val="accent2"/>
              </a:buClr>
              <a:buFont typeface="Wingdings" panose="05000000000000000000" pitchFamily="2" charset="2"/>
              <a:buChar char="Ø"/>
            </a:pPr>
            <a:r>
              <a:rPr lang="zh-CN" altLang="en-US" dirty="0"/>
              <a:t>物理代价</a:t>
            </a:r>
            <a:endParaRPr lang="en-US" altLang="zh-CN" dirty="0"/>
          </a:p>
          <a:p>
            <a:pPr lvl="2"/>
            <a:r>
              <a:rPr lang="en-US" altLang="zh-CN" dirty="0"/>
              <a:t>CPU</a:t>
            </a:r>
            <a:r>
              <a:rPr lang="zh-CN" altLang="en-US" dirty="0"/>
              <a:t>，</a:t>
            </a:r>
            <a:r>
              <a:rPr lang="en-US" altLang="zh-CN" dirty="0"/>
              <a:t>I/O</a:t>
            </a:r>
            <a:r>
              <a:rPr lang="zh-CN" altLang="en-US" dirty="0"/>
              <a:t>，内存，</a:t>
            </a:r>
            <a:r>
              <a:rPr lang="en-US" altLang="zh-CN" dirty="0"/>
              <a:t>… …</a:t>
            </a:r>
          </a:p>
          <a:p>
            <a:pPr lvl="2"/>
            <a:r>
              <a:rPr lang="zh-CN" altLang="en-US" dirty="0"/>
              <a:t>依赖于硬件</a:t>
            </a:r>
            <a:endParaRPr lang="en-US" altLang="zh-CN" dirty="0"/>
          </a:p>
          <a:p>
            <a:pPr marL="800100" lvl="1" indent="-342900">
              <a:buClr>
                <a:schemeClr val="accent2"/>
              </a:buClr>
              <a:buFont typeface="Wingdings" panose="05000000000000000000" pitchFamily="2" charset="2"/>
              <a:buChar char="Ø"/>
            </a:pPr>
            <a:r>
              <a:rPr lang="zh-CN" altLang="en-US" dirty="0"/>
              <a:t>逻辑代价</a:t>
            </a:r>
            <a:endParaRPr lang="en-US" altLang="zh-CN" dirty="0"/>
          </a:p>
          <a:p>
            <a:pPr lvl="2"/>
            <a:r>
              <a:rPr lang="zh-CN" altLang="en-US" dirty="0">
                <a:solidFill>
                  <a:srgbClr val="FF0000"/>
                </a:solidFill>
              </a:rPr>
              <a:t>结果集大小</a:t>
            </a:r>
            <a:r>
              <a:rPr lang="zh-CN" altLang="en-US" dirty="0"/>
              <a:t>估计，依赖于算子算法、统计信息等</a:t>
            </a:r>
            <a:endParaRPr lang="en-US" altLang="zh-CN" dirty="0"/>
          </a:p>
          <a:p>
            <a:pPr marL="800100" lvl="1" indent="-342900">
              <a:buClr>
                <a:schemeClr val="accent2"/>
              </a:buClr>
              <a:buFont typeface="Wingdings" panose="05000000000000000000" pitchFamily="2" charset="2"/>
              <a:buChar char="Ø"/>
            </a:pPr>
            <a:r>
              <a:rPr lang="zh-CN" altLang="en-US" dirty="0"/>
              <a:t>算法代价</a:t>
            </a:r>
            <a:endParaRPr lang="en-US" altLang="zh-CN" dirty="0"/>
          </a:p>
          <a:p>
            <a:pPr lvl="2"/>
            <a:r>
              <a:rPr lang="zh-CN" altLang="en-US" dirty="0"/>
              <a:t>算子算法的时空复杂度</a:t>
            </a:r>
            <a:endParaRPr lang="zh-CN" altLang="en-US" dirty="0">
              <a:latin typeface="Arial" panose="020B0604020202020204" pitchFamily="34" charset="0"/>
            </a:endParaRPr>
          </a:p>
        </p:txBody>
      </p:sp>
      <p:sp>
        <p:nvSpPr>
          <p:cNvPr id="3" name="灯片编号占位符 2"/>
          <p:cNvSpPr>
            <a:spLocks noGrp="1"/>
          </p:cNvSpPr>
          <p:nvPr>
            <p:ph type="sldNum" sz="quarter" idx="12"/>
          </p:nvPr>
        </p:nvSpPr>
        <p:spPr/>
        <p:txBody>
          <a:bodyPr/>
          <a:lstStyle/>
          <a:p>
            <a:pPr>
              <a:defRPr/>
            </a:pPr>
            <a:fld id="{7BB12ABC-D99B-4250-AEEC-C09C41850E38}" type="slidenum">
              <a:rPr lang="zh-CN" altLang="en-US" smtClean="0"/>
              <a:t>43</a:t>
            </a:fld>
            <a:endParaRPr lang="en-US" altLang="zh-CN"/>
          </a:p>
        </p:txBody>
      </p:sp>
      <p:sp>
        <p:nvSpPr>
          <p:cNvPr id="4" name="矩形 3"/>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ChangeArrowheads="1"/>
          </p:cNvSpPr>
          <p:nvPr/>
        </p:nvSpPr>
        <p:spPr bwMode="auto">
          <a:xfrm>
            <a:off x="381000" y="1268760"/>
            <a:ext cx="8382000" cy="3557897"/>
          </a:xfrm>
          <a:prstGeom prst="rect">
            <a:avLst/>
          </a:prstGeom>
          <a:noFill/>
          <a:ln w="9525">
            <a:noFill/>
            <a:miter lim="800000"/>
          </a:ln>
        </p:spPr>
        <p:txBody>
          <a:bodyPr>
            <a:spAutoFit/>
          </a:bodyPr>
          <a:lstStyle/>
          <a:p>
            <a:pPr marL="273050" lvl="0" indent="-273050">
              <a:spcBef>
                <a:spcPct val="20000"/>
              </a:spcBef>
              <a:buClr>
                <a:srgbClr val="0BD0D9"/>
              </a:buClr>
              <a:buSzPct val="95000"/>
              <a:buFont typeface="Wingdings 2" panose="05020102010507070707" pitchFamily="18" charset="2"/>
              <a:buChar char=""/>
            </a:pPr>
            <a:r>
              <a:rPr kumimoji="0" lang="zh-CN" altLang="en-US" sz="2600" dirty="0">
                <a:solidFill>
                  <a:prstClr val="black"/>
                </a:solidFill>
                <a:latin typeface="Constantia" panose="02030602050306030303"/>
              </a:rPr>
              <a:t>基于磁盘</a:t>
            </a:r>
            <a:r>
              <a:rPr kumimoji="0" lang="en-US" altLang="zh-CN" sz="2600" dirty="0">
                <a:solidFill>
                  <a:prstClr val="black"/>
                </a:solidFill>
                <a:latin typeface="Constantia" panose="02030602050306030303"/>
              </a:rPr>
              <a:t>DBMS</a:t>
            </a:r>
            <a:r>
              <a:rPr kumimoji="0" lang="zh-CN" altLang="en-US" sz="2600" dirty="0">
                <a:solidFill>
                  <a:prstClr val="black"/>
                </a:solidFill>
                <a:latin typeface="Constantia" panose="02030602050306030303"/>
              </a:rPr>
              <a:t>代价模型</a:t>
            </a:r>
            <a:endParaRPr kumimoji="0" lang="en-US" altLang="zh-CN" sz="2600" dirty="0">
              <a:solidFill>
                <a:prstClr val="black"/>
              </a:solidFill>
              <a:latin typeface="Constantia" panose="02030602050306030303"/>
            </a:endParaRP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panose="02030602050306030303"/>
              </a:rPr>
              <a:t>磁盘</a:t>
            </a:r>
            <a:r>
              <a:rPr kumimoji="0" lang="en-US" altLang="zh-CN" dirty="0">
                <a:solidFill>
                  <a:prstClr val="black"/>
                </a:solidFill>
                <a:latin typeface="Constantia" panose="02030602050306030303"/>
              </a:rPr>
              <a:t>I/O</a:t>
            </a:r>
            <a:r>
              <a:rPr kumimoji="0" lang="zh-CN" altLang="en-US" dirty="0">
                <a:solidFill>
                  <a:prstClr val="black"/>
                </a:solidFill>
                <a:latin typeface="Constantia" panose="02030602050306030303"/>
              </a:rPr>
              <a:t>占代价模型的主要部分</a:t>
            </a:r>
            <a:endParaRPr kumimoji="0" lang="en-US" altLang="zh-CN" dirty="0">
              <a:solidFill>
                <a:prstClr val="black"/>
              </a:solidFill>
              <a:latin typeface="Constantia" panose="02030602050306030303"/>
            </a:endParaRPr>
          </a:p>
          <a:p>
            <a:pPr marL="736600" lvl="1" indent="-342900">
              <a:spcBef>
                <a:spcPct val="20000"/>
              </a:spcBef>
              <a:buClr>
                <a:srgbClr val="0F6FC6"/>
              </a:buClr>
              <a:buSzPct val="85000"/>
              <a:buFont typeface="Wingdings" panose="05000000000000000000" pitchFamily="2" charset="2"/>
              <a:buChar char="Ø"/>
            </a:pPr>
            <a:r>
              <a:rPr kumimoji="0" lang="zh-CN" altLang="en-US" cap="all" dirty="0">
                <a:solidFill>
                  <a:prstClr val="black"/>
                </a:solidFill>
                <a:latin typeface="Constantia" panose="02030602050306030303"/>
              </a:rPr>
              <a:t>一般情况下，服务器的</a:t>
            </a:r>
            <a:r>
              <a:rPr kumimoji="0" lang="en-US" altLang="zh-CN" cap="all" dirty="0">
                <a:solidFill>
                  <a:prstClr val="black"/>
                </a:solidFill>
                <a:latin typeface="Constantia" panose="02030602050306030303"/>
              </a:rPr>
              <a:t>Cpu</a:t>
            </a:r>
            <a:r>
              <a:rPr kumimoji="0" lang="zh-CN" altLang="en-US" dirty="0">
                <a:solidFill>
                  <a:prstClr val="black"/>
                </a:solidFill>
                <a:latin typeface="Constantia" panose="02030602050306030303"/>
              </a:rPr>
              <a:t>代价可以忽略</a:t>
            </a:r>
            <a:endParaRPr kumimoji="0" lang="en-US" altLang="zh-CN" dirty="0">
              <a:solidFill>
                <a:prstClr val="black"/>
              </a:solidFill>
              <a:latin typeface="Constantia" panose="02030602050306030303"/>
            </a:endParaRP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panose="02030602050306030303"/>
              </a:rPr>
              <a:t>要考虑数据的读取方式：顺序</a:t>
            </a:r>
            <a:r>
              <a:rPr kumimoji="0" lang="en-US" altLang="zh-CN" dirty="0">
                <a:solidFill>
                  <a:prstClr val="black"/>
                </a:solidFill>
                <a:latin typeface="Constantia" panose="02030602050306030303"/>
              </a:rPr>
              <a:t>I/O</a:t>
            </a:r>
            <a:r>
              <a:rPr kumimoji="0" lang="zh-CN" altLang="en-US" dirty="0">
                <a:solidFill>
                  <a:prstClr val="black"/>
                </a:solidFill>
                <a:latin typeface="Constantia" panose="02030602050306030303"/>
              </a:rPr>
              <a:t>或随机</a:t>
            </a:r>
            <a:r>
              <a:rPr kumimoji="0" lang="en-US" altLang="zh-CN" dirty="0">
                <a:solidFill>
                  <a:prstClr val="black"/>
                </a:solidFill>
                <a:latin typeface="Constantia" panose="02030602050306030303"/>
              </a:rPr>
              <a:t>I/O</a:t>
            </a: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panose="02030602050306030303"/>
              </a:rPr>
              <a:t>依赖于缓冲区管理方式</a:t>
            </a:r>
            <a:endParaRPr kumimoji="0" lang="en-US" altLang="zh-CN" dirty="0">
              <a:solidFill>
                <a:prstClr val="black"/>
              </a:solidFill>
              <a:latin typeface="Constantia" panose="02030602050306030303"/>
            </a:endParaRPr>
          </a:p>
          <a:p>
            <a:pPr marL="273050" lvl="0" indent="-273050">
              <a:spcBef>
                <a:spcPct val="20000"/>
              </a:spcBef>
              <a:buClr>
                <a:srgbClr val="0BD0D9"/>
              </a:buClr>
              <a:buSzPct val="95000"/>
              <a:buFont typeface="Wingdings 2" panose="05020102010507070707" pitchFamily="18" charset="2"/>
              <a:buChar char=""/>
            </a:pPr>
            <a:r>
              <a:rPr kumimoji="0" lang="zh-CN" altLang="en-US" sz="2600" dirty="0">
                <a:solidFill>
                  <a:prstClr val="black"/>
                </a:solidFill>
                <a:latin typeface="Constantia" panose="02030602050306030303"/>
              </a:rPr>
              <a:t>分布式</a:t>
            </a:r>
            <a:r>
              <a:rPr kumimoji="0" lang="en-US" altLang="zh-CN" sz="2600" dirty="0">
                <a:solidFill>
                  <a:prstClr val="black"/>
                </a:solidFill>
                <a:latin typeface="Constantia" panose="02030602050306030303"/>
              </a:rPr>
              <a:t>DBMS</a:t>
            </a:r>
            <a:r>
              <a:rPr kumimoji="0" lang="zh-CN" altLang="en-US" sz="2600" dirty="0">
                <a:solidFill>
                  <a:prstClr val="black"/>
                </a:solidFill>
                <a:latin typeface="Constantia" panose="02030602050306030303"/>
              </a:rPr>
              <a:t>代价模型</a:t>
            </a:r>
            <a:endParaRPr kumimoji="0" lang="en-US" altLang="zh-CN" sz="2600" dirty="0">
              <a:solidFill>
                <a:prstClr val="black"/>
              </a:solidFill>
              <a:latin typeface="Constantia" panose="02030602050306030303"/>
            </a:endParaRP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panose="02030602050306030303"/>
              </a:rPr>
              <a:t>要考虑通信代价</a:t>
            </a:r>
            <a:endParaRPr kumimoji="0" lang="en-US" altLang="zh-CN" dirty="0">
              <a:solidFill>
                <a:prstClr val="black"/>
              </a:solidFill>
              <a:latin typeface="Constantia" panose="02030602050306030303"/>
            </a:endParaRPr>
          </a:p>
          <a:p>
            <a:pPr lvl="2">
              <a:buFont typeface="Wingdings" panose="05000000000000000000" pitchFamily="2" charset="2"/>
              <a:buChar char="n"/>
            </a:pPr>
            <a:endParaRPr lang="zh-CN" altLang="en-US" dirty="0">
              <a:latin typeface="Arial" panose="020B0604020202020204" pitchFamily="34" charset="0"/>
            </a:endParaRPr>
          </a:p>
        </p:txBody>
      </p:sp>
      <p:sp>
        <p:nvSpPr>
          <p:cNvPr id="3" name="灯片编号占位符 2"/>
          <p:cNvSpPr>
            <a:spLocks noGrp="1"/>
          </p:cNvSpPr>
          <p:nvPr>
            <p:ph type="sldNum" sz="quarter" idx="12"/>
          </p:nvPr>
        </p:nvSpPr>
        <p:spPr/>
        <p:txBody>
          <a:bodyPr/>
          <a:lstStyle/>
          <a:p>
            <a:pPr>
              <a:defRPr/>
            </a:pPr>
            <a:fld id="{7BB12ABC-D99B-4250-AEEC-C09C41850E38}" type="slidenum">
              <a:rPr lang="zh-CN" altLang="en-US" smtClean="0"/>
              <a:t>44</a:t>
            </a:fld>
            <a:endParaRPr lang="en-US" altLang="zh-CN"/>
          </a:p>
        </p:txBody>
      </p:sp>
      <p:sp>
        <p:nvSpPr>
          <p:cNvPr id="2" name="矩形 1"/>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5" name="矩形 4"/>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124744"/>
            <a:ext cx="7772400" cy="4971256"/>
          </a:xfrm>
        </p:spPr>
        <p:txBody>
          <a:bodyPr/>
          <a:lstStyle/>
          <a:p>
            <a:pPr marL="0" indent="0">
              <a:buNone/>
            </a:pPr>
            <a:r>
              <a:rPr lang="zh-CN" altLang="en-US" sz="2400" b="1" dirty="0">
                <a:latin typeface="微软雅黑" panose="020B0503020204020204" charset="-122"/>
                <a:ea typeface="微软雅黑" panose="020B0503020204020204" charset="-122"/>
              </a:rPr>
              <a:t>统计信息</a:t>
            </a:r>
            <a:endParaRPr lang="en-US" altLang="zh-CN" sz="2400" b="1" dirty="0">
              <a:latin typeface="微软雅黑" panose="020B0503020204020204" charset="-122"/>
              <a:ea typeface="微软雅黑" panose="020B0503020204020204" charset="-122"/>
            </a:endParaRPr>
          </a:p>
          <a:p>
            <a:pPr marL="246380" lvl="1">
              <a:buFont typeface="Wingdings" panose="05000000000000000000" pitchFamily="2" charset="2"/>
              <a:buChar char="Ø"/>
            </a:pPr>
            <a:r>
              <a:rPr lang="zh-CN" altLang="en-US" dirty="0">
                <a:solidFill>
                  <a:prstClr val="black"/>
                </a:solidFill>
              </a:rPr>
              <a:t>代价估算与数据库的状态密切相关，需要存储优化器所需的统计信息。</a:t>
            </a:r>
            <a:endParaRPr lang="en-US" altLang="zh-CN" dirty="0"/>
          </a:p>
          <a:p>
            <a:pPr marL="0" lvl="1" indent="0">
              <a:buNone/>
            </a:pPr>
            <a:r>
              <a:rPr lang="zh-CN" altLang="en-US" dirty="0"/>
              <a:t>            统计信息包括表、属性和索引的信息</a:t>
            </a:r>
            <a:endParaRPr lang="en-US" altLang="zh-CN" dirty="0"/>
          </a:p>
          <a:p>
            <a:pPr marL="246380" lvl="1">
              <a:buFont typeface="Wingdings" panose="05000000000000000000" pitchFamily="2" charset="2"/>
              <a:buChar char="Ø"/>
            </a:pPr>
            <a:r>
              <a:rPr lang="zh-CN" altLang="en-US" dirty="0"/>
              <a:t>统计信息通常存放于数据字典中。</a:t>
            </a:r>
            <a:endParaRPr lang="en-US" altLang="zh-CN" dirty="0"/>
          </a:p>
          <a:p>
            <a:pPr marL="246380" lvl="1">
              <a:buFont typeface="Wingdings" panose="05000000000000000000" pitchFamily="2" charset="2"/>
              <a:buChar char="Ø"/>
            </a:pPr>
            <a:r>
              <a:rPr lang="zh-CN" altLang="en-US" dirty="0"/>
              <a:t>状态需要及时更新，不同的系统更新时机不同。</a:t>
            </a:r>
            <a:endParaRPr lang="en-US" altLang="zh-CN" dirty="0"/>
          </a:p>
          <a:p>
            <a:pPr marL="0" lvl="1" indent="0">
              <a:buNone/>
            </a:pPr>
            <a:endParaRPr lang="en-US" altLang="zh-CN" dirty="0"/>
          </a:p>
          <a:p>
            <a:pPr marL="0" lvl="1" indent="0">
              <a:buNone/>
            </a:pPr>
            <a:r>
              <a:rPr lang="zh-CN" altLang="en-US" dirty="0"/>
              <a:t>不同系统统计信息的更新命令：</a:t>
            </a:r>
            <a:endParaRPr lang="en-US" altLang="zh-CN" dirty="0"/>
          </a:p>
          <a:p>
            <a:pPr lvl="2">
              <a:buFont typeface="Wingdings" panose="05000000000000000000" pitchFamily="2" charset="2"/>
              <a:buChar char="n"/>
            </a:pPr>
            <a:r>
              <a:rPr lang="en-US" altLang="zh-CN" dirty="0">
                <a:latin typeface="+mn-ea"/>
              </a:rPr>
              <a:t>PostGres: ANALYSE</a:t>
            </a:r>
          </a:p>
          <a:p>
            <a:pPr lvl="2">
              <a:buFont typeface="Wingdings" panose="05000000000000000000" pitchFamily="2" charset="2"/>
              <a:buChar char="n"/>
            </a:pPr>
            <a:r>
              <a:rPr lang="en-US" altLang="zh-CN" dirty="0">
                <a:latin typeface="+mn-ea"/>
              </a:rPr>
              <a:t>Oracle/MySQL: ANALYSE TABLE</a:t>
            </a:r>
          </a:p>
          <a:p>
            <a:pPr lvl="2">
              <a:buFont typeface="Wingdings" panose="05000000000000000000" pitchFamily="2" charset="2"/>
              <a:buChar char="n"/>
            </a:pPr>
            <a:r>
              <a:rPr lang="en-US" altLang="zh-CN" dirty="0">
                <a:latin typeface="+mn-ea"/>
              </a:rPr>
              <a:t>SQL Server: UPDATE STATISTICS</a:t>
            </a:r>
          </a:p>
          <a:p>
            <a:pPr lvl="2">
              <a:buFont typeface="Wingdings" panose="05000000000000000000" pitchFamily="2" charset="2"/>
              <a:buChar char="n"/>
            </a:pPr>
            <a:r>
              <a:rPr lang="en-US" altLang="zh-CN" dirty="0">
                <a:latin typeface="+mn-ea"/>
              </a:rPr>
              <a:t>DB2:RUNSTATS</a:t>
            </a:r>
            <a:endParaRPr lang="zh-CN" altLang="en-US" dirty="0">
              <a:latin typeface="+mn-ea"/>
            </a:endParaRPr>
          </a:p>
        </p:txBody>
      </p:sp>
      <p:sp>
        <p:nvSpPr>
          <p:cNvPr id="5" name="矩形 4"/>
          <p:cNvSpPr/>
          <p:nvPr/>
        </p:nvSpPr>
        <p:spPr>
          <a:xfrm>
            <a:off x="539552" y="603340"/>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45</a:t>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4"/>
          <p:cNvSpPr>
            <a:spLocks noChangeArrowheads="1"/>
          </p:cNvSpPr>
          <p:nvPr/>
        </p:nvSpPr>
        <p:spPr bwMode="auto">
          <a:xfrm>
            <a:off x="465560" y="1340768"/>
            <a:ext cx="8382000" cy="3416320"/>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rPr>
              <a:t>常见统计信息</a:t>
            </a:r>
            <a:endParaRPr kumimoji="1" lang="en-US" altLang="zh-CN" sz="2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1.基本表</a:t>
            </a: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元组总数、元组长度、占用块数、溢出块数</a:t>
            </a: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2.列</a:t>
            </a:r>
            <a:endPar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不同值的个数、选择率</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selectivity、</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最大值、最小值、是否有索引、索引类型</a:t>
            </a: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3.索引</a:t>
            </a:r>
            <a:endPar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索引层数、不同索引值个数、索引选择基数（需要考虑同索引值的情况）、叶结点个数</a:t>
            </a:r>
            <a:endPar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4A24842-5C3A-4F90-B355-5B5FFDEE0067}"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anose="020B0604030504040204" pitchFamily="34" charset="0"/>
                <a:ea typeface="宋体" panose="02010600030101010101" pitchFamily="2" charset="-122"/>
                <a:cs typeface="+mn-cs"/>
              </a:rPr>
              <a:t>46</a:t>
            </a:fld>
            <a:endParaRPr kumimoji="0" lang="en-US" altLang="zh-CN" sz="1200" b="0" i="0" u="none" strike="noStrike" kern="1200" cap="none" spc="0" normalizeH="0" baseline="0" noProof="0">
              <a:ln>
                <a:noFill/>
              </a:ln>
              <a:solidFill>
                <a:srgbClr val="04617B">
                  <a:shade val="90000"/>
                </a:srgbClr>
              </a:solidFill>
              <a:effectLst/>
              <a:uLnTx/>
              <a:uFillTx/>
              <a:latin typeface="Verdana" panose="020B0604030504040204" pitchFamily="34" charset="0"/>
              <a:ea typeface="宋体" panose="02010600030101010101" pitchFamily="2" charset="-122"/>
              <a:cs typeface="+mn-cs"/>
            </a:endParaRPr>
          </a:p>
        </p:txBody>
      </p:sp>
      <p:sp>
        <p:nvSpPr>
          <p:cNvPr id="4" name="矩形 3"/>
          <p:cNvSpPr/>
          <p:nvPr/>
        </p:nvSpPr>
        <p:spPr>
          <a:xfrm>
            <a:off x="467544" y="659299"/>
            <a:ext cx="2709396"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04617B"/>
                </a:solidFill>
                <a:effectLst/>
                <a:uLnTx/>
                <a:uFillTx/>
                <a:latin typeface="隶书" panose="02010509060101010101" pitchFamily="49" charset="-122"/>
                <a:ea typeface="隶书" panose="02010509060101010101" pitchFamily="49" charset="-122"/>
                <a:cs typeface="+mn-cs"/>
              </a:rPr>
              <a:t>代价模型（续）</a:t>
            </a:r>
            <a:endParaRPr kumimoji="1" lang="en-US" altLang="zh-CN" sz="2800" b="1" i="0" u="none" strike="noStrike" kern="1200" cap="none" spc="0" normalizeH="0" baseline="0" noProof="0" dirty="0">
              <a:ln>
                <a:noFill/>
              </a:ln>
              <a:solidFill>
                <a:srgbClr val="04617B"/>
              </a:solidFill>
              <a:effectLst/>
              <a:uLnTx/>
              <a:uFillTx/>
              <a:latin typeface="隶书" panose="02010509060101010101" pitchFamily="49" charset="-122"/>
              <a:ea typeface="隶书" panose="02010509060101010101" pitchFamily="49" charset="-122"/>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标注 1"/>
          <p:cNvSpPr/>
          <p:nvPr/>
        </p:nvSpPr>
        <p:spPr>
          <a:xfrm>
            <a:off x="6228184" y="0"/>
            <a:ext cx="2196008" cy="612648"/>
          </a:xfrm>
          <a:prstGeom prst="wedgeRoundRectCallout">
            <a:avLst>
              <a:gd name="adj1" fmla="val -57513"/>
              <a:gd name="adj2" fmla="val 7016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Constantia" panose="02030602050306030303"/>
                <a:ea typeface="宋体" panose="02010600030101010101" pitchFamily="2" charset="-122"/>
                <a:cs typeface="+mn-cs"/>
              </a:rPr>
              <a:t>selectivity</a:t>
            </a:r>
            <a:endParaRPr kumimoji="1" lang="zh-CN" altLang="en-US" sz="2400" b="0" i="0" u="none" strike="noStrike" kern="1200" cap="none" spc="0" normalizeH="0" baseline="0" noProof="0" dirty="0">
              <a:ln>
                <a:noFill/>
              </a:ln>
              <a:solidFill>
                <a:prstClr val="black"/>
              </a:solidFill>
              <a:effectLst/>
              <a:uLnTx/>
              <a:uFillTx/>
              <a:latin typeface="Constantia" panose="02030602050306030303"/>
              <a:ea typeface="宋体" panose="02010600030101010101" pitchFamily="2" charset="-122"/>
              <a:cs typeface="+mn-cs"/>
            </a:endParaRPr>
          </a:p>
        </p:txBody>
      </p:sp>
      <p:sp>
        <p:nvSpPr>
          <p:cNvPr id="39937" name="Rectangle 2"/>
          <p:cNvSpPr>
            <a:spLocks noChangeArrowheads="1"/>
          </p:cNvSpPr>
          <p:nvPr/>
        </p:nvSpPr>
        <p:spPr bwMode="auto">
          <a:xfrm>
            <a:off x="381000" y="260648"/>
            <a:ext cx="8367464" cy="6370975"/>
          </a:xfrm>
          <a:prstGeom prst="rect">
            <a:avLst/>
          </a:prstGeom>
          <a:noFill/>
          <a:ln w="9525">
            <a:noFill/>
            <a:miter lim="800000"/>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代价估算公式</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B：</a:t>
            </a:r>
            <a:r>
              <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表的块数</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L：</a:t>
            </a: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索引深度</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索引选择基数</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索引叶结点数</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Frs:</a:t>
            </a: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连接选择性</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Mrs:</a:t>
            </a: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连接结果单块记录数</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Nr</a:t>
            </a: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关系</a:t>
            </a:r>
            <a:r>
              <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R</a:t>
            </a: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元组数</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Ns</a:t>
            </a: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关系</a:t>
            </a:r>
            <a:r>
              <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S</a:t>
            </a: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元组数</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1.全表扫描</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cost=B,  </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对于单值搜索，</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cost=B/2</a:t>
            </a: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2.索引扫描</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cost=L+1                    </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码</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值</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cost=L+S                    </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非码属性</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值</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cost=L+Y/2+B/2          &gt;</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&gt;=</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&lt;</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&lt;=</a:t>
            </a: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3.</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nested loop join</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cost=</a:t>
            </a:r>
            <a:r>
              <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Br</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+Br*Bs/(K-1)+</a:t>
            </a:r>
            <a:r>
              <a:rPr kumimoji="1" lang="en-US" altLang="zh-CN" sz="2400" b="0" i="0" u="none" strike="noStrike" kern="1200" cap="none" spc="0" normalizeH="0" baseline="0" noProof="0" dirty="0">
                <a:ln>
                  <a:noFill/>
                </a:ln>
                <a:solidFill>
                  <a:srgbClr val="0000FF"/>
                </a:solidFill>
                <a:effectLst/>
                <a:uLnTx/>
                <a:uFillTx/>
                <a:latin typeface="Verdana" panose="020B0604030504040204" pitchFamily="34" charset="0"/>
                <a:ea typeface="宋体" panose="02010600030101010101" pitchFamily="2" charset="-122"/>
                <a:cs typeface="+mn-cs"/>
              </a:rPr>
              <a:t>(Frs*Nr*Ns)/Mrs</a:t>
            </a: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4.</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merge join</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cost=Br+Bs+</a:t>
            </a:r>
            <a:r>
              <a:rPr kumimoji="1" lang="en-US" altLang="zh-CN" sz="2400" b="0" i="0" u="none" strike="noStrike" kern="1200" cap="none" spc="0" normalizeH="0" baseline="0" noProof="0" dirty="0">
                <a:ln>
                  <a:noFill/>
                </a:ln>
                <a:solidFill>
                  <a:srgbClr val="0000FF"/>
                </a:solidFill>
                <a:effectLst/>
                <a:uLnTx/>
                <a:uFillTx/>
                <a:latin typeface="Verdana" panose="020B0604030504040204" pitchFamily="34" charset="0"/>
                <a:ea typeface="宋体" panose="02010600030101010101" pitchFamily="2" charset="-122"/>
                <a:cs typeface="+mn-cs"/>
              </a:rPr>
              <a:t>(Frs*Nr*Ns)/Mrs</a:t>
            </a:r>
            <a:endParaRPr kumimoji="1" lang="zh-CN" altLang="en-US" sz="2400" b="0" i="0"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43E99D-0FF2-4105-88E9-7960A40B1ECF}"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anose="020B0604030504040204" pitchFamily="34" charset="0"/>
                <a:ea typeface="宋体" panose="02010600030101010101" pitchFamily="2" charset="-122"/>
                <a:cs typeface="+mn-cs"/>
              </a:rPr>
              <a:t>47</a:t>
            </a:fld>
            <a:endParaRPr kumimoji="0" lang="en-US" altLang="zh-CN" sz="1200" b="0" i="0" u="none" strike="noStrike" kern="1200" cap="none" spc="0" normalizeH="0" baseline="0" noProof="0">
              <a:ln>
                <a:noFill/>
              </a:ln>
              <a:solidFill>
                <a:srgbClr val="04617B">
                  <a:shade val="90000"/>
                </a:srgbClr>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1456" y="1268760"/>
            <a:ext cx="7772400" cy="5115272"/>
          </a:xfrm>
        </p:spPr>
        <p:txBody>
          <a:bodyPr/>
          <a:lstStyle/>
          <a:p>
            <a:r>
              <a:rPr lang="zh-CN" altLang="en-US" sz="2400" dirty="0">
                <a:latin typeface="+mn-ea"/>
              </a:rPr>
              <a:t>统计信息</a:t>
            </a:r>
            <a:endParaRPr lang="en-US" altLang="zh-CN" sz="2400" dirty="0">
              <a:latin typeface="+mn-ea"/>
            </a:endParaRPr>
          </a:p>
          <a:p>
            <a:pPr lvl="1"/>
            <a:r>
              <a:rPr lang="en-US" altLang="zh-CN" dirty="0">
                <a:latin typeface="+mn-ea"/>
              </a:rPr>
              <a:t>N</a:t>
            </a:r>
            <a:r>
              <a:rPr lang="en-US" altLang="zh-CN" baseline="-25000" dirty="0">
                <a:latin typeface="+mn-ea"/>
              </a:rPr>
              <a:t>R</a:t>
            </a:r>
            <a:r>
              <a:rPr lang="en-US" altLang="zh-CN" dirty="0">
                <a:latin typeface="+mn-ea"/>
              </a:rPr>
              <a:t>:</a:t>
            </a:r>
            <a:r>
              <a:rPr lang="zh-CN" altLang="en-US" dirty="0">
                <a:latin typeface="+mn-ea"/>
              </a:rPr>
              <a:t>关系</a:t>
            </a:r>
            <a:r>
              <a:rPr lang="en-US" altLang="zh-CN" dirty="0">
                <a:latin typeface="+mn-ea"/>
              </a:rPr>
              <a:t>R</a:t>
            </a:r>
            <a:r>
              <a:rPr lang="zh-CN" altLang="en-US" dirty="0">
                <a:latin typeface="+mn-ea"/>
              </a:rPr>
              <a:t>的元组的数量</a:t>
            </a:r>
            <a:endParaRPr lang="en-US" altLang="zh-CN" dirty="0">
              <a:latin typeface="+mn-ea"/>
            </a:endParaRPr>
          </a:p>
          <a:p>
            <a:pPr lvl="1"/>
            <a:r>
              <a:rPr lang="en-US" altLang="zh-CN" dirty="0">
                <a:latin typeface="+mn-ea"/>
              </a:rPr>
              <a:t>V(A,R):</a:t>
            </a:r>
            <a:r>
              <a:rPr lang="zh-CN" altLang="en-US" dirty="0">
                <a:latin typeface="+mn-ea"/>
              </a:rPr>
              <a:t>关系</a:t>
            </a:r>
            <a:r>
              <a:rPr lang="en-US" altLang="zh-CN" dirty="0">
                <a:latin typeface="+mn-ea"/>
              </a:rPr>
              <a:t>R</a:t>
            </a:r>
            <a:r>
              <a:rPr lang="zh-CN" altLang="en-US" dirty="0">
                <a:latin typeface="+mn-ea"/>
              </a:rPr>
              <a:t>中属性</a:t>
            </a:r>
            <a:r>
              <a:rPr lang="en-US" altLang="zh-CN" dirty="0">
                <a:latin typeface="+mn-ea"/>
              </a:rPr>
              <a:t>A</a:t>
            </a:r>
            <a:r>
              <a:rPr lang="zh-CN" altLang="en-US" dirty="0">
                <a:latin typeface="+mn-ea"/>
              </a:rPr>
              <a:t>的</a:t>
            </a:r>
            <a:r>
              <a:rPr lang="en-US" altLang="zh-CN" dirty="0">
                <a:latin typeface="+mn-ea"/>
              </a:rPr>
              <a:t>distinct</a:t>
            </a:r>
            <a:r>
              <a:rPr lang="zh-CN" altLang="en-US" dirty="0">
                <a:latin typeface="+mn-ea"/>
              </a:rPr>
              <a:t>值的数量</a:t>
            </a:r>
            <a:endParaRPr lang="en-US" altLang="zh-CN" dirty="0">
              <a:latin typeface="+mn-ea"/>
            </a:endParaRPr>
          </a:p>
          <a:p>
            <a:pPr marL="914400" lvl="2" indent="0">
              <a:buNone/>
            </a:pPr>
            <a:r>
              <a:rPr lang="zh-CN" altLang="en-US" sz="2400" dirty="0">
                <a:latin typeface="+mn-ea"/>
              </a:rPr>
              <a:t>如学生关系</a:t>
            </a:r>
            <a:r>
              <a:rPr lang="en-US" altLang="zh-CN" sz="2400" dirty="0">
                <a:latin typeface="+mn-ea"/>
              </a:rPr>
              <a:t>S</a:t>
            </a:r>
            <a:r>
              <a:rPr lang="zh-CN" altLang="en-US" sz="2400" dirty="0">
                <a:latin typeface="+mn-ea"/>
              </a:rPr>
              <a:t>中，</a:t>
            </a:r>
            <a:r>
              <a:rPr lang="en-US" altLang="zh-CN" sz="2400" dirty="0">
                <a:latin typeface="+mn-ea"/>
              </a:rPr>
              <a:t>V(‘Gender’,S)=2</a:t>
            </a:r>
          </a:p>
          <a:p>
            <a:pPr lvl="1"/>
            <a:r>
              <a:rPr lang="en-US" altLang="zh-CN" dirty="0">
                <a:latin typeface="+mn-ea"/>
              </a:rPr>
              <a:t>SC(A,R):</a:t>
            </a:r>
            <a:r>
              <a:rPr lang="zh-CN" altLang="en-US" dirty="0">
                <a:latin typeface="+mn-ea"/>
              </a:rPr>
              <a:t>选择基数</a:t>
            </a:r>
            <a:endParaRPr lang="en-US" altLang="zh-CN" dirty="0">
              <a:latin typeface="+mn-ea"/>
            </a:endParaRPr>
          </a:p>
          <a:p>
            <a:pPr marL="457200" lvl="1" indent="0">
              <a:buNone/>
            </a:pPr>
            <a:r>
              <a:rPr lang="en-US" altLang="zh-CN" dirty="0">
                <a:latin typeface="+mn-ea"/>
              </a:rPr>
              <a:t>	  SC(A,R)= N</a:t>
            </a:r>
            <a:r>
              <a:rPr lang="en-US" altLang="zh-CN" baseline="-25000" dirty="0">
                <a:latin typeface="+mn-ea"/>
              </a:rPr>
              <a:t>R </a:t>
            </a:r>
            <a:r>
              <a:rPr lang="en-US" altLang="zh-CN" dirty="0">
                <a:latin typeface="+mn-ea"/>
              </a:rPr>
              <a:t>/V(A,R)</a:t>
            </a:r>
          </a:p>
          <a:p>
            <a:pPr lvl="2" indent="0">
              <a:buNone/>
            </a:pPr>
            <a:r>
              <a:rPr lang="zh-CN" altLang="en-US" sz="2400" dirty="0">
                <a:latin typeface="+mn-ea"/>
              </a:rPr>
              <a:t>选择基数是关系</a:t>
            </a:r>
            <a:r>
              <a:rPr lang="en-US" altLang="zh-CN" sz="2400" dirty="0">
                <a:latin typeface="+mn-ea"/>
              </a:rPr>
              <a:t>R</a:t>
            </a:r>
            <a:r>
              <a:rPr lang="zh-CN" altLang="en-US" sz="2400" dirty="0">
                <a:latin typeface="+mn-ea"/>
              </a:rPr>
              <a:t>中对于属性</a:t>
            </a:r>
            <a:r>
              <a:rPr lang="en-US" altLang="zh-CN" sz="2400" dirty="0">
                <a:latin typeface="+mn-ea"/>
              </a:rPr>
              <a:t>A</a:t>
            </a:r>
            <a:r>
              <a:rPr lang="zh-CN" altLang="en-US" sz="2400" dirty="0">
                <a:latin typeface="+mn-ea"/>
              </a:rPr>
              <a:t>的每个值的元组平均数量，表明该属性作为选择属性能选择到多少元组，查询优化</a:t>
            </a:r>
            <a:r>
              <a:rPr lang="zh-CN" altLang="en-US" sz="2400" dirty="0">
                <a:solidFill>
                  <a:srgbClr val="FF0000"/>
                </a:solidFill>
                <a:latin typeface="+mn-ea"/>
              </a:rPr>
              <a:t>优先选择</a:t>
            </a:r>
            <a:r>
              <a:rPr lang="en-US" altLang="zh-CN" sz="2400" dirty="0">
                <a:solidFill>
                  <a:srgbClr val="FF0000"/>
                </a:solidFill>
                <a:latin typeface="+mn-ea"/>
              </a:rPr>
              <a:t>SC(A,R)</a:t>
            </a:r>
            <a:r>
              <a:rPr lang="zh-CN" altLang="en-US" sz="2400" dirty="0">
                <a:solidFill>
                  <a:srgbClr val="FF0000"/>
                </a:solidFill>
                <a:latin typeface="+mn-ea"/>
              </a:rPr>
              <a:t>较小的属性</a:t>
            </a:r>
            <a:r>
              <a:rPr lang="zh-CN" altLang="en-US" sz="2400" dirty="0">
                <a:latin typeface="+mn-ea"/>
              </a:rPr>
              <a:t>。但是这个参数能如此有效运用的前提假设是数据均匀分布。</a:t>
            </a:r>
          </a:p>
        </p:txBody>
      </p:sp>
      <p:sp>
        <p:nvSpPr>
          <p:cNvPr id="5" name="矩形 4"/>
          <p:cNvSpPr/>
          <p:nvPr/>
        </p:nvSpPr>
        <p:spPr>
          <a:xfrm>
            <a:off x="539552" y="620688"/>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48</a:t>
            </a:fld>
            <a:endParaRPr lang="en-US" altLang="zh-C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412776"/>
            <a:ext cx="7772400" cy="4683224"/>
          </a:xfrm>
        </p:spPr>
        <p:txBody>
          <a:bodyPr/>
          <a:lstStyle/>
          <a:p>
            <a:r>
              <a:rPr lang="zh-CN" altLang="en-US" sz="2400" dirty="0">
                <a:latin typeface="+mn-ea"/>
              </a:rPr>
              <a:t>复合谓词选择率估计</a:t>
            </a:r>
            <a:endParaRPr lang="en-US" altLang="zh-CN" sz="2400" dirty="0">
              <a:latin typeface="+mn-ea"/>
            </a:endParaRPr>
          </a:p>
          <a:p>
            <a:pPr lvl="1"/>
            <a:r>
              <a:rPr lang="zh-CN" altLang="en-US" dirty="0">
                <a:latin typeface="+mn-ea"/>
              </a:rPr>
              <a:t>复合谓词</a:t>
            </a:r>
            <a:r>
              <a:rPr lang="en-US" altLang="zh-CN" dirty="0">
                <a:latin typeface="+mn-ea"/>
              </a:rPr>
              <a:t>P</a:t>
            </a:r>
            <a:r>
              <a:rPr lang="zh-CN" altLang="en-US" dirty="0">
                <a:latin typeface="+mn-ea"/>
              </a:rPr>
              <a:t>的选择率（</a:t>
            </a:r>
            <a:r>
              <a:rPr lang="en-US" altLang="zh-CN" dirty="0">
                <a:latin typeface="+mn-ea"/>
              </a:rPr>
              <a:t>selectivity</a:t>
            </a:r>
            <a:r>
              <a:rPr lang="zh-CN" altLang="en-US" dirty="0">
                <a:latin typeface="+mn-ea"/>
              </a:rPr>
              <a:t>）：指的是复合谓词</a:t>
            </a:r>
            <a:r>
              <a:rPr lang="en-US" altLang="zh-CN" dirty="0">
                <a:latin typeface="+mn-ea"/>
              </a:rPr>
              <a:t>P</a:t>
            </a:r>
            <a:r>
              <a:rPr lang="zh-CN" altLang="en-US" dirty="0">
                <a:latin typeface="+mn-ea"/>
              </a:rPr>
              <a:t>的元组占有率。</a:t>
            </a:r>
            <a:endParaRPr lang="en-US" altLang="zh-CN" dirty="0">
              <a:latin typeface="+mn-ea"/>
            </a:endParaRPr>
          </a:p>
          <a:p>
            <a:pPr lvl="1"/>
            <a:r>
              <a:rPr lang="zh-CN" altLang="en-US" dirty="0">
                <a:latin typeface="+mn-ea"/>
              </a:rPr>
              <a:t>选择率依赖于谓词</a:t>
            </a:r>
            <a:r>
              <a:rPr lang="en-US" altLang="zh-CN" dirty="0">
                <a:latin typeface="+mn-ea"/>
              </a:rPr>
              <a:t>P</a:t>
            </a:r>
            <a:r>
              <a:rPr lang="zh-CN" altLang="en-US" dirty="0">
                <a:latin typeface="+mn-ea"/>
              </a:rPr>
              <a:t>的类型</a:t>
            </a:r>
            <a:endParaRPr lang="en-US" altLang="zh-CN" dirty="0">
              <a:latin typeface="+mn-ea"/>
            </a:endParaRPr>
          </a:p>
          <a:p>
            <a:pPr lvl="2">
              <a:buFont typeface="Wingdings" panose="05000000000000000000" pitchFamily="2" charset="2"/>
              <a:buChar char="n"/>
            </a:pPr>
            <a:r>
              <a:rPr lang="zh-CN" altLang="en-US" sz="2400" dirty="0">
                <a:latin typeface="+mn-ea"/>
              </a:rPr>
              <a:t>相等</a:t>
            </a:r>
            <a:endParaRPr lang="en-US" altLang="zh-CN" sz="2400" dirty="0">
              <a:latin typeface="+mn-ea"/>
            </a:endParaRPr>
          </a:p>
          <a:p>
            <a:pPr lvl="2">
              <a:buFont typeface="Wingdings" panose="05000000000000000000" pitchFamily="2" charset="2"/>
              <a:buChar char="n"/>
            </a:pPr>
            <a:r>
              <a:rPr lang="zh-CN" altLang="en-US" sz="2400" dirty="0">
                <a:latin typeface="+mn-ea"/>
              </a:rPr>
              <a:t>范围</a:t>
            </a:r>
            <a:endParaRPr lang="en-US" altLang="zh-CN" sz="2400" dirty="0">
              <a:latin typeface="+mn-ea"/>
            </a:endParaRPr>
          </a:p>
          <a:p>
            <a:pPr lvl="2">
              <a:buFont typeface="Wingdings" panose="05000000000000000000" pitchFamily="2" charset="2"/>
              <a:buChar char="n"/>
            </a:pPr>
            <a:r>
              <a:rPr lang="zh-CN" altLang="en-US" sz="2400" dirty="0">
                <a:latin typeface="+mn-ea"/>
              </a:rPr>
              <a:t>非</a:t>
            </a:r>
            <a:endParaRPr lang="en-US" altLang="zh-CN" sz="2400" dirty="0">
              <a:latin typeface="+mn-ea"/>
            </a:endParaRPr>
          </a:p>
          <a:p>
            <a:pPr lvl="2">
              <a:buFont typeface="Wingdings" panose="05000000000000000000" pitchFamily="2" charset="2"/>
              <a:buChar char="n"/>
            </a:pPr>
            <a:r>
              <a:rPr lang="zh-CN" altLang="en-US" sz="2400" dirty="0">
                <a:latin typeface="+mn-ea"/>
              </a:rPr>
              <a:t>与</a:t>
            </a:r>
            <a:endParaRPr lang="en-US" altLang="zh-CN" sz="2400" dirty="0">
              <a:latin typeface="+mn-ea"/>
            </a:endParaRPr>
          </a:p>
          <a:p>
            <a:pPr lvl="2">
              <a:buFont typeface="Wingdings" panose="05000000000000000000" pitchFamily="2" charset="2"/>
              <a:buChar char="n"/>
            </a:pPr>
            <a:r>
              <a:rPr lang="zh-CN" altLang="en-US" sz="2400" dirty="0">
                <a:latin typeface="+mn-ea"/>
              </a:rPr>
              <a:t>或</a:t>
            </a:r>
            <a:br>
              <a:rPr lang="en-US" altLang="zh-CN" dirty="0"/>
            </a:br>
            <a:endParaRPr lang="zh-CN" altLang="en-US" dirty="0"/>
          </a:p>
        </p:txBody>
      </p:sp>
      <p:sp>
        <p:nvSpPr>
          <p:cNvPr id="5" name="矩形 4"/>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49</a:t>
            </a:fld>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268760"/>
            <a:ext cx="7772400" cy="4573860"/>
          </a:xfrm>
        </p:spPr>
        <p:txBody>
          <a:bodyPr/>
          <a:lstStyle/>
          <a:p>
            <a:pPr marL="457200" lvl="1" indent="0">
              <a:buNone/>
            </a:pPr>
            <a:r>
              <a:rPr lang="zh-CN" altLang="en-US" dirty="0">
                <a:latin typeface="+mn-ea"/>
              </a:rPr>
              <a:t>假设</a:t>
            </a:r>
            <a:r>
              <a:rPr lang="en-US" altLang="zh-CN" dirty="0">
                <a:latin typeface="+mn-ea"/>
              </a:rPr>
              <a:t>V(age,people)</a:t>
            </a:r>
            <a:r>
              <a:rPr lang="zh-CN" altLang="en-US" dirty="0">
                <a:latin typeface="+mn-ea"/>
              </a:rPr>
              <a:t>具有</a:t>
            </a:r>
            <a:r>
              <a:rPr lang="en-US" altLang="zh-CN" dirty="0">
                <a:latin typeface="+mn-ea"/>
              </a:rPr>
              <a:t>5</a:t>
            </a:r>
            <a:r>
              <a:rPr lang="zh-CN" altLang="en-US" dirty="0">
                <a:latin typeface="+mn-ea"/>
              </a:rPr>
              <a:t>个不同的值（</a:t>
            </a:r>
            <a:r>
              <a:rPr lang="en-US" altLang="zh-CN" dirty="0">
                <a:latin typeface="+mn-ea"/>
              </a:rPr>
              <a:t>18-22</a:t>
            </a:r>
            <a:r>
              <a:rPr lang="zh-CN" altLang="en-US" dirty="0">
                <a:latin typeface="+mn-ea"/>
              </a:rPr>
              <a:t>）且</a:t>
            </a:r>
            <a:r>
              <a:rPr lang="en-US" altLang="zh-CN" dirty="0">
                <a:latin typeface="+mn-ea"/>
              </a:rPr>
              <a:t>N</a:t>
            </a:r>
            <a:r>
              <a:rPr lang="en-US" altLang="zh-CN" baseline="-25000" dirty="0">
                <a:latin typeface="+mn-ea"/>
              </a:rPr>
              <a:t>R</a:t>
            </a:r>
            <a:r>
              <a:rPr lang="en-US" altLang="zh-CN" dirty="0">
                <a:latin typeface="+mn-ea"/>
              </a:rPr>
              <a:t>=5</a:t>
            </a:r>
            <a:r>
              <a:rPr lang="zh-CN" altLang="en-US" dirty="0">
                <a:latin typeface="+mn-ea"/>
              </a:rPr>
              <a:t>。</a:t>
            </a:r>
            <a:r>
              <a:rPr lang="en-US" altLang="zh-CN" dirty="0">
                <a:latin typeface="+mn-ea"/>
              </a:rPr>
              <a:t>     </a:t>
            </a:r>
          </a:p>
          <a:p>
            <a:r>
              <a:rPr lang="zh-CN" altLang="en-US" sz="2400" dirty="0">
                <a:latin typeface="+mn-ea"/>
              </a:rPr>
              <a:t>相等谓词</a:t>
            </a:r>
            <a:endParaRPr lang="en-US" altLang="zh-CN" sz="2400" dirty="0">
              <a:latin typeface="+mn-ea"/>
            </a:endParaRPr>
          </a:p>
          <a:p>
            <a:pPr marL="0" indent="0">
              <a:buNone/>
            </a:pPr>
            <a:r>
              <a:rPr lang="zh-CN" altLang="en-US" sz="2400" dirty="0">
                <a:latin typeface="+mn-ea"/>
              </a:rPr>
              <a:t>   查询：</a:t>
            </a:r>
            <a:r>
              <a:rPr lang="en-US" altLang="zh-CN" sz="2400" dirty="0">
                <a:latin typeface="+mn-ea"/>
              </a:rPr>
              <a:t>Select * from People where age=20 </a:t>
            </a:r>
          </a:p>
          <a:p>
            <a:pPr marL="0" indent="0">
              <a:buNone/>
            </a:pPr>
            <a:r>
              <a:rPr lang="en-US" altLang="zh-CN" sz="2400" dirty="0">
                <a:latin typeface="+mn-ea"/>
              </a:rPr>
              <a:t>       </a:t>
            </a:r>
            <a:r>
              <a:rPr lang="zh-CN" altLang="en-US" sz="2400" dirty="0">
                <a:latin typeface="+mn-ea"/>
              </a:rPr>
              <a:t>用的是相等谓词：</a:t>
            </a:r>
            <a:r>
              <a:rPr lang="en-US" altLang="zh-CN" sz="2400" dirty="0">
                <a:latin typeface="+mn-ea"/>
              </a:rPr>
              <a:t>A=constant</a:t>
            </a:r>
          </a:p>
          <a:p>
            <a:pPr marL="0" indent="0">
              <a:buNone/>
            </a:pPr>
            <a:r>
              <a:rPr lang="en-US" altLang="zh-CN" sz="2400" dirty="0">
                <a:latin typeface="+mn-ea"/>
              </a:rPr>
              <a:t>  </a:t>
            </a:r>
            <a:r>
              <a:rPr lang="zh-CN" altLang="en-US" sz="2400" dirty="0">
                <a:latin typeface="+mn-ea"/>
              </a:rPr>
              <a:t>相等谓词的选择率：</a:t>
            </a:r>
            <a:r>
              <a:rPr lang="en-US" altLang="zh-CN" sz="2400" dirty="0">
                <a:latin typeface="+mn-ea"/>
              </a:rPr>
              <a:t>Sel(A=constant)=SC(P)/N</a:t>
            </a:r>
            <a:r>
              <a:rPr lang="en-US" altLang="zh-CN" sz="2400" baseline="-25000" dirty="0">
                <a:latin typeface="+mn-ea"/>
              </a:rPr>
              <a:t>R</a:t>
            </a:r>
            <a:endParaRPr lang="en-US" altLang="zh-CN" sz="2400" dirty="0">
              <a:latin typeface="+mn-ea"/>
            </a:endParaRPr>
          </a:p>
          <a:p>
            <a:pPr marL="457200" lvl="1" indent="0">
              <a:buNone/>
            </a:pPr>
            <a:r>
              <a:rPr lang="en-US" altLang="zh-CN" dirty="0">
                <a:latin typeface="+mn-ea"/>
              </a:rPr>
              <a:t>    </a:t>
            </a:r>
            <a:r>
              <a:rPr lang="en-US" altLang="zh-CN" dirty="0" err="1">
                <a:latin typeface="+mn-ea"/>
              </a:rPr>
              <a:t>Sel</a:t>
            </a:r>
            <a:r>
              <a:rPr lang="en-US" altLang="zh-CN" dirty="0">
                <a:latin typeface="+mn-ea"/>
              </a:rPr>
              <a:t>(age=20)=1/5</a:t>
            </a:r>
          </a:p>
          <a:p>
            <a:pPr marL="457200" lvl="1" indent="0">
              <a:buNone/>
            </a:pPr>
            <a:endParaRPr lang="zh-CN" altLang="en-US" dirty="0"/>
          </a:p>
        </p:txBody>
      </p:sp>
      <p:graphicFrame>
        <p:nvGraphicFramePr>
          <p:cNvPr id="6" name="图表 5"/>
          <p:cNvGraphicFramePr/>
          <p:nvPr/>
        </p:nvGraphicFramePr>
        <p:xfrm>
          <a:off x="1524000" y="4573240"/>
          <a:ext cx="6096000" cy="2032000"/>
        </p:xfrm>
        <a:graphic>
          <a:graphicData uri="http://schemas.openxmlformats.org/drawingml/2006/chart">
            <c:chart xmlns:c="http://schemas.openxmlformats.org/drawingml/2006/chart" xmlns:r="http://schemas.openxmlformats.org/officeDocument/2006/relationships" r:id="rId2"/>
          </a:graphicData>
        </a:graphic>
      </p:graphicFrame>
      <p:sp>
        <p:nvSpPr>
          <p:cNvPr id="5" name="矩形 4"/>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7" name="矩形 6"/>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对话气泡: 圆角矩形 1"/>
          <p:cNvSpPr/>
          <p:nvPr/>
        </p:nvSpPr>
        <p:spPr>
          <a:xfrm>
            <a:off x="6156176" y="3960592"/>
            <a:ext cx="2263924" cy="764552"/>
          </a:xfrm>
          <a:prstGeom prst="wedgeRoundRectCallout">
            <a:avLst>
              <a:gd name="adj1" fmla="val -25783"/>
              <a:gd name="adj2" fmla="val -11539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latin typeface="+mn-ea"/>
              </a:rPr>
              <a:t>SC(P)</a:t>
            </a:r>
            <a:r>
              <a:rPr lang="zh-CN" altLang="en-US" dirty="0">
                <a:latin typeface="+mn-ea"/>
              </a:rPr>
              <a:t>：满足条件</a:t>
            </a:r>
            <a:r>
              <a:rPr lang="en-US" altLang="zh-CN" dirty="0">
                <a:latin typeface="+mn-ea"/>
              </a:rPr>
              <a:t>P</a:t>
            </a:r>
            <a:r>
              <a:rPr lang="zh-CN" altLang="en-US" dirty="0">
                <a:latin typeface="+mn-ea"/>
              </a:rPr>
              <a:t>的元组数</a:t>
            </a:r>
            <a:endParaRPr lang="zh-CN" altLang="en-US" dirty="0"/>
          </a:p>
        </p:txBody>
      </p:sp>
      <p:sp>
        <p:nvSpPr>
          <p:cNvPr id="4" name="灯片编号占位符 3"/>
          <p:cNvSpPr>
            <a:spLocks noGrp="1"/>
          </p:cNvSpPr>
          <p:nvPr>
            <p:ph type="sldNum" sz="quarter" idx="12"/>
          </p:nvPr>
        </p:nvSpPr>
        <p:spPr/>
        <p:txBody>
          <a:bodyPr/>
          <a:lstStyle/>
          <a:p>
            <a:pPr>
              <a:defRPr/>
            </a:pPr>
            <a:fld id="{BCABB3B7-40FC-498F-90D6-69ECBA7F181C}" type="slidenum">
              <a:rPr lang="zh-CN" altLang="en-US" smtClean="0"/>
              <a:t>50</a:t>
            </a:fld>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412776"/>
            <a:ext cx="7772400" cy="4683224"/>
          </a:xfrm>
        </p:spPr>
        <p:txBody>
          <a:bodyPr/>
          <a:lstStyle/>
          <a:p>
            <a:r>
              <a:rPr lang="zh-CN" altLang="en-US" sz="2400" dirty="0">
                <a:latin typeface="+mn-ea"/>
              </a:rPr>
              <a:t>范围谓词</a:t>
            </a:r>
            <a:endParaRPr lang="en-US" altLang="zh-CN" sz="2400" dirty="0">
              <a:latin typeface="+mn-ea"/>
            </a:endParaRPr>
          </a:p>
          <a:p>
            <a:pPr marL="457200" lvl="1" indent="0">
              <a:buNone/>
            </a:pPr>
            <a:r>
              <a:rPr lang="en-US" altLang="zh-CN" dirty="0">
                <a:latin typeface="+mn-ea"/>
              </a:rPr>
              <a:t>Sel(A&gt;=a)  =  (A</a:t>
            </a:r>
            <a:r>
              <a:rPr lang="en-US" altLang="zh-CN" baseline="-25000" dirty="0">
                <a:latin typeface="+mn-ea"/>
              </a:rPr>
              <a:t>max</a:t>
            </a:r>
            <a:r>
              <a:rPr lang="en-US" altLang="zh-CN" dirty="0">
                <a:latin typeface="+mn-ea"/>
              </a:rPr>
              <a:t>-a+1)/((A</a:t>
            </a:r>
            <a:r>
              <a:rPr lang="en-US" altLang="zh-CN" baseline="-25000" dirty="0">
                <a:latin typeface="+mn-ea"/>
              </a:rPr>
              <a:t>max</a:t>
            </a:r>
            <a:r>
              <a:rPr lang="en-US" altLang="zh-CN" dirty="0">
                <a:latin typeface="+mn-ea"/>
              </a:rPr>
              <a:t>-A</a:t>
            </a:r>
            <a:r>
              <a:rPr lang="en-US" altLang="zh-CN" baseline="-25000" dirty="0">
                <a:latin typeface="+mn-ea"/>
              </a:rPr>
              <a:t>min</a:t>
            </a:r>
            <a:r>
              <a:rPr lang="en-US" altLang="zh-CN" dirty="0">
                <a:latin typeface="+mn-ea"/>
              </a:rPr>
              <a:t>+1))</a:t>
            </a:r>
          </a:p>
          <a:p>
            <a:pPr marL="457200" lvl="1" indent="0">
              <a:buNone/>
            </a:pPr>
            <a:r>
              <a:rPr lang="zh-CN" altLang="en-US" dirty="0">
                <a:latin typeface="+mn-ea"/>
              </a:rPr>
              <a:t>查询：</a:t>
            </a:r>
            <a:r>
              <a:rPr lang="en-US" altLang="zh-CN" dirty="0">
                <a:latin typeface="+mn-ea"/>
              </a:rPr>
              <a:t>Select * from People where age&gt;=20</a:t>
            </a:r>
          </a:p>
          <a:p>
            <a:pPr marL="457200" lvl="1" indent="0">
              <a:buNone/>
            </a:pPr>
            <a:r>
              <a:rPr lang="en-US" altLang="zh-CN" dirty="0">
                <a:latin typeface="+mn-ea"/>
              </a:rPr>
              <a:t>  </a:t>
            </a:r>
            <a:r>
              <a:rPr lang="zh-CN" altLang="en-US" dirty="0">
                <a:latin typeface="+mn-ea"/>
              </a:rPr>
              <a:t>对应的</a:t>
            </a:r>
            <a:r>
              <a:rPr lang="en-US" altLang="zh-CN" dirty="0" err="1">
                <a:latin typeface="+mn-ea"/>
              </a:rPr>
              <a:t>Sel</a:t>
            </a:r>
            <a:r>
              <a:rPr lang="en-US" altLang="zh-CN" dirty="0">
                <a:latin typeface="+mn-ea"/>
              </a:rPr>
              <a:t>(age&gt;=20)=(22-20+1)/(22-18+1)=3/5</a:t>
            </a:r>
          </a:p>
          <a:p>
            <a:pPr marL="457200" lvl="1" indent="0">
              <a:buNone/>
            </a:pPr>
            <a:endParaRPr lang="zh-CN" altLang="en-US" dirty="0"/>
          </a:p>
        </p:txBody>
      </p:sp>
      <p:graphicFrame>
        <p:nvGraphicFramePr>
          <p:cNvPr id="4" name="图表 3"/>
          <p:cNvGraphicFramePr/>
          <p:nvPr/>
        </p:nvGraphicFramePr>
        <p:xfrm>
          <a:off x="1524000" y="4088865"/>
          <a:ext cx="6096000" cy="2032000"/>
        </p:xfrm>
        <a:graphic>
          <a:graphicData uri="http://schemas.openxmlformats.org/drawingml/2006/chart">
            <c:chart xmlns:c="http://schemas.openxmlformats.org/drawingml/2006/chart" xmlns:r="http://schemas.openxmlformats.org/officeDocument/2006/relationships" r:id="rId2"/>
          </a:graphicData>
        </a:graphic>
      </p:graphicFrame>
      <p:sp>
        <p:nvSpPr>
          <p:cNvPr id="5" name="对话气泡: 矩形 4"/>
          <p:cNvSpPr/>
          <p:nvPr/>
        </p:nvSpPr>
        <p:spPr bwMode="auto">
          <a:xfrm>
            <a:off x="1907704" y="4088865"/>
            <a:ext cx="1008112" cy="648072"/>
          </a:xfrm>
          <a:prstGeom prst="wedgeRectCallout">
            <a:avLst>
              <a:gd name="adj1" fmla="val 6522"/>
              <a:gd name="adj2" fmla="val 112111"/>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Age</a:t>
            </a:r>
            <a:r>
              <a:rPr kumimoji="1" lang="en-US" altLang="zh-CN" sz="1400" b="1" i="0" u="none" strike="noStrike" kern="1200" cap="none" spc="0" normalizeH="0" baseline="-25000" noProof="0" dirty="0" err="1">
                <a:ln>
                  <a:noFill/>
                </a:ln>
                <a:solidFill>
                  <a:prstClr val="black"/>
                </a:solidFill>
                <a:effectLst/>
                <a:uLnTx/>
                <a:uFillTx/>
                <a:latin typeface="Tahoma" panose="020B0604030504040204" pitchFamily="34" charset="0"/>
                <a:ea typeface="宋体" panose="02010600030101010101" pitchFamily="2" charset="-122"/>
                <a:cs typeface="+mn-cs"/>
              </a:rPr>
              <a:t>min</a:t>
            </a: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=18</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 name="对话气泡: 矩形 5"/>
          <p:cNvSpPr/>
          <p:nvPr/>
        </p:nvSpPr>
        <p:spPr bwMode="auto">
          <a:xfrm>
            <a:off x="6516216" y="4005064"/>
            <a:ext cx="1008112" cy="648072"/>
          </a:xfrm>
          <a:prstGeom prst="wedgeRectCallout">
            <a:avLst>
              <a:gd name="adj1" fmla="val -10223"/>
              <a:gd name="adj2" fmla="val 120794"/>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Age</a:t>
            </a:r>
            <a:r>
              <a:rPr kumimoji="1" lang="en-US" altLang="zh-CN" sz="1400" b="1" i="0" u="none" strike="noStrike" kern="1200" cap="none" spc="0" normalizeH="0" baseline="-25000" noProof="0" dirty="0" err="1">
                <a:ln>
                  <a:noFill/>
                </a:ln>
                <a:solidFill>
                  <a:prstClr val="black"/>
                </a:solidFill>
                <a:effectLst/>
                <a:uLnTx/>
                <a:uFillTx/>
                <a:latin typeface="Tahoma" panose="020B0604030504040204" pitchFamily="34" charset="0"/>
                <a:ea typeface="宋体" panose="02010600030101010101" pitchFamily="2" charset="-122"/>
                <a:cs typeface="+mn-cs"/>
              </a:rPr>
              <a:t>max</a:t>
            </a: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=22</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8" name="矩形 7"/>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7" name="矩形 6"/>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51</a:t>
            </a:fld>
            <a:endParaRPr lang="en-US" altLang="zh-C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340768"/>
            <a:ext cx="7772400" cy="4755232"/>
          </a:xfrm>
        </p:spPr>
        <p:txBody>
          <a:bodyPr/>
          <a:lstStyle/>
          <a:p>
            <a:r>
              <a:rPr lang="zh-CN" altLang="en-US" dirty="0"/>
              <a:t>非谓词</a:t>
            </a:r>
            <a:endParaRPr lang="en-US" altLang="zh-CN" dirty="0"/>
          </a:p>
          <a:p>
            <a:pPr marL="457200" lvl="1" indent="0">
              <a:buNone/>
            </a:pPr>
            <a:r>
              <a:rPr lang="en-US" altLang="zh-CN" dirty="0">
                <a:latin typeface="+mn-ea"/>
              </a:rPr>
              <a:t>Sel(!P)=1-sel(P)</a:t>
            </a:r>
          </a:p>
          <a:p>
            <a:pPr marL="457200" lvl="1" indent="0">
              <a:buNone/>
            </a:pPr>
            <a:r>
              <a:rPr lang="zh-CN" altLang="en-US" sz="2800" dirty="0">
                <a:latin typeface="+mn-ea"/>
              </a:rPr>
              <a:t>查询：</a:t>
            </a:r>
            <a:r>
              <a:rPr lang="en-US" altLang="zh-CN" sz="2800" dirty="0">
                <a:latin typeface="+mn-ea"/>
              </a:rPr>
              <a:t>Select * from People where age!=20</a:t>
            </a:r>
            <a:endParaRPr lang="en-US" altLang="zh-CN" dirty="0">
              <a:latin typeface="+mn-ea"/>
            </a:endParaRPr>
          </a:p>
          <a:p>
            <a:pPr marL="457200" lvl="1" indent="0">
              <a:buNone/>
            </a:pPr>
            <a:r>
              <a:rPr lang="zh-CN" altLang="en-US" dirty="0">
                <a:latin typeface="+mn-ea"/>
              </a:rPr>
              <a:t>   对应的</a:t>
            </a:r>
            <a:r>
              <a:rPr lang="en-US" altLang="zh-CN" dirty="0" err="1">
                <a:latin typeface="+mn-ea"/>
              </a:rPr>
              <a:t>Sel</a:t>
            </a:r>
            <a:r>
              <a:rPr lang="en-US" altLang="zh-CN" dirty="0">
                <a:latin typeface="+mn-ea"/>
              </a:rPr>
              <a:t>(age!=20) =  1-1/5 = 4/5</a:t>
            </a:r>
          </a:p>
          <a:p>
            <a:pPr marL="457200" lvl="1" indent="0">
              <a:buNone/>
            </a:pPr>
            <a:endParaRPr lang="zh-CN" altLang="en-US" dirty="0"/>
          </a:p>
        </p:txBody>
      </p:sp>
      <p:graphicFrame>
        <p:nvGraphicFramePr>
          <p:cNvPr id="4" name="图表 3"/>
          <p:cNvGraphicFramePr/>
          <p:nvPr/>
        </p:nvGraphicFramePr>
        <p:xfrm>
          <a:off x="1524000" y="4088865"/>
          <a:ext cx="6096000" cy="2032000"/>
        </p:xfrm>
        <a:graphic>
          <a:graphicData uri="http://schemas.openxmlformats.org/drawingml/2006/chart">
            <c:chart xmlns:c="http://schemas.openxmlformats.org/drawingml/2006/chart" xmlns:r="http://schemas.openxmlformats.org/officeDocument/2006/relationships" r:id="rId2"/>
          </a:graphicData>
        </a:graphic>
      </p:graphicFrame>
      <p:sp>
        <p:nvSpPr>
          <p:cNvPr id="5" name="对话气泡: 矩形 4"/>
          <p:cNvSpPr/>
          <p:nvPr/>
        </p:nvSpPr>
        <p:spPr bwMode="auto">
          <a:xfrm>
            <a:off x="1619672" y="3681028"/>
            <a:ext cx="1512168" cy="648072"/>
          </a:xfrm>
          <a:prstGeom prst="wedgeRectCallout">
            <a:avLst>
              <a:gd name="adj1" fmla="val 2859"/>
              <a:gd name="adj2" fmla="val 122964"/>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SC(age!=20)=2</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 name="对话气泡: 矩形 5"/>
          <p:cNvSpPr/>
          <p:nvPr/>
        </p:nvSpPr>
        <p:spPr bwMode="auto">
          <a:xfrm>
            <a:off x="5796136" y="3578008"/>
            <a:ext cx="1697211" cy="648072"/>
          </a:xfrm>
          <a:prstGeom prst="wedgeRectCallout">
            <a:avLst>
              <a:gd name="adj1" fmla="val -35918"/>
              <a:gd name="adj2" fmla="val 127306"/>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SC(age!=20)=2</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 name="矩形 1"/>
          <p:cNvSpPr/>
          <p:nvPr/>
        </p:nvSpPr>
        <p:spPr bwMode="auto">
          <a:xfrm>
            <a:off x="2051720" y="4797152"/>
            <a:ext cx="1944216" cy="1152128"/>
          </a:xfrm>
          <a:prstGeom prst="rect">
            <a:avLst/>
          </a:prstGeom>
          <a:solidFill>
            <a:srgbClr val="FF0000">
              <a:alpha val="0"/>
            </a:srgbClr>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矩形 6"/>
          <p:cNvSpPr/>
          <p:nvPr/>
        </p:nvSpPr>
        <p:spPr bwMode="auto">
          <a:xfrm>
            <a:off x="5508104" y="4725144"/>
            <a:ext cx="1944216" cy="1152128"/>
          </a:xfrm>
          <a:prstGeom prst="rect">
            <a:avLst/>
          </a:prstGeom>
          <a:solidFill>
            <a:srgbClr val="FF0000">
              <a:alpha val="0"/>
            </a:srgbClr>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矩形 8"/>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10" name="矩形 9"/>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8" name="灯片编号占位符 7"/>
          <p:cNvSpPr>
            <a:spLocks noGrp="1"/>
          </p:cNvSpPr>
          <p:nvPr>
            <p:ph type="sldNum" sz="quarter" idx="12"/>
          </p:nvPr>
        </p:nvSpPr>
        <p:spPr/>
        <p:txBody>
          <a:bodyPr/>
          <a:lstStyle/>
          <a:p>
            <a:pPr>
              <a:defRPr/>
            </a:pPr>
            <a:fld id="{BCABB3B7-40FC-498F-90D6-69ECBA7F181C}" type="slidenum">
              <a:rPr lang="zh-CN" altLang="en-US" smtClean="0"/>
              <a:t>52</a:t>
            </a:fld>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628800"/>
            <a:ext cx="7772400" cy="4467200"/>
          </a:xfrm>
        </p:spPr>
        <p:txBody>
          <a:bodyPr/>
          <a:lstStyle/>
          <a:p>
            <a:r>
              <a:rPr lang="zh-CN" altLang="en-US" sz="2400" dirty="0">
                <a:latin typeface="+mn-ea"/>
              </a:rPr>
              <a:t>与谓词</a:t>
            </a:r>
            <a:endParaRPr lang="en-US" altLang="zh-CN" sz="2400" dirty="0">
              <a:latin typeface="+mn-ea"/>
            </a:endParaRPr>
          </a:p>
          <a:p>
            <a:pPr marL="457200" lvl="1" indent="0">
              <a:buNone/>
            </a:pPr>
            <a:r>
              <a:rPr lang="zh-CN" altLang="en-US" dirty="0">
                <a:latin typeface="+mn-ea"/>
              </a:rPr>
              <a:t>当谓词之间的选择相互独立时</a:t>
            </a:r>
            <a:endParaRPr lang="en-US" altLang="zh-CN" dirty="0">
              <a:latin typeface="+mn-ea"/>
            </a:endParaRPr>
          </a:p>
          <a:p>
            <a:pPr marL="457200" lvl="1" indent="0">
              <a:buNone/>
            </a:pPr>
            <a:r>
              <a:rPr lang="en-US" altLang="zh-CN" dirty="0">
                <a:latin typeface="+mn-ea"/>
              </a:rPr>
              <a:t>Sel(P1∧P2)=sel(P1)×sel(P2)</a:t>
            </a:r>
          </a:p>
          <a:p>
            <a:pPr marL="457200" lvl="1" indent="0">
              <a:buNone/>
            </a:pPr>
            <a:r>
              <a:rPr lang="zh-CN" altLang="en-US" dirty="0">
                <a:latin typeface="+mn-ea"/>
              </a:rPr>
              <a:t>查询：</a:t>
            </a:r>
            <a:endParaRPr lang="en-US" altLang="zh-CN" dirty="0">
              <a:latin typeface="+mn-ea"/>
            </a:endParaRPr>
          </a:p>
          <a:p>
            <a:pPr marL="457200" lvl="1" indent="0">
              <a:buNone/>
            </a:pPr>
            <a:r>
              <a:rPr lang="en-US" altLang="zh-CN" dirty="0">
                <a:latin typeface="+mn-ea"/>
              </a:rPr>
              <a:t>Select * from People </a:t>
            </a:r>
          </a:p>
          <a:p>
            <a:pPr marL="457200" lvl="1" indent="0">
              <a:buNone/>
            </a:pPr>
            <a:r>
              <a:rPr lang="en-US" altLang="zh-CN" dirty="0">
                <a:latin typeface="+mn-ea"/>
              </a:rPr>
              <a:t>where age=20 and name like ’ </a:t>
            </a:r>
            <a:r>
              <a:rPr lang="zh-CN" altLang="en-US" dirty="0">
                <a:latin typeface="+mn-ea"/>
              </a:rPr>
              <a:t>王</a:t>
            </a:r>
            <a:r>
              <a:rPr lang="en-US" altLang="zh-CN" dirty="0">
                <a:latin typeface="+mn-ea"/>
              </a:rPr>
              <a:t>%’</a:t>
            </a:r>
          </a:p>
          <a:p>
            <a:pPr marL="457200" lvl="1" indent="0">
              <a:buNone/>
            </a:pPr>
            <a:endParaRPr lang="en-US" altLang="zh-CN" dirty="0"/>
          </a:p>
          <a:p>
            <a:pPr marL="457200" lvl="1" indent="0">
              <a:buNone/>
            </a:pPr>
            <a:endParaRPr lang="en-US" altLang="zh-CN" dirty="0"/>
          </a:p>
          <a:p>
            <a:pPr marL="457200" lvl="1" indent="0">
              <a:buNone/>
            </a:pPr>
            <a:endParaRPr lang="en-US" altLang="zh-CN" dirty="0"/>
          </a:p>
          <a:p>
            <a:pPr marL="457200" lvl="1" indent="0">
              <a:buNone/>
            </a:pPr>
            <a:endParaRPr lang="en-US" altLang="zh-CN" dirty="0"/>
          </a:p>
          <a:p>
            <a:pPr marL="457200" lvl="1" indent="0">
              <a:buNone/>
            </a:pPr>
            <a:endParaRPr lang="zh-CN" altLang="en-US" dirty="0"/>
          </a:p>
        </p:txBody>
      </p:sp>
      <p:sp>
        <p:nvSpPr>
          <p:cNvPr id="8" name="椭圆 7"/>
          <p:cNvSpPr/>
          <p:nvPr/>
        </p:nvSpPr>
        <p:spPr bwMode="auto">
          <a:xfrm>
            <a:off x="3419872" y="4586808"/>
            <a:ext cx="2552092" cy="1866528"/>
          </a:xfrm>
          <a:prstGeom prst="ellipse">
            <a:avLst/>
          </a:prstGeom>
          <a:solidFill>
            <a:srgbClr val="0070C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椭圆 8"/>
          <p:cNvSpPr/>
          <p:nvPr/>
        </p:nvSpPr>
        <p:spPr bwMode="auto">
          <a:xfrm>
            <a:off x="2420144" y="4586808"/>
            <a:ext cx="2367880" cy="1866528"/>
          </a:xfrm>
          <a:prstGeom prst="ellipse">
            <a:avLst/>
          </a:prstGeom>
          <a:solidFill>
            <a:srgbClr val="FFFF0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0" name="矩形 9"/>
          <p:cNvSpPr/>
          <p:nvPr/>
        </p:nvSpPr>
        <p:spPr bwMode="auto">
          <a:xfrm>
            <a:off x="3759814" y="5308240"/>
            <a:ext cx="936104" cy="42366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P1∧P2</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矩形 6"/>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11" name="矩形 10"/>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53</a:t>
            </a:fld>
            <a:endParaRPr lang="en-US" altLang="zh-C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ph idx="1"/>
          </p:nvPr>
        </p:nvSpPr>
        <p:spPr>
          <a:xfrm>
            <a:off x="685800" y="1484784"/>
            <a:ext cx="7772400" cy="4611216"/>
          </a:xfrm>
        </p:spPr>
        <p:txBody>
          <a:bodyPr/>
          <a:lstStyle/>
          <a:p>
            <a:r>
              <a:rPr lang="zh-CN" altLang="en-US" sz="2400" dirty="0">
                <a:latin typeface="+mn-ea"/>
              </a:rPr>
              <a:t>或谓词</a:t>
            </a:r>
            <a:endParaRPr lang="en-US" altLang="zh-CN" sz="2400" dirty="0">
              <a:latin typeface="+mn-ea"/>
            </a:endParaRPr>
          </a:p>
          <a:p>
            <a:pPr marL="0" indent="0">
              <a:buNone/>
            </a:pPr>
            <a:r>
              <a:rPr lang="zh-CN" altLang="en-US" sz="2400" dirty="0">
                <a:latin typeface="+mn-ea"/>
              </a:rPr>
              <a:t>    当谓词之间的选择相互独立时</a:t>
            </a:r>
            <a:endParaRPr lang="en-US" altLang="zh-CN" sz="2400" dirty="0">
              <a:latin typeface="+mn-ea"/>
            </a:endParaRPr>
          </a:p>
          <a:p>
            <a:pPr marL="457200" lvl="1" indent="0">
              <a:buNone/>
            </a:pPr>
            <a:r>
              <a:rPr lang="en-US" altLang="zh-CN" dirty="0">
                <a:latin typeface="+mn-ea"/>
              </a:rPr>
              <a:t>Sel(P1∨P2)=sel(P1)+sel(P2)-Sel(P1∧P2)</a:t>
            </a:r>
          </a:p>
          <a:p>
            <a:pPr marL="457200" lvl="1" indent="0">
              <a:buNone/>
            </a:pPr>
            <a:r>
              <a:rPr lang="en-US" altLang="zh-CN" dirty="0">
                <a:latin typeface="+mn-ea"/>
              </a:rPr>
              <a:t>           = sel(P1)+sel(P2)-Sel(P1)×Sel(P2)</a:t>
            </a:r>
          </a:p>
          <a:p>
            <a:pPr marL="457200" lvl="1" indent="0">
              <a:buNone/>
            </a:pPr>
            <a:r>
              <a:rPr lang="zh-CN" altLang="en-US" dirty="0">
                <a:latin typeface="+mn-ea"/>
              </a:rPr>
              <a:t>查询：</a:t>
            </a:r>
            <a:r>
              <a:rPr lang="en-US" altLang="zh-CN" dirty="0">
                <a:latin typeface="+mn-ea"/>
              </a:rPr>
              <a:t>Select * from People </a:t>
            </a:r>
          </a:p>
          <a:p>
            <a:pPr marL="457200" lvl="1" indent="0">
              <a:buNone/>
            </a:pPr>
            <a:r>
              <a:rPr lang="en-US" altLang="zh-CN" dirty="0">
                <a:latin typeface="+mn-ea"/>
              </a:rPr>
              <a:t>where age=20 or name like ’ </a:t>
            </a:r>
            <a:r>
              <a:rPr lang="zh-CN" altLang="en-US" dirty="0">
                <a:latin typeface="+mn-ea"/>
              </a:rPr>
              <a:t>王</a:t>
            </a:r>
            <a:r>
              <a:rPr lang="en-US" altLang="zh-CN" dirty="0">
                <a:latin typeface="+mn-ea"/>
              </a:rPr>
              <a:t>%’</a:t>
            </a:r>
          </a:p>
          <a:p>
            <a:pPr marL="457200" lvl="1" indent="0">
              <a:buNone/>
            </a:pPr>
            <a:endParaRPr lang="en-US" altLang="zh-CN" dirty="0">
              <a:latin typeface="+mn-ea"/>
            </a:endParaRPr>
          </a:p>
          <a:p>
            <a:pPr marL="457200" lvl="1" indent="0">
              <a:buNone/>
            </a:pPr>
            <a:endParaRPr lang="en-US" altLang="zh-CN" dirty="0">
              <a:latin typeface="+mn-ea"/>
            </a:endParaRPr>
          </a:p>
          <a:p>
            <a:pPr marL="457200" lvl="1" indent="0">
              <a:buNone/>
            </a:pPr>
            <a:endParaRPr lang="en-US" altLang="zh-CN" dirty="0">
              <a:latin typeface="+mn-ea"/>
            </a:endParaRPr>
          </a:p>
          <a:p>
            <a:pPr marL="457200" lvl="1" indent="0">
              <a:buNone/>
            </a:pPr>
            <a:endParaRPr lang="en-US" altLang="zh-CN" dirty="0"/>
          </a:p>
          <a:p>
            <a:pPr marL="457200" lvl="1" indent="0">
              <a:buNone/>
            </a:pPr>
            <a:endParaRPr lang="zh-CN" altLang="en-US" dirty="0"/>
          </a:p>
        </p:txBody>
      </p:sp>
      <p:sp>
        <p:nvSpPr>
          <p:cNvPr id="5" name="椭圆 4"/>
          <p:cNvSpPr/>
          <p:nvPr/>
        </p:nvSpPr>
        <p:spPr bwMode="auto">
          <a:xfrm>
            <a:off x="3419872" y="4586808"/>
            <a:ext cx="2552092" cy="1866528"/>
          </a:xfrm>
          <a:prstGeom prst="ellipse">
            <a:avLst/>
          </a:prstGeom>
          <a:solidFill>
            <a:srgbClr val="0070C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 name="椭圆 5"/>
          <p:cNvSpPr/>
          <p:nvPr/>
        </p:nvSpPr>
        <p:spPr bwMode="auto">
          <a:xfrm>
            <a:off x="2420144" y="4586808"/>
            <a:ext cx="2367880" cy="1866528"/>
          </a:xfrm>
          <a:prstGeom prst="ellipse">
            <a:avLst/>
          </a:prstGeom>
          <a:solidFill>
            <a:srgbClr val="FFFF0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矩形 6"/>
          <p:cNvSpPr/>
          <p:nvPr/>
        </p:nvSpPr>
        <p:spPr bwMode="auto">
          <a:xfrm>
            <a:off x="3059832" y="5309592"/>
            <a:ext cx="2552092" cy="42366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P1∨P2</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矩形 8"/>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8" name="矩形 7"/>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54</a:t>
            </a:fld>
            <a:endParaRPr lang="en-US" altLang="zh-C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1000" y="1340768"/>
            <a:ext cx="8229600" cy="4282950"/>
          </a:xfrm>
        </p:spPr>
        <p:txBody>
          <a:bodyPr/>
          <a:lstStyle/>
          <a:p>
            <a:pPr marL="0" indent="0">
              <a:buNone/>
            </a:pPr>
            <a:r>
              <a:rPr lang="zh-CN" altLang="en-US" sz="2400" b="1" dirty="0">
                <a:latin typeface="微软雅黑" panose="020B0503020204020204" charset="-122"/>
                <a:ea typeface="微软雅黑" panose="020B0503020204020204" charset="-122"/>
              </a:rPr>
              <a:t>选择率的假设</a:t>
            </a:r>
            <a:endParaRPr lang="en-US" altLang="zh-CN" sz="2400" b="1" dirty="0">
              <a:latin typeface="微软雅黑" panose="020B0503020204020204" charset="-122"/>
              <a:ea typeface="微软雅黑" panose="020B0503020204020204" charset="-122"/>
            </a:endParaRPr>
          </a:p>
          <a:p>
            <a:pPr marL="0" indent="0">
              <a:buNone/>
            </a:pPr>
            <a:r>
              <a:rPr lang="zh-CN" altLang="en-US" sz="2400" dirty="0">
                <a:latin typeface="+mn-ea"/>
              </a:rPr>
              <a:t>假设</a:t>
            </a:r>
            <a:r>
              <a:rPr lang="en-US" altLang="zh-CN" sz="2400" dirty="0">
                <a:latin typeface="+mn-ea"/>
              </a:rPr>
              <a:t>1</a:t>
            </a:r>
            <a:r>
              <a:rPr lang="zh-CN" altLang="en-US" sz="2400" dirty="0">
                <a:latin typeface="+mn-ea"/>
              </a:rPr>
              <a:t>：数据均匀分布</a:t>
            </a:r>
            <a:endParaRPr lang="en-US" altLang="zh-CN" sz="2400" dirty="0">
              <a:latin typeface="+mn-ea"/>
            </a:endParaRPr>
          </a:p>
          <a:p>
            <a:pPr marL="0" indent="0">
              <a:buNone/>
            </a:pPr>
            <a:r>
              <a:rPr lang="zh-CN" altLang="en-US" sz="2400" dirty="0">
                <a:solidFill>
                  <a:srgbClr val="FF0000"/>
                </a:solidFill>
                <a:latin typeface="+mn-ea"/>
              </a:rPr>
              <a:t>假设</a:t>
            </a:r>
            <a:r>
              <a:rPr lang="en-US" altLang="zh-CN" sz="2400" dirty="0">
                <a:solidFill>
                  <a:srgbClr val="FF0000"/>
                </a:solidFill>
                <a:latin typeface="+mn-ea"/>
              </a:rPr>
              <a:t>2</a:t>
            </a:r>
            <a:r>
              <a:rPr lang="zh-CN" altLang="en-US" sz="2400" dirty="0">
                <a:solidFill>
                  <a:srgbClr val="FF0000"/>
                </a:solidFill>
                <a:latin typeface="+mn-ea"/>
              </a:rPr>
              <a:t>：谓词的选择性是独立的</a:t>
            </a:r>
            <a:endParaRPr lang="en-US" altLang="zh-CN" sz="2400" dirty="0">
              <a:solidFill>
                <a:srgbClr val="FF0000"/>
              </a:solidFill>
              <a:latin typeface="+mn-ea"/>
            </a:endParaRPr>
          </a:p>
          <a:p>
            <a:pPr marL="0" indent="0">
              <a:buNone/>
            </a:pPr>
            <a:r>
              <a:rPr lang="zh-CN" altLang="en-US" sz="2400" dirty="0">
                <a:latin typeface="+mn-ea"/>
              </a:rPr>
              <a:t>假设</a:t>
            </a:r>
            <a:r>
              <a:rPr lang="en-US" altLang="zh-CN" sz="2400" dirty="0">
                <a:latin typeface="+mn-ea"/>
              </a:rPr>
              <a:t>3</a:t>
            </a:r>
            <a:r>
              <a:rPr lang="zh-CN" altLang="en-US" sz="2400" dirty="0">
                <a:latin typeface="+mn-ea"/>
              </a:rPr>
              <a:t>：</a:t>
            </a:r>
            <a:r>
              <a:rPr lang="en-US" altLang="zh-CN" sz="2400" dirty="0">
                <a:latin typeface="+mn-ea"/>
              </a:rPr>
              <a:t>join</a:t>
            </a:r>
            <a:r>
              <a:rPr lang="zh-CN" altLang="en-US" sz="2400" dirty="0">
                <a:latin typeface="+mn-ea"/>
              </a:rPr>
              <a:t>时内表的每个元组能在外表中找到匹配</a:t>
            </a:r>
          </a:p>
        </p:txBody>
      </p:sp>
      <p:sp>
        <p:nvSpPr>
          <p:cNvPr id="5" name="矩形 4"/>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55</a:t>
            </a:fld>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340768"/>
            <a:ext cx="8649022" cy="5410572"/>
          </a:xfrm>
        </p:spPr>
        <p:txBody>
          <a:bodyPr/>
          <a:lstStyle/>
          <a:p>
            <a:pPr marL="0" indent="0">
              <a:buNone/>
            </a:pPr>
            <a:r>
              <a:rPr lang="zh-CN" altLang="en-US" sz="2400" dirty="0">
                <a:latin typeface="+mn-ea"/>
              </a:rPr>
              <a:t>例：假设制造商的数量</a:t>
            </a:r>
            <a:r>
              <a:rPr lang="en-US" altLang="zh-CN" sz="2400" dirty="0">
                <a:latin typeface="+mn-ea"/>
              </a:rPr>
              <a:t>=10</a:t>
            </a:r>
            <a:r>
              <a:rPr lang="zh-CN" altLang="en-US" sz="2400" dirty="0">
                <a:latin typeface="+mn-ea"/>
              </a:rPr>
              <a:t>，汽车型号的数量</a:t>
            </a:r>
            <a:r>
              <a:rPr lang="en-US" altLang="zh-CN" sz="2400" dirty="0">
                <a:latin typeface="+mn-ea"/>
              </a:rPr>
              <a:t>=100</a:t>
            </a:r>
            <a:r>
              <a:rPr lang="zh-CN" altLang="en-US" sz="2400" dirty="0">
                <a:latin typeface="+mn-ea"/>
              </a:rPr>
              <a:t>，查询谓词 </a:t>
            </a:r>
            <a:r>
              <a:rPr lang="en-US" altLang="zh-CN" sz="2400" dirty="0">
                <a:latin typeface="+mn-ea"/>
              </a:rPr>
              <a:t>Make=‘</a:t>
            </a:r>
            <a:r>
              <a:rPr lang="zh-CN" altLang="en-US" sz="2400" dirty="0">
                <a:latin typeface="+mn-ea"/>
              </a:rPr>
              <a:t>比亚迪</a:t>
            </a:r>
            <a:r>
              <a:rPr lang="en-US" altLang="zh-CN" sz="2400" dirty="0">
                <a:latin typeface="+mn-ea"/>
              </a:rPr>
              <a:t>’ and model =‘</a:t>
            </a:r>
            <a:r>
              <a:rPr lang="zh-CN" altLang="en-US" sz="2400" dirty="0">
                <a:latin typeface="+mn-ea"/>
              </a:rPr>
              <a:t>宋</a:t>
            </a:r>
            <a:r>
              <a:rPr lang="en-US" altLang="zh-CN" sz="2400" dirty="0">
                <a:latin typeface="+mn-ea"/>
              </a:rPr>
              <a:t>’</a:t>
            </a:r>
          </a:p>
          <a:p>
            <a:r>
              <a:rPr lang="zh-CN" altLang="en-US" sz="2400" dirty="0">
                <a:latin typeface="+mn-ea"/>
              </a:rPr>
              <a:t>与谓词</a:t>
            </a:r>
            <a:endParaRPr lang="en-US" altLang="zh-CN" sz="2400" dirty="0">
              <a:latin typeface="+mn-ea"/>
            </a:endParaRPr>
          </a:p>
          <a:p>
            <a:pPr marL="0" indent="0">
              <a:buNone/>
            </a:pPr>
            <a:r>
              <a:rPr lang="zh-CN" altLang="en-US" sz="2400" dirty="0">
                <a:latin typeface="+mn-ea"/>
              </a:rPr>
              <a:t>    与谓词选择率：</a:t>
            </a:r>
            <a:r>
              <a:rPr lang="en-US" altLang="zh-CN" sz="2400" dirty="0">
                <a:latin typeface="+mn-ea"/>
              </a:rPr>
              <a:t>Sel(P1∧P2)=sel(P1)×sel(P2)</a:t>
            </a:r>
          </a:p>
          <a:p>
            <a:r>
              <a:rPr lang="zh-CN" altLang="en-US" sz="2400" dirty="0">
                <a:latin typeface="+mn-ea"/>
              </a:rPr>
              <a:t>正确的选择率    </a:t>
            </a:r>
            <a:endParaRPr lang="en-US" altLang="zh-CN" sz="2400" dirty="0">
              <a:latin typeface="+mn-ea"/>
            </a:endParaRPr>
          </a:p>
          <a:p>
            <a:pPr marL="0" indent="0">
              <a:buNone/>
            </a:pPr>
            <a:r>
              <a:rPr lang="en-US" altLang="zh-CN" sz="2400" dirty="0">
                <a:latin typeface="+mn-ea"/>
              </a:rPr>
              <a:t>       Sel</a:t>
            </a:r>
            <a:r>
              <a:rPr lang="zh-CN" altLang="en-US" sz="2400" dirty="0">
                <a:latin typeface="+mn-ea"/>
              </a:rPr>
              <a:t>（</a:t>
            </a:r>
            <a:r>
              <a:rPr lang="en-US" altLang="zh-CN" sz="2400" dirty="0">
                <a:latin typeface="+mn-ea"/>
              </a:rPr>
              <a:t>Make=‘</a:t>
            </a:r>
            <a:r>
              <a:rPr lang="zh-CN" altLang="en-US" sz="2400" dirty="0">
                <a:latin typeface="+mn-ea"/>
              </a:rPr>
              <a:t>比亚迪</a:t>
            </a:r>
            <a:r>
              <a:rPr lang="en-US" altLang="zh-CN" sz="2400" dirty="0">
                <a:latin typeface="+mn-ea"/>
              </a:rPr>
              <a:t>’ and model =‘</a:t>
            </a:r>
            <a:r>
              <a:rPr lang="zh-CN" altLang="en-US" sz="2400" dirty="0">
                <a:latin typeface="+mn-ea"/>
              </a:rPr>
              <a:t>宋</a:t>
            </a:r>
            <a:r>
              <a:rPr lang="en-US" altLang="zh-CN" sz="2400" dirty="0">
                <a:latin typeface="+mn-ea"/>
              </a:rPr>
              <a:t>’</a:t>
            </a:r>
            <a:r>
              <a:rPr lang="zh-CN" altLang="en-US" sz="2400" dirty="0">
                <a:latin typeface="+mn-ea"/>
              </a:rPr>
              <a:t>）</a:t>
            </a:r>
            <a:r>
              <a:rPr lang="en-US" altLang="zh-CN" sz="2400" dirty="0">
                <a:latin typeface="+mn-ea"/>
              </a:rPr>
              <a:t>=Sel(model =‘</a:t>
            </a:r>
            <a:r>
              <a:rPr lang="zh-CN" altLang="en-US" sz="2400" dirty="0">
                <a:latin typeface="+mn-ea"/>
              </a:rPr>
              <a:t>比亚迪 宋</a:t>
            </a:r>
            <a:r>
              <a:rPr lang="en-US" altLang="zh-CN" sz="2400" dirty="0">
                <a:latin typeface="+mn-ea"/>
              </a:rPr>
              <a:t>’)=1/100</a:t>
            </a:r>
          </a:p>
          <a:p>
            <a:r>
              <a:rPr lang="zh-CN" altLang="en-US" sz="2400" dirty="0">
                <a:solidFill>
                  <a:srgbClr val="FF0000"/>
                </a:solidFill>
                <a:latin typeface="+mn-ea"/>
              </a:rPr>
              <a:t>原因：属性相关 </a:t>
            </a:r>
            <a:r>
              <a:rPr lang="en-US" altLang="zh-CN" sz="2400" dirty="0">
                <a:solidFill>
                  <a:srgbClr val="FF0000"/>
                </a:solidFill>
                <a:latin typeface="+mn-ea"/>
              </a:rPr>
              <a:t>,</a:t>
            </a:r>
            <a:r>
              <a:rPr lang="zh-CN" altLang="en-US" sz="2400" dirty="0">
                <a:solidFill>
                  <a:srgbClr val="FF0000"/>
                </a:solidFill>
                <a:latin typeface="+mn-ea"/>
              </a:rPr>
              <a:t>破坏了独立性假设，需要修改公式</a:t>
            </a:r>
            <a:r>
              <a:rPr lang="en-US" altLang="zh-CN" sz="2000" dirty="0"/>
              <a:t>    </a:t>
            </a:r>
            <a:endParaRPr lang="zh-CN" altLang="en-US" sz="2000" dirty="0"/>
          </a:p>
        </p:txBody>
      </p:sp>
      <p:sp>
        <p:nvSpPr>
          <p:cNvPr id="5" name="矩形 4"/>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对话气泡: 圆角矩形 1"/>
          <p:cNvSpPr/>
          <p:nvPr/>
        </p:nvSpPr>
        <p:spPr>
          <a:xfrm>
            <a:off x="7686498" y="2348880"/>
            <a:ext cx="1331640" cy="612648"/>
          </a:xfrm>
          <a:prstGeom prst="wedgeRoundRectCallout">
            <a:avLst>
              <a:gd name="adj1" fmla="val -82411"/>
              <a:gd name="adj2" fmla="val -322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 错误！</a:t>
            </a:r>
          </a:p>
        </p:txBody>
      </p:sp>
      <p:sp>
        <p:nvSpPr>
          <p:cNvPr id="6" name="灯片编号占位符 5"/>
          <p:cNvSpPr>
            <a:spLocks noGrp="1"/>
          </p:cNvSpPr>
          <p:nvPr>
            <p:ph type="sldNum" sz="quarter" idx="12"/>
          </p:nvPr>
        </p:nvSpPr>
        <p:spPr/>
        <p:txBody>
          <a:bodyPr/>
          <a:lstStyle/>
          <a:p>
            <a:pPr>
              <a:defRPr/>
            </a:pPr>
            <a:fld id="{BCABB3B7-40FC-498F-90D6-69ECBA7F181C}" type="slidenum">
              <a:rPr lang="zh-CN" altLang="en-US" smtClean="0"/>
              <a:t>56</a:t>
            </a:fld>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96752"/>
            <a:ext cx="8568952" cy="4899248"/>
          </a:xfrm>
        </p:spPr>
        <p:txBody>
          <a:bodyPr/>
          <a:lstStyle/>
          <a:p>
            <a:r>
              <a:rPr lang="zh-CN" altLang="en-US" dirty="0"/>
              <a:t>关于均匀分布假设</a:t>
            </a:r>
          </a:p>
        </p:txBody>
      </p:sp>
      <p:graphicFrame>
        <p:nvGraphicFramePr>
          <p:cNvPr id="6" name="图表 5"/>
          <p:cNvGraphicFramePr/>
          <p:nvPr/>
        </p:nvGraphicFramePr>
        <p:xfrm>
          <a:off x="1524000" y="1628800"/>
          <a:ext cx="6096000" cy="1800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图表 6"/>
          <p:cNvGraphicFramePr/>
          <p:nvPr/>
        </p:nvGraphicFramePr>
        <p:xfrm>
          <a:off x="1676400" y="3861048"/>
          <a:ext cx="6096000" cy="1800200"/>
        </p:xfrm>
        <a:graphic>
          <a:graphicData uri="http://schemas.openxmlformats.org/drawingml/2006/chart">
            <c:chart xmlns:c="http://schemas.openxmlformats.org/drawingml/2006/chart" xmlns:r="http://schemas.openxmlformats.org/officeDocument/2006/relationships" r:id="rId3"/>
          </a:graphicData>
        </a:graphic>
      </p:graphicFrame>
      <p:sp>
        <p:nvSpPr>
          <p:cNvPr id="8" name="对话气泡: 矩形 7"/>
          <p:cNvSpPr/>
          <p:nvPr/>
        </p:nvSpPr>
        <p:spPr bwMode="auto">
          <a:xfrm>
            <a:off x="467544" y="5883530"/>
            <a:ext cx="8568952" cy="612648"/>
          </a:xfrm>
          <a:prstGeom prst="wedgeRectCallout">
            <a:avLst>
              <a:gd name="adj1" fmla="val 11262"/>
              <a:gd name="adj2" fmla="val -137271"/>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直接存储：</a:t>
            </a: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15×32bits=60Bytes</a:t>
            </a:r>
            <a:r>
              <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，如果</a:t>
            </a: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1500</a:t>
            </a:r>
            <a:r>
              <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种取值？</a:t>
            </a: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6KB</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0" name="矩形 9"/>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9" name="矩形 8"/>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57</a:t>
            </a:fld>
            <a:endParaRPr lang="en-US" altLang="zh-C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6057" y="980728"/>
            <a:ext cx="7892143" cy="855818"/>
          </a:xfrm>
        </p:spPr>
        <p:txBody>
          <a:bodyPr/>
          <a:lstStyle/>
          <a:p>
            <a:r>
              <a:rPr lang="zh-CN" altLang="en-US" sz="2400" dirty="0"/>
              <a:t>等宽直方图</a:t>
            </a:r>
            <a:endParaRPr lang="en-US" altLang="zh-CN" sz="2400" dirty="0"/>
          </a:p>
          <a:p>
            <a:pPr marL="393700" lvl="1" indent="0">
              <a:buNone/>
            </a:pPr>
            <a:r>
              <a:rPr lang="zh-CN" altLang="en-US" dirty="0"/>
              <a:t>减少存储空间</a:t>
            </a:r>
            <a:endParaRPr lang="zh-CN" altLang="en-US" sz="2400" dirty="0"/>
          </a:p>
        </p:txBody>
      </p:sp>
      <p:graphicFrame>
        <p:nvGraphicFramePr>
          <p:cNvPr id="4" name="图表 3"/>
          <p:cNvGraphicFramePr/>
          <p:nvPr/>
        </p:nvGraphicFramePr>
        <p:xfrm>
          <a:off x="1691680" y="2116194"/>
          <a:ext cx="6096000" cy="1800200"/>
        </p:xfrm>
        <a:graphic>
          <a:graphicData uri="http://schemas.openxmlformats.org/drawingml/2006/chart">
            <c:chart xmlns:c="http://schemas.openxmlformats.org/drawingml/2006/chart" xmlns:r="http://schemas.openxmlformats.org/officeDocument/2006/relationships" r:id="rId2"/>
          </a:graphicData>
        </a:graphic>
      </p:graphicFrame>
      <p:sp>
        <p:nvSpPr>
          <p:cNvPr id="5" name="左大括号 4"/>
          <p:cNvSpPr/>
          <p:nvPr/>
        </p:nvSpPr>
        <p:spPr bwMode="auto">
          <a:xfrm rot="16200000">
            <a:off x="2733691" y="3255135"/>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 name="左大括号 5"/>
          <p:cNvSpPr/>
          <p:nvPr/>
        </p:nvSpPr>
        <p:spPr bwMode="auto">
          <a:xfrm rot="16200000">
            <a:off x="3758447" y="321778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左大括号 6"/>
          <p:cNvSpPr/>
          <p:nvPr/>
        </p:nvSpPr>
        <p:spPr bwMode="auto">
          <a:xfrm rot="16200000">
            <a:off x="4752020" y="3176972"/>
            <a:ext cx="504055"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8" name="左大括号 7"/>
          <p:cNvSpPr/>
          <p:nvPr/>
        </p:nvSpPr>
        <p:spPr bwMode="auto">
          <a:xfrm rot="16200000">
            <a:off x="5911761" y="3304326"/>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左大括号 8"/>
          <p:cNvSpPr/>
          <p:nvPr/>
        </p:nvSpPr>
        <p:spPr bwMode="auto">
          <a:xfrm rot="16200000">
            <a:off x="6957483" y="3304326"/>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0" name="矩形 9"/>
          <p:cNvSpPr/>
          <p:nvPr/>
        </p:nvSpPr>
        <p:spPr bwMode="auto">
          <a:xfrm>
            <a:off x="2428403" y="378065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 name="矩形 10"/>
          <p:cNvSpPr/>
          <p:nvPr/>
        </p:nvSpPr>
        <p:spPr bwMode="auto">
          <a:xfrm>
            <a:off x="3491880" y="3772378"/>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2" name="矩形 11"/>
          <p:cNvSpPr/>
          <p:nvPr/>
        </p:nvSpPr>
        <p:spPr bwMode="auto">
          <a:xfrm>
            <a:off x="4605286" y="3805702"/>
            <a:ext cx="830810"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Count=12</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3" name="矩形 12"/>
          <p:cNvSpPr/>
          <p:nvPr/>
        </p:nvSpPr>
        <p:spPr bwMode="auto">
          <a:xfrm>
            <a:off x="5668763" y="384438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4" name="矩形 13"/>
          <p:cNvSpPr/>
          <p:nvPr/>
        </p:nvSpPr>
        <p:spPr bwMode="auto">
          <a:xfrm>
            <a:off x="6748883" y="384438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Count=15</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graphicFrame>
        <p:nvGraphicFramePr>
          <p:cNvPr id="16" name="图表 15"/>
          <p:cNvGraphicFramePr/>
          <p:nvPr/>
        </p:nvGraphicFramePr>
        <p:xfrm>
          <a:off x="1763688" y="4492458"/>
          <a:ext cx="6096000" cy="1800200"/>
        </p:xfrm>
        <a:graphic>
          <a:graphicData uri="http://schemas.openxmlformats.org/drawingml/2006/chart">
            <c:chart xmlns:c="http://schemas.openxmlformats.org/drawingml/2006/chart" xmlns:r="http://schemas.openxmlformats.org/officeDocument/2006/relationships" r:id="rId3"/>
          </a:graphicData>
        </a:graphic>
      </p:graphicFrame>
      <p:sp>
        <p:nvSpPr>
          <p:cNvPr id="17" name="左大括号 16"/>
          <p:cNvSpPr/>
          <p:nvPr/>
        </p:nvSpPr>
        <p:spPr bwMode="auto">
          <a:xfrm rot="16200000">
            <a:off x="2805699" y="5631399"/>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8" name="左大括号 17"/>
          <p:cNvSpPr/>
          <p:nvPr/>
        </p:nvSpPr>
        <p:spPr bwMode="auto">
          <a:xfrm rot="16200000">
            <a:off x="3830455" y="5594044"/>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9" name="左大括号 18"/>
          <p:cNvSpPr/>
          <p:nvPr/>
        </p:nvSpPr>
        <p:spPr bwMode="auto">
          <a:xfrm rot="16200000">
            <a:off x="4824028" y="5553236"/>
            <a:ext cx="504055"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0" name="左大括号 19"/>
          <p:cNvSpPr/>
          <p:nvPr/>
        </p:nvSpPr>
        <p:spPr bwMode="auto">
          <a:xfrm rot="16200000">
            <a:off x="5983769" y="568059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1" name="左大括号 20"/>
          <p:cNvSpPr/>
          <p:nvPr/>
        </p:nvSpPr>
        <p:spPr bwMode="auto">
          <a:xfrm rot="16200000">
            <a:off x="7029491" y="568059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2" name="矩形 21"/>
          <p:cNvSpPr/>
          <p:nvPr/>
        </p:nvSpPr>
        <p:spPr bwMode="auto">
          <a:xfrm>
            <a:off x="2500411" y="615692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3" name="矩形 22"/>
          <p:cNvSpPr/>
          <p:nvPr/>
        </p:nvSpPr>
        <p:spPr bwMode="auto">
          <a:xfrm>
            <a:off x="3563888" y="6148642"/>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4" name="矩形 23"/>
          <p:cNvSpPr/>
          <p:nvPr/>
        </p:nvSpPr>
        <p:spPr bwMode="auto">
          <a:xfrm>
            <a:off x="4660651" y="618196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Count=12</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5" name="矩形 24"/>
          <p:cNvSpPr/>
          <p:nvPr/>
        </p:nvSpPr>
        <p:spPr bwMode="auto">
          <a:xfrm>
            <a:off x="5740771" y="622065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6" name="矩形 25"/>
          <p:cNvSpPr/>
          <p:nvPr/>
        </p:nvSpPr>
        <p:spPr bwMode="auto">
          <a:xfrm>
            <a:off x="6820891" y="622065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Count=15</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9" name="标注: 双弯曲线形 28"/>
          <p:cNvSpPr/>
          <p:nvPr/>
        </p:nvSpPr>
        <p:spPr bwMode="auto">
          <a:xfrm>
            <a:off x="8395711" y="1756154"/>
            <a:ext cx="364463" cy="3968364"/>
          </a:xfrm>
          <a:prstGeom prst="borderCallout3">
            <a:avLst>
              <a:gd name="adj1" fmla="val 35810"/>
              <a:gd name="adj2" fmla="val -818900"/>
              <a:gd name="adj3" fmla="val 35611"/>
              <a:gd name="adj4" fmla="val -831093"/>
              <a:gd name="adj5" fmla="val 45026"/>
              <a:gd name="adj6" fmla="val -5087"/>
              <a:gd name="adj7" fmla="val 93860"/>
              <a:gd name="adj8" fmla="val -861357"/>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信</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息</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丢</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失</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太</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多</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产</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生</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误</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ea typeface="宋体" panose="02010600030101010101" pitchFamily="2" charset="-122"/>
                <a:cs typeface="+mn-cs"/>
              </a:rPr>
              <a:t>差</a:t>
            </a:r>
            <a:endParaRPr kumimoji="1" lang="zh-CN" altLang="en-US" sz="2400" b="1" i="0" u="none" strike="noStrike" kern="120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endParaRPr>
          </a:p>
        </p:txBody>
      </p:sp>
      <p:sp>
        <p:nvSpPr>
          <p:cNvPr id="28" name="矩形 27"/>
          <p:cNvSpPr/>
          <p:nvPr/>
        </p:nvSpPr>
        <p:spPr>
          <a:xfrm>
            <a:off x="413157" y="457508"/>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27" name="矩形 26"/>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58</a:t>
            </a:fld>
            <a:endParaRPr lang="en-US"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6057" y="980728"/>
            <a:ext cx="7892143" cy="5115272"/>
          </a:xfrm>
        </p:spPr>
        <p:txBody>
          <a:bodyPr/>
          <a:lstStyle/>
          <a:p>
            <a:r>
              <a:rPr lang="zh-CN" altLang="en-US" dirty="0"/>
              <a:t>等深直方图</a:t>
            </a:r>
            <a:endParaRPr lang="en-US" altLang="zh-CN" dirty="0"/>
          </a:p>
          <a:p>
            <a:pPr lvl="1"/>
            <a:r>
              <a:rPr lang="zh-CN" altLang="en-US" dirty="0"/>
              <a:t>减少存储空间，缓解信息丢失</a:t>
            </a:r>
            <a:endParaRPr lang="en-US" altLang="zh-CN" dirty="0"/>
          </a:p>
          <a:p>
            <a:pPr marL="0" indent="0">
              <a:buNone/>
            </a:pPr>
            <a:endParaRPr lang="zh-CN" altLang="en-US" dirty="0"/>
          </a:p>
        </p:txBody>
      </p:sp>
      <p:graphicFrame>
        <p:nvGraphicFramePr>
          <p:cNvPr id="4" name="图表 3"/>
          <p:cNvGraphicFramePr/>
          <p:nvPr/>
        </p:nvGraphicFramePr>
        <p:xfrm>
          <a:off x="1691680" y="2060848"/>
          <a:ext cx="6096000" cy="1800200"/>
        </p:xfrm>
        <a:graphic>
          <a:graphicData uri="http://schemas.openxmlformats.org/drawingml/2006/chart">
            <c:chart xmlns:c="http://schemas.openxmlformats.org/drawingml/2006/chart" xmlns:r="http://schemas.openxmlformats.org/officeDocument/2006/relationships" r:id="rId3"/>
          </a:graphicData>
        </a:graphic>
      </p:graphicFrame>
      <p:sp>
        <p:nvSpPr>
          <p:cNvPr id="5" name="左大括号 4"/>
          <p:cNvSpPr/>
          <p:nvPr/>
        </p:nvSpPr>
        <p:spPr bwMode="auto">
          <a:xfrm rot="16200000">
            <a:off x="2733691" y="3199789"/>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 name="左大括号 5"/>
          <p:cNvSpPr/>
          <p:nvPr/>
        </p:nvSpPr>
        <p:spPr bwMode="auto">
          <a:xfrm rot="16200000">
            <a:off x="3758447" y="3162434"/>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左大括号 6"/>
          <p:cNvSpPr/>
          <p:nvPr/>
        </p:nvSpPr>
        <p:spPr bwMode="auto">
          <a:xfrm rot="16200000">
            <a:off x="4752020" y="3176972"/>
            <a:ext cx="504055"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8" name="左大括号 7"/>
          <p:cNvSpPr/>
          <p:nvPr/>
        </p:nvSpPr>
        <p:spPr bwMode="auto">
          <a:xfrm rot="16200000">
            <a:off x="5911761" y="324898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左大括号 8"/>
          <p:cNvSpPr/>
          <p:nvPr/>
        </p:nvSpPr>
        <p:spPr bwMode="auto">
          <a:xfrm rot="16200000">
            <a:off x="6957483" y="324898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0" name="矩形 9"/>
          <p:cNvSpPr/>
          <p:nvPr/>
        </p:nvSpPr>
        <p:spPr bwMode="auto">
          <a:xfrm>
            <a:off x="2428403"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 name="矩形 10"/>
          <p:cNvSpPr/>
          <p:nvPr/>
        </p:nvSpPr>
        <p:spPr bwMode="auto">
          <a:xfrm>
            <a:off x="3491880"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2" name="矩形 11"/>
          <p:cNvSpPr/>
          <p:nvPr/>
        </p:nvSpPr>
        <p:spPr bwMode="auto">
          <a:xfrm>
            <a:off x="4499993" y="3805702"/>
            <a:ext cx="936104"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Count=12</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3" name="矩形 12"/>
          <p:cNvSpPr/>
          <p:nvPr/>
        </p:nvSpPr>
        <p:spPr bwMode="auto">
          <a:xfrm>
            <a:off x="5668763"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4" name="矩形 13"/>
          <p:cNvSpPr/>
          <p:nvPr/>
        </p:nvSpPr>
        <p:spPr bwMode="auto">
          <a:xfrm>
            <a:off x="6748883"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Count=15</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graphicFrame>
        <p:nvGraphicFramePr>
          <p:cNvPr id="16" name="图表 15"/>
          <p:cNvGraphicFramePr/>
          <p:nvPr/>
        </p:nvGraphicFramePr>
        <p:xfrm>
          <a:off x="1763688" y="4437112"/>
          <a:ext cx="6096000" cy="1800200"/>
        </p:xfrm>
        <a:graphic>
          <a:graphicData uri="http://schemas.openxmlformats.org/drawingml/2006/chart">
            <c:chart xmlns:c="http://schemas.openxmlformats.org/drawingml/2006/chart" xmlns:r="http://schemas.openxmlformats.org/officeDocument/2006/relationships" r:id="rId4"/>
          </a:graphicData>
        </a:graphic>
      </p:graphicFrame>
      <p:sp>
        <p:nvSpPr>
          <p:cNvPr id="17" name="左大括号 16"/>
          <p:cNvSpPr/>
          <p:nvPr/>
        </p:nvSpPr>
        <p:spPr bwMode="auto">
          <a:xfrm rot="16200000">
            <a:off x="2766609" y="5664333"/>
            <a:ext cx="281772" cy="592709"/>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8" name="左大括号 17"/>
          <p:cNvSpPr/>
          <p:nvPr/>
        </p:nvSpPr>
        <p:spPr bwMode="auto">
          <a:xfrm rot="16200000">
            <a:off x="3571158" y="5797995"/>
            <a:ext cx="417508" cy="288032"/>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9" name="左大括号 18"/>
          <p:cNvSpPr/>
          <p:nvPr/>
        </p:nvSpPr>
        <p:spPr bwMode="auto">
          <a:xfrm rot="16200000">
            <a:off x="4463990" y="5769259"/>
            <a:ext cx="504055" cy="288034"/>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0" name="左大括号 19"/>
          <p:cNvSpPr/>
          <p:nvPr/>
        </p:nvSpPr>
        <p:spPr bwMode="auto">
          <a:xfrm rot="16200000">
            <a:off x="5342624" y="5824624"/>
            <a:ext cx="330962" cy="321318"/>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1" name="左大括号 20"/>
          <p:cNvSpPr/>
          <p:nvPr/>
        </p:nvSpPr>
        <p:spPr bwMode="auto">
          <a:xfrm rot="16200000">
            <a:off x="6269816" y="5724939"/>
            <a:ext cx="328841" cy="518565"/>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2" name="矩形 21"/>
          <p:cNvSpPr/>
          <p:nvPr/>
        </p:nvSpPr>
        <p:spPr bwMode="auto">
          <a:xfrm>
            <a:off x="2500411" y="6101574"/>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3" name="矩形 22"/>
          <p:cNvSpPr/>
          <p:nvPr/>
        </p:nvSpPr>
        <p:spPr bwMode="auto">
          <a:xfrm>
            <a:off x="3563888" y="609329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4" name="矩形 23"/>
          <p:cNvSpPr/>
          <p:nvPr/>
        </p:nvSpPr>
        <p:spPr bwMode="auto">
          <a:xfrm>
            <a:off x="4499992" y="6181967"/>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Count=11</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5" name="矩形 24"/>
          <p:cNvSpPr/>
          <p:nvPr/>
        </p:nvSpPr>
        <p:spPr bwMode="auto">
          <a:xfrm>
            <a:off x="5436096" y="6165304"/>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Count=7</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6" name="矩形 25"/>
          <p:cNvSpPr/>
          <p:nvPr/>
        </p:nvSpPr>
        <p:spPr bwMode="auto">
          <a:xfrm>
            <a:off x="6417419" y="6169428"/>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9" name="标注: 双弯曲线形 28"/>
          <p:cNvSpPr/>
          <p:nvPr/>
        </p:nvSpPr>
        <p:spPr bwMode="auto">
          <a:xfrm>
            <a:off x="8395711" y="1700808"/>
            <a:ext cx="364463" cy="3968364"/>
          </a:xfrm>
          <a:prstGeom prst="borderCallout3">
            <a:avLst>
              <a:gd name="adj1" fmla="val 35810"/>
              <a:gd name="adj2" fmla="val -818900"/>
              <a:gd name="adj3" fmla="val 35611"/>
              <a:gd name="adj4" fmla="val -831093"/>
              <a:gd name="adj5" fmla="val 45026"/>
              <a:gd name="adj6" fmla="val -5087"/>
              <a:gd name="adj7" fmla="val 91024"/>
              <a:gd name="adj8" fmla="val -780301"/>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减</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缓</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信</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息</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丢</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失</a:t>
            </a:r>
            <a:endParaRPr kumimoji="1" lang="en-US" altLang="zh-CN"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27" name="左大括号 26"/>
          <p:cNvSpPr/>
          <p:nvPr/>
        </p:nvSpPr>
        <p:spPr bwMode="auto">
          <a:xfrm rot="16200000">
            <a:off x="7244641" y="5710403"/>
            <a:ext cx="328841" cy="518565"/>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8" name="矩形 27"/>
          <p:cNvSpPr/>
          <p:nvPr/>
        </p:nvSpPr>
        <p:spPr bwMode="auto">
          <a:xfrm>
            <a:off x="7380312" y="6165304"/>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Bucket 6</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1" name="矩形 30"/>
          <p:cNvSpPr/>
          <p:nvPr/>
        </p:nvSpPr>
        <p:spPr>
          <a:xfrm>
            <a:off x="408990" y="3161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30" name="矩形 29"/>
          <p:cNvSpPr/>
          <p:nvPr/>
        </p:nvSpPr>
        <p:spPr>
          <a:xfrm>
            <a:off x="107504" y="-57001"/>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59</a:t>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29236"/>
            <a:ext cx="8676456" cy="5115272"/>
          </a:xfrm>
        </p:spPr>
        <p:txBody>
          <a:bodyPr/>
          <a:lstStyle/>
          <a:p>
            <a:pPr marL="0" indent="0">
              <a:buNone/>
            </a:pPr>
            <a:r>
              <a:rPr lang="en-US" altLang="zh-CN" sz="2400" b="1" dirty="0">
                <a:latin typeface="+mn-ea"/>
              </a:rPr>
              <a:t>Sketch</a:t>
            </a:r>
            <a:r>
              <a:rPr lang="zh-CN" altLang="en-US" sz="2400" b="1" dirty="0">
                <a:latin typeface="+mn-ea"/>
              </a:rPr>
              <a:t>（草图）技术</a:t>
            </a:r>
            <a:endParaRPr lang="en-US" altLang="zh-CN" sz="2400" b="1" dirty="0">
              <a:latin typeface="+mn-ea"/>
            </a:endParaRPr>
          </a:p>
          <a:p>
            <a:pPr marL="0" indent="0">
              <a:buNone/>
            </a:pPr>
            <a:r>
              <a:rPr lang="zh-CN" altLang="en-US" sz="2400" b="0" i="0" dirty="0">
                <a:solidFill>
                  <a:srgbClr val="121212"/>
                </a:solidFill>
                <a:effectLst/>
                <a:latin typeface="+mn-ea"/>
              </a:rPr>
              <a:t>     用概率推断来估计数据的统计特性，准确性可能变低，但是代价也变得很低</a:t>
            </a:r>
            <a:r>
              <a:rPr lang="zh-CN" altLang="en-US" sz="2400" dirty="0">
                <a:solidFill>
                  <a:srgbClr val="121212"/>
                </a:solidFill>
                <a:latin typeface="+mn-ea"/>
              </a:rPr>
              <a:t>。</a:t>
            </a:r>
            <a:endParaRPr lang="en-US" altLang="zh-CN" sz="2400" dirty="0">
              <a:latin typeface="+mn-ea"/>
            </a:endParaRPr>
          </a:p>
          <a:p>
            <a:pPr marL="0" indent="0">
              <a:buNone/>
            </a:pPr>
            <a:endParaRPr lang="en-US" altLang="zh-CN" sz="2400" dirty="0">
              <a:latin typeface="+mn-ea"/>
            </a:endParaRPr>
          </a:p>
          <a:p>
            <a:pPr marL="0" indent="0">
              <a:buNone/>
            </a:pPr>
            <a:r>
              <a:rPr lang="zh-CN" altLang="en-US" sz="2400" dirty="0">
                <a:latin typeface="+mn-ea"/>
              </a:rPr>
              <a:t>典型例子：</a:t>
            </a:r>
            <a:endParaRPr lang="en-US" altLang="zh-CN" sz="2400" dirty="0">
              <a:latin typeface="+mn-ea"/>
            </a:endParaRPr>
          </a:p>
          <a:p>
            <a:pPr marL="0" indent="0">
              <a:buNone/>
            </a:pPr>
            <a:r>
              <a:rPr lang="en-US" altLang="zh-CN" sz="2400" dirty="0">
                <a:latin typeface="+mn-ea"/>
              </a:rPr>
              <a:t>-- Count Min Schetch</a:t>
            </a:r>
            <a:r>
              <a:rPr lang="zh-CN" altLang="en-US" sz="2400" dirty="0">
                <a:latin typeface="+mn-ea"/>
              </a:rPr>
              <a:t>（</a:t>
            </a:r>
            <a:r>
              <a:rPr lang="en-US" altLang="zh-CN" sz="2400" dirty="0">
                <a:latin typeface="+mn-ea"/>
              </a:rPr>
              <a:t>1988</a:t>
            </a:r>
            <a:r>
              <a:rPr lang="zh-CN" altLang="en-US" sz="2400" dirty="0">
                <a:latin typeface="+mn-ea"/>
              </a:rPr>
              <a:t>）</a:t>
            </a:r>
            <a:endParaRPr lang="en-US" altLang="zh-CN" sz="2400" dirty="0">
              <a:latin typeface="+mn-ea"/>
            </a:endParaRPr>
          </a:p>
          <a:p>
            <a:pPr marL="0" indent="0">
              <a:buNone/>
            </a:pPr>
            <a:r>
              <a:rPr lang="en-US" altLang="zh-CN" sz="2400" dirty="0">
                <a:latin typeface="+mn-ea"/>
              </a:rPr>
              <a:t>-- HyperLogLog</a:t>
            </a:r>
            <a:r>
              <a:rPr lang="zh-CN" altLang="en-US" sz="2400" dirty="0">
                <a:latin typeface="+mn-ea"/>
              </a:rPr>
              <a:t>（</a:t>
            </a:r>
            <a:r>
              <a:rPr lang="en-US" altLang="zh-CN" sz="2400" dirty="0">
                <a:latin typeface="+mn-ea"/>
              </a:rPr>
              <a:t>2007</a:t>
            </a:r>
            <a:r>
              <a:rPr lang="zh-CN" altLang="en-US" sz="2400" dirty="0">
                <a:latin typeface="+mn-ea"/>
              </a:rPr>
              <a:t>）用于</a:t>
            </a:r>
            <a:r>
              <a:rPr lang="en-US" altLang="zh-CN" sz="2400" dirty="0">
                <a:latin typeface="+mn-ea"/>
              </a:rPr>
              <a:t>redis</a:t>
            </a:r>
            <a:endParaRPr lang="zh-CN" altLang="en-US" sz="2400" dirty="0">
              <a:latin typeface="+mn-ea"/>
            </a:endParaRPr>
          </a:p>
        </p:txBody>
      </p:sp>
      <p:sp>
        <p:nvSpPr>
          <p:cNvPr id="5" name="矩形 4"/>
          <p:cNvSpPr/>
          <p:nvPr/>
        </p:nvSpPr>
        <p:spPr>
          <a:xfrm>
            <a:off x="408990" y="764704"/>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p:cNvSpPr/>
          <p:nvPr/>
        </p:nvSpPr>
        <p:spPr>
          <a:xfrm>
            <a:off x="107504" y="-57001"/>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60</a:t>
            </a:fld>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266056"/>
            <a:ext cx="8206680" cy="5043264"/>
          </a:xfrm>
        </p:spPr>
        <p:txBody>
          <a:bodyPr/>
          <a:lstStyle/>
          <a:p>
            <a:r>
              <a:rPr lang="zh-CN" altLang="en-US" sz="2400" dirty="0"/>
              <a:t>采样估计</a:t>
            </a:r>
            <a:endParaRPr lang="en-US" altLang="zh-CN" sz="2400" dirty="0"/>
          </a:p>
          <a:p>
            <a:pPr marL="393700" lvl="1" indent="0">
              <a:buNone/>
            </a:pPr>
            <a:r>
              <a:rPr lang="zh-CN" altLang="en-US" dirty="0"/>
              <a:t>    从大表中进行采样，通过</a:t>
            </a:r>
            <a:endParaRPr lang="en-US" altLang="zh-CN" dirty="0"/>
          </a:p>
          <a:p>
            <a:pPr marL="176530" lvl="1" indent="0">
              <a:buNone/>
            </a:pPr>
            <a:r>
              <a:rPr lang="en-US" altLang="zh-CN" dirty="0"/>
              <a:t> </a:t>
            </a:r>
            <a:r>
              <a:rPr lang="zh-CN" altLang="en-US" dirty="0"/>
              <a:t>采样表估计选择率。</a:t>
            </a:r>
          </a:p>
        </p:txBody>
      </p:sp>
      <p:sp>
        <p:nvSpPr>
          <p:cNvPr id="4" name="矩形 3"/>
          <p:cNvSpPr/>
          <p:nvPr/>
        </p:nvSpPr>
        <p:spPr bwMode="auto">
          <a:xfrm>
            <a:off x="6228184" y="1700808"/>
            <a:ext cx="2664296"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Select AVG(age)</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From people</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Where age&gt;50 </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graphicFrame>
        <p:nvGraphicFramePr>
          <p:cNvPr id="5" name="表格 5"/>
          <p:cNvGraphicFramePr>
            <a:graphicFrameLocks noGrp="1"/>
          </p:cNvGraphicFramePr>
          <p:nvPr/>
        </p:nvGraphicFramePr>
        <p:xfrm>
          <a:off x="5724128" y="3717032"/>
          <a:ext cx="3168352" cy="2595880"/>
        </p:xfrm>
        <a:graphic>
          <a:graphicData uri="http://schemas.openxmlformats.org/drawingml/2006/table">
            <a:tbl>
              <a:tblPr firstRow="1" bandRow="1">
                <a:tableStyleId>{073A0DAA-6AF3-43AB-8588-CEC1D06C72B9}</a:tableStyleId>
              </a:tblPr>
              <a:tblGrid>
                <a:gridCol w="792088">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tblGrid>
              <a:tr h="370840">
                <a:tc>
                  <a:txBody>
                    <a:bodyPr/>
                    <a:lstStyle/>
                    <a:p>
                      <a:r>
                        <a:rPr lang="en-US" altLang="zh-CN" dirty="0"/>
                        <a:t>id</a:t>
                      </a:r>
                      <a:endParaRPr lang="zh-CN" altLang="en-US" dirty="0"/>
                    </a:p>
                  </a:txBody>
                  <a:tcPr/>
                </a:tc>
                <a:tc>
                  <a:txBody>
                    <a:bodyPr/>
                    <a:lstStyle/>
                    <a:p>
                      <a:r>
                        <a:rPr lang="en-US" altLang="zh-CN" dirty="0"/>
                        <a:t>name</a:t>
                      </a:r>
                      <a:endParaRPr lang="zh-CN" altLang="en-US" dirty="0"/>
                    </a:p>
                  </a:txBody>
                  <a:tcPr/>
                </a:tc>
                <a:tc>
                  <a:txBody>
                    <a:bodyPr/>
                    <a:lstStyle/>
                    <a:p>
                      <a:r>
                        <a:rPr lang="en-US" altLang="zh-CN" dirty="0"/>
                        <a:t>age</a:t>
                      </a:r>
                      <a:endParaRPr lang="zh-CN" altLang="en-US" dirty="0"/>
                    </a:p>
                  </a:txBody>
                  <a:tcPr/>
                </a:tc>
                <a:tc>
                  <a:txBody>
                    <a:bodyPr/>
                    <a:lstStyle/>
                    <a:p>
                      <a:r>
                        <a:rPr lang="en-US" altLang="zh-CN" dirty="0" err="1"/>
                        <a:t>staus</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a:t>1001</a:t>
                      </a:r>
                      <a:endParaRPr lang="zh-CN" altLang="en-US" dirty="0"/>
                    </a:p>
                  </a:txBody>
                  <a:tcPr/>
                </a:tc>
                <a:tc>
                  <a:txBody>
                    <a:bodyPr/>
                    <a:lstStyle/>
                    <a:p>
                      <a:r>
                        <a:rPr lang="en-US" altLang="zh-CN" dirty="0"/>
                        <a:t>Zhao</a:t>
                      </a:r>
                      <a:endParaRPr lang="zh-CN" altLang="en-US" dirty="0"/>
                    </a:p>
                  </a:txBody>
                  <a:tcPr/>
                </a:tc>
                <a:tc>
                  <a:txBody>
                    <a:bodyPr/>
                    <a:lstStyle/>
                    <a:p>
                      <a:r>
                        <a:rPr lang="en-US" altLang="zh-CN" dirty="0"/>
                        <a:t>59</a:t>
                      </a:r>
                      <a:endParaRPr lang="zh-CN" altLang="en-US" dirty="0"/>
                    </a:p>
                  </a:txBody>
                  <a:tcPr/>
                </a:tc>
                <a:tc>
                  <a:txBody>
                    <a:bodyPr/>
                    <a:lstStyle/>
                    <a:p>
                      <a:r>
                        <a:rPr lang="zh-CN" altLang="en-US" dirty="0"/>
                        <a:t>退休</a:t>
                      </a:r>
                    </a:p>
                  </a:txBody>
                  <a:tcPr/>
                </a:tc>
                <a:extLst>
                  <a:ext uri="{0D108BD9-81ED-4DB2-BD59-A6C34878D82A}">
                    <a16:rowId xmlns:a16="http://schemas.microsoft.com/office/drawing/2014/main" val="10001"/>
                  </a:ext>
                </a:extLst>
              </a:tr>
              <a:tr h="370840">
                <a:tc>
                  <a:txBody>
                    <a:bodyPr/>
                    <a:lstStyle/>
                    <a:p>
                      <a:r>
                        <a:rPr lang="en-US" altLang="zh-CN" dirty="0"/>
                        <a:t>1002</a:t>
                      </a:r>
                      <a:endParaRPr lang="zh-CN" altLang="en-US" dirty="0"/>
                    </a:p>
                  </a:txBody>
                  <a:tcPr/>
                </a:tc>
                <a:tc>
                  <a:txBody>
                    <a:bodyPr/>
                    <a:lstStyle/>
                    <a:p>
                      <a:r>
                        <a:rPr lang="en-US" altLang="zh-CN" dirty="0"/>
                        <a:t>Qian</a:t>
                      </a:r>
                      <a:endParaRPr lang="zh-CN" altLang="en-US" dirty="0"/>
                    </a:p>
                  </a:txBody>
                  <a:tcPr/>
                </a:tc>
                <a:tc>
                  <a:txBody>
                    <a:bodyPr/>
                    <a:lstStyle/>
                    <a:p>
                      <a:r>
                        <a:rPr lang="en-US" altLang="zh-CN" dirty="0"/>
                        <a:t>41</a:t>
                      </a:r>
                      <a:endParaRPr lang="zh-CN" altLang="en-US" dirty="0"/>
                    </a:p>
                  </a:txBody>
                  <a:tcPr/>
                </a:tc>
                <a:tc>
                  <a:txBody>
                    <a:bodyPr/>
                    <a:lstStyle/>
                    <a:p>
                      <a:r>
                        <a:rPr lang="zh-CN" altLang="en-US" dirty="0"/>
                        <a:t>正常</a:t>
                      </a:r>
                    </a:p>
                  </a:txBody>
                  <a:tcPr/>
                </a:tc>
                <a:extLst>
                  <a:ext uri="{0D108BD9-81ED-4DB2-BD59-A6C34878D82A}">
                    <a16:rowId xmlns:a16="http://schemas.microsoft.com/office/drawing/2014/main" val="10002"/>
                  </a:ext>
                </a:extLst>
              </a:tr>
              <a:tr h="370840">
                <a:tc>
                  <a:txBody>
                    <a:bodyPr/>
                    <a:lstStyle/>
                    <a:p>
                      <a:r>
                        <a:rPr lang="en-US" altLang="zh-CN" dirty="0"/>
                        <a:t>1003</a:t>
                      </a:r>
                      <a:endParaRPr lang="zh-CN" altLang="en-US" dirty="0"/>
                    </a:p>
                  </a:txBody>
                  <a:tcPr/>
                </a:tc>
                <a:tc>
                  <a:txBody>
                    <a:bodyPr/>
                    <a:lstStyle/>
                    <a:p>
                      <a:r>
                        <a:rPr lang="en-US" altLang="zh-CN" dirty="0"/>
                        <a:t>Sun</a:t>
                      </a:r>
                      <a:endParaRPr lang="zh-CN" altLang="en-US" dirty="0"/>
                    </a:p>
                  </a:txBody>
                  <a:tcPr/>
                </a:tc>
                <a:tc>
                  <a:txBody>
                    <a:bodyPr/>
                    <a:lstStyle/>
                    <a:p>
                      <a:r>
                        <a:rPr lang="en-US" altLang="zh-CN" dirty="0"/>
                        <a:t>25</a:t>
                      </a:r>
                      <a:endParaRPr lang="zh-CN" altLang="en-US" dirty="0"/>
                    </a:p>
                  </a:txBody>
                  <a:tcPr/>
                </a:tc>
                <a:tc>
                  <a:txBody>
                    <a:bodyPr/>
                    <a:lstStyle/>
                    <a:p>
                      <a:r>
                        <a:rPr lang="zh-CN" altLang="en-US" dirty="0"/>
                        <a:t>旷工</a:t>
                      </a:r>
                    </a:p>
                  </a:txBody>
                  <a:tcPr/>
                </a:tc>
                <a:extLst>
                  <a:ext uri="{0D108BD9-81ED-4DB2-BD59-A6C34878D82A}">
                    <a16:rowId xmlns:a16="http://schemas.microsoft.com/office/drawing/2014/main" val="10003"/>
                  </a:ext>
                </a:extLst>
              </a:tr>
              <a:tr h="370840">
                <a:tc>
                  <a:txBody>
                    <a:bodyPr/>
                    <a:lstStyle/>
                    <a:p>
                      <a:r>
                        <a:rPr lang="en-US" altLang="zh-CN" dirty="0"/>
                        <a:t>1004</a:t>
                      </a:r>
                      <a:endParaRPr lang="zh-CN" altLang="en-US" dirty="0"/>
                    </a:p>
                  </a:txBody>
                  <a:tcPr/>
                </a:tc>
                <a:tc>
                  <a:txBody>
                    <a:bodyPr/>
                    <a:lstStyle/>
                    <a:p>
                      <a:r>
                        <a:rPr lang="en-US" altLang="zh-CN" dirty="0"/>
                        <a:t>Li</a:t>
                      </a:r>
                      <a:endParaRPr lang="zh-CN" altLang="en-US" dirty="0"/>
                    </a:p>
                  </a:txBody>
                  <a:tcPr/>
                </a:tc>
                <a:tc>
                  <a:txBody>
                    <a:bodyPr/>
                    <a:lstStyle/>
                    <a:p>
                      <a:r>
                        <a:rPr lang="en-US" altLang="zh-CN" dirty="0"/>
                        <a:t>26</a:t>
                      </a:r>
                      <a:endParaRPr lang="zh-CN" altLang="en-US" dirty="0"/>
                    </a:p>
                  </a:txBody>
                  <a:tcPr/>
                </a:tc>
                <a:tc>
                  <a:txBody>
                    <a:bodyPr/>
                    <a:lstStyle/>
                    <a:p>
                      <a:r>
                        <a:rPr lang="zh-CN" altLang="en-US" dirty="0"/>
                        <a:t>离职</a:t>
                      </a:r>
                    </a:p>
                  </a:txBody>
                  <a:tcPr/>
                </a:tc>
                <a:extLst>
                  <a:ext uri="{0D108BD9-81ED-4DB2-BD59-A6C34878D82A}">
                    <a16:rowId xmlns:a16="http://schemas.microsoft.com/office/drawing/2014/main" val="10004"/>
                  </a:ext>
                </a:extLst>
              </a:tr>
              <a:tr h="370840">
                <a:tc>
                  <a:txBody>
                    <a:bodyPr/>
                    <a:lstStyle/>
                    <a:p>
                      <a:r>
                        <a:rPr lang="en-US" altLang="zh-CN" dirty="0"/>
                        <a:t>1005</a:t>
                      </a:r>
                      <a:endParaRPr lang="zh-CN" altLang="en-US" dirty="0"/>
                    </a:p>
                  </a:txBody>
                  <a:tcPr/>
                </a:tc>
                <a:tc>
                  <a:txBody>
                    <a:bodyPr/>
                    <a:lstStyle/>
                    <a:p>
                      <a:r>
                        <a:rPr lang="en-US" altLang="zh-CN" dirty="0"/>
                        <a:t>Zhou</a:t>
                      </a:r>
                      <a:endParaRPr lang="zh-CN" altLang="en-US" dirty="0"/>
                    </a:p>
                  </a:txBody>
                  <a:tcPr/>
                </a:tc>
                <a:tc>
                  <a:txBody>
                    <a:bodyPr/>
                    <a:lstStyle/>
                    <a:p>
                      <a:r>
                        <a:rPr lang="en-US" altLang="zh-CN" dirty="0"/>
                        <a:t>39</a:t>
                      </a:r>
                      <a:endParaRPr lang="zh-CN" altLang="en-US" dirty="0"/>
                    </a:p>
                  </a:txBody>
                  <a:tcPr/>
                </a:tc>
                <a:tc>
                  <a:txBody>
                    <a:bodyPr/>
                    <a:lstStyle/>
                    <a:p>
                      <a:r>
                        <a:rPr lang="zh-CN" altLang="en-US" dirty="0"/>
                        <a:t>休假</a:t>
                      </a:r>
                    </a:p>
                  </a:txBody>
                  <a:tcPr/>
                </a:tc>
                <a:extLst>
                  <a:ext uri="{0D108BD9-81ED-4DB2-BD59-A6C34878D82A}">
                    <a16:rowId xmlns:a16="http://schemas.microsoft.com/office/drawing/2014/main" val="10005"/>
                  </a:ext>
                </a:extLst>
              </a:tr>
              <a:tr h="370840">
                <a:tc>
                  <a:txBody>
                    <a:bodyPr/>
                    <a:lstStyle/>
                    <a:p>
                      <a:r>
                        <a:rPr lang="en-US" altLang="zh-CN" dirty="0"/>
                        <a:t>1006</a:t>
                      </a:r>
                      <a:endParaRPr lang="zh-CN" altLang="en-US" dirty="0"/>
                    </a:p>
                  </a:txBody>
                  <a:tcPr/>
                </a:tc>
                <a:tc>
                  <a:txBody>
                    <a:bodyPr/>
                    <a:lstStyle/>
                    <a:p>
                      <a:r>
                        <a:rPr lang="en-US" altLang="zh-CN" dirty="0"/>
                        <a:t>Wu</a:t>
                      </a:r>
                      <a:endParaRPr lang="zh-CN" altLang="en-US" dirty="0"/>
                    </a:p>
                  </a:txBody>
                  <a:tcPr/>
                </a:tc>
                <a:tc>
                  <a:txBody>
                    <a:bodyPr/>
                    <a:lstStyle/>
                    <a:p>
                      <a:r>
                        <a:rPr lang="en-US" altLang="zh-CN" dirty="0"/>
                        <a:t>57</a:t>
                      </a:r>
                      <a:endParaRPr lang="zh-CN" altLang="en-US" dirty="0"/>
                    </a:p>
                  </a:txBody>
                  <a:tcPr/>
                </a:tc>
                <a:tc>
                  <a:txBody>
                    <a:bodyPr/>
                    <a:lstStyle/>
                    <a:p>
                      <a:r>
                        <a:rPr lang="zh-CN" altLang="en-US" dirty="0"/>
                        <a:t>正常</a:t>
                      </a:r>
                    </a:p>
                  </a:txBody>
                  <a:tcPr/>
                </a:tc>
                <a:extLst>
                  <a:ext uri="{0D108BD9-81ED-4DB2-BD59-A6C34878D82A}">
                    <a16:rowId xmlns:a16="http://schemas.microsoft.com/office/drawing/2014/main" val="10006"/>
                  </a:ext>
                </a:extLst>
              </a:tr>
            </a:tbl>
          </a:graphicData>
        </a:graphic>
      </p:graphicFrame>
      <p:sp>
        <p:nvSpPr>
          <p:cNvPr id="2" name="文本框 1"/>
          <p:cNvSpPr txBox="1"/>
          <p:nvPr/>
        </p:nvSpPr>
        <p:spPr>
          <a:xfrm>
            <a:off x="5508104" y="6370111"/>
            <a:ext cx="2952328"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…10</a:t>
            </a:r>
            <a:r>
              <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亿个元组</a:t>
            </a:r>
          </a:p>
        </p:txBody>
      </p:sp>
      <p:sp>
        <p:nvSpPr>
          <p:cNvPr id="6" name="箭头: 右 5"/>
          <p:cNvSpPr/>
          <p:nvPr/>
        </p:nvSpPr>
        <p:spPr bwMode="auto">
          <a:xfrm>
            <a:off x="5220072" y="4149080"/>
            <a:ext cx="504056" cy="21602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箭头: 右 6"/>
          <p:cNvSpPr/>
          <p:nvPr/>
        </p:nvSpPr>
        <p:spPr bwMode="auto">
          <a:xfrm>
            <a:off x="5220072" y="4941168"/>
            <a:ext cx="504056" cy="21602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8" name="箭头: 右 7"/>
          <p:cNvSpPr/>
          <p:nvPr/>
        </p:nvSpPr>
        <p:spPr bwMode="auto">
          <a:xfrm>
            <a:off x="5220072" y="5661248"/>
            <a:ext cx="504056" cy="21602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graphicFrame>
        <p:nvGraphicFramePr>
          <p:cNvPr id="9" name="表格 5"/>
          <p:cNvGraphicFramePr>
            <a:graphicFrameLocks noGrp="1"/>
          </p:cNvGraphicFramePr>
          <p:nvPr/>
        </p:nvGraphicFramePr>
        <p:xfrm>
          <a:off x="2087724" y="4721096"/>
          <a:ext cx="2880320" cy="1752600"/>
        </p:xfrm>
        <a:graphic>
          <a:graphicData uri="http://schemas.openxmlformats.org/drawingml/2006/table">
            <a:tbl>
              <a:tblPr firstRow="1" bandRow="1">
                <a:tableStyleId>{073A0DAA-6AF3-43AB-8588-CEC1D06C72B9}</a:tableStyleId>
              </a:tblPr>
              <a:tblGrid>
                <a:gridCol w="720080">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tblGrid>
              <a:tr h="370840">
                <a:tc>
                  <a:txBody>
                    <a:bodyPr/>
                    <a:lstStyle/>
                    <a:p>
                      <a:r>
                        <a:rPr lang="en-US" altLang="zh-CN" dirty="0"/>
                        <a:t>id</a:t>
                      </a:r>
                      <a:endParaRPr lang="zh-CN" altLang="en-US" dirty="0"/>
                    </a:p>
                  </a:txBody>
                  <a:tcPr/>
                </a:tc>
                <a:tc>
                  <a:txBody>
                    <a:bodyPr/>
                    <a:lstStyle/>
                    <a:p>
                      <a:r>
                        <a:rPr lang="en-US" altLang="zh-CN" dirty="0"/>
                        <a:t>name</a:t>
                      </a:r>
                      <a:endParaRPr lang="zh-CN" altLang="en-US" dirty="0"/>
                    </a:p>
                  </a:txBody>
                  <a:tcPr/>
                </a:tc>
                <a:tc>
                  <a:txBody>
                    <a:bodyPr/>
                    <a:lstStyle/>
                    <a:p>
                      <a:r>
                        <a:rPr lang="en-US" altLang="zh-CN" dirty="0"/>
                        <a:t>age</a:t>
                      </a:r>
                      <a:endParaRPr lang="zh-CN" altLang="en-US" dirty="0"/>
                    </a:p>
                  </a:txBody>
                  <a:tcPr/>
                </a:tc>
                <a:tc>
                  <a:txBody>
                    <a:bodyPr/>
                    <a:lstStyle/>
                    <a:p>
                      <a:r>
                        <a:rPr lang="en-US" altLang="zh-CN" dirty="0" err="1"/>
                        <a:t>staus</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a:t>1001</a:t>
                      </a:r>
                      <a:endParaRPr lang="zh-CN" altLang="en-US" dirty="0"/>
                    </a:p>
                  </a:txBody>
                  <a:tcPr/>
                </a:tc>
                <a:tc>
                  <a:txBody>
                    <a:bodyPr/>
                    <a:lstStyle/>
                    <a:p>
                      <a:r>
                        <a:rPr lang="en-US" altLang="zh-CN" dirty="0"/>
                        <a:t>Zhao</a:t>
                      </a:r>
                      <a:endParaRPr lang="zh-CN" altLang="en-US" dirty="0"/>
                    </a:p>
                  </a:txBody>
                  <a:tcPr/>
                </a:tc>
                <a:tc>
                  <a:txBody>
                    <a:bodyPr/>
                    <a:lstStyle/>
                    <a:p>
                      <a:r>
                        <a:rPr lang="en-US" altLang="zh-CN" dirty="0"/>
                        <a:t>59</a:t>
                      </a:r>
                      <a:endParaRPr lang="zh-CN" altLang="en-US" dirty="0"/>
                    </a:p>
                  </a:txBody>
                  <a:tcPr/>
                </a:tc>
                <a:tc>
                  <a:txBody>
                    <a:bodyPr/>
                    <a:lstStyle/>
                    <a:p>
                      <a:r>
                        <a:rPr lang="zh-CN" altLang="en-US" dirty="0"/>
                        <a:t>退休</a:t>
                      </a:r>
                    </a:p>
                  </a:txBody>
                  <a:tcPr/>
                </a:tc>
                <a:extLst>
                  <a:ext uri="{0D108BD9-81ED-4DB2-BD59-A6C34878D82A}">
                    <a16:rowId xmlns:a16="http://schemas.microsoft.com/office/drawing/2014/main" val="10001"/>
                  </a:ext>
                </a:extLst>
              </a:tr>
              <a:tr h="370840">
                <a:tc>
                  <a:txBody>
                    <a:bodyPr/>
                    <a:lstStyle/>
                    <a:p>
                      <a:r>
                        <a:rPr lang="en-US" altLang="zh-CN" dirty="0"/>
                        <a:t>1003</a:t>
                      </a:r>
                      <a:endParaRPr lang="zh-CN" altLang="en-US" dirty="0"/>
                    </a:p>
                  </a:txBody>
                  <a:tcPr/>
                </a:tc>
                <a:tc>
                  <a:txBody>
                    <a:bodyPr/>
                    <a:lstStyle/>
                    <a:p>
                      <a:r>
                        <a:rPr lang="en-US" altLang="zh-CN" dirty="0"/>
                        <a:t>Sun</a:t>
                      </a:r>
                      <a:endParaRPr lang="zh-CN" altLang="en-US" dirty="0"/>
                    </a:p>
                  </a:txBody>
                  <a:tcPr/>
                </a:tc>
                <a:tc>
                  <a:txBody>
                    <a:bodyPr/>
                    <a:lstStyle/>
                    <a:p>
                      <a:r>
                        <a:rPr lang="en-US" altLang="zh-CN" dirty="0"/>
                        <a:t>25</a:t>
                      </a:r>
                      <a:endParaRPr lang="zh-CN" altLang="en-US" dirty="0"/>
                    </a:p>
                  </a:txBody>
                  <a:tcPr/>
                </a:tc>
                <a:tc>
                  <a:txBody>
                    <a:bodyPr/>
                    <a:lstStyle/>
                    <a:p>
                      <a:r>
                        <a:rPr lang="zh-CN" altLang="en-US" dirty="0"/>
                        <a:t>旷工</a:t>
                      </a:r>
                    </a:p>
                  </a:txBody>
                  <a:tcPr/>
                </a:tc>
                <a:extLst>
                  <a:ext uri="{0D108BD9-81ED-4DB2-BD59-A6C34878D82A}">
                    <a16:rowId xmlns:a16="http://schemas.microsoft.com/office/drawing/2014/main" val="10002"/>
                  </a:ext>
                </a:extLst>
              </a:tr>
              <a:tr h="370840">
                <a:tc>
                  <a:txBody>
                    <a:bodyPr/>
                    <a:lstStyle/>
                    <a:p>
                      <a:r>
                        <a:rPr lang="en-US" altLang="zh-CN" dirty="0"/>
                        <a:t>1005</a:t>
                      </a:r>
                      <a:endParaRPr lang="zh-CN" altLang="en-US" dirty="0"/>
                    </a:p>
                  </a:txBody>
                  <a:tcPr/>
                </a:tc>
                <a:tc>
                  <a:txBody>
                    <a:bodyPr/>
                    <a:lstStyle/>
                    <a:p>
                      <a:r>
                        <a:rPr lang="en-US" altLang="zh-CN" dirty="0"/>
                        <a:t>Zhou</a:t>
                      </a:r>
                      <a:endParaRPr lang="zh-CN" altLang="en-US" dirty="0"/>
                    </a:p>
                  </a:txBody>
                  <a:tcPr/>
                </a:tc>
                <a:tc>
                  <a:txBody>
                    <a:bodyPr/>
                    <a:lstStyle/>
                    <a:p>
                      <a:r>
                        <a:rPr lang="en-US" altLang="zh-CN" dirty="0"/>
                        <a:t>39</a:t>
                      </a:r>
                      <a:endParaRPr lang="zh-CN" altLang="en-US" dirty="0"/>
                    </a:p>
                  </a:txBody>
                  <a:tcPr/>
                </a:tc>
                <a:tc>
                  <a:txBody>
                    <a:bodyPr/>
                    <a:lstStyle/>
                    <a:p>
                      <a:r>
                        <a:rPr lang="zh-CN" altLang="en-US" dirty="0"/>
                        <a:t>休假</a:t>
                      </a:r>
                    </a:p>
                  </a:txBody>
                  <a:tcPr/>
                </a:tc>
                <a:extLst>
                  <a:ext uri="{0D108BD9-81ED-4DB2-BD59-A6C34878D82A}">
                    <a16:rowId xmlns:a16="http://schemas.microsoft.com/office/drawing/2014/main" val="10003"/>
                  </a:ext>
                </a:extLst>
              </a:tr>
            </a:tbl>
          </a:graphicData>
        </a:graphic>
      </p:graphicFrame>
      <p:sp>
        <p:nvSpPr>
          <p:cNvPr id="10" name="文本框 9"/>
          <p:cNvSpPr txBox="1"/>
          <p:nvPr/>
        </p:nvSpPr>
        <p:spPr>
          <a:xfrm>
            <a:off x="107504" y="5231943"/>
            <a:ext cx="1854206"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Sel(age&gt;=50)</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=1/3</a:t>
            </a:r>
            <a:endParaRPr kumimoji="1" lang="zh-CN" altLang="en-US" sz="18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11" name="文本框 10"/>
          <p:cNvSpPr txBox="1"/>
          <p:nvPr/>
        </p:nvSpPr>
        <p:spPr>
          <a:xfrm>
            <a:off x="2144506" y="4216152"/>
            <a:ext cx="1112805"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采样表</a:t>
            </a:r>
          </a:p>
        </p:txBody>
      </p:sp>
      <p:sp>
        <p:nvSpPr>
          <p:cNvPr id="12" name="矩形 11"/>
          <p:cNvSpPr/>
          <p:nvPr/>
        </p:nvSpPr>
        <p:spPr bwMode="auto">
          <a:xfrm>
            <a:off x="2087724" y="4721096"/>
            <a:ext cx="2880320" cy="646331"/>
          </a:xfrm>
          <a:prstGeom prst="rect">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4" name="矩形 13"/>
          <p:cNvSpPr/>
          <p:nvPr/>
        </p:nvSpPr>
        <p:spPr>
          <a:xfrm>
            <a:off x="581739" y="713710"/>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15" name="矩形 14"/>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13" name="灯片编号占位符 12"/>
          <p:cNvSpPr>
            <a:spLocks noGrp="1"/>
          </p:cNvSpPr>
          <p:nvPr>
            <p:ph type="sldNum" sz="quarter" idx="12"/>
          </p:nvPr>
        </p:nvSpPr>
        <p:spPr/>
        <p:txBody>
          <a:bodyPr/>
          <a:lstStyle/>
          <a:p>
            <a:pPr>
              <a:defRPr/>
            </a:pPr>
            <a:fld id="{BCABB3B7-40FC-498F-90D6-69ECBA7F181C}" type="slidenum">
              <a:rPr lang="zh-CN" altLang="en-US" smtClean="0"/>
              <a:t>61</a:t>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340768"/>
            <a:ext cx="7772400" cy="4755232"/>
          </a:xfrm>
        </p:spPr>
        <p:txBody>
          <a:bodyPr/>
          <a:lstStyle/>
          <a:p>
            <a:pPr marL="0" indent="0">
              <a:buNone/>
            </a:pPr>
            <a:r>
              <a:rPr lang="zh-CN" altLang="en-US" b="1" dirty="0">
                <a:latin typeface="微软雅黑" panose="020B0503020204020204" charset="-122"/>
                <a:ea typeface="微软雅黑" panose="020B0503020204020204" charset="-122"/>
              </a:rPr>
              <a:t>计划枚举</a:t>
            </a:r>
            <a:endParaRPr lang="en-US" altLang="zh-CN" b="1" dirty="0">
              <a:latin typeface="微软雅黑" panose="020B0503020204020204" charset="-122"/>
              <a:ea typeface="微软雅黑" panose="020B0503020204020204" charset="-122"/>
            </a:endParaRPr>
          </a:p>
          <a:p>
            <a:pPr marL="0" lvl="1" indent="393700">
              <a:buNone/>
            </a:pPr>
            <a:r>
              <a:rPr lang="zh-CN" altLang="en-US" dirty="0"/>
              <a:t>基于规则的计划重写后，</a:t>
            </a:r>
            <a:r>
              <a:rPr lang="en-US" altLang="zh-CN" dirty="0"/>
              <a:t>DBMS</a:t>
            </a:r>
            <a:r>
              <a:rPr lang="zh-CN" altLang="en-US" dirty="0"/>
              <a:t>就可以枚举其物理执行计划并评估其代价。</a:t>
            </a:r>
            <a:endParaRPr lang="en-US" altLang="zh-CN" dirty="0"/>
          </a:p>
          <a:p>
            <a:pPr lvl="1">
              <a:buFont typeface="Wingdings" panose="05000000000000000000" pitchFamily="2" charset="2"/>
              <a:buChar char="Ø"/>
            </a:pPr>
            <a:r>
              <a:rPr lang="zh-CN" altLang="en-US" dirty="0"/>
              <a:t>单关系查询</a:t>
            </a:r>
            <a:endParaRPr lang="en-US" altLang="zh-CN" dirty="0"/>
          </a:p>
          <a:p>
            <a:pPr lvl="1">
              <a:buFont typeface="Wingdings" panose="05000000000000000000" pitchFamily="2" charset="2"/>
              <a:buChar char="Ø"/>
            </a:pPr>
            <a:r>
              <a:rPr lang="zh-CN" altLang="en-US" dirty="0"/>
              <a:t>多关系查询</a:t>
            </a:r>
            <a:endParaRPr lang="en-US" altLang="zh-CN" dirty="0"/>
          </a:p>
          <a:p>
            <a:pPr lvl="1">
              <a:buFont typeface="Wingdings" panose="05000000000000000000" pitchFamily="2" charset="2"/>
              <a:buChar char="Ø"/>
            </a:pPr>
            <a:r>
              <a:rPr lang="zh-CN" altLang="en-US" dirty="0"/>
              <a:t>嵌套查询</a:t>
            </a:r>
          </a:p>
        </p:txBody>
      </p:sp>
      <p:sp>
        <p:nvSpPr>
          <p:cNvPr id="2" name="矩形 1"/>
          <p:cNvSpPr/>
          <p:nvPr/>
        </p:nvSpPr>
        <p:spPr>
          <a:xfrm>
            <a:off x="685800" y="663079"/>
            <a:ext cx="4102405" cy="584775"/>
          </a:xfrm>
          <a:prstGeom prst="rect">
            <a:avLst/>
          </a:prstGeom>
        </p:spPr>
        <p:txBody>
          <a:bodyPr wrap="none">
            <a:spAutoFit/>
          </a:bodyPr>
          <a:lstStyle/>
          <a:p>
            <a:pPr>
              <a:spcBef>
                <a:spcPct val="50000"/>
              </a:spcBef>
            </a:pPr>
            <a:r>
              <a:rPr lang="en-US" altLang="zh-CN" sz="3200" b="1" dirty="0">
                <a:solidFill>
                  <a:schemeClr val="tx2"/>
                </a:solidFill>
                <a:latin typeface="+mj-ea"/>
                <a:ea typeface="+mj-ea"/>
                <a:cs typeface="Arial" panose="020B0604020202020204" pitchFamily="34" charset="0"/>
              </a:rPr>
              <a:t>9.4  </a:t>
            </a:r>
            <a:r>
              <a:rPr lang="zh-CN" altLang="en-US" sz="3200" b="1" dirty="0">
                <a:solidFill>
                  <a:schemeClr val="tx2"/>
                </a:solidFill>
                <a:latin typeface="+mj-ea"/>
                <a:ea typeface="+mj-ea"/>
              </a:rPr>
              <a:t>物理优化（续）</a:t>
            </a:r>
          </a:p>
        </p:txBody>
      </p:sp>
      <p:sp>
        <p:nvSpPr>
          <p:cNvPr id="4" name="矩形 3"/>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5" name="灯片编号占位符 4"/>
          <p:cNvSpPr>
            <a:spLocks noGrp="1"/>
          </p:cNvSpPr>
          <p:nvPr>
            <p:ph type="sldNum" sz="quarter" idx="12"/>
          </p:nvPr>
        </p:nvSpPr>
        <p:spPr/>
        <p:txBody>
          <a:bodyPr/>
          <a:lstStyle/>
          <a:p>
            <a:pPr>
              <a:defRPr/>
            </a:pPr>
            <a:fld id="{BCABB3B7-40FC-498F-90D6-69ECBA7F181C}" type="slidenum">
              <a:rPr lang="zh-CN" altLang="en-US" smtClean="0"/>
              <a:t>62</a:t>
            </a:fld>
            <a:endParaRPr lang="en-US"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412776"/>
            <a:ext cx="7772400" cy="4683224"/>
          </a:xfrm>
        </p:spPr>
        <p:txBody>
          <a:bodyPr/>
          <a:lstStyle/>
          <a:p>
            <a:r>
              <a:rPr lang="zh-CN" altLang="en-US" dirty="0"/>
              <a:t>单关系查询计划</a:t>
            </a:r>
            <a:endParaRPr lang="en-US" altLang="zh-CN" dirty="0"/>
          </a:p>
          <a:p>
            <a:pPr marL="393700" lvl="1" indent="0">
              <a:buNone/>
            </a:pPr>
            <a:r>
              <a:rPr lang="zh-CN" altLang="en-US" dirty="0"/>
              <a:t>   仅仅只考虑表访问的方法就足够了</a:t>
            </a:r>
            <a:endParaRPr lang="en-US" altLang="zh-CN" dirty="0"/>
          </a:p>
          <a:p>
            <a:pPr lvl="2">
              <a:buFont typeface="Wingdings" panose="05000000000000000000" pitchFamily="2" charset="2"/>
              <a:buChar char="n"/>
            </a:pPr>
            <a:r>
              <a:rPr lang="zh-CN" altLang="en-US" dirty="0"/>
              <a:t>顺序扫描</a:t>
            </a:r>
            <a:r>
              <a:rPr lang="en-US" altLang="zh-CN" dirty="0"/>
              <a:t>(sequential scan)</a:t>
            </a:r>
          </a:p>
          <a:p>
            <a:pPr lvl="2">
              <a:buFont typeface="Wingdings" panose="05000000000000000000" pitchFamily="2" charset="2"/>
              <a:buChar char="n"/>
            </a:pPr>
            <a:r>
              <a:rPr lang="zh-CN" altLang="en-US" dirty="0"/>
              <a:t>二分查找（聚簇索引）</a:t>
            </a:r>
            <a:endParaRPr lang="en-US" altLang="zh-CN" dirty="0"/>
          </a:p>
          <a:p>
            <a:pPr lvl="2">
              <a:buFont typeface="Wingdings" panose="05000000000000000000" pitchFamily="2" charset="2"/>
              <a:buChar char="n"/>
            </a:pPr>
            <a:r>
              <a:rPr lang="zh-CN" altLang="en-US" dirty="0"/>
              <a:t>索引扫描</a:t>
            </a:r>
            <a:endParaRPr lang="en-US" altLang="zh-CN" dirty="0"/>
          </a:p>
          <a:p>
            <a:r>
              <a:rPr lang="zh-CN" altLang="en-US" dirty="0"/>
              <a:t>多表查询计划</a:t>
            </a:r>
            <a:endParaRPr lang="en-US" altLang="zh-CN" dirty="0"/>
          </a:p>
          <a:p>
            <a:pPr marL="393700" lvl="1" indent="0">
              <a:buNone/>
            </a:pPr>
            <a:r>
              <a:rPr lang="zh-CN" altLang="en-US" dirty="0">
                <a:latin typeface="+mn-ea"/>
              </a:rPr>
              <a:t>（</a:t>
            </a:r>
            <a:r>
              <a:rPr lang="en-US" altLang="zh-CN" dirty="0">
                <a:latin typeface="+mn-ea"/>
              </a:rPr>
              <a:t>1</a:t>
            </a:r>
            <a:r>
              <a:rPr lang="zh-CN" altLang="en-US" dirty="0">
                <a:latin typeface="+mn-ea"/>
              </a:rPr>
              <a:t>）</a:t>
            </a:r>
            <a:r>
              <a:rPr lang="zh-CN" altLang="en-US" dirty="0"/>
              <a:t>不同连接顺序代价不同</a:t>
            </a:r>
            <a:endParaRPr lang="en-US" altLang="zh-CN" dirty="0"/>
          </a:p>
          <a:p>
            <a:pPr marL="393700" lvl="1" indent="0">
              <a:buNone/>
            </a:pPr>
            <a:r>
              <a:rPr lang="zh-CN" altLang="en-US" dirty="0">
                <a:latin typeface="+mn-ea"/>
              </a:rPr>
              <a:t>（</a:t>
            </a:r>
            <a:r>
              <a:rPr lang="en-US" altLang="zh-CN" dirty="0">
                <a:latin typeface="+mn-ea"/>
              </a:rPr>
              <a:t>2</a:t>
            </a:r>
            <a:r>
              <a:rPr lang="zh-CN" altLang="en-US" dirty="0">
                <a:latin typeface="+mn-ea"/>
              </a:rPr>
              <a:t>）</a:t>
            </a:r>
            <a:r>
              <a:rPr lang="zh-CN" altLang="en-US" dirty="0"/>
              <a:t>连接的表越多，枚举的查询计划呈指数级上升</a:t>
            </a:r>
            <a:endParaRPr lang="en-US" altLang="zh-CN" dirty="0"/>
          </a:p>
        </p:txBody>
      </p:sp>
      <p:sp>
        <p:nvSpPr>
          <p:cNvPr id="5" name="矩形 4"/>
          <p:cNvSpPr/>
          <p:nvPr/>
        </p:nvSpPr>
        <p:spPr>
          <a:xfrm>
            <a:off x="685800" y="66307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 name="矩形 3"/>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63</a:t>
            </a:fld>
            <a:endParaRPr lang="en-US" altLang="zh-C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412776"/>
            <a:ext cx="7772400" cy="4683224"/>
          </a:xfrm>
        </p:spPr>
        <p:txBody>
          <a:bodyPr/>
          <a:lstStyle/>
          <a:p>
            <a:r>
              <a:rPr lang="zh-CN" altLang="en-US" sz="2400" dirty="0">
                <a:latin typeface="+mn-ea"/>
              </a:rPr>
              <a:t>一般情况下的计划枚举包括下述内容：</a:t>
            </a:r>
            <a:endParaRPr lang="en-US" altLang="zh-CN" sz="2400" dirty="0">
              <a:latin typeface="+mn-ea"/>
            </a:endParaRPr>
          </a:p>
          <a:p>
            <a:pPr marL="446405" lvl="1" indent="-446405">
              <a:buNone/>
            </a:pPr>
            <a:r>
              <a:rPr lang="zh-CN" altLang="en-US" dirty="0">
                <a:latin typeface="+mn-ea"/>
              </a:rPr>
              <a:t>（</a:t>
            </a:r>
            <a:r>
              <a:rPr lang="en-US" altLang="zh-CN" dirty="0">
                <a:latin typeface="+mn-ea"/>
              </a:rPr>
              <a:t>1</a:t>
            </a:r>
            <a:r>
              <a:rPr lang="zh-CN" altLang="en-US" dirty="0">
                <a:latin typeface="+mn-ea"/>
              </a:rPr>
              <a:t>）枚举所有的连接顺序</a:t>
            </a:r>
            <a:endParaRPr lang="en-US" altLang="zh-CN" dirty="0">
              <a:latin typeface="+mn-ea"/>
            </a:endParaRPr>
          </a:p>
          <a:p>
            <a:pPr marL="446405" lvl="1" indent="-446405">
              <a:buNone/>
            </a:pPr>
            <a:r>
              <a:rPr lang="zh-CN" altLang="en-US" dirty="0">
                <a:latin typeface="+mn-ea"/>
              </a:rPr>
              <a:t>（</a:t>
            </a:r>
            <a:r>
              <a:rPr lang="en-US" altLang="zh-CN" dirty="0">
                <a:latin typeface="+mn-ea"/>
              </a:rPr>
              <a:t>2</a:t>
            </a:r>
            <a:r>
              <a:rPr lang="zh-CN" altLang="en-US" dirty="0">
                <a:latin typeface="+mn-ea"/>
              </a:rPr>
              <a:t>）每个</a:t>
            </a:r>
            <a:r>
              <a:rPr lang="en-US" altLang="zh-CN" dirty="0">
                <a:latin typeface="+mn-ea"/>
              </a:rPr>
              <a:t>join</a:t>
            </a:r>
            <a:r>
              <a:rPr lang="zh-CN" altLang="en-US" dirty="0">
                <a:latin typeface="+mn-ea"/>
              </a:rPr>
              <a:t>算子的执行方案</a:t>
            </a:r>
            <a:endParaRPr lang="en-US" altLang="zh-CN" dirty="0">
              <a:latin typeface="+mn-ea"/>
            </a:endParaRPr>
          </a:p>
          <a:p>
            <a:pPr marL="446405" lvl="2" indent="0">
              <a:buNone/>
            </a:pPr>
            <a:r>
              <a:rPr lang="en-US" altLang="zh-CN" sz="2400" dirty="0">
                <a:latin typeface="+mn-ea"/>
              </a:rPr>
              <a:t>Hash join; Sort Merge; Nested Loop …</a:t>
            </a:r>
          </a:p>
          <a:p>
            <a:pPr marL="446405" lvl="1" indent="-446405">
              <a:buNone/>
            </a:pPr>
            <a:r>
              <a:rPr lang="zh-CN" altLang="en-US" dirty="0">
                <a:latin typeface="+mn-ea"/>
              </a:rPr>
              <a:t>（</a:t>
            </a:r>
            <a:r>
              <a:rPr lang="en-US" altLang="zh-CN" dirty="0">
                <a:latin typeface="+mn-ea"/>
              </a:rPr>
              <a:t>3</a:t>
            </a:r>
            <a:r>
              <a:rPr lang="zh-CN" altLang="en-US" dirty="0">
                <a:latin typeface="+mn-ea"/>
              </a:rPr>
              <a:t>）每个表的访问方法</a:t>
            </a:r>
            <a:endParaRPr lang="en-US" altLang="zh-CN" dirty="0">
              <a:latin typeface="+mn-ea"/>
            </a:endParaRPr>
          </a:p>
          <a:p>
            <a:pPr marL="446405" lvl="2" indent="0">
              <a:buNone/>
            </a:pPr>
            <a:r>
              <a:rPr lang="en-US" altLang="zh-CN" sz="2400" dirty="0">
                <a:latin typeface="+mn-ea"/>
              </a:rPr>
              <a:t>Index Scan; Seq Scan;….</a:t>
            </a:r>
          </a:p>
          <a:p>
            <a:pPr marL="268605" lvl="2" indent="0">
              <a:buNone/>
            </a:pPr>
            <a:r>
              <a:rPr lang="en-US" altLang="zh-CN" sz="2400" dirty="0">
                <a:latin typeface="宋体" panose="02010600030101010101" pitchFamily="2" charset="-122"/>
                <a:ea typeface="宋体" panose="02010600030101010101" pitchFamily="2" charset="-122"/>
              </a:rPr>
              <a:t>   ↓</a:t>
            </a:r>
            <a:endParaRPr lang="en-US" altLang="zh-CN" sz="2400" dirty="0">
              <a:latin typeface="+mn-ea"/>
            </a:endParaRPr>
          </a:p>
          <a:p>
            <a:pPr marL="268605" lvl="2" indent="0">
              <a:buNone/>
            </a:pPr>
            <a:r>
              <a:rPr lang="zh-CN" altLang="en-US" dirty="0">
                <a:latin typeface="+mn-ea"/>
              </a:rPr>
              <a:t>枚举空间巨大</a:t>
            </a:r>
            <a:endParaRPr lang="en-US" altLang="zh-CN" dirty="0">
              <a:latin typeface="+mn-ea"/>
            </a:endParaRPr>
          </a:p>
          <a:p>
            <a:pPr marL="914400" lvl="2" indent="0">
              <a:buNone/>
            </a:pPr>
            <a:endParaRPr lang="en-US" altLang="zh-CN" dirty="0"/>
          </a:p>
          <a:p>
            <a:pPr marL="914400" lvl="2" indent="0">
              <a:buNone/>
            </a:pPr>
            <a:endParaRPr lang="en-US" altLang="zh-CN" dirty="0"/>
          </a:p>
          <a:p>
            <a:pPr lvl="2"/>
            <a:endParaRPr lang="zh-CN" altLang="en-US" dirty="0"/>
          </a:p>
        </p:txBody>
      </p:sp>
      <p:sp>
        <p:nvSpPr>
          <p:cNvPr id="5" name="矩形 4"/>
          <p:cNvSpPr/>
          <p:nvPr/>
        </p:nvSpPr>
        <p:spPr bwMode="auto">
          <a:xfrm>
            <a:off x="6372200" y="836712"/>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Where R.a=S.a</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And S.b=T.b</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 name="矩形 5"/>
          <p:cNvSpPr/>
          <p:nvPr/>
        </p:nvSpPr>
        <p:spPr>
          <a:xfrm>
            <a:off x="685800" y="66307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7" name="矩形 6"/>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64</a:t>
            </a:fld>
            <a:endParaRPr lang="en-US" alt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239142"/>
            <a:ext cx="7772400" cy="4856857"/>
          </a:xfrm>
        </p:spPr>
        <p:txBody>
          <a:bodyPr/>
          <a:lstStyle/>
          <a:p>
            <a:pPr marL="0" indent="0">
              <a:buNone/>
            </a:pPr>
            <a:r>
              <a:rPr lang="en-US" altLang="zh-CN" dirty="0">
                <a:latin typeface="+mn-ea"/>
              </a:rPr>
              <a:t>1. </a:t>
            </a:r>
            <a:r>
              <a:rPr lang="zh-CN" altLang="en-US" dirty="0"/>
              <a:t>枚举所有可能的</a:t>
            </a:r>
            <a:r>
              <a:rPr lang="zh-CN" altLang="en-US" dirty="0">
                <a:solidFill>
                  <a:srgbClr val="FF0000"/>
                </a:solidFill>
              </a:rPr>
              <a:t>连接顺序</a:t>
            </a:r>
          </a:p>
        </p:txBody>
      </p:sp>
      <p:sp>
        <p:nvSpPr>
          <p:cNvPr id="5" name="AutoShape 4"/>
          <p:cNvSpPr>
            <a:spLocks noChangeArrowheads="1"/>
          </p:cNvSpPr>
          <p:nvPr/>
        </p:nvSpPr>
        <p:spPr bwMode="auto">
          <a:xfrm rot="5400000">
            <a:off x="1657772" y="1993131"/>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6" name="AutoShape 4"/>
          <p:cNvSpPr>
            <a:spLocks noChangeArrowheads="1"/>
          </p:cNvSpPr>
          <p:nvPr/>
        </p:nvSpPr>
        <p:spPr bwMode="auto">
          <a:xfrm rot="5400000">
            <a:off x="1352972" y="2557971"/>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8" name="直接箭头连接符 7"/>
          <p:cNvCxnSpPr/>
          <p:nvPr/>
        </p:nvCxnSpPr>
        <p:spPr bwMode="auto">
          <a:xfrm flipV="1">
            <a:off x="1187624" y="2824671"/>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 name="直接箭头连接符 8"/>
          <p:cNvCxnSpPr/>
          <p:nvPr/>
        </p:nvCxnSpPr>
        <p:spPr bwMode="auto">
          <a:xfrm flipH="1" flipV="1">
            <a:off x="1475656" y="2824671"/>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 name="直接箭头连接符 9"/>
          <p:cNvCxnSpPr/>
          <p:nvPr/>
        </p:nvCxnSpPr>
        <p:spPr bwMode="auto">
          <a:xfrm flipV="1">
            <a:off x="1475656"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1" name="直接箭头连接符 10"/>
          <p:cNvCxnSpPr/>
          <p:nvPr/>
        </p:nvCxnSpPr>
        <p:spPr bwMode="auto">
          <a:xfrm flipH="1" flipV="1">
            <a:off x="1763688"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4" name="文本框 13"/>
          <p:cNvSpPr txBox="1"/>
          <p:nvPr/>
        </p:nvSpPr>
        <p:spPr>
          <a:xfrm>
            <a:off x="921296" y="31537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6" name="文本框 15"/>
          <p:cNvSpPr txBox="1"/>
          <p:nvPr/>
        </p:nvSpPr>
        <p:spPr>
          <a:xfrm>
            <a:off x="1641376" y="31833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7" name="文本框 16"/>
          <p:cNvSpPr txBox="1"/>
          <p:nvPr/>
        </p:nvSpPr>
        <p:spPr>
          <a:xfrm>
            <a:off x="1929408" y="246327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8" name="矩形 17"/>
          <p:cNvSpPr/>
          <p:nvPr/>
        </p:nvSpPr>
        <p:spPr bwMode="auto">
          <a:xfrm>
            <a:off x="748711" y="1804653"/>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9" name="矩形 18"/>
          <p:cNvSpPr/>
          <p:nvPr/>
        </p:nvSpPr>
        <p:spPr bwMode="auto">
          <a:xfrm>
            <a:off x="6624226" y="692696"/>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Where R.a=S.a</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And S.b=T.b</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0" name="AutoShape 4"/>
          <p:cNvSpPr>
            <a:spLocks noChangeArrowheads="1"/>
          </p:cNvSpPr>
          <p:nvPr/>
        </p:nvSpPr>
        <p:spPr bwMode="auto">
          <a:xfrm rot="5400000">
            <a:off x="1810172" y="4009355"/>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1" name="AutoShape 4"/>
          <p:cNvSpPr>
            <a:spLocks noChangeArrowheads="1"/>
          </p:cNvSpPr>
          <p:nvPr/>
        </p:nvSpPr>
        <p:spPr bwMode="auto">
          <a:xfrm rot="5400000">
            <a:off x="1505372" y="4574195"/>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22" name="直接箭头连接符 21"/>
          <p:cNvCxnSpPr/>
          <p:nvPr/>
        </p:nvCxnSpPr>
        <p:spPr bwMode="auto">
          <a:xfrm flipV="1">
            <a:off x="1340024" y="4840895"/>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23" name="直接箭头连接符 22"/>
          <p:cNvCxnSpPr/>
          <p:nvPr/>
        </p:nvCxnSpPr>
        <p:spPr bwMode="auto">
          <a:xfrm flipH="1" flipV="1">
            <a:off x="1628056" y="4840895"/>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24" name="直接箭头连接符 23"/>
          <p:cNvCxnSpPr/>
          <p:nvPr/>
        </p:nvCxnSpPr>
        <p:spPr bwMode="auto">
          <a:xfrm flipV="1">
            <a:off x="1628056" y="4276055"/>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25" name="直接箭头连接符 24"/>
          <p:cNvCxnSpPr/>
          <p:nvPr/>
        </p:nvCxnSpPr>
        <p:spPr bwMode="auto">
          <a:xfrm flipH="1" flipV="1">
            <a:off x="1916088" y="4276055"/>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26" name="文本框 25"/>
          <p:cNvSpPr txBox="1"/>
          <p:nvPr/>
        </p:nvSpPr>
        <p:spPr>
          <a:xfrm>
            <a:off x="1073696" y="516996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7" name="文本框 26"/>
          <p:cNvSpPr txBox="1"/>
          <p:nvPr/>
        </p:nvSpPr>
        <p:spPr>
          <a:xfrm>
            <a:off x="1793776" y="5199583"/>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8" name="文本框 27"/>
          <p:cNvSpPr txBox="1"/>
          <p:nvPr/>
        </p:nvSpPr>
        <p:spPr>
          <a:xfrm>
            <a:off x="2081808" y="4479503"/>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9" name="AutoShape 4"/>
          <p:cNvSpPr>
            <a:spLocks noChangeArrowheads="1"/>
          </p:cNvSpPr>
          <p:nvPr/>
        </p:nvSpPr>
        <p:spPr bwMode="auto">
          <a:xfrm rot="5400000">
            <a:off x="3962028" y="1950740"/>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0" name="AutoShape 4"/>
          <p:cNvSpPr>
            <a:spLocks noChangeArrowheads="1"/>
          </p:cNvSpPr>
          <p:nvPr/>
        </p:nvSpPr>
        <p:spPr bwMode="auto">
          <a:xfrm rot="5400000">
            <a:off x="3657228" y="2515580"/>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31" name="直接箭头连接符 30"/>
          <p:cNvCxnSpPr/>
          <p:nvPr/>
        </p:nvCxnSpPr>
        <p:spPr bwMode="auto">
          <a:xfrm flipV="1">
            <a:off x="3491880" y="2782280"/>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32" name="直接箭头连接符 31"/>
          <p:cNvCxnSpPr/>
          <p:nvPr/>
        </p:nvCxnSpPr>
        <p:spPr bwMode="auto">
          <a:xfrm flipH="1" flipV="1">
            <a:off x="3779912" y="278228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33" name="直接箭头连接符 32"/>
          <p:cNvCxnSpPr/>
          <p:nvPr/>
        </p:nvCxnSpPr>
        <p:spPr bwMode="auto">
          <a:xfrm flipV="1">
            <a:off x="3779912"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34" name="直接箭头连接符 33"/>
          <p:cNvCxnSpPr/>
          <p:nvPr/>
        </p:nvCxnSpPr>
        <p:spPr bwMode="auto">
          <a:xfrm flipH="1" flipV="1">
            <a:off x="4067944"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35" name="文本框 34"/>
          <p:cNvSpPr txBox="1"/>
          <p:nvPr/>
        </p:nvSpPr>
        <p:spPr>
          <a:xfrm>
            <a:off x="3225552" y="3111351"/>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6" name="文本框 35"/>
          <p:cNvSpPr txBox="1"/>
          <p:nvPr/>
        </p:nvSpPr>
        <p:spPr>
          <a:xfrm>
            <a:off x="3945632" y="314096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7" name="文本框 36"/>
          <p:cNvSpPr txBox="1"/>
          <p:nvPr/>
        </p:nvSpPr>
        <p:spPr>
          <a:xfrm>
            <a:off x="4233664" y="242088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8" name="AutoShape 4"/>
          <p:cNvSpPr>
            <a:spLocks noChangeArrowheads="1"/>
          </p:cNvSpPr>
          <p:nvPr/>
        </p:nvSpPr>
        <p:spPr bwMode="auto">
          <a:xfrm rot="5400000">
            <a:off x="3962028" y="3966964"/>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9" name="AutoShape 4"/>
          <p:cNvSpPr>
            <a:spLocks noChangeArrowheads="1"/>
          </p:cNvSpPr>
          <p:nvPr/>
        </p:nvSpPr>
        <p:spPr bwMode="auto">
          <a:xfrm rot="5400000">
            <a:off x="3657228" y="4531804"/>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40" name="直接箭头连接符 39"/>
          <p:cNvCxnSpPr/>
          <p:nvPr/>
        </p:nvCxnSpPr>
        <p:spPr bwMode="auto">
          <a:xfrm flipV="1">
            <a:off x="3491880" y="479850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1" name="直接箭头连接符 40"/>
          <p:cNvCxnSpPr/>
          <p:nvPr/>
        </p:nvCxnSpPr>
        <p:spPr bwMode="auto">
          <a:xfrm flipH="1" flipV="1">
            <a:off x="3779912" y="479850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2" name="直接箭头连接符 41"/>
          <p:cNvCxnSpPr/>
          <p:nvPr/>
        </p:nvCxnSpPr>
        <p:spPr bwMode="auto">
          <a:xfrm flipV="1">
            <a:off x="3779912"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3" name="直接箭头连接符 42"/>
          <p:cNvCxnSpPr/>
          <p:nvPr/>
        </p:nvCxnSpPr>
        <p:spPr bwMode="auto">
          <a:xfrm flipH="1" flipV="1">
            <a:off x="4067944"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44" name="文本框 43"/>
          <p:cNvSpPr txBox="1"/>
          <p:nvPr/>
        </p:nvSpPr>
        <p:spPr>
          <a:xfrm>
            <a:off x="3225552" y="512757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45" name="文本框 44"/>
          <p:cNvSpPr txBox="1"/>
          <p:nvPr/>
        </p:nvSpPr>
        <p:spPr>
          <a:xfrm>
            <a:off x="3945632" y="515719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46" name="文本框 45"/>
          <p:cNvSpPr txBox="1"/>
          <p:nvPr/>
        </p:nvSpPr>
        <p:spPr>
          <a:xfrm>
            <a:off x="4233664" y="443711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47" name="AutoShape 4"/>
          <p:cNvSpPr>
            <a:spLocks noChangeArrowheads="1"/>
          </p:cNvSpPr>
          <p:nvPr/>
        </p:nvSpPr>
        <p:spPr bwMode="auto">
          <a:xfrm rot="5400000">
            <a:off x="6266284" y="1950740"/>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49" name="直接箭头连接符 48"/>
          <p:cNvCxnSpPr/>
          <p:nvPr/>
        </p:nvCxnSpPr>
        <p:spPr bwMode="auto">
          <a:xfrm flipV="1">
            <a:off x="5796136" y="2782280"/>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0" name="直接箭头连接符 49"/>
          <p:cNvCxnSpPr/>
          <p:nvPr/>
        </p:nvCxnSpPr>
        <p:spPr bwMode="auto">
          <a:xfrm flipH="1" flipV="1">
            <a:off x="6084168" y="278228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1" name="直接箭头连接符 50"/>
          <p:cNvCxnSpPr/>
          <p:nvPr/>
        </p:nvCxnSpPr>
        <p:spPr bwMode="auto">
          <a:xfrm flipV="1">
            <a:off x="6084168"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2" name="直接箭头连接符 51"/>
          <p:cNvCxnSpPr/>
          <p:nvPr/>
        </p:nvCxnSpPr>
        <p:spPr bwMode="auto">
          <a:xfrm flipH="1" flipV="1">
            <a:off x="6372200"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53" name="文本框 52"/>
          <p:cNvSpPr txBox="1"/>
          <p:nvPr/>
        </p:nvSpPr>
        <p:spPr>
          <a:xfrm>
            <a:off x="5529808" y="3111351"/>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54" name="文本框 53"/>
          <p:cNvSpPr txBox="1"/>
          <p:nvPr/>
        </p:nvSpPr>
        <p:spPr>
          <a:xfrm>
            <a:off x="6249888" y="314096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55" name="文本框 54"/>
          <p:cNvSpPr txBox="1"/>
          <p:nvPr/>
        </p:nvSpPr>
        <p:spPr>
          <a:xfrm>
            <a:off x="6537920" y="242088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56" name="AutoShape 4"/>
          <p:cNvSpPr>
            <a:spLocks noChangeArrowheads="1"/>
          </p:cNvSpPr>
          <p:nvPr/>
        </p:nvSpPr>
        <p:spPr bwMode="auto">
          <a:xfrm rot="5400000">
            <a:off x="6410300" y="3793331"/>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58" name="直接箭头连接符 57"/>
          <p:cNvCxnSpPr/>
          <p:nvPr/>
        </p:nvCxnSpPr>
        <p:spPr bwMode="auto">
          <a:xfrm flipV="1">
            <a:off x="5940152" y="4624871"/>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9" name="直接箭头连接符 58"/>
          <p:cNvCxnSpPr/>
          <p:nvPr/>
        </p:nvCxnSpPr>
        <p:spPr bwMode="auto">
          <a:xfrm flipH="1" flipV="1">
            <a:off x="6228184" y="4624871"/>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0" name="直接箭头连接符 59"/>
          <p:cNvCxnSpPr/>
          <p:nvPr/>
        </p:nvCxnSpPr>
        <p:spPr bwMode="auto">
          <a:xfrm flipV="1">
            <a:off x="6228184" y="40600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1" name="直接箭头连接符 60"/>
          <p:cNvCxnSpPr/>
          <p:nvPr/>
        </p:nvCxnSpPr>
        <p:spPr bwMode="auto">
          <a:xfrm flipH="1" flipV="1">
            <a:off x="6516216" y="40600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62" name="文本框 61"/>
          <p:cNvSpPr txBox="1"/>
          <p:nvPr/>
        </p:nvSpPr>
        <p:spPr>
          <a:xfrm>
            <a:off x="5673824" y="49539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63" name="文本框 62"/>
          <p:cNvSpPr txBox="1"/>
          <p:nvPr/>
        </p:nvSpPr>
        <p:spPr>
          <a:xfrm>
            <a:off x="6393904" y="49835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64" name="文本框 63"/>
          <p:cNvSpPr txBox="1"/>
          <p:nvPr/>
        </p:nvSpPr>
        <p:spPr>
          <a:xfrm>
            <a:off x="6681936" y="426347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65" name="文本框 64"/>
          <p:cNvSpPr txBox="1"/>
          <p:nvPr/>
        </p:nvSpPr>
        <p:spPr>
          <a:xfrm flipH="1">
            <a:off x="5840543" y="2469666"/>
            <a:ext cx="408033"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66" name="文本框 65"/>
          <p:cNvSpPr txBox="1"/>
          <p:nvPr/>
        </p:nvSpPr>
        <p:spPr>
          <a:xfrm flipH="1">
            <a:off x="5992943" y="4293096"/>
            <a:ext cx="408033"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67" name="矩形 66"/>
          <p:cNvSpPr/>
          <p:nvPr/>
        </p:nvSpPr>
        <p:spPr bwMode="auto">
          <a:xfrm>
            <a:off x="827584" y="3861048"/>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8" name="矩形 67"/>
          <p:cNvSpPr/>
          <p:nvPr/>
        </p:nvSpPr>
        <p:spPr bwMode="auto">
          <a:xfrm>
            <a:off x="2940558" y="1772816"/>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9" name="矩形 68"/>
          <p:cNvSpPr/>
          <p:nvPr/>
        </p:nvSpPr>
        <p:spPr bwMode="auto">
          <a:xfrm>
            <a:off x="2987824" y="3789040"/>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0" name="矩形 69"/>
          <p:cNvSpPr/>
          <p:nvPr/>
        </p:nvSpPr>
        <p:spPr bwMode="auto">
          <a:xfrm>
            <a:off x="5172806" y="1772816"/>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1" name="矩形 70"/>
          <p:cNvSpPr/>
          <p:nvPr/>
        </p:nvSpPr>
        <p:spPr bwMode="auto">
          <a:xfrm>
            <a:off x="5172806" y="3789040"/>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3" name="文本框 72"/>
          <p:cNvSpPr txBox="1"/>
          <p:nvPr/>
        </p:nvSpPr>
        <p:spPr>
          <a:xfrm flipH="1">
            <a:off x="5364088" y="2176988"/>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74" name="文本框 73"/>
          <p:cNvSpPr txBox="1"/>
          <p:nvPr/>
        </p:nvSpPr>
        <p:spPr>
          <a:xfrm flipH="1">
            <a:off x="5486007" y="4049196"/>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72" name="矩形 71"/>
          <p:cNvSpPr/>
          <p:nvPr/>
        </p:nvSpPr>
        <p:spPr>
          <a:xfrm>
            <a:off x="685800" y="66307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75" name="矩形 74"/>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65</a:t>
            </a:fld>
            <a:endParaRPr lang="en-US" altLang="zh-C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052736"/>
            <a:ext cx="7772400" cy="5043264"/>
          </a:xfrm>
        </p:spPr>
        <p:txBody>
          <a:bodyPr/>
          <a:lstStyle/>
          <a:p>
            <a:pPr marL="0" indent="0">
              <a:buNone/>
            </a:pPr>
            <a:r>
              <a:rPr lang="en-US" altLang="zh-CN" dirty="0">
                <a:latin typeface="+mn-ea"/>
              </a:rPr>
              <a:t>2. </a:t>
            </a:r>
            <a:r>
              <a:rPr lang="zh-CN" altLang="en-US" dirty="0"/>
              <a:t>枚举所有可能的</a:t>
            </a:r>
            <a:r>
              <a:rPr lang="zh-CN" altLang="en-US" dirty="0">
                <a:solidFill>
                  <a:srgbClr val="FF0000"/>
                </a:solidFill>
              </a:rPr>
              <a:t>连接算法</a:t>
            </a:r>
          </a:p>
        </p:txBody>
      </p:sp>
      <p:sp>
        <p:nvSpPr>
          <p:cNvPr id="5" name="AutoShape 4"/>
          <p:cNvSpPr>
            <a:spLocks noChangeArrowheads="1"/>
          </p:cNvSpPr>
          <p:nvPr/>
        </p:nvSpPr>
        <p:spPr bwMode="auto">
          <a:xfrm rot="5400000">
            <a:off x="1657772" y="1993131"/>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6" name="AutoShape 4"/>
          <p:cNvSpPr>
            <a:spLocks noChangeArrowheads="1"/>
          </p:cNvSpPr>
          <p:nvPr/>
        </p:nvSpPr>
        <p:spPr bwMode="auto">
          <a:xfrm rot="5400000">
            <a:off x="1352972" y="2557971"/>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8" name="直接箭头连接符 7"/>
          <p:cNvCxnSpPr/>
          <p:nvPr/>
        </p:nvCxnSpPr>
        <p:spPr bwMode="auto">
          <a:xfrm flipV="1">
            <a:off x="1187624" y="2824671"/>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 name="直接箭头连接符 8"/>
          <p:cNvCxnSpPr/>
          <p:nvPr/>
        </p:nvCxnSpPr>
        <p:spPr bwMode="auto">
          <a:xfrm flipH="1" flipV="1">
            <a:off x="1475656" y="2824671"/>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 name="直接箭头连接符 9"/>
          <p:cNvCxnSpPr/>
          <p:nvPr/>
        </p:nvCxnSpPr>
        <p:spPr bwMode="auto">
          <a:xfrm flipV="1">
            <a:off x="1475656"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1" name="直接箭头连接符 10"/>
          <p:cNvCxnSpPr/>
          <p:nvPr/>
        </p:nvCxnSpPr>
        <p:spPr bwMode="auto">
          <a:xfrm flipH="1" flipV="1">
            <a:off x="1763688"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4" name="文本框 13"/>
          <p:cNvSpPr txBox="1"/>
          <p:nvPr/>
        </p:nvSpPr>
        <p:spPr>
          <a:xfrm>
            <a:off x="921296" y="31537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6" name="文本框 15"/>
          <p:cNvSpPr txBox="1"/>
          <p:nvPr/>
        </p:nvSpPr>
        <p:spPr>
          <a:xfrm>
            <a:off x="1641376" y="31833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7" name="文本框 16"/>
          <p:cNvSpPr txBox="1"/>
          <p:nvPr/>
        </p:nvSpPr>
        <p:spPr>
          <a:xfrm>
            <a:off x="1929408" y="246327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8" name="矩形 17"/>
          <p:cNvSpPr/>
          <p:nvPr/>
        </p:nvSpPr>
        <p:spPr bwMode="auto">
          <a:xfrm>
            <a:off x="748711" y="1804653"/>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9" name="矩形 18"/>
          <p:cNvSpPr/>
          <p:nvPr/>
        </p:nvSpPr>
        <p:spPr bwMode="auto">
          <a:xfrm>
            <a:off x="6624226" y="692696"/>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cxnSp>
        <p:nvCxnSpPr>
          <p:cNvPr id="76" name="直接箭头连接符 75"/>
          <p:cNvCxnSpPr/>
          <p:nvPr/>
        </p:nvCxnSpPr>
        <p:spPr bwMode="auto">
          <a:xfrm flipV="1">
            <a:off x="3883527" y="2830488"/>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7" name="直接箭头连接符 76"/>
          <p:cNvCxnSpPr/>
          <p:nvPr/>
        </p:nvCxnSpPr>
        <p:spPr bwMode="auto">
          <a:xfrm flipH="1" flipV="1">
            <a:off x="4171559" y="2830488"/>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8" name="直接箭头连接符 77"/>
          <p:cNvCxnSpPr/>
          <p:nvPr/>
        </p:nvCxnSpPr>
        <p:spPr bwMode="auto">
          <a:xfrm flipV="1">
            <a:off x="4171559" y="226564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9" name="直接箭头连接符 78"/>
          <p:cNvCxnSpPr/>
          <p:nvPr/>
        </p:nvCxnSpPr>
        <p:spPr bwMode="auto">
          <a:xfrm flipH="1" flipV="1">
            <a:off x="4459591" y="226564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80" name="文本框 79"/>
          <p:cNvSpPr txBox="1"/>
          <p:nvPr/>
        </p:nvSpPr>
        <p:spPr>
          <a:xfrm>
            <a:off x="3617199" y="31595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1" name="文本框 80"/>
          <p:cNvSpPr txBox="1"/>
          <p:nvPr/>
        </p:nvSpPr>
        <p:spPr>
          <a:xfrm>
            <a:off x="4337279" y="318917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2" name="文本框 81"/>
          <p:cNvSpPr txBox="1"/>
          <p:nvPr/>
        </p:nvSpPr>
        <p:spPr>
          <a:xfrm>
            <a:off x="4625311" y="246909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86" name="直接箭头连接符 85"/>
          <p:cNvCxnSpPr/>
          <p:nvPr/>
        </p:nvCxnSpPr>
        <p:spPr bwMode="auto">
          <a:xfrm flipV="1">
            <a:off x="3955535" y="513474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7" name="直接箭头连接符 86"/>
          <p:cNvCxnSpPr/>
          <p:nvPr/>
        </p:nvCxnSpPr>
        <p:spPr bwMode="auto">
          <a:xfrm flipH="1" flipV="1">
            <a:off x="4243567" y="513474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8" name="直接箭头连接符 87"/>
          <p:cNvCxnSpPr/>
          <p:nvPr/>
        </p:nvCxnSpPr>
        <p:spPr bwMode="auto">
          <a:xfrm flipV="1">
            <a:off x="4243567" y="456990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9" name="直接箭头连接符 88"/>
          <p:cNvCxnSpPr/>
          <p:nvPr/>
        </p:nvCxnSpPr>
        <p:spPr bwMode="auto">
          <a:xfrm flipH="1" flipV="1">
            <a:off x="4531599" y="456990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90" name="文本框 89"/>
          <p:cNvSpPr txBox="1"/>
          <p:nvPr/>
        </p:nvSpPr>
        <p:spPr>
          <a:xfrm>
            <a:off x="3689207" y="546381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91" name="文本框 90"/>
          <p:cNvSpPr txBox="1"/>
          <p:nvPr/>
        </p:nvSpPr>
        <p:spPr>
          <a:xfrm>
            <a:off x="4409287" y="549343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92" name="文本框 91"/>
          <p:cNvSpPr txBox="1"/>
          <p:nvPr/>
        </p:nvSpPr>
        <p:spPr>
          <a:xfrm>
            <a:off x="4697319" y="477335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96" name="直接箭头连接符 95"/>
          <p:cNvCxnSpPr/>
          <p:nvPr/>
        </p:nvCxnSpPr>
        <p:spPr bwMode="auto">
          <a:xfrm flipV="1">
            <a:off x="6835855" y="279283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7" name="直接箭头连接符 96"/>
          <p:cNvCxnSpPr/>
          <p:nvPr/>
        </p:nvCxnSpPr>
        <p:spPr bwMode="auto">
          <a:xfrm flipH="1" flipV="1">
            <a:off x="7123887" y="279283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8" name="直接箭头连接符 97"/>
          <p:cNvCxnSpPr/>
          <p:nvPr/>
        </p:nvCxnSpPr>
        <p:spPr bwMode="auto">
          <a:xfrm flipV="1">
            <a:off x="7123887" y="222799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9" name="直接箭头连接符 98"/>
          <p:cNvCxnSpPr/>
          <p:nvPr/>
        </p:nvCxnSpPr>
        <p:spPr bwMode="auto">
          <a:xfrm flipH="1" flipV="1">
            <a:off x="7411919" y="222799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00" name="文本框 99"/>
          <p:cNvSpPr txBox="1"/>
          <p:nvPr/>
        </p:nvSpPr>
        <p:spPr>
          <a:xfrm>
            <a:off x="6569527" y="312190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01" name="文本框 100"/>
          <p:cNvSpPr txBox="1"/>
          <p:nvPr/>
        </p:nvSpPr>
        <p:spPr>
          <a:xfrm>
            <a:off x="7289607" y="315152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02" name="文本框 101"/>
          <p:cNvSpPr txBox="1"/>
          <p:nvPr/>
        </p:nvSpPr>
        <p:spPr>
          <a:xfrm>
            <a:off x="7577639" y="24314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106" name="直接箭头连接符 105"/>
          <p:cNvCxnSpPr/>
          <p:nvPr/>
        </p:nvCxnSpPr>
        <p:spPr bwMode="auto">
          <a:xfrm flipV="1">
            <a:off x="6883121" y="5097090"/>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7" name="直接箭头连接符 106"/>
          <p:cNvCxnSpPr/>
          <p:nvPr/>
        </p:nvCxnSpPr>
        <p:spPr bwMode="auto">
          <a:xfrm flipH="1" flipV="1">
            <a:off x="7171153" y="509709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8" name="直接箭头连接符 107"/>
          <p:cNvCxnSpPr/>
          <p:nvPr/>
        </p:nvCxnSpPr>
        <p:spPr bwMode="auto">
          <a:xfrm flipV="1">
            <a:off x="7171153" y="453225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9" name="直接箭头连接符 108"/>
          <p:cNvCxnSpPr/>
          <p:nvPr/>
        </p:nvCxnSpPr>
        <p:spPr bwMode="auto">
          <a:xfrm flipH="1" flipV="1">
            <a:off x="7459185" y="453225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10" name="文本框 109"/>
          <p:cNvSpPr txBox="1"/>
          <p:nvPr/>
        </p:nvSpPr>
        <p:spPr>
          <a:xfrm>
            <a:off x="6616793" y="5426161"/>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11" name="文本框 110"/>
          <p:cNvSpPr txBox="1"/>
          <p:nvPr/>
        </p:nvSpPr>
        <p:spPr>
          <a:xfrm>
            <a:off x="7336873" y="545577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12" name="文本框 111"/>
          <p:cNvSpPr txBox="1"/>
          <p:nvPr/>
        </p:nvSpPr>
        <p:spPr>
          <a:xfrm>
            <a:off x="7624905" y="473569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 name="箭头: 右 1"/>
          <p:cNvSpPr/>
          <p:nvPr/>
        </p:nvSpPr>
        <p:spPr bwMode="auto">
          <a:xfrm>
            <a:off x="2627784" y="2596071"/>
            <a:ext cx="783294" cy="52583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矩形 6"/>
          <p:cNvSpPr/>
          <p:nvPr/>
        </p:nvSpPr>
        <p:spPr bwMode="auto">
          <a:xfrm>
            <a:off x="3883527" y="2596071"/>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4" name="矩形 113"/>
          <p:cNvSpPr/>
          <p:nvPr/>
        </p:nvSpPr>
        <p:spPr bwMode="auto">
          <a:xfrm>
            <a:off x="4211960"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5" name="矩形 114"/>
          <p:cNvSpPr/>
          <p:nvPr/>
        </p:nvSpPr>
        <p:spPr bwMode="auto">
          <a:xfrm>
            <a:off x="7155494"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6" name="矩形 115"/>
          <p:cNvSpPr/>
          <p:nvPr/>
        </p:nvSpPr>
        <p:spPr bwMode="auto">
          <a:xfrm>
            <a:off x="6867462" y="257748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rPr>
              <a:t>HJ</a:t>
            </a:r>
            <a:endParaRPr kumimoji="1" lang="zh-CN" altLang="en-US" sz="1800" b="1" i="0" u="none" strike="noStrike" kern="120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endParaRPr>
          </a:p>
        </p:txBody>
      </p:sp>
      <p:sp>
        <p:nvSpPr>
          <p:cNvPr id="117" name="矩形 116"/>
          <p:cNvSpPr/>
          <p:nvPr/>
        </p:nvSpPr>
        <p:spPr bwMode="auto">
          <a:xfrm>
            <a:off x="3995936" y="486916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8" name="矩形 117"/>
          <p:cNvSpPr/>
          <p:nvPr/>
        </p:nvSpPr>
        <p:spPr bwMode="auto">
          <a:xfrm>
            <a:off x="4275174" y="437768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9" name="矩形 118"/>
          <p:cNvSpPr/>
          <p:nvPr/>
        </p:nvSpPr>
        <p:spPr bwMode="auto">
          <a:xfrm>
            <a:off x="7227502" y="4305672"/>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20" name="矩形 119"/>
          <p:cNvSpPr/>
          <p:nvPr/>
        </p:nvSpPr>
        <p:spPr bwMode="auto">
          <a:xfrm>
            <a:off x="6939470" y="4881736"/>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52" name="矩形 51"/>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53" name="矩形 52"/>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4" name="文本框 3"/>
          <p:cNvSpPr txBox="1"/>
          <p:nvPr/>
        </p:nvSpPr>
        <p:spPr>
          <a:xfrm>
            <a:off x="615909" y="5704664"/>
            <a:ext cx="2444580" cy="707886"/>
          </a:xfrm>
          <a:prstGeom prst="rect">
            <a:avLst/>
          </a:prstGeom>
          <a:noFill/>
        </p:spPr>
        <p:txBody>
          <a:bodyPr wrap="none" rtlCol="0">
            <a:spAutoFit/>
          </a:bodyPr>
          <a:lstStyle/>
          <a:p>
            <a:r>
              <a:rPr lang="en-US" altLang="zh-CN" sz="2000" dirty="0">
                <a:solidFill>
                  <a:srgbClr val="FF0000"/>
                </a:solidFill>
              </a:rPr>
              <a:t>NLJ</a:t>
            </a:r>
            <a:r>
              <a:rPr lang="zh-CN" altLang="en-US" sz="2000" dirty="0">
                <a:solidFill>
                  <a:srgbClr val="FF0000"/>
                </a:solidFill>
              </a:rPr>
              <a:t>：嵌套循环方法</a:t>
            </a:r>
            <a:endParaRPr lang="en-US" altLang="zh-CN" sz="2000" dirty="0">
              <a:solidFill>
                <a:srgbClr val="FF0000"/>
              </a:solidFill>
            </a:endParaRPr>
          </a:p>
          <a:p>
            <a:r>
              <a:rPr lang="en-US" altLang="zh-CN" sz="2000" dirty="0">
                <a:solidFill>
                  <a:srgbClr val="FF0000"/>
                </a:solidFill>
              </a:rPr>
              <a:t>HJ</a:t>
            </a:r>
            <a:r>
              <a:rPr lang="zh-CN" altLang="en-US" sz="2000" dirty="0">
                <a:solidFill>
                  <a:srgbClr val="FF0000"/>
                </a:solidFill>
              </a:rPr>
              <a:t>：哈希连接方法</a:t>
            </a:r>
          </a:p>
        </p:txBody>
      </p:sp>
      <p:sp>
        <p:nvSpPr>
          <p:cNvPr id="12" name="灯片编号占位符 11"/>
          <p:cNvSpPr>
            <a:spLocks noGrp="1"/>
          </p:cNvSpPr>
          <p:nvPr>
            <p:ph type="sldNum" sz="quarter" idx="12"/>
          </p:nvPr>
        </p:nvSpPr>
        <p:spPr/>
        <p:txBody>
          <a:bodyPr/>
          <a:lstStyle/>
          <a:p>
            <a:pPr>
              <a:defRPr/>
            </a:pPr>
            <a:fld id="{BCABB3B7-40FC-498F-90D6-69ECBA7F181C}" type="slidenum">
              <a:rPr lang="zh-CN" altLang="en-US" smtClean="0"/>
              <a:t>66</a:t>
            </a:fld>
            <a:endParaRPr lang="en-US" altLang="zh-C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052736"/>
            <a:ext cx="7846640" cy="625624"/>
          </a:xfrm>
        </p:spPr>
        <p:txBody>
          <a:bodyPr/>
          <a:lstStyle/>
          <a:p>
            <a:pPr marL="0" indent="0">
              <a:buNone/>
            </a:pPr>
            <a:r>
              <a:rPr lang="en-US" altLang="zh-CN" dirty="0">
                <a:latin typeface="+mn-ea"/>
              </a:rPr>
              <a:t>3.</a:t>
            </a:r>
            <a:r>
              <a:rPr lang="zh-CN" altLang="en-US" dirty="0"/>
              <a:t>枚举所有可能的数据</a:t>
            </a:r>
            <a:r>
              <a:rPr lang="zh-CN" altLang="en-US" dirty="0">
                <a:solidFill>
                  <a:srgbClr val="FF0000"/>
                </a:solidFill>
              </a:rPr>
              <a:t>存取方法</a:t>
            </a:r>
          </a:p>
        </p:txBody>
      </p:sp>
      <p:sp>
        <p:nvSpPr>
          <p:cNvPr id="19" name="矩形 18"/>
          <p:cNvSpPr/>
          <p:nvPr/>
        </p:nvSpPr>
        <p:spPr bwMode="auto">
          <a:xfrm>
            <a:off x="6624226" y="692696"/>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cxnSp>
        <p:nvCxnSpPr>
          <p:cNvPr id="106" name="直接箭头连接符 105"/>
          <p:cNvCxnSpPr/>
          <p:nvPr/>
        </p:nvCxnSpPr>
        <p:spPr bwMode="auto">
          <a:xfrm flipV="1">
            <a:off x="1165920" y="2780258"/>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7" name="直接箭头连接符 106"/>
          <p:cNvCxnSpPr/>
          <p:nvPr/>
        </p:nvCxnSpPr>
        <p:spPr bwMode="auto">
          <a:xfrm flipH="1" flipV="1">
            <a:off x="1453952" y="2780258"/>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8" name="直接箭头连接符 107"/>
          <p:cNvCxnSpPr/>
          <p:nvPr/>
        </p:nvCxnSpPr>
        <p:spPr bwMode="auto">
          <a:xfrm flipV="1">
            <a:off x="1453952"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9" name="直接箭头连接符 108"/>
          <p:cNvCxnSpPr/>
          <p:nvPr/>
        </p:nvCxnSpPr>
        <p:spPr bwMode="auto">
          <a:xfrm flipH="1" flipV="1">
            <a:off x="1741984"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10" name="文本框 109"/>
          <p:cNvSpPr txBox="1"/>
          <p:nvPr/>
        </p:nvSpPr>
        <p:spPr>
          <a:xfrm>
            <a:off x="899592" y="310932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11" name="文本框 110"/>
          <p:cNvSpPr txBox="1"/>
          <p:nvPr/>
        </p:nvSpPr>
        <p:spPr>
          <a:xfrm>
            <a:off x="1619672" y="313894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12" name="文本框 111"/>
          <p:cNvSpPr txBox="1"/>
          <p:nvPr/>
        </p:nvSpPr>
        <p:spPr>
          <a:xfrm>
            <a:off x="1907704" y="241886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19" name="矩形 118"/>
          <p:cNvSpPr/>
          <p:nvPr/>
        </p:nvSpPr>
        <p:spPr bwMode="auto">
          <a:xfrm>
            <a:off x="1510301"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20" name="矩形 119"/>
          <p:cNvSpPr/>
          <p:nvPr/>
        </p:nvSpPr>
        <p:spPr bwMode="auto">
          <a:xfrm>
            <a:off x="1222269" y="2564904"/>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cxnSp>
        <p:nvCxnSpPr>
          <p:cNvPr id="52" name="直接箭头连接符 51"/>
          <p:cNvCxnSpPr/>
          <p:nvPr/>
        </p:nvCxnSpPr>
        <p:spPr bwMode="auto">
          <a:xfrm flipV="1">
            <a:off x="4499992" y="2780258"/>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3" name="直接箭头连接符 52"/>
          <p:cNvCxnSpPr/>
          <p:nvPr/>
        </p:nvCxnSpPr>
        <p:spPr bwMode="auto">
          <a:xfrm flipH="1" flipV="1">
            <a:off x="4788024" y="2780258"/>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4" name="直接箭头连接符 53"/>
          <p:cNvCxnSpPr/>
          <p:nvPr/>
        </p:nvCxnSpPr>
        <p:spPr bwMode="auto">
          <a:xfrm flipV="1">
            <a:off x="4788024"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5" name="直接箭头连接符 54"/>
          <p:cNvCxnSpPr/>
          <p:nvPr/>
        </p:nvCxnSpPr>
        <p:spPr bwMode="auto">
          <a:xfrm flipH="1" flipV="1">
            <a:off x="5076056"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56" name="文本框 55"/>
          <p:cNvSpPr txBox="1"/>
          <p:nvPr/>
        </p:nvSpPr>
        <p:spPr>
          <a:xfrm>
            <a:off x="3635896" y="3140968"/>
            <a:ext cx="1195535"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59" name="矩形 58"/>
          <p:cNvSpPr/>
          <p:nvPr/>
        </p:nvSpPr>
        <p:spPr bwMode="auto">
          <a:xfrm>
            <a:off x="4844373"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0" name="矩形 59"/>
          <p:cNvSpPr/>
          <p:nvPr/>
        </p:nvSpPr>
        <p:spPr bwMode="auto">
          <a:xfrm>
            <a:off x="4556341" y="2564904"/>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cxnSp>
        <p:nvCxnSpPr>
          <p:cNvPr id="61" name="直接箭头连接符 60"/>
          <p:cNvCxnSpPr/>
          <p:nvPr/>
        </p:nvCxnSpPr>
        <p:spPr bwMode="auto">
          <a:xfrm flipV="1">
            <a:off x="4499992" y="4912903"/>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2" name="直接箭头连接符 61"/>
          <p:cNvCxnSpPr/>
          <p:nvPr/>
        </p:nvCxnSpPr>
        <p:spPr bwMode="auto">
          <a:xfrm flipH="1" flipV="1">
            <a:off x="4788024" y="4912903"/>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3" name="直接箭头连接符 62"/>
          <p:cNvCxnSpPr/>
          <p:nvPr/>
        </p:nvCxnSpPr>
        <p:spPr bwMode="auto">
          <a:xfrm flipV="1">
            <a:off x="4788024" y="4348063"/>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4" name="直接箭头连接符 63"/>
          <p:cNvCxnSpPr/>
          <p:nvPr/>
        </p:nvCxnSpPr>
        <p:spPr bwMode="auto">
          <a:xfrm flipH="1" flipV="1">
            <a:off x="5076056" y="4348063"/>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68" name="矩形 67"/>
          <p:cNvSpPr/>
          <p:nvPr/>
        </p:nvSpPr>
        <p:spPr bwMode="auto">
          <a:xfrm>
            <a:off x="4844373" y="4121485"/>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9" name="矩形 68"/>
          <p:cNvSpPr/>
          <p:nvPr/>
        </p:nvSpPr>
        <p:spPr bwMode="auto">
          <a:xfrm>
            <a:off x="4556341" y="4697549"/>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0" name="箭头: 右 69"/>
          <p:cNvSpPr/>
          <p:nvPr/>
        </p:nvSpPr>
        <p:spPr bwMode="auto">
          <a:xfrm>
            <a:off x="2627784" y="2596071"/>
            <a:ext cx="783294" cy="52583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1" name="文本框 70"/>
          <p:cNvSpPr txBox="1"/>
          <p:nvPr/>
        </p:nvSpPr>
        <p:spPr>
          <a:xfrm>
            <a:off x="4716016" y="3140968"/>
            <a:ext cx="1195535"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2" name="文本框 71"/>
          <p:cNvSpPr txBox="1"/>
          <p:nvPr/>
        </p:nvSpPr>
        <p:spPr>
          <a:xfrm>
            <a:off x="5176665" y="2492896"/>
            <a:ext cx="1195535"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3" name="文本框 72"/>
          <p:cNvSpPr txBox="1"/>
          <p:nvPr/>
        </p:nvSpPr>
        <p:spPr>
          <a:xfrm>
            <a:off x="3707906" y="5322694"/>
            <a:ext cx="1195534"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5" name="文本框 74"/>
          <p:cNvSpPr txBox="1"/>
          <p:nvPr/>
        </p:nvSpPr>
        <p:spPr>
          <a:xfrm>
            <a:off x="5248673" y="4581128"/>
            <a:ext cx="1296144"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3" name="矩形 32"/>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34" name="矩形 33"/>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35" name="文本框 34"/>
          <p:cNvSpPr txBox="1"/>
          <p:nvPr/>
        </p:nvSpPr>
        <p:spPr>
          <a:xfrm>
            <a:off x="615908" y="5704664"/>
            <a:ext cx="4100107" cy="707886"/>
          </a:xfrm>
          <a:prstGeom prst="rect">
            <a:avLst/>
          </a:prstGeom>
          <a:noFill/>
        </p:spPr>
        <p:txBody>
          <a:bodyPr wrap="square" rtlCol="0">
            <a:spAutoFit/>
          </a:bodyPr>
          <a:lstStyle/>
          <a:p>
            <a:r>
              <a:rPr lang="en-US" altLang="zh-CN" sz="2000" dirty="0" err="1">
                <a:solidFill>
                  <a:srgbClr val="FF0000"/>
                </a:solidFill>
              </a:rPr>
              <a:t>SeqScan</a:t>
            </a:r>
            <a:r>
              <a:rPr lang="zh-CN" altLang="en-US" sz="2000" dirty="0">
                <a:solidFill>
                  <a:srgbClr val="FF0000"/>
                </a:solidFill>
              </a:rPr>
              <a:t>：顺序扫描方法</a:t>
            </a:r>
            <a:endParaRPr lang="en-US" altLang="zh-CN" sz="2000" dirty="0">
              <a:solidFill>
                <a:srgbClr val="FF0000"/>
              </a:solidFill>
            </a:endParaRPr>
          </a:p>
          <a:p>
            <a:r>
              <a:rPr lang="en-US" altLang="zh-CN" sz="2000" dirty="0" err="1">
                <a:solidFill>
                  <a:srgbClr val="FF0000"/>
                </a:solidFill>
              </a:rPr>
              <a:t>IndexScan</a:t>
            </a:r>
            <a:r>
              <a:rPr lang="zh-CN" altLang="en-US" sz="2000" dirty="0">
                <a:solidFill>
                  <a:srgbClr val="FF0000"/>
                </a:solidFill>
              </a:rPr>
              <a:t>：索引扫描方法</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67</a:t>
            </a:fld>
            <a:endParaRPr lang="en-US" altLang="zh-CN"/>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124744"/>
            <a:ext cx="7772400" cy="4971256"/>
          </a:xfrm>
        </p:spPr>
        <p:txBody>
          <a:bodyPr/>
          <a:lstStyle/>
          <a:p>
            <a:r>
              <a:rPr lang="zh-CN" altLang="en-US" dirty="0"/>
              <a:t>多表查询计划</a:t>
            </a:r>
            <a:r>
              <a:rPr lang="en-US" altLang="zh-CN" dirty="0"/>
              <a:t>(</a:t>
            </a:r>
            <a:r>
              <a:rPr lang="zh-CN" altLang="en-US" dirty="0"/>
              <a:t>续</a:t>
            </a:r>
            <a:r>
              <a:rPr lang="en-US" altLang="zh-CN" dirty="0"/>
              <a:t>)</a:t>
            </a:r>
          </a:p>
          <a:p>
            <a:pPr lvl="1"/>
            <a:r>
              <a:rPr lang="en-US" altLang="zh-CN" dirty="0"/>
              <a:t>System R</a:t>
            </a:r>
            <a:r>
              <a:rPr lang="zh-CN" altLang="en-US" dirty="0"/>
              <a:t>的启发式思想：简化这一问题，只考虑</a:t>
            </a:r>
            <a:r>
              <a:rPr lang="zh-CN" altLang="en-US" dirty="0">
                <a:solidFill>
                  <a:srgbClr val="FF0000"/>
                </a:solidFill>
              </a:rPr>
              <a:t>左深树</a:t>
            </a:r>
            <a:r>
              <a:rPr lang="en-US" altLang="zh-CN" dirty="0">
                <a:solidFill>
                  <a:srgbClr val="FF0000"/>
                </a:solidFill>
              </a:rPr>
              <a:t>——</a:t>
            </a:r>
            <a:r>
              <a:rPr lang="zh-CN" altLang="en-US" dirty="0"/>
              <a:t>认为非左深树不能</a:t>
            </a:r>
            <a:r>
              <a:rPr lang="zh-CN" altLang="en-US" dirty="0">
                <a:solidFill>
                  <a:srgbClr val="FF0000"/>
                </a:solidFill>
              </a:rPr>
              <a:t>流水线计算</a:t>
            </a:r>
            <a:r>
              <a:rPr lang="zh-CN" altLang="en-US" dirty="0"/>
              <a:t>，不符合</a:t>
            </a:r>
            <a:r>
              <a:rPr lang="zh-CN" altLang="en-US" dirty="0">
                <a:solidFill>
                  <a:srgbClr val="FF0000"/>
                </a:solidFill>
              </a:rPr>
              <a:t>火山模型</a:t>
            </a:r>
          </a:p>
        </p:txBody>
      </p:sp>
      <p:sp>
        <p:nvSpPr>
          <p:cNvPr id="71" name="AutoShape 4"/>
          <p:cNvSpPr>
            <a:spLocks noChangeArrowheads="1"/>
          </p:cNvSpPr>
          <p:nvPr/>
        </p:nvSpPr>
        <p:spPr bwMode="auto">
          <a:xfrm rot="5400000">
            <a:off x="1729780" y="3966964"/>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2" name="AutoShape 4"/>
          <p:cNvSpPr>
            <a:spLocks noChangeArrowheads="1"/>
          </p:cNvSpPr>
          <p:nvPr/>
        </p:nvSpPr>
        <p:spPr bwMode="auto">
          <a:xfrm rot="5400000">
            <a:off x="1424980" y="4531804"/>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3" name="AutoShape 4"/>
          <p:cNvSpPr>
            <a:spLocks noChangeArrowheads="1"/>
          </p:cNvSpPr>
          <p:nvPr/>
        </p:nvSpPr>
        <p:spPr bwMode="auto">
          <a:xfrm rot="5400000">
            <a:off x="1120180" y="5191100"/>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74" name="直接箭头连接符 73"/>
          <p:cNvCxnSpPr/>
          <p:nvPr/>
        </p:nvCxnSpPr>
        <p:spPr bwMode="auto">
          <a:xfrm flipV="1">
            <a:off x="1259632" y="479850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5" name="直接箭头连接符 74"/>
          <p:cNvCxnSpPr/>
          <p:nvPr/>
        </p:nvCxnSpPr>
        <p:spPr bwMode="auto">
          <a:xfrm flipH="1" flipV="1">
            <a:off x="1547664" y="479850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6" name="直接箭头连接符 75"/>
          <p:cNvCxnSpPr/>
          <p:nvPr/>
        </p:nvCxnSpPr>
        <p:spPr bwMode="auto">
          <a:xfrm flipV="1">
            <a:off x="1547664"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7" name="直接箭头连接符 76"/>
          <p:cNvCxnSpPr/>
          <p:nvPr/>
        </p:nvCxnSpPr>
        <p:spPr bwMode="auto">
          <a:xfrm flipH="1" flipV="1">
            <a:off x="1835696"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8" name="直接箭头连接符 77"/>
          <p:cNvCxnSpPr/>
          <p:nvPr/>
        </p:nvCxnSpPr>
        <p:spPr bwMode="auto">
          <a:xfrm flipV="1">
            <a:off x="921296" y="5457800"/>
            <a:ext cx="33833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9" name="直接箭头连接符 78"/>
          <p:cNvCxnSpPr/>
          <p:nvPr/>
        </p:nvCxnSpPr>
        <p:spPr bwMode="auto">
          <a:xfrm flipH="1" flipV="1">
            <a:off x="1259632" y="5457800"/>
            <a:ext cx="23549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80" name="文本框 79"/>
          <p:cNvSpPr txBox="1"/>
          <p:nvPr/>
        </p:nvSpPr>
        <p:spPr>
          <a:xfrm>
            <a:off x="705272" y="570363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1" name="文本框 80"/>
          <p:cNvSpPr txBox="1"/>
          <p:nvPr/>
        </p:nvSpPr>
        <p:spPr>
          <a:xfrm>
            <a:off x="1366480" y="573325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B</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2" name="文本框 81"/>
          <p:cNvSpPr txBox="1"/>
          <p:nvPr/>
        </p:nvSpPr>
        <p:spPr>
          <a:xfrm>
            <a:off x="1713384" y="515719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3" name="文本框 82"/>
          <p:cNvSpPr txBox="1"/>
          <p:nvPr/>
        </p:nvSpPr>
        <p:spPr>
          <a:xfrm>
            <a:off x="2001416" y="443711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D</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4" name="矩形 83"/>
          <p:cNvSpPr/>
          <p:nvPr/>
        </p:nvSpPr>
        <p:spPr bwMode="auto">
          <a:xfrm>
            <a:off x="539552" y="3645024"/>
            <a:ext cx="2088232" cy="2520280"/>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85" name="AutoShape 4"/>
          <p:cNvSpPr>
            <a:spLocks noChangeArrowheads="1"/>
          </p:cNvSpPr>
          <p:nvPr/>
        </p:nvSpPr>
        <p:spPr bwMode="auto">
          <a:xfrm rot="5400000">
            <a:off x="7922468" y="3937347"/>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6" name="AutoShape 4"/>
          <p:cNvSpPr>
            <a:spLocks noChangeArrowheads="1"/>
          </p:cNvSpPr>
          <p:nvPr/>
        </p:nvSpPr>
        <p:spPr bwMode="auto">
          <a:xfrm rot="5400000">
            <a:off x="8409756" y="4471020"/>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7" name="AutoShape 4"/>
          <p:cNvSpPr>
            <a:spLocks noChangeArrowheads="1"/>
          </p:cNvSpPr>
          <p:nvPr/>
        </p:nvSpPr>
        <p:spPr bwMode="auto">
          <a:xfrm rot="5400000">
            <a:off x="7545659" y="4543028"/>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88" name="直接箭头连接符 87"/>
          <p:cNvCxnSpPr/>
          <p:nvPr/>
        </p:nvCxnSpPr>
        <p:spPr bwMode="auto">
          <a:xfrm flipV="1">
            <a:off x="8244408" y="4768887"/>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9" name="直接箭头连接符 88"/>
          <p:cNvCxnSpPr/>
          <p:nvPr/>
        </p:nvCxnSpPr>
        <p:spPr bwMode="auto">
          <a:xfrm flipH="1" flipV="1">
            <a:off x="8532440" y="472514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0" name="直接箭头连接符 89"/>
          <p:cNvCxnSpPr/>
          <p:nvPr/>
        </p:nvCxnSpPr>
        <p:spPr bwMode="auto">
          <a:xfrm flipV="1">
            <a:off x="7740352" y="4204047"/>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1" name="直接箭头连接符 90"/>
          <p:cNvCxnSpPr/>
          <p:nvPr/>
        </p:nvCxnSpPr>
        <p:spPr bwMode="auto">
          <a:xfrm flipH="1" flipV="1">
            <a:off x="8028384" y="4204047"/>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2" name="直接箭头连接符 91"/>
          <p:cNvCxnSpPr/>
          <p:nvPr/>
        </p:nvCxnSpPr>
        <p:spPr bwMode="auto">
          <a:xfrm flipV="1">
            <a:off x="7310536" y="4869160"/>
            <a:ext cx="33833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3" name="直接箭头连接符 92"/>
          <p:cNvCxnSpPr/>
          <p:nvPr/>
        </p:nvCxnSpPr>
        <p:spPr bwMode="auto">
          <a:xfrm flipH="1" flipV="1">
            <a:off x="7648872" y="4869160"/>
            <a:ext cx="23549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94" name="文本框 93"/>
          <p:cNvSpPr txBox="1"/>
          <p:nvPr/>
        </p:nvSpPr>
        <p:spPr>
          <a:xfrm>
            <a:off x="7094512" y="511499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95" name="文本框 94"/>
          <p:cNvSpPr txBox="1"/>
          <p:nvPr/>
        </p:nvSpPr>
        <p:spPr>
          <a:xfrm>
            <a:off x="7690048" y="512757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B</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96" name="文本框 95"/>
          <p:cNvSpPr txBox="1"/>
          <p:nvPr/>
        </p:nvSpPr>
        <p:spPr>
          <a:xfrm>
            <a:off x="8028384" y="5127575"/>
            <a:ext cx="285800"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97" name="文本框 96"/>
          <p:cNvSpPr txBox="1"/>
          <p:nvPr/>
        </p:nvSpPr>
        <p:spPr>
          <a:xfrm>
            <a:off x="8620705" y="5129218"/>
            <a:ext cx="343783" cy="46002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D</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98" name="AutoShape 4"/>
          <p:cNvSpPr>
            <a:spLocks noChangeArrowheads="1"/>
          </p:cNvSpPr>
          <p:nvPr/>
        </p:nvSpPr>
        <p:spPr bwMode="auto">
          <a:xfrm rot="5400000">
            <a:off x="4898132" y="3966964"/>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99" name="AutoShape 4"/>
          <p:cNvSpPr>
            <a:spLocks noChangeArrowheads="1"/>
          </p:cNvSpPr>
          <p:nvPr/>
        </p:nvSpPr>
        <p:spPr bwMode="auto">
          <a:xfrm rot="5400000">
            <a:off x="4593332" y="4531804"/>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00" name="AutoShape 4"/>
          <p:cNvSpPr>
            <a:spLocks noChangeArrowheads="1"/>
          </p:cNvSpPr>
          <p:nvPr/>
        </p:nvSpPr>
        <p:spPr bwMode="auto">
          <a:xfrm rot="5400000">
            <a:off x="4986908" y="5191100"/>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101" name="直接箭头连接符 100"/>
          <p:cNvCxnSpPr/>
          <p:nvPr/>
        </p:nvCxnSpPr>
        <p:spPr bwMode="auto">
          <a:xfrm flipV="1">
            <a:off x="4427984" y="479850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2" name="直接箭头连接符 101"/>
          <p:cNvCxnSpPr/>
          <p:nvPr/>
        </p:nvCxnSpPr>
        <p:spPr bwMode="auto">
          <a:xfrm flipH="1" flipV="1">
            <a:off x="4716016" y="479850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3" name="直接箭头连接符 102"/>
          <p:cNvCxnSpPr/>
          <p:nvPr/>
        </p:nvCxnSpPr>
        <p:spPr bwMode="auto">
          <a:xfrm flipV="1">
            <a:off x="4716016"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4" name="直接箭头连接符 103"/>
          <p:cNvCxnSpPr/>
          <p:nvPr/>
        </p:nvCxnSpPr>
        <p:spPr bwMode="auto">
          <a:xfrm flipH="1" flipV="1">
            <a:off x="5004048"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5" name="直接箭头连接符 104"/>
          <p:cNvCxnSpPr/>
          <p:nvPr/>
        </p:nvCxnSpPr>
        <p:spPr bwMode="auto">
          <a:xfrm flipV="1">
            <a:off x="4788024" y="5457800"/>
            <a:ext cx="33833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6" name="直接箭头连接符 105"/>
          <p:cNvCxnSpPr/>
          <p:nvPr/>
        </p:nvCxnSpPr>
        <p:spPr bwMode="auto">
          <a:xfrm flipH="1" flipV="1">
            <a:off x="5126360" y="5457800"/>
            <a:ext cx="23549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07" name="文本框 106"/>
          <p:cNvSpPr txBox="1"/>
          <p:nvPr/>
        </p:nvSpPr>
        <p:spPr>
          <a:xfrm>
            <a:off x="4572000" y="570363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08" name="文本框 107"/>
          <p:cNvSpPr txBox="1"/>
          <p:nvPr/>
        </p:nvSpPr>
        <p:spPr>
          <a:xfrm>
            <a:off x="5220072" y="573325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B</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09" name="文本框 108"/>
          <p:cNvSpPr txBox="1"/>
          <p:nvPr/>
        </p:nvSpPr>
        <p:spPr>
          <a:xfrm>
            <a:off x="4139952" y="5159765"/>
            <a:ext cx="265935" cy="45909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10" name="文本框 109"/>
          <p:cNvSpPr txBox="1"/>
          <p:nvPr/>
        </p:nvSpPr>
        <p:spPr>
          <a:xfrm>
            <a:off x="5169768" y="443711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D</a:t>
            </a:r>
            <a:endParaRPr kumimoji="1" lang="zh-CN" altLang="en-US"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111" name="矩形 110"/>
          <p:cNvSpPr/>
          <p:nvPr/>
        </p:nvSpPr>
        <p:spPr bwMode="auto">
          <a:xfrm>
            <a:off x="3851920" y="3645024"/>
            <a:ext cx="2088232" cy="2520280"/>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2" name="矩形 111"/>
          <p:cNvSpPr/>
          <p:nvPr/>
        </p:nvSpPr>
        <p:spPr bwMode="auto">
          <a:xfrm>
            <a:off x="6876256" y="3645024"/>
            <a:ext cx="2088232" cy="2520280"/>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3" name="文本框 112"/>
          <p:cNvSpPr txBox="1"/>
          <p:nvPr/>
        </p:nvSpPr>
        <p:spPr>
          <a:xfrm flipH="1">
            <a:off x="4447024" y="4309643"/>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114" name="文本框 113"/>
          <p:cNvSpPr txBox="1"/>
          <p:nvPr/>
        </p:nvSpPr>
        <p:spPr>
          <a:xfrm flipH="1">
            <a:off x="7502231" y="4293096"/>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49" name="矩形 48"/>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8" name="矩形 47"/>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对话气泡: 圆角矩形 1"/>
          <p:cNvSpPr/>
          <p:nvPr/>
        </p:nvSpPr>
        <p:spPr>
          <a:xfrm>
            <a:off x="6227068" y="2708920"/>
            <a:ext cx="1512168" cy="612648"/>
          </a:xfrm>
          <a:prstGeom prst="wedgeRoundRectCallout">
            <a:avLst>
              <a:gd name="adj1" fmla="val -68163"/>
              <a:gd name="adj2" fmla="val -5163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算子阻塞</a:t>
            </a:r>
          </a:p>
        </p:txBody>
      </p:sp>
      <p:sp>
        <p:nvSpPr>
          <p:cNvPr id="4" name="灯片编号占位符 3"/>
          <p:cNvSpPr>
            <a:spLocks noGrp="1"/>
          </p:cNvSpPr>
          <p:nvPr>
            <p:ph type="sldNum" sz="quarter" idx="12"/>
          </p:nvPr>
        </p:nvSpPr>
        <p:spPr/>
        <p:txBody>
          <a:bodyPr/>
          <a:lstStyle/>
          <a:p>
            <a:pPr>
              <a:defRPr/>
            </a:pPr>
            <a:fld id="{BCABB3B7-40FC-498F-90D6-69ECBA7F181C}" type="slidenum">
              <a:rPr lang="zh-CN" altLang="en-US" smtClean="0"/>
              <a:t>68</a:t>
            </a:fld>
            <a:endParaRPr lang="en-US" altLang="zh-C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980728"/>
            <a:ext cx="7772400" cy="5115272"/>
          </a:xfrm>
        </p:spPr>
        <p:txBody>
          <a:bodyPr/>
          <a:lstStyle/>
          <a:p>
            <a:r>
              <a:rPr lang="zh-CN" altLang="en-US" dirty="0"/>
              <a:t>基于左深树的物理优化</a:t>
            </a:r>
            <a:endParaRPr lang="en-US" altLang="zh-CN" dirty="0"/>
          </a:p>
          <a:p>
            <a:pPr lvl="1"/>
            <a:r>
              <a:rPr lang="zh-CN" altLang="en-US" dirty="0"/>
              <a:t>枚举所有的</a:t>
            </a:r>
            <a:r>
              <a:rPr lang="zh-CN" altLang="en-US" dirty="0">
                <a:solidFill>
                  <a:srgbClr val="FF0000"/>
                </a:solidFill>
              </a:rPr>
              <a:t>连接顺序</a:t>
            </a:r>
            <a:r>
              <a:rPr lang="zh-CN" altLang="en-US" dirty="0"/>
              <a:t>（左深）</a:t>
            </a:r>
            <a:endParaRPr lang="en-US" altLang="zh-CN" dirty="0"/>
          </a:p>
          <a:p>
            <a:pPr lvl="1"/>
            <a:r>
              <a:rPr lang="zh-CN" altLang="en-US" dirty="0"/>
              <a:t>每个</a:t>
            </a:r>
            <a:r>
              <a:rPr lang="en-US" altLang="zh-CN" dirty="0"/>
              <a:t>join</a:t>
            </a:r>
            <a:r>
              <a:rPr lang="zh-CN" altLang="en-US" dirty="0">
                <a:solidFill>
                  <a:srgbClr val="FF0000"/>
                </a:solidFill>
              </a:rPr>
              <a:t>算子的执行</a:t>
            </a:r>
            <a:r>
              <a:rPr lang="zh-CN" altLang="en-US" dirty="0"/>
              <a:t>方案</a:t>
            </a:r>
            <a:endParaRPr lang="en-US" altLang="zh-CN" dirty="0"/>
          </a:p>
          <a:p>
            <a:pPr lvl="2">
              <a:buFont typeface="Wingdings" panose="05000000000000000000" pitchFamily="2" charset="2"/>
              <a:buChar char="n"/>
            </a:pPr>
            <a:r>
              <a:rPr lang="en-US" altLang="zh-CN" dirty="0"/>
              <a:t>Hash join;     Sort Merge;    Nested Loop …</a:t>
            </a:r>
          </a:p>
          <a:p>
            <a:pPr lvl="1"/>
            <a:r>
              <a:rPr lang="zh-CN" altLang="en-US" dirty="0"/>
              <a:t>每个</a:t>
            </a:r>
            <a:r>
              <a:rPr lang="zh-CN" altLang="en-US" dirty="0">
                <a:solidFill>
                  <a:srgbClr val="FF0000"/>
                </a:solidFill>
              </a:rPr>
              <a:t>表的访问</a:t>
            </a:r>
            <a:r>
              <a:rPr lang="zh-CN" altLang="en-US" dirty="0"/>
              <a:t>方法</a:t>
            </a:r>
            <a:endParaRPr lang="en-US" altLang="zh-CN" dirty="0"/>
          </a:p>
          <a:p>
            <a:pPr lvl="2">
              <a:buFont typeface="Wingdings" panose="05000000000000000000" pitchFamily="2" charset="2"/>
              <a:buChar char="n"/>
            </a:pPr>
            <a:r>
              <a:rPr lang="en-US" altLang="zh-CN" dirty="0"/>
              <a:t>Index Scan;    Seq Scan;….</a:t>
            </a:r>
          </a:p>
          <a:p>
            <a:pPr marL="393700" lvl="1" indent="0">
              <a:buNone/>
            </a:pPr>
            <a:endParaRPr lang="en-US" altLang="zh-CN" dirty="0"/>
          </a:p>
          <a:p>
            <a:pPr marL="393700" lvl="1" indent="0">
              <a:buNone/>
            </a:pPr>
            <a:r>
              <a:rPr lang="zh-CN" altLang="en-US" dirty="0"/>
              <a:t>枚举空间巨大</a:t>
            </a:r>
            <a:endParaRPr lang="en-US" altLang="zh-CN" dirty="0"/>
          </a:p>
          <a:p>
            <a:pPr lvl="2">
              <a:buFont typeface="Wingdings" panose="05000000000000000000" pitchFamily="2" charset="2"/>
              <a:buChar char="n"/>
            </a:pPr>
            <a:r>
              <a:rPr lang="zh-CN" altLang="en-US" dirty="0"/>
              <a:t>可以采用</a:t>
            </a:r>
            <a:r>
              <a:rPr lang="zh-CN" altLang="en-US" dirty="0">
                <a:solidFill>
                  <a:srgbClr val="FF0000"/>
                </a:solidFill>
              </a:rPr>
              <a:t>动态规划</a:t>
            </a:r>
            <a:r>
              <a:rPr lang="zh-CN" altLang="en-US" dirty="0"/>
              <a:t>算法减少搜索空间</a:t>
            </a:r>
            <a:endParaRPr lang="en-US" altLang="zh-CN" dirty="0"/>
          </a:p>
          <a:p>
            <a:pPr marL="914400" lvl="2" indent="0">
              <a:buNone/>
            </a:pPr>
            <a:endParaRPr lang="en-US" altLang="zh-CN" dirty="0"/>
          </a:p>
          <a:p>
            <a:pPr lvl="2"/>
            <a:endParaRPr lang="zh-CN" altLang="en-US" dirty="0"/>
          </a:p>
        </p:txBody>
      </p:sp>
      <p:sp>
        <p:nvSpPr>
          <p:cNvPr id="5" name="矩形 4"/>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 name="矩形 3"/>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69</a:t>
            </a:fld>
            <a:endParaRPr lang="en-US" altLang="zh-C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611560" y="2420888"/>
            <a:ext cx="648072"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R</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T</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5" name="矩形 4"/>
          <p:cNvSpPr/>
          <p:nvPr/>
        </p:nvSpPr>
        <p:spPr bwMode="auto">
          <a:xfrm>
            <a:off x="2483767" y="1196752"/>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R    S</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T          </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AutoShape 4"/>
          <p:cNvSpPr>
            <a:spLocks noChangeArrowheads="1"/>
          </p:cNvSpPr>
          <p:nvPr/>
        </p:nvSpPr>
        <p:spPr bwMode="auto">
          <a:xfrm rot="5400000">
            <a:off x="2937148" y="1374676"/>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 name="矩形 7"/>
          <p:cNvSpPr/>
          <p:nvPr/>
        </p:nvSpPr>
        <p:spPr bwMode="auto">
          <a:xfrm>
            <a:off x="2483767" y="4293096"/>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T     S</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R          </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AutoShape 4"/>
          <p:cNvSpPr>
            <a:spLocks noChangeArrowheads="1"/>
          </p:cNvSpPr>
          <p:nvPr/>
        </p:nvSpPr>
        <p:spPr bwMode="auto">
          <a:xfrm rot="5400000">
            <a:off x="2937148" y="4458444"/>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13" name="连接符: 曲线 12"/>
          <p:cNvCxnSpPr>
            <a:stCxn id="4" idx="0"/>
          </p:cNvCxnSpPr>
          <p:nvPr/>
        </p:nvCxnSpPr>
        <p:spPr bwMode="auto">
          <a:xfrm rot="5400000" flipH="1" flipV="1">
            <a:off x="1565667" y="1502787"/>
            <a:ext cx="288030" cy="1548173"/>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16" name="连接符: 曲线 15"/>
          <p:cNvCxnSpPr>
            <a:stCxn id="4" idx="0"/>
          </p:cNvCxnSpPr>
          <p:nvPr/>
        </p:nvCxnSpPr>
        <p:spPr bwMode="auto">
          <a:xfrm rot="5400000" flipH="1" flipV="1">
            <a:off x="1097614" y="1034734"/>
            <a:ext cx="1224136" cy="1548173"/>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20" name="连接符: 曲线 19"/>
          <p:cNvCxnSpPr>
            <a:stCxn id="4" idx="2"/>
          </p:cNvCxnSpPr>
          <p:nvPr/>
        </p:nvCxnSpPr>
        <p:spPr bwMode="auto">
          <a:xfrm rot="16200000" flipH="1">
            <a:off x="1535949" y="3548726"/>
            <a:ext cx="347464"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22" name="连接符: 曲线 21"/>
          <p:cNvCxnSpPr>
            <a:stCxn id="4" idx="2"/>
          </p:cNvCxnSpPr>
          <p:nvPr/>
        </p:nvCxnSpPr>
        <p:spPr bwMode="auto">
          <a:xfrm rot="16200000" flipH="1">
            <a:off x="1169621" y="3915054"/>
            <a:ext cx="1080120"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23" name="文本框 22"/>
          <p:cNvSpPr txBox="1"/>
          <p:nvPr/>
        </p:nvSpPr>
        <p:spPr>
          <a:xfrm>
            <a:off x="341531" y="1196751"/>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4" name="文本框 23"/>
          <p:cNvSpPr txBox="1"/>
          <p:nvPr/>
        </p:nvSpPr>
        <p:spPr>
          <a:xfrm>
            <a:off x="260521" y="1534919"/>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5" name="文本框 24"/>
          <p:cNvSpPr txBox="1"/>
          <p:nvPr/>
        </p:nvSpPr>
        <p:spPr>
          <a:xfrm flipH="1">
            <a:off x="1043607" y="1523985"/>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6" name="文本框 25"/>
          <p:cNvSpPr txBox="1"/>
          <p:nvPr/>
        </p:nvSpPr>
        <p:spPr>
          <a:xfrm>
            <a:off x="1358644" y="2093753"/>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7" name="文本框 26"/>
          <p:cNvSpPr txBox="1"/>
          <p:nvPr/>
        </p:nvSpPr>
        <p:spPr>
          <a:xfrm>
            <a:off x="1277635" y="2431921"/>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8" name="文本框 27"/>
          <p:cNvSpPr txBox="1"/>
          <p:nvPr/>
        </p:nvSpPr>
        <p:spPr>
          <a:xfrm flipH="1">
            <a:off x="2060721" y="2420987"/>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Cost:400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9" name="文本框 28"/>
          <p:cNvSpPr txBox="1"/>
          <p:nvPr/>
        </p:nvSpPr>
        <p:spPr>
          <a:xfrm>
            <a:off x="1322639" y="3749937"/>
            <a:ext cx="216924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Hash Merge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0" name="文本框 29"/>
          <p:cNvSpPr txBox="1"/>
          <p:nvPr/>
        </p:nvSpPr>
        <p:spPr>
          <a:xfrm>
            <a:off x="1331640" y="4088105"/>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1" name="文本框 30"/>
          <p:cNvSpPr txBox="1"/>
          <p:nvPr/>
        </p:nvSpPr>
        <p:spPr>
          <a:xfrm flipH="1">
            <a:off x="2114726" y="4077171"/>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Cost:280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2" name="文本框 31"/>
          <p:cNvSpPr txBox="1"/>
          <p:nvPr/>
        </p:nvSpPr>
        <p:spPr>
          <a:xfrm>
            <a:off x="188513" y="4902065"/>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3" name="文本框 32"/>
          <p:cNvSpPr txBox="1"/>
          <p:nvPr/>
        </p:nvSpPr>
        <p:spPr>
          <a:xfrm>
            <a:off x="107504" y="5240233"/>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4" name="文本框 33"/>
          <p:cNvSpPr txBox="1"/>
          <p:nvPr/>
        </p:nvSpPr>
        <p:spPr>
          <a:xfrm flipH="1">
            <a:off x="890590" y="5229299"/>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Cost:200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5" name="文本框 34"/>
          <p:cNvSpPr txBox="1"/>
          <p:nvPr/>
        </p:nvSpPr>
        <p:spPr>
          <a:xfrm flipH="1">
            <a:off x="2638489" y="2061042"/>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36" name="文本框 35"/>
          <p:cNvSpPr txBox="1"/>
          <p:nvPr/>
        </p:nvSpPr>
        <p:spPr>
          <a:xfrm flipH="1">
            <a:off x="2839713" y="3379059"/>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37" name="矩形 36"/>
          <p:cNvSpPr/>
          <p:nvPr/>
        </p:nvSpPr>
        <p:spPr bwMode="auto">
          <a:xfrm>
            <a:off x="6228183" y="2924944"/>
            <a:ext cx="1800201"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R   S    T</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8" name="AutoShape 4"/>
          <p:cNvSpPr>
            <a:spLocks noChangeArrowheads="1"/>
          </p:cNvSpPr>
          <p:nvPr/>
        </p:nvSpPr>
        <p:spPr bwMode="auto">
          <a:xfrm rot="5400000">
            <a:off x="6696236" y="3104964"/>
            <a:ext cx="144016" cy="216024"/>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9" name="AutoShape 4"/>
          <p:cNvSpPr>
            <a:spLocks noChangeArrowheads="1"/>
          </p:cNvSpPr>
          <p:nvPr/>
        </p:nvSpPr>
        <p:spPr bwMode="auto">
          <a:xfrm rot="5400000">
            <a:off x="7175946" y="3104964"/>
            <a:ext cx="144016" cy="216024"/>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41" name="连接符: 曲线 40"/>
          <p:cNvCxnSpPr>
            <a:endCxn id="37" idx="0"/>
          </p:cNvCxnSpPr>
          <p:nvPr/>
        </p:nvCxnSpPr>
        <p:spPr bwMode="auto">
          <a:xfrm>
            <a:off x="3559545" y="1459319"/>
            <a:ext cx="3568739" cy="1465625"/>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54" name="连接符: 曲线 53"/>
          <p:cNvCxnSpPr>
            <a:stCxn id="8" idx="3"/>
            <a:endCxn id="37" idx="2"/>
          </p:cNvCxnSpPr>
          <p:nvPr/>
        </p:nvCxnSpPr>
        <p:spPr bwMode="auto">
          <a:xfrm flipV="1">
            <a:off x="3563888" y="3429000"/>
            <a:ext cx="3564396" cy="1332148"/>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56" name="连接符: 曲线 55"/>
          <p:cNvCxnSpPr>
            <a:endCxn id="37" idx="2"/>
          </p:cNvCxnSpPr>
          <p:nvPr/>
        </p:nvCxnSpPr>
        <p:spPr bwMode="auto">
          <a:xfrm flipV="1">
            <a:off x="3563888" y="3429000"/>
            <a:ext cx="3564396" cy="1656184"/>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65" name="连接符: 曲线 64"/>
          <p:cNvCxnSpPr>
            <a:endCxn id="37" idx="0"/>
          </p:cNvCxnSpPr>
          <p:nvPr/>
        </p:nvCxnSpPr>
        <p:spPr bwMode="auto">
          <a:xfrm>
            <a:off x="3581890" y="1868096"/>
            <a:ext cx="3546394" cy="1056848"/>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69" name="文本框 68"/>
          <p:cNvSpPr txBox="1"/>
          <p:nvPr/>
        </p:nvSpPr>
        <p:spPr>
          <a:xfrm>
            <a:off x="5175069" y="1157649"/>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0" name="文本框 69"/>
          <p:cNvSpPr txBox="1"/>
          <p:nvPr/>
        </p:nvSpPr>
        <p:spPr>
          <a:xfrm>
            <a:off x="5094059" y="149581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S.b</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T.b</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1" name="文本框 70"/>
          <p:cNvSpPr txBox="1"/>
          <p:nvPr/>
        </p:nvSpPr>
        <p:spPr>
          <a:xfrm flipH="1">
            <a:off x="5877145" y="148488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Cost:380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2" name="文本框 71"/>
          <p:cNvSpPr txBox="1"/>
          <p:nvPr/>
        </p:nvSpPr>
        <p:spPr>
          <a:xfrm>
            <a:off x="3712562" y="2276872"/>
            <a:ext cx="213758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3" name="文本框 72"/>
          <p:cNvSpPr txBox="1"/>
          <p:nvPr/>
        </p:nvSpPr>
        <p:spPr>
          <a:xfrm>
            <a:off x="4139952" y="2615040"/>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S.b</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T.b</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4" name="文本框 73"/>
          <p:cNvSpPr txBox="1"/>
          <p:nvPr/>
        </p:nvSpPr>
        <p:spPr>
          <a:xfrm flipH="1">
            <a:off x="4923038" y="2604106"/>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Cost:400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5" name="文本框 74"/>
          <p:cNvSpPr txBox="1"/>
          <p:nvPr/>
        </p:nvSpPr>
        <p:spPr>
          <a:xfrm>
            <a:off x="3626894" y="3677929"/>
            <a:ext cx="214224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6" name="文本框 75"/>
          <p:cNvSpPr txBox="1"/>
          <p:nvPr/>
        </p:nvSpPr>
        <p:spPr>
          <a:xfrm>
            <a:off x="4139952" y="401609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7" name="文本框 76"/>
          <p:cNvSpPr txBox="1"/>
          <p:nvPr/>
        </p:nvSpPr>
        <p:spPr>
          <a:xfrm flipH="1">
            <a:off x="4923038" y="400516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8" name="文本框 77"/>
          <p:cNvSpPr txBox="1"/>
          <p:nvPr/>
        </p:nvSpPr>
        <p:spPr>
          <a:xfrm>
            <a:off x="4599005" y="4974073"/>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9" name="文本框 78"/>
          <p:cNvSpPr txBox="1"/>
          <p:nvPr/>
        </p:nvSpPr>
        <p:spPr>
          <a:xfrm>
            <a:off x="4517995" y="5312241"/>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0" name="文本框 79"/>
          <p:cNvSpPr txBox="1"/>
          <p:nvPr/>
        </p:nvSpPr>
        <p:spPr>
          <a:xfrm flipH="1">
            <a:off x="5301081" y="5301307"/>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Cost:450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1" name="文本框 80"/>
          <p:cNvSpPr txBox="1"/>
          <p:nvPr/>
        </p:nvSpPr>
        <p:spPr>
          <a:xfrm flipH="1">
            <a:off x="5524465" y="4472452"/>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82" name="文本框 81"/>
          <p:cNvSpPr txBox="1"/>
          <p:nvPr/>
        </p:nvSpPr>
        <p:spPr>
          <a:xfrm flipH="1">
            <a:off x="4088321" y="1514978"/>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83" name="矩形 82"/>
          <p:cNvSpPr/>
          <p:nvPr/>
        </p:nvSpPr>
        <p:spPr bwMode="auto">
          <a:xfrm>
            <a:off x="6593130" y="4761148"/>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48" name="矩形 47"/>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9" name="矩形 48"/>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70</a:t>
            </a:fld>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611560" y="2420888"/>
            <a:ext cx="648072"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R</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T</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5" name="矩形 4"/>
          <p:cNvSpPr/>
          <p:nvPr/>
        </p:nvSpPr>
        <p:spPr bwMode="auto">
          <a:xfrm>
            <a:off x="2483767" y="1196752"/>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R    S</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T          </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AutoShape 4"/>
          <p:cNvSpPr>
            <a:spLocks noChangeArrowheads="1"/>
          </p:cNvSpPr>
          <p:nvPr/>
        </p:nvSpPr>
        <p:spPr bwMode="auto">
          <a:xfrm rot="5400000">
            <a:off x="2937148" y="1374676"/>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 name="矩形 7"/>
          <p:cNvSpPr/>
          <p:nvPr/>
        </p:nvSpPr>
        <p:spPr bwMode="auto">
          <a:xfrm>
            <a:off x="2483767" y="4293096"/>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T     S</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R          </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AutoShape 4"/>
          <p:cNvSpPr>
            <a:spLocks noChangeArrowheads="1"/>
          </p:cNvSpPr>
          <p:nvPr/>
        </p:nvSpPr>
        <p:spPr bwMode="auto">
          <a:xfrm rot="5400000">
            <a:off x="2937148" y="4458444"/>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16" name="连接符: 曲线 15"/>
          <p:cNvCxnSpPr>
            <a:stCxn id="4" idx="0"/>
          </p:cNvCxnSpPr>
          <p:nvPr/>
        </p:nvCxnSpPr>
        <p:spPr bwMode="auto">
          <a:xfrm rot="5400000" flipH="1" flipV="1">
            <a:off x="1097614" y="1034734"/>
            <a:ext cx="1224136" cy="1548173"/>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22" name="连接符: 曲线 21"/>
          <p:cNvCxnSpPr>
            <a:stCxn id="4" idx="2"/>
          </p:cNvCxnSpPr>
          <p:nvPr/>
        </p:nvCxnSpPr>
        <p:spPr bwMode="auto">
          <a:xfrm rot="16200000" flipH="1">
            <a:off x="1169621" y="3915054"/>
            <a:ext cx="1080120"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23" name="文本框 22"/>
          <p:cNvSpPr txBox="1"/>
          <p:nvPr/>
        </p:nvSpPr>
        <p:spPr>
          <a:xfrm>
            <a:off x="341531" y="1196751"/>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4" name="文本框 23"/>
          <p:cNvSpPr txBox="1"/>
          <p:nvPr/>
        </p:nvSpPr>
        <p:spPr>
          <a:xfrm>
            <a:off x="260521" y="1534919"/>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5" name="文本框 24"/>
          <p:cNvSpPr txBox="1"/>
          <p:nvPr/>
        </p:nvSpPr>
        <p:spPr>
          <a:xfrm flipH="1">
            <a:off x="1043607" y="1523985"/>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2" name="文本框 31"/>
          <p:cNvSpPr txBox="1"/>
          <p:nvPr/>
        </p:nvSpPr>
        <p:spPr>
          <a:xfrm>
            <a:off x="188513" y="4902065"/>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3" name="文本框 32"/>
          <p:cNvSpPr txBox="1"/>
          <p:nvPr/>
        </p:nvSpPr>
        <p:spPr>
          <a:xfrm>
            <a:off x="107504" y="5240233"/>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4" name="文本框 33"/>
          <p:cNvSpPr txBox="1"/>
          <p:nvPr/>
        </p:nvSpPr>
        <p:spPr>
          <a:xfrm flipH="1">
            <a:off x="890590" y="5229299"/>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Cost:200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7" name="矩形 36"/>
          <p:cNvSpPr/>
          <p:nvPr/>
        </p:nvSpPr>
        <p:spPr bwMode="auto">
          <a:xfrm>
            <a:off x="6228183" y="2924944"/>
            <a:ext cx="1800201"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R   S    T</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8" name="AutoShape 4"/>
          <p:cNvSpPr>
            <a:spLocks noChangeArrowheads="1"/>
          </p:cNvSpPr>
          <p:nvPr/>
        </p:nvSpPr>
        <p:spPr bwMode="auto">
          <a:xfrm rot="5400000">
            <a:off x="6696236" y="3104964"/>
            <a:ext cx="144016" cy="216024"/>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9" name="AutoShape 4"/>
          <p:cNvSpPr>
            <a:spLocks noChangeArrowheads="1"/>
          </p:cNvSpPr>
          <p:nvPr/>
        </p:nvSpPr>
        <p:spPr bwMode="auto">
          <a:xfrm rot="5400000">
            <a:off x="7175946" y="3104964"/>
            <a:ext cx="144016" cy="216024"/>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41" name="连接符: 曲线 40"/>
          <p:cNvCxnSpPr>
            <a:endCxn id="37" idx="0"/>
          </p:cNvCxnSpPr>
          <p:nvPr/>
        </p:nvCxnSpPr>
        <p:spPr bwMode="auto">
          <a:xfrm>
            <a:off x="3559545" y="1459319"/>
            <a:ext cx="3568739" cy="1465625"/>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54" name="连接符: 曲线 53"/>
          <p:cNvCxnSpPr>
            <a:stCxn id="8" idx="3"/>
            <a:endCxn id="37" idx="2"/>
          </p:cNvCxnSpPr>
          <p:nvPr/>
        </p:nvCxnSpPr>
        <p:spPr bwMode="auto">
          <a:xfrm flipV="1">
            <a:off x="3563888" y="3429000"/>
            <a:ext cx="3564396" cy="1332148"/>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69" name="文本框 68"/>
          <p:cNvSpPr txBox="1"/>
          <p:nvPr/>
        </p:nvSpPr>
        <p:spPr>
          <a:xfrm>
            <a:off x="5175069" y="1157649"/>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0" name="文本框 69"/>
          <p:cNvSpPr txBox="1"/>
          <p:nvPr/>
        </p:nvSpPr>
        <p:spPr>
          <a:xfrm>
            <a:off x="5094059" y="149581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S.b</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T.b</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1" name="文本框 70"/>
          <p:cNvSpPr txBox="1"/>
          <p:nvPr/>
        </p:nvSpPr>
        <p:spPr>
          <a:xfrm flipH="1">
            <a:off x="5877145" y="148488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Cost:380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5" name="文本框 74"/>
          <p:cNvSpPr txBox="1"/>
          <p:nvPr/>
        </p:nvSpPr>
        <p:spPr>
          <a:xfrm>
            <a:off x="3626894" y="3677929"/>
            <a:ext cx="214224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6" name="文本框 75"/>
          <p:cNvSpPr txBox="1"/>
          <p:nvPr/>
        </p:nvSpPr>
        <p:spPr>
          <a:xfrm>
            <a:off x="4139952" y="401609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7" name="文本框 76"/>
          <p:cNvSpPr txBox="1"/>
          <p:nvPr/>
        </p:nvSpPr>
        <p:spPr>
          <a:xfrm flipH="1">
            <a:off x="4923038" y="400516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46" name="矩形 45"/>
          <p:cNvSpPr/>
          <p:nvPr/>
        </p:nvSpPr>
        <p:spPr bwMode="auto">
          <a:xfrm>
            <a:off x="6593130" y="4761148"/>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8" name="矩形 27"/>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29" name="矩形 28"/>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71</a:t>
            </a:fld>
            <a:endParaRPr lang="en-US" altLang="zh-C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611560" y="2420888"/>
            <a:ext cx="648072"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R</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T</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5" name="矩形 4"/>
          <p:cNvSpPr/>
          <p:nvPr/>
        </p:nvSpPr>
        <p:spPr bwMode="auto">
          <a:xfrm>
            <a:off x="2483767" y="1196752"/>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R    S</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T          </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AutoShape 4"/>
          <p:cNvSpPr>
            <a:spLocks noChangeArrowheads="1"/>
          </p:cNvSpPr>
          <p:nvPr/>
        </p:nvSpPr>
        <p:spPr bwMode="auto">
          <a:xfrm rot="5400000">
            <a:off x="2937148" y="1374676"/>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8" name="矩形 7"/>
          <p:cNvSpPr/>
          <p:nvPr/>
        </p:nvSpPr>
        <p:spPr bwMode="auto">
          <a:xfrm>
            <a:off x="2483767" y="4293096"/>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T     S</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R          </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AutoShape 4"/>
          <p:cNvSpPr>
            <a:spLocks noChangeArrowheads="1"/>
          </p:cNvSpPr>
          <p:nvPr/>
        </p:nvSpPr>
        <p:spPr bwMode="auto">
          <a:xfrm rot="5400000">
            <a:off x="2937148" y="4458444"/>
            <a:ext cx="228600" cy="304800"/>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22" name="连接符: 曲线 21"/>
          <p:cNvCxnSpPr>
            <a:stCxn id="4" idx="2"/>
          </p:cNvCxnSpPr>
          <p:nvPr/>
        </p:nvCxnSpPr>
        <p:spPr bwMode="auto">
          <a:xfrm rot="16200000" flipH="1">
            <a:off x="1169621" y="3915054"/>
            <a:ext cx="1080120"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32" name="文本框 31"/>
          <p:cNvSpPr txBox="1"/>
          <p:nvPr/>
        </p:nvSpPr>
        <p:spPr>
          <a:xfrm>
            <a:off x="188513" y="4902065"/>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3" name="文本框 32"/>
          <p:cNvSpPr txBox="1"/>
          <p:nvPr/>
        </p:nvSpPr>
        <p:spPr>
          <a:xfrm>
            <a:off x="107504" y="5240233"/>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4" name="文本框 33"/>
          <p:cNvSpPr txBox="1"/>
          <p:nvPr/>
        </p:nvSpPr>
        <p:spPr>
          <a:xfrm flipH="1">
            <a:off x="890590" y="5229299"/>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Cost:200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7" name="矩形 36"/>
          <p:cNvSpPr/>
          <p:nvPr/>
        </p:nvSpPr>
        <p:spPr bwMode="auto">
          <a:xfrm>
            <a:off x="6228183" y="2924944"/>
            <a:ext cx="1800201"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r>
              <a:rPr kumimoji="1" lang="en-US" altLang="zh-CN"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R   S    T</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              </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8" name="AutoShape 4"/>
          <p:cNvSpPr>
            <a:spLocks noChangeArrowheads="1"/>
          </p:cNvSpPr>
          <p:nvPr/>
        </p:nvSpPr>
        <p:spPr bwMode="auto">
          <a:xfrm rot="5400000">
            <a:off x="6696236" y="3104964"/>
            <a:ext cx="144016" cy="216024"/>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39" name="AutoShape 4"/>
          <p:cNvSpPr>
            <a:spLocks noChangeArrowheads="1"/>
          </p:cNvSpPr>
          <p:nvPr/>
        </p:nvSpPr>
        <p:spPr bwMode="auto">
          <a:xfrm rot="5400000">
            <a:off x="7175946" y="3104964"/>
            <a:ext cx="144016" cy="216024"/>
          </a:xfrm>
          <a:prstGeom prst="flowChartCollate">
            <a:avLst/>
          </a:prstGeom>
          <a:noFill/>
          <a:ln w="38100"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604030504040204" pitchFamily="34" charset="0"/>
              <a:ea typeface="宋体" panose="02010600030101010101" pitchFamily="2" charset="-122"/>
              <a:cs typeface="+mn-cs"/>
            </a:endParaRPr>
          </a:p>
        </p:txBody>
      </p:sp>
      <p:cxnSp>
        <p:nvCxnSpPr>
          <p:cNvPr id="54" name="连接符: 曲线 53"/>
          <p:cNvCxnSpPr>
            <a:stCxn id="8" idx="3"/>
            <a:endCxn id="37" idx="2"/>
          </p:cNvCxnSpPr>
          <p:nvPr/>
        </p:nvCxnSpPr>
        <p:spPr bwMode="auto">
          <a:xfrm flipV="1">
            <a:off x="3563888" y="3429000"/>
            <a:ext cx="3564396" cy="1332148"/>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75" name="文本框 74"/>
          <p:cNvSpPr txBox="1"/>
          <p:nvPr/>
        </p:nvSpPr>
        <p:spPr>
          <a:xfrm>
            <a:off x="3626894" y="3677929"/>
            <a:ext cx="214224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6" name="文本框 75"/>
          <p:cNvSpPr txBox="1"/>
          <p:nvPr/>
        </p:nvSpPr>
        <p:spPr>
          <a:xfrm>
            <a:off x="4139952" y="401609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77" name="文本框 76"/>
          <p:cNvSpPr txBox="1"/>
          <p:nvPr/>
        </p:nvSpPr>
        <p:spPr>
          <a:xfrm flipH="1">
            <a:off x="4923038" y="400516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
        <p:nvSpPr>
          <p:cNvPr id="26" name="矩形 25"/>
          <p:cNvSpPr/>
          <p:nvPr/>
        </p:nvSpPr>
        <p:spPr bwMode="auto">
          <a:xfrm>
            <a:off x="6593130" y="4761148"/>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anose="020B0604030504040204" pitchFamily="34" charset="0"/>
                <a:ea typeface="宋体" panose="02010600030101010101"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0" name="矩形 19"/>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21" name="矩形 20"/>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72</a:t>
            </a:fld>
            <a:endParaRPr lang="en-US" altLang="zh-C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124744"/>
            <a:ext cx="7772400" cy="4971256"/>
          </a:xfrm>
        </p:spPr>
        <p:txBody>
          <a:bodyPr/>
          <a:lstStyle/>
          <a:p>
            <a:r>
              <a:rPr lang="en-US" altLang="zh-CN" dirty="0">
                <a:latin typeface="+mn-ea"/>
              </a:rPr>
              <a:t>POSTGRES</a:t>
            </a:r>
            <a:r>
              <a:rPr lang="zh-CN" altLang="en-US" dirty="0">
                <a:latin typeface="+mn-ea"/>
              </a:rPr>
              <a:t>优化器</a:t>
            </a:r>
            <a:endParaRPr lang="en-US" altLang="zh-CN" dirty="0">
              <a:latin typeface="+mn-ea"/>
            </a:endParaRPr>
          </a:p>
          <a:p>
            <a:pPr lvl="1"/>
            <a:r>
              <a:rPr lang="zh-CN" altLang="en-US" dirty="0">
                <a:latin typeface="+mn-ea"/>
              </a:rPr>
              <a:t>传统的</a:t>
            </a:r>
            <a:r>
              <a:rPr lang="zh-CN" altLang="en-US" dirty="0">
                <a:solidFill>
                  <a:srgbClr val="FF0000"/>
                </a:solidFill>
                <a:latin typeface="+mn-ea"/>
              </a:rPr>
              <a:t>动态规划</a:t>
            </a:r>
            <a:r>
              <a:rPr lang="zh-CN" altLang="en-US" dirty="0">
                <a:latin typeface="+mn-ea"/>
              </a:rPr>
              <a:t>优化器</a:t>
            </a:r>
            <a:endParaRPr lang="en-US" altLang="zh-CN" dirty="0">
              <a:latin typeface="+mn-ea"/>
            </a:endParaRPr>
          </a:p>
          <a:p>
            <a:pPr lvl="1"/>
            <a:r>
              <a:rPr lang="zh-CN" altLang="en-US" dirty="0">
                <a:latin typeface="+mn-ea"/>
              </a:rPr>
              <a:t>基于</a:t>
            </a:r>
            <a:r>
              <a:rPr lang="zh-CN" altLang="en-US" dirty="0">
                <a:solidFill>
                  <a:srgbClr val="FF0000"/>
                </a:solidFill>
                <a:latin typeface="+mn-ea"/>
              </a:rPr>
              <a:t>遗传算法</a:t>
            </a:r>
            <a:r>
              <a:rPr lang="zh-CN" altLang="en-US" dirty="0">
                <a:latin typeface="+mn-ea"/>
              </a:rPr>
              <a:t>的优化器</a:t>
            </a:r>
            <a:r>
              <a:rPr lang="en-US" altLang="zh-CN" dirty="0">
                <a:latin typeface="+mn-ea"/>
              </a:rPr>
              <a:t>(GEQO)</a:t>
            </a:r>
          </a:p>
          <a:p>
            <a:pPr lvl="1"/>
            <a:r>
              <a:rPr lang="zh-CN" altLang="en-US" dirty="0">
                <a:latin typeface="+mn-ea"/>
              </a:rPr>
              <a:t>当连接表的</a:t>
            </a:r>
            <a:r>
              <a:rPr lang="zh-CN" altLang="en-US" dirty="0">
                <a:solidFill>
                  <a:srgbClr val="FF0000"/>
                </a:solidFill>
                <a:latin typeface="+mn-ea"/>
              </a:rPr>
              <a:t>数量小于</a:t>
            </a:r>
            <a:r>
              <a:rPr lang="en-US" altLang="zh-CN" dirty="0">
                <a:solidFill>
                  <a:srgbClr val="FF0000"/>
                </a:solidFill>
                <a:latin typeface="+mn-ea"/>
              </a:rPr>
              <a:t>12</a:t>
            </a:r>
            <a:r>
              <a:rPr lang="zh-CN" altLang="en-US" dirty="0">
                <a:latin typeface="+mn-ea"/>
              </a:rPr>
              <a:t>时，采用动态规划算法</a:t>
            </a:r>
            <a:endParaRPr lang="en-US" altLang="zh-CN" dirty="0">
              <a:latin typeface="+mn-ea"/>
            </a:endParaRPr>
          </a:p>
          <a:p>
            <a:pPr lvl="1"/>
            <a:r>
              <a:rPr lang="zh-CN" altLang="en-US" dirty="0">
                <a:latin typeface="+mn-ea"/>
              </a:rPr>
              <a:t>当连接表的</a:t>
            </a:r>
            <a:r>
              <a:rPr lang="zh-CN" altLang="en-US" dirty="0">
                <a:solidFill>
                  <a:srgbClr val="FF0000"/>
                </a:solidFill>
                <a:latin typeface="+mn-ea"/>
              </a:rPr>
              <a:t>数量大于等于</a:t>
            </a:r>
            <a:r>
              <a:rPr lang="en-US" altLang="zh-CN" dirty="0">
                <a:solidFill>
                  <a:srgbClr val="FF0000"/>
                </a:solidFill>
                <a:latin typeface="+mn-ea"/>
              </a:rPr>
              <a:t>12</a:t>
            </a:r>
            <a:r>
              <a:rPr lang="zh-CN" altLang="en-US" dirty="0">
                <a:latin typeface="+mn-ea"/>
              </a:rPr>
              <a:t>时，采用</a:t>
            </a:r>
            <a:r>
              <a:rPr lang="en-US" altLang="zh-CN" dirty="0">
                <a:latin typeface="+mn-ea"/>
              </a:rPr>
              <a:t>GEQO</a:t>
            </a:r>
          </a:p>
          <a:p>
            <a:pPr lvl="1"/>
            <a:endParaRPr lang="en-US" altLang="zh-CN" dirty="0"/>
          </a:p>
          <a:p>
            <a:pPr lvl="1"/>
            <a:endParaRPr lang="en-US" altLang="zh-CN" dirty="0"/>
          </a:p>
          <a:p>
            <a:pPr lvl="1"/>
            <a:endParaRPr lang="zh-CN" altLang="en-US" dirty="0"/>
          </a:p>
        </p:txBody>
      </p:sp>
      <p:sp>
        <p:nvSpPr>
          <p:cNvPr id="4" name="矩形 3"/>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5" name="矩形 4"/>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灯片编号占位符 1"/>
          <p:cNvSpPr>
            <a:spLocks noGrp="1"/>
          </p:cNvSpPr>
          <p:nvPr>
            <p:ph type="sldNum" sz="quarter" idx="12"/>
          </p:nvPr>
        </p:nvSpPr>
        <p:spPr/>
        <p:txBody>
          <a:bodyPr/>
          <a:lstStyle/>
          <a:p>
            <a:pPr>
              <a:defRPr/>
            </a:pPr>
            <a:fld id="{BCABB3B7-40FC-498F-90D6-69ECBA7F181C}" type="slidenum">
              <a:rPr lang="zh-CN" altLang="en-US" smtClean="0"/>
              <a:t>73</a:t>
            </a:fld>
            <a:endParaRPr lang="en-US"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ChangeArrowheads="1"/>
          </p:cNvSpPr>
          <p:nvPr/>
        </p:nvSpPr>
        <p:spPr bwMode="auto">
          <a:xfrm>
            <a:off x="381000" y="717550"/>
            <a:ext cx="8382000" cy="6186309"/>
          </a:xfrm>
          <a:prstGeom prst="rect">
            <a:avLst/>
          </a:prstGeom>
          <a:noFill/>
          <a:ln w="9525">
            <a:noFill/>
            <a:miter lim="800000"/>
          </a:ln>
        </p:spPr>
        <p:txBody>
          <a:bodyPr>
            <a:spAutoFit/>
          </a:bodyPr>
          <a:lstStyle/>
          <a:p>
            <a:pPr>
              <a:spcBef>
                <a:spcPct val="50000"/>
              </a:spcBef>
            </a:pPr>
            <a:r>
              <a:rPr lang="en-US" altLang="zh-CN" b="1" dirty="0">
                <a:latin typeface="Arial" panose="020B0604020202020204" pitchFamily="34" charset="0"/>
                <a:cs typeface="Arial" panose="020B0604020202020204" pitchFamily="34" charset="0"/>
              </a:rPr>
              <a:t>9.4  </a:t>
            </a:r>
            <a:r>
              <a:rPr lang="zh-CN" altLang="en-US" b="1" dirty="0">
                <a:latin typeface="Arial" panose="020B0604020202020204" pitchFamily="34" charset="0"/>
                <a:ea typeface="黑体" panose="02010609060101010101" pitchFamily="49" charset="-122"/>
              </a:rPr>
              <a:t>物理优化（续）</a:t>
            </a:r>
          </a:p>
          <a:p>
            <a:pPr>
              <a:spcBef>
                <a:spcPct val="50000"/>
              </a:spcBef>
            </a:pPr>
            <a:r>
              <a:rPr lang="zh-CN" altLang="en-US" b="1" dirty="0">
                <a:latin typeface="Arial" panose="020B0604020202020204" pitchFamily="34" charset="0"/>
                <a:ea typeface="黑体" panose="02010609060101010101" pitchFamily="49" charset="-122"/>
              </a:rPr>
              <a:t>启发式规则</a:t>
            </a:r>
          </a:p>
          <a:p>
            <a:pPr>
              <a:spcBef>
                <a:spcPct val="50000"/>
              </a:spcBef>
            </a:pPr>
            <a:r>
              <a:rPr lang="zh-CN" altLang="en-US" dirty="0">
                <a:solidFill>
                  <a:srgbClr val="0000FF"/>
                </a:solidFill>
                <a:latin typeface="Arial" panose="020B0604020202020204" pitchFamily="34" charset="0"/>
                <a:ea typeface="黑体" panose="02010609060101010101" pitchFamily="49" charset="-122"/>
              </a:rPr>
              <a:t>选择操作的启发式规则</a:t>
            </a:r>
          </a:p>
          <a:p>
            <a:pPr>
              <a:spcBef>
                <a:spcPct val="50000"/>
              </a:spcBef>
            </a:pPr>
            <a:r>
              <a:rPr lang="en-US" altLang="zh-CN" dirty="0">
                <a:latin typeface="Arial" panose="020B0604020202020204" pitchFamily="34" charset="0"/>
              </a:rPr>
              <a:t>1</a:t>
            </a:r>
            <a:r>
              <a:rPr lang="zh-CN" altLang="en-US" dirty="0">
                <a:latin typeface="Arial" panose="020B0604020202020204" pitchFamily="34" charset="0"/>
              </a:rPr>
              <a:t>）对于小关系，使用全表顺序扫描，即使选择列上有索引。</a:t>
            </a:r>
          </a:p>
          <a:p>
            <a:pPr>
              <a:spcBef>
                <a:spcPct val="50000"/>
              </a:spcBef>
            </a:pPr>
            <a:endParaRPr lang="zh-CN" altLang="en-US" dirty="0">
              <a:latin typeface="Arial" panose="020B0604020202020204" pitchFamily="34" charset="0"/>
            </a:endParaRPr>
          </a:p>
          <a:p>
            <a:pPr>
              <a:spcBef>
                <a:spcPct val="50000"/>
              </a:spcBef>
            </a:pPr>
            <a:r>
              <a:rPr lang="en-US" altLang="zh-CN" dirty="0">
                <a:latin typeface="Arial" panose="020B0604020202020204" pitchFamily="34" charset="0"/>
              </a:rPr>
              <a:t>2</a:t>
            </a:r>
            <a:r>
              <a:rPr lang="zh-CN" altLang="en-US" dirty="0">
                <a:latin typeface="Arial" panose="020B0604020202020204" pitchFamily="34" charset="0"/>
              </a:rPr>
              <a:t>）对于选择条件是</a:t>
            </a:r>
            <a:r>
              <a:rPr lang="zh-CN" altLang="en-US" dirty="0">
                <a:latin typeface="Times New Roman" panose="02020603050405020304" pitchFamily="18" charset="0"/>
              </a:rPr>
              <a:t>“</a:t>
            </a:r>
            <a:r>
              <a:rPr lang="zh-CN" altLang="en-US" dirty="0">
                <a:latin typeface="Arial" panose="020B0604020202020204" pitchFamily="34" charset="0"/>
              </a:rPr>
              <a:t>主码</a:t>
            </a:r>
            <a:r>
              <a:rPr lang="en-US" altLang="zh-CN" dirty="0">
                <a:latin typeface="Arial" panose="020B0604020202020204" pitchFamily="34" charset="0"/>
              </a:rPr>
              <a:t>=</a:t>
            </a:r>
            <a:r>
              <a:rPr lang="zh-CN" altLang="en-US" dirty="0">
                <a:latin typeface="Arial" panose="020B0604020202020204" pitchFamily="34" charset="0"/>
              </a:rPr>
              <a:t>值</a:t>
            </a:r>
            <a:r>
              <a:rPr lang="zh-CN" altLang="en-US" dirty="0">
                <a:latin typeface="Times New Roman" panose="02020603050405020304" pitchFamily="18" charset="0"/>
              </a:rPr>
              <a:t>”</a:t>
            </a:r>
            <a:r>
              <a:rPr lang="zh-CN" altLang="en-US" dirty="0">
                <a:latin typeface="Arial" panose="020B0604020202020204" pitchFamily="34" charset="0"/>
              </a:rPr>
              <a:t>的查询，可以选择主码索引。</a:t>
            </a:r>
          </a:p>
          <a:p>
            <a:pPr>
              <a:spcBef>
                <a:spcPct val="50000"/>
              </a:spcBef>
            </a:pPr>
            <a:r>
              <a:rPr lang="zh-CN" altLang="en-US" dirty="0">
                <a:latin typeface="Arial" panose="020B0604020202020204" pitchFamily="34" charset="0"/>
              </a:rPr>
              <a:t>     （一般的</a:t>
            </a:r>
            <a:r>
              <a:rPr lang="en-US" altLang="zh-CN" dirty="0">
                <a:latin typeface="Arial" panose="020B0604020202020204" pitchFamily="34" charset="0"/>
              </a:rPr>
              <a:t>DBMS</a:t>
            </a:r>
            <a:r>
              <a:rPr lang="zh-CN" altLang="en-US" dirty="0">
                <a:latin typeface="Arial" panose="020B0604020202020204" pitchFamily="34" charset="0"/>
              </a:rPr>
              <a:t>会自动的建立主码索引）</a:t>
            </a:r>
            <a:endParaRPr lang="en-US" altLang="zh-CN" dirty="0">
              <a:latin typeface="Arial" panose="020B0604020202020204" pitchFamily="34" charset="0"/>
            </a:endParaRPr>
          </a:p>
          <a:p>
            <a:pPr>
              <a:spcBef>
                <a:spcPct val="50000"/>
              </a:spcBef>
            </a:pPr>
            <a:endParaRPr lang="en-US" altLang="zh-CN" dirty="0">
              <a:latin typeface="Arial" panose="020B0604020202020204" pitchFamily="34" charset="0"/>
            </a:endParaRPr>
          </a:p>
          <a:p>
            <a:pPr>
              <a:spcBef>
                <a:spcPct val="50000"/>
              </a:spcBef>
            </a:pPr>
            <a:r>
              <a:rPr lang="en-US" altLang="zh-CN" dirty="0"/>
              <a:t>3</a:t>
            </a:r>
            <a:r>
              <a:rPr lang="zh-CN" altLang="en-US" dirty="0"/>
              <a:t>）对于选择条件是</a:t>
            </a:r>
            <a:r>
              <a:rPr lang="zh-CN" altLang="en-US" dirty="0">
                <a:latin typeface="Times New Roman" panose="02020603050405020304" pitchFamily="18" charset="0"/>
              </a:rPr>
              <a:t>“</a:t>
            </a:r>
            <a:r>
              <a:rPr lang="zh-CN" altLang="en-US" dirty="0"/>
              <a:t>非主属性</a:t>
            </a:r>
            <a:r>
              <a:rPr lang="en-US" altLang="zh-CN" dirty="0"/>
              <a:t>=</a:t>
            </a:r>
            <a:r>
              <a:rPr lang="zh-CN" altLang="en-US" dirty="0"/>
              <a:t>值</a:t>
            </a:r>
            <a:r>
              <a:rPr lang="zh-CN" altLang="en-US" dirty="0">
                <a:latin typeface="Times New Roman" panose="02020603050405020304" pitchFamily="18" charset="0"/>
              </a:rPr>
              <a:t>”</a:t>
            </a:r>
            <a:r>
              <a:rPr lang="zh-CN" altLang="en-US" dirty="0"/>
              <a:t>的查询，并且选择列上有索引，</a:t>
            </a:r>
            <a:r>
              <a:rPr lang="zh-CN" altLang="en-US" dirty="0">
                <a:solidFill>
                  <a:srgbClr val="FF0000"/>
                </a:solidFill>
              </a:rPr>
              <a:t>则估算查询结果元组数目，如果比例较小，</a:t>
            </a:r>
            <a:r>
              <a:rPr lang="zh-CN" altLang="en-US" dirty="0"/>
              <a:t>可以使用索引扫描算法，否则还是使用全表顺序扫描。（</a:t>
            </a:r>
            <a:r>
              <a:rPr lang="en-US" altLang="zh-CN" dirty="0"/>
              <a:t>DBA</a:t>
            </a:r>
            <a:r>
              <a:rPr lang="zh-CN" altLang="en-US" dirty="0"/>
              <a:t>监控）</a:t>
            </a:r>
          </a:p>
          <a:p>
            <a:pPr>
              <a:spcBef>
                <a:spcPct val="50000"/>
              </a:spcBef>
            </a:pPr>
            <a:endParaRPr lang="zh-CN" altLang="en-US" dirty="0">
              <a:latin typeface="Arial" panose="020B0604020202020204" pitchFamily="34" charset="0"/>
            </a:endParaRPr>
          </a:p>
        </p:txBody>
      </p:sp>
      <p:sp>
        <p:nvSpPr>
          <p:cNvPr id="3" name="灯片编号占位符 2"/>
          <p:cNvSpPr>
            <a:spLocks noGrp="1"/>
          </p:cNvSpPr>
          <p:nvPr>
            <p:ph type="sldNum" sz="quarter" idx="12"/>
          </p:nvPr>
        </p:nvSpPr>
        <p:spPr/>
        <p:txBody>
          <a:bodyPr/>
          <a:lstStyle/>
          <a:p>
            <a:pPr>
              <a:defRPr/>
            </a:pPr>
            <a:fld id="{7BB12ABC-D99B-4250-AEEC-C09C41850E38}" type="slidenum">
              <a:rPr lang="zh-CN" altLang="en-US" smtClean="0"/>
              <a:t>74</a:t>
            </a:fld>
            <a:endParaRPr lang="en-US" altLang="zh-CN"/>
          </a:p>
        </p:txBody>
      </p:sp>
      <p:sp>
        <p:nvSpPr>
          <p:cNvPr id="4" name="圆角矩形标注 4"/>
          <p:cNvSpPr/>
          <p:nvPr/>
        </p:nvSpPr>
        <p:spPr>
          <a:xfrm>
            <a:off x="6890869" y="4365104"/>
            <a:ext cx="1800200" cy="612648"/>
          </a:xfrm>
          <a:prstGeom prst="wedgeRoundRectCallout">
            <a:avLst>
              <a:gd name="adj1" fmla="val -44374"/>
              <a:gd name="adj2" fmla="val 82311"/>
              <a:gd name="adj3" fmla="val 16667"/>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0000"/>
                </a:solidFill>
                <a:latin typeface="+mn-ea"/>
              </a:rPr>
              <a:t>10%?, 30%?</a:t>
            </a:r>
            <a:endParaRPr lang="zh-CN" altLang="en-US" dirty="0">
              <a:solidFill>
                <a:srgbClr val="FF0000"/>
              </a:solidFill>
              <a:latin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4"/>
          <p:cNvSpPr>
            <a:spLocks noChangeArrowheads="1"/>
          </p:cNvSpPr>
          <p:nvPr/>
        </p:nvSpPr>
        <p:spPr bwMode="auto">
          <a:xfrm>
            <a:off x="201613" y="638175"/>
            <a:ext cx="8763000" cy="4154984"/>
          </a:xfrm>
          <a:prstGeom prst="rect">
            <a:avLst/>
          </a:prstGeom>
          <a:noFill/>
          <a:ln w="9525">
            <a:noFill/>
            <a:miter lim="800000"/>
          </a:ln>
        </p:spPr>
        <p:txBody>
          <a:bodyPr>
            <a:spAutoFit/>
          </a:bodyPr>
          <a:lstStyle/>
          <a:p>
            <a:pPr>
              <a:spcBef>
                <a:spcPct val="50000"/>
              </a:spcBef>
            </a:pPr>
            <a:r>
              <a:rPr lang="en-US" altLang="zh-CN" dirty="0">
                <a:latin typeface="Arial" panose="020B0604020202020204" pitchFamily="34" charset="0"/>
              </a:rPr>
              <a:t>4</a:t>
            </a:r>
            <a:r>
              <a:rPr lang="zh-CN" altLang="en-US" dirty="0">
                <a:latin typeface="Arial" panose="020B0604020202020204" pitchFamily="34" charset="0"/>
              </a:rPr>
              <a:t>）对于选择条件是属性上的</a:t>
            </a:r>
            <a:r>
              <a:rPr lang="zh-CN" altLang="en-US" dirty="0">
                <a:solidFill>
                  <a:srgbClr val="FF0000"/>
                </a:solidFill>
                <a:latin typeface="Arial" panose="020B0604020202020204" pitchFamily="34" charset="0"/>
              </a:rPr>
              <a:t>非等值查询</a:t>
            </a:r>
            <a:r>
              <a:rPr lang="zh-CN" altLang="en-US" dirty="0">
                <a:latin typeface="Arial" panose="020B0604020202020204" pitchFamily="34" charset="0"/>
              </a:rPr>
              <a:t>或者</a:t>
            </a:r>
            <a:r>
              <a:rPr lang="zh-CN" altLang="en-US" dirty="0">
                <a:solidFill>
                  <a:srgbClr val="FF0000"/>
                </a:solidFill>
                <a:latin typeface="Arial" panose="020B0604020202020204" pitchFamily="34" charset="0"/>
              </a:rPr>
              <a:t>范围查询</a:t>
            </a:r>
            <a:r>
              <a:rPr lang="zh-CN" altLang="en-US" dirty="0">
                <a:latin typeface="Arial" panose="020B0604020202020204" pitchFamily="34" charset="0"/>
              </a:rPr>
              <a:t>，并且选择列上有索引，</a:t>
            </a:r>
            <a:r>
              <a:rPr lang="zh-CN" altLang="en-US" dirty="0">
                <a:solidFill>
                  <a:srgbClr val="FF0000"/>
                </a:solidFill>
                <a:latin typeface="Arial" panose="020B0604020202020204" pitchFamily="34" charset="0"/>
              </a:rPr>
              <a:t>则估算查询结果的元组数目，如果比例较小，</a:t>
            </a:r>
            <a:r>
              <a:rPr lang="zh-CN" altLang="en-US" dirty="0">
                <a:latin typeface="Arial" panose="020B0604020202020204" pitchFamily="34" charset="0"/>
              </a:rPr>
              <a:t>可以使用索引扫描，否则使用全表顺序扫描。</a:t>
            </a:r>
          </a:p>
          <a:p>
            <a:pPr>
              <a:spcBef>
                <a:spcPct val="50000"/>
              </a:spcBef>
            </a:pPr>
            <a:endParaRPr lang="en-US" altLang="zh-CN" dirty="0">
              <a:latin typeface="Arial" panose="020B0604020202020204" pitchFamily="34" charset="0"/>
            </a:endParaRPr>
          </a:p>
          <a:p>
            <a:pPr>
              <a:spcBef>
                <a:spcPct val="50000"/>
              </a:spcBef>
            </a:pPr>
            <a:r>
              <a:rPr lang="en-US" altLang="zh-CN" dirty="0">
                <a:latin typeface="Arial" panose="020B0604020202020204" pitchFamily="34" charset="0"/>
              </a:rPr>
              <a:t>5</a:t>
            </a:r>
            <a:r>
              <a:rPr lang="zh-CN" altLang="en-US" dirty="0">
                <a:latin typeface="Arial" panose="020B0604020202020204" pitchFamily="34" charset="0"/>
              </a:rPr>
              <a:t>）对于用</a:t>
            </a:r>
            <a:r>
              <a:rPr lang="en-US" altLang="zh-CN" dirty="0">
                <a:latin typeface="Arial" panose="020B0604020202020204" pitchFamily="34" charset="0"/>
              </a:rPr>
              <a:t>AND</a:t>
            </a:r>
            <a:r>
              <a:rPr lang="zh-CN" altLang="en-US" dirty="0">
                <a:latin typeface="Arial" panose="020B0604020202020204" pitchFamily="34" charset="0"/>
              </a:rPr>
              <a:t>连接的合取选择条件，如果有涉及这些属性的组合索引，则</a:t>
            </a:r>
            <a:r>
              <a:rPr lang="zh-CN" altLang="en-US" dirty="0">
                <a:solidFill>
                  <a:srgbClr val="FF0000"/>
                </a:solidFill>
                <a:latin typeface="Arial" panose="020B0604020202020204" pitchFamily="34" charset="0"/>
              </a:rPr>
              <a:t>优先采用组合索引</a:t>
            </a:r>
            <a:r>
              <a:rPr lang="zh-CN" altLang="en-US" dirty="0">
                <a:latin typeface="Arial" panose="020B0604020202020204" pitchFamily="34" charset="0"/>
              </a:rPr>
              <a:t>；如果有多个一般索引，可以用</a:t>
            </a:r>
            <a:r>
              <a:rPr lang="zh-CN" altLang="en-US" dirty="0">
                <a:solidFill>
                  <a:srgbClr val="FF0000"/>
                </a:solidFill>
                <a:latin typeface="Arial" panose="020B0604020202020204" pitchFamily="34" charset="0"/>
              </a:rPr>
              <a:t>索引扫描并求交集</a:t>
            </a:r>
            <a:r>
              <a:rPr lang="zh-CN" altLang="en-US" dirty="0">
                <a:latin typeface="Arial" panose="020B0604020202020204" pitchFamily="34" charset="0"/>
              </a:rPr>
              <a:t>的方法；否则采用全表顺序扫描。</a:t>
            </a:r>
          </a:p>
          <a:p>
            <a:pPr>
              <a:spcBef>
                <a:spcPct val="50000"/>
              </a:spcBef>
            </a:pPr>
            <a:endParaRPr lang="en-US" altLang="zh-CN" dirty="0">
              <a:latin typeface="Arial" panose="020B0604020202020204" pitchFamily="34" charset="0"/>
            </a:endParaRPr>
          </a:p>
          <a:p>
            <a:pPr>
              <a:spcBef>
                <a:spcPct val="50000"/>
              </a:spcBef>
            </a:pPr>
            <a:r>
              <a:rPr lang="en-US" altLang="zh-CN" dirty="0">
                <a:latin typeface="Arial" panose="020B0604020202020204" pitchFamily="34" charset="0"/>
              </a:rPr>
              <a:t>6</a:t>
            </a:r>
            <a:r>
              <a:rPr lang="zh-CN" altLang="en-US" dirty="0">
                <a:latin typeface="Arial" panose="020B0604020202020204" pitchFamily="34" charset="0"/>
              </a:rPr>
              <a:t>）对于</a:t>
            </a:r>
            <a:r>
              <a:rPr lang="zh-CN" altLang="en-US" dirty="0">
                <a:solidFill>
                  <a:srgbClr val="FF0000"/>
                </a:solidFill>
                <a:latin typeface="Arial" panose="020B0604020202020204" pitchFamily="34" charset="0"/>
              </a:rPr>
              <a:t>用</a:t>
            </a:r>
            <a:r>
              <a:rPr lang="en-US" altLang="zh-CN" dirty="0">
                <a:solidFill>
                  <a:srgbClr val="FF0000"/>
                </a:solidFill>
                <a:latin typeface="Arial" panose="020B0604020202020204" pitchFamily="34" charset="0"/>
              </a:rPr>
              <a:t>OR</a:t>
            </a:r>
            <a:r>
              <a:rPr lang="zh-CN" altLang="en-US" dirty="0">
                <a:solidFill>
                  <a:srgbClr val="FF0000"/>
                </a:solidFill>
                <a:latin typeface="Arial" panose="020B0604020202020204" pitchFamily="34" charset="0"/>
              </a:rPr>
              <a:t>连接的析取选择条件</a:t>
            </a:r>
            <a:r>
              <a:rPr lang="zh-CN" altLang="en-US" dirty="0">
                <a:latin typeface="Arial" panose="020B0604020202020204" pitchFamily="34" charset="0"/>
              </a:rPr>
              <a:t>，一般使用</a:t>
            </a:r>
            <a:r>
              <a:rPr lang="zh-CN" altLang="en-US" dirty="0">
                <a:solidFill>
                  <a:srgbClr val="FF0000"/>
                </a:solidFill>
                <a:latin typeface="Arial" panose="020B0604020202020204" pitchFamily="34" charset="0"/>
              </a:rPr>
              <a:t>全表顺序扫描</a:t>
            </a:r>
            <a:r>
              <a:rPr lang="zh-CN" altLang="en-US" dirty="0">
                <a:latin typeface="Arial" panose="020B0604020202020204" pitchFamily="34" charset="0"/>
              </a:rPr>
              <a:t>。</a:t>
            </a:r>
          </a:p>
        </p:txBody>
      </p:sp>
      <p:sp>
        <p:nvSpPr>
          <p:cNvPr id="3" name="灯片编号占位符 2"/>
          <p:cNvSpPr>
            <a:spLocks noGrp="1"/>
          </p:cNvSpPr>
          <p:nvPr>
            <p:ph type="sldNum" sz="quarter" idx="12"/>
          </p:nvPr>
        </p:nvSpPr>
        <p:spPr/>
        <p:txBody>
          <a:bodyPr/>
          <a:lstStyle/>
          <a:p>
            <a:pPr>
              <a:defRPr/>
            </a:pPr>
            <a:fld id="{56C1D9BB-21C5-4194-98CC-59C9D476FAAB}" type="slidenum">
              <a:rPr lang="zh-CN" altLang="en-US" smtClean="0"/>
              <a:t>75</a:t>
            </a:fld>
            <a:endParaRPr lang="en-US" altLang="zh-CN"/>
          </a:p>
        </p:txBody>
      </p:sp>
      <p:sp>
        <p:nvSpPr>
          <p:cNvPr id="34820" name="AutoShape 4"/>
          <p:cNvSpPr>
            <a:spLocks noChangeArrowheads="1"/>
          </p:cNvSpPr>
          <p:nvPr/>
        </p:nvSpPr>
        <p:spPr bwMode="auto">
          <a:xfrm>
            <a:off x="4583113" y="1916832"/>
            <a:ext cx="2736850" cy="609600"/>
          </a:xfrm>
          <a:prstGeom prst="wedgeRoundRectCallout">
            <a:avLst>
              <a:gd name="adj1" fmla="val 56727"/>
              <a:gd name="adj2" fmla="val -133856"/>
              <a:gd name="adj3" fmla="val 16667"/>
            </a:avLst>
          </a:prstGeom>
          <a:solidFill>
            <a:schemeClr val="bg1"/>
          </a:solidFill>
          <a:ln w="9525">
            <a:solidFill>
              <a:srgbClr val="0000FF"/>
            </a:solidFill>
            <a:miter lim="800000"/>
          </a:ln>
          <a:effectLst/>
        </p:spPr>
        <p:txBody>
          <a:bodyPr/>
          <a:lstStyle/>
          <a:p>
            <a:pPr algn="ctr"/>
            <a:r>
              <a:rPr lang="en-US" altLang="zh-CN" dirty="0">
                <a:solidFill>
                  <a:srgbClr val="FF0000"/>
                </a:solidFill>
              </a:rPr>
              <a:t>selectivity</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idx="1"/>
          </p:nvPr>
        </p:nvSpPr>
        <p:spPr>
          <a:xfrm>
            <a:off x="395288" y="808039"/>
            <a:ext cx="8110537" cy="5548312"/>
          </a:xfrm>
        </p:spPr>
        <p:txBody>
          <a:bodyPr/>
          <a:lstStyle/>
          <a:p>
            <a:pPr eaLnBrk="1" hangingPunct="1">
              <a:lnSpc>
                <a:spcPct val="90000"/>
              </a:lnSpc>
              <a:buFont typeface="Wingdings" panose="05000000000000000000" pitchFamily="2" charset="2"/>
              <a:buNone/>
            </a:pPr>
            <a:r>
              <a:rPr lang="zh-CN" altLang="en-US" sz="3200" dirty="0">
                <a:solidFill>
                  <a:srgbClr val="0000FF"/>
                </a:solidFill>
              </a:rPr>
              <a:t>连接操作的启发式规则</a:t>
            </a:r>
          </a:p>
          <a:p>
            <a:pPr eaLnBrk="1" hangingPunct="1">
              <a:lnSpc>
                <a:spcPct val="90000"/>
              </a:lnSpc>
              <a:buFont typeface="Wingdings" panose="05000000000000000000" pitchFamily="2" charset="2"/>
              <a:buNone/>
            </a:pPr>
            <a:r>
              <a:rPr lang="en-US" altLang="zh-CN" sz="2400" dirty="0"/>
              <a:t>1</a:t>
            </a:r>
            <a:r>
              <a:rPr lang="zh-CN" altLang="en-US" sz="2400" dirty="0"/>
              <a:t>）如果</a:t>
            </a:r>
            <a:r>
              <a:rPr lang="en-US" altLang="zh-CN" sz="2400" dirty="0"/>
              <a:t>2</a:t>
            </a:r>
            <a:r>
              <a:rPr lang="zh-CN" altLang="en-US" sz="2400" dirty="0"/>
              <a:t>个表都</a:t>
            </a:r>
            <a:r>
              <a:rPr lang="zh-CN" altLang="en-US" sz="2400" dirty="0">
                <a:solidFill>
                  <a:srgbClr val="FF0000"/>
                </a:solidFill>
              </a:rPr>
              <a:t>已按照连接属性排序</a:t>
            </a:r>
            <a:r>
              <a:rPr lang="zh-CN" altLang="en-US" sz="2400" dirty="0"/>
              <a:t>，则选用</a:t>
            </a:r>
            <a:r>
              <a:rPr lang="en-US" altLang="zh-CN" sz="2400" dirty="0"/>
              <a:t>merge-sort</a:t>
            </a:r>
            <a:r>
              <a:rPr lang="zh-CN" altLang="en-US" sz="2400" dirty="0"/>
              <a:t>方法。</a:t>
            </a:r>
          </a:p>
          <a:p>
            <a:pPr eaLnBrk="1" hangingPunct="1">
              <a:lnSpc>
                <a:spcPct val="90000"/>
              </a:lnSpc>
              <a:buFont typeface="Wingdings" panose="05000000000000000000" pitchFamily="2" charset="2"/>
              <a:buNone/>
            </a:pPr>
            <a:endParaRPr lang="zh-CN" altLang="en-US" sz="2400" dirty="0"/>
          </a:p>
          <a:p>
            <a:pPr eaLnBrk="1" hangingPunct="1">
              <a:lnSpc>
                <a:spcPct val="90000"/>
              </a:lnSpc>
              <a:buFont typeface="Wingdings" panose="05000000000000000000" pitchFamily="2" charset="2"/>
              <a:buNone/>
            </a:pPr>
            <a:r>
              <a:rPr lang="en-US" altLang="zh-CN" sz="2400" dirty="0"/>
              <a:t>2</a:t>
            </a:r>
            <a:r>
              <a:rPr lang="zh-CN" altLang="en-US" sz="2400" dirty="0"/>
              <a:t>）如果</a:t>
            </a:r>
            <a:r>
              <a:rPr lang="en-US" altLang="zh-CN" sz="2400" dirty="0">
                <a:solidFill>
                  <a:srgbClr val="FF0000"/>
                </a:solidFill>
              </a:rPr>
              <a:t>1</a:t>
            </a:r>
            <a:r>
              <a:rPr lang="zh-CN" altLang="en-US" sz="2400" dirty="0">
                <a:solidFill>
                  <a:srgbClr val="FF0000"/>
                </a:solidFill>
              </a:rPr>
              <a:t>个表在连接属性上有索引</a:t>
            </a:r>
            <a:r>
              <a:rPr lang="zh-CN" altLang="en-US" sz="2400" dirty="0"/>
              <a:t>，则可选用索引连接方法。</a:t>
            </a:r>
          </a:p>
          <a:p>
            <a:pPr eaLnBrk="1" hangingPunct="1">
              <a:lnSpc>
                <a:spcPct val="90000"/>
              </a:lnSpc>
              <a:buFont typeface="Wingdings" panose="05000000000000000000" pitchFamily="2" charset="2"/>
              <a:buNone/>
            </a:pPr>
            <a:endParaRPr lang="zh-CN" altLang="en-US" sz="2400" dirty="0"/>
          </a:p>
          <a:p>
            <a:pPr eaLnBrk="1" hangingPunct="1">
              <a:lnSpc>
                <a:spcPct val="90000"/>
              </a:lnSpc>
              <a:buFont typeface="Wingdings" panose="05000000000000000000" pitchFamily="2" charset="2"/>
              <a:buNone/>
            </a:pPr>
            <a:r>
              <a:rPr lang="en-US" altLang="zh-CN" sz="2400" dirty="0"/>
              <a:t>3</a:t>
            </a:r>
            <a:r>
              <a:rPr lang="zh-CN" altLang="en-US" sz="2400" dirty="0"/>
              <a:t>）如果上述</a:t>
            </a:r>
            <a:r>
              <a:rPr lang="en-US" altLang="zh-CN" sz="2400" dirty="0"/>
              <a:t>2</a:t>
            </a:r>
            <a:r>
              <a:rPr lang="zh-CN" altLang="en-US" sz="2400" dirty="0"/>
              <a:t>个规则均不适用，且</a:t>
            </a:r>
            <a:r>
              <a:rPr lang="zh-CN" altLang="en-US" sz="2400" dirty="0">
                <a:solidFill>
                  <a:srgbClr val="FF0000"/>
                </a:solidFill>
              </a:rPr>
              <a:t>其中</a:t>
            </a:r>
            <a:r>
              <a:rPr lang="en-US" altLang="zh-CN" sz="2400" dirty="0">
                <a:solidFill>
                  <a:srgbClr val="FF0000"/>
                </a:solidFill>
              </a:rPr>
              <a:t>1</a:t>
            </a:r>
            <a:r>
              <a:rPr lang="zh-CN" altLang="en-US" sz="2400" dirty="0">
                <a:solidFill>
                  <a:srgbClr val="FF0000"/>
                </a:solidFill>
              </a:rPr>
              <a:t>个表较小</a:t>
            </a:r>
            <a:r>
              <a:rPr lang="zh-CN" altLang="en-US" sz="2400" dirty="0"/>
              <a:t>，可选用</a:t>
            </a:r>
            <a:r>
              <a:rPr lang="en-US" altLang="zh-CN" sz="2400" dirty="0"/>
              <a:t>hash join</a:t>
            </a:r>
            <a:r>
              <a:rPr lang="zh-CN" altLang="en-US" sz="2400" dirty="0"/>
              <a:t>方法。</a:t>
            </a:r>
          </a:p>
          <a:p>
            <a:pPr eaLnBrk="1" hangingPunct="1">
              <a:lnSpc>
                <a:spcPct val="90000"/>
              </a:lnSpc>
              <a:buFont typeface="Wingdings" panose="05000000000000000000" pitchFamily="2" charset="2"/>
              <a:buNone/>
            </a:pPr>
            <a:endParaRPr lang="zh-CN" altLang="en-US" sz="2400" dirty="0"/>
          </a:p>
          <a:p>
            <a:pPr eaLnBrk="1" hangingPunct="1">
              <a:lnSpc>
                <a:spcPct val="90000"/>
              </a:lnSpc>
              <a:buFont typeface="Wingdings" panose="05000000000000000000" pitchFamily="2" charset="2"/>
              <a:buNone/>
            </a:pPr>
            <a:r>
              <a:rPr lang="en-US" altLang="zh-CN" sz="2400" dirty="0"/>
              <a:t>4</a:t>
            </a:r>
            <a:r>
              <a:rPr lang="zh-CN" altLang="en-US" sz="2400" dirty="0"/>
              <a:t>）对于</a:t>
            </a:r>
            <a:r>
              <a:rPr lang="en-US" altLang="zh-CN" sz="2400" dirty="0"/>
              <a:t>nested loop join</a:t>
            </a:r>
            <a:r>
              <a:rPr lang="zh-CN" altLang="en-US" sz="2400" dirty="0"/>
              <a:t>方法，</a:t>
            </a:r>
            <a:r>
              <a:rPr lang="zh-CN" altLang="en-US" sz="2400" dirty="0">
                <a:solidFill>
                  <a:srgbClr val="FF0000"/>
                </a:solidFill>
              </a:rPr>
              <a:t>选择占用块数较小的表作外表</a:t>
            </a:r>
            <a:r>
              <a:rPr lang="zh-CN" altLang="en-US" sz="2400" dirty="0"/>
              <a:t>。</a:t>
            </a:r>
          </a:p>
          <a:p>
            <a:pPr eaLnBrk="1" hangingPunct="1">
              <a:lnSpc>
                <a:spcPct val="90000"/>
              </a:lnSpc>
              <a:buFont typeface="Wingdings" panose="05000000000000000000" pitchFamily="2" charset="2"/>
              <a:buNone/>
            </a:pPr>
            <a:r>
              <a:rPr lang="zh-CN" altLang="en-US" sz="2400" dirty="0"/>
              <a:t>    问题：内存块的分配？外表的选择？</a:t>
            </a:r>
            <a:endParaRPr lang="zh-CN" altLang="en-US" sz="2400" b="1" dirty="0"/>
          </a:p>
        </p:txBody>
      </p:sp>
      <p:sp>
        <p:nvSpPr>
          <p:cNvPr id="3" name="灯片编号占位符 2"/>
          <p:cNvSpPr>
            <a:spLocks noGrp="1"/>
          </p:cNvSpPr>
          <p:nvPr>
            <p:ph type="sldNum" sz="quarter" idx="12"/>
          </p:nvPr>
        </p:nvSpPr>
        <p:spPr/>
        <p:txBody>
          <a:bodyPr/>
          <a:lstStyle/>
          <a:p>
            <a:pPr>
              <a:defRPr/>
            </a:pPr>
            <a:fld id="{0167342A-E778-41F1-A227-5CA6CB660394}" type="slidenum">
              <a:rPr lang="zh-CN" altLang="en-US" smtClean="0"/>
              <a:t>76</a:t>
            </a:fld>
            <a:endParaRPr lang="en-US" altLang="zh-CN"/>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028"/>
          <p:cNvSpPr>
            <a:spLocks noChangeArrowheads="1"/>
          </p:cNvSpPr>
          <p:nvPr/>
        </p:nvSpPr>
        <p:spPr bwMode="auto">
          <a:xfrm>
            <a:off x="395288" y="779463"/>
            <a:ext cx="8424862" cy="1368425"/>
          </a:xfrm>
          <a:prstGeom prst="rect">
            <a:avLst/>
          </a:prstGeom>
          <a:noFill/>
          <a:ln w="9525">
            <a:noFill/>
            <a:miter lim="800000"/>
          </a:ln>
        </p:spPr>
        <p:txBody>
          <a:bodyPr/>
          <a:lstStyle/>
          <a:p>
            <a:pPr>
              <a:lnSpc>
                <a:spcPct val="90000"/>
              </a:lnSpc>
              <a:spcBef>
                <a:spcPct val="20000"/>
              </a:spcBef>
              <a:buClr>
                <a:schemeClr val="folHlink"/>
              </a:buClr>
              <a:buSzPct val="75000"/>
              <a:buFont typeface="Wingdings" panose="05000000000000000000" pitchFamily="2" charset="2"/>
              <a:buNone/>
            </a:pPr>
            <a:r>
              <a:rPr lang="zh-CN" altLang="en-US" dirty="0">
                <a:solidFill>
                  <a:srgbClr val="0000FF"/>
                </a:solidFill>
              </a:rPr>
              <a:t>为什么采用启发式规则？</a:t>
            </a:r>
          </a:p>
          <a:p>
            <a:pPr>
              <a:lnSpc>
                <a:spcPct val="90000"/>
              </a:lnSpc>
              <a:spcBef>
                <a:spcPct val="20000"/>
              </a:spcBef>
              <a:buClr>
                <a:schemeClr val="folHlink"/>
              </a:buClr>
              <a:buSzPct val="75000"/>
              <a:buFont typeface="Wingdings" panose="05000000000000000000" pitchFamily="2" charset="2"/>
              <a:buNone/>
            </a:pPr>
            <a:r>
              <a:rPr lang="zh-CN" altLang="en-US" dirty="0">
                <a:solidFill>
                  <a:srgbClr val="0000FF"/>
                </a:solidFill>
              </a:rPr>
              <a:t>      </a:t>
            </a:r>
            <a:r>
              <a:rPr lang="zh-CN" altLang="en-US" dirty="0"/>
              <a:t>可能的执行策略很多，要穷尽所有的策略进行代价估算需要的计算开销往往与被连接的关系数成指数复杂度关系。</a:t>
            </a:r>
          </a:p>
        </p:txBody>
      </p:sp>
      <p:sp>
        <p:nvSpPr>
          <p:cNvPr id="36866" name="Rectangle 1029"/>
          <p:cNvSpPr>
            <a:spLocks noChangeArrowheads="1"/>
          </p:cNvSpPr>
          <p:nvPr/>
        </p:nvSpPr>
        <p:spPr bwMode="auto">
          <a:xfrm>
            <a:off x="395288" y="5805264"/>
            <a:ext cx="8208962" cy="749300"/>
          </a:xfrm>
          <a:prstGeom prst="rect">
            <a:avLst/>
          </a:prstGeom>
          <a:noFill/>
          <a:ln w="9525">
            <a:noFill/>
            <a:miter lim="800000"/>
          </a:ln>
        </p:spPr>
        <p:txBody>
          <a:bodyPr>
            <a:spAutoFit/>
          </a:bodyPr>
          <a:lstStyle/>
          <a:p>
            <a:pPr>
              <a:lnSpc>
                <a:spcPct val="90000"/>
              </a:lnSpc>
              <a:spcBef>
                <a:spcPct val="20000"/>
              </a:spcBef>
              <a:buClr>
                <a:schemeClr val="folHlink"/>
              </a:buClr>
              <a:buSzPct val="75000"/>
              <a:buFont typeface="Wingdings" panose="05000000000000000000" pitchFamily="2" charset="2"/>
              <a:buNone/>
            </a:pPr>
            <a:r>
              <a:rPr lang="zh-CN" altLang="en-US" dirty="0"/>
              <a:t>     可能造成查询优化过程的开销大于获得的查询开销的减小，得不偿失。</a:t>
            </a:r>
          </a:p>
        </p:txBody>
      </p:sp>
      <p:sp>
        <p:nvSpPr>
          <p:cNvPr id="5" name="灯片编号占位符 4"/>
          <p:cNvSpPr>
            <a:spLocks noGrp="1"/>
          </p:cNvSpPr>
          <p:nvPr>
            <p:ph type="sldNum" sz="quarter" idx="12"/>
          </p:nvPr>
        </p:nvSpPr>
        <p:spPr/>
        <p:txBody>
          <a:bodyPr/>
          <a:lstStyle/>
          <a:p>
            <a:pPr>
              <a:defRPr/>
            </a:pPr>
            <a:fld id="{A2AFDDF3-AEC0-4F47-A1BB-8017E865DCEF}" type="slidenum">
              <a:rPr lang="zh-CN" altLang="en-US" smtClean="0"/>
              <a:t>77</a:t>
            </a:fld>
            <a:endParaRPr lang="en-US" altLang="zh-CN"/>
          </a:p>
        </p:txBody>
      </p:sp>
      <p:pic>
        <p:nvPicPr>
          <p:cNvPr id="7" name="图片 6" descr="查询优化的目标.emf"/>
          <p:cNvPicPr>
            <a:picLocks noChangeAspect="1"/>
          </p:cNvPicPr>
          <p:nvPr/>
        </p:nvPicPr>
        <p:blipFill>
          <a:blip r:embed="rId2" cstate="print"/>
          <a:stretch>
            <a:fillRect/>
          </a:stretch>
        </p:blipFill>
        <p:spPr>
          <a:xfrm>
            <a:off x="323529" y="2060848"/>
            <a:ext cx="8529078" cy="36004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9"/>
          <p:cNvSpPr>
            <a:spLocks noChangeArrowheads="1"/>
          </p:cNvSpPr>
          <p:nvPr/>
        </p:nvSpPr>
        <p:spPr bwMode="auto">
          <a:xfrm>
            <a:off x="395288" y="808039"/>
            <a:ext cx="8110537" cy="5141242"/>
          </a:xfrm>
          <a:prstGeom prst="rect">
            <a:avLst/>
          </a:prstGeom>
          <a:noFill/>
          <a:ln w="9525">
            <a:noFill/>
            <a:miter lim="800000"/>
          </a:ln>
        </p:spPr>
        <p:txBody>
          <a:bodyPr/>
          <a:lstStyle/>
          <a:p>
            <a:pPr>
              <a:lnSpc>
                <a:spcPct val="90000"/>
              </a:lnSpc>
              <a:spcBef>
                <a:spcPct val="20000"/>
              </a:spcBef>
              <a:buClr>
                <a:schemeClr val="folHlink"/>
              </a:buClr>
              <a:buSzPct val="75000"/>
              <a:buFont typeface="Wingdings" panose="05000000000000000000" pitchFamily="2" charset="2"/>
              <a:buNone/>
            </a:pPr>
            <a:r>
              <a:rPr lang="zh-CN" altLang="en-US" dirty="0"/>
              <a:t>启发式规则在一般情况下适用，但不一定保证获得最优执行计划。（试运行、</a:t>
            </a:r>
            <a:r>
              <a:rPr lang="en-US" altLang="zh-CN" dirty="0"/>
              <a:t>DBA</a:t>
            </a:r>
            <a:r>
              <a:rPr lang="zh-CN" altLang="en-US" dirty="0"/>
              <a:t>性能调整）</a:t>
            </a:r>
          </a:p>
          <a:p>
            <a:pPr>
              <a:lnSpc>
                <a:spcPct val="90000"/>
              </a:lnSpc>
              <a:spcBef>
                <a:spcPct val="20000"/>
              </a:spcBef>
              <a:buClr>
                <a:schemeClr val="folHlink"/>
              </a:buClr>
              <a:buSzPct val="75000"/>
              <a:buFont typeface="Wingdings" panose="05000000000000000000" pitchFamily="2" charset="2"/>
              <a:buNone/>
            </a:pPr>
            <a:endParaRPr lang="zh-CN" altLang="en-US" dirty="0"/>
          </a:p>
          <a:p>
            <a:pPr>
              <a:lnSpc>
                <a:spcPct val="90000"/>
              </a:lnSpc>
              <a:spcBef>
                <a:spcPct val="20000"/>
              </a:spcBef>
              <a:buClr>
                <a:schemeClr val="folHlink"/>
              </a:buClr>
              <a:buSzPct val="75000"/>
              <a:buFont typeface="Wingdings" panose="05000000000000000000" pitchFamily="2" charset="2"/>
              <a:buNone/>
            </a:pPr>
            <a:r>
              <a:rPr lang="zh-CN" altLang="en-US" dirty="0"/>
              <a:t>     和启发式方法类似的其他解决方法：</a:t>
            </a:r>
          </a:p>
          <a:p>
            <a:pPr>
              <a:lnSpc>
                <a:spcPct val="90000"/>
              </a:lnSpc>
              <a:spcBef>
                <a:spcPct val="20000"/>
              </a:spcBef>
              <a:buClr>
                <a:schemeClr val="folHlink"/>
              </a:buClr>
              <a:buSzPct val="75000"/>
              <a:buFont typeface="Wingdings" panose="05000000000000000000" pitchFamily="2" charset="2"/>
              <a:buNone/>
            </a:pPr>
            <a:r>
              <a:rPr lang="zh-CN" altLang="en-US" dirty="0"/>
              <a:t>          贪婪算法、遗传算法。。。</a:t>
            </a:r>
          </a:p>
          <a:p>
            <a:pPr>
              <a:lnSpc>
                <a:spcPct val="90000"/>
              </a:lnSpc>
              <a:spcBef>
                <a:spcPct val="20000"/>
              </a:spcBef>
              <a:buClr>
                <a:schemeClr val="folHlink"/>
              </a:buClr>
              <a:buSzPct val="75000"/>
              <a:buFont typeface="Wingdings" panose="05000000000000000000" pitchFamily="2" charset="2"/>
              <a:buNone/>
            </a:pPr>
            <a:r>
              <a:rPr lang="zh-CN" altLang="en-US" dirty="0"/>
              <a:t>     其思想都是类似</a:t>
            </a:r>
            <a:r>
              <a:rPr lang="en-US" altLang="zh-CN" dirty="0">
                <a:latin typeface="Times New Roman" panose="02020603050405020304" pitchFamily="18" charset="0"/>
              </a:rPr>
              <a:t>——</a:t>
            </a:r>
            <a:r>
              <a:rPr lang="zh-CN" altLang="en-US" dirty="0"/>
              <a:t>求近似最优解。</a:t>
            </a:r>
          </a:p>
          <a:p>
            <a:pPr>
              <a:lnSpc>
                <a:spcPct val="90000"/>
              </a:lnSpc>
              <a:spcBef>
                <a:spcPct val="20000"/>
              </a:spcBef>
              <a:buClr>
                <a:schemeClr val="folHlink"/>
              </a:buClr>
              <a:buSzPct val="75000"/>
              <a:buFont typeface="Wingdings" panose="05000000000000000000" pitchFamily="2" charset="2"/>
              <a:buNone/>
            </a:pPr>
            <a:endParaRPr lang="en-US" altLang="zh-CN" dirty="0"/>
          </a:p>
          <a:p>
            <a:pPr>
              <a:lnSpc>
                <a:spcPct val="90000"/>
              </a:lnSpc>
              <a:spcBef>
                <a:spcPct val="20000"/>
              </a:spcBef>
              <a:buClr>
                <a:schemeClr val="folHlink"/>
              </a:buClr>
              <a:buSzPct val="75000"/>
              <a:buFont typeface="Wingdings" panose="05000000000000000000" pitchFamily="2" charset="2"/>
              <a:buNone/>
            </a:pPr>
            <a:r>
              <a:rPr lang="zh-CN" altLang="en-US" b="1" dirty="0">
                <a:solidFill>
                  <a:srgbClr val="0000FF"/>
                </a:solidFill>
              </a:rPr>
              <a:t>程序执行方式</a:t>
            </a:r>
            <a:endParaRPr lang="en-US" altLang="zh-CN" b="1" dirty="0">
              <a:solidFill>
                <a:srgbClr val="0000FF"/>
              </a:solidFill>
            </a:endParaRPr>
          </a:p>
          <a:p>
            <a:pPr>
              <a:lnSpc>
                <a:spcPct val="90000"/>
              </a:lnSpc>
              <a:spcBef>
                <a:spcPct val="20000"/>
              </a:spcBef>
              <a:buClr>
                <a:schemeClr val="folHlink"/>
              </a:buClr>
              <a:buSzPct val="75000"/>
              <a:buFont typeface="Wingdings" panose="05000000000000000000" pitchFamily="2" charset="2"/>
              <a:buNone/>
            </a:pPr>
            <a:r>
              <a:rPr lang="zh-CN" altLang="en-US" dirty="0"/>
              <a:t>解释执行：（优化开销包含在查询总开销中），启发式方法</a:t>
            </a:r>
            <a:endParaRPr lang="en-US" altLang="zh-CN" dirty="0"/>
          </a:p>
          <a:p>
            <a:pPr>
              <a:lnSpc>
                <a:spcPct val="90000"/>
              </a:lnSpc>
              <a:spcBef>
                <a:spcPct val="20000"/>
              </a:spcBef>
              <a:buClr>
                <a:schemeClr val="folHlink"/>
              </a:buClr>
              <a:buSzPct val="75000"/>
              <a:buFont typeface="Wingdings" panose="05000000000000000000" pitchFamily="2" charset="2"/>
              <a:buNone/>
            </a:pPr>
            <a:r>
              <a:rPr lang="zh-CN" altLang="en-US" dirty="0"/>
              <a:t>编译执行：基于代价的优化方法、启发式方法。</a:t>
            </a:r>
          </a:p>
        </p:txBody>
      </p:sp>
      <p:sp>
        <p:nvSpPr>
          <p:cNvPr id="3" name="灯片编号占位符 2"/>
          <p:cNvSpPr>
            <a:spLocks noGrp="1"/>
          </p:cNvSpPr>
          <p:nvPr>
            <p:ph type="sldNum" sz="quarter" idx="12"/>
          </p:nvPr>
        </p:nvSpPr>
        <p:spPr/>
        <p:txBody>
          <a:bodyPr/>
          <a:lstStyle/>
          <a:p>
            <a:pPr>
              <a:defRPr/>
            </a:pPr>
            <a:fld id="{3FD2C11A-3E0F-4B3F-92E1-C35A5F8BF507}" type="slidenum">
              <a:rPr lang="zh-CN" altLang="en-US" smtClean="0"/>
              <a:t>78</a:t>
            </a:fld>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3"/>
          <p:cNvSpPr>
            <a:spLocks noGrp="1" noChangeArrowheads="1"/>
          </p:cNvSpPr>
          <p:nvPr>
            <p:ph idx="1"/>
          </p:nvPr>
        </p:nvSpPr>
        <p:spPr>
          <a:xfrm>
            <a:off x="304800" y="895350"/>
            <a:ext cx="8610600" cy="6248400"/>
          </a:xfrm>
        </p:spPr>
        <p:txBody>
          <a:bodyPr/>
          <a:lstStyle/>
          <a:p>
            <a:pPr eaLnBrk="1" hangingPunct="1">
              <a:lnSpc>
                <a:spcPct val="80000"/>
              </a:lnSpc>
              <a:spcBef>
                <a:spcPct val="0"/>
              </a:spcBef>
              <a:buClrTx/>
              <a:buSzTx/>
              <a:buFontTx/>
              <a:buNone/>
            </a:pPr>
            <a:r>
              <a:rPr lang="en-US" altLang="zh-CN" sz="2800" b="1" dirty="0">
                <a:latin typeface="黑体" panose="02010609060101010101" pitchFamily="49" charset="-122"/>
                <a:ea typeface="黑体" panose="02010609060101010101" pitchFamily="49" charset="-122"/>
              </a:rPr>
              <a:t>9.5 </a:t>
            </a:r>
            <a:r>
              <a:rPr lang="zh-CN" altLang="en-US" sz="2800" b="1" dirty="0">
                <a:latin typeface="黑体" panose="02010609060101010101" pitchFamily="49" charset="-122"/>
                <a:ea typeface="黑体" panose="02010609060101010101" pitchFamily="49" charset="-122"/>
              </a:rPr>
              <a:t>查询优化小结</a:t>
            </a:r>
          </a:p>
          <a:p>
            <a:pPr eaLnBrk="1" hangingPunct="1">
              <a:lnSpc>
                <a:spcPct val="80000"/>
              </a:lnSpc>
              <a:spcBef>
                <a:spcPct val="0"/>
              </a:spcBef>
              <a:buClrTx/>
              <a:buSzTx/>
              <a:buFontTx/>
              <a:buChar char="•"/>
            </a:pPr>
            <a:endParaRPr lang="zh-CN" altLang="en-US" sz="2800" dirty="0">
              <a:latin typeface="黑体" panose="02010609060101010101" pitchFamily="49" charset="-122"/>
              <a:ea typeface="黑体" panose="02010609060101010101" pitchFamily="49" charset="-122"/>
            </a:endParaRPr>
          </a:p>
          <a:p>
            <a:pPr eaLnBrk="1" hangingPunct="1">
              <a:lnSpc>
                <a:spcPct val="80000"/>
              </a:lnSpc>
              <a:spcBef>
                <a:spcPct val="0"/>
              </a:spcBef>
              <a:buClrTx/>
              <a:buSzTx/>
            </a:pPr>
            <a:r>
              <a:rPr lang="zh-CN" altLang="en-US" sz="2800" dirty="0"/>
              <a:t>（</a:t>
            </a:r>
            <a:r>
              <a:rPr lang="en-US" altLang="zh-CN" sz="2800" dirty="0"/>
              <a:t>1</a:t>
            </a:r>
            <a:r>
              <a:rPr lang="zh-CN" altLang="en-US" sz="2800" dirty="0"/>
              <a:t>）优化是为了减小查询的代价，包括</a:t>
            </a:r>
            <a:r>
              <a:rPr lang="en-US" altLang="zh-CN" sz="2800" dirty="0"/>
              <a:t>I/O、CPU、</a:t>
            </a:r>
            <a:r>
              <a:rPr lang="zh-CN" altLang="en-US" sz="2800" dirty="0"/>
              <a:t>内存和通信代价，是关系数据库的重要问题。</a:t>
            </a:r>
          </a:p>
          <a:p>
            <a:pPr eaLnBrk="1" hangingPunct="1">
              <a:lnSpc>
                <a:spcPct val="80000"/>
              </a:lnSpc>
              <a:spcBef>
                <a:spcPct val="0"/>
              </a:spcBef>
              <a:buClrTx/>
              <a:buSzTx/>
              <a:buFontTx/>
              <a:buChar char="•"/>
            </a:pPr>
            <a:endParaRPr lang="zh-CN" altLang="en-US" sz="2800" dirty="0"/>
          </a:p>
          <a:p>
            <a:pPr eaLnBrk="1" hangingPunct="1">
              <a:lnSpc>
                <a:spcPct val="80000"/>
              </a:lnSpc>
              <a:spcBef>
                <a:spcPct val="0"/>
              </a:spcBef>
              <a:buClrTx/>
              <a:buSzTx/>
            </a:pPr>
            <a:r>
              <a:rPr lang="zh-CN" altLang="en-US" sz="2800" dirty="0"/>
              <a:t>（</a:t>
            </a:r>
            <a:r>
              <a:rPr lang="en-US" altLang="zh-CN" sz="2800" dirty="0"/>
              <a:t>2</a:t>
            </a:r>
            <a:r>
              <a:rPr lang="zh-CN" altLang="en-US" sz="2800" dirty="0"/>
              <a:t>）导致查询代价较高的一个主要原因是关系代数的笛卡儿积运算。</a:t>
            </a:r>
          </a:p>
          <a:p>
            <a:pPr eaLnBrk="1" hangingPunct="1">
              <a:lnSpc>
                <a:spcPct val="80000"/>
              </a:lnSpc>
              <a:spcBef>
                <a:spcPct val="0"/>
              </a:spcBef>
              <a:buClrTx/>
              <a:buSzTx/>
              <a:buFontTx/>
              <a:buChar char="•"/>
            </a:pPr>
            <a:endParaRPr lang="zh-CN" altLang="en-US" sz="2800" dirty="0"/>
          </a:p>
          <a:p>
            <a:pPr eaLnBrk="1" hangingPunct="1">
              <a:lnSpc>
                <a:spcPct val="80000"/>
              </a:lnSpc>
              <a:spcBef>
                <a:spcPct val="0"/>
              </a:spcBef>
              <a:buClrTx/>
              <a:buSzTx/>
            </a:pPr>
            <a:r>
              <a:rPr lang="zh-CN" altLang="en-US" sz="2800" dirty="0"/>
              <a:t>（</a:t>
            </a:r>
            <a:r>
              <a:rPr lang="en-US" altLang="zh-CN" sz="2800" dirty="0"/>
              <a:t>3</a:t>
            </a:r>
            <a:r>
              <a:rPr lang="zh-CN" altLang="en-US" sz="2800" dirty="0"/>
              <a:t>）理解优化的问题需要先了解关系操作的执行过程。</a:t>
            </a:r>
          </a:p>
        </p:txBody>
      </p:sp>
      <p:sp>
        <p:nvSpPr>
          <p:cNvPr id="3" name="灯片编号占位符 2"/>
          <p:cNvSpPr>
            <a:spLocks noGrp="1"/>
          </p:cNvSpPr>
          <p:nvPr>
            <p:ph type="sldNum" sz="quarter" idx="12"/>
          </p:nvPr>
        </p:nvSpPr>
        <p:spPr/>
        <p:txBody>
          <a:bodyPr/>
          <a:lstStyle/>
          <a:p>
            <a:pPr>
              <a:defRPr/>
            </a:pPr>
            <a:fld id="{AF44F3CC-A5CA-4727-BEFF-36724F964547}" type="slidenum">
              <a:rPr lang="zh-CN" altLang="en-US" smtClean="0"/>
              <a:t>79</a:t>
            </a:fld>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ext Box 4"/>
          <p:cNvSpPr txBox="1">
            <a:spLocks noChangeArrowheads="1"/>
          </p:cNvSpPr>
          <p:nvPr/>
        </p:nvSpPr>
        <p:spPr bwMode="auto">
          <a:xfrm>
            <a:off x="376238" y="669925"/>
            <a:ext cx="8372475" cy="5262979"/>
          </a:xfrm>
          <a:prstGeom prst="rect">
            <a:avLst/>
          </a:prstGeom>
          <a:noFill/>
          <a:ln w="9525">
            <a:noFill/>
            <a:miter lim="800000"/>
          </a:ln>
        </p:spPr>
        <p:txBody>
          <a:bodyPr>
            <a:spAutoFit/>
          </a:bodyPr>
          <a:lstStyle/>
          <a:p>
            <a:pPr>
              <a:lnSpc>
                <a:spcPct val="150000"/>
              </a:lnSpc>
            </a:pPr>
            <a:r>
              <a:rPr lang="zh-CN" altLang="en-US" sz="2800" dirty="0"/>
              <a:t>查询优化的过程：</a:t>
            </a:r>
          </a:p>
          <a:p>
            <a:pPr>
              <a:lnSpc>
                <a:spcPct val="150000"/>
              </a:lnSpc>
              <a:buClr>
                <a:schemeClr val="tx1"/>
              </a:buClr>
              <a:buFont typeface="Arial" panose="020B0604020202020204" pitchFamily="34" charset="0"/>
              <a:buChar char="•"/>
            </a:pPr>
            <a:r>
              <a:rPr lang="zh-CN" altLang="en-US" sz="2800" dirty="0">
                <a:solidFill>
                  <a:srgbClr val="FF0000"/>
                </a:solidFill>
              </a:rPr>
              <a:t>查询树</a:t>
            </a:r>
            <a:r>
              <a:rPr lang="zh-CN" altLang="en-US" sz="2800" dirty="0"/>
              <a:t>经过变形后得到</a:t>
            </a:r>
            <a:r>
              <a:rPr lang="zh-CN" altLang="en-US" sz="2800" dirty="0">
                <a:solidFill>
                  <a:srgbClr val="FF0000"/>
                </a:solidFill>
              </a:rPr>
              <a:t>语法树</a:t>
            </a:r>
            <a:r>
              <a:rPr lang="zh-CN" altLang="en-US" sz="2800" dirty="0"/>
              <a:t>，</a:t>
            </a:r>
            <a:endParaRPr lang="en-US" altLang="zh-CN" sz="2800" dirty="0"/>
          </a:p>
          <a:p>
            <a:pPr>
              <a:lnSpc>
                <a:spcPct val="150000"/>
              </a:lnSpc>
              <a:buFont typeface="Arial" panose="020B0604020202020204" pitchFamily="34" charset="0"/>
              <a:buChar char="•"/>
            </a:pPr>
            <a:r>
              <a:rPr lang="zh-CN" altLang="en-US" sz="2800" dirty="0"/>
              <a:t>然后根据代数优化的启发式规则对语法树进行</a:t>
            </a:r>
            <a:r>
              <a:rPr lang="zh-CN" altLang="en-US" sz="2800" dirty="0">
                <a:solidFill>
                  <a:srgbClr val="FF0000"/>
                </a:solidFill>
              </a:rPr>
              <a:t>逻辑优化</a:t>
            </a:r>
            <a:r>
              <a:rPr lang="zh-CN" altLang="en-US" sz="2800" dirty="0"/>
              <a:t>，</a:t>
            </a:r>
            <a:endParaRPr lang="en-US" altLang="zh-CN" sz="2800" dirty="0"/>
          </a:p>
          <a:p>
            <a:pPr>
              <a:lnSpc>
                <a:spcPct val="150000"/>
              </a:lnSpc>
              <a:buFont typeface="Arial" panose="020B0604020202020204" pitchFamily="34" charset="0"/>
              <a:buChar char="•"/>
            </a:pPr>
            <a:r>
              <a:rPr lang="zh-CN" altLang="en-US" sz="2800" dirty="0"/>
              <a:t>再考虑存取路径、底层操作算法的不同，根据</a:t>
            </a:r>
            <a:r>
              <a:rPr lang="zh-CN" altLang="en-US" sz="2800" dirty="0">
                <a:solidFill>
                  <a:srgbClr val="FF0000"/>
                </a:solidFill>
              </a:rPr>
              <a:t>物理操作的启发式规则</a:t>
            </a:r>
            <a:r>
              <a:rPr lang="zh-CN" altLang="en-US" sz="2800" dirty="0"/>
              <a:t>提出多种</a:t>
            </a:r>
            <a:r>
              <a:rPr lang="zh-CN" altLang="en-US" sz="2800" dirty="0">
                <a:solidFill>
                  <a:srgbClr val="FF0000"/>
                </a:solidFill>
              </a:rPr>
              <a:t>查询计划</a:t>
            </a:r>
            <a:r>
              <a:rPr lang="zh-CN" altLang="en-US" sz="2800" dirty="0"/>
              <a:t>，</a:t>
            </a:r>
            <a:endParaRPr lang="en-US" altLang="zh-CN" sz="2800" dirty="0"/>
          </a:p>
          <a:p>
            <a:pPr>
              <a:lnSpc>
                <a:spcPct val="150000"/>
              </a:lnSpc>
              <a:buFont typeface="Arial" panose="020B0604020202020204" pitchFamily="34" charset="0"/>
              <a:buChar char="•"/>
            </a:pPr>
            <a:r>
              <a:rPr lang="zh-CN" altLang="en-US" sz="2800" dirty="0"/>
              <a:t>然后可根据某种</a:t>
            </a:r>
            <a:r>
              <a:rPr lang="zh-CN" altLang="en-US" sz="2800" dirty="0">
                <a:solidFill>
                  <a:srgbClr val="FF0000"/>
                </a:solidFill>
              </a:rPr>
              <a:t>代价模型评估</a:t>
            </a:r>
            <a:r>
              <a:rPr lang="zh-CN" altLang="en-US" sz="2800" dirty="0"/>
              <a:t>这些查询计划的执行代价，从中选取评估结果最小的作为</a:t>
            </a:r>
            <a:r>
              <a:rPr lang="zh-CN" altLang="en-US" sz="2800" dirty="0">
                <a:solidFill>
                  <a:srgbClr val="FF0000"/>
                </a:solidFill>
              </a:rPr>
              <a:t>执行计划</a:t>
            </a:r>
            <a:r>
              <a:rPr lang="zh-CN" altLang="en-US" sz="2800" dirty="0"/>
              <a:t>。</a:t>
            </a:r>
          </a:p>
        </p:txBody>
      </p:sp>
      <p:sp>
        <p:nvSpPr>
          <p:cNvPr id="3" name="灯片编号占位符 2"/>
          <p:cNvSpPr>
            <a:spLocks noGrp="1"/>
          </p:cNvSpPr>
          <p:nvPr>
            <p:ph type="sldNum" sz="quarter" idx="12"/>
          </p:nvPr>
        </p:nvSpPr>
        <p:spPr/>
        <p:txBody>
          <a:bodyPr/>
          <a:lstStyle/>
          <a:p>
            <a:pPr>
              <a:defRPr/>
            </a:pPr>
            <a:fld id="{1FC0B8A2-DB04-45B2-991B-28C778E0174A}" type="slidenum">
              <a:rPr lang="zh-CN" altLang="en-US" smtClean="0"/>
              <a:t>80</a:t>
            </a:fld>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548680"/>
            <a:ext cx="8229600" cy="707926"/>
          </a:xfrm>
        </p:spPr>
        <p:txBody>
          <a:bodyPr/>
          <a:lstStyle/>
          <a:p>
            <a:r>
              <a:rPr lang="en-US" altLang="zh-CN" dirty="0"/>
              <a:t>DBMS</a:t>
            </a:r>
            <a:r>
              <a:rPr lang="zh-CN" altLang="en-US" dirty="0"/>
              <a:t>查询优化器</a:t>
            </a:r>
          </a:p>
        </p:txBody>
      </p:sp>
      <p:sp>
        <p:nvSpPr>
          <p:cNvPr id="4" name="内容占位符 3"/>
          <p:cNvSpPr>
            <a:spLocks noGrp="1"/>
          </p:cNvSpPr>
          <p:nvPr>
            <p:ph idx="1"/>
          </p:nvPr>
        </p:nvSpPr>
        <p:spPr>
          <a:xfrm>
            <a:off x="395536" y="1196752"/>
            <a:ext cx="8352928" cy="3600400"/>
          </a:xfrm>
        </p:spPr>
        <p:txBody>
          <a:bodyPr/>
          <a:lstStyle/>
          <a:p>
            <a:r>
              <a:rPr lang="zh-CN" altLang="en-US" sz="2400" dirty="0"/>
              <a:t>    成熟的关系</a:t>
            </a:r>
            <a:r>
              <a:rPr lang="en-US" altLang="zh-CN" sz="2400" dirty="0"/>
              <a:t>DBMS</a:t>
            </a:r>
            <a:r>
              <a:rPr lang="zh-CN" altLang="en-US" sz="2400" dirty="0"/>
              <a:t>系统都有比较好的优化器，包括一些开源的</a:t>
            </a:r>
            <a:r>
              <a:rPr lang="en-US" altLang="zh-CN" sz="2400" dirty="0"/>
              <a:t>RDBMS</a:t>
            </a:r>
            <a:r>
              <a:rPr lang="zh-CN" altLang="en-US" sz="2400" dirty="0"/>
              <a:t>都有比较好的查询优化算法。</a:t>
            </a:r>
            <a:endParaRPr lang="en-US" altLang="zh-CN" sz="2400" dirty="0"/>
          </a:p>
          <a:p>
            <a:r>
              <a:rPr lang="en-US" altLang="zh-CN" sz="2400" dirty="0"/>
              <a:t>1</a:t>
            </a:r>
            <a:r>
              <a:rPr lang="zh-CN" altLang="en-US" sz="2400" dirty="0"/>
              <a:t>）</a:t>
            </a:r>
            <a:r>
              <a:rPr lang="zh-CN" altLang="en-US" sz="2400" dirty="0">
                <a:solidFill>
                  <a:srgbClr val="FF0000"/>
                </a:solidFill>
              </a:rPr>
              <a:t>优化器可以综合的考虑</a:t>
            </a:r>
            <a:r>
              <a:rPr lang="zh-CN" altLang="en-US" sz="2400" dirty="0"/>
              <a:t>代数表达式等价变换、物理操作的启发式规则、基于数据字典统计信息的代价评估。</a:t>
            </a:r>
            <a:endParaRPr lang="en-US" altLang="zh-CN" sz="2400" dirty="0"/>
          </a:p>
          <a:p>
            <a:r>
              <a:rPr lang="en-US" altLang="zh-CN" sz="2400" dirty="0"/>
              <a:t>2</a:t>
            </a:r>
            <a:r>
              <a:rPr lang="zh-CN" altLang="en-US" sz="2400" dirty="0"/>
              <a:t>）</a:t>
            </a:r>
            <a:r>
              <a:rPr lang="zh-CN" altLang="en-US" sz="2400" dirty="0">
                <a:solidFill>
                  <a:srgbClr val="FF0000"/>
                </a:solidFill>
              </a:rPr>
              <a:t>出色的优化器</a:t>
            </a:r>
            <a:r>
              <a:rPr lang="zh-CN" altLang="en-US" sz="2400" dirty="0"/>
              <a:t>可以设计更好的启发式优化算法、更精准的代价评估模型，有助于高效寻找到开销更小的执行方案。</a:t>
            </a:r>
            <a:endParaRPr lang="en-US" altLang="zh-CN" sz="2400" dirty="0"/>
          </a:p>
          <a:p>
            <a:r>
              <a:rPr lang="en-US" altLang="zh-CN" sz="2400" dirty="0"/>
              <a:t>3</a:t>
            </a:r>
            <a:r>
              <a:rPr lang="zh-CN" altLang="en-US" sz="2400" dirty="0"/>
              <a:t>）影响代价评估的数据逻辑与物理分布等统计信息，</a:t>
            </a:r>
            <a:r>
              <a:rPr lang="zh-CN" altLang="en-US" sz="2400" dirty="0">
                <a:solidFill>
                  <a:srgbClr val="FF0000"/>
                </a:solidFill>
              </a:rPr>
              <a:t>只有</a:t>
            </a:r>
            <a:r>
              <a:rPr lang="en-US" altLang="zh-CN" sz="2400" dirty="0">
                <a:solidFill>
                  <a:srgbClr val="FF0000"/>
                </a:solidFill>
              </a:rPr>
              <a:t>DBMS</a:t>
            </a:r>
            <a:r>
              <a:rPr lang="zh-CN" altLang="en-US" sz="2400" dirty="0">
                <a:solidFill>
                  <a:srgbClr val="FF0000"/>
                </a:solidFill>
              </a:rPr>
              <a:t>内部才能获得最贴近真实情况的数据</a:t>
            </a:r>
            <a:r>
              <a:rPr lang="zh-CN" altLang="en-US" sz="2400" dirty="0"/>
              <a:t>，并及时更新。</a:t>
            </a:r>
            <a:endParaRPr lang="en-US" altLang="zh-CN" sz="2400" dirty="0"/>
          </a:p>
        </p:txBody>
      </p:sp>
      <p:sp>
        <p:nvSpPr>
          <p:cNvPr id="2" name="灯片编号占位符 1"/>
          <p:cNvSpPr>
            <a:spLocks noGrp="1"/>
          </p:cNvSpPr>
          <p:nvPr>
            <p:ph type="sldNum" sz="quarter" idx="12"/>
          </p:nvPr>
        </p:nvSpPr>
        <p:spPr/>
        <p:txBody>
          <a:bodyPr/>
          <a:lstStyle/>
          <a:p>
            <a:pPr>
              <a:defRPr/>
            </a:pPr>
            <a:fld id="{8B143BE3-1044-4DAC-B965-3803392DBF80}" type="slidenum">
              <a:rPr lang="zh-CN" altLang="en-US" smtClean="0"/>
              <a:t>81</a:t>
            </a:fld>
            <a:endParaRPr lang="en-US" altLang="zh-CN"/>
          </a:p>
        </p:txBody>
      </p:sp>
      <p:sp>
        <p:nvSpPr>
          <p:cNvPr id="5" name="圆角矩形标注 4"/>
          <p:cNvSpPr/>
          <p:nvPr/>
        </p:nvSpPr>
        <p:spPr>
          <a:xfrm>
            <a:off x="827584" y="5013176"/>
            <a:ext cx="1728192" cy="864096"/>
          </a:xfrm>
          <a:prstGeom prst="wedgeRoundRectCallout">
            <a:avLst>
              <a:gd name="adj1" fmla="val -46875"/>
              <a:gd name="adj2" fmla="val -9953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遗传算法</a:t>
            </a:r>
          </a:p>
        </p:txBody>
      </p:sp>
      <p:sp>
        <p:nvSpPr>
          <p:cNvPr id="6" name="圆角矩形标注 5"/>
          <p:cNvSpPr/>
          <p:nvPr/>
        </p:nvSpPr>
        <p:spPr>
          <a:xfrm>
            <a:off x="3203848" y="5013176"/>
            <a:ext cx="1728192" cy="864096"/>
          </a:xfrm>
          <a:prstGeom prst="wedgeRoundRectCallout">
            <a:avLst>
              <a:gd name="adj1" fmla="val -46875"/>
              <a:gd name="adj2" fmla="val -9953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人工智能</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82</a:t>
            </a:fld>
            <a:endParaRPr lang="en-US" altLang="zh-CN"/>
          </a:p>
        </p:txBody>
      </p:sp>
      <p:sp>
        <p:nvSpPr>
          <p:cNvPr id="23" name="文本占位符 2"/>
          <p:cNvSpPr txBox="1"/>
          <p:nvPr/>
        </p:nvSpPr>
        <p:spPr>
          <a:xfrm>
            <a:off x="321824" y="1113818"/>
            <a:ext cx="7096974" cy="540000"/>
          </a:xfrm>
          <a:prstGeom prst="rect">
            <a:avLst/>
          </a:prstGeom>
        </p:spPr>
        <p:txBody>
          <a:bodyPr vert="horz" lIns="0" tIns="45720" rIns="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3200" b="0" kern="1200">
                <a:solidFill>
                  <a:schemeClr val="bg1"/>
                </a:solidFill>
                <a:latin typeface="微软雅黑" panose="020B0503020204020204" charset="-122"/>
                <a:ea typeface="微软雅黑" panose="020B050302020402020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Calibri" panose="020F050202020403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Calibri" panose="020F050202020403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Calibri" panose="020F050202020403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anose="020F0502020204030204" pitchFamily="34" charset="0"/>
              <a:buNone/>
              <a:defRPr sz="1600" b="1"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anose="020F0502020204030204" pitchFamily="34" charset="0"/>
              <a:buNone/>
              <a:defRPr sz="1600" b="1"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anose="020F0502020204030204" pitchFamily="34" charset="0"/>
              <a:buNone/>
              <a:defRPr sz="1600" b="1"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anose="020F0502020204030204" pitchFamily="34" charset="0"/>
              <a:buNone/>
              <a:defRPr sz="1600" b="1" kern="1200">
                <a:solidFill>
                  <a:schemeClr val="tx1">
                    <a:lumMod val="75000"/>
                    <a:lumOff val="25000"/>
                  </a:schemeClr>
                </a:solidFill>
                <a:latin typeface="+mn-lt"/>
                <a:ea typeface="+mn-ea"/>
                <a:cs typeface="+mn-cs"/>
              </a:defRPr>
            </a:lvl9pPr>
          </a:lstStyle>
          <a:p>
            <a:pPr marL="0" marR="0" lvl="0" indent="0" algn="l" defTabSz="914400" rtl="0" eaLnBrk="1" fontAlgn="auto" latinLnBrk="0" hangingPunct="1">
              <a:lnSpc>
                <a:spcPct val="90000"/>
              </a:lnSpc>
              <a:spcBef>
                <a:spcPts val="1200"/>
              </a:spcBef>
              <a:spcAft>
                <a:spcPts val="200"/>
              </a:spcAft>
              <a:buClr>
                <a:srgbClr val="E48312"/>
              </a:buClr>
              <a:buSzPct val="100000"/>
              <a:buFont typeface="Calibri" panose="020F0502020204030204" pitchFamily="34" charset="0"/>
              <a:buNone/>
              <a:defRPr/>
            </a:pPr>
            <a:r>
              <a:rPr kumimoji="0" lang="en-US" altLang="zh-CN" sz="28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openGauss </a:t>
            </a:r>
            <a:r>
              <a:rPr kumimoji="0" lang="zh-CN" altLang="en-US" sz="28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行存</a:t>
            </a:r>
            <a:r>
              <a:rPr kumimoji="0" lang="en-US" altLang="zh-CN" sz="28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&amp;</a:t>
            </a:r>
            <a:r>
              <a:rPr kumimoji="0" lang="zh-CN" altLang="en-US" sz="28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列存</a:t>
            </a:r>
          </a:p>
        </p:txBody>
      </p:sp>
      <p:graphicFrame>
        <p:nvGraphicFramePr>
          <p:cNvPr id="24" name="Table 5"/>
          <p:cNvGraphicFramePr>
            <a:graphicFrameLocks noGrp="1"/>
          </p:cNvGraphicFramePr>
          <p:nvPr/>
        </p:nvGraphicFramePr>
        <p:xfrm>
          <a:off x="539387" y="1969244"/>
          <a:ext cx="3865608" cy="1818942"/>
        </p:xfrm>
        <a:graphic>
          <a:graphicData uri="http://schemas.openxmlformats.org/drawingml/2006/table">
            <a:tbl>
              <a:tblPr/>
              <a:tblGrid>
                <a:gridCol w="1224274">
                  <a:extLst>
                    <a:ext uri="{9D8B030D-6E8A-4147-A177-3AD203B41FA5}">
                      <a16:colId xmlns:a16="http://schemas.microsoft.com/office/drawing/2014/main" val="20000"/>
                    </a:ext>
                  </a:extLst>
                </a:gridCol>
                <a:gridCol w="1124204">
                  <a:extLst>
                    <a:ext uri="{9D8B030D-6E8A-4147-A177-3AD203B41FA5}">
                      <a16:colId xmlns:a16="http://schemas.microsoft.com/office/drawing/2014/main" val="20001"/>
                    </a:ext>
                  </a:extLst>
                </a:gridCol>
                <a:gridCol w="1517130">
                  <a:extLst>
                    <a:ext uri="{9D8B030D-6E8A-4147-A177-3AD203B41FA5}">
                      <a16:colId xmlns:a16="http://schemas.microsoft.com/office/drawing/2014/main" val="20002"/>
                    </a:ext>
                  </a:extLst>
                </a:gridCol>
              </a:tblGrid>
              <a:tr h="289202">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rgbClr val="FFFFFF"/>
                          </a:solidFill>
                          <a:effectLst/>
                          <a:latin typeface="Gill Sans MT" pitchFamily="32" charset="0"/>
                          <a:ea typeface="宋体" panose="02010600030101010101" pitchFamily="2" charset="-122"/>
                          <a:cs typeface="Arial" panose="020B0604020202020204" pitchFamily="34" charset="0"/>
                        </a:rPr>
                        <a:t>Cust_no</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rgbClr val="FFFFFF"/>
                          </a:solidFill>
                          <a:effectLst/>
                          <a:latin typeface="Gill Sans MT" pitchFamily="32" charset="0"/>
                          <a:ea typeface="宋体" panose="02010600030101010101" pitchFamily="2" charset="-122"/>
                          <a:cs typeface="Arial" panose="020B0604020202020204" pitchFamily="34" charset="0"/>
                        </a:rPr>
                        <a:t>Seat_id</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rgbClr val="FFFFFF"/>
                          </a:solidFill>
                          <a:effectLst/>
                          <a:latin typeface="Gill Sans MT" pitchFamily="32" charset="0"/>
                          <a:ea typeface="宋体" panose="02010600030101010101" pitchFamily="2" charset="-122"/>
                          <a:cs typeface="Arial" panose="020B0604020202020204" pitchFamily="34" charset="0"/>
                        </a:rPr>
                        <a:t>Birth_date</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extLst>
                  <a:ext uri="{0D108BD9-81ED-4DB2-BD59-A6C34878D82A}">
                    <a16:rowId xmlns:a16="http://schemas.microsoft.com/office/drawing/2014/main" val="10000"/>
                  </a:ext>
                </a:extLst>
              </a:tr>
              <a:tr h="474234">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1_3A</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2003-05-01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74234">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1_3B</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2002-02-01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74234">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3</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1_3C</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2002-05-01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3"/>
                  </a:ext>
                </a:extLst>
              </a:tr>
            </a:tbl>
          </a:graphicData>
        </a:graphic>
      </p:graphicFrame>
      <p:sp>
        <p:nvSpPr>
          <p:cNvPr id="25" name="流程图: 磁盘 24"/>
          <p:cNvSpPr/>
          <p:nvPr/>
        </p:nvSpPr>
        <p:spPr>
          <a:xfrm>
            <a:off x="4622557" y="1247092"/>
            <a:ext cx="4383622" cy="2003457"/>
          </a:xfrm>
          <a:prstGeom prst="flowChartMagneticDisk">
            <a:avLst/>
          </a:prstGeom>
          <a:solidFill>
            <a:srgbClr val="E48312"/>
          </a:solidFill>
          <a:ln w="15875" cap="flat" cmpd="sng" algn="ctr">
            <a:solidFill>
              <a:srgbClr val="E4831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aphicFrame>
        <p:nvGraphicFramePr>
          <p:cNvPr id="26" name="Table 5"/>
          <p:cNvGraphicFramePr>
            <a:graphicFrameLocks noGrp="1"/>
          </p:cNvGraphicFramePr>
          <p:nvPr/>
        </p:nvGraphicFramePr>
        <p:xfrm>
          <a:off x="4947888" y="1904645"/>
          <a:ext cx="3698185" cy="335280"/>
        </p:xfrm>
        <a:graphic>
          <a:graphicData uri="http://schemas.openxmlformats.org/drawingml/2006/table">
            <a:tbl>
              <a:tblPr/>
              <a:tblGrid>
                <a:gridCol w="744832">
                  <a:extLst>
                    <a:ext uri="{9D8B030D-6E8A-4147-A177-3AD203B41FA5}">
                      <a16:colId xmlns:a16="http://schemas.microsoft.com/office/drawing/2014/main" val="20000"/>
                    </a:ext>
                  </a:extLst>
                </a:gridCol>
                <a:gridCol w="844093">
                  <a:extLst>
                    <a:ext uri="{9D8B030D-6E8A-4147-A177-3AD203B41FA5}">
                      <a16:colId xmlns:a16="http://schemas.microsoft.com/office/drawing/2014/main" val="20001"/>
                    </a:ext>
                  </a:extLst>
                </a:gridCol>
                <a:gridCol w="2109260">
                  <a:extLst>
                    <a:ext uri="{9D8B030D-6E8A-4147-A177-3AD203B41FA5}">
                      <a16:colId xmlns:a16="http://schemas.microsoft.com/office/drawing/2014/main" val="20002"/>
                    </a:ext>
                  </a:extLst>
                </a:gridCol>
              </a:tblGrid>
              <a:tr h="321579">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1_3A</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2003-05-01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0"/>
                  </a:ext>
                </a:extLst>
              </a:tr>
            </a:tbl>
          </a:graphicData>
        </a:graphic>
      </p:graphicFrame>
      <p:graphicFrame>
        <p:nvGraphicFramePr>
          <p:cNvPr id="27" name="Table 5"/>
          <p:cNvGraphicFramePr>
            <a:graphicFrameLocks noGrp="1"/>
          </p:cNvGraphicFramePr>
          <p:nvPr/>
        </p:nvGraphicFramePr>
        <p:xfrm>
          <a:off x="4947888" y="2714579"/>
          <a:ext cx="3698185" cy="335280"/>
        </p:xfrm>
        <a:graphic>
          <a:graphicData uri="http://schemas.openxmlformats.org/drawingml/2006/table">
            <a:tbl>
              <a:tblPr/>
              <a:tblGrid>
                <a:gridCol w="744832">
                  <a:extLst>
                    <a:ext uri="{9D8B030D-6E8A-4147-A177-3AD203B41FA5}">
                      <a16:colId xmlns:a16="http://schemas.microsoft.com/office/drawing/2014/main" val="20000"/>
                    </a:ext>
                  </a:extLst>
                </a:gridCol>
                <a:gridCol w="844093">
                  <a:extLst>
                    <a:ext uri="{9D8B030D-6E8A-4147-A177-3AD203B41FA5}">
                      <a16:colId xmlns:a16="http://schemas.microsoft.com/office/drawing/2014/main" val="20001"/>
                    </a:ext>
                  </a:extLst>
                </a:gridCol>
                <a:gridCol w="2109260">
                  <a:extLst>
                    <a:ext uri="{9D8B030D-6E8A-4147-A177-3AD203B41FA5}">
                      <a16:colId xmlns:a16="http://schemas.microsoft.com/office/drawing/2014/main" val="20002"/>
                    </a:ext>
                  </a:extLst>
                </a:gridCol>
              </a:tblGrid>
              <a:tr h="333340">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3</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1_3C</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2002-05-01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graphicFrame>
        <p:nvGraphicFramePr>
          <p:cNvPr id="28" name="Table 5"/>
          <p:cNvGraphicFramePr>
            <a:graphicFrameLocks noGrp="1"/>
          </p:cNvGraphicFramePr>
          <p:nvPr/>
        </p:nvGraphicFramePr>
        <p:xfrm>
          <a:off x="4947888" y="2313892"/>
          <a:ext cx="3698185" cy="335280"/>
        </p:xfrm>
        <a:graphic>
          <a:graphicData uri="http://schemas.openxmlformats.org/drawingml/2006/table">
            <a:tbl>
              <a:tblPr/>
              <a:tblGrid>
                <a:gridCol w="744832">
                  <a:extLst>
                    <a:ext uri="{9D8B030D-6E8A-4147-A177-3AD203B41FA5}">
                      <a16:colId xmlns:a16="http://schemas.microsoft.com/office/drawing/2014/main" val="20000"/>
                    </a:ext>
                  </a:extLst>
                </a:gridCol>
                <a:gridCol w="844093">
                  <a:extLst>
                    <a:ext uri="{9D8B030D-6E8A-4147-A177-3AD203B41FA5}">
                      <a16:colId xmlns:a16="http://schemas.microsoft.com/office/drawing/2014/main" val="20001"/>
                    </a:ext>
                  </a:extLst>
                </a:gridCol>
                <a:gridCol w="2109260">
                  <a:extLst>
                    <a:ext uri="{9D8B030D-6E8A-4147-A177-3AD203B41FA5}">
                      <a16:colId xmlns:a16="http://schemas.microsoft.com/office/drawing/2014/main" val="20002"/>
                    </a:ext>
                  </a:extLst>
                </a:gridCol>
              </a:tblGrid>
              <a:tr h="333340">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1_3B</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2002-02-01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sp>
        <p:nvSpPr>
          <p:cNvPr id="29" name="流程图: 磁盘 28"/>
          <p:cNvSpPr/>
          <p:nvPr/>
        </p:nvSpPr>
        <p:spPr>
          <a:xfrm>
            <a:off x="6183880" y="3277456"/>
            <a:ext cx="2904139" cy="2671824"/>
          </a:xfrm>
          <a:prstGeom prst="flowChartMagneticDisk">
            <a:avLst/>
          </a:prstGeom>
          <a:solidFill>
            <a:srgbClr val="E48312"/>
          </a:solidFill>
          <a:ln w="15875" cap="flat" cmpd="sng" algn="ctr">
            <a:solidFill>
              <a:srgbClr val="E4831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aphicFrame>
        <p:nvGraphicFramePr>
          <p:cNvPr id="30" name="Table 5"/>
          <p:cNvGraphicFramePr>
            <a:graphicFrameLocks noGrp="1"/>
          </p:cNvGraphicFramePr>
          <p:nvPr/>
        </p:nvGraphicFramePr>
        <p:xfrm>
          <a:off x="6402676" y="5026161"/>
          <a:ext cx="2284124" cy="579120"/>
        </p:xfrm>
        <a:graphic>
          <a:graphicData uri="http://schemas.openxmlformats.org/drawingml/2006/table">
            <a:tbl>
              <a:tblPr/>
              <a:tblGrid>
                <a:gridCol w="655050">
                  <a:extLst>
                    <a:ext uri="{9D8B030D-6E8A-4147-A177-3AD203B41FA5}">
                      <a16:colId xmlns:a16="http://schemas.microsoft.com/office/drawing/2014/main" val="20000"/>
                    </a:ext>
                  </a:extLst>
                </a:gridCol>
                <a:gridCol w="867370">
                  <a:extLst>
                    <a:ext uri="{9D8B030D-6E8A-4147-A177-3AD203B41FA5}">
                      <a16:colId xmlns:a16="http://schemas.microsoft.com/office/drawing/2014/main" val="20001"/>
                    </a:ext>
                  </a:extLst>
                </a:gridCol>
                <a:gridCol w="761704">
                  <a:extLst>
                    <a:ext uri="{9D8B030D-6E8A-4147-A177-3AD203B41FA5}">
                      <a16:colId xmlns:a16="http://schemas.microsoft.com/office/drawing/2014/main" val="20002"/>
                    </a:ext>
                  </a:extLst>
                </a:gridCol>
              </a:tblGrid>
              <a:tr h="381743">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2003-05-01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2002-02-01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2002-05-01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graphicFrame>
        <p:nvGraphicFramePr>
          <p:cNvPr id="31" name="Table 5"/>
          <p:cNvGraphicFramePr>
            <a:graphicFrameLocks noGrp="1"/>
          </p:cNvGraphicFramePr>
          <p:nvPr/>
        </p:nvGraphicFramePr>
        <p:xfrm>
          <a:off x="6361947" y="4529074"/>
          <a:ext cx="2606100" cy="381743"/>
        </p:xfrm>
        <a:graphic>
          <a:graphicData uri="http://schemas.openxmlformats.org/drawingml/2006/table">
            <a:tbl>
              <a:tblPr/>
              <a:tblGrid>
                <a:gridCol w="730332">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1155688">
                  <a:extLst>
                    <a:ext uri="{9D8B030D-6E8A-4147-A177-3AD203B41FA5}">
                      <a16:colId xmlns:a16="http://schemas.microsoft.com/office/drawing/2014/main" val="20002"/>
                    </a:ext>
                  </a:extLst>
                </a:gridCol>
              </a:tblGrid>
              <a:tr h="381743">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1_3A</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1_3B</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1_3C</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graphicFrame>
        <p:nvGraphicFramePr>
          <p:cNvPr id="32" name="Table 5"/>
          <p:cNvGraphicFramePr>
            <a:graphicFrameLocks noGrp="1"/>
          </p:cNvGraphicFramePr>
          <p:nvPr/>
        </p:nvGraphicFramePr>
        <p:xfrm>
          <a:off x="6361947" y="4031987"/>
          <a:ext cx="2606100" cy="381743"/>
        </p:xfrm>
        <a:graphic>
          <a:graphicData uri="http://schemas.openxmlformats.org/drawingml/2006/table">
            <a:tbl>
              <a:tblPr/>
              <a:tblGrid>
                <a:gridCol w="524881">
                  <a:extLst>
                    <a:ext uri="{9D8B030D-6E8A-4147-A177-3AD203B41FA5}">
                      <a16:colId xmlns:a16="http://schemas.microsoft.com/office/drawing/2014/main" val="20000"/>
                    </a:ext>
                  </a:extLst>
                </a:gridCol>
                <a:gridCol w="594830">
                  <a:extLst>
                    <a:ext uri="{9D8B030D-6E8A-4147-A177-3AD203B41FA5}">
                      <a16:colId xmlns:a16="http://schemas.microsoft.com/office/drawing/2014/main" val="20001"/>
                    </a:ext>
                  </a:extLst>
                </a:gridCol>
                <a:gridCol w="1486389">
                  <a:extLst>
                    <a:ext uri="{9D8B030D-6E8A-4147-A177-3AD203B41FA5}">
                      <a16:colId xmlns:a16="http://schemas.microsoft.com/office/drawing/2014/main" val="20002"/>
                    </a:ext>
                  </a:extLst>
                </a:gridCol>
              </a:tblGrid>
              <a:tr h="381743">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2</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3</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cxnSp>
        <p:nvCxnSpPr>
          <p:cNvPr id="33" name="直接箭头连接符 32"/>
          <p:cNvCxnSpPr/>
          <p:nvPr/>
        </p:nvCxnSpPr>
        <p:spPr>
          <a:xfrm>
            <a:off x="3377302" y="1628800"/>
            <a:ext cx="1245255" cy="0"/>
          </a:xfrm>
          <a:prstGeom prst="straightConnector1">
            <a:avLst/>
          </a:prstGeom>
          <a:noFill/>
          <a:ln w="12700" cap="flat" cmpd="sng" algn="ctr">
            <a:solidFill>
              <a:srgbClr val="E48312"/>
            </a:solidFill>
            <a:prstDash val="solid"/>
            <a:tailEnd type="triangle"/>
          </a:ln>
          <a:effectLst/>
        </p:spPr>
      </p:cxnSp>
      <p:cxnSp>
        <p:nvCxnSpPr>
          <p:cNvPr id="34" name="直接箭头连接符 33"/>
          <p:cNvCxnSpPr/>
          <p:nvPr/>
        </p:nvCxnSpPr>
        <p:spPr>
          <a:xfrm flipV="1">
            <a:off x="3377302" y="4215398"/>
            <a:ext cx="2761909" cy="14923"/>
          </a:xfrm>
          <a:prstGeom prst="straightConnector1">
            <a:avLst/>
          </a:prstGeom>
          <a:noFill/>
          <a:ln w="12700" cap="flat" cmpd="sng" algn="ctr">
            <a:solidFill>
              <a:srgbClr val="E48312"/>
            </a:solidFill>
            <a:prstDash val="solid"/>
            <a:tailEnd type="triangle"/>
          </a:ln>
          <a:effectLst/>
        </p:spPr>
      </p:cxnSp>
      <p:cxnSp>
        <p:nvCxnSpPr>
          <p:cNvPr id="35" name="直接连接符 34"/>
          <p:cNvCxnSpPr/>
          <p:nvPr/>
        </p:nvCxnSpPr>
        <p:spPr>
          <a:xfrm>
            <a:off x="3377302" y="1625916"/>
            <a:ext cx="0" cy="246821"/>
          </a:xfrm>
          <a:prstGeom prst="line">
            <a:avLst/>
          </a:prstGeom>
          <a:noFill/>
          <a:ln w="12700" cap="flat" cmpd="sng" algn="ctr">
            <a:solidFill>
              <a:srgbClr val="E48312"/>
            </a:solidFill>
            <a:prstDash val="solid"/>
          </a:ln>
          <a:effectLst/>
        </p:spPr>
      </p:cxnSp>
      <p:cxnSp>
        <p:nvCxnSpPr>
          <p:cNvPr id="36" name="直接连接符 35"/>
          <p:cNvCxnSpPr/>
          <p:nvPr/>
        </p:nvCxnSpPr>
        <p:spPr>
          <a:xfrm>
            <a:off x="3355043" y="4217961"/>
            <a:ext cx="0" cy="24720"/>
          </a:xfrm>
          <a:prstGeom prst="line">
            <a:avLst/>
          </a:prstGeom>
          <a:noFill/>
          <a:ln w="12700" cap="flat" cmpd="sng" algn="ctr">
            <a:solidFill>
              <a:srgbClr val="E48312"/>
            </a:solidFill>
            <a:prstDash val="solid"/>
          </a:ln>
          <a:effectLst/>
        </p:spPr>
      </p:cxnSp>
      <p:sp>
        <p:nvSpPr>
          <p:cNvPr id="37" name="文本框 36"/>
          <p:cNvSpPr txBox="1"/>
          <p:nvPr/>
        </p:nvSpPr>
        <p:spPr>
          <a:xfrm>
            <a:off x="6180356" y="1317312"/>
            <a:ext cx="1315946" cy="461665"/>
          </a:xfrm>
          <a:prstGeom prst="rect">
            <a:avLst/>
          </a:prstGeom>
          <a:noFill/>
        </p:spPr>
        <p:txBody>
          <a:bodyPr wrap="square" rtlCol="0">
            <a:spAutoFit/>
          </a:bodyPr>
          <a:lstStyle/>
          <a:p>
            <a:pPr fontAlgn="auto">
              <a:spcBef>
                <a:spcPts val="0"/>
              </a:spcBef>
              <a:spcAft>
                <a:spcPts val="0"/>
              </a:spcAft>
            </a:pPr>
            <a:r>
              <a:rPr kumimoji="0" lang="zh-CN" altLang="en-US" dirty="0">
                <a:solidFill>
                  <a:prstClr val="white"/>
                </a:solidFill>
                <a:latin typeface="微软雅黑" panose="020B0503020204020204" charset="-122"/>
                <a:ea typeface="微软雅黑" panose="020B0503020204020204" charset="-122"/>
              </a:rPr>
              <a:t>行存表</a:t>
            </a:r>
            <a:endParaRPr kumimoji="0" lang="en-US" altLang="zh-CN" dirty="0">
              <a:solidFill>
                <a:prstClr val="white"/>
              </a:solidFill>
              <a:latin typeface="微软雅黑" panose="020B0503020204020204" charset="-122"/>
              <a:ea typeface="微软雅黑" panose="020B0503020204020204" charset="-122"/>
            </a:endParaRPr>
          </a:p>
        </p:txBody>
      </p:sp>
      <p:sp>
        <p:nvSpPr>
          <p:cNvPr id="38" name="文本框 37"/>
          <p:cNvSpPr txBox="1"/>
          <p:nvPr/>
        </p:nvSpPr>
        <p:spPr>
          <a:xfrm>
            <a:off x="7772073" y="3367321"/>
            <a:ext cx="1315946" cy="461665"/>
          </a:xfrm>
          <a:prstGeom prst="rect">
            <a:avLst/>
          </a:prstGeom>
          <a:noFill/>
        </p:spPr>
        <p:txBody>
          <a:bodyPr wrap="square" rtlCol="0">
            <a:spAutoFit/>
          </a:bodyPr>
          <a:lstStyle/>
          <a:p>
            <a:pPr fontAlgn="auto">
              <a:spcBef>
                <a:spcPts val="0"/>
              </a:spcBef>
              <a:spcAft>
                <a:spcPts val="0"/>
              </a:spcAft>
            </a:pPr>
            <a:r>
              <a:rPr kumimoji="0" lang="zh-CN" altLang="en-US" dirty="0">
                <a:solidFill>
                  <a:prstClr val="white"/>
                </a:solidFill>
                <a:latin typeface="微软雅黑" panose="020B0503020204020204" charset="-122"/>
                <a:ea typeface="微软雅黑" panose="020B0503020204020204" charset="-122"/>
              </a:rPr>
              <a:t>列存表</a:t>
            </a:r>
            <a:endParaRPr kumimoji="0" lang="en-US" altLang="zh-CN" dirty="0">
              <a:solidFill>
                <a:prstClr val="white"/>
              </a:solidFill>
              <a:latin typeface="微软雅黑" panose="020B0503020204020204" charset="-122"/>
              <a:ea typeface="微软雅黑" panose="020B0503020204020204" charset="-122"/>
            </a:endParaRPr>
          </a:p>
        </p:txBody>
      </p:sp>
      <p:graphicFrame>
        <p:nvGraphicFramePr>
          <p:cNvPr id="39" name="Table 5"/>
          <p:cNvGraphicFramePr>
            <a:graphicFrameLocks noGrp="1"/>
          </p:cNvGraphicFramePr>
          <p:nvPr/>
        </p:nvGraphicFramePr>
        <p:xfrm>
          <a:off x="165101" y="4294558"/>
          <a:ext cx="5956102" cy="2499360"/>
        </p:xfrm>
        <a:graphic>
          <a:graphicData uri="http://schemas.openxmlformats.org/drawingml/2006/table">
            <a:tbl>
              <a:tblPr/>
              <a:tblGrid>
                <a:gridCol w="2978051">
                  <a:extLst>
                    <a:ext uri="{9D8B030D-6E8A-4147-A177-3AD203B41FA5}">
                      <a16:colId xmlns:a16="http://schemas.microsoft.com/office/drawing/2014/main" val="20000"/>
                    </a:ext>
                  </a:extLst>
                </a:gridCol>
                <a:gridCol w="2978051">
                  <a:extLst>
                    <a:ext uri="{9D8B030D-6E8A-4147-A177-3AD203B41FA5}">
                      <a16:colId xmlns:a16="http://schemas.microsoft.com/office/drawing/2014/main" val="20001"/>
                    </a:ext>
                  </a:extLst>
                </a:gridCol>
              </a:tblGrid>
              <a:tr h="0">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rgbClr val="FFFFFF"/>
                          </a:solidFill>
                          <a:effectLst/>
                          <a:latin typeface="Gill Sans MT" pitchFamily="32" charset="0"/>
                          <a:ea typeface="宋体" panose="02010600030101010101" pitchFamily="2" charset="-122"/>
                          <a:cs typeface="Arial" panose="020B0604020202020204" pitchFamily="34" charset="0"/>
                        </a:rPr>
                        <a:t>行存（</a:t>
                      </a:r>
                      <a:r>
                        <a:rPr kumimoji="0" lang="en-US" altLang="zh-CN" sz="2000" b="1" i="0" u="none" strike="noStrike" cap="none" normalizeH="0" baseline="0" dirty="0">
                          <a:ln>
                            <a:noFill/>
                          </a:ln>
                          <a:solidFill>
                            <a:srgbClr val="FFFFFF"/>
                          </a:solidFill>
                          <a:effectLst/>
                          <a:latin typeface="Gill Sans MT" pitchFamily="32" charset="0"/>
                          <a:ea typeface="宋体" panose="02010600030101010101" pitchFamily="2" charset="-122"/>
                          <a:cs typeface="Arial" panose="020B0604020202020204" pitchFamily="34" charset="0"/>
                        </a:rPr>
                        <a:t>Row Store </a:t>
                      </a:r>
                      <a:r>
                        <a:rPr kumimoji="0" lang="zh-CN" altLang="en-US" sz="2000" b="1" i="0" u="none" strike="noStrike" cap="none" normalizeH="0" baseline="0" dirty="0">
                          <a:ln>
                            <a:noFill/>
                          </a:ln>
                          <a:solidFill>
                            <a:srgbClr val="FFFFFF"/>
                          </a:solidFill>
                          <a:effectLst/>
                          <a:latin typeface="Gill Sans MT" pitchFamily="32" charset="0"/>
                          <a:ea typeface="宋体" panose="02010600030101010101" pitchFamily="2" charset="-122"/>
                          <a:cs typeface="Arial" panose="020B0604020202020204" pitchFamily="34" charset="0"/>
                        </a:rPr>
                        <a:t>）</a:t>
                      </a:r>
                      <a:endParaRPr kumimoji="0" lang="en-US" altLang="zh-CN" sz="2000" b="1" i="0" u="none" strike="noStrike" cap="none" normalizeH="0" baseline="0" dirty="0">
                        <a:ln>
                          <a:noFill/>
                        </a:ln>
                        <a:solidFill>
                          <a:srgbClr val="FFFFFF"/>
                        </a:solidFill>
                        <a:effectLst/>
                        <a:latin typeface="Gill Sans MT"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rgbClr val="FFFFFF"/>
                          </a:solidFill>
                          <a:effectLst/>
                          <a:latin typeface="Gill Sans MT" pitchFamily="32" charset="0"/>
                          <a:ea typeface="宋体" panose="02010600030101010101" pitchFamily="2" charset="-122"/>
                          <a:cs typeface="Arial" panose="020B0604020202020204" pitchFamily="34" charset="0"/>
                        </a:rPr>
                        <a:t>列存（</a:t>
                      </a:r>
                      <a:r>
                        <a:rPr kumimoji="0" lang="en-US" altLang="zh-CN" sz="2000" b="1" i="0" u="none" strike="noStrike" cap="none" normalizeH="0" baseline="0" dirty="0">
                          <a:ln>
                            <a:noFill/>
                          </a:ln>
                          <a:solidFill>
                            <a:srgbClr val="FFFFFF"/>
                          </a:solidFill>
                          <a:effectLst/>
                          <a:latin typeface="Gill Sans MT" pitchFamily="32" charset="0"/>
                          <a:ea typeface="宋体" panose="02010600030101010101" pitchFamily="2" charset="-122"/>
                          <a:cs typeface="Arial" panose="020B0604020202020204" pitchFamily="34" charset="0"/>
                        </a:rPr>
                        <a:t>Column Store</a:t>
                      </a:r>
                      <a:r>
                        <a:rPr kumimoji="0" lang="zh-CN" altLang="en-US" sz="2000" b="1" i="0" u="none" strike="noStrike" cap="none" normalizeH="0" baseline="0" dirty="0">
                          <a:ln>
                            <a:noFill/>
                          </a:ln>
                          <a:solidFill>
                            <a:srgbClr val="FFFFFF"/>
                          </a:solidFill>
                          <a:effectLst/>
                          <a:latin typeface="Gill Sans MT" pitchFamily="32" charset="0"/>
                          <a:ea typeface="宋体" panose="02010600030101010101" pitchFamily="2" charset="-122"/>
                          <a:cs typeface="Arial" panose="020B0604020202020204" pitchFamily="34" charset="0"/>
                        </a:rPr>
                        <a:t>）</a:t>
                      </a:r>
                      <a:endParaRPr kumimoji="0" lang="en-US" altLang="zh-CN" sz="2000" b="1" i="0" u="none" strike="noStrike" cap="none" normalizeH="0" baseline="0" dirty="0">
                        <a:ln>
                          <a:noFill/>
                        </a:ln>
                        <a:solidFill>
                          <a:srgbClr val="FFFFFF"/>
                        </a:solidFill>
                        <a:effectLst/>
                        <a:latin typeface="Gill Sans MT"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extLst>
                  <a:ext uri="{0D108BD9-81ED-4DB2-BD59-A6C34878D82A}">
                    <a16:rowId xmlns:a16="http://schemas.microsoft.com/office/drawing/2014/main" val="10000"/>
                  </a:ext>
                </a:extLst>
              </a:tr>
              <a:tr h="599774">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容易修改记录</a:t>
                      </a:r>
                      <a:endPar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修改记录代价高，写一条记录时需要访问多次</a:t>
                      </a:r>
                      <a:r>
                        <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IO</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599774">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读取数据代价高，可能读入不需要的列</a:t>
                      </a:r>
                      <a:endPar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kumimoji="0" sz="1800" kern="1200">
                          <a:solidFill>
                            <a:schemeClr val="tx1"/>
                          </a:solidFill>
                          <a:latin typeface="Gill Sans MT"/>
                        </a:defRPr>
                      </a:lvl1pPr>
                      <a:lvl2pPr marL="457200" algn="l" defTabSz="914400" rtl="0" eaLnBrk="1" latinLnBrk="0" hangingPunct="1">
                        <a:defRPr kumimoji="0" sz="1800" kern="1200">
                          <a:solidFill>
                            <a:schemeClr val="tx1"/>
                          </a:solidFill>
                          <a:latin typeface="Gill Sans MT"/>
                        </a:defRPr>
                      </a:lvl2pPr>
                      <a:lvl3pPr marL="914400" algn="l" defTabSz="914400" rtl="0" eaLnBrk="1" latinLnBrk="0" hangingPunct="1">
                        <a:defRPr kumimoji="0" sz="1800" kern="1200">
                          <a:solidFill>
                            <a:schemeClr val="tx1"/>
                          </a:solidFill>
                          <a:latin typeface="Gill Sans MT"/>
                        </a:defRPr>
                      </a:lvl3pPr>
                      <a:lvl4pPr marL="1370965" algn="l" defTabSz="914400" rtl="0" eaLnBrk="1" latinLnBrk="0" hangingPunct="1">
                        <a:defRPr kumimoji="0" sz="1800" kern="1200">
                          <a:solidFill>
                            <a:schemeClr val="tx1"/>
                          </a:solidFill>
                          <a:latin typeface="Gill Sans MT"/>
                        </a:defRPr>
                      </a:lvl4pPr>
                      <a:lvl5pPr marL="1828165" algn="l" defTabSz="914400" rtl="0" eaLnBrk="1" latinLnBrk="0" hangingPunct="1">
                        <a:defRPr kumimoji="0" sz="1800" kern="1200">
                          <a:solidFill>
                            <a:schemeClr val="tx1"/>
                          </a:solidFill>
                          <a:latin typeface="Gill Sans MT"/>
                        </a:defRPr>
                      </a:lvl5pPr>
                      <a:lvl6pPr marL="2285365" algn="l" defTabSz="914400" rtl="0" eaLnBrk="1" latinLnBrk="0" hangingPunct="1">
                        <a:defRPr kumimoji="0" sz="1800" kern="1200">
                          <a:solidFill>
                            <a:schemeClr val="tx1"/>
                          </a:solidFill>
                          <a:latin typeface="Gill Sans MT"/>
                        </a:defRPr>
                      </a:lvl6pPr>
                      <a:lvl7pPr marL="2742565" algn="l" defTabSz="914400" rtl="0" eaLnBrk="1" latinLnBrk="0" hangingPunct="1">
                        <a:defRPr kumimoji="0" sz="1800" kern="1200">
                          <a:solidFill>
                            <a:schemeClr val="tx1"/>
                          </a:solidFill>
                          <a:latin typeface="Gill Sans MT"/>
                        </a:defRPr>
                      </a:lvl7pPr>
                      <a:lvl8pPr marL="3199130" algn="l" defTabSz="914400" rtl="0" eaLnBrk="1" latinLnBrk="0" hangingPunct="1">
                        <a:defRPr kumimoji="0" sz="1800" kern="1200">
                          <a:solidFill>
                            <a:schemeClr val="tx1"/>
                          </a:solidFill>
                          <a:latin typeface="Gill Sans MT"/>
                        </a:defRPr>
                      </a:lvl8pPr>
                      <a:lvl9pPr marL="3656330" algn="l" defTabSz="91440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可以只读取相关的数据</a:t>
                      </a:r>
                      <a:endPar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599774">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不同记录重复率低，压缩率低</a:t>
                      </a:r>
                      <a:endPar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rPr>
                        <a:t>同一列重复值高，压缩率高</a:t>
                      </a:r>
                      <a:endParaRPr kumimoji="0" lang="en-US" altLang="zh-CN" sz="2000" b="0" i="0" u="none" strike="noStrike" cap="none" normalizeH="0" baseline="0" dirty="0">
                        <a:ln>
                          <a:noFill/>
                        </a:ln>
                        <a:solidFill>
                          <a:srgbClr val="000000"/>
                        </a:solidFill>
                        <a:effectLst/>
                        <a:latin typeface="Gill Sans MT"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3"/>
                  </a:ext>
                </a:extLst>
              </a:tr>
            </a:tbl>
          </a:graphicData>
        </a:graphic>
      </p:graphicFrame>
      <p:sp>
        <p:nvSpPr>
          <p:cNvPr id="40" name="标题 1"/>
          <p:cNvSpPr txBox="1"/>
          <p:nvPr/>
        </p:nvSpPr>
        <p:spPr>
          <a:xfrm>
            <a:off x="251520" y="726232"/>
            <a:ext cx="10697556" cy="899684"/>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fontAlgn="auto">
              <a:spcAft>
                <a:spcPts val="0"/>
              </a:spcAft>
            </a:pPr>
            <a:r>
              <a:rPr kumimoji="0" lang="zh-CN" altLang="en-US" sz="2800" dirty="0">
                <a:solidFill>
                  <a:schemeClr val="tx2"/>
                </a:solidFill>
                <a:latin typeface="微软雅黑" panose="020B0503020204020204" charset="-122"/>
                <a:ea typeface="微软雅黑" panose="020B0503020204020204" charset="-122"/>
              </a:rPr>
              <a:t>数据库行列存储机制在解决社会性突发问题起到的作用</a:t>
            </a:r>
          </a:p>
        </p:txBody>
      </p:sp>
      <p:cxnSp>
        <p:nvCxnSpPr>
          <p:cNvPr id="50" name="直接连接符 49"/>
          <p:cNvCxnSpPr/>
          <p:nvPr/>
        </p:nvCxnSpPr>
        <p:spPr>
          <a:xfrm>
            <a:off x="3355043" y="3976038"/>
            <a:ext cx="0" cy="246821"/>
          </a:xfrm>
          <a:prstGeom prst="line">
            <a:avLst/>
          </a:prstGeom>
          <a:noFill/>
          <a:ln w="12700" cap="flat" cmpd="sng" algn="ctr">
            <a:solidFill>
              <a:srgbClr val="E48312"/>
            </a:solidFill>
            <a:prstDash val="solid"/>
          </a:ln>
          <a:effectLst/>
        </p:spPr>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慕课讨论题</a:t>
            </a:r>
          </a:p>
        </p:txBody>
      </p:sp>
      <p:sp>
        <p:nvSpPr>
          <p:cNvPr id="3" name="内容占位符 2"/>
          <p:cNvSpPr>
            <a:spLocks noGrp="1"/>
          </p:cNvSpPr>
          <p:nvPr>
            <p:ph idx="1"/>
          </p:nvPr>
        </p:nvSpPr>
        <p:spPr/>
        <p:txBody>
          <a:bodyPr/>
          <a:lstStyle/>
          <a:p>
            <a:pPr marL="457200" indent="-457200">
              <a:buFont typeface="Arial" panose="020B0604020202020204" pitchFamily="34" charset="0"/>
              <a:buChar char="•"/>
            </a:pPr>
            <a:r>
              <a:rPr lang="zh-CN" altLang="zh-CN" dirty="0"/>
              <a:t>查询优化基本的思路是什么？</a:t>
            </a:r>
            <a:endParaRPr lang="en-US" altLang="zh-CN" dirty="0"/>
          </a:p>
          <a:p>
            <a:r>
              <a:rPr lang="en-US" altLang="zh-CN" sz="2400" dirty="0"/>
              <a:t>   </a:t>
            </a:r>
            <a:r>
              <a:rPr lang="zh-CN" altLang="zh-CN" sz="2400" dirty="0"/>
              <a:t>关系数据库的查询有其内在执行过程，要考虑逻辑、物理等多个层面的因素，在这其中查询优化的基本思路是什么？</a:t>
            </a:r>
            <a:endParaRPr lang="en-US" altLang="zh-CN" sz="2400" dirty="0"/>
          </a:p>
          <a:p>
            <a:endParaRPr lang="en-US" altLang="zh-CN" sz="2400" dirty="0"/>
          </a:p>
          <a:p>
            <a:pPr marL="457200" indent="-457200">
              <a:buFont typeface="Arial" panose="020B0604020202020204" pitchFamily="34" charset="0"/>
              <a:buChar char="•"/>
            </a:pPr>
            <a:r>
              <a:rPr lang="zh-CN" altLang="zh-CN" dirty="0"/>
              <a:t>在哪些情况下利用索引可以取得较好的优化效果？</a:t>
            </a:r>
            <a:endParaRPr lang="en-US" altLang="zh-CN" dirty="0"/>
          </a:p>
          <a:p>
            <a:r>
              <a:rPr lang="en-US" altLang="zh-CN" sz="2400" dirty="0"/>
              <a:t>     </a:t>
            </a:r>
            <a:r>
              <a:rPr lang="zh-CN" altLang="zh-CN" sz="2400" dirty="0"/>
              <a:t>关系数据库可以为关系建立索引，但是却不一定所有的关系都要建立索引，在哪些情况下利用索引可以取得较好的优化效果？</a:t>
            </a:r>
            <a:endParaRPr lang="zh-CN" altLang="en-US" sz="2400" dirty="0"/>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t>83</a:t>
            </a:fld>
            <a:endParaRPr lang="en-US" altLang="zh-C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PL课件主题">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a:lstStyle/>
      <a:style>
        <a:lnRef idx="2">
          <a:schemeClr val="accent1"/>
        </a:lnRef>
        <a:fillRef idx="1">
          <a:schemeClr val="lt1"/>
        </a:fillRef>
        <a:effectRef idx="0">
          <a:schemeClr val="accent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3.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4.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4</TotalTime>
  <Words>7012</Words>
  <Application>Microsoft Office PowerPoint</Application>
  <PresentationFormat>全屏显示(4:3)</PresentationFormat>
  <Paragraphs>1132</Paragraphs>
  <Slides>83</Slides>
  <Notes>11</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83</vt:i4>
      </vt:variant>
    </vt:vector>
  </HeadingPairs>
  <TitlesOfParts>
    <vt:vector size="101" baseType="lpstr">
      <vt:lpstr>Arial Unicode MS</vt:lpstr>
      <vt:lpstr>黑体</vt:lpstr>
      <vt:lpstr>隶书</vt:lpstr>
      <vt:lpstr>宋体</vt:lpstr>
      <vt:lpstr>微软雅黑</vt:lpstr>
      <vt:lpstr>Arial</vt:lpstr>
      <vt:lpstr>Calibri</vt:lpstr>
      <vt:lpstr>Constantia</vt:lpstr>
      <vt:lpstr>Courier New</vt:lpstr>
      <vt:lpstr>Gill Sans MT</vt:lpstr>
      <vt:lpstr>Symbol</vt:lpstr>
      <vt:lpstr>Tahoma</vt:lpstr>
      <vt:lpstr>Times New Roman</vt:lpstr>
      <vt:lpstr>Verdana</vt:lpstr>
      <vt:lpstr>Wingdings</vt:lpstr>
      <vt:lpstr>Wingdings 2</vt:lpstr>
      <vt:lpstr>流畅</vt:lpstr>
      <vt:lpstr>PPL课件主题</vt:lpstr>
      <vt:lpstr>第9章 关系查询处理和查询优化</vt:lpstr>
      <vt:lpstr>基本概念1</vt:lpstr>
      <vt:lpstr>PowerPoint 演示文稿</vt:lpstr>
      <vt:lpstr>PowerPoint 演示文稿</vt:lpstr>
      <vt:lpstr>PowerPoint 演示文稿</vt:lpstr>
      <vt:lpstr>PowerPoint 演示文稿</vt:lpstr>
      <vt:lpstr>基本概念2</vt:lpstr>
      <vt:lpstr>嵌套循环连接算法（nested loop）</vt:lpstr>
      <vt:lpstr>排序—合并连接（sort-merge join）</vt:lpstr>
      <vt:lpstr>Hash连接（hash join）</vt:lpstr>
      <vt:lpstr>索引连接（index join）</vt:lpstr>
      <vt:lpstr>PowerPoint 演示文稿</vt:lpstr>
      <vt:lpstr>PowerPoint 演示文稿</vt:lpstr>
      <vt:lpstr>统计量：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关系表达式代数优化算法</vt:lpstr>
      <vt:lpstr>语法树</vt:lpstr>
      <vt:lpstr>关系代数语法树</vt:lpstr>
      <vt:lpstr>代数优化后的语法树1</vt:lpstr>
      <vt:lpstr>代数优化后的语法树2</vt:lpstr>
      <vt:lpstr>代数优化后的语法树3</vt:lpstr>
      <vt:lpstr>考虑投影的下推细节</vt:lpstr>
      <vt:lpstr>考虑投影的下推细节</vt:lpstr>
      <vt:lpstr>考虑投影的下推细节</vt:lpstr>
      <vt:lpstr>考虑投影的下推细节</vt:lpstr>
      <vt:lpstr>考虑投影的下推细节</vt:lpstr>
      <vt:lpstr>考虑投影的下推细节</vt:lpstr>
      <vt:lpstr>考虑投影的下推细节</vt:lpstr>
      <vt:lpstr>考虑投影的下推细节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DBMS查询优化器</vt:lpstr>
      <vt:lpstr>PowerPoint 演示文稿</vt:lpstr>
      <vt:lpstr>慕课讨论题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HuSt-JxL-PC</cp:lastModifiedBy>
  <cp:revision>424</cp:revision>
  <dcterms:created xsi:type="dcterms:W3CDTF">2113-01-01T00:00:00Z</dcterms:created>
  <dcterms:modified xsi:type="dcterms:W3CDTF">2026-05-20T06:24:34Z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F22285F1FF264620AAD8687AD3BEA1B0_12</vt:lpwstr>
  </property>
  <property fmtid="{D5CDD505-2E9C-101B-9397-08002B2CF9AE}" pid="3" name="KSOProductBuildVer">
    <vt:lpwstr>2052-12.1.0.25225</vt:lpwstr>
  </property>
</Properties>
</file>