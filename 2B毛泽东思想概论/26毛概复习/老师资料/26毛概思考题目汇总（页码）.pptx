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70" r:id="rId6"/>
    <p:sldId id="260" r:id="rId7"/>
    <p:sldId id="261" r:id="rId8"/>
    <p:sldId id="271" r:id="rId9"/>
    <p:sldId id="262" r:id="rId10"/>
    <p:sldId id="265" r:id="rId11"/>
    <p:sldId id="263" r:id="rId12"/>
    <p:sldId id="266" r:id="rId13"/>
    <p:sldId id="264" r:id="rId14"/>
    <p:sldId id="268" r:id="rId15"/>
    <p:sldId id="269" r:id="rId16"/>
  </p:sldIdLst>
  <p:sldSz cx="12192000" cy="6858000"/>
  <p:notesSz cx="6858000" cy="9144000"/>
  <p:custDataLst>
    <p:tags r:id="rId1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9" d="100"/>
          <a:sy n="99" d="100"/>
        </p:scale>
        <p:origin x="45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863662" y="1923349"/>
            <a:ext cx="3599645" cy="646331"/>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rPr>
              <a:t>复习总结思考题</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5076" y="-90500"/>
            <a:ext cx="12146924" cy="6955750"/>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导论</a:t>
            </a:r>
            <a:endPar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a:lnSpc>
                <a:spcPct val="50000"/>
              </a:lnSpc>
            </a:pPr>
            <a:endPar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、马克思主义中国化时代化的内涵？</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4-5</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、如何准确把握</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马克思主义中国化时代</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化</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的内涵？</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、马克思主义中国化时代化进程分为几个阶段？</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7-9</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、为什么说新民主主义革命为实现中华民族伟大复兴创造了根本社会条件？</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、为什么说社会主义革命和建设为实现中华民族伟大复兴奠定了根本政治前提和制度基础？</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、为什么说改革开放和社会主义现代化建设为实现中华民族伟大复兴提供了充满新的活力的体制保证和快速发展的物质条件？</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8-9</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、为什么说新时代中国特色社会主义建设为实现中华民族伟大复兴提供了更为完善的制度保证、更为坚实的物质基础、更为主动的精神力量？</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、马克思主义中国化时代化有哪些理论成果？对它们的科学评价是什么？</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、马克思主义中国化时代</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化</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两大理论成果之间的关系？</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11-12</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48794" y="159800"/>
            <a:ext cx="11702800" cy="6524863"/>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第一章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毛泽东思想及其历史地位</a:t>
            </a:r>
            <a:endPar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endParaRPr lang="en-US" altLang="zh-CN"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、毛泽东思想萌芽时期的代表作和主要观点？第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、毛泽东思想初步形成时期的代表作和主要观点？第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、毛泽东思想成熟时期的代表作和主要观点？第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、毛泽东思想继续发展时期的代表作和主要观点？第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、毛泽东思想中关于革命军队建设和军事战略的理论论述？第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22-23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、毛泽东思想中关于政策和策略的理论论述？第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23-24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、毛泽东思想中关于思想政治工作和文化工作的理论？第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24-25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、毛泽东思想中关于党的建设的理论？第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、实事求是</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的内涵及如何坚持？第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27-28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、群众路线的内涵及如何坚持？第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29-30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、独立自主的内涵及如何坚持？第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30-32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、毛泽东思想的历史地位？第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32-35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、如何科学评价毛泽东</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和</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毛泽东思想？第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35-37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167076"/>
            <a:ext cx="12192000" cy="6678751"/>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第二章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新民主主义革命理论</a:t>
            </a:r>
          </a:p>
          <a:p>
            <a:pPr>
              <a:lnSpc>
                <a:spcPct val="50000"/>
              </a:lnSpc>
            </a:pP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、新民主主义革命</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新</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在何处？第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42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、什么是</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新民主主义革命的总路线？第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、新民主主义革命的对象？第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45-47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、新民主主义革命的动力？第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47-48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、新民主主义革命的领导力量？第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49-50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、新民主主义革命的性质和前途？第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50-51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、新民主主义的政治纲领是什么？第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52-53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、新民主主义的经济纲领是什么？第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53-54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、新民主主义的文化纲领是什么？第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54-55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、新民主主义革命道路的提出历程？</a:t>
            </a:r>
            <a:r>
              <a:rPr lang="zh-CN" altLang="en-US" sz="2800" b="1" dirty="0">
                <a:effectLst>
                  <a:outerShdw blurRad="38100" dist="38100" dir="2700000" algn="tl">
                    <a:srgbClr val="000000">
                      <a:alpha val="43137"/>
                    </a:srgbClr>
                  </a:outerShdw>
                </a:effectLst>
                <a:sym typeface="+mn-ea"/>
              </a:rPr>
              <a:t>第</a:t>
            </a:r>
            <a:r>
              <a:rPr lang="en-US" altLang="zh-CN" sz="2800" b="1" dirty="0">
                <a:solidFill>
                  <a:srgbClr val="FF0000"/>
                </a:solidFill>
                <a:effectLst>
                  <a:outerShdw blurRad="38100" dist="38100" dir="2700000" algn="tl">
                    <a:srgbClr val="000000">
                      <a:alpha val="43137"/>
                    </a:srgbClr>
                  </a:outerShdw>
                </a:effectLst>
                <a:sym typeface="+mn-ea"/>
              </a:rPr>
              <a:t>56-57</a:t>
            </a:r>
            <a:r>
              <a:rPr lang="zh-CN" altLang="en-US" sz="2800" b="1" dirty="0">
                <a:effectLst>
                  <a:outerShdw blurRad="38100" dist="38100" dir="2700000" algn="tl">
                    <a:srgbClr val="000000">
                      <a:alpha val="43137"/>
                    </a:srgbClr>
                  </a:outerShdw>
                </a:effectLst>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、新民主主义革命道路形成的必然性（具体国情和特殊国情）？第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57-58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、新民主主义革命道路的内容？第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、新民主主义革命的三大法宝及其相互关系？第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59</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22349" y="1268220"/>
            <a:ext cx="12192000" cy="2246769"/>
          </a:xfrm>
          <a:prstGeom prst="rect">
            <a:avLst/>
          </a:prstGeom>
          <a:noFill/>
        </p:spPr>
        <p:txBody>
          <a:bodyPr wrap="square" rtlCol="0">
            <a:spAutoFit/>
          </a:bodyPr>
          <a:lstStyle/>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、新民主主义革命时期，中国共产党领导统一战线的历程及其经验？第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60-61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、党在</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新民主主义革命时期开展武装斗争的革命经验？第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61-62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、中国共产党新民主主义革命时期加强自身建设的经验？第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、新民主主义革命理论的意义？第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p:txBody>
      </p:sp>
    </p:spTree>
    <p:extLst>
      <p:ext uri="{BB962C8B-B14F-4D97-AF65-F5344CB8AC3E}">
        <p14:creationId xmlns:p14="http://schemas.microsoft.com/office/powerpoint/2010/main" val="2014369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91037" y="237910"/>
            <a:ext cx="11809925" cy="6524863"/>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第三章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社会主义改造理论</a:t>
            </a:r>
            <a:endPar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pPr>
              <a:lnSpc>
                <a:spcPct val="50000"/>
              </a:lnSpc>
            </a:pPr>
            <a:endPar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、新民主主义</a:t>
            </a:r>
            <a:r>
              <a:rPr 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社会</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的五种经济成分和主要矛盾？第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67-68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、为什么新民主主义社会是属于社会主义体系的？第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68-69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、党在过渡时期的</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总路线是什么？第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、何为“一化三改”？第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、党在过渡时期的总路线提出的理论依据</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72-74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、党在过渡时期的总路线提出的现实依据</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74-76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、对农业社会主义改造特点是什么？第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76-78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、农业、手工业社会主义改造的三个发展阶段？第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78-79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、对资本主义工商业的社会主义改造特点是什么？第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80-83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、对资本主义工商业改造的三个步骤是什么？第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82-83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、社会主义改造的基本经验是什么？第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83-86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、社会主义基本制度确立的理论依据？第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86-87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、社会主义基本制度确立的意义？第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89-91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885" y="225156"/>
            <a:ext cx="12000230" cy="5663089"/>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第四章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社会主义建设道路初步探索的理论成果</a:t>
            </a:r>
          </a:p>
          <a:p>
            <a:pPr>
              <a:lnSpc>
                <a:spcPct val="50000"/>
              </a:lnSpc>
            </a:pPr>
            <a:endPar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、《论十大关系》的构成内容？第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94-95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、积极因素与消极因素的关系？第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95-96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、调动一切积极因素为社会主义事业服务的两个坚持是什么？第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96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、社会主义的基本矛盾是什么？第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98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、社会主义的主要矛盾是什么</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98-99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、社会主义社会两类不同性质的矛盾及其处理方法？第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99-100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、正确处理人民内部矛盾的方针？第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、如何认识走中国工业化道路？第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102-103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、“四个现代化”战略目标的形成和步骤？第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104-105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、关于科学教育文化和知识分子工作的认识？第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105-106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、关于“三线建设”的认识？第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106-107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885" y="553568"/>
            <a:ext cx="12000230" cy="2677656"/>
          </a:xfrm>
          <a:prstGeom prst="rect">
            <a:avLst/>
          </a:prstGeom>
          <a:noFill/>
        </p:spPr>
        <p:txBody>
          <a:bodyPr wrap="square" rtlCol="0">
            <a:spAutoFit/>
          </a:bodyPr>
          <a:lstStyle/>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、关于祖国统一的认识？第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107-108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、关于国际战略和外交工作的认识？第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108-109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、关于执政党建设的认识？第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党对社会主义建设道路初步探索的重大意义</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110-112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、党对社会主义建设道路初步探索的经验教训？第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112-116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、改革开放前和改革开放后两个历史时期的关系？第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p:txBody>
      </p:sp>
    </p:spTree>
    <p:extLst>
      <p:ext uri="{BB962C8B-B14F-4D97-AF65-F5344CB8AC3E}">
        <p14:creationId xmlns:p14="http://schemas.microsoft.com/office/powerpoint/2010/main" val="1177408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244475"/>
            <a:ext cx="12000230" cy="6093976"/>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第六章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邓小平理论</a:t>
            </a:r>
          </a:p>
          <a:p>
            <a:pPr>
              <a:lnSpc>
                <a:spcPct val="50000"/>
              </a:lnSpc>
            </a:pPr>
            <a:endPar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、邓小平理论形成的国际背景？第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119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、邓小平理论形成的历史条件、实践基础？第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124</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、邓小平理论的形成过程</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135-138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、邓小平理论首要的基本的理论问题是什么？第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150-151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、邓小平对社会主义本质的认识和概括历程？第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151-152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、如何认识社会主义本质论？第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152-153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、如何认识</a:t>
            </a:r>
            <a:r>
              <a:rPr 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邓小平理论的精髓</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价值及其关系</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154-155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、社会主义初级阶段的科学内涵是什么？第</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157-158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、党在社会主义初级阶段的基本路线的构成及充实与完善？第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159-161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社会主义的根本任务及其认识？第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162-163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、“三步走”发展战略及其实施？第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164-167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、如何认识改革是中国的第二次革命？第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244475"/>
            <a:ext cx="12000230" cy="4401205"/>
          </a:xfrm>
          <a:prstGeom prst="rect">
            <a:avLst/>
          </a:prstGeom>
          <a:noFill/>
        </p:spPr>
        <p:txBody>
          <a:bodyPr wrap="square" rtlCol="0">
            <a:spAutoFit/>
          </a:bodyPr>
          <a:lstStyle/>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、如何认识开放也是改革</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168-169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、邓小平的社会主义市场经济理论的内涵？第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、在邓小平社会主义精神文明建设思想中，为什么要</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两手抓，两手都要硬</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172-173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一国两制</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的科学内涵及其实践价值？第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177-178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、和平与发展作为时代主题的基本点及其形成缘由？第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、中国特色社会主义外交和国际战略的构成？第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180-182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、邓小平对外交工作的认识及其价值？第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182-183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、邓小平理论中如何论述加强党的建设？第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183-186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、邓小平理论的历史地位？第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187-188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244475"/>
            <a:ext cx="12000230" cy="5693866"/>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第七章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三个代表</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重要思想</a:t>
            </a:r>
          </a:p>
          <a:p>
            <a:endParaRPr lang="zh-CN" altLang="en-US" sz="20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三个代表</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重要思想形成的国际背景？第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三个代表</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重要思想形成的历史条件？第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三个代表</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重要思想形成的实践基础？第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130-131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三个代表</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重要思想的形成过程？第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138-142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、中国共产党为什么要始终代表先进生产力的发展要求以及如何推进？第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191-194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、中国共产党为什么要始终代表先进文化的前进方向以及如何推进？第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194-198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、中国共产党为什么要始终代表中国最广大人民的根本利益以及如何推进？第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198-201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、“三个代表”重要思想之间的关系？第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201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151765"/>
            <a:ext cx="12000230" cy="6986528"/>
          </a:xfrm>
          <a:prstGeom prst="rect">
            <a:avLst/>
          </a:prstGeom>
          <a:noFill/>
        </p:spPr>
        <p:txBody>
          <a:bodyPr wrap="square" rtlCol="0">
            <a:spAutoFit/>
          </a:bodyPr>
          <a:lstStyle/>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、为什么必须始终紧紧抓住“</a:t>
            </a:r>
            <a:r>
              <a:rPr 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发展是</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党执政兴国的第一要务”且如何推进？第</a:t>
            </a:r>
            <a:r>
              <a:rPr 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202-205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、为什么要建立社会主义市场经济体制且如何推进？第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206-208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为什么提出全面建设小康社会建设目标？第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209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、江泽民对全面建设小康社会、实现第三步走战略目标的战略思考是什么？第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209-210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、如何建设社会主义政治文明？第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210-214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、对外开放战略中</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引进来</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与</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走出去</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的内涵及相互关系？第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214</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215-216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、我国加入世界贸易组织的原则是什么？第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、如何推进党的建设新的伟大工程，重点是加强党的执政能力建设的要义是什么？第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217-221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、党在社会主义初级阶段的基本纲领是什么？第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219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、如何认识</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三个代表</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重要思想的历史地位？第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222-226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endParaRPr lang="zh-CN" altLang="en-US" sz="2800" b="1" dirty="0">
              <a:effectLst>
                <a:outerShdw blurRad="38100" dist="38100" dir="2700000" algn="tl">
                  <a:srgbClr val="000000">
                    <a:alpha val="43137"/>
                  </a:srgbClr>
                </a:outerShdw>
              </a:effectLst>
              <a:sym typeface="+mn-ea"/>
            </a:endParaRPr>
          </a:p>
          <a:p>
            <a:endParaRPr lang="zh-CN" altLang="en-US" sz="2800" b="1" dirty="0">
              <a:effectLst>
                <a:outerShdw blurRad="38100" dist="38100" dir="2700000" algn="tl">
                  <a:srgbClr val="000000">
                    <a:alpha val="43137"/>
                  </a:srgbClr>
                </a:outerShdw>
              </a:effectLst>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244475"/>
            <a:ext cx="12000230" cy="5940088"/>
          </a:xfrm>
          <a:prstGeom prst="rect">
            <a:avLst/>
          </a:prstGeom>
          <a:noFill/>
        </p:spPr>
        <p:txBody>
          <a:bodyPr wrap="square" rtlCol="0">
            <a:spAutoFit/>
          </a:bodyPr>
          <a:lstStyle/>
          <a:p>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第八章</a:t>
            </a:r>
            <a:r>
              <a:rPr lang="en-US" alt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  </a:t>
            </a:r>
            <a:r>
              <a:rPr lang="zh-CN" altLang="en-US"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科学发展观</a:t>
            </a:r>
          </a:p>
          <a:p>
            <a:endParaRPr lang="zh-CN" altLang="en-US" sz="24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、科学发展观形成的国际背景、历史条件、实践基础？第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121-122</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126-127</a:t>
            </a:r>
            <a:r>
              <a:rPr lang="zh-CN" alt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131-132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、科学发展观的形成过程</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143-146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、为什么推动经济社会发展是科学发展的第一要义？第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229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、如何坚持科学发展观？第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229-231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、为什么以人为本是科学发展观的核心立场？第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232-233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、如何坚持以人为本？第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233-235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、为什么全面协调可持续是科学发展观的基本要求？第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235-236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、如何坚持全面协调可持续发展？第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236-237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、为什么统筹兼顾是科学发展观的根本方法？第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237-238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endPar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10</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、如何坚持统筹兼顾？第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238-239</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244475"/>
            <a:ext cx="12000230" cy="3539430"/>
          </a:xfrm>
          <a:prstGeom prst="rect">
            <a:avLst/>
          </a:prstGeom>
          <a:noFill/>
        </p:spPr>
        <p:txBody>
          <a:bodyPr wrap="square" rtlCol="0">
            <a:spAutoFit/>
          </a:bodyPr>
          <a:lstStyle/>
          <a:p>
            <a:endParaRPr lang="en-US" altLang="zh-CN" sz="2800" b="1" dirty="0">
              <a:effectLst>
                <a:outerShdw blurRad="38100" dist="38100" dir="2700000" algn="tl">
                  <a:srgbClr val="000000">
                    <a:alpha val="43137"/>
                  </a:srgbClr>
                </a:outerShdw>
              </a:effectLst>
              <a:sym typeface="+mn-ea"/>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、加快转变经济发展方式的原因、内涵与举措？第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240-243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12</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、发展社会民主政治的原因、内涵与举措？第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243-245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13</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、推进社会主义文化强国建设的原因、内涵与举措？第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245-248</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、构建社会主义和谐社会的原因、总要求与举措？第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249-251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、推进生态文明建设的原因、实质与举措？第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251-254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16</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、全面提高党的建设科学化水平的原因、总要求与举措？第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243-245</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17</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、如何认识科学发展观的历史地位？第</a:t>
            </a:r>
            <a:r>
              <a:rPr lang="en-US" altLang="zh-CN"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257-261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sym typeface="+mn-ea"/>
              </a:rPr>
              <a:t>页。</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0170" y="244475"/>
            <a:ext cx="12000230" cy="2308324"/>
          </a:xfrm>
          <a:prstGeom prst="rect">
            <a:avLst/>
          </a:prstGeom>
          <a:noFill/>
        </p:spPr>
        <p:txBody>
          <a:bodyPr wrap="square" rtlCol="0">
            <a:spAutoFit/>
          </a:bodyPr>
          <a:lstStyle/>
          <a:p>
            <a:r>
              <a:rPr lang="zh-CN" sz="36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结束语</a:t>
            </a:r>
          </a:p>
          <a:p>
            <a:endParaRPr lang="zh-CN" altLang="en-US" sz="24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a:p>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1</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四个自信</a:t>
            </a:r>
            <a:r>
              <a:rPr lang="en-US" altLang="zh-CN"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是什么？第</a:t>
            </a:r>
            <a:r>
              <a:rPr lang="en-US" sz="2800" b="1" dirty="0">
                <a:solidFill>
                  <a:srgbClr val="FF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264</a:t>
            </a:r>
            <a:r>
              <a:rPr lang="zh-CN" altLang="en-US" sz="2800" b="1" dirty="0">
                <a:effectLst>
                  <a:outerShdw blurRad="38100" dist="38100" dir="2700000" algn="tl">
                    <a:srgbClr val="000000">
                      <a:alpha val="43137"/>
                    </a:srgbClr>
                  </a:outerShdw>
                </a:effectLst>
                <a:latin typeface="黑体" panose="02010609060101010101" pitchFamily="49" charset="-122"/>
                <a:ea typeface="黑体" panose="02010609060101010101" pitchFamily="49" charset="-122"/>
              </a:rPr>
              <a:t>页。</a:t>
            </a:r>
          </a:p>
          <a:p>
            <a:endParaRPr lang="zh-CN" altLang="en-US" sz="2800" b="1" dirty="0">
              <a:effectLst>
                <a:outerShdw blurRad="38100" dist="38100" dir="2700000" algn="tl">
                  <a:srgbClr val="000000">
                    <a:alpha val="43137"/>
                  </a:srgbClr>
                </a:outerShdw>
              </a:effectLst>
            </a:endParaRPr>
          </a:p>
          <a:p>
            <a:endParaRPr lang="en-US" altLang="zh-CN" sz="2800" b="1" dirty="0">
              <a:effectLst>
                <a:outerShdw blurRad="38100" dist="38100" dir="2700000" algn="tl">
                  <a:srgbClr val="000000">
                    <a:alpha val="43137"/>
                  </a:srgbClr>
                </a:outerShdw>
              </a:effectLst>
              <a:sym typeface="+mn-ea"/>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UwYmE0ODRiYmFjYWIxNzVmZjA4MmYyZDE5OTBkM2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684</TotalTime>
  <Words>1979</Words>
  <Application>Microsoft Office PowerPoint</Application>
  <PresentationFormat>宽屏</PresentationFormat>
  <Paragraphs>146</Paragraphs>
  <Slides>15</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黑体</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User</cp:lastModifiedBy>
  <cp:revision>43</cp:revision>
  <dcterms:created xsi:type="dcterms:W3CDTF">2023-06-02T07:58:00Z</dcterms:created>
  <dcterms:modified xsi:type="dcterms:W3CDTF">2026-06-14T08:37:22Z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A336BC22E71845E1AF11A207E0751940_12</vt:lpwstr>
  </property>
  <property fmtid="{D5CDD505-2E9C-101B-9397-08002B2CF9AE}" pid="3" name="KSOProductBuildVer">
    <vt:lpwstr>2052-11.1.0.14309</vt:lpwstr>
  </property>
</Properties>
</file>